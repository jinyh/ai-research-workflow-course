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3b4e75ddf41d8" /><Relationship Type="http://schemas.openxmlformats.org/officeDocument/2006/relationships/extended-properties" Target="/docProps/app.xml" Id="R747b5cac86a648b3" /><Relationship Type="http://schemas.openxmlformats.org/officeDocument/2006/relationships/officeDocument" Target="/ppt/presentation.xml" Id="Rd78019ba479e4e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79e59f563d436d"/>
  </p:sldMasterIdLst>
  <p:notesMasterIdLst>
    <p:notesMasterId xmlns:r="http://schemas.openxmlformats.org/officeDocument/2006/relationships" r:id="R25e9a9ad2ccb46a0"/>
  </p:notesMasterIdLst>
  <p:sldIdLst>
    <p:sldId xmlns:r="http://schemas.openxmlformats.org/officeDocument/2006/relationships" id="256" r:id="R7c988caa347b4068"/>
    <p:sldId xmlns:r="http://schemas.openxmlformats.org/officeDocument/2006/relationships" id="257" r:id="Rf2a3a712af234c73"/>
    <p:sldId xmlns:r="http://schemas.openxmlformats.org/officeDocument/2006/relationships" id="258" r:id="Re8b93e9ed7344af0"/>
    <p:sldId xmlns:r="http://schemas.openxmlformats.org/officeDocument/2006/relationships" id="259" r:id="Re06f4511dbcd43a6"/>
    <p:sldId xmlns:r="http://schemas.openxmlformats.org/officeDocument/2006/relationships" id="260" r:id="R2aeea73da7034d7f"/>
    <p:sldId xmlns:r="http://schemas.openxmlformats.org/officeDocument/2006/relationships" id="261" r:id="Rcd1f0cb224774de0"/>
    <p:sldId xmlns:r="http://schemas.openxmlformats.org/officeDocument/2006/relationships" id="262" r:id="R23ed6ab1cd9a41e4"/>
    <p:sldId xmlns:r="http://schemas.openxmlformats.org/officeDocument/2006/relationships" id="263" r:id="Rd7bbd2c88a994f05"/>
    <p:sldId xmlns:r="http://schemas.openxmlformats.org/officeDocument/2006/relationships" id="264" r:id="R8b058a6054eb4c7d"/>
    <p:sldId xmlns:r="http://schemas.openxmlformats.org/officeDocument/2006/relationships" id="265" r:id="Rc5cece8f64494bb1"/>
    <p:sldId xmlns:r="http://schemas.openxmlformats.org/officeDocument/2006/relationships" id="266" r:id="R6d2ce16f11624e78"/>
    <p:sldId xmlns:r="http://schemas.openxmlformats.org/officeDocument/2006/relationships" id="267" r:id="R23abce8e4e52403b"/>
    <p:sldId xmlns:r="http://schemas.openxmlformats.org/officeDocument/2006/relationships" id="268" r:id="R48cd168777164ad4"/>
    <p:sldId xmlns:r="http://schemas.openxmlformats.org/officeDocument/2006/relationships" id="269" r:id="R86c2ebf71cc44ede"/>
    <p:sldId xmlns:r="http://schemas.openxmlformats.org/officeDocument/2006/relationships" id="270" r:id="Rf82f0da9c87a4ceb"/>
    <p:sldId xmlns:r="http://schemas.openxmlformats.org/officeDocument/2006/relationships" id="271" r:id="R449f24da2bce4c3c"/>
    <p:sldId xmlns:r="http://schemas.openxmlformats.org/officeDocument/2006/relationships" id="272" r:id="Rd8103607f6b64ff6"/>
    <p:sldId xmlns:r="http://schemas.openxmlformats.org/officeDocument/2006/relationships" id="273" r:id="R630b4cb1846546a9"/>
    <p:sldId xmlns:r="http://schemas.openxmlformats.org/officeDocument/2006/relationships" id="274" r:id="R8945f7742af64c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531bef7e240fd" /><Relationship Type="http://schemas.openxmlformats.org/officeDocument/2006/relationships/slideMaster" Target="/ppt/slideMasters/slideMaster1.xml" Id="R7379e59f563d436d" /><Relationship Type="http://schemas.openxmlformats.org/officeDocument/2006/relationships/notesMaster" Target="/ppt/notesMasters/notesMaster1.xml" Id="R25e9a9ad2ccb46a0" /><Relationship Type="http://schemas.openxmlformats.org/officeDocument/2006/relationships/presProps" Target="/ppt/presProps.xml" Id="R97577849998d4a76" /><Relationship Type="http://schemas.openxmlformats.org/officeDocument/2006/relationships/viewProps" Target="/ppt/viewProps.xml" Id="R6fc9bdd78f184428" /><Relationship Type="http://schemas.openxmlformats.org/officeDocument/2006/relationships/tableStyles" Target="/ppt/tableStyles.xml" Id="R478b25ec38cd409f" /><Relationship Type="http://schemas.openxmlformats.org/officeDocument/2006/relationships/slide" Target="/ppt/slides/slide1.xml" Id="R7c988caa347b4068" /><Relationship Type="http://schemas.openxmlformats.org/officeDocument/2006/relationships/slide" Target="/ppt/slides/slide2.xml" Id="Rf2a3a712af234c73" /><Relationship Type="http://schemas.openxmlformats.org/officeDocument/2006/relationships/slide" Target="/ppt/slides/slide3.xml" Id="Re8b93e9ed7344af0" /><Relationship Type="http://schemas.openxmlformats.org/officeDocument/2006/relationships/slide" Target="/ppt/slides/slide4.xml" Id="Re06f4511dbcd43a6" /><Relationship Type="http://schemas.openxmlformats.org/officeDocument/2006/relationships/slide" Target="/ppt/slides/slide5.xml" Id="R2aeea73da7034d7f" /><Relationship Type="http://schemas.openxmlformats.org/officeDocument/2006/relationships/slide" Target="/ppt/slides/slide6.xml" Id="Rcd1f0cb224774de0" /><Relationship Type="http://schemas.openxmlformats.org/officeDocument/2006/relationships/slide" Target="/ppt/slides/slide7.xml" Id="R23ed6ab1cd9a41e4" /><Relationship Type="http://schemas.openxmlformats.org/officeDocument/2006/relationships/slide" Target="/ppt/slides/slide8.xml" Id="Rd7bbd2c88a994f05" /><Relationship Type="http://schemas.openxmlformats.org/officeDocument/2006/relationships/slide" Target="/ppt/slides/slide9.xml" Id="R8b058a6054eb4c7d" /><Relationship Type="http://schemas.openxmlformats.org/officeDocument/2006/relationships/slide" Target="/ppt/slides/slide10.xml" Id="Rc5cece8f64494bb1" /><Relationship Type="http://schemas.openxmlformats.org/officeDocument/2006/relationships/slide" Target="/ppt/slides/slide11.xml" Id="R6d2ce16f11624e78" /><Relationship Type="http://schemas.openxmlformats.org/officeDocument/2006/relationships/slide" Target="/ppt/slides/slide12.xml" Id="R23abce8e4e52403b" /><Relationship Type="http://schemas.openxmlformats.org/officeDocument/2006/relationships/slide" Target="/ppt/slides/slide13.xml" Id="R48cd168777164ad4" /><Relationship Type="http://schemas.openxmlformats.org/officeDocument/2006/relationships/slide" Target="/ppt/slides/slide14.xml" Id="R86c2ebf71cc44ede" /><Relationship Type="http://schemas.openxmlformats.org/officeDocument/2006/relationships/slide" Target="/ppt/slides/slide15.xml" Id="Rf82f0da9c87a4ceb" /><Relationship Type="http://schemas.openxmlformats.org/officeDocument/2006/relationships/slide" Target="/ppt/slides/slide16.xml" Id="R449f24da2bce4c3c" /><Relationship Type="http://schemas.openxmlformats.org/officeDocument/2006/relationships/slide" Target="/ppt/slides/slide17.xml" Id="Rd8103607f6b64ff6" /><Relationship Type="http://schemas.openxmlformats.org/officeDocument/2006/relationships/slide" Target="/ppt/slides/slide18.xml" Id="R630b4cb1846546a9" /><Relationship Type="http://schemas.openxmlformats.org/officeDocument/2006/relationships/slide" Target="/ppt/slides/slide19.xml" Id="R8945f7742af6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7d35c1d0a45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5c7cd698c4a95" /><Relationship Type="http://schemas.openxmlformats.org/officeDocument/2006/relationships/notesMaster" Target="/ppt/notesMasters/notesMaster1.xml" Id="R1e94d8bbab154d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4695af82c4de4" /><Relationship Type="http://schemas.openxmlformats.org/officeDocument/2006/relationships/notesMaster" Target="/ppt/notesMasters/notesMaster1.xml" Id="R20a836061e4e45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0fcc7a7b0d441e" /><Relationship Type="http://schemas.openxmlformats.org/officeDocument/2006/relationships/notesMaster" Target="/ppt/notesMasters/notesMaster1.xml" Id="R085905566a80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7b43585b049a3" /><Relationship Type="http://schemas.openxmlformats.org/officeDocument/2006/relationships/notesMaster" Target="/ppt/notesMasters/notesMaster1.xml" Id="R4b0ae235149c45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0c639d9272445b" /><Relationship Type="http://schemas.openxmlformats.org/officeDocument/2006/relationships/notesMaster" Target="/ppt/notesMasters/notesMaster1.xml" Id="Rf2997057e03f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949f335314f24" /><Relationship Type="http://schemas.openxmlformats.org/officeDocument/2006/relationships/notesMaster" Target="/ppt/notesMasters/notesMaster1.xml" Id="Rd6c4779ed96b41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0b4988cd3474a" /><Relationship Type="http://schemas.openxmlformats.org/officeDocument/2006/relationships/notesMaster" Target="/ppt/notesMasters/notesMaster1.xml" Id="Re7f60a19554e46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a2eb8846f54566" /><Relationship Type="http://schemas.openxmlformats.org/officeDocument/2006/relationships/notesMaster" Target="/ppt/notesMasters/notesMaster1.xml" Id="Rcd545c16212349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7455457df5404d" /><Relationship Type="http://schemas.openxmlformats.org/officeDocument/2006/relationships/notesMaster" Target="/ppt/notesMasters/notesMaster1.xml" Id="R9e016449962044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b0ef540b514d55" /><Relationship Type="http://schemas.openxmlformats.org/officeDocument/2006/relationships/notesMaster" Target="/ppt/notesMasters/notesMaster1.xml" Id="R60c3d192a1da49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c2eb0441234514" /><Relationship Type="http://schemas.openxmlformats.org/officeDocument/2006/relationships/notesMaster" Target="/ppt/notesMasters/notesMaster1.xml" Id="Ref5bebc9ce744f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2fc2b9ef654096" /><Relationship Type="http://schemas.openxmlformats.org/officeDocument/2006/relationships/notesMaster" Target="/ppt/notesMasters/notesMaster1.xml" Id="Rd772a8a0c361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be989b54d8431f" /><Relationship Type="http://schemas.openxmlformats.org/officeDocument/2006/relationships/notesMaster" Target="/ppt/notesMasters/notesMaster1.xml" Id="R435185c950cb4d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9d2eee923d41d7" /><Relationship Type="http://schemas.openxmlformats.org/officeDocument/2006/relationships/notesMaster" Target="/ppt/notesMasters/notesMaster1.xml" Id="R6524ebd5539646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c4147a482c4dc7" /><Relationship Type="http://schemas.openxmlformats.org/officeDocument/2006/relationships/notesMaster" Target="/ppt/notesMasters/notesMaster1.xml" Id="R0b68c2525f5046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565898a20942d1" /><Relationship Type="http://schemas.openxmlformats.org/officeDocument/2006/relationships/notesMaster" Target="/ppt/notesMasters/notesMaster1.xml" Id="R6b194605db7541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7c258c7c15462c" /><Relationship Type="http://schemas.openxmlformats.org/officeDocument/2006/relationships/notesMaster" Target="/ppt/notesMasters/notesMaster1.xml" Id="R07a8bebe275f41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6da5bbad0841cd" /><Relationship Type="http://schemas.openxmlformats.org/officeDocument/2006/relationships/notesMaster" Target="/ppt/notesMasters/notesMaster1.xml" Id="R74c660bf177848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efae65bb834f58" /><Relationship Type="http://schemas.openxmlformats.org/officeDocument/2006/relationships/notesMaster" Target="/ppt/notesMasters/notesMaster1.xml" Id="R786812c1fc78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开场回扣第 10 课：Agent 能在受限权限下跑通一次，还不等于能够重复运行、固定评价、保留失败并安全回退。本课只把可重复科研动作改写为受限循环，不复刻完整系统。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快问学生：第 10 课的指标是否在执行前固定？失败日志是否能与运行次数对账？只听回答，不在此页展开。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/Users/bright/Projects/courses/graduate/lessons/lesson-10/handout.md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明确本课不要求课堂内跑完循环，先建立可审查骨架和至少一次失败记录。八维拆解训练边界判断，不以工具数量为目标。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循环不是新研究方法，而是把可重复科研动作串成可审计步骤。学生应能指出每一步对应的工件，以及回退后哪条研究判断需要更新。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Sandve et al. (2013), Ten Simple Rules for Reproducible Computational Research, https://doi.org/10.1371/journal.pcbi.1003285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追问：让 Agent 自动决定论文是否值得深读，为什么不适合直接改写为循环？答案应指向价值判断和指标不可操作化，而不是简单说模型不够强。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Sandve et al. (2013), https://doi.org/10.1371/journal.pcbi.1003285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固定指标指完整计算协议固定，而不只是指标名称不变。任何版本、分母或数据划分变化都应触发协议性停止和人工审核。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Sandve et al. (2013), https://doi.org/10.1371/journal.pcbi.1003285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协议性停止和结果好坏无关，它表示循环本身的评价协议或数据状态出了问题。禁止类停止是结果导向的随意终止。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回退不是删除证据。若回退发生，作者必须说明回退目标、失败记录是否保留，以及哪条研究判断被降级或改写。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这是课程教学反例。请学生先指出哪一行暴露问题，再说明如果不保留完整轨迹，只看最终 Keep，为什么无法发现评价协议漂移。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/Users/bright/Projects/courses/graduate/lessons/lesson-11/slides.md</a:t>
            </a:r>
          </a:p>
          <a:p xmlns:a="http://schemas.openxmlformats.org/drawingml/2006/main">
            <a:r>
              <a:t>- Teaching example; all values and log entries are fictional.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本页全部数值为课程教学示意。让学生在自己的动作上先写出四约束数字，不要求当场精确；重点是有上限、有停止、有回退、有审核。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Teaching example; parameters, commit and rubric identifiers are fictional.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Discard 是决策，不是删除。失败记录应与成功记录使用相同格式；如果日志存在但记录缺失，数账等式就无法成立。第 13 课失败复盘将直接使用这些记录。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/Users/bright/Projects/courses/graduate/course/curriculum.md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AutoResearch 按课程固定 commit 分析，避免仓库变化导致口径漂移。AI Scientist 只覆盖计算型机器学习研究设置，不能用来证明所有学科的通用自主科研能力。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Karpathy AutoResearch commit 228791fb499afffb54b46200aca536f79142f117, https://github.com/karpathy/autoresearch/tree/228791fb499afffb54b46200aca536f79142f117</a:t>
            </a:r>
          </a:p>
          <a:p xmlns:a="http://schemas.openxmlformats.org/drawingml/2006/main">
            <a:r>
              <a:t>- Lu et al. (2026), Nature 651, 914–919, https://doi.org/10.1038/s41586-026-10265-5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Evals 维度要明确：自动评审可以作为循环内部信号，但不等于真实同行共识。失败恢复维度要检查记录是否完整，而不只看系统是否能继续运行。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 et al. (2026), https://doi.org/10.1038/s41586-026-10265-5</a:t>
            </a:r>
          </a:p>
          <a:p xmlns:a="http://schemas.openxmlformats.org/drawingml/2006/main">
            <a:r>
              <a:t>- /Users/bright/Projects/courses/graduate/lessons/lesson-01/handout.md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论文报告三篇 AI 生成稿件接受工作坊评审，其中一篇评分超过平均接收阈值；所有稿件按预设协议撤回。作者团队内部判断没有一篇达到 ICLR 主会标准。该边界用于防止外推。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 et al. (2026), Nature, https://doi.org/10.1038/s41586-026-10265-5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比较的目的不是给三个系统排高低，而是让学生辨认自己的循环覆盖了什么、没有覆盖什么、哪一类判断必须保留在人手中。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Karpathy AutoResearch commit 228791fb499afffb54b46200aca536f79142f117, https://github.com/karpathy/autoresearch/tree/228791fb499afffb54b46200aca536f79142f117</a:t>
            </a:r>
          </a:p>
          <a:p xmlns:a="http://schemas.openxmlformats.org/drawingml/2006/main">
            <a:r>
              <a:t>- Lu et al. (2026), https://doi.org/10.1038/s41586-026-10265-5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Teaching comparison; no empirical system ranking is claimed.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分钟开始个人实践。学生优先用第 10 课自己的动作；没有者沿用教学案例。巡视只处理共同卡点，不替学生决定循环边界。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/Users/bright/Projects/courses/graduate/lessons/lesson-11/teaching-plan.md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本页停留十分钟。右侧是课程教学样例，所有标识符均为虚构。学生应在自己的项目或纸面模板中完成同构记录，并检查失败与成功是否能对账。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Teaching example; IDs, commit and rubric versions are fictional.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2–3 人互查。作者不需要现场辩护，先记录具体问题，再自行决定采纳、拒绝或暂缓。固定同伴组只用于互查，不改变个人项目责任。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/Users/bright/Projects/courses/graduate/lessons/lesson-11/teaching-plan.md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用退出卡收束开场：循环成立的证据不是能跑，而是约束、工件、失败和审核都可追踪。第 12 课把这些要素重新组合为学生自己的工作流；第 13 课再评价实际影响。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ccbe0a4de4d39" /><Relationship Type="http://schemas.openxmlformats.org/officeDocument/2006/relationships/image" Target="/ppt/media/image.png" Id="R2764e15959e840b3" /><Relationship Type="http://schemas.openxmlformats.org/officeDocument/2006/relationships/image" Target="/ppt/media/image2.png" Id="Re899a7f7f5014eba" /><Relationship Type="http://schemas.openxmlformats.org/officeDocument/2006/relationships/image" Target="/ppt/media/image3.png" Id="R64c8f46214cd41ea" /><Relationship Type="http://schemas.openxmlformats.org/officeDocument/2006/relationships/image" Target="/ppt/media/image4.png" Id="R75e1862c7fa14a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c2b49985342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56627eb8e4c25" /><Relationship Type="http://schemas.openxmlformats.org/officeDocument/2006/relationships/image" Target="/ppt/media/image2.png" Id="R3b235932b54e480c" /><Relationship Type="http://schemas.openxmlformats.org/officeDocument/2006/relationships/image" Target="/ppt/media/image5.png" Id="Rb9f518143a484a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79ab2ea214681" /><Relationship Type="http://schemas.openxmlformats.org/officeDocument/2006/relationships/image" Target="/ppt/media/image.png" Id="Ra2f5abded12a468c" /><Relationship Type="http://schemas.openxmlformats.org/officeDocument/2006/relationships/image" Target="/ppt/media/image3.png" Id="R17c7d86b37164508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4e15959e840b3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99a7f7f5014eba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c8f46214cd41ea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1862c7fa14aae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235932b54e480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518143a48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5abded12a468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c7d86b37164508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8f1d9d4e34cb9" /><Relationship Type="http://schemas.openxmlformats.org/officeDocument/2006/relationships/slideLayout" Target="/ppt/slideLayouts/slideLayout1.xml" Id="Re6180a7600784bf5" /><Relationship Type="http://schemas.openxmlformats.org/officeDocument/2006/relationships/slideLayout" Target="/ppt/slideLayouts/slideLayout2.xml" Id="R38a027ffcffb48fe" /><Relationship Type="http://schemas.openxmlformats.org/officeDocument/2006/relationships/slideLayout" Target="/ppt/slideLayouts/slideLayout3.xml" Id="R4e92945b45ad4ed8" /><Relationship Type="http://schemas.openxmlformats.org/officeDocument/2006/relationships/slideLayout" Target="/ppt/slideLayouts/slideLayout4.xml" Id="R8b55742f2df4432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180a7600784bf5"/>
    <p:sldLayoutId xmlns:r="http://schemas.openxmlformats.org/officeDocument/2006/relationships" id="2147483650" r:id="R38a027ffcffb48fe"/>
    <p:sldLayoutId xmlns:r="http://schemas.openxmlformats.org/officeDocument/2006/relationships" id="2147483651" r:id="R4e92945b45ad4ed8"/>
    <p:sldLayoutId xmlns:r="http://schemas.openxmlformats.org/officeDocument/2006/relationships" id="2147483652" r:id="R8b55742f2df4432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86a7ff83446f4" /><Relationship Type="http://schemas.openxmlformats.org/officeDocument/2006/relationships/notesSlide" Target="/ppt/notesSlides/notesSlide1.xml" Id="R70aa971afac048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814aa929fe4319" /><Relationship Type="http://schemas.openxmlformats.org/officeDocument/2006/relationships/notesSlide" Target="/ppt/notesSlides/notesSlide2.xml" Id="Rcb98d37b255040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2100742c7e4562" /><Relationship Type="http://schemas.openxmlformats.org/officeDocument/2006/relationships/notesSlide" Target="/ppt/notesSlides/notesSlide3.xml" Id="Re598a7ff71594d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6c05c6e8a04611" /><Relationship Type="http://schemas.openxmlformats.org/officeDocument/2006/relationships/notesSlide" Target="/ppt/notesSlides/notesSlide4.xml" Id="R68a0526ae94a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bed851d1824cd8" /><Relationship Type="http://schemas.openxmlformats.org/officeDocument/2006/relationships/notesSlide" Target="/ppt/notesSlides/notesSlide5.xml" Id="R3c6fd565d5134c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556adb55fa4255" /><Relationship Type="http://schemas.openxmlformats.org/officeDocument/2006/relationships/notesSlide" Target="/ppt/notesSlides/notesSlide6.xml" Id="R0a86fc19be84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94dfc028274447" /><Relationship Type="http://schemas.openxmlformats.org/officeDocument/2006/relationships/notesSlide" Target="/ppt/notesSlides/notesSlide7.xml" Id="Rf93b44fda1604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c142db504847dc" /><Relationship Type="http://schemas.openxmlformats.org/officeDocument/2006/relationships/notesSlide" Target="/ppt/notesSlides/notesSlide8.xml" Id="Radcdd026f2e4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a0cf96f0b94030" /><Relationship Type="http://schemas.openxmlformats.org/officeDocument/2006/relationships/notesSlide" Target="/ppt/notesSlides/notesSlide9.xml" Id="Rc41f6324f57340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77fefe0e2d41f8" /><Relationship Type="http://schemas.openxmlformats.org/officeDocument/2006/relationships/notesSlide" Target="/ppt/notesSlides/notesSlide10.xml" Id="R4c0575082a9f46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506cfa490e49fb" /><Relationship Type="http://schemas.openxmlformats.org/officeDocument/2006/relationships/notesSlide" Target="/ppt/notesSlides/notesSlide11.xml" Id="R22a5f6a00c8042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37da5273a2497a" /><Relationship Type="http://schemas.openxmlformats.org/officeDocument/2006/relationships/notesSlide" Target="/ppt/notesSlides/notesSlide12.xml" Id="R4089ce31379142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4ce3df93e341c1" /><Relationship Type="http://schemas.openxmlformats.org/officeDocument/2006/relationships/notesSlide" Target="/ppt/notesSlides/notesSlide13.xml" Id="R1bdaf3a8c0a841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e9b1ac72934dd3" /><Relationship Type="http://schemas.openxmlformats.org/officeDocument/2006/relationships/notesSlide" Target="/ppt/notesSlides/notesSlide14.xml" Id="R361d2043e86e42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57270e3a4b4764" /><Relationship Type="http://schemas.openxmlformats.org/officeDocument/2006/relationships/notesSlide" Target="/ppt/notesSlides/notesSlide15.xml" Id="Rde0c6679d30f49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b2bc71e19b4416" /><Relationship Type="http://schemas.openxmlformats.org/officeDocument/2006/relationships/notesSlide" Target="/ppt/notesSlides/notesSlide16.xml" Id="R843c564b771446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de35385e954c9f" /><Relationship Type="http://schemas.openxmlformats.org/officeDocument/2006/relationships/notesSlide" Target="/ppt/notesSlides/notesSlide17.xml" Id="R6bbc277a4a564a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971010a6cc4fc0" /><Relationship Type="http://schemas.openxmlformats.org/officeDocument/2006/relationships/notesSlide" Target="/ppt/notesSlides/notesSlide18.xml" Id="R8a15ee8f020143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d30a5f3aa24e08" /><Relationship Type="http://schemas.openxmlformats.org/officeDocument/2006/relationships/notesSlide" Target="/ppt/notesSlides/notesSlide19.xml" Id="R09315c24666845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143000" y="3009900"/>
            <a:ext cx="9906000" cy="2362200"/>
          </a:xfrm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一次受限执行 → 可重复受限循环 → 个人工作流设计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五步 · 四约束 · 失败保留 · 人工审核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第十一讲｜阶段七：原型验证（实验追踪）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97155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实验自动化与 AutoResearch 循环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承接第 10 课：从受限执行到实验追踪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66F62669-6ED7-422B-AE02-D6326E0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9–10 课已有工件</a:t>
            </a:r>
          </a:p>
        </p:txBody>
      </p:sp>
      <p:sp>
        <p:nvSpPr>
          <p:cNvPr id="7" name="p02-l-0">
            <a:extLst xmlns:a="http://schemas.openxmlformats.org/drawingml/2006/main">
              <a:ext uri="{FF2B5EF4-FFF2-40B4-BE49-F238E27FC236}">
                <a16:creationId xmlns:a16="http://schemas.microsoft.com/office/drawing/2014/main" id="{F4970E4E-CBAA-4DC8-94DA-B6E92D3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210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baseline 与复现说明</a:t>
            </a:r>
          </a:p>
        </p:txBody>
      </p:sp>
      <p:sp>
        <p:nvSpPr>
          <p:cNvPr id="8" name="p02-l-1">
            <a:extLst xmlns:a="http://schemas.openxmlformats.org/drawingml/2006/main">
              <a:ext uri="{FF2B5EF4-FFF2-40B4-BE49-F238E27FC236}">
                <a16:creationId xmlns:a16="http://schemas.microsoft.com/office/drawing/2014/main" id="{529C151C-6411-4C96-9373-880AEA1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210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任务契约与权限边界</a:t>
            </a:r>
          </a:p>
        </p:txBody>
      </p:sp>
      <p:sp>
        <p:nvSpPr>
          <p:cNvPr id="9" name="p02-l-2">
            <a:extLst xmlns:a="http://schemas.openxmlformats.org/drawingml/2006/main">
              <a:ext uri="{FF2B5EF4-FFF2-40B4-BE49-F238E27FC236}">
                <a16:creationId xmlns:a16="http://schemas.microsoft.com/office/drawing/2014/main" id="{F4F2E563-E7D9-44E1-9621-BF906CE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210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diff、日志与失败记录</a:t>
            </a:r>
          </a:p>
        </p:txBody>
      </p:sp>
      <p:sp>
        <p:nvSpPr>
          <p:cNvPr id="10" name="p02-ne">
            <a:extLst xmlns:a="http://schemas.openxmlformats.org/drawingml/2006/main">
              <a:ext uri="{FF2B5EF4-FFF2-40B4-BE49-F238E27FC236}">
                <a16:creationId xmlns:a16="http://schemas.microsoft.com/office/drawing/2014/main" id="{C936044F-80C5-44FF-82A4-51E567D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99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8161E"/>
                </a:solidFill>
              </a:defRPr>
            </a:pPr>
            <a:r>
              <a:rPr sz="36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F0CA6171-EA74-4C2D-8FF0-AC4C9A42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9906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循环仍未成立</a:t>
            </a:r>
          </a:p>
        </p:txBody>
      </p:sp>
      <p:sp>
        <p:nvSpPr>
          <p:cNvPr id="12" name="p02-r-0">
            <a:extLst xmlns:a="http://schemas.openxmlformats.org/drawingml/2006/main">
              <a:ext uri="{FF2B5EF4-FFF2-40B4-BE49-F238E27FC236}">
                <a16:creationId xmlns:a16="http://schemas.microsoft.com/office/drawing/2014/main" id="{44AD30BA-3FB3-4B2B-8C57-A2BA351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421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能否重复运行？</a:t>
            </a:r>
          </a:p>
        </p:txBody>
      </p:sp>
      <p:sp>
        <p:nvSpPr>
          <p:cNvPr id="13" name="p02-r-1">
            <a:extLst xmlns:a="http://schemas.openxmlformats.org/drawingml/2006/main">
              <a:ext uri="{FF2B5EF4-FFF2-40B4-BE49-F238E27FC236}">
                <a16:creationId xmlns:a16="http://schemas.microsoft.com/office/drawing/2014/main" id="{B103F5CC-8DBF-4814-8375-55DC82A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421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指标与预算会不会漂移？</a:t>
            </a:r>
          </a:p>
        </p:txBody>
      </p:sp>
      <p:sp>
        <p:nvSpPr>
          <p:cNvPr id="14" name="p02-r-2">
            <a:extLst xmlns:a="http://schemas.openxmlformats.org/drawingml/2006/main">
              <a:ext uri="{FF2B5EF4-FFF2-40B4-BE49-F238E27FC236}">
                <a16:creationId xmlns:a16="http://schemas.microsoft.com/office/drawing/2014/main" id="{982C6E99-E915-4ABD-9909-348E645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421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何时停止、回退到哪里？</a:t>
            </a:r>
          </a:p>
        </p:txBody>
      </p:sp>
      <p:sp>
        <p:nvSpPr>
          <p:cNvPr id="15" name="p02-r-3">
            <a:extLst xmlns:a="http://schemas.openxmlformats.org/drawingml/2006/main">
              <a:ext uri="{FF2B5EF4-FFF2-40B4-BE49-F238E27FC236}">
                <a16:creationId xmlns:a16="http://schemas.microsoft.com/office/drawing/2014/main" id="{FB2605C9-FC9A-476F-9AD3-043004A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421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失败是否全部保留？</a:t>
            </a:r>
          </a:p>
        </p:txBody>
      </p:sp>
      <p:sp>
        <p:nvSpPr>
          <p:cNvPr id="16" name="p02-out">
            <a:extLst xmlns:a="http://schemas.openxmlformats.org/drawingml/2006/main">
              <a:ext uri="{FF2B5EF4-FFF2-40B4-BE49-F238E27FC236}">
                <a16:creationId xmlns:a16="http://schemas.microsoft.com/office/drawing/2014/main" id="{8F19904A-1EE8-4F4C-AC48-A4FAD8A1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72050"/>
            <a:ext cx="8610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本课产出｜受限循环说明 + 失败迭代记录 + 八维拆解表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line-0">
            <a:extLst xmlns:a="http://schemas.openxmlformats.org/drawingml/2006/main">
              <a:ext uri="{FF2B5EF4-FFF2-40B4-BE49-F238E27FC236}">
                <a16:creationId xmlns:a16="http://schemas.microsoft.com/office/drawing/2014/main" id="{D0E67B2E-BC9C-4A18-B4F3-2A7E45D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790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3-line-1">
            <a:extLst xmlns:a="http://schemas.openxmlformats.org/drawingml/2006/main">
              <a:ext uri="{FF2B5EF4-FFF2-40B4-BE49-F238E27FC236}">
                <a16:creationId xmlns:a16="http://schemas.microsoft.com/office/drawing/2014/main" id="{D5BD6FDB-0173-4FDC-BD29-D8AD474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1790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3-line-2">
            <a:extLst xmlns:a="http://schemas.openxmlformats.org/drawingml/2006/main">
              <a:ext uri="{FF2B5EF4-FFF2-40B4-BE49-F238E27FC236}">
                <a16:creationId xmlns:a16="http://schemas.microsoft.com/office/drawing/2014/main" id="{E3F901AA-4A6B-4A05-92E0-182D608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1790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3-line-3">
            <a:extLst xmlns:a="http://schemas.openxmlformats.org/drawingml/2006/main">
              <a:ext uri="{FF2B5EF4-FFF2-40B4-BE49-F238E27FC236}">
                <a16:creationId xmlns:a16="http://schemas.microsoft.com/office/drawing/2014/main" id="{B719F002-CD78-488B-BCCF-0D78FC77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1790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3-line-4">
            <a:extLst xmlns:a="http://schemas.openxmlformats.org/drawingml/2006/main">
              <a:ext uri="{FF2B5EF4-FFF2-40B4-BE49-F238E27FC236}">
                <a16:creationId xmlns:a16="http://schemas.microsoft.com/office/drawing/2014/main" id="{59C422FD-B151-446B-B6B2-C9CF647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790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3-n-0">
            <a:extLst xmlns:a="http://schemas.openxmlformats.org/drawingml/2006/main">
              <a:ext uri="{FF2B5EF4-FFF2-40B4-BE49-F238E27FC236}">
                <a16:creationId xmlns:a16="http://schemas.microsoft.com/office/drawing/2014/main" id="{E54B990B-F59F-46AD-B4B7-038B126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03-step-0">
            <a:extLst xmlns:a="http://schemas.openxmlformats.org/drawingml/2006/main">
              <a:ext uri="{FF2B5EF4-FFF2-40B4-BE49-F238E27FC236}">
                <a16:creationId xmlns:a16="http://schemas.microsoft.com/office/drawing/2014/main" id="{CAB63572-F4F8-47CE-83C0-B452112F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判适用</a:t>
            </a:r>
          </a:p>
        </p:txBody>
      </p:sp>
      <p:sp>
        <p:nvSpPr>
          <p:cNvPr id="13" name="p03-n-1">
            <a:extLst xmlns:a="http://schemas.openxmlformats.org/drawingml/2006/main">
              <a:ext uri="{FF2B5EF4-FFF2-40B4-BE49-F238E27FC236}">
                <a16:creationId xmlns:a16="http://schemas.microsoft.com/office/drawing/2014/main" id="{EB53AB49-9270-4D6A-B212-39A28319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03-step-1">
            <a:extLst xmlns:a="http://schemas.openxmlformats.org/drawingml/2006/main">
              <a:ext uri="{FF2B5EF4-FFF2-40B4-BE49-F238E27FC236}">
                <a16:creationId xmlns:a16="http://schemas.microsoft.com/office/drawing/2014/main" id="{A37B4614-83D7-4DE4-B5B7-E37EF43A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定四约束</a:t>
            </a:r>
          </a:p>
        </p:txBody>
      </p:sp>
      <p:sp>
        <p:nvSpPr>
          <p:cNvPr id="15" name="p03-n-2">
            <a:extLst xmlns:a="http://schemas.openxmlformats.org/drawingml/2006/main">
              <a:ext uri="{FF2B5EF4-FFF2-40B4-BE49-F238E27FC236}">
                <a16:creationId xmlns:a16="http://schemas.microsoft.com/office/drawing/2014/main" id="{75ACD19B-FF17-4BA7-9122-1B005E7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03-step-2">
            <a:extLst xmlns:a="http://schemas.openxmlformats.org/drawingml/2006/main">
              <a:ext uri="{FF2B5EF4-FFF2-40B4-BE49-F238E27FC236}">
                <a16:creationId xmlns:a16="http://schemas.microsoft.com/office/drawing/2014/main" id="{C9F18104-E8FE-481C-8715-C532D652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写五步</a:t>
            </a:r>
          </a:p>
        </p:txBody>
      </p:sp>
      <p:sp>
        <p:nvSpPr>
          <p:cNvPr id="17" name="p03-n-3">
            <a:extLst xmlns:a="http://schemas.openxmlformats.org/drawingml/2006/main">
              <a:ext uri="{FF2B5EF4-FFF2-40B4-BE49-F238E27FC236}">
                <a16:creationId xmlns:a16="http://schemas.microsoft.com/office/drawing/2014/main" id="{EAB2197B-65D8-4400-94EF-F5FA8AF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03-step-3">
            <a:extLst xmlns:a="http://schemas.openxmlformats.org/drawingml/2006/main">
              <a:ext uri="{FF2B5EF4-FFF2-40B4-BE49-F238E27FC236}">
                <a16:creationId xmlns:a16="http://schemas.microsoft.com/office/drawing/2014/main" id="{EE8F7E1B-5E24-4654-AB43-D65AA14B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标审核点</a:t>
            </a:r>
          </a:p>
        </p:txBody>
      </p:sp>
      <p:sp>
        <p:nvSpPr>
          <p:cNvPr id="19" name="p03-n-4">
            <a:extLst xmlns:a="http://schemas.openxmlformats.org/drawingml/2006/main">
              <a:ext uri="{FF2B5EF4-FFF2-40B4-BE49-F238E27FC236}">
                <a16:creationId xmlns:a16="http://schemas.microsoft.com/office/drawing/2014/main" id="{ECBC4BFD-9577-4B82-BCB6-E3C3C2DE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03-step-4">
            <a:extLst xmlns:a="http://schemas.openxmlformats.org/drawingml/2006/main">
              <a:ext uri="{FF2B5EF4-FFF2-40B4-BE49-F238E27FC236}">
                <a16:creationId xmlns:a16="http://schemas.microsoft.com/office/drawing/2014/main" id="{D831CB26-90B1-4FC6-B0D4-56BE136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保留失败</a:t>
            </a:r>
          </a:p>
        </p:txBody>
      </p:sp>
      <p:sp>
        <p:nvSpPr>
          <p:cNvPr id="21" name="p03-n-5">
            <a:extLst xmlns:a="http://schemas.openxmlformats.org/drawingml/2006/main">
              <a:ext uri="{FF2B5EF4-FFF2-40B4-BE49-F238E27FC236}">
                <a16:creationId xmlns:a16="http://schemas.microsoft.com/office/drawing/2014/main" id="{929EB910-DFE3-4F09-B05D-3084EE07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p03-step-5">
            <a:extLst xmlns:a="http://schemas.openxmlformats.org/drawingml/2006/main">
              <a:ext uri="{FF2B5EF4-FFF2-40B4-BE49-F238E27FC236}">
                <a16:creationId xmlns:a16="http://schemas.microsoft.com/office/drawing/2014/main" id="{E3FC60BF-7A33-4152-A489-2C87216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50495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析边界</a:t>
            </a:r>
          </a:p>
        </p:txBody>
      </p:sp>
      <p:sp>
        <p:nvSpPr>
          <p:cNvPr id="23" name="p03-out-title">
            <a:extLst xmlns:a="http://schemas.openxmlformats.org/drawingml/2006/main">
              <a:ext uri="{FF2B5EF4-FFF2-40B4-BE49-F238E27FC236}">
                <a16:creationId xmlns:a16="http://schemas.microsoft.com/office/drawing/2014/main" id="{643C702B-177F-4D0C-8CEE-07651B0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课堂可检查产出</a:t>
            </a:r>
          </a:p>
        </p:txBody>
      </p:sp>
      <p:sp>
        <p:nvSpPr>
          <p:cNvPr id="24" name="p03-oh-0">
            <a:extLst xmlns:a="http://schemas.openxmlformats.org/drawingml/2006/main">
              <a:ext uri="{FF2B5EF4-FFF2-40B4-BE49-F238E27FC236}">
                <a16:creationId xmlns:a16="http://schemas.microsoft.com/office/drawing/2014/main" id="{4060CFAF-3551-412D-9606-775564A9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受限循环说明</a:t>
            </a:r>
          </a:p>
        </p:txBody>
      </p:sp>
      <p:sp>
        <p:nvSpPr>
          <p:cNvPr id="25" name="p03-od-0">
            <a:extLst xmlns:a="http://schemas.openxmlformats.org/drawingml/2006/main">
              <a:ext uri="{FF2B5EF4-FFF2-40B4-BE49-F238E27FC236}">
                <a16:creationId xmlns:a16="http://schemas.microsoft.com/office/drawing/2014/main" id="{38FF078F-5F32-41B1-821B-D6E1FA9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四约束 + 五步 + ≥3 审核点</a:t>
            </a:r>
          </a:p>
        </p:txBody>
      </p:sp>
      <p:sp>
        <p:nvSpPr>
          <p:cNvPr id="26" name="p03-oh-1">
            <a:extLst xmlns:a="http://schemas.openxmlformats.org/drawingml/2006/main">
              <a:ext uri="{FF2B5EF4-FFF2-40B4-BE49-F238E27FC236}">
                <a16:creationId xmlns:a16="http://schemas.microsoft.com/office/drawing/2014/main" id="{C8D6253C-CA01-46BB-855A-EEECE64D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失败迭代记录</a:t>
            </a:r>
          </a:p>
        </p:txBody>
      </p:sp>
      <p:sp>
        <p:nvSpPr>
          <p:cNvPr id="27" name="p03-od-1">
            <a:extLst xmlns:a="http://schemas.openxmlformats.org/drawingml/2006/main">
              <a:ext uri="{FF2B5EF4-FFF2-40B4-BE49-F238E27FC236}">
                <a16:creationId xmlns:a16="http://schemas.microsoft.com/office/drawing/2014/main" id="{8004203D-2030-4049-9F33-91502865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七字段；至少 1 次</a:t>
            </a:r>
          </a:p>
        </p:txBody>
      </p:sp>
      <p:sp>
        <p:nvSpPr>
          <p:cNvPr id="28" name="p03-oh-2">
            <a:extLst xmlns:a="http://schemas.openxmlformats.org/drawingml/2006/main">
              <a:ext uri="{FF2B5EF4-FFF2-40B4-BE49-F238E27FC236}">
                <a16:creationId xmlns:a16="http://schemas.microsoft.com/office/drawing/2014/main" id="{0328E74C-BBA9-49FA-BBCF-A4102E7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八维拆解表</a:t>
            </a:r>
          </a:p>
        </p:txBody>
      </p:sp>
      <p:sp>
        <p:nvSpPr>
          <p:cNvPr id="29" name="p03-od-2">
            <a:extLst xmlns:a="http://schemas.openxmlformats.org/drawingml/2006/main">
              <a:ext uri="{FF2B5EF4-FFF2-40B4-BE49-F238E27FC236}">
                <a16:creationId xmlns:a16="http://schemas.microsoft.com/office/drawing/2014/main" id="{2239C63A-21B9-481C-9BE9-882EC45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 4 维；含人工判断</a:t>
            </a:r>
          </a:p>
        </p:txBody>
      </p:sp>
      <p:sp>
        <p:nvSpPr>
          <p:cNvPr id="30" name="p03-bottom">
            <a:extLst xmlns:a="http://schemas.openxmlformats.org/drawingml/2006/main">
              <a:ext uri="{FF2B5EF4-FFF2-40B4-BE49-F238E27FC236}">
                <a16:creationId xmlns:a16="http://schemas.microsoft.com/office/drawing/2014/main" id="{A766F285-2E52-4A98-A73C-E6FFE1A5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887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本课无正式提交；第 12 课重新组合工作流，第 13 课验证门统一检查。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循环五步：假设→运行→度量→评价→回写/回退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link-0">
            <a:extLst xmlns:a="http://schemas.openxmlformats.org/drawingml/2006/main">
              <a:ext uri="{FF2B5EF4-FFF2-40B4-BE49-F238E27FC236}">
                <a16:creationId xmlns:a16="http://schemas.microsoft.com/office/drawing/2014/main" id="{DC6D8DE4-63E2-4518-A631-A63562F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209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4-link-1">
            <a:extLst xmlns:a="http://schemas.openxmlformats.org/drawingml/2006/main">
              <a:ext uri="{FF2B5EF4-FFF2-40B4-BE49-F238E27FC236}">
                <a16:creationId xmlns:a16="http://schemas.microsoft.com/office/drawing/2014/main" id="{A58446CB-6BF7-4A87-8891-9486FF53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209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4-link-2">
            <a:extLst xmlns:a="http://schemas.openxmlformats.org/drawingml/2006/main">
              <a:ext uri="{FF2B5EF4-FFF2-40B4-BE49-F238E27FC236}">
                <a16:creationId xmlns:a16="http://schemas.microsoft.com/office/drawing/2014/main" id="{24FD0662-1ADA-482C-9FF2-91F83B9C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209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4-link-3">
            <a:extLst xmlns:a="http://schemas.openxmlformats.org/drawingml/2006/main">
              <a:ext uri="{FF2B5EF4-FFF2-40B4-BE49-F238E27FC236}">
                <a16:creationId xmlns:a16="http://schemas.microsoft.com/office/drawing/2014/main" id="{73E573A9-5BDD-4BD4-B7B3-DDBB02F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2098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n-0">
            <a:extLst xmlns:a="http://schemas.openxmlformats.org/drawingml/2006/main">
              <a:ext uri="{FF2B5EF4-FFF2-40B4-BE49-F238E27FC236}">
                <a16:creationId xmlns:a16="http://schemas.microsoft.com/office/drawing/2014/main" id="{428A25F7-7158-4CF8-9DA0-9C2856C7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04-step-0">
            <a:extLst xmlns:a="http://schemas.openxmlformats.org/drawingml/2006/main">
              <a:ext uri="{FF2B5EF4-FFF2-40B4-BE49-F238E27FC236}">
                <a16:creationId xmlns:a16="http://schemas.microsoft.com/office/drawing/2014/main" id="{E0080614-673E-4CAC-A2F7-2FA79CBB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子假设条目</a:t>
            </a:r>
          </a:p>
        </p:txBody>
      </p:sp>
      <p:sp>
        <p:nvSpPr>
          <p:cNvPr id="12" name="p04-n-1">
            <a:extLst xmlns:a="http://schemas.openxmlformats.org/drawingml/2006/main">
              <a:ext uri="{FF2B5EF4-FFF2-40B4-BE49-F238E27FC236}">
                <a16:creationId xmlns:a16="http://schemas.microsoft.com/office/drawing/2014/main" id="{AF7E66B0-1651-41B1-A09A-904F34E1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04-step-1">
            <a:extLst xmlns:a="http://schemas.openxmlformats.org/drawingml/2006/main">
              <a:ext uri="{FF2B5EF4-FFF2-40B4-BE49-F238E27FC236}">
                <a16:creationId xmlns:a16="http://schemas.microsoft.com/office/drawing/2014/main" id="{AB6E38C4-0695-4160-B599-3D5D281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2F638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F638A"/>
                </a:solidFill>
              </a:defRPr>
            </a:pPr>
            <a:r>
              <a:rPr sz="14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F638A"/>
                </a:solidFill>
              </a:defRPr>
            </a:pPr>
            <a:r>
              <a:rPr sz="14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配置与日志</a:t>
            </a:r>
          </a:p>
        </p:txBody>
      </p:sp>
      <p:sp>
        <p:nvSpPr>
          <p:cNvPr id="14" name="p04-n-2">
            <a:extLst xmlns:a="http://schemas.openxmlformats.org/drawingml/2006/main">
              <a:ext uri="{FF2B5EF4-FFF2-40B4-BE49-F238E27FC236}">
                <a16:creationId xmlns:a16="http://schemas.microsoft.com/office/drawing/2014/main" id="{71881882-FC0E-4B97-9FF9-3012AB1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95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04-step-2">
            <a:extLst xmlns:a="http://schemas.openxmlformats.org/drawingml/2006/main">
              <a:ext uri="{FF2B5EF4-FFF2-40B4-BE49-F238E27FC236}">
                <a16:creationId xmlns:a16="http://schemas.microsoft.com/office/drawing/2014/main" id="{F6A8AB9D-FC79-4DB5-A156-AFB058EE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668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19050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度量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指标记录</a:t>
            </a:r>
          </a:p>
        </p:txBody>
      </p:sp>
      <p:sp>
        <p:nvSpPr>
          <p:cNvPr id="16" name="p04-n-3">
            <a:extLst xmlns:a="http://schemas.openxmlformats.org/drawingml/2006/main">
              <a:ext uri="{FF2B5EF4-FFF2-40B4-BE49-F238E27FC236}">
                <a16:creationId xmlns:a16="http://schemas.microsoft.com/office/drawing/2014/main" id="{1403977A-0C9C-4338-8DD7-454F88AD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04-step-3">
            <a:extLst xmlns:a="http://schemas.openxmlformats.org/drawingml/2006/main">
              <a:ext uri="{FF2B5EF4-FFF2-40B4-BE49-F238E27FC236}">
                <a16:creationId xmlns:a16="http://schemas.microsoft.com/office/drawing/2014/main" id="{A265F8F8-845F-492F-B05E-9A238B0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19050">
            <a:solidFill>
              <a:srgbClr val="A86C1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支持/削弱/推翻</a:t>
            </a:r>
          </a:p>
        </p:txBody>
      </p:sp>
      <p:sp>
        <p:nvSpPr>
          <p:cNvPr id="18" name="p04-n-4">
            <a:extLst xmlns:a="http://schemas.openxmlformats.org/drawingml/2006/main">
              <a:ext uri="{FF2B5EF4-FFF2-40B4-BE49-F238E27FC236}">
                <a16:creationId xmlns:a16="http://schemas.microsoft.com/office/drawing/2014/main" id="{48A66891-7ADA-4FD2-8401-4BF3241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95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p04-step-4">
            <a:extLst xmlns:a="http://schemas.openxmlformats.org/drawingml/2006/main">
              <a:ext uri="{FF2B5EF4-FFF2-40B4-BE49-F238E27FC236}">
                <a16:creationId xmlns:a16="http://schemas.microsoft.com/office/drawing/2014/main" id="{083517C7-AEFE-46A3-A88F-8082F30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668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回写/回退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Keep/Discard + 理由</a:t>
            </a:r>
          </a:p>
        </p:txBody>
      </p:sp>
      <p:sp>
        <p:nvSpPr>
          <p:cNvPr id="20" name="p04-return">
            <a:extLst xmlns:a="http://schemas.openxmlformats.org/drawingml/2006/main">
              <a:ext uri="{FF2B5EF4-FFF2-40B4-BE49-F238E27FC236}">
                <a16:creationId xmlns:a16="http://schemas.microsoft.com/office/drawing/2014/main" id="{30C16B73-D895-4BB5-BC5E-50AFB62E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771650" y="2709863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04-return-label">
            <a:extLst xmlns:a="http://schemas.openxmlformats.org/drawingml/2006/main">
              <a:ext uri="{FF2B5EF4-FFF2-40B4-BE49-F238E27FC236}">
                <a16:creationId xmlns:a16="http://schemas.microsoft.com/office/drawing/2014/main" id="{CB5D8CDC-5052-4378-A1BD-3BB6330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3181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回退后修订假设</a:t>
            </a:r>
          </a:p>
        </p:txBody>
      </p:sp>
      <p:sp>
        <p:nvSpPr>
          <p:cNvPr id="22" name="p04-c-0">
            <a:extLst xmlns:a="http://schemas.openxmlformats.org/drawingml/2006/main">
              <a:ext uri="{FF2B5EF4-FFF2-40B4-BE49-F238E27FC236}">
                <a16:creationId xmlns:a16="http://schemas.microsoft.com/office/drawing/2014/main" id="{789CEA18-550E-4B62-8EA9-AECF211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假设在运行前写明</a:t>
            </a:r>
          </a:p>
        </p:txBody>
      </p:sp>
      <p:sp>
        <p:nvSpPr>
          <p:cNvPr id="23" name="p04-c-1">
            <a:extLst xmlns:a="http://schemas.openxmlformats.org/drawingml/2006/main">
              <a:ext uri="{FF2B5EF4-FFF2-40B4-BE49-F238E27FC236}">
                <a16:creationId xmlns:a16="http://schemas.microsoft.com/office/drawing/2014/main" id="{85D34671-83F3-4A69-B0AB-D9CAC4B9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度量口径在评价前固定</a:t>
            </a:r>
          </a:p>
        </p:txBody>
      </p:sp>
      <p:sp>
        <p:nvSpPr>
          <p:cNvPr id="24" name="p04-c-2">
            <a:extLst xmlns:a="http://schemas.openxmlformats.org/drawingml/2006/main">
              <a:ext uri="{FF2B5EF4-FFF2-40B4-BE49-F238E27FC236}">
                <a16:creationId xmlns:a16="http://schemas.microsoft.com/office/drawing/2014/main" id="{6808FE89-BF89-42A9-AE86-34B79B0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停止条件在循环启动前承诺</a:t>
            </a:r>
          </a:p>
        </p:txBody>
      </p:sp>
      <p:sp>
        <p:nvSpPr>
          <p:cNvPr id="25" name="p04-bottom">
            <a:extLst xmlns:a="http://schemas.openxmlformats.org/drawingml/2006/main">
              <a:ext uri="{FF2B5EF4-FFF2-40B4-BE49-F238E27FC236}">
                <a16:creationId xmlns:a16="http://schemas.microsoft.com/office/drawing/2014/main" id="{4D51DAB8-561C-47B3-BB5D-4FE02B04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每一步都留下工件；任何一步事后补写，循环就退化为结果导向搜索。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适用条件与不适用范围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eft-h">
            <a:extLst xmlns:a="http://schemas.openxmlformats.org/drawingml/2006/main">
              <a:ext uri="{FF2B5EF4-FFF2-40B4-BE49-F238E27FC236}">
                <a16:creationId xmlns:a16="http://schemas.microsoft.com/office/drawing/2014/main" id="{124F0D16-BC4A-4466-AF93-2193EFF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适用：动作可被操作化</a:t>
            </a:r>
          </a:p>
        </p:txBody>
      </p:sp>
      <p:sp>
        <p:nvSpPr>
          <p:cNvPr id="7" name="p05-l-0">
            <a:extLst xmlns:a="http://schemas.openxmlformats.org/drawingml/2006/main">
              <a:ext uri="{FF2B5EF4-FFF2-40B4-BE49-F238E27FC236}">
                <a16:creationId xmlns:a16="http://schemas.microsoft.com/office/drawing/2014/main" id="{C8A941AD-D4B5-413E-80C0-3C68773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同配置可重复运行</a:t>
            </a:r>
          </a:p>
        </p:txBody>
      </p:sp>
      <p:sp>
        <p:nvSpPr>
          <p:cNvPr id="8" name="p05-l-1">
            <a:extLst xmlns:a="http://schemas.openxmlformats.org/drawingml/2006/main">
              <a:ext uri="{FF2B5EF4-FFF2-40B4-BE49-F238E27FC236}">
                <a16:creationId xmlns:a16="http://schemas.microsoft.com/office/drawing/2014/main" id="{BC1B23E5-BEDD-4A6A-A6C2-AC3A755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指标可按操作定义计算</a:t>
            </a:r>
          </a:p>
        </p:txBody>
      </p:sp>
      <p:sp>
        <p:nvSpPr>
          <p:cNvPr id="9" name="p05-l-2">
            <a:extLst xmlns:a="http://schemas.openxmlformats.org/drawingml/2006/main">
              <a:ext uri="{FF2B5EF4-FFF2-40B4-BE49-F238E27FC236}">
                <a16:creationId xmlns:a16="http://schemas.microsoft.com/office/drawing/2014/main" id="{CD0B502A-36D1-4B9B-AB37-26550B3A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预算和停止条件有界</a:t>
            </a:r>
          </a:p>
        </p:txBody>
      </p:sp>
      <p:sp>
        <p:nvSpPr>
          <p:cNvPr id="10" name="p05-l-3">
            <a:extLst xmlns:a="http://schemas.openxmlformats.org/drawingml/2006/main">
              <a:ext uri="{FF2B5EF4-FFF2-40B4-BE49-F238E27FC236}">
                <a16:creationId xmlns:a16="http://schemas.microsoft.com/office/drawing/2014/main" id="{24C21412-6CF7-4D7E-AAFD-B88EEA4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失败可识别且可追踪</a:t>
            </a:r>
          </a:p>
        </p:txBody>
      </p:sp>
      <p:sp>
        <p:nvSpPr>
          <p:cNvPr id="11" name="p05-right-h">
            <a:extLst xmlns:a="http://schemas.openxmlformats.org/drawingml/2006/main">
              <a:ext uri="{FF2B5EF4-FFF2-40B4-BE49-F238E27FC236}">
                <a16:creationId xmlns:a16="http://schemas.microsoft.com/office/drawing/2014/main" id="{512A215B-127E-4FB5-8C39-BE326FAF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096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不适用：判断无法压成指标</a:t>
            </a:r>
          </a:p>
        </p:txBody>
      </p:sp>
      <p:sp>
        <p:nvSpPr>
          <p:cNvPr id="12" name="p05-r-0">
            <a:extLst xmlns:a="http://schemas.openxmlformats.org/drawingml/2006/main">
              <a:ext uri="{FF2B5EF4-FFF2-40B4-BE49-F238E27FC236}">
                <a16:creationId xmlns:a16="http://schemas.microsoft.com/office/drawing/2014/main" id="{14CD6A76-F532-47E6-BD84-8AA4857D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自动判断哪篇论文值得研究</a:t>
            </a:r>
          </a:p>
        </p:txBody>
      </p:sp>
      <p:sp>
        <p:nvSpPr>
          <p:cNvPr id="13" name="p05-r-1">
            <a:extLst xmlns:a="http://schemas.openxmlformats.org/drawingml/2006/main">
              <a:ext uri="{FF2B5EF4-FFF2-40B4-BE49-F238E27FC236}">
                <a16:creationId xmlns:a16="http://schemas.microsoft.com/office/drawing/2014/main" id="{8163F74A-DF2A-4A26-977A-5B2D163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伦理审查或敏感数据决定</a:t>
            </a:r>
          </a:p>
        </p:txBody>
      </p:sp>
      <p:sp>
        <p:nvSpPr>
          <p:cNvPr id="14" name="p05-r-2">
            <a:extLst xmlns:a="http://schemas.openxmlformats.org/drawingml/2006/main">
              <a:ext uri="{FF2B5EF4-FFF2-40B4-BE49-F238E27FC236}">
                <a16:creationId xmlns:a16="http://schemas.microsoft.com/office/drawing/2014/main" id="{4E8C8FD0-732C-4A00-BC79-710864E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指标必须由专家持续标注</a:t>
            </a:r>
          </a:p>
        </p:txBody>
      </p:sp>
      <p:sp>
        <p:nvSpPr>
          <p:cNvPr id="15" name="p05-r-3">
            <a:extLst xmlns:a="http://schemas.openxmlformats.org/drawingml/2006/main">
              <a:ext uri="{FF2B5EF4-FFF2-40B4-BE49-F238E27FC236}">
                <a16:creationId xmlns:a16="http://schemas.microsoft.com/office/drawing/2014/main" id="{CA87FA6A-42E4-44DD-BD22-A5AB3A9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运行不可控或不可复现</a:t>
            </a:r>
          </a:p>
        </p:txBody>
      </p:sp>
      <p:sp>
        <p:nvSpPr>
          <p:cNvPr id="16" name="p05-bottom">
            <a:extLst xmlns:a="http://schemas.openxmlformats.org/drawingml/2006/main">
              <a:ext uri="{FF2B5EF4-FFF2-40B4-BE49-F238E27FC236}">
                <a16:creationId xmlns:a16="http://schemas.microsoft.com/office/drawing/2014/main" id="{A604686A-C5EB-4559-9604-C130F255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 ≠ 跑很多次：先确认动作可重复、指标可计算、边界可承诺。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固定指标：循环启动前写明，运行期间不可被工作流修改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abel">
            <a:extLst xmlns:a="http://schemas.openxmlformats.org/drawingml/2006/main">
              <a:ext uri="{FF2B5EF4-FFF2-40B4-BE49-F238E27FC236}">
                <a16:creationId xmlns:a16="http://schemas.microsoft.com/office/drawing/2014/main" id="{D880E67A-F875-461F-9CEC-2F25865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指标定义文件｜v1.2</a:t>
            </a:r>
          </a:p>
        </p:txBody>
      </p:sp>
      <p:sp>
        <p:nvSpPr>
          <p:cNvPr id="7" name="p06-f-0">
            <a:extLst xmlns:a="http://schemas.openxmlformats.org/drawingml/2006/main">
              <a:ext uri="{FF2B5EF4-FFF2-40B4-BE49-F238E27FC236}">
                <a16:creationId xmlns:a16="http://schemas.microsoft.com/office/drawing/2014/main" id="{85033378-1FE0-4D69-90C8-2A03BC2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8" name="p06-v-0">
            <a:extLst xmlns:a="http://schemas.openxmlformats.org/drawingml/2006/main">
              <a:ext uri="{FF2B5EF4-FFF2-40B4-BE49-F238E27FC236}">
                <a16:creationId xmlns:a16="http://schemas.microsoft.com/office/drawing/2014/main" id="{4DF7CAE9-9BFA-40BE-9A4F-DB9833D9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573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限定条件字段缺失率</a:t>
            </a:r>
          </a:p>
        </p:txBody>
      </p:sp>
      <p:sp>
        <p:nvSpPr>
          <p:cNvPr id="9" name="p06-f-1">
            <a:extLst xmlns:a="http://schemas.openxmlformats.org/drawingml/2006/main">
              <a:ext uri="{FF2B5EF4-FFF2-40B4-BE49-F238E27FC236}">
                <a16:creationId xmlns:a16="http://schemas.microsoft.com/office/drawing/2014/main" id="{7DCBAB6A-A478-4AA7-B468-D839ABE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分母</a:t>
            </a:r>
          </a:p>
        </p:txBody>
      </p:sp>
      <p:sp>
        <p:nvSpPr>
          <p:cNvPr id="10" name="p06-v-1">
            <a:extLst xmlns:a="http://schemas.openxmlformats.org/drawingml/2006/main">
              <a:ext uri="{FF2B5EF4-FFF2-40B4-BE49-F238E27FC236}">
                <a16:creationId xmlns:a16="http://schemas.microsoft.com/office/drawing/2014/main" id="{F521168B-DE93-4387-945A-D01C824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应有字段数</a:t>
            </a:r>
          </a:p>
        </p:txBody>
      </p:sp>
      <p:sp>
        <p:nvSpPr>
          <p:cNvPr id="11" name="p06-f-2">
            <a:extLst xmlns:a="http://schemas.openxmlformats.org/drawingml/2006/main">
              <a:ext uri="{FF2B5EF4-FFF2-40B4-BE49-F238E27FC236}">
                <a16:creationId xmlns:a16="http://schemas.microsoft.com/office/drawing/2014/main" id="{C7DC9EC1-7D50-4E66-A5A5-3D958CA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分子</a:t>
            </a:r>
          </a:p>
        </p:txBody>
      </p:sp>
      <p:sp>
        <p:nvSpPr>
          <p:cNvPr id="12" name="p06-v-2">
            <a:extLst xmlns:a="http://schemas.openxmlformats.org/drawingml/2006/main">
              <a:ext uri="{FF2B5EF4-FFF2-40B4-BE49-F238E27FC236}">
                <a16:creationId xmlns:a16="http://schemas.microsoft.com/office/drawing/2014/main" id="{836A3BF0-A030-4FD3-8760-9CA831F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765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缺失字段数</a:t>
            </a:r>
          </a:p>
        </p:txBody>
      </p:sp>
      <p:sp>
        <p:nvSpPr>
          <p:cNvPr id="13" name="p06-f-3">
            <a:extLst xmlns:a="http://schemas.openxmlformats.org/drawingml/2006/main">
              <a:ext uri="{FF2B5EF4-FFF2-40B4-BE49-F238E27FC236}">
                <a16:creationId xmlns:a16="http://schemas.microsoft.com/office/drawing/2014/main" id="{5191D8BC-105A-448C-BA51-60DDFB9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缺失处理</a:t>
            </a:r>
          </a:p>
        </p:txBody>
      </p:sp>
      <p:sp>
        <p:nvSpPr>
          <p:cNvPr id="14" name="p06-v-3">
            <a:extLst xmlns:a="http://schemas.openxmlformats.org/drawingml/2006/main">
              <a:ext uri="{FF2B5EF4-FFF2-40B4-BE49-F238E27FC236}">
                <a16:creationId xmlns:a16="http://schemas.microsoft.com/office/drawing/2014/main" id="{07FC0EB4-0088-445E-B42C-D6B976F0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861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缺失即计 1，不补全</a:t>
            </a:r>
          </a:p>
        </p:txBody>
      </p:sp>
      <p:sp>
        <p:nvSpPr>
          <p:cNvPr id="15" name="p06-f-4">
            <a:extLst xmlns:a="http://schemas.openxmlformats.org/drawingml/2006/main">
              <a:ext uri="{FF2B5EF4-FFF2-40B4-BE49-F238E27FC236}">
                <a16:creationId xmlns:a16="http://schemas.microsoft.com/office/drawing/2014/main" id="{21DA9428-3D0A-4791-81F3-9C4F482F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标注协议</a:t>
            </a:r>
          </a:p>
        </p:txBody>
      </p:sp>
      <p:sp>
        <p:nvSpPr>
          <p:cNvPr id="16" name="p06-v-4">
            <a:extLst xmlns:a="http://schemas.openxmlformats.org/drawingml/2006/main">
              <a:ext uri="{FF2B5EF4-FFF2-40B4-BE49-F238E27FC236}">
                <a16:creationId xmlns:a16="http://schemas.microsoft.com/office/drawing/2014/main" id="{B2762F5A-D6DC-4A88-A801-106AE120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95750"/>
            <a:ext cx="3314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rubric 版本 + 数据划分</a:t>
            </a:r>
          </a:p>
        </p:txBody>
      </p:sp>
      <p:sp>
        <p:nvSpPr>
          <p:cNvPr id="17" name="p06-right-h">
            <a:extLst xmlns:a="http://schemas.openxmlformats.org/drawingml/2006/main">
              <a:ext uri="{FF2B5EF4-FFF2-40B4-BE49-F238E27FC236}">
                <a16:creationId xmlns:a16="http://schemas.microsoft.com/office/drawing/2014/main" id="{CE117E4F-2CD2-4AFD-B903-746E11EF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096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评价协议漂移</a:t>
            </a:r>
          </a:p>
        </p:txBody>
      </p:sp>
      <p:sp>
        <p:nvSpPr>
          <p:cNvPr id="18" name="p06-d-0">
            <a:extLst xmlns:a="http://schemas.openxmlformats.org/drawingml/2006/main">
              <a:ext uri="{FF2B5EF4-FFF2-40B4-BE49-F238E27FC236}">
                <a16:creationId xmlns:a16="http://schemas.microsoft.com/office/drawing/2014/main" id="{EFF8CAD9-5736-4609-AD59-593D0AC9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结果不利后自动换指标</a:t>
            </a:r>
          </a:p>
        </p:txBody>
      </p:sp>
      <p:sp>
        <p:nvSpPr>
          <p:cNvPr id="19" name="p06-d-1">
            <a:extLst xmlns:a="http://schemas.openxmlformats.org/drawingml/2006/main">
              <a:ext uri="{FF2B5EF4-FFF2-40B4-BE49-F238E27FC236}">
                <a16:creationId xmlns:a16="http://schemas.microsoft.com/office/drawing/2014/main" id="{A702FF57-A06E-4FB8-A3CD-1FD86C2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运行中自动修订 rubric</a:t>
            </a:r>
          </a:p>
        </p:txBody>
      </p:sp>
      <p:sp>
        <p:nvSpPr>
          <p:cNvPr id="20" name="p06-d-2">
            <a:extLst xmlns:a="http://schemas.openxmlformats.org/drawingml/2006/main">
              <a:ext uri="{FF2B5EF4-FFF2-40B4-BE49-F238E27FC236}">
                <a16:creationId xmlns:a16="http://schemas.microsoft.com/office/drawing/2014/main" id="{DC87FFB2-0452-433F-BC82-ABB8F92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数据缺失时自动缩小分母</a:t>
            </a:r>
          </a:p>
        </p:txBody>
      </p:sp>
      <p:sp>
        <p:nvSpPr>
          <p:cNvPr id="21" name="p06-check">
            <a:extLst xmlns:a="http://schemas.openxmlformats.org/drawingml/2006/main">
              <a:ext uri="{FF2B5EF4-FFF2-40B4-BE49-F238E27FC236}">
                <a16:creationId xmlns:a16="http://schemas.microsoft.com/office/drawing/2014/main" id="{1C4BC85F-12D8-4483-B776-C4F4F11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18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运行前后核对：指标定义文件 · rubric 版本 · 数据划分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预算与停止条件：三类触发器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budget-h">
            <a:extLst xmlns:a="http://schemas.openxmlformats.org/drawingml/2006/main">
              <a:ext uri="{FF2B5EF4-FFF2-40B4-BE49-F238E27FC236}">
                <a16:creationId xmlns:a16="http://schemas.microsoft.com/office/drawing/2014/main" id="{A79D97C3-F514-4AD7-B5AC-7DB33255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预算是硬上限</a:t>
            </a:r>
          </a:p>
        </p:txBody>
      </p:sp>
      <p:sp>
        <p:nvSpPr>
          <p:cNvPr id="7" name="p07-bh-0">
            <a:extLst xmlns:a="http://schemas.openxmlformats.org/drawingml/2006/main">
              <a:ext uri="{FF2B5EF4-FFF2-40B4-BE49-F238E27FC236}">
                <a16:creationId xmlns:a16="http://schemas.microsoft.com/office/drawing/2014/main" id="{A2987EAC-9135-47DC-BB40-AC80CD1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28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8" name="p07-bd-0">
            <a:extLst xmlns:a="http://schemas.openxmlformats.org/drawingml/2006/main">
              <a:ext uri="{FF2B5EF4-FFF2-40B4-BE49-F238E27FC236}">
                <a16:creationId xmlns:a16="http://schemas.microsoft.com/office/drawing/2014/main" id="{1857A50C-DD6C-4100-8785-74CBEE94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811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总时长 / 单次上限</a:t>
            </a:r>
          </a:p>
        </p:txBody>
      </p:sp>
      <p:sp>
        <p:nvSpPr>
          <p:cNvPr id="9" name="p07-bh-1">
            <a:extLst xmlns:a="http://schemas.openxmlformats.org/drawingml/2006/main">
              <a:ext uri="{FF2B5EF4-FFF2-40B4-BE49-F238E27FC236}">
                <a16:creationId xmlns:a16="http://schemas.microsoft.com/office/drawing/2014/main" id="{FCC4920D-EDA8-4948-83AD-507BC2F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1028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10" name="p07-bd-1">
            <a:extLst xmlns:a="http://schemas.openxmlformats.org/drawingml/2006/main">
              <a:ext uri="{FF2B5EF4-FFF2-40B4-BE49-F238E27FC236}">
                <a16:creationId xmlns:a16="http://schemas.microsoft.com/office/drawing/2014/main" id="{66AEBE5B-373F-485F-B655-A581DAF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811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token / 算力 / API</a:t>
            </a:r>
          </a:p>
        </p:txBody>
      </p:sp>
      <p:sp>
        <p:nvSpPr>
          <p:cNvPr id="11" name="p07-bh-2">
            <a:extLst xmlns:a="http://schemas.openxmlformats.org/drawingml/2006/main">
              <a:ext uri="{FF2B5EF4-FFF2-40B4-BE49-F238E27FC236}">
                <a16:creationId xmlns:a16="http://schemas.microsoft.com/office/drawing/2014/main" id="{8438BA15-96A4-4F22-B5E6-25A63E5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028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2" name="p07-bd-2">
            <a:extLst xmlns:a="http://schemas.openxmlformats.org/drawingml/2006/main">
              <a:ext uri="{FF2B5EF4-FFF2-40B4-BE49-F238E27FC236}">
                <a16:creationId xmlns:a16="http://schemas.microsoft.com/office/drawing/2014/main" id="{CDAADC31-5ADC-422C-A06D-D45683B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811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最大轮数 / 每组次数</a:t>
            </a:r>
          </a:p>
        </p:txBody>
      </p:sp>
      <p:sp>
        <p:nvSpPr>
          <p:cNvPr id="13" name="p07-bh-3">
            <a:extLst xmlns:a="http://schemas.openxmlformats.org/drawingml/2006/main">
              <a:ext uri="{FF2B5EF4-FFF2-40B4-BE49-F238E27FC236}">
                <a16:creationId xmlns:a16="http://schemas.microsoft.com/office/drawing/2014/main" id="{93EC1766-5EC4-4488-8675-F4CEA465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81150"/>
            <a:ext cx="1028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4" name="p07-bd-3">
            <a:extLst xmlns:a="http://schemas.openxmlformats.org/drawingml/2006/main">
              <a:ext uri="{FF2B5EF4-FFF2-40B4-BE49-F238E27FC236}">
                <a16:creationId xmlns:a16="http://schemas.microsoft.com/office/drawing/2014/main" id="{9464A946-9752-4FC1-9B87-EC750FE0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811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连续失败触发停止</a:t>
            </a:r>
          </a:p>
        </p:txBody>
      </p:sp>
      <p:sp>
        <p:nvSpPr>
          <p:cNvPr id="15" name="p07-stop-h">
            <a:extLst xmlns:a="http://schemas.openxmlformats.org/drawingml/2006/main">
              <a:ext uri="{FF2B5EF4-FFF2-40B4-BE49-F238E27FC236}">
                <a16:creationId xmlns:a16="http://schemas.microsoft.com/office/drawing/2014/main" id="{9AD2055B-9F52-4C8B-B202-E6A48D00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停止条件三类触发器</a:t>
            </a:r>
          </a:p>
        </p:txBody>
      </p:sp>
      <p:sp>
        <p:nvSpPr>
          <p:cNvPr id="16" name="p07-sh-0">
            <a:extLst xmlns:a="http://schemas.openxmlformats.org/drawingml/2006/main">
              <a:ext uri="{FF2B5EF4-FFF2-40B4-BE49-F238E27FC236}">
                <a16:creationId xmlns:a16="http://schemas.microsoft.com/office/drawing/2014/main" id="{0110C7B8-992D-4EC7-AEEC-A0C589E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17" name="p07-sd-0">
            <a:extLst xmlns:a="http://schemas.openxmlformats.org/drawingml/2006/main">
              <a:ext uri="{FF2B5EF4-FFF2-40B4-BE49-F238E27FC236}">
                <a16:creationId xmlns:a16="http://schemas.microsoft.com/office/drawing/2014/main" id="{0F97A87C-69BC-48F4-A466-EA4B5E3C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达到预算或完成扫描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例：120 次跑完</a:t>
            </a:r>
          </a:p>
        </p:txBody>
      </p:sp>
      <p:sp>
        <p:nvSpPr>
          <p:cNvPr id="18" name="p07-sh-1">
            <a:extLst xmlns:a="http://schemas.openxmlformats.org/drawingml/2006/main">
              <a:ext uri="{FF2B5EF4-FFF2-40B4-BE49-F238E27FC236}">
                <a16:creationId xmlns:a16="http://schemas.microsoft.com/office/drawing/2014/main" id="{A8DCAC85-C091-403E-9D6E-8301C1E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协议性</a:t>
            </a:r>
          </a:p>
        </p:txBody>
      </p:sp>
      <p:sp>
        <p:nvSpPr>
          <p:cNvPr id="19" name="p07-sd-1">
            <a:extLst xmlns:a="http://schemas.openxmlformats.org/drawingml/2006/main">
              <a:ext uri="{FF2B5EF4-FFF2-40B4-BE49-F238E27FC236}">
                <a16:creationId xmlns:a16="http://schemas.microsoft.com/office/drawing/2014/main" id="{D4DFB090-BCCA-4AEB-9018-8B2B1202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数据污染 / 配置错误 / 指标变化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例：rubric 版本变化</a:t>
            </a:r>
          </a:p>
        </p:txBody>
      </p:sp>
      <p:sp>
        <p:nvSpPr>
          <p:cNvPr id="20" name="p07-sh-2">
            <a:extLst xmlns:a="http://schemas.openxmlformats.org/drawingml/2006/main">
              <a:ext uri="{FF2B5EF4-FFF2-40B4-BE49-F238E27FC236}">
                <a16:creationId xmlns:a16="http://schemas.microsoft.com/office/drawing/2014/main" id="{E925486C-C222-485F-9275-E6FDBD1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21" name="p07-sd-2">
            <a:extLst xmlns:a="http://schemas.openxmlformats.org/drawingml/2006/main">
              <a:ext uri="{FF2B5EF4-FFF2-40B4-BE49-F238E27FC236}">
                <a16:creationId xmlns:a16="http://schemas.microsoft.com/office/drawing/2014/main" id="{A56D03F3-A643-4E5A-98D6-3724F9B4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因结果不利或有利而停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例：隐性 p-hacking</a:t>
            </a:r>
          </a:p>
        </p:txBody>
      </p:sp>
      <p:sp>
        <p:nvSpPr>
          <p:cNvPr id="22" name="p07-bottom">
            <a:extLst xmlns:a="http://schemas.openxmlformats.org/drawingml/2006/main">
              <a:ext uri="{FF2B5EF4-FFF2-40B4-BE49-F238E27FC236}">
                <a16:creationId xmlns:a16="http://schemas.microsoft.com/office/drawing/2014/main" id="{6DFE75F4-2F63-43D3-87BC-82F5DF8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预算触顶必须停；不能“再跑一次说不定就成了”。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回退机制：回到稳定配置，不是“上一次看起来不错”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left-h">
            <a:extLst xmlns:a="http://schemas.openxmlformats.org/drawingml/2006/main">
              <a:ext uri="{FF2B5EF4-FFF2-40B4-BE49-F238E27FC236}">
                <a16:creationId xmlns:a16="http://schemas.microsoft.com/office/drawing/2014/main" id="{28D6D539-3498-447D-9F01-CEEF4AD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回退到</a:t>
            </a:r>
          </a:p>
        </p:txBody>
      </p:sp>
      <p:sp>
        <p:nvSpPr>
          <p:cNvPr id="7" name="p08-l-0">
            <a:extLst xmlns:a="http://schemas.openxmlformats.org/drawingml/2006/main">
              <a:ext uri="{FF2B5EF4-FFF2-40B4-BE49-F238E27FC236}">
                <a16:creationId xmlns:a16="http://schemas.microsoft.com/office/drawing/2014/main" id="{080805E0-37EE-4A74-899C-1037FD22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最近一次通过人工审核的稳定配置</a:t>
            </a:r>
          </a:p>
        </p:txBody>
      </p:sp>
      <p:sp>
        <p:nvSpPr>
          <p:cNvPr id="8" name="p08-l-1">
            <a:extLst xmlns:a="http://schemas.openxmlformats.org/drawingml/2006/main">
              <a:ext uri="{FF2B5EF4-FFF2-40B4-BE49-F238E27FC236}">
                <a16:creationId xmlns:a16="http://schemas.microsoft.com/office/drawing/2014/main" id="{7DAE8B1A-8969-4C07-9841-3D7324F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保留已运行的失败迭代</a:t>
            </a:r>
          </a:p>
        </p:txBody>
      </p:sp>
      <p:sp>
        <p:nvSpPr>
          <p:cNvPr id="9" name="p08-l-2">
            <a:extLst xmlns:a="http://schemas.openxmlformats.org/drawingml/2006/main">
              <a:ext uri="{FF2B5EF4-FFF2-40B4-BE49-F238E27FC236}">
                <a16:creationId xmlns:a16="http://schemas.microsoft.com/office/drawing/2014/main" id="{559F7D46-6B15-4F59-B3B6-95BD9C0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触发假设、判断或预算修订</a:t>
            </a:r>
          </a:p>
        </p:txBody>
      </p:sp>
      <p:sp>
        <p:nvSpPr>
          <p:cNvPr id="10" name="p08-l-3">
            <a:extLst xmlns:a="http://schemas.openxmlformats.org/drawingml/2006/main">
              <a:ext uri="{FF2B5EF4-FFF2-40B4-BE49-F238E27FC236}">
                <a16:creationId xmlns:a16="http://schemas.microsoft.com/office/drawing/2014/main" id="{A2859448-81E0-4821-BBDB-07053E0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默认需要人工确认</a:t>
            </a:r>
          </a:p>
        </p:txBody>
      </p:sp>
      <p:sp>
        <p:nvSpPr>
          <p:cNvPr id="11" name="p08-right-h">
            <a:extLst xmlns:a="http://schemas.openxmlformats.org/drawingml/2006/main">
              <a:ext uri="{FF2B5EF4-FFF2-40B4-BE49-F238E27FC236}">
                <a16:creationId xmlns:a16="http://schemas.microsoft.com/office/drawing/2014/main" id="{DDDAEA40-7688-4E3D-AE8D-CA92417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287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回退不是</a:t>
            </a:r>
          </a:p>
        </p:txBody>
      </p:sp>
      <p:sp>
        <p:nvSpPr>
          <p:cNvPr id="12" name="p08-r-0">
            <a:extLst xmlns:a="http://schemas.openxmlformats.org/drawingml/2006/main">
              <a:ext uri="{FF2B5EF4-FFF2-40B4-BE49-F238E27FC236}">
                <a16:creationId xmlns:a16="http://schemas.microsoft.com/office/drawing/2014/main" id="{11AB38E8-E908-45DA-A1AC-490A13A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回到上一次看起来不错</a:t>
            </a:r>
          </a:p>
        </p:txBody>
      </p:sp>
      <p:sp>
        <p:nvSpPr>
          <p:cNvPr id="13" name="p08-r-1">
            <a:extLst xmlns:a="http://schemas.openxmlformats.org/drawingml/2006/main">
              <a:ext uri="{FF2B5EF4-FFF2-40B4-BE49-F238E27FC236}">
                <a16:creationId xmlns:a16="http://schemas.microsoft.com/office/drawing/2014/main" id="{215692F5-16CD-4C6D-837B-31B06D6D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删除失败再重跑</a:t>
            </a:r>
          </a:p>
        </p:txBody>
      </p:sp>
      <p:sp>
        <p:nvSpPr>
          <p:cNvPr id="14" name="p08-r-2">
            <a:extLst xmlns:a="http://schemas.openxmlformats.org/drawingml/2006/main">
              <a:ext uri="{FF2B5EF4-FFF2-40B4-BE49-F238E27FC236}">
                <a16:creationId xmlns:a16="http://schemas.microsoft.com/office/drawing/2014/main" id="{EC734502-4E44-463A-8478-C085BCB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一直重跑到成功</a:t>
            </a:r>
          </a:p>
        </p:txBody>
      </p:sp>
      <p:sp>
        <p:nvSpPr>
          <p:cNvPr id="15" name="p08-r-3">
            <a:extLst xmlns:a="http://schemas.openxmlformats.org/drawingml/2006/main">
              <a:ext uri="{FF2B5EF4-FFF2-40B4-BE49-F238E27FC236}">
                <a16:creationId xmlns:a16="http://schemas.microsoft.com/office/drawing/2014/main" id="{4F60253A-6CD1-4EA6-8E22-E724593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不修订任何研究判断</a:t>
            </a:r>
          </a:p>
        </p:txBody>
      </p:sp>
      <p:sp>
        <p:nvSpPr>
          <p:cNvPr id="16" name="p08-bottom">
            <a:extLst xmlns:a="http://schemas.openxmlformats.org/drawingml/2006/main">
              <a:ext uri="{FF2B5EF4-FFF2-40B4-BE49-F238E27FC236}">
                <a16:creationId xmlns:a16="http://schemas.microsoft.com/office/drawing/2014/main" id="{59E690BE-D64F-408E-8A57-39D00A9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857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回退承认本轮未达目标，并把系统带回上一个可审查状态。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反例：指标篡改（评价协议漂移）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case">
            <a:extLst xmlns:a="http://schemas.openxmlformats.org/drawingml/2006/main">
              <a:ext uri="{FF2B5EF4-FFF2-40B4-BE49-F238E27FC236}">
                <a16:creationId xmlns:a16="http://schemas.microsoft.com/office/drawing/2014/main" id="{E85CCFDF-E727-4A40-BEC7-65F3454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课程教学反例｜虚构日志，不是实验结果</a:t>
            </a:r>
          </a:p>
        </p:txBody>
      </p:sp>
      <p:sp>
        <p:nvSpPr>
          <p:cNvPr id="7" name="p09-log">
            <a:extLst xmlns:a="http://schemas.openxmlformats.org/drawingml/2006/main">
              <a:ext uri="{FF2B5EF4-FFF2-40B4-BE49-F238E27FC236}">
                <a16:creationId xmlns:a16="http://schemas.microsoft.com/office/drawing/2014/main" id="{55FD4B24-CB66-42B8-84A1-C16688DF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676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228600" tIns="171450" rIns="22860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迭代 3：限定条件遗漏率 0.42，未达阈值。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          自动切换到“字段覆盖率”指标。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迭代 3′：字段覆盖率 0.85，达到阈值，Keep。</a:t>
            </a:r>
          </a:p>
        </p:txBody>
      </p:sp>
      <p:sp>
        <p:nvSpPr>
          <p:cNvPr id="8" name="p09-problem">
            <a:extLst xmlns:a="http://schemas.openxmlformats.org/drawingml/2006/main">
              <a:ext uri="{FF2B5EF4-FFF2-40B4-BE49-F238E27FC236}">
                <a16:creationId xmlns:a16="http://schemas.microsoft.com/office/drawing/2014/main" id="{C0285040-4922-4DF7-A6BA-959C1EE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问题定位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结果不利后换指标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＝ 评价协议漂移</a:t>
            </a:r>
          </a:p>
        </p:txBody>
      </p:sp>
      <p:sp>
        <p:nvSpPr>
          <p:cNvPr id="9" name="p09-fix-h">
            <a:extLst xmlns:a="http://schemas.openxmlformats.org/drawingml/2006/main">
              <a:ext uri="{FF2B5EF4-FFF2-40B4-BE49-F238E27FC236}">
                <a16:creationId xmlns:a16="http://schemas.microsoft.com/office/drawing/2014/main" id="{31ADED61-FCF1-4318-AAEC-2B75567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正确改写</a:t>
            </a:r>
          </a:p>
        </p:txBody>
      </p:sp>
      <p:sp>
        <p:nvSpPr>
          <p:cNvPr id="10" name="p09-fix">
            <a:extLst xmlns:a="http://schemas.openxmlformats.org/drawingml/2006/main">
              <a:ext uri="{FF2B5EF4-FFF2-40B4-BE49-F238E27FC236}">
                <a16:creationId xmlns:a16="http://schemas.microsoft.com/office/drawing/2014/main" id="{D1B9229F-5CA0-455A-BDA8-3C888DC9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591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启动前固定指标定义文件并版本化；结果不利 → Discard + 记录 + 回退，不换指标。</a:t>
            </a:r>
          </a:p>
        </p:txBody>
      </p:sp>
      <p:sp>
        <p:nvSpPr>
          <p:cNvPr id="11" name="p09-question">
            <a:extLst xmlns:a="http://schemas.openxmlformats.org/drawingml/2006/main">
              <a:ext uri="{FF2B5EF4-FFF2-40B4-BE49-F238E27FC236}">
                <a16:creationId xmlns:a16="http://schemas.microsoft.com/office/drawing/2014/main" id="{C31FAAD6-1573-4FD3-8556-87BE1431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只看最终 Keep 决策，你还能发现这次篡改吗？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演示：贯穿案例改写为受限循环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ase">
            <a:extLst xmlns:a="http://schemas.openxmlformats.org/drawingml/2006/main">
              <a:ext uri="{FF2B5EF4-FFF2-40B4-BE49-F238E27FC236}">
                <a16:creationId xmlns:a16="http://schemas.microsoft.com/office/drawing/2014/main" id="{892164B1-9788-4DC2-95CE-88DC305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93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课程教学案例｜阅读卡摘要；参数、commit 与 rubric 版本均为虚构</a:t>
            </a:r>
          </a:p>
        </p:txBody>
      </p:sp>
      <p:sp>
        <p:nvSpPr>
          <p:cNvPr id="7" name="p10-ch-0">
            <a:extLst xmlns:a="http://schemas.openxmlformats.org/drawingml/2006/main">
              <a:ext uri="{FF2B5EF4-FFF2-40B4-BE49-F238E27FC236}">
                <a16:creationId xmlns:a16="http://schemas.microsoft.com/office/drawing/2014/main" id="{FA405FF2-99C3-4593-AA57-478EB45E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固定指标</a:t>
            </a:r>
          </a:p>
        </p:txBody>
      </p:sp>
      <p:sp>
        <p:nvSpPr>
          <p:cNvPr id="8" name="p10-cd-0">
            <a:extLst xmlns:a="http://schemas.openxmlformats.org/drawingml/2006/main">
              <a:ext uri="{FF2B5EF4-FFF2-40B4-BE49-F238E27FC236}">
                <a16:creationId xmlns:a16="http://schemas.microsoft.com/office/drawing/2014/main" id="{F4602357-C8E6-4C8A-9BC5-E5373942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24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遗漏率 = 缺失字段数 / 5</a:t>
            </a:r>
          </a:p>
        </p:txBody>
      </p:sp>
      <p:sp>
        <p:nvSpPr>
          <p:cNvPr id="9" name="p10-ch-1">
            <a:extLst xmlns:a="http://schemas.openxmlformats.org/drawingml/2006/main">
              <a:ext uri="{FF2B5EF4-FFF2-40B4-BE49-F238E27FC236}">
                <a16:creationId xmlns:a16="http://schemas.microsoft.com/office/drawing/2014/main" id="{88277795-3378-4538-A59A-5EC7A2D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240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</a:t>
            </a:r>
          </a:p>
        </p:txBody>
      </p:sp>
      <p:sp>
        <p:nvSpPr>
          <p:cNvPr id="10" name="p10-cd-1">
            <a:extLst xmlns:a="http://schemas.openxmlformats.org/drawingml/2006/main">
              <a:ext uri="{FF2B5EF4-FFF2-40B4-BE49-F238E27FC236}">
                <a16:creationId xmlns:a16="http://schemas.microsoft.com/office/drawing/2014/main" id="{7E8FE258-26DB-4ECA-9F06-9DFBE324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20 篇 × 2 组 × 3 种子；60 分钟</a:t>
            </a:r>
          </a:p>
        </p:txBody>
      </p:sp>
      <p:sp>
        <p:nvSpPr>
          <p:cNvPr id="11" name="p10-ch-2">
            <a:extLst xmlns:a="http://schemas.openxmlformats.org/drawingml/2006/main">
              <a:ext uri="{FF2B5EF4-FFF2-40B4-BE49-F238E27FC236}">
                <a16:creationId xmlns:a16="http://schemas.microsoft.com/office/drawing/2014/main" id="{1F6941ED-5BFE-455E-B841-7E3DFAC7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12" name="p10-cd-2">
            <a:extLst xmlns:a="http://schemas.openxmlformats.org/drawingml/2006/main">
              <a:ext uri="{FF2B5EF4-FFF2-40B4-BE49-F238E27FC236}">
                <a16:creationId xmlns:a16="http://schemas.microsoft.com/office/drawing/2014/main" id="{C6E65A10-1BFC-42C6-B757-8BD29C2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正常 / 协议性 / 禁止</a:t>
            </a:r>
          </a:p>
        </p:txBody>
      </p:sp>
      <p:sp>
        <p:nvSpPr>
          <p:cNvPr id="13" name="p10-ch-3">
            <a:extLst xmlns:a="http://schemas.openxmlformats.org/drawingml/2006/main">
              <a:ext uri="{FF2B5EF4-FFF2-40B4-BE49-F238E27FC236}">
                <a16:creationId xmlns:a16="http://schemas.microsoft.com/office/drawing/2014/main" id="{8A555DBC-63CE-40E0-B448-82C2EA9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240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</a:t>
            </a:r>
          </a:p>
        </p:txBody>
      </p:sp>
      <p:sp>
        <p:nvSpPr>
          <p:cNvPr id="14" name="p10-cd-3">
            <a:extLst xmlns:a="http://schemas.openxmlformats.org/drawingml/2006/main">
              <a:ext uri="{FF2B5EF4-FFF2-40B4-BE49-F238E27FC236}">
                <a16:creationId xmlns:a16="http://schemas.microsoft.com/office/drawing/2014/main" id="{80B69330-43AB-4807-85D7-1949019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24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稳定 commit + rubric；失败保留</a:t>
            </a:r>
          </a:p>
        </p:txBody>
      </p:sp>
      <p:sp>
        <p:nvSpPr>
          <p:cNvPr id="15" name="p10-line-0">
            <a:extLst xmlns:a="http://schemas.openxmlformats.org/drawingml/2006/main">
              <a:ext uri="{FF2B5EF4-FFF2-40B4-BE49-F238E27FC236}">
                <a16:creationId xmlns:a16="http://schemas.microsoft.com/office/drawing/2014/main" id="{B96155E7-140F-4BA2-AFF4-DB17A03E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1432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0-line-1">
            <a:extLst xmlns:a="http://schemas.openxmlformats.org/drawingml/2006/main">
              <a:ext uri="{FF2B5EF4-FFF2-40B4-BE49-F238E27FC236}">
                <a16:creationId xmlns:a16="http://schemas.microsoft.com/office/drawing/2014/main" id="{2EE11B58-863C-4B9C-8C9E-A5DDD17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31432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0-line-2">
            <a:extLst xmlns:a="http://schemas.openxmlformats.org/drawingml/2006/main">
              <a:ext uri="{FF2B5EF4-FFF2-40B4-BE49-F238E27FC236}">
                <a16:creationId xmlns:a16="http://schemas.microsoft.com/office/drawing/2014/main" id="{1C73CC50-CE34-4A0A-A370-8DD1C55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31432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0-line-3">
            <a:extLst xmlns:a="http://schemas.openxmlformats.org/drawingml/2006/main">
              <a:ext uri="{FF2B5EF4-FFF2-40B4-BE49-F238E27FC236}">
                <a16:creationId xmlns:a16="http://schemas.microsoft.com/office/drawing/2014/main" id="{0796A293-812C-48A9-B799-28AAEAD5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31432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0-n-0">
            <a:extLst xmlns:a="http://schemas.openxmlformats.org/drawingml/2006/main">
              <a:ext uri="{FF2B5EF4-FFF2-40B4-BE49-F238E27FC236}">
                <a16:creationId xmlns:a16="http://schemas.microsoft.com/office/drawing/2014/main" id="{509B2638-30FD-4AB0-A99C-F0FEA4F0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p10-s-0">
            <a:extLst xmlns:a="http://schemas.openxmlformats.org/drawingml/2006/main">
              <a:ext uri="{FF2B5EF4-FFF2-40B4-BE49-F238E27FC236}">
                <a16:creationId xmlns:a16="http://schemas.microsoft.com/office/drawing/2014/main" id="{1EDFC491-31C0-4DC4-908C-BBCF5986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H1 子项</a:t>
            </a:r>
          </a:p>
        </p:txBody>
      </p:sp>
      <p:sp>
        <p:nvSpPr>
          <p:cNvPr id="21" name="p10-n-1">
            <a:extLst xmlns:a="http://schemas.openxmlformats.org/drawingml/2006/main">
              <a:ext uri="{FF2B5EF4-FFF2-40B4-BE49-F238E27FC236}">
                <a16:creationId xmlns:a16="http://schemas.microsoft.com/office/drawing/2014/main" id="{E668EBC1-B16A-409E-8744-F600BD0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p10-s-1">
            <a:extLst xmlns:a="http://schemas.openxmlformats.org/drawingml/2006/main">
              <a:ext uri="{FF2B5EF4-FFF2-40B4-BE49-F238E27FC236}">
                <a16:creationId xmlns:a16="http://schemas.microsoft.com/office/drawing/2014/main" id="{EBBD7CDB-F9D9-4098-B5CC-3CF10BC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run.log</a:t>
            </a:r>
          </a:p>
        </p:txBody>
      </p:sp>
      <p:sp>
        <p:nvSpPr>
          <p:cNvPr id="23" name="p10-n-2">
            <a:extLst xmlns:a="http://schemas.openxmlformats.org/drawingml/2006/main">
              <a:ext uri="{FF2B5EF4-FFF2-40B4-BE49-F238E27FC236}">
                <a16:creationId xmlns:a16="http://schemas.microsoft.com/office/drawing/2014/main" id="{B7DFB35B-1629-4C47-AF4B-C05D111B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95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p10-s-2">
            <a:extLst xmlns:a="http://schemas.openxmlformats.org/drawingml/2006/main">
              <a:ext uri="{FF2B5EF4-FFF2-40B4-BE49-F238E27FC236}">
                <a16:creationId xmlns:a16="http://schemas.microsoft.com/office/drawing/2014/main" id="{DCEE6D01-8379-4F59-9958-F8C8D15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度量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missing_rate</a:t>
            </a:r>
          </a:p>
        </p:txBody>
      </p:sp>
      <p:sp>
        <p:nvSpPr>
          <p:cNvPr id="25" name="p10-n-3">
            <a:extLst xmlns:a="http://schemas.openxmlformats.org/drawingml/2006/main">
              <a:ext uri="{FF2B5EF4-FFF2-40B4-BE49-F238E27FC236}">
                <a16:creationId xmlns:a16="http://schemas.microsoft.com/office/drawing/2014/main" id="{403294F6-AEAF-4FF1-96D9-40E96812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p10-s-3">
            <a:extLst xmlns:a="http://schemas.openxmlformats.org/drawingml/2006/main">
              <a:ext uri="{FF2B5EF4-FFF2-40B4-BE49-F238E27FC236}">
                <a16:creationId xmlns:a16="http://schemas.microsoft.com/office/drawing/2014/main" id="{1E1B7A92-C14F-488A-A851-AFCB7719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支持/削弱</a:t>
            </a:r>
          </a:p>
        </p:txBody>
      </p:sp>
      <p:sp>
        <p:nvSpPr>
          <p:cNvPr id="27" name="p10-n-4">
            <a:extLst xmlns:a="http://schemas.openxmlformats.org/drawingml/2006/main">
              <a:ext uri="{FF2B5EF4-FFF2-40B4-BE49-F238E27FC236}">
                <a16:creationId xmlns:a16="http://schemas.microsoft.com/office/drawing/2014/main" id="{D69CA5C3-0648-4002-8918-AAE18A83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p10-s-4">
            <a:extLst xmlns:a="http://schemas.openxmlformats.org/drawingml/2006/main">
              <a:ext uri="{FF2B5EF4-FFF2-40B4-BE49-F238E27FC236}">
                <a16:creationId xmlns:a16="http://schemas.microsoft.com/office/drawing/2014/main" id="{3A7131DC-2747-4F10-9150-1B2A89C5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051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Keep/Discard</a:t>
            </a:r>
          </a:p>
        </p:txBody>
      </p:sp>
      <p:sp>
        <p:nvSpPr>
          <p:cNvPr id="29" name="p10-audit">
            <a:extLst xmlns:a="http://schemas.openxmlformats.org/drawingml/2006/main">
              <a:ext uri="{FF2B5EF4-FFF2-40B4-BE49-F238E27FC236}">
                <a16:creationId xmlns:a16="http://schemas.microsoft.com/office/drawing/2014/main" id="{621B4673-24B7-4354-AD90-6B98F2E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人工审核点｜启动前 · 协议性停止时 · 回退时 · 结束后 · 判断修订时</a:t>
            </a:r>
          </a:p>
        </p:txBody>
      </p:sp>
      <p:sp>
        <p:nvSpPr>
          <p:cNvPr id="30" name="p10-bottom">
            <a:extLst xmlns:a="http://schemas.openxmlformats.org/drawingml/2006/main">
              <a:ext uri="{FF2B5EF4-FFF2-40B4-BE49-F238E27FC236}">
                <a16:creationId xmlns:a16="http://schemas.microsoft.com/office/drawing/2014/main" id="{B676603D-2990-4E15-89E1-8CA1CE6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四约束负责限制搜索；五步负责留下 trace；人工审核负责承担判断。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失败保留的最低字段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h-0">
            <a:extLst xmlns:a="http://schemas.openxmlformats.org/drawingml/2006/main">
              <a:ext uri="{FF2B5EF4-FFF2-40B4-BE49-F238E27FC236}">
                <a16:creationId xmlns:a16="http://schemas.microsoft.com/office/drawing/2014/main" id="{553365AB-CB0C-40A7-9FC2-F09EA53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7" name="p11-h-1">
            <a:extLst xmlns:a="http://schemas.openxmlformats.org/drawingml/2006/main">
              <a:ext uri="{FF2B5EF4-FFF2-40B4-BE49-F238E27FC236}">
                <a16:creationId xmlns:a16="http://schemas.microsoft.com/office/drawing/2014/main" id="{06AACEE4-014C-447E-BDA7-8950C9B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必须记录</a:t>
            </a:r>
          </a:p>
        </p:txBody>
      </p:sp>
      <p:sp>
        <p:nvSpPr>
          <p:cNvPr id="8" name="p11-r0-0">
            <a:extLst xmlns:a="http://schemas.openxmlformats.org/drawingml/2006/main">
              <a:ext uri="{FF2B5EF4-FFF2-40B4-BE49-F238E27FC236}">
                <a16:creationId xmlns:a16="http://schemas.microsoft.com/office/drawing/2014/main" id="{39F60463-41E8-4107-A5E9-B9003003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迭代 ID</a:t>
            </a:r>
          </a:p>
        </p:txBody>
      </p:sp>
      <p:sp>
        <p:nvSpPr>
          <p:cNvPr id="9" name="p11-r0-1">
            <a:extLst xmlns:a="http://schemas.openxmlformats.org/drawingml/2006/main">
              <a:ext uri="{FF2B5EF4-FFF2-40B4-BE49-F238E27FC236}">
                <a16:creationId xmlns:a16="http://schemas.microsoft.com/office/drawing/2014/main" id="{040034E7-AC3C-4E09-9216-4F68E741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85900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与运行日志一一对应</a:t>
            </a:r>
          </a:p>
        </p:txBody>
      </p:sp>
      <p:sp>
        <p:nvSpPr>
          <p:cNvPr id="10" name="p11-r1-0">
            <a:extLst xmlns:a="http://schemas.openxmlformats.org/drawingml/2006/main">
              <a:ext uri="{FF2B5EF4-FFF2-40B4-BE49-F238E27FC236}">
                <a16:creationId xmlns:a16="http://schemas.microsoft.com/office/drawing/2014/main" id="{8FC4313E-B3A8-41DB-B334-F67AA12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假设对应</a:t>
            </a:r>
          </a:p>
        </p:txBody>
      </p:sp>
      <p:sp>
        <p:nvSpPr>
          <p:cNvPr id="11" name="p11-r1-1">
            <a:extLst xmlns:a="http://schemas.openxmlformats.org/drawingml/2006/main">
              <a:ext uri="{FF2B5EF4-FFF2-40B4-BE49-F238E27FC236}">
                <a16:creationId xmlns:a16="http://schemas.microsoft.com/office/drawing/2014/main" id="{3BCEE4CE-0AD7-44AE-8477-B0573BB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本次验证的子假设</a:t>
            </a:r>
          </a:p>
        </p:txBody>
      </p:sp>
      <p:sp>
        <p:nvSpPr>
          <p:cNvPr id="12" name="p11-r2-0">
            <a:extLst xmlns:a="http://schemas.openxmlformats.org/drawingml/2006/main">
              <a:ext uri="{FF2B5EF4-FFF2-40B4-BE49-F238E27FC236}">
                <a16:creationId xmlns:a16="http://schemas.microsoft.com/office/drawing/2014/main" id="{B6447BB1-5F1A-4F46-BCC1-46DB1EC6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失败类型</a:t>
            </a:r>
          </a:p>
        </p:txBody>
      </p:sp>
      <p:sp>
        <p:nvSpPr>
          <p:cNvPr id="13" name="p11-r2-1">
            <a:extLst xmlns:a="http://schemas.openxmlformats.org/drawingml/2006/main">
              <a:ext uri="{FF2B5EF4-FFF2-40B4-BE49-F238E27FC236}">
                <a16:creationId xmlns:a16="http://schemas.microsoft.com/office/drawing/2014/main" id="{9B76EF0A-B058-4116-9066-B0A1439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协议 / 污染 / 超时 / 不支持 / 越权</a:t>
            </a:r>
          </a:p>
        </p:txBody>
      </p:sp>
      <p:sp>
        <p:nvSpPr>
          <p:cNvPr id="14" name="p11-r3-0">
            <a:extLst xmlns:a="http://schemas.openxmlformats.org/drawingml/2006/main">
              <a:ext uri="{FF2B5EF4-FFF2-40B4-BE49-F238E27FC236}">
                <a16:creationId xmlns:a16="http://schemas.microsoft.com/office/drawing/2014/main" id="{B03AD340-02ED-4065-AC2C-431EBF5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15" name="p11-r3-1">
            <a:extLst xmlns:a="http://schemas.openxmlformats.org/drawingml/2006/main">
              <a:ext uri="{FF2B5EF4-FFF2-40B4-BE49-F238E27FC236}">
                <a16:creationId xmlns:a16="http://schemas.microsoft.com/office/drawing/2014/main" id="{9E99304F-5C40-4EAC-BADF-C1CF82B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57525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正常 / 协议性 / 禁止</a:t>
            </a:r>
          </a:p>
        </p:txBody>
      </p:sp>
      <p:sp>
        <p:nvSpPr>
          <p:cNvPr id="16" name="p11-r4-0">
            <a:extLst xmlns:a="http://schemas.openxmlformats.org/drawingml/2006/main">
              <a:ext uri="{FF2B5EF4-FFF2-40B4-BE49-F238E27FC236}">
                <a16:creationId xmlns:a16="http://schemas.microsoft.com/office/drawing/2014/main" id="{2D625192-7696-4EB9-83DB-71BCBB73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回退目标</a:t>
            </a:r>
          </a:p>
        </p:txBody>
      </p:sp>
      <p:sp>
        <p:nvSpPr>
          <p:cNvPr id="17" name="p11-r4-1">
            <a:extLst xmlns:a="http://schemas.openxmlformats.org/drawingml/2006/main">
              <a:ext uri="{FF2B5EF4-FFF2-40B4-BE49-F238E27FC236}">
                <a16:creationId xmlns:a16="http://schemas.microsoft.com/office/drawing/2014/main" id="{3FE2125F-1772-4966-BA30-6AD4F98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上一稳定配置</a:t>
            </a:r>
          </a:p>
        </p:txBody>
      </p:sp>
      <p:sp>
        <p:nvSpPr>
          <p:cNvPr id="18" name="p11-r5-0">
            <a:extLst xmlns:a="http://schemas.openxmlformats.org/drawingml/2006/main">
              <a:ext uri="{FF2B5EF4-FFF2-40B4-BE49-F238E27FC236}">
                <a16:creationId xmlns:a16="http://schemas.microsoft.com/office/drawing/2014/main" id="{FCBD49CC-3AEB-430A-A177-DD7630FA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9" name="p11-r5-1">
            <a:extLst xmlns:a="http://schemas.openxmlformats.org/drawingml/2006/main">
              <a:ext uri="{FF2B5EF4-FFF2-40B4-BE49-F238E27FC236}">
                <a16:creationId xmlns:a16="http://schemas.microsoft.com/office/drawing/2014/main" id="{21774105-2DE3-4DF4-A6AF-917F1C0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05275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是/否 + 审核人</a:t>
            </a:r>
          </a:p>
        </p:txBody>
      </p:sp>
      <p:sp>
        <p:nvSpPr>
          <p:cNvPr id="20" name="p11-r6-0">
            <a:extLst xmlns:a="http://schemas.openxmlformats.org/drawingml/2006/main">
              <a:ext uri="{FF2B5EF4-FFF2-40B4-BE49-F238E27FC236}">
                <a16:creationId xmlns:a16="http://schemas.microsoft.com/office/drawing/2014/main" id="{D61FD395-9880-4B4B-9676-FE76369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Keep/Discard</a:t>
            </a:r>
          </a:p>
        </p:txBody>
      </p:sp>
      <p:sp>
        <p:nvSpPr>
          <p:cNvPr id="21" name="p11-r6-1">
            <a:extLst xmlns:a="http://schemas.openxmlformats.org/drawingml/2006/main">
              <a:ext uri="{FF2B5EF4-FFF2-40B4-BE49-F238E27FC236}">
                <a16:creationId xmlns:a16="http://schemas.microsoft.com/office/drawing/2014/main" id="{03C1DD4F-4CD5-4448-85DE-0FDAF827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790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Discard，但记录保留</a:t>
            </a:r>
          </a:p>
        </p:txBody>
      </p:sp>
      <p:sp>
        <p:nvSpPr>
          <p:cNvPr id="22" name="p11-eq">
            <a:extLst xmlns:a="http://schemas.openxmlformats.org/drawingml/2006/main">
              <a:ext uri="{FF2B5EF4-FFF2-40B4-BE49-F238E27FC236}">
                <a16:creationId xmlns:a16="http://schemas.microsoft.com/office/drawing/2014/main" id="{954D7D47-70A7-42EA-AEFD-DBF393E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失败迭代数  +  成功迭代数  =  总迭代数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AutoResearch / AI Scientist：两个分析对象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left-h">
            <a:extLst xmlns:a="http://schemas.openxmlformats.org/drawingml/2006/main">
              <a:ext uri="{FF2B5EF4-FFF2-40B4-BE49-F238E27FC236}">
                <a16:creationId xmlns:a16="http://schemas.microsoft.com/office/drawing/2014/main" id="{84DB00FB-D1BF-4832-AE81-620F5AD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AutoResearch</a:t>
            </a:r>
          </a:p>
        </p:txBody>
      </p:sp>
      <p:sp>
        <p:nvSpPr>
          <p:cNvPr id="7" name="p12-left">
            <a:extLst xmlns:a="http://schemas.openxmlformats.org/drawingml/2006/main">
              <a:ext uri="{FF2B5EF4-FFF2-40B4-BE49-F238E27FC236}">
                <a16:creationId xmlns:a16="http://schemas.microsoft.com/office/drawing/2014/main" id="{5EA4FF49-E83B-446D-826D-3650052F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课程固定版本  228791f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单 GPU nanochat 工程案例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固定 5 分钟预算 · val_bpb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keep / discard / crash 日志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角色：受限循环的最小骨架</a:t>
            </a:r>
          </a:p>
        </p:txBody>
      </p:sp>
      <p:sp>
        <p:nvSpPr>
          <p:cNvPr id="8" name="p12-right-h">
            <a:extLst xmlns:a="http://schemas.openxmlformats.org/drawingml/2006/main">
              <a:ext uri="{FF2B5EF4-FFF2-40B4-BE49-F238E27FC236}">
                <a16:creationId xmlns:a16="http://schemas.microsoft.com/office/drawing/2014/main" id="{E7C36CD8-4A86-4030-880D-CBDC9561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28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Scientist</a:t>
            </a:r>
          </a:p>
        </p:txBody>
      </p:sp>
      <p:sp>
        <p:nvSpPr>
          <p:cNvPr id="9" name="p12-right">
            <a:extLst xmlns:a="http://schemas.openxmlformats.org/drawingml/2006/main">
              <a:ext uri="{FF2B5EF4-FFF2-40B4-BE49-F238E27FC236}">
                <a16:creationId xmlns:a16="http://schemas.microsoft.com/office/drawing/2014/main" id="{FB4D9774-F464-4583-AF1D-49E5A6A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Lu et al. · Nature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计算型 ML 研究管线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想法 → 代码 → 实验 → 分析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论文 → 自动评审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角色：端到端自动化的边界案例</a:t>
            </a:r>
          </a:p>
        </p:txBody>
      </p:sp>
      <p:sp>
        <p:nvSpPr>
          <p:cNvPr id="10" name="p12-bottom">
            <a:extLst xmlns:a="http://schemas.openxmlformats.org/drawingml/2006/main">
              <a:ext uri="{FF2B5EF4-FFF2-40B4-BE49-F238E27FC236}">
                <a16:creationId xmlns:a16="http://schemas.microsoft.com/office/drawing/2014/main" id="{BBF0F5AF-705A-4702-BDBE-8F308ED1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分析对象 ≠ 外推依据：每一维都要问“系统处理了什么，仍需人判断什么”。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八维框架拆解：AI Scientist 的边界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h-0">
            <a:extLst xmlns:a="http://schemas.openxmlformats.org/drawingml/2006/main">
              <a:ext uri="{FF2B5EF4-FFF2-40B4-BE49-F238E27FC236}">
                <a16:creationId xmlns:a16="http://schemas.microsoft.com/office/drawing/2014/main" id="{7C324C15-95C7-4302-B862-A9DA6BCB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7" name="p13-h-1">
            <a:extLst xmlns:a="http://schemas.openxmlformats.org/drawingml/2006/main">
              <a:ext uri="{FF2B5EF4-FFF2-40B4-BE49-F238E27FC236}">
                <a16:creationId xmlns:a16="http://schemas.microsoft.com/office/drawing/2014/main" id="{DC63C81A-1918-4722-A730-EF8B28BE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52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系统处理</a:t>
            </a:r>
          </a:p>
        </p:txBody>
      </p:sp>
      <p:sp>
        <p:nvSpPr>
          <p:cNvPr id="8" name="p13-h-2">
            <a:extLst xmlns:a="http://schemas.openxmlformats.org/drawingml/2006/main">
              <a:ext uri="{FF2B5EF4-FFF2-40B4-BE49-F238E27FC236}">
                <a16:creationId xmlns:a16="http://schemas.microsoft.com/office/drawing/2014/main" id="{48C1250C-76C0-4B90-A9C8-0ADE245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仍需人工判断</a:t>
            </a:r>
          </a:p>
        </p:txBody>
      </p:sp>
      <p:sp>
        <p:nvSpPr>
          <p:cNvPr id="9" name="p13-r0-0">
            <a:extLst xmlns:a="http://schemas.openxmlformats.org/drawingml/2006/main">
              <a:ext uri="{FF2B5EF4-FFF2-40B4-BE49-F238E27FC236}">
                <a16:creationId xmlns:a16="http://schemas.microsoft.com/office/drawing/2014/main" id="{64DA2065-2FB2-4BE8-92FE-087483A7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</p:txBody>
      </p:sp>
      <p:sp>
        <p:nvSpPr>
          <p:cNvPr id="10" name="p13-r0-1">
            <a:extLst xmlns:a="http://schemas.openxmlformats.org/drawingml/2006/main">
              <a:ext uri="{FF2B5EF4-FFF2-40B4-BE49-F238E27FC236}">
                <a16:creationId xmlns:a16="http://schemas.microsoft.com/office/drawing/2014/main" id="{FB4697A4-6747-4FE5-9B44-0EADAAE1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525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系统模板</a:t>
            </a:r>
          </a:p>
        </p:txBody>
      </p:sp>
      <p:sp>
        <p:nvSpPr>
          <p:cNvPr id="11" name="p13-r0-2">
            <a:extLst xmlns:a="http://schemas.openxmlformats.org/drawingml/2006/main">
              <a:ext uri="{FF2B5EF4-FFF2-40B4-BE49-F238E27FC236}">
                <a16:creationId xmlns:a16="http://schemas.microsoft.com/office/drawing/2014/main" id="{43F54D03-AEE5-477B-B94C-DE02720E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主题价值与范围</a:t>
            </a:r>
          </a:p>
        </p:txBody>
      </p:sp>
      <p:sp>
        <p:nvSpPr>
          <p:cNvPr id="12" name="p13-r1-0">
            <a:extLst xmlns:a="http://schemas.openxmlformats.org/drawingml/2006/main">
              <a:ext uri="{FF2B5EF4-FFF2-40B4-BE49-F238E27FC236}">
                <a16:creationId xmlns:a16="http://schemas.microsoft.com/office/drawing/2014/main" id="{930F38BA-AC52-477A-A120-FB511EF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3" name="p13-r1-1">
            <a:extLst xmlns:a="http://schemas.openxmlformats.org/drawingml/2006/main">
              <a:ext uri="{FF2B5EF4-FFF2-40B4-BE49-F238E27FC236}">
                <a16:creationId xmlns:a16="http://schemas.microsoft.com/office/drawing/2014/main" id="{0CEE8455-640C-490F-9BCA-0247BF6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478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维护研究上下文</a:t>
            </a:r>
          </a:p>
        </p:txBody>
      </p:sp>
      <p:sp>
        <p:nvSpPr>
          <p:cNvPr id="14" name="p13-r1-2">
            <a:extLst xmlns:a="http://schemas.openxmlformats.org/drawingml/2006/main">
              <a:ext uri="{FF2B5EF4-FFF2-40B4-BE49-F238E27FC236}">
                <a16:creationId xmlns:a16="http://schemas.microsoft.com/office/drawing/2014/main" id="{70C86E5C-11A1-4D72-95DB-905CB081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哪些材料应进入</a:t>
            </a:r>
          </a:p>
        </p:txBody>
      </p:sp>
      <p:sp>
        <p:nvSpPr>
          <p:cNvPr id="15" name="p13-r2-0">
            <a:extLst xmlns:a="http://schemas.openxmlformats.org/drawingml/2006/main">
              <a:ext uri="{FF2B5EF4-FFF2-40B4-BE49-F238E27FC236}">
                <a16:creationId xmlns:a16="http://schemas.microsoft.com/office/drawing/2014/main" id="{80DA4B1C-4878-4AF2-A652-B83E0E0A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6" name="p13-r2-1">
            <a:extLst xmlns:a="http://schemas.openxmlformats.org/drawingml/2006/main">
              <a:ext uri="{FF2B5EF4-FFF2-40B4-BE49-F238E27FC236}">
                <a16:creationId xmlns:a16="http://schemas.microsoft.com/office/drawing/2014/main" id="{547BCA14-2F83-4056-A198-A6E39C0A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Python / 文件 / 检索</a:t>
            </a:r>
          </a:p>
        </p:txBody>
      </p:sp>
      <p:sp>
        <p:nvSpPr>
          <p:cNvPr id="17" name="p13-r2-2">
            <a:extLst xmlns:a="http://schemas.openxmlformats.org/drawingml/2006/main">
              <a:ext uri="{FF2B5EF4-FFF2-40B4-BE49-F238E27FC236}">
                <a16:creationId xmlns:a16="http://schemas.microsoft.com/office/drawing/2014/main" id="{FADA4608-667B-4DD3-9A2D-A9C3691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越权如何识别</a:t>
            </a:r>
          </a:p>
        </p:txBody>
      </p:sp>
      <p:sp>
        <p:nvSpPr>
          <p:cNvPr id="18" name="p13-r3-0">
            <a:extLst xmlns:a="http://schemas.openxmlformats.org/drawingml/2006/main">
              <a:ext uri="{FF2B5EF4-FFF2-40B4-BE49-F238E27FC236}">
                <a16:creationId xmlns:a16="http://schemas.microsoft.com/office/drawing/2014/main" id="{00E7827D-04DE-4A8B-91CA-E54AC396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9" name="p13-r3-1">
            <a:extLst xmlns:a="http://schemas.openxmlformats.org/drawingml/2006/main">
              <a:ext uri="{FF2B5EF4-FFF2-40B4-BE49-F238E27FC236}">
                <a16:creationId xmlns:a16="http://schemas.microsoft.com/office/drawing/2014/main" id="{E510314D-76E1-48AC-ACD6-2A6F1EA8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384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跨步骤保留</a:t>
            </a:r>
          </a:p>
        </p:txBody>
      </p:sp>
      <p:sp>
        <p:nvSpPr>
          <p:cNvPr id="20" name="p13-r3-2">
            <a:extLst xmlns:a="http://schemas.openxmlformats.org/drawingml/2006/main">
              <a:ext uri="{FF2B5EF4-FFF2-40B4-BE49-F238E27FC236}">
                <a16:creationId xmlns:a16="http://schemas.microsoft.com/office/drawing/2014/main" id="{938556C0-6781-4932-A225-B93F9C14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是否被悄悄修改</a:t>
            </a:r>
          </a:p>
        </p:txBody>
      </p:sp>
      <p:sp>
        <p:nvSpPr>
          <p:cNvPr id="21" name="p13-r4-0">
            <a:extLst xmlns:a="http://schemas.openxmlformats.org/drawingml/2006/main">
              <a:ext uri="{FF2B5EF4-FFF2-40B4-BE49-F238E27FC236}">
                <a16:creationId xmlns:a16="http://schemas.microsoft.com/office/drawing/2014/main" id="{4FA622D4-1E0C-41D8-845F-EAE9034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执行循环</a:t>
            </a:r>
          </a:p>
        </p:txBody>
      </p:sp>
      <p:sp>
        <p:nvSpPr>
          <p:cNvPr id="22" name="p13-r4-1">
            <a:extLst xmlns:a="http://schemas.openxmlformats.org/drawingml/2006/main">
              <a:ext uri="{FF2B5EF4-FFF2-40B4-BE49-F238E27FC236}">
                <a16:creationId xmlns:a16="http://schemas.microsoft.com/office/drawing/2014/main" id="{73FA2842-8ACB-4E8C-878E-80D0E4AE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端到端串联</a:t>
            </a:r>
          </a:p>
        </p:txBody>
      </p:sp>
      <p:sp>
        <p:nvSpPr>
          <p:cNvPr id="23" name="p13-r4-2">
            <a:extLst xmlns:a="http://schemas.openxmlformats.org/drawingml/2006/main">
              <a:ext uri="{FF2B5EF4-FFF2-40B4-BE49-F238E27FC236}">
                <a16:creationId xmlns:a16="http://schemas.microsoft.com/office/drawing/2014/main" id="{CBA2975E-7AAC-4E93-9189-6642D6B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能否修改指标</a:t>
            </a:r>
          </a:p>
        </p:txBody>
      </p:sp>
      <p:sp>
        <p:nvSpPr>
          <p:cNvPr id="24" name="p13-r5-0">
            <a:extLst xmlns:a="http://schemas.openxmlformats.org/drawingml/2006/main">
              <a:ext uri="{FF2B5EF4-FFF2-40B4-BE49-F238E27FC236}">
                <a16:creationId xmlns:a16="http://schemas.microsoft.com/office/drawing/2014/main" id="{62E77F4A-1CED-43C2-BF73-BC9F284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</a:t>
            </a:r>
          </a:p>
        </p:txBody>
      </p:sp>
      <p:sp>
        <p:nvSpPr>
          <p:cNvPr id="25" name="p13-r5-1">
            <a:extLst xmlns:a="http://schemas.openxmlformats.org/drawingml/2006/main">
              <a:ext uri="{FF2B5EF4-FFF2-40B4-BE49-F238E27FC236}">
                <a16:creationId xmlns:a16="http://schemas.microsoft.com/office/drawing/2014/main" id="{A2F1FF13-9C17-49F7-AA10-CEDCB6B1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代码 / 日志 / 论文</a:t>
            </a:r>
          </a:p>
        </p:txBody>
      </p:sp>
      <p:sp>
        <p:nvSpPr>
          <p:cNvPr id="26" name="p13-r5-2">
            <a:extLst xmlns:a="http://schemas.openxmlformats.org/drawingml/2006/main">
              <a:ext uri="{FF2B5EF4-FFF2-40B4-BE49-F238E27FC236}">
                <a16:creationId xmlns:a16="http://schemas.microsoft.com/office/drawing/2014/main" id="{355DE4A4-7297-4315-A000-20E8C6D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失败是否保留</a:t>
            </a:r>
          </a:p>
        </p:txBody>
      </p:sp>
      <p:sp>
        <p:nvSpPr>
          <p:cNvPr id="27" name="p13-r6-0">
            <a:extLst xmlns:a="http://schemas.openxmlformats.org/drawingml/2006/main">
              <a:ext uri="{FF2B5EF4-FFF2-40B4-BE49-F238E27FC236}">
                <a16:creationId xmlns:a16="http://schemas.microsoft.com/office/drawing/2014/main" id="{D54F69E1-9B3E-4344-A44C-674656DC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Evals</a:t>
            </a:r>
          </a:p>
        </p:txBody>
      </p:sp>
      <p:sp>
        <p:nvSpPr>
          <p:cNvPr id="28" name="p13-r6-1">
            <a:extLst xmlns:a="http://schemas.openxmlformats.org/drawingml/2006/main">
              <a:ext uri="{FF2B5EF4-FFF2-40B4-BE49-F238E27FC236}">
                <a16:creationId xmlns:a16="http://schemas.microsoft.com/office/drawing/2014/main" id="{B39904D9-66CB-4118-9CEA-C36C3750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243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自动评审</a:t>
            </a:r>
          </a:p>
        </p:txBody>
      </p:sp>
      <p:sp>
        <p:nvSpPr>
          <p:cNvPr id="29" name="p13-r6-2">
            <a:extLst xmlns:a="http://schemas.openxmlformats.org/drawingml/2006/main">
              <a:ext uri="{FF2B5EF4-FFF2-40B4-BE49-F238E27FC236}">
                <a16:creationId xmlns:a16="http://schemas.microsoft.com/office/drawing/2014/main" id="{1CE9574B-6F44-4D54-AE6D-6D24C61D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能否替代同行共识</a:t>
            </a:r>
          </a:p>
        </p:txBody>
      </p:sp>
      <p:sp>
        <p:nvSpPr>
          <p:cNvPr id="30" name="p13-r7-0">
            <a:extLst xmlns:a="http://schemas.openxmlformats.org/drawingml/2006/main">
              <a:ext uri="{FF2B5EF4-FFF2-40B4-BE49-F238E27FC236}">
                <a16:creationId xmlns:a16="http://schemas.microsoft.com/office/drawing/2014/main" id="{F96FC65E-9048-4DE0-BBA3-B1D33924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31" name="p13-r7-1">
            <a:extLst xmlns:a="http://schemas.openxmlformats.org/drawingml/2006/main">
              <a:ext uri="{FF2B5EF4-FFF2-40B4-BE49-F238E27FC236}">
                <a16:creationId xmlns:a16="http://schemas.microsoft.com/office/drawing/2014/main" id="{B0048E45-BA0D-48DC-8796-1165219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有处理逻辑</a:t>
            </a:r>
          </a:p>
        </p:txBody>
      </p:sp>
      <p:sp>
        <p:nvSpPr>
          <p:cNvPr id="32" name="p13-r7-2">
            <a:extLst xmlns:a="http://schemas.openxmlformats.org/drawingml/2006/main">
              <a:ext uri="{FF2B5EF4-FFF2-40B4-BE49-F238E27FC236}">
                <a16:creationId xmlns:a16="http://schemas.microsoft.com/office/drawing/2014/main" id="{0C6EA572-701E-4A1A-9C67-E66A651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是否选择性删除</a:t>
            </a:r>
          </a:p>
        </p:txBody>
      </p:sp>
      <p:sp>
        <p:nvSpPr>
          <p:cNvPr id="33" name="p13-bottom">
            <a:extLst xmlns:a="http://schemas.openxmlformats.org/drawingml/2006/main">
              <a:ext uri="{FF2B5EF4-FFF2-40B4-BE49-F238E27FC236}">
                <a16:creationId xmlns:a16="http://schemas.microsoft.com/office/drawing/2014/main" id="{78470E78-6597-4A01-83DD-B7692E7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重点不是“它会什么”，而是“哪一类判断仍不能交给循环本身”。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两个边界判断与不外推清单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b1">
            <a:extLst xmlns:a="http://schemas.openxmlformats.org/drawingml/2006/main">
              <a:ext uri="{FF2B5EF4-FFF2-40B4-BE49-F238E27FC236}">
                <a16:creationId xmlns:a16="http://schemas.microsoft.com/office/drawing/2014/main" id="{BE7F8214-C5E0-4BC9-AD46-EEE46BF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1009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端到端自动化  ≠  通用自主科研</a:t>
            </a:r>
          </a:p>
        </p:txBody>
      </p:sp>
      <p:sp>
        <p:nvSpPr>
          <p:cNvPr id="7" name="p14-b2">
            <a:extLst xmlns:a="http://schemas.openxmlformats.org/drawingml/2006/main">
              <a:ext uri="{FF2B5EF4-FFF2-40B4-BE49-F238E27FC236}">
                <a16:creationId xmlns:a16="http://schemas.microsoft.com/office/drawing/2014/main" id="{054BDCE4-27EA-488E-A9D4-BC684D8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自动评审  ≠  同行共识</a:t>
            </a:r>
          </a:p>
        </p:txBody>
      </p:sp>
      <p:sp>
        <p:nvSpPr>
          <p:cNvPr id="8" name="p14-h">
            <a:extLst xmlns:a="http://schemas.openxmlformats.org/drawingml/2006/main">
              <a:ext uri="{FF2B5EF4-FFF2-40B4-BE49-F238E27FC236}">
                <a16:creationId xmlns:a16="http://schemas.microsoft.com/office/drawing/2014/main" id="{EA57762B-6266-4E06-93B5-B0D3F8E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不得改写为</a:t>
            </a:r>
          </a:p>
        </p:txBody>
      </p:sp>
      <p:sp>
        <p:nvSpPr>
          <p:cNvPr id="9" name="p14-i-0">
            <a:extLst xmlns:a="http://schemas.openxmlformats.org/drawingml/2006/main">
              <a:ext uri="{FF2B5EF4-FFF2-40B4-BE49-F238E27FC236}">
                <a16:creationId xmlns:a16="http://schemas.microsoft.com/office/drawing/2014/main" id="{BD6AFE6C-B4DB-49B3-87C8-78CEF034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834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AI 已能自主完成科研</a:t>
            </a:r>
          </a:p>
        </p:txBody>
      </p:sp>
      <p:sp>
        <p:nvSpPr>
          <p:cNvPr id="10" name="p14-i-1">
            <a:extLst xmlns:a="http://schemas.openxmlformats.org/drawingml/2006/main">
              <a:ext uri="{FF2B5EF4-FFF2-40B4-BE49-F238E27FC236}">
                <a16:creationId xmlns:a16="http://schemas.microsoft.com/office/drawing/2014/main" id="{AD451324-0EB4-4B50-BA73-8DFEC24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834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Agent 工作流可替代研究判断</a:t>
            </a:r>
          </a:p>
        </p:txBody>
      </p:sp>
      <p:sp>
        <p:nvSpPr>
          <p:cNvPr id="11" name="p14-i-2">
            <a:extLst xmlns:a="http://schemas.openxmlformats.org/drawingml/2006/main">
              <a:ext uri="{FF2B5EF4-FFF2-40B4-BE49-F238E27FC236}">
                <a16:creationId xmlns:a16="http://schemas.microsoft.com/office/drawing/2014/main" id="{6790131D-133A-476B-AB54-EE1FBC37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14750"/>
            <a:ext cx="834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自动评审可替代同行评审</a:t>
            </a:r>
          </a:p>
        </p:txBody>
      </p:sp>
      <p:sp>
        <p:nvSpPr>
          <p:cNvPr id="12" name="p14-i-3">
            <a:extLst xmlns:a="http://schemas.openxmlformats.org/drawingml/2006/main">
              <a:ext uri="{FF2B5EF4-FFF2-40B4-BE49-F238E27FC236}">
                <a16:creationId xmlns:a16="http://schemas.microsoft.com/office/drawing/2014/main" id="{F3511E6F-65E7-42BC-8EED-8B77DEB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834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端到端自动化适用于所有学科</a:t>
            </a:r>
          </a:p>
        </p:txBody>
      </p:sp>
      <p:sp>
        <p:nvSpPr>
          <p:cNvPr id="13" name="p14-i-4">
            <a:extLst xmlns:a="http://schemas.openxmlformats.org/drawingml/2006/main">
              <a:ext uri="{FF2B5EF4-FFF2-40B4-BE49-F238E27FC236}">
                <a16:creationId xmlns:a16="http://schemas.microsoft.com/office/drawing/2014/main" id="{24595DAD-2DB3-4D61-8233-3511864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81550"/>
            <a:ext cx="834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失败实验可以被自动删除</a:t>
            </a:r>
          </a:p>
        </p:txBody>
      </p:sp>
      <p:sp>
        <p:nvSpPr>
          <p:cNvPr id="14" name="p14-evidence">
            <a:extLst xmlns:a="http://schemas.openxmlformats.org/drawingml/2006/main">
              <a:ext uri="{FF2B5EF4-FFF2-40B4-BE49-F238E27FC236}">
                <a16:creationId xmlns:a16="http://schemas.microsoft.com/office/drawing/2014/main" id="{701C21B9-9D81-4B9C-A037-CF930B3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Nature 2026：三篇送审稿中一篇超过工作坊平均接收阈值；按预设协议撤回；研究团队判断三篇均未达 ICLR 主会标准。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贯穿案例：AutoResearch / AI Scientist 对比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case">
            <a:extLst xmlns:a="http://schemas.openxmlformats.org/drawingml/2006/main">
              <a:ext uri="{FF2B5EF4-FFF2-40B4-BE49-F238E27FC236}">
                <a16:creationId xmlns:a16="http://schemas.microsoft.com/office/drawing/2014/main" id="{BF7A26BA-ABE1-4354-8ABB-1D07553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课程教学案例｜阅读卡摘要循环；不代表真实系统评价</a:t>
            </a:r>
          </a:p>
        </p:txBody>
      </p:sp>
      <p:sp>
        <p:nvSpPr>
          <p:cNvPr id="7" name="p15-left-h">
            <a:extLst xmlns:a="http://schemas.openxmlformats.org/drawingml/2006/main">
              <a:ext uri="{FF2B5EF4-FFF2-40B4-BE49-F238E27FC236}">
                <a16:creationId xmlns:a16="http://schemas.microsoft.com/office/drawing/2014/main" id="{4E6F440E-17D3-473A-BCDE-B35C438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AutoResearch 相似</a:t>
            </a:r>
          </a:p>
        </p:txBody>
      </p:sp>
      <p:sp>
        <p:nvSpPr>
          <p:cNvPr id="8" name="p15-left">
            <a:extLst xmlns:a="http://schemas.openxmlformats.org/drawingml/2006/main">
              <a:ext uri="{FF2B5EF4-FFF2-40B4-BE49-F238E27FC236}">
                <a16:creationId xmlns:a16="http://schemas.microsoft.com/office/drawing/2014/main" id="{DBF3850A-B8BF-4373-B3B5-FC91C560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固定预算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固定指标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Keep / Discard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失败保留</a:t>
            </a:r>
          </a:p>
        </p:txBody>
      </p:sp>
      <p:sp>
        <p:nvSpPr>
          <p:cNvPr id="9" name="p15-right-h">
            <a:extLst xmlns:a="http://schemas.openxmlformats.org/drawingml/2006/main">
              <a:ext uri="{FF2B5EF4-FFF2-40B4-BE49-F238E27FC236}">
                <a16:creationId xmlns:a16="http://schemas.microsoft.com/office/drawing/2014/main" id="{20B6969C-BB91-4517-AF46-AC9B8D6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AI Scientist 不同</a:t>
            </a:r>
          </a:p>
        </p:txBody>
      </p:sp>
      <p:sp>
        <p:nvSpPr>
          <p:cNvPr id="10" name="p15-right">
            <a:extLst xmlns:a="http://schemas.openxmlformats.org/drawingml/2006/main">
              <a:ext uri="{FF2B5EF4-FFF2-40B4-BE49-F238E27FC236}">
                <a16:creationId xmlns:a16="http://schemas.microsoft.com/office/drawing/2014/main" id="{38EB36DF-95A3-4453-9067-13D1487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不生成研究想法和论文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只覆盖摘要生成 + 指标计算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部分指标仍需人工盲评一致性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不把自动 Evals 当同行评审</a:t>
            </a:r>
          </a:p>
        </p:txBody>
      </p:sp>
      <p:sp>
        <p:nvSpPr>
          <p:cNvPr id="11" name="p15-human">
            <a:extLst xmlns:a="http://schemas.openxmlformats.org/drawingml/2006/main">
              <a:ext uri="{FF2B5EF4-FFF2-40B4-BE49-F238E27FC236}">
                <a16:creationId xmlns:a16="http://schemas.microsoft.com/office/drawing/2014/main" id="{24B06A30-3F84-4332-81D1-C06A973B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971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仍需人工判断｜主题价值 · kappa 是否达标 · 回退目标 · 结论边界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个人实践：把可重复动作改写为受限循环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n-0">
            <a:extLst xmlns:a="http://schemas.openxmlformats.org/drawingml/2006/main">
              <a:ext uri="{FF2B5EF4-FFF2-40B4-BE49-F238E27FC236}">
                <a16:creationId xmlns:a16="http://schemas.microsoft.com/office/drawing/2014/main" id="{09F6A399-29C3-48E4-BE63-E95867FA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6-t-0">
            <a:extLst xmlns:a="http://schemas.openxmlformats.org/drawingml/2006/main">
              <a:ext uri="{FF2B5EF4-FFF2-40B4-BE49-F238E27FC236}">
                <a16:creationId xmlns:a16="http://schemas.microsoft.com/office/drawing/2014/main" id="{CAFE5F40-4E39-4587-B2A1-1B23070A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87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选一个可重复动作</a:t>
            </a:r>
          </a:p>
        </p:txBody>
      </p:sp>
      <p:sp>
        <p:nvSpPr>
          <p:cNvPr id="8" name="p16-n-1">
            <a:extLst xmlns:a="http://schemas.openxmlformats.org/drawingml/2006/main">
              <a:ext uri="{FF2B5EF4-FFF2-40B4-BE49-F238E27FC236}">
                <a16:creationId xmlns:a16="http://schemas.microsoft.com/office/drawing/2014/main" id="{C791D9C2-47B4-4E7D-968A-4DBFCF8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16-t-1">
            <a:extLst xmlns:a="http://schemas.openxmlformats.org/drawingml/2006/main">
              <a:ext uri="{FF2B5EF4-FFF2-40B4-BE49-F238E27FC236}">
                <a16:creationId xmlns:a16="http://schemas.microsoft.com/office/drawing/2014/main" id="{5CE47783-E629-4829-9A4E-6BD7B0DE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写四约束</a:t>
            </a:r>
          </a:p>
        </p:txBody>
      </p:sp>
      <p:sp>
        <p:nvSpPr>
          <p:cNvPr id="10" name="p16-n-2">
            <a:extLst xmlns:a="http://schemas.openxmlformats.org/drawingml/2006/main">
              <a:ext uri="{FF2B5EF4-FFF2-40B4-BE49-F238E27FC236}">
                <a16:creationId xmlns:a16="http://schemas.microsoft.com/office/drawing/2014/main" id="{C62CC1A5-D92B-4BF9-9744-3B32E13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16-t-2">
            <a:extLst xmlns:a="http://schemas.openxmlformats.org/drawingml/2006/main">
              <a:ext uri="{FF2B5EF4-FFF2-40B4-BE49-F238E27FC236}">
                <a16:creationId xmlns:a16="http://schemas.microsoft.com/office/drawing/2014/main" id="{88ACAEA7-919F-44C1-9DC3-3D92A24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写五步骨架</a:t>
            </a:r>
          </a:p>
        </p:txBody>
      </p:sp>
      <p:sp>
        <p:nvSpPr>
          <p:cNvPr id="12" name="p16-n-3">
            <a:extLst xmlns:a="http://schemas.openxmlformats.org/drawingml/2006/main">
              <a:ext uri="{FF2B5EF4-FFF2-40B4-BE49-F238E27FC236}">
                <a16:creationId xmlns:a16="http://schemas.microsoft.com/office/drawing/2014/main" id="{363E93CE-6CC7-46FB-BB24-311B6240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16-t-3">
            <a:extLst xmlns:a="http://schemas.openxmlformats.org/drawingml/2006/main">
              <a:ext uri="{FF2B5EF4-FFF2-40B4-BE49-F238E27FC236}">
                <a16:creationId xmlns:a16="http://schemas.microsoft.com/office/drawing/2014/main" id="{97C537D9-D2FB-4614-98D7-F6728A3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 ≥3 审核点</a:t>
            </a:r>
          </a:p>
        </p:txBody>
      </p:sp>
      <p:sp>
        <p:nvSpPr>
          <p:cNvPr id="14" name="p16-n-4">
            <a:extLst xmlns:a="http://schemas.openxmlformats.org/drawingml/2006/main">
              <a:ext uri="{FF2B5EF4-FFF2-40B4-BE49-F238E27FC236}">
                <a16:creationId xmlns:a16="http://schemas.microsoft.com/office/drawing/2014/main" id="{DC0CF350-C252-4415-B09A-3706F09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16-t-4">
            <a:extLst xmlns:a="http://schemas.openxmlformats.org/drawingml/2006/main">
              <a:ext uri="{FF2B5EF4-FFF2-40B4-BE49-F238E27FC236}">
                <a16:creationId xmlns:a16="http://schemas.microsoft.com/office/drawing/2014/main" id="{3B799F46-EA34-4F19-8968-63BB276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≥1 失败记录</a:t>
            </a:r>
          </a:p>
        </p:txBody>
      </p:sp>
      <p:sp>
        <p:nvSpPr>
          <p:cNvPr id="16" name="p16-n-5">
            <a:extLst xmlns:a="http://schemas.openxmlformats.org/drawingml/2006/main">
              <a:ext uri="{FF2B5EF4-FFF2-40B4-BE49-F238E27FC236}">
                <a16:creationId xmlns:a16="http://schemas.microsoft.com/office/drawing/2014/main" id="{3F47A363-D1D1-4A06-BD36-65750EE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16-t-5">
            <a:extLst xmlns:a="http://schemas.openxmlformats.org/drawingml/2006/main">
              <a:ext uri="{FF2B5EF4-FFF2-40B4-BE49-F238E27FC236}">
                <a16:creationId xmlns:a16="http://schemas.microsoft.com/office/drawing/2014/main" id="{42280187-A3EE-48A9-A417-E02C498F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拆解 ≥4 个维度</a:t>
            </a:r>
          </a:p>
        </p:txBody>
      </p:sp>
      <p:sp>
        <p:nvSpPr>
          <p:cNvPr id="18" name="p16-out-h">
            <a:extLst xmlns:a="http://schemas.openxmlformats.org/drawingml/2006/main">
              <a:ext uri="{FF2B5EF4-FFF2-40B4-BE49-F238E27FC236}">
                <a16:creationId xmlns:a16="http://schemas.microsoft.com/office/drawing/2014/main" id="{F152D7B8-522A-4AC5-9C0A-FEB320E5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最小产出</a:t>
            </a:r>
          </a:p>
        </p:txBody>
      </p:sp>
      <p:sp>
        <p:nvSpPr>
          <p:cNvPr id="19" name="p16-out">
            <a:extLst xmlns:a="http://schemas.openxmlformats.org/drawingml/2006/main">
              <a:ext uri="{FF2B5EF4-FFF2-40B4-BE49-F238E27FC236}">
                <a16:creationId xmlns:a16="http://schemas.microsoft.com/office/drawing/2014/main" id="{07B31A3B-8E53-4509-B840-964537A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受限循环说明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失败迭代记录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八维拆解表</a:t>
            </a:r>
          </a:p>
        </p:txBody>
      </p:sp>
      <p:sp>
        <p:nvSpPr>
          <p:cNvPr id="20" name="p16-question">
            <a:extLst xmlns:a="http://schemas.openxmlformats.org/drawingml/2006/main">
              <a:ext uri="{FF2B5EF4-FFF2-40B4-BE49-F238E27FC236}">
                <a16:creationId xmlns:a16="http://schemas.microsoft.com/office/drawing/2014/main" id="{F9918000-FE47-4663-9AB8-0E9058A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巡视问题：你的循环在哪个位置必须人工确认？</a:t>
            </a:r>
          </a:p>
        </p:txBody>
      </p:sp>
      <p:sp>
        <p:nvSpPr>
          <p:cNvPr id="21" name="p16-fallback">
            <a:extLst xmlns:a="http://schemas.openxmlformats.org/drawingml/2006/main">
              <a:ext uri="{FF2B5EF4-FFF2-40B4-BE49-F238E27FC236}">
                <a16:creationId xmlns:a16="http://schemas.microsoft.com/office/drawing/2014/main" id="{68C85F97-5AB3-44A4-964F-8C582EF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环境故障：纸面或 Markdown 完成骨架，不逐台排障。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个人补全实践说明与失败保留记录样例（停留页）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left-h">
            <a:extLst xmlns:a="http://schemas.openxmlformats.org/drawingml/2006/main">
              <a:ext uri="{FF2B5EF4-FFF2-40B4-BE49-F238E27FC236}">
                <a16:creationId xmlns:a16="http://schemas.microsoft.com/office/drawing/2014/main" id="{C53CC8E8-A9D6-45E2-A0E8-51C4E97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16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补全检查｜65:00–75:00</a:t>
            </a:r>
          </a:p>
        </p:txBody>
      </p:sp>
      <p:sp>
        <p:nvSpPr>
          <p:cNvPr id="7" name="p17-c-0">
            <a:extLst xmlns:a="http://schemas.openxmlformats.org/drawingml/2006/main">
              <a:ext uri="{FF2B5EF4-FFF2-40B4-BE49-F238E27FC236}">
                <a16:creationId xmlns:a16="http://schemas.microsoft.com/office/drawing/2014/main" id="{3964E212-4914-4381-90BF-FB1F8E23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四约束齐全</a:t>
            </a:r>
          </a:p>
        </p:txBody>
      </p:sp>
      <p:sp>
        <p:nvSpPr>
          <p:cNvPr id="8" name="p17-c-1">
            <a:extLst xmlns:a="http://schemas.openxmlformats.org/drawingml/2006/main">
              <a:ext uri="{FF2B5EF4-FFF2-40B4-BE49-F238E27FC236}">
                <a16:creationId xmlns:a16="http://schemas.microsoft.com/office/drawing/2014/main" id="{644A4408-78E2-4BB0-BB59-C7D199E7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停止条件含三类</a:t>
            </a:r>
          </a:p>
        </p:txBody>
      </p:sp>
      <p:sp>
        <p:nvSpPr>
          <p:cNvPr id="9" name="p17-c-2">
            <a:extLst xmlns:a="http://schemas.openxmlformats.org/drawingml/2006/main">
              <a:ext uri="{FF2B5EF4-FFF2-40B4-BE49-F238E27FC236}">
                <a16:creationId xmlns:a16="http://schemas.microsoft.com/office/drawing/2014/main" id="{8993FB17-16B1-432D-9225-4EBC086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五步骨架写明</a:t>
            </a:r>
          </a:p>
        </p:txBody>
      </p:sp>
      <p:sp>
        <p:nvSpPr>
          <p:cNvPr id="10" name="p17-c-3">
            <a:extLst xmlns:a="http://schemas.openxmlformats.org/drawingml/2006/main">
              <a:ext uri="{FF2B5EF4-FFF2-40B4-BE49-F238E27FC236}">
                <a16:creationId xmlns:a16="http://schemas.microsoft.com/office/drawing/2014/main" id="{049D50B2-B1CD-47A3-8351-BBDFCC8B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≥3 人工审核点</a:t>
            </a:r>
          </a:p>
        </p:txBody>
      </p:sp>
      <p:sp>
        <p:nvSpPr>
          <p:cNvPr id="11" name="p17-c-4">
            <a:extLst xmlns:a="http://schemas.openxmlformats.org/drawingml/2006/main">
              <a:ext uri="{FF2B5EF4-FFF2-40B4-BE49-F238E27FC236}">
                <a16:creationId xmlns:a16="http://schemas.microsoft.com/office/drawing/2014/main" id="{CB2B765A-3C25-462F-AC78-F288FC95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□  ≥1 失败记录（七字段）</a:t>
            </a:r>
          </a:p>
        </p:txBody>
      </p:sp>
      <p:sp>
        <p:nvSpPr>
          <p:cNvPr id="12" name="p17-c-5">
            <a:extLst xmlns:a="http://schemas.openxmlformats.org/drawingml/2006/main">
              <a:ext uri="{FF2B5EF4-FFF2-40B4-BE49-F238E27FC236}">
                <a16:creationId xmlns:a16="http://schemas.microsoft.com/office/drawing/2014/main" id="{93251545-B191-4FB9-A71F-C04CE52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八维拆解 ≥4 维</a:t>
            </a:r>
          </a:p>
        </p:txBody>
      </p:sp>
      <p:sp>
        <p:nvSpPr>
          <p:cNvPr id="13" name="p17-c-6">
            <a:extLst xmlns:a="http://schemas.openxmlformats.org/drawingml/2006/main">
              <a:ext uri="{FF2B5EF4-FFF2-40B4-BE49-F238E27FC236}">
                <a16:creationId xmlns:a16="http://schemas.microsoft.com/office/drawing/2014/main" id="{507B2FC1-D681-41FA-B77C-3D8E6D5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93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□  不外推清单自查</a:t>
            </a:r>
          </a:p>
        </p:txBody>
      </p:sp>
      <p:sp>
        <p:nvSpPr>
          <p:cNvPr id="14" name="p17-right-h">
            <a:extLst xmlns:a="http://schemas.openxmlformats.org/drawingml/2006/main">
              <a:ext uri="{FF2B5EF4-FFF2-40B4-BE49-F238E27FC236}">
                <a16:creationId xmlns:a16="http://schemas.microsoft.com/office/drawing/2014/main" id="{E217AD86-C0D6-43B2-A13A-80EB2163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34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课程教学样例｜虚构 ID / commit / rubric</a:t>
            </a:r>
          </a:p>
        </p:txBody>
      </p:sp>
      <p:sp>
        <p:nvSpPr>
          <p:cNvPr id="15" name="p17-a-0">
            <a:extLst xmlns:a="http://schemas.openxmlformats.org/drawingml/2006/main">
              <a:ext uri="{FF2B5EF4-FFF2-40B4-BE49-F238E27FC236}">
                <a16:creationId xmlns:a16="http://schemas.microsoft.com/office/drawing/2014/main" id="{4627C549-281C-4C47-AA2E-9007600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 ID</a:t>
            </a:r>
          </a:p>
        </p:txBody>
      </p:sp>
      <p:sp>
        <p:nvSpPr>
          <p:cNvPr id="16" name="p17-b-0">
            <a:extLst xmlns:a="http://schemas.openxmlformats.org/drawingml/2006/main">
              <a:ext uri="{FF2B5EF4-FFF2-40B4-BE49-F238E27FC236}">
                <a16:creationId xmlns:a16="http://schemas.microsoft.com/office/drawing/2014/main" id="{B42D4C1F-902E-4A6F-9743-21335EE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exp01-iter07</a:t>
            </a:r>
          </a:p>
        </p:txBody>
      </p:sp>
      <p:sp>
        <p:nvSpPr>
          <p:cNvPr id="17" name="p17-a-1">
            <a:extLst xmlns:a="http://schemas.openxmlformats.org/drawingml/2006/main">
              <a:ext uri="{FF2B5EF4-FFF2-40B4-BE49-F238E27FC236}">
                <a16:creationId xmlns:a16="http://schemas.microsoft.com/office/drawing/2014/main" id="{FD6FCE11-10D6-4831-908A-08F6B56C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8" name="p17-b-1">
            <a:extLst xmlns:a="http://schemas.openxmlformats.org/drawingml/2006/main">
              <a:ext uri="{FF2B5EF4-FFF2-40B4-BE49-F238E27FC236}">
                <a16:creationId xmlns:a16="http://schemas.microsoft.com/office/drawing/2014/main" id="{6E92E859-4602-4D38-9BBC-18F6310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H1</a:t>
            </a:r>
          </a:p>
        </p:txBody>
      </p:sp>
      <p:sp>
        <p:nvSpPr>
          <p:cNvPr id="19" name="p17-a-2">
            <a:extLst xmlns:a="http://schemas.openxmlformats.org/drawingml/2006/main">
              <a:ext uri="{FF2B5EF4-FFF2-40B4-BE49-F238E27FC236}">
                <a16:creationId xmlns:a16="http://schemas.microsoft.com/office/drawing/2014/main" id="{82856597-C08B-48DC-818F-89852544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失败类型</a:t>
            </a:r>
          </a:p>
        </p:txBody>
      </p:sp>
      <p:sp>
        <p:nvSpPr>
          <p:cNvPr id="20" name="p17-b-2">
            <a:extLst xmlns:a="http://schemas.openxmlformats.org/drawingml/2006/main">
              <a:ext uri="{FF2B5EF4-FFF2-40B4-BE49-F238E27FC236}">
                <a16:creationId xmlns:a16="http://schemas.microsoft.com/office/drawing/2014/main" id="{A4A8F005-B244-439D-948C-772CE1FD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rubric 版本不一致</a:t>
            </a:r>
          </a:p>
        </p:txBody>
      </p:sp>
      <p:sp>
        <p:nvSpPr>
          <p:cNvPr id="21" name="p17-a-3">
            <a:extLst xmlns:a="http://schemas.openxmlformats.org/drawingml/2006/main">
              <a:ext uri="{FF2B5EF4-FFF2-40B4-BE49-F238E27FC236}">
                <a16:creationId xmlns:a16="http://schemas.microsoft.com/office/drawing/2014/main" id="{7FFA4090-3DBA-49CC-AB00-3A79ED6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22" name="p17-b-3">
            <a:extLst xmlns:a="http://schemas.openxmlformats.org/drawingml/2006/main">
              <a:ext uri="{FF2B5EF4-FFF2-40B4-BE49-F238E27FC236}">
                <a16:creationId xmlns:a16="http://schemas.microsoft.com/office/drawing/2014/main" id="{FD95C3F0-2F20-448A-9E50-2359C19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协议性</a:t>
            </a:r>
          </a:p>
        </p:txBody>
      </p:sp>
      <p:sp>
        <p:nvSpPr>
          <p:cNvPr id="23" name="p17-a-4">
            <a:extLst xmlns:a="http://schemas.openxmlformats.org/drawingml/2006/main">
              <a:ext uri="{FF2B5EF4-FFF2-40B4-BE49-F238E27FC236}">
                <a16:creationId xmlns:a16="http://schemas.microsoft.com/office/drawing/2014/main" id="{AE20CA0C-ED00-4F6B-8698-4960A7C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</a:t>
            </a:r>
          </a:p>
        </p:txBody>
      </p:sp>
      <p:sp>
        <p:nvSpPr>
          <p:cNvPr id="24" name="p17-b-4">
            <a:extLst xmlns:a="http://schemas.openxmlformats.org/drawingml/2006/main">
              <a:ext uri="{FF2B5EF4-FFF2-40B4-BE49-F238E27FC236}">
                <a16:creationId xmlns:a16="http://schemas.microsoft.com/office/drawing/2014/main" id="{DA167BA2-8E3D-4D00-A6E0-1EA1BC0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abc123 + rubric v1.2</a:t>
            </a:r>
          </a:p>
        </p:txBody>
      </p:sp>
      <p:sp>
        <p:nvSpPr>
          <p:cNvPr id="25" name="p17-a-5">
            <a:extLst xmlns:a="http://schemas.openxmlformats.org/drawingml/2006/main">
              <a:ext uri="{FF2B5EF4-FFF2-40B4-BE49-F238E27FC236}">
                <a16:creationId xmlns:a16="http://schemas.microsoft.com/office/drawing/2014/main" id="{FE7163BD-D793-402E-94B7-282F9CCB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6" name="p17-b-5">
            <a:extLst xmlns:a="http://schemas.openxmlformats.org/drawingml/2006/main">
              <a:ext uri="{FF2B5EF4-FFF2-40B4-BE49-F238E27FC236}">
                <a16:creationId xmlns:a16="http://schemas.microsoft.com/office/drawing/2014/main" id="{CF2D87AF-B423-4055-AEEC-9C7BF1E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是（学生本人）</a:t>
            </a:r>
          </a:p>
        </p:txBody>
      </p:sp>
      <p:sp>
        <p:nvSpPr>
          <p:cNvPr id="27" name="p17-a-6">
            <a:extLst xmlns:a="http://schemas.openxmlformats.org/drawingml/2006/main">
              <a:ext uri="{FF2B5EF4-FFF2-40B4-BE49-F238E27FC236}">
                <a16:creationId xmlns:a16="http://schemas.microsoft.com/office/drawing/2014/main" id="{FBCC5C3B-2A6A-457F-A891-CC48D80E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28" name="p17-b-6">
            <a:extLst xmlns:a="http://schemas.openxmlformats.org/drawingml/2006/main">
              <a:ext uri="{FF2B5EF4-FFF2-40B4-BE49-F238E27FC236}">
                <a16:creationId xmlns:a16="http://schemas.microsoft.com/office/drawing/2014/main" id="{5050BCD7-3A2F-4663-A50B-F68F3A55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958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Discard；记录保留</a:t>
            </a:r>
          </a:p>
        </p:txBody>
      </p:sp>
      <p:sp>
        <p:nvSpPr>
          <p:cNvPr id="29" name="p17-eq">
            <a:extLst xmlns:a="http://schemas.openxmlformats.org/drawingml/2006/main">
              <a:ext uri="{FF2B5EF4-FFF2-40B4-BE49-F238E27FC236}">
                <a16:creationId xmlns:a16="http://schemas.microsoft.com/office/drawing/2014/main" id="{0E9477EF-D1A2-4CF7-B6E3-DF9F80D5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 + 成功 = 总迭代数｜跑通骨架即可，不要求跑完全部迭代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同伴互查：四约束 + 审核点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left-h">
            <a:extLst xmlns:a="http://schemas.openxmlformats.org/drawingml/2006/main">
              <a:ext uri="{FF2B5EF4-FFF2-40B4-BE49-F238E27FC236}">
                <a16:creationId xmlns:a16="http://schemas.microsoft.com/office/drawing/2014/main" id="{4ACA9855-B9A2-4C89-B0C0-827C5BD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作者负责</a:t>
            </a:r>
          </a:p>
        </p:txBody>
      </p:sp>
      <p:sp>
        <p:nvSpPr>
          <p:cNvPr id="7" name="p18-left">
            <a:extLst xmlns:a="http://schemas.openxmlformats.org/drawingml/2006/main">
              <a:ext uri="{FF2B5EF4-FFF2-40B4-BE49-F238E27FC236}">
                <a16:creationId xmlns:a16="http://schemas.microsoft.com/office/drawing/2014/main" id="{C0511FB3-EB39-42EC-B6BA-25F1AF0A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记录问题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决定是否采纳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持续回写个人项目</a:t>
            </a:r>
          </a:p>
        </p:txBody>
      </p:sp>
      <p:sp>
        <p:nvSpPr>
          <p:cNvPr id="8" name="p18-right-h">
            <a:extLst xmlns:a="http://schemas.openxmlformats.org/drawingml/2006/main">
              <a:ext uri="{FF2B5EF4-FFF2-40B4-BE49-F238E27FC236}">
                <a16:creationId xmlns:a16="http://schemas.microsoft.com/office/drawing/2014/main" id="{ADA59586-3B78-4337-9CCF-A99DEB4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9650"/>
            <a:ext cx="7219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同伴只问五项</a:t>
            </a:r>
          </a:p>
        </p:txBody>
      </p:sp>
      <p:sp>
        <p:nvSpPr>
          <p:cNvPr id="9" name="p18-n-0">
            <a:extLst xmlns:a="http://schemas.openxmlformats.org/drawingml/2006/main">
              <a:ext uri="{FF2B5EF4-FFF2-40B4-BE49-F238E27FC236}">
                <a16:creationId xmlns:a16="http://schemas.microsoft.com/office/drawing/2014/main" id="{397852E5-8C21-44B9-A690-2C02DF16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p18-q-0">
            <a:extLst xmlns:a="http://schemas.openxmlformats.org/drawingml/2006/main">
              <a:ext uri="{FF2B5EF4-FFF2-40B4-BE49-F238E27FC236}">
                <a16:creationId xmlns:a16="http://schemas.microsoft.com/office/drawing/2014/main" id="{2BEA6F1D-787B-4B9E-8E6E-656AA20D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四约束缺哪一项？</a:t>
            </a:r>
          </a:p>
        </p:txBody>
      </p:sp>
      <p:sp>
        <p:nvSpPr>
          <p:cNvPr id="11" name="p18-n-1">
            <a:extLst xmlns:a="http://schemas.openxmlformats.org/drawingml/2006/main">
              <a:ext uri="{FF2B5EF4-FFF2-40B4-BE49-F238E27FC236}">
                <a16:creationId xmlns:a16="http://schemas.microsoft.com/office/drawing/2014/main" id="{23C1C18C-F7D2-4A19-85F3-9CA06D6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18-q-1">
            <a:extLst xmlns:a="http://schemas.openxmlformats.org/drawingml/2006/main">
              <a:ext uri="{FF2B5EF4-FFF2-40B4-BE49-F238E27FC236}">
                <a16:creationId xmlns:a16="http://schemas.microsoft.com/office/drawing/2014/main" id="{30334D4C-D254-476A-AEEB-D96B466C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停止条件有禁止类吗？</a:t>
            </a:r>
          </a:p>
        </p:txBody>
      </p:sp>
      <p:sp>
        <p:nvSpPr>
          <p:cNvPr id="13" name="p18-n-2">
            <a:extLst xmlns:a="http://schemas.openxmlformats.org/drawingml/2006/main">
              <a:ext uri="{FF2B5EF4-FFF2-40B4-BE49-F238E27FC236}">
                <a16:creationId xmlns:a16="http://schemas.microsoft.com/office/drawing/2014/main" id="{CDAE96D2-DBB1-49F1-9549-D8B51F4E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p18-q-2">
            <a:extLst xmlns:a="http://schemas.openxmlformats.org/drawingml/2006/main">
              <a:ext uri="{FF2B5EF4-FFF2-40B4-BE49-F238E27FC236}">
                <a16:creationId xmlns:a16="http://schemas.microsoft.com/office/drawing/2014/main" id="{F2EB0132-E745-46E4-B26B-E4239E1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≥3 审核点标出了吗？</a:t>
            </a:r>
          </a:p>
        </p:txBody>
      </p:sp>
      <p:sp>
        <p:nvSpPr>
          <p:cNvPr id="15" name="p18-n-3">
            <a:extLst xmlns:a="http://schemas.openxmlformats.org/drawingml/2006/main">
              <a:ext uri="{FF2B5EF4-FFF2-40B4-BE49-F238E27FC236}">
                <a16:creationId xmlns:a16="http://schemas.microsoft.com/office/drawing/2014/main" id="{F3084DC0-3236-467E-A753-364A042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18-q-3">
            <a:extLst xmlns:a="http://schemas.openxmlformats.org/drawingml/2006/main">
              <a:ext uri="{FF2B5EF4-FFF2-40B4-BE49-F238E27FC236}">
                <a16:creationId xmlns:a16="http://schemas.microsoft.com/office/drawing/2014/main" id="{398ABCA6-B062-47EC-B38D-A617404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失败记录是七字段吗？</a:t>
            </a:r>
          </a:p>
        </p:txBody>
      </p:sp>
      <p:sp>
        <p:nvSpPr>
          <p:cNvPr id="17" name="p18-n-4">
            <a:extLst xmlns:a="http://schemas.openxmlformats.org/drawingml/2006/main">
              <a:ext uri="{FF2B5EF4-FFF2-40B4-BE49-F238E27FC236}">
                <a16:creationId xmlns:a16="http://schemas.microsoft.com/office/drawing/2014/main" id="{05224A50-AB42-4FA7-B40F-E20C7458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p18-q-4">
            <a:extLst xmlns:a="http://schemas.openxmlformats.org/drawingml/2006/main">
              <a:ext uri="{FF2B5EF4-FFF2-40B4-BE49-F238E27FC236}">
                <a16:creationId xmlns:a16="http://schemas.microsoft.com/office/drawing/2014/main" id="{09CE5F42-D3F5-45CD-ABE2-9424A45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八维拆解出现越界表述吗？</a:t>
            </a:r>
          </a:p>
        </p:txBody>
      </p:sp>
      <p:sp>
        <p:nvSpPr>
          <p:cNvPr id="19" name="p18-bottom">
            <a:extLst xmlns:a="http://schemas.openxmlformats.org/drawingml/2006/main">
              <a:ext uri="{FF2B5EF4-FFF2-40B4-BE49-F238E27FC236}">
                <a16:creationId xmlns:a16="http://schemas.microsoft.com/office/drawing/2014/main" id="{E124ADE7-B46D-4351-9AE7-5B0EA15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分钟｜只提问题，不替作者决定，不形成共同提交。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退出卡与第 12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left-h">
            <a:extLst xmlns:a="http://schemas.openxmlformats.org/drawingml/2006/main">
              <a:ext uri="{FF2B5EF4-FFF2-40B4-BE49-F238E27FC236}">
                <a16:creationId xmlns:a16="http://schemas.microsoft.com/office/drawing/2014/main" id="{A1A78762-2002-45E2-A076-56FEEC8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19-n-0">
            <a:extLst xmlns:a="http://schemas.openxmlformats.org/drawingml/2006/main">
              <a:ext uri="{FF2B5EF4-FFF2-40B4-BE49-F238E27FC236}">
                <a16:creationId xmlns:a16="http://schemas.microsoft.com/office/drawing/2014/main" id="{2F28D03D-2C1F-4827-BB93-2A96112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9-q-0">
            <a:extLst xmlns:a="http://schemas.openxmlformats.org/drawingml/2006/main">
              <a:ext uri="{FF2B5EF4-FFF2-40B4-BE49-F238E27FC236}">
                <a16:creationId xmlns:a16="http://schemas.microsoft.com/office/drawing/2014/main" id="{C9490E6A-E3EE-4A67-A325-4F4C9BA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76400"/>
            <a:ext cx="462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四约束最容易缺哪一项？</a:t>
            </a:r>
          </a:p>
        </p:txBody>
      </p:sp>
      <p:sp>
        <p:nvSpPr>
          <p:cNvPr id="9" name="p19-n-1">
            <a:extLst xmlns:a="http://schemas.openxmlformats.org/drawingml/2006/main">
              <a:ext uri="{FF2B5EF4-FFF2-40B4-BE49-F238E27FC236}">
                <a16:creationId xmlns:a16="http://schemas.microsoft.com/office/drawing/2014/main" id="{29CE8C04-ADD7-431F-A9E9-1E86F90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9-q-1">
            <a:extLst xmlns:a="http://schemas.openxmlformats.org/drawingml/2006/main">
              <a:ext uri="{FF2B5EF4-FFF2-40B4-BE49-F238E27FC236}">
                <a16:creationId xmlns:a16="http://schemas.microsoft.com/office/drawing/2014/main" id="{C38BBF4E-6E01-443A-8241-056E913A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462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哪个位置最需要人工确认？</a:t>
            </a:r>
          </a:p>
        </p:txBody>
      </p:sp>
      <p:sp>
        <p:nvSpPr>
          <p:cNvPr id="11" name="p19-n-2">
            <a:extLst xmlns:a="http://schemas.openxmlformats.org/drawingml/2006/main">
              <a:ext uri="{FF2B5EF4-FFF2-40B4-BE49-F238E27FC236}">
                <a16:creationId xmlns:a16="http://schemas.microsoft.com/office/drawing/2014/main" id="{8763EC87-5369-4DA2-A152-C39A8F1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9-q-2">
            <a:extLst xmlns:a="http://schemas.openxmlformats.org/drawingml/2006/main">
              <a:ext uri="{FF2B5EF4-FFF2-40B4-BE49-F238E27FC236}">
                <a16:creationId xmlns:a16="http://schemas.microsoft.com/office/drawing/2014/main" id="{04D3B510-D0C7-4267-949C-A7513EAB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462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是否把两个案例外推成自主科研？</a:t>
            </a:r>
          </a:p>
        </p:txBody>
      </p:sp>
      <p:sp>
        <p:nvSpPr>
          <p:cNvPr id="13" name="p19-n-3">
            <a:extLst xmlns:a="http://schemas.openxmlformats.org/drawingml/2006/main">
              <a:ext uri="{FF2B5EF4-FFF2-40B4-BE49-F238E27FC236}">
                <a16:creationId xmlns:a16="http://schemas.microsoft.com/office/drawing/2014/main" id="{7E79810B-5748-40D9-B1AF-496F429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9-q-3">
            <a:extLst xmlns:a="http://schemas.openxmlformats.org/drawingml/2006/main">
              <a:ext uri="{FF2B5EF4-FFF2-40B4-BE49-F238E27FC236}">
                <a16:creationId xmlns:a16="http://schemas.microsoft.com/office/drawing/2014/main" id="{A87C038C-D3AC-4664-99C8-10B651C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462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进入第 12 课前的最小卡点？</a:t>
            </a:r>
          </a:p>
        </p:txBody>
      </p:sp>
      <p:sp>
        <p:nvSpPr>
          <p:cNvPr id="15" name="p19-right-h">
            <a:extLst xmlns:a="http://schemas.openxmlformats.org/drawingml/2006/main">
              <a:ext uri="{FF2B5EF4-FFF2-40B4-BE49-F238E27FC236}">
                <a16:creationId xmlns:a16="http://schemas.microsoft.com/office/drawing/2014/main" id="{358A7CA0-B9D6-424F-B368-187A7FA0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489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12 课：重新组合为个人工作流</a:t>
            </a:r>
          </a:p>
        </p:txBody>
      </p:sp>
      <p:sp>
        <p:nvSpPr>
          <p:cNvPr id="16" name="p19-line-0">
            <a:extLst xmlns:a="http://schemas.openxmlformats.org/drawingml/2006/main">
              <a:ext uri="{FF2B5EF4-FFF2-40B4-BE49-F238E27FC236}">
                <a16:creationId xmlns:a16="http://schemas.microsoft.com/office/drawing/2014/main" id="{DC6B89D9-7CDF-4DB4-BB7D-0CA7408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2190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9-f-0">
            <a:extLst xmlns:a="http://schemas.openxmlformats.org/drawingml/2006/main">
              <a:ext uri="{FF2B5EF4-FFF2-40B4-BE49-F238E27FC236}">
                <a16:creationId xmlns:a16="http://schemas.microsoft.com/office/drawing/2014/main" id="{CF6BBC39-6007-41E9-B4FD-EE0C4B43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171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受限循环骨架</a:t>
            </a:r>
          </a:p>
        </p:txBody>
      </p:sp>
      <p:sp>
        <p:nvSpPr>
          <p:cNvPr id="18" name="p19-line-1">
            <a:extLst xmlns:a="http://schemas.openxmlformats.org/drawingml/2006/main">
              <a:ext uri="{FF2B5EF4-FFF2-40B4-BE49-F238E27FC236}">
                <a16:creationId xmlns:a16="http://schemas.microsoft.com/office/drawing/2014/main" id="{A5712603-1F62-4DD1-B513-F4FF506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30480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9-f-1">
            <a:extLst xmlns:a="http://schemas.openxmlformats.org/drawingml/2006/main">
              <a:ext uri="{FF2B5EF4-FFF2-40B4-BE49-F238E27FC236}">
                <a16:creationId xmlns:a16="http://schemas.microsoft.com/office/drawing/2014/main" id="{3A8B75C9-234A-4625-97F6-3562F020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4171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任务契约 · Context · Memory</a:t>
            </a:r>
          </a:p>
        </p:txBody>
      </p:sp>
      <p:sp>
        <p:nvSpPr>
          <p:cNvPr id="20" name="p19-line-2">
            <a:extLst xmlns:a="http://schemas.openxmlformats.org/drawingml/2006/main">
              <a:ext uri="{FF2B5EF4-FFF2-40B4-BE49-F238E27FC236}">
                <a16:creationId xmlns:a16="http://schemas.microsoft.com/office/drawing/2014/main" id="{2EBA4C8A-C6B1-4CBB-BDFB-D6403FC6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39052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9-f-2">
            <a:extLst xmlns:a="http://schemas.openxmlformats.org/drawingml/2006/main">
              <a:ext uri="{FF2B5EF4-FFF2-40B4-BE49-F238E27FC236}">
                <a16:creationId xmlns:a16="http://schemas.microsoft.com/office/drawing/2014/main" id="{36C92FEE-1E79-44B0-928F-AC7F2FB0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4171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工具/权限 · Evals · 审核</a:t>
            </a:r>
          </a:p>
        </p:txBody>
      </p:sp>
      <p:sp>
        <p:nvSpPr>
          <p:cNvPr id="22" name="p19-f-3">
            <a:extLst xmlns:a="http://schemas.openxmlformats.org/drawingml/2006/main">
              <a:ext uri="{FF2B5EF4-FFF2-40B4-BE49-F238E27FC236}">
                <a16:creationId xmlns:a16="http://schemas.microsoft.com/office/drawing/2014/main" id="{30352A3D-DF9D-4150-84C5-979A9BA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171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19050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可运行或可演示原型</a:t>
            </a:r>
          </a:p>
        </p:txBody>
      </p:sp>
      <p:sp>
        <p:nvSpPr>
          <p:cNvPr id="23" name="p19-bottom">
            <a:extLst xmlns:a="http://schemas.openxmlformats.org/drawingml/2006/main">
              <a:ext uri="{FF2B5EF4-FFF2-40B4-BE49-F238E27FC236}">
                <a16:creationId xmlns:a16="http://schemas.microsoft.com/office/drawing/2014/main" id="{753D1CBF-4979-4970-BBCC-D2CB464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本课无正式提交｜第 13 课验证门统一检查评价、失败保留与人工审核。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2026-08-07T11:06:02.8500000Z</dcterms:created>
  <dcterms:modified xsi:type="dcterms:W3CDTF">2026-08-07T11:06:02.8500000Z</dcterms:modified>
</coreProperties>
</file>