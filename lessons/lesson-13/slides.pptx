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8ff41cfbad4038" /><Relationship Type="http://schemas.openxmlformats.org/officeDocument/2006/relationships/extended-properties" Target="/docProps/app.xml" Id="Re1492d57116849bf" /><Relationship Type="http://schemas.openxmlformats.org/officeDocument/2006/relationships/officeDocument" Target="/ppt/presentation.xml" Id="Ra4b02b6971b447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677b0ad5db4352"/>
  </p:sldMasterIdLst>
  <p:notesMasterIdLst>
    <p:notesMasterId xmlns:r="http://schemas.openxmlformats.org/officeDocument/2006/relationships" r:id="Rc3a359a968a24039"/>
  </p:notesMasterIdLst>
  <p:sldIdLst>
    <p:sldId xmlns:r="http://schemas.openxmlformats.org/officeDocument/2006/relationships" id="256" r:id="Rf29bf922df4b4923"/>
    <p:sldId xmlns:r="http://schemas.openxmlformats.org/officeDocument/2006/relationships" id="257" r:id="R56e0cec97347451b"/>
    <p:sldId xmlns:r="http://schemas.openxmlformats.org/officeDocument/2006/relationships" id="258" r:id="R4a9893815ce44206"/>
    <p:sldId xmlns:r="http://schemas.openxmlformats.org/officeDocument/2006/relationships" id="259" r:id="R1613ac3c5d174369"/>
    <p:sldId xmlns:r="http://schemas.openxmlformats.org/officeDocument/2006/relationships" id="260" r:id="Re46d0b4b6ff742a6"/>
    <p:sldId xmlns:r="http://schemas.openxmlformats.org/officeDocument/2006/relationships" id="261" r:id="R02b538e92230493a"/>
    <p:sldId xmlns:r="http://schemas.openxmlformats.org/officeDocument/2006/relationships" id="262" r:id="Rd621c7d58c234d31"/>
    <p:sldId xmlns:r="http://schemas.openxmlformats.org/officeDocument/2006/relationships" id="263" r:id="R7646ab9998ef4203"/>
    <p:sldId xmlns:r="http://schemas.openxmlformats.org/officeDocument/2006/relationships" id="264" r:id="R6a32214c0ba64889"/>
    <p:sldId xmlns:r="http://schemas.openxmlformats.org/officeDocument/2006/relationships" id="265" r:id="R14b223e0a53b411f"/>
    <p:sldId xmlns:r="http://schemas.openxmlformats.org/officeDocument/2006/relationships" id="266" r:id="R5637f372411f4e37"/>
    <p:sldId xmlns:r="http://schemas.openxmlformats.org/officeDocument/2006/relationships" id="267" r:id="Ra953507045c2449a"/>
    <p:sldId xmlns:r="http://schemas.openxmlformats.org/officeDocument/2006/relationships" id="268" r:id="Rf661a03a3e7942a7"/>
    <p:sldId xmlns:r="http://schemas.openxmlformats.org/officeDocument/2006/relationships" id="269" r:id="Ra1d9f1319cfb4430"/>
    <p:sldId xmlns:r="http://schemas.openxmlformats.org/officeDocument/2006/relationships" id="270" r:id="R8fc5e3ad3b274b77"/>
    <p:sldId xmlns:r="http://schemas.openxmlformats.org/officeDocument/2006/relationships" id="271" r:id="R8480f923d85d440b"/>
    <p:sldId xmlns:r="http://schemas.openxmlformats.org/officeDocument/2006/relationships" id="272" r:id="R2e0fc9ab4feb4c4a"/>
    <p:sldId xmlns:r="http://schemas.openxmlformats.org/officeDocument/2006/relationships" id="273" r:id="R91dbd9d91af64d33"/>
    <p:sldId xmlns:r="http://schemas.openxmlformats.org/officeDocument/2006/relationships" id="274" r:id="R7d68660c4e024a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82df63697d2464c" /><Relationship Type="http://schemas.openxmlformats.org/officeDocument/2006/relationships/slideMaster" Target="/ppt/slideMasters/slideMaster1.xml" Id="Rbe677b0ad5db4352" /><Relationship Type="http://schemas.openxmlformats.org/officeDocument/2006/relationships/notesMaster" Target="/ppt/notesMasters/notesMaster1.xml" Id="Rc3a359a968a24039" /><Relationship Type="http://schemas.openxmlformats.org/officeDocument/2006/relationships/presProps" Target="/ppt/presProps.xml" Id="R999881283b314fa4" /><Relationship Type="http://schemas.openxmlformats.org/officeDocument/2006/relationships/viewProps" Target="/ppt/viewProps.xml" Id="R023302f177474e37" /><Relationship Type="http://schemas.openxmlformats.org/officeDocument/2006/relationships/tableStyles" Target="/ppt/tableStyles.xml" Id="Ra2af3b66ad58493a" /><Relationship Type="http://schemas.openxmlformats.org/officeDocument/2006/relationships/slide" Target="/ppt/slides/slide1.xml" Id="Rf29bf922df4b4923" /><Relationship Type="http://schemas.openxmlformats.org/officeDocument/2006/relationships/slide" Target="/ppt/slides/slide2.xml" Id="R56e0cec97347451b" /><Relationship Type="http://schemas.openxmlformats.org/officeDocument/2006/relationships/slide" Target="/ppt/slides/slide3.xml" Id="R4a9893815ce44206" /><Relationship Type="http://schemas.openxmlformats.org/officeDocument/2006/relationships/slide" Target="/ppt/slides/slide4.xml" Id="R1613ac3c5d174369" /><Relationship Type="http://schemas.openxmlformats.org/officeDocument/2006/relationships/slide" Target="/ppt/slides/slide5.xml" Id="Re46d0b4b6ff742a6" /><Relationship Type="http://schemas.openxmlformats.org/officeDocument/2006/relationships/slide" Target="/ppt/slides/slide6.xml" Id="R02b538e92230493a" /><Relationship Type="http://schemas.openxmlformats.org/officeDocument/2006/relationships/slide" Target="/ppt/slides/slide7.xml" Id="Rd621c7d58c234d31" /><Relationship Type="http://schemas.openxmlformats.org/officeDocument/2006/relationships/slide" Target="/ppt/slides/slide8.xml" Id="R7646ab9998ef4203" /><Relationship Type="http://schemas.openxmlformats.org/officeDocument/2006/relationships/slide" Target="/ppt/slides/slide9.xml" Id="R6a32214c0ba64889" /><Relationship Type="http://schemas.openxmlformats.org/officeDocument/2006/relationships/slide" Target="/ppt/slides/slide10.xml" Id="R14b223e0a53b411f" /><Relationship Type="http://schemas.openxmlformats.org/officeDocument/2006/relationships/slide" Target="/ppt/slides/slide11.xml" Id="R5637f372411f4e37" /><Relationship Type="http://schemas.openxmlformats.org/officeDocument/2006/relationships/slide" Target="/ppt/slides/slide12.xml" Id="Ra953507045c2449a" /><Relationship Type="http://schemas.openxmlformats.org/officeDocument/2006/relationships/slide" Target="/ppt/slides/slide13.xml" Id="Rf661a03a3e7942a7" /><Relationship Type="http://schemas.openxmlformats.org/officeDocument/2006/relationships/slide" Target="/ppt/slides/slide14.xml" Id="Ra1d9f1319cfb4430" /><Relationship Type="http://schemas.openxmlformats.org/officeDocument/2006/relationships/slide" Target="/ppt/slides/slide15.xml" Id="R8fc5e3ad3b274b77" /><Relationship Type="http://schemas.openxmlformats.org/officeDocument/2006/relationships/slide" Target="/ppt/slides/slide16.xml" Id="R8480f923d85d440b" /><Relationship Type="http://schemas.openxmlformats.org/officeDocument/2006/relationships/slide" Target="/ppt/slides/slide17.xml" Id="R2e0fc9ab4feb4c4a" /><Relationship Type="http://schemas.openxmlformats.org/officeDocument/2006/relationships/slide" Target="/ppt/slides/slide18.xml" Id="R91dbd9d91af64d33" /><Relationship Type="http://schemas.openxmlformats.org/officeDocument/2006/relationships/slide" Target="/ppt/slides/slide19.xml" Id="R7d68660c4e024a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fee968f27594a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8c4d5957df4875" /><Relationship Type="http://schemas.openxmlformats.org/officeDocument/2006/relationships/notesMaster" Target="/ppt/notesMasters/notesMaster1.xml" Id="Re138a1d25a0843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5f6cb4c4894a2a" /><Relationship Type="http://schemas.openxmlformats.org/officeDocument/2006/relationships/notesMaster" Target="/ppt/notesMasters/notesMaster1.xml" Id="R22021cbee72e45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317d85e2914d78" /><Relationship Type="http://schemas.openxmlformats.org/officeDocument/2006/relationships/notesMaster" Target="/ppt/notesMasters/notesMaster1.xml" Id="R5d36a460b82f4e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680c0a0e86428f" /><Relationship Type="http://schemas.openxmlformats.org/officeDocument/2006/relationships/notesMaster" Target="/ppt/notesMasters/notesMaster1.xml" Id="R8de200c94f7943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22f7d851ab44a63" /><Relationship Type="http://schemas.openxmlformats.org/officeDocument/2006/relationships/notesMaster" Target="/ppt/notesMasters/notesMaster1.xml" Id="R6743b092ac9c4a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9fafdb5c74438d" /><Relationship Type="http://schemas.openxmlformats.org/officeDocument/2006/relationships/notesMaster" Target="/ppt/notesMasters/notesMaster1.xml" Id="R11ff44a853e2430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ece3d40970e4d8e" /><Relationship Type="http://schemas.openxmlformats.org/officeDocument/2006/relationships/notesMaster" Target="/ppt/notesMasters/notesMaster1.xml" Id="R3f60860732b943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0679a3ad5b4f10" /><Relationship Type="http://schemas.openxmlformats.org/officeDocument/2006/relationships/notesMaster" Target="/ppt/notesMasters/notesMaster1.xml" Id="Rf196b35df0f94ef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676bc3955a3492f" /><Relationship Type="http://schemas.openxmlformats.org/officeDocument/2006/relationships/notesMaster" Target="/ppt/notesMasters/notesMaster1.xml" Id="Rc19d724da2374f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f9d129539ab47f2" /><Relationship Type="http://schemas.openxmlformats.org/officeDocument/2006/relationships/notesMaster" Target="/ppt/notesMasters/notesMaster1.xml" Id="R91a6490793e8492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827b293192495e" /><Relationship Type="http://schemas.openxmlformats.org/officeDocument/2006/relationships/notesMaster" Target="/ppt/notesMasters/notesMaster1.xml" Id="Rfb0bb07a758c4e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32b98a0663546f9" /><Relationship Type="http://schemas.openxmlformats.org/officeDocument/2006/relationships/notesMaster" Target="/ppt/notesMasters/notesMaster1.xml" Id="R559ad6682d1641a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b8a67d05c47487e" /><Relationship Type="http://schemas.openxmlformats.org/officeDocument/2006/relationships/notesMaster" Target="/ppt/notesMasters/notesMaster1.xml" Id="Ra878ccace66e487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0e8d4dd5e344425" /><Relationship Type="http://schemas.openxmlformats.org/officeDocument/2006/relationships/notesMaster" Target="/ppt/notesMasters/notesMaster1.xml" Id="Rd443389c2da5496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b3d74c58ba04443" /><Relationship Type="http://schemas.openxmlformats.org/officeDocument/2006/relationships/notesMaster" Target="/ppt/notesMasters/notesMaster1.xml" Id="Rbb855fa7c75f4e5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ccd9d01f486489d" /><Relationship Type="http://schemas.openxmlformats.org/officeDocument/2006/relationships/notesMaster" Target="/ppt/notesMasters/notesMaster1.xml" Id="R0efb0224b66a41d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04e2a0c00d14b62" /><Relationship Type="http://schemas.openxmlformats.org/officeDocument/2006/relationships/notesMaster" Target="/ppt/notesMasters/notesMaster1.xml" Id="R71175c0108964be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ff6232e8a404fac" /><Relationship Type="http://schemas.openxmlformats.org/officeDocument/2006/relationships/notesMaster" Target="/ppt/notesMasters/notesMaster1.xml" Id="R87ee987942de42d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e623501dd894387" /><Relationship Type="http://schemas.openxmlformats.org/officeDocument/2006/relationships/notesMaster" Target="/ppt/notesMasters/notesMaster1.xml" Id="Re16f86ab4f3b46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开场放下第 12 课工作流原型。第 10–12 课解决了受限执行、自动化和个人工作流设计，本课检查原型是否经过评价，并完成第三次正式提交。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快问学生：第 12 课原型跑过几次？有没有 baseline？只听回答。本页把本课差距限定为评价、失败审计、证据与伦理更新。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明确边界：课堂不要求全部 10 项都通过，但必须产出评价报告初版和伦理三条更新。验证门条件只认 assignments.md Checkpoint 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让学生把自己的功能清单改写成实际影响。如果写不出 baseline、指标变化和负向结果，说明还没有完成评价。示例数值为虚构教学示例，不预设真实结果。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六类评价维度不必全报。要求学生选至少两项并说明为什么；选择标准是研究问题和任务契约成功标准，而不是哪项容易得到漂亮数字。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- Breck, E. et al. The ML Test Score. IEEE Big Data, 2017.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课程虚构教学案例：20 篇、rubric v1.2、kappa 阈值和三个种子都不是真实结果。Bouthillier 等强调随机性 ML benchmark 比较中的方差；多种子只是该类项目的相称设计，不是全项目统一门槛。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all sample counts, rubric identifiers, thresholds and seeds are fictional.</a:t>
            </a:r>
          </a:p>
          <a:p xmlns:a="http://schemas.openxmlformats.org/drawingml/2006/main">
            <a:r>
              <a:t>- Bouthillier, X. et al. Accounting for Variance in Machine Learning Benchmarks. MLSys 3, 2021.</a:t>
            </a:r>
          </a:p>
          <a:p xmlns:a="http://schemas.openxmlformats.org/drawingml/2006/main">
            <a:r>
              <a:t>- https://proceedings.mlsys.org/paper_files/paper/2021/hash/0184b0cd3cfb185989f858a1d9f5c1eb-Abstract.html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让学生检查 evaluation-report.md 是否回答了‘改变了哪个判断’。如果只能回答工作流做了什么，就回到 P04 补 baseline 与实际影响。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示例数值是虚构教学示例，仅用于演示映射动作。重点区分反驳与仍不能判断：A2 未排除是证据缺口，不是假装不存在。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让学生检查 experiments/ 是否仍保留失败运行。贯穿案例 2 篇图表论文反而更差，揭示的是任务契约边界，不是应被删掉的‘坏数据’。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课程虚构教学案例：H1、A2 与 exp-001..010 为课堂构造标识，非真实实验。独立证据是来源、测量、重复实验、对照、消融或分析路径的实质差异，不是两个网页。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hypotheses and experiment identifiers are fictional.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贯穿案例中的 n=20、CS 单一与 A2 均为虚构教学示例，不构成实证结论。威胁不能只写‘可能存在偏差’，必须指明具体来源和可能改变哪个判断。本课不强制四类齐全，但至少写两类与项目相关的具体威胁。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sample size, domain, and hypothesis identifiers are fictional.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强调失败审计不等于只报告失败率。静默删除失败、越权痕迹或改评价协议，是学术规范红线；失败记录本身是评价工作流的重要证据。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Sculley 等人的论文讨论 ML 系统技术债；本课借用其分类思路，不照搬原分类。六类不必全部命中，但每次失败必须给具体根因和可改进点。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Sculley, D. et al. Hidden Technical Debt in Machine Learning Systems. NeurIPS, 2015.</a:t>
            </a:r>
          </a:p>
          <a:p xmlns:a="http://schemas.openxmlformats.org/drawingml/2006/main">
            <a:r>
              <a:t>- https://research.google/pubs/hidden-technical-debt-in-machine-learning-systems/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课程虚构教学案例：exp-007 是课堂构造运行 ID。让学生在自己项目中写一条真实失败日志和一条人工审核记录；审核理由必须指出具体问题。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exp-007 is a fictional run identifier.</a:t>
            </a:r>
          </a:p>
          <a:p xmlns:a="http://schemas.openxmlformats.org/drawingml/2006/main">
            <a:r>
              <a:t>- Huang, Q. et al. MLAgentBench: Evaluating Language Agents on Machine Learning Experimentation. ICML, 2024.</a:t>
            </a:r>
          </a:p>
          <a:p xmlns:a="http://schemas.openxmlformats.org/drawingml/2006/main">
            <a:r>
              <a:t>- https://proceedings.mlr.press/v235/huang24y.html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逐条讲清 10 项。第 1–4 项主要确认第 12 课已有工件；第 5–9 项由本课补全；第 10 项更新数据访问、工具权限和外部服务边界。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学生用自己的工作流重复九步链路。本课不要求课堂完成全部，但必须形成 evaluation-report.md 初版。示例数值全部为虚构教学示例。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本页停留至 60:00。学生完成 evaluation-report.md 更新版和伦理说明三条；门条件自查只需启动，课后补全并提交。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/Users/bright/Projects/courses/graduate/lessons/lesson-13/teaching-plan.md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60:00–78:00 同伴互查。重点检查可重复评价、失败保留、人工审核、实际影响、证据充分性和伦理更新。人数为奇数时组成三人组。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/Users/bright/Projects/courses/graduate/lessons/lesson-13/teaching-plan.md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回扣：未通过只修复缺失条件，不重复提交无关材料；失败选择性删除是必须修复的红线。第 14 课将把评价结果、证据充分性、威胁与失败审计写入论文式短文。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- Sculley, D. et al. Hidden Technical Debt in Machine Learning Systems. NeurIPS, 2015.</a:t>
            </a:r>
          </a:p>
          <a:p xmlns:a="http://schemas.openxmlformats.org/drawingml/2006/main">
            <a:r>
              <a:t>- Bouthillier, X. et al. Accounting for Variance in Machine Learning Benchmarks. MLSys, 2021.</a:t>
            </a:r>
          </a:p>
          <a:p xmlns:a="http://schemas.openxmlformats.org/drawingml/2006/main">
            <a:r>
              <a:t>- Breck, E. et al. The ML Test Score. IEEE Big Data, 2017.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5ff9fccf9045c3" /><Relationship Type="http://schemas.openxmlformats.org/officeDocument/2006/relationships/image" Target="/ppt/media/image.png" Id="Refbdd9a82ae145ab" /><Relationship Type="http://schemas.openxmlformats.org/officeDocument/2006/relationships/image" Target="/ppt/media/image2.png" Id="R31dd5c870d7f4671" /><Relationship Type="http://schemas.openxmlformats.org/officeDocument/2006/relationships/image" Target="/ppt/media/image3.png" Id="R0d0c645a120a4e7b" /><Relationship Type="http://schemas.openxmlformats.org/officeDocument/2006/relationships/image" Target="/ppt/media/image4.png" Id="Rad7bc01a86ab4c6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883449ca7747c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a73925a3fd4756" /><Relationship Type="http://schemas.openxmlformats.org/officeDocument/2006/relationships/image" Target="/ppt/media/image2.png" Id="R32683d6bb6ca4a1c" /><Relationship Type="http://schemas.openxmlformats.org/officeDocument/2006/relationships/image" Target="/ppt/media/image5.png" Id="Rb36ab16730104d9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3f903f1aea479c" /><Relationship Type="http://schemas.openxmlformats.org/officeDocument/2006/relationships/image" Target="/ppt/media/image.png" Id="Rfbe0bab8cc2d4cc2" /><Relationship Type="http://schemas.openxmlformats.org/officeDocument/2006/relationships/image" Target="/ppt/media/image3.png" Id="R6503e1f95af34d77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bdd9a82ae145ab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dd5c870d7f4671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d0c645a120a4e7b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bc01a86ab4c67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2683d6bb6ca4a1c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6ab16730104d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e0bab8cc2d4cc2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03e1f95af34d77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7b35c41d46454c" /><Relationship Type="http://schemas.openxmlformats.org/officeDocument/2006/relationships/slideLayout" Target="/ppt/slideLayouts/slideLayout1.xml" Id="R9e25f31a208a4d30" /><Relationship Type="http://schemas.openxmlformats.org/officeDocument/2006/relationships/slideLayout" Target="/ppt/slideLayouts/slideLayout2.xml" Id="Rd3bebce979ae42a6" /><Relationship Type="http://schemas.openxmlformats.org/officeDocument/2006/relationships/slideLayout" Target="/ppt/slideLayouts/slideLayout3.xml" Id="Ra6ea2c22b33f4415" /><Relationship Type="http://schemas.openxmlformats.org/officeDocument/2006/relationships/slideLayout" Target="/ppt/slideLayouts/slideLayout4.xml" Id="Rc054456658b3423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25f31a208a4d30"/>
    <p:sldLayoutId xmlns:r="http://schemas.openxmlformats.org/officeDocument/2006/relationships" id="2147483650" r:id="Rd3bebce979ae42a6"/>
    <p:sldLayoutId xmlns:r="http://schemas.openxmlformats.org/officeDocument/2006/relationships" id="2147483651" r:id="Ra6ea2c22b33f4415"/>
    <p:sldLayoutId xmlns:r="http://schemas.openxmlformats.org/officeDocument/2006/relationships" id="2147483652" r:id="Rc054456658b3423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83daeec7d54d12" /><Relationship Type="http://schemas.openxmlformats.org/officeDocument/2006/relationships/notesSlide" Target="/ppt/notesSlides/notesSlide1.xml" Id="R6e3aed37959446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672e5fa748c4191" /><Relationship Type="http://schemas.openxmlformats.org/officeDocument/2006/relationships/notesSlide" Target="/ppt/notesSlides/notesSlide2.xml" Id="R406bdf716f4942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ec88bfc5625455d" /><Relationship Type="http://schemas.openxmlformats.org/officeDocument/2006/relationships/notesSlide" Target="/ppt/notesSlides/notesSlide3.xml" Id="Ra9f31eb551d54c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f0b30fe692a470d" /><Relationship Type="http://schemas.openxmlformats.org/officeDocument/2006/relationships/notesSlide" Target="/ppt/notesSlides/notesSlide4.xml" Id="R60fbbdb7ffd042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78e8da4d5b5499d" /><Relationship Type="http://schemas.openxmlformats.org/officeDocument/2006/relationships/notesSlide" Target="/ppt/notesSlides/notesSlide5.xml" Id="R46abb3d4e48343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735a7aea29941f4" /><Relationship Type="http://schemas.openxmlformats.org/officeDocument/2006/relationships/notesSlide" Target="/ppt/notesSlides/notesSlide6.xml" Id="R4d7f563f15b348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428a455cba545c8" /><Relationship Type="http://schemas.openxmlformats.org/officeDocument/2006/relationships/notesSlide" Target="/ppt/notesSlides/notesSlide7.xml" Id="R4624b8b226ba49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c9e5aa290f148e0" /><Relationship Type="http://schemas.openxmlformats.org/officeDocument/2006/relationships/notesSlide" Target="/ppt/notesSlides/notesSlide8.xml" Id="Rf814f53a27e4474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af39fd486b647f5" /><Relationship Type="http://schemas.openxmlformats.org/officeDocument/2006/relationships/notesSlide" Target="/ppt/notesSlides/notesSlide9.xml" Id="R89da9436db4a457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7de1a4bc03e45ec" /><Relationship Type="http://schemas.openxmlformats.org/officeDocument/2006/relationships/notesSlide" Target="/ppt/notesSlides/notesSlide10.xml" Id="R615d0128ea43428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b45b8ffcff34a8c" /><Relationship Type="http://schemas.openxmlformats.org/officeDocument/2006/relationships/notesSlide" Target="/ppt/notesSlides/notesSlide11.xml" Id="R3e5133abd75148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bd58bebffe848a4" /><Relationship Type="http://schemas.openxmlformats.org/officeDocument/2006/relationships/notesSlide" Target="/ppt/notesSlides/notesSlide12.xml" Id="Rdf7ddd85324e4f7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3c2fb02bad64c81" /><Relationship Type="http://schemas.openxmlformats.org/officeDocument/2006/relationships/notesSlide" Target="/ppt/notesSlides/notesSlide13.xml" Id="R8fded196ab894d1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b6b6f1ee03b4eb9" /><Relationship Type="http://schemas.openxmlformats.org/officeDocument/2006/relationships/notesSlide" Target="/ppt/notesSlides/notesSlide14.xml" Id="R95e2952de843435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03e513296ec44cf" /><Relationship Type="http://schemas.openxmlformats.org/officeDocument/2006/relationships/notesSlide" Target="/ppt/notesSlides/notesSlide15.xml" Id="Rb640d11fc4dc4f2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fd6c055c7554b6d" /><Relationship Type="http://schemas.openxmlformats.org/officeDocument/2006/relationships/notesSlide" Target="/ppt/notesSlides/notesSlide16.xml" Id="R0fe3224c39454c9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0e5cea1ae4c4678" /><Relationship Type="http://schemas.openxmlformats.org/officeDocument/2006/relationships/notesSlide" Target="/ppt/notesSlides/notesSlide17.xml" Id="R1385d9b3374c432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7963c9853de4f0a" /><Relationship Type="http://schemas.openxmlformats.org/officeDocument/2006/relationships/notesSlide" Target="/ppt/notesSlides/notesSlide18.xml" Id="Re7ac3b5c22c442f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e02ef0195d94816" /><Relationship Type="http://schemas.openxmlformats.org/officeDocument/2006/relationships/notesSlide" Target="/ppt/notesSlides/notesSlide19.xml" Id="R819fda1e9d064cd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1D30E0E-D2D5-4C08-A919-2A1C2D5A8D02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1238250" y="3048000"/>
            <a:ext cx="9715500" cy="234315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从“我的工作流能跑”到“它是否真的改善了目标科研动作”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/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评价 + 结果映射 + 失败审计 + 人工审核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第十三讲｜阶段七：原型验证成案 + 评价 → 验证门</a:t>
            </a:r>
            <a:endParaRPr>
              <a:latin typeface="+mn-ea"/>
              <a:ea typeface="+mn-ea"/>
              <a:cs typeface="+mn-ea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95400"/>
            <a:ext cx="9525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29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工作流评价、结果分析、失败审计与验证门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10–12 课之后，工作流原型仍缺评价闭环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EE9107FE-F7D1-4F93-BE51-15B3F50FC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已经建立</a:t>
            </a:r>
          </a:p>
        </p:txBody>
      </p:sp>
      <p:sp>
        <p:nvSpPr>
          <p:cNvPr id="7" name="p02-left-0">
            <a:extLst xmlns:a="http://schemas.openxmlformats.org/drawingml/2006/main">
              <a:ext uri="{FF2B5EF4-FFF2-40B4-BE49-F238E27FC236}">
                <a16:creationId xmlns:a16="http://schemas.microsoft.com/office/drawing/2014/main" id="{66C530BD-F2E5-4426-9807-8C05156C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受限执行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契约 + diff + 失败日志</a:t>
            </a:r>
          </a:p>
        </p:txBody>
      </p:sp>
      <p:sp>
        <p:nvSpPr>
          <p:cNvPr id="8" name="p02-left-1">
            <a:extLst xmlns:a="http://schemas.openxmlformats.org/drawingml/2006/main">
              <a:ext uri="{FF2B5EF4-FFF2-40B4-BE49-F238E27FC236}">
                <a16:creationId xmlns:a16="http://schemas.microsoft.com/office/drawing/2014/main" id="{3F6E9C85-4795-4419-B219-3BAEA8CF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432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自动化循环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预算 + 停止 + 指标轨迹</a:t>
            </a:r>
          </a:p>
        </p:txBody>
      </p:sp>
      <p:sp>
        <p:nvSpPr>
          <p:cNvPr id="9" name="p02-left-2">
            <a:extLst xmlns:a="http://schemas.openxmlformats.org/drawingml/2006/main">
              <a:ext uri="{FF2B5EF4-FFF2-40B4-BE49-F238E27FC236}">
                <a16:creationId xmlns:a16="http://schemas.microsoft.com/office/drawing/2014/main" id="{847DE9E6-69C5-4EA3-924A-8ECD64C0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个人工作流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说明 + 原型 + 评价计划</a:t>
            </a:r>
          </a:p>
        </p:txBody>
      </p:sp>
      <p:sp>
        <p:nvSpPr>
          <p:cNvPr id="10" name="p02-separator">
            <a:extLst xmlns:a="http://schemas.openxmlformats.org/drawingml/2006/main">
              <a:ext uri="{FF2B5EF4-FFF2-40B4-BE49-F238E27FC236}">
                <a16:creationId xmlns:a16="http://schemas.microsoft.com/office/drawing/2014/main" id="{979165E0-986D-4A0E-B177-BE233DB7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191000" y="2962275"/>
            <a:ext cx="3714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2-not-equal">
            <a:extLst xmlns:a="http://schemas.openxmlformats.org/drawingml/2006/main">
              <a:ext uri="{FF2B5EF4-FFF2-40B4-BE49-F238E27FC236}">
                <a16:creationId xmlns:a16="http://schemas.microsoft.com/office/drawing/2014/main" id="{F4AF62FE-4181-447D-B08E-8C876279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476500"/>
            <a:ext cx="8953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12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A555259C-E2FB-4D6C-AEC4-5F3FEB86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仍未回答</a:t>
            </a:r>
          </a:p>
        </p:txBody>
      </p:sp>
      <p:sp>
        <p:nvSpPr>
          <p:cNvPr id="13" name="p02-right-0">
            <a:extLst xmlns:a="http://schemas.openxmlformats.org/drawingml/2006/main">
              <a:ext uri="{FF2B5EF4-FFF2-40B4-BE49-F238E27FC236}">
                <a16:creationId xmlns:a16="http://schemas.microsoft.com/office/drawing/2014/main" id="{E9CD1226-7146-4B2B-8114-CA8574D4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baseline 与重复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评价可复核吗</a:t>
            </a:r>
          </a:p>
        </p:txBody>
      </p:sp>
      <p:sp>
        <p:nvSpPr>
          <p:cNvPr id="14" name="p02-right-1">
            <a:extLst xmlns:a="http://schemas.openxmlformats.org/drawingml/2006/main">
              <a:ext uri="{FF2B5EF4-FFF2-40B4-BE49-F238E27FC236}">
                <a16:creationId xmlns:a16="http://schemas.microsoft.com/office/drawing/2014/main" id="{D403F129-E913-412C-8D8A-FD1BD08D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结果与失败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映射并审计了吗</a:t>
            </a:r>
          </a:p>
        </p:txBody>
      </p:sp>
      <p:sp>
        <p:nvSpPr>
          <p:cNvPr id="15" name="p02-right-2">
            <a:extLst xmlns:a="http://schemas.openxmlformats.org/drawingml/2006/main">
              <a:ext uri="{FF2B5EF4-FFF2-40B4-BE49-F238E27FC236}">
                <a16:creationId xmlns:a16="http://schemas.microsoft.com/office/drawing/2014/main" id="{42BE3316-0B30-4C19-85DF-F6B1A3C5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证据与伦理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审核和边界更新了吗</a:t>
            </a:r>
          </a:p>
        </p:txBody>
      </p:sp>
      <p:sp>
        <p:nvSpPr>
          <p:cNvPr id="16" name="p02-bottom">
            <a:extLst xmlns:a="http://schemas.openxmlformats.org/drawingml/2006/main">
              <a:ext uri="{FF2B5EF4-FFF2-40B4-BE49-F238E27FC236}">
                <a16:creationId xmlns:a16="http://schemas.microsoft.com/office/drawing/2014/main" id="{AB29C84D-7416-4005-A4F4-B6DE00A6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19700"/>
            <a:ext cx="571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能运行 ≠ 经过评价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本课跑通一条可复盘的评价—失败—验证链路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b-0">
            <a:extLst xmlns:a="http://schemas.openxmlformats.org/drawingml/2006/main">
              <a:ext uri="{FF2B5EF4-FFF2-40B4-BE49-F238E27FC236}">
                <a16:creationId xmlns:a16="http://schemas.microsoft.com/office/drawing/2014/main" id="{A53BF1C4-3789-4A8D-90E6-CBA575C0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3-g-0">
            <a:extLst xmlns:a="http://schemas.openxmlformats.org/drawingml/2006/main">
              <a:ext uri="{FF2B5EF4-FFF2-40B4-BE49-F238E27FC236}">
                <a16:creationId xmlns:a16="http://schemas.microsoft.com/office/drawing/2014/main" id="{C2F0CC4D-229B-4401-9AF9-CB2CF275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66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评价实际影响，不列功能</a:t>
            </a:r>
          </a:p>
        </p:txBody>
      </p:sp>
      <p:sp>
        <p:nvSpPr>
          <p:cNvPr id="8" name="p03-b-1">
            <a:extLst xmlns:a="http://schemas.openxmlformats.org/drawingml/2006/main">
              <a:ext uri="{FF2B5EF4-FFF2-40B4-BE49-F238E27FC236}">
                <a16:creationId xmlns:a16="http://schemas.microsoft.com/office/drawing/2014/main" id="{D01401FF-6B12-41B1-8A30-0168EA08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1123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03-g-1">
            <a:extLst xmlns:a="http://schemas.openxmlformats.org/drawingml/2006/main">
              <a:ext uri="{FF2B5EF4-FFF2-40B4-BE49-F238E27FC236}">
                <a16:creationId xmlns:a16="http://schemas.microsoft.com/office/drawing/2014/main" id="{AC06FE97-EBE1-4B11-B817-34D69D54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066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结果映射回 H1 与替代假设</a:t>
            </a:r>
          </a:p>
        </p:txBody>
      </p:sp>
      <p:sp>
        <p:nvSpPr>
          <p:cNvPr id="10" name="p03-b-2">
            <a:extLst xmlns:a="http://schemas.openxmlformats.org/drawingml/2006/main">
              <a:ext uri="{FF2B5EF4-FFF2-40B4-BE49-F238E27FC236}">
                <a16:creationId xmlns:a16="http://schemas.microsoft.com/office/drawing/2014/main" id="{E96B36C5-E59A-4A26-A96D-61EDAF1C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03-g-2">
            <a:extLst xmlns:a="http://schemas.openxmlformats.org/drawingml/2006/main">
              <a:ext uri="{FF2B5EF4-FFF2-40B4-BE49-F238E27FC236}">
                <a16:creationId xmlns:a16="http://schemas.microsoft.com/office/drawing/2014/main" id="{1214C1D0-672B-4496-BFF9-E408638D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193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正向、负向与冲突均保留</a:t>
            </a:r>
          </a:p>
        </p:txBody>
      </p:sp>
      <p:sp>
        <p:nvSpPr>
          <p:cNvPr id="12" name="p03-b-3">
            <a:extLst xmlns:a="http://schemas.openxmlformats.org/drawingml/2006/main">
              <a:ext uri="{FF2B5EF4-FFF2-40B4-BE49-F238E27FC236}">
                <a16:creationId xmlns:a16="http://schemas.microsoft.com/office/drawing/2014/main" id="{7E21DCFA-546A-4230-AC75-FDD229B7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076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03-g-3">
            <a:extLst xmlns:a="http://schemas.openxmlformats.org/drawingml/2006/main">
              <a:ext uri="{FF2B5EF4-FFF2-40B4-BE49-F238E27FC236}">
                <a16:creationId xmlns:a16="http://schemas.microsoft.com/office/drawing/2014/main" id="{3A3BB176-899F-4A77-9402-54C7DB67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193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失败分类并记录人工审核</a:t>
            </a:r>
          </a:p>
        </p:txBody>
      </p:sp>
      <p:sp>
        <p:nvSpPr>
          <p:cNvPr id="14" name="p03-b-4">
            <a:extLst xmlns:a="http://schemas.openxmlformats.org/drawingml/2006/main">
              <a:ext uri="{FF2B5EF4-FFF2-40B4-BE49-F238E27FC236}">
                <a16:creationId xmlns:a16="http://schemas.microsoft.com/office/drawing/2014/main" id="{6FE613DC-C69E-4318-A53B-5B0A666C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p03-g-4">
            <a:extLst xmlns:a="http://schemas.openxmlformats.org/drawingml/2006/main">
              <a:ext uri="{FF2B5EF4-FFF2-40B4-BE49-F238E27FC236}">
                <a16:creationId xmlns:a16="http://schemas.microsoft.com/office/drawing/2014/main" id="{02631CAF-3955-4A29-978C-580C1B82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检查证据充分性与威胁</a:t>
            </a:r>
          </a:p>
        </p:txBody>
      </p:sp>
      <p:sp>
        <p:nvSpPr>
          <p:cNvPr id="16" name="p03-b-5">
            <a:extLst xmlns:a="http://schemas.openxmlformats.org/drawingml/2006/main">
              <a:ext uri="{FF2B5EF4-FFF2-40B4-BE49-F238E27FC236}">
                <a16:creationId xmlns:a16="http://schemas.microsoft.com/office/drawing/2014/main" id="{AC450CF2-5CBE-4DF8-8831-1A46BFB0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028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p03-g-5">
            <a:extLst xmlns:a="http://schemas.openxmlformats.org/drawingml/2006/main">
              <a:ext uri="{FF2B5EF4-FFF2-40B4-BE49-F238E27FC236}">
                <a16:creationId xmlns:a16="http://schemas.microsoft.com/office/drawing/2014/main" id="{1FBECE58-2AF3-415F-A4C3-32A53633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71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 10 项门条件自查并更新伦理</a:t>
            </a:r>
          </a:p>
        </p:txBody>
      </p:sp>
      <p:sp>
        <p:nvSpPr>
          <p:cNvPr id="18" name="p03-separator">
            <a:extLst xmlns:a="http://schemas.openxmlformats.org/drawingml/2006/main">
              <a:ext uri="{FF2B5EF4-FFF2-40B4-BE49-F238E27FC236}">
                <a16:creationId xmlns:a16="http://schemas.microsoft.com/office/drawing/2014/main" id="{FAE759D5-478A-4854-A905-3CF62854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2762250"/>
            <a:ext cx="344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03-output-title">
            <a:extLst xmlns:a="http://schemas.openxmlformats.org/drawingml/2006/main">
              <a:ext uri="{FF2B5EF4-FFF2-40B4-BE49-F238E27FC236}">
                <a16:creationId xmlns:a16="http://schemas.microsoft.com/office/drawing/2014/main" id="{B3D47DF6-576C-493E-A794-FDE71B88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066800"/>
            <a:ext cx="2990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课堂产出</a:t>
            </a:r>
          </a:p>
        </p:txBody>
      </p:sp>
      <p:sp>
        <p:nvSpPr>
          <p:cNvPr id="20" name="p03-output">
            <a:extLst xmlns:a="http://schemas.openxmlformats.org/drawingml/2006/main">
              <a:ext uri="{FF2B5EF4-FFF2-40B4-BE49-F238E27FC236}">
                <a16:creationId xmlns:a16="http://schemas.microsoft.com/office/drawing/2014/main" id="{1BF29DBD-05CB-4041-8F03-81B233DE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52600"/>
            <a:ext cx="3276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evaluation-report.md 初版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baseline + 结果映射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失败审计 + 人工审核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伦理说明三条更新</a:t>
            </a:r>
          </a:p>
        </p:txBody>
      </p:sp>
      <p:sp>
        <p:nvSpPr>
          <p:cNvPr id="21" name="p03-minimum">
            <a:extLst xmlns:a="http://schemas.openxmlformats.org/drawingml/2006/main">
              <a:ext uri="{FF2B5EF4-FFF2-40B4-BE49-F238E27FC236}">
                <a16:creationId xmlns:a16="http://schemas.microsoft.com/office/drawing/2014/main" id="{B32198E6-BF51-48B0-94E9-0FD3BBE4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48150"/>
            <a:ext cx="32766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35 分钟开始个人补全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课后提交验证门材料包</a:t>
            </a:r>
          </a:p>
        </p:txBody>
      </p:sp>
      <p:sp>
        <p:nvSpPr>
          <p:cNvPr id="22" name="p03-bottom">
            <a:extLst xmlns:a="http://schemas.openxmlformats.org/drawingml/2006/main">
              <a:ext uri="{FF2B5EF4-FFF2-40B4-BE49-F238E27FC236}">
                <a16:creationId xmlns:a16="http://schemas.microsoft.com/office/drawing/2014/main" id="{6385F2FE-D8B1-4793-8229-D7679518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314950"/>
            <a:ext cx="883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本课是验证门：检查当前项目版本，不重复制作汇报文档。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评价回答实际影响，功能清单只说明能做什么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prediction">
            <a:extLst xmlns:a="http://schemas.openxmlformats.org/drawingml/2006/main">
              <a:ext uri="{FF2B5EF4-FFF2-40B4-BE49-F238E27FC236}">
                <a16:creationId xmlns:a16="http://schemas.microsoft.com/office/drawing/2014/main" id="{C67761C8-26B9-490A-9740-023586A1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3524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功能清单｜不合格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能读取、生成、标注、写入</a:t>
            </a:r>
          </a:p>
        </p:txBody>
      </p:sp>
      <p:sp>
        <p:nvSpPr>
          <p:cNvPr id="7" name="p04-vs">
            <a:extLst xmlns:a="http://schemas.openxmlformats.org/drawingml/2006/main">
              <a:ext uri="{FF2B5EF4-FFF2-40B4-BE49-F238E27FC236}">
                <a16:creationId xmlns:a16="http://schemas.microsoft.com/office/drawing/2014/main" id="{CAA53DAC-51D9-4DD7-A651-AFE1224C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3144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不能回答改善</a:t>
            </a:r>
          </a:p>
        </p:txBody>
      </p:sp>
      <p:sp>
        <p:nvSpPr>
          <p:cNvPr id="8" name="p04-mechanism">
            <a:extLst xmlns:a="http://schemas.openxmlformats.org/drawingml/2006/main">
              <a:ext uri="{FF2B5EF4-FFF2-40B4-BE49-F238E27FC236}">
                <a16:creationId xmlns:a16="http://schemas.microsoft.com/office/drawing/2014/main" id="{8190F934-831D-4054-9793-9B10465F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066800"/>
            <a:ext cx="45148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实际影响｜合格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相比 baseline，遗漏率变化且保留反例</a:t>
            </a:r>
          </a:p>
        </p:txBody>
      </p:sp>
      <p:sp>
        <p:nvSpPr>
          <p:cNvPr id="9" name="p04-chain-1">
            <a:extLst xmlns:a="http://schemas.openxmlformats.org/drawingml/2006/main">
              <a:ext uri="{FF2B5EF4-FFF2-40B4-BE49-F238E27FC236}">
                <a16:creationId xmlns:a16="http://schemas.microsoft.com/office/drawing/2014/main" id="{AADCA935-A870-475D-B7DB-EB7C00B0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95550" y="28670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4-chain-2">
            <a:extLst xmlns:a="http://schemas.openxmlformats.org/drawingml/2006/main">
              <a:ext uri="{FF2B5EF4-FFF2-40B4-BE49-F238E27FC236}">
                <a16:creationId xmlns:a16="http://schemas.microsoft.com/office/drawing/2014/main" id="{23D919C7-9DD6-45CB-A2AE-266EC5B6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86450" y="28670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4-chain-node-0">
            <a:extLst xmlns:a="http://schemas.openxmlformats.org/drawingml/2006/main">
              <a:ext uri="{FF2B5EF4-FFF2-40B4-BE49-F238E27FC236}">
                <a16:creationId xmlns:a16="http://schemas.microsoft.com/office/drawing/2014/main" id="{BBB3C465-2F5E-437E-B13E-A4905F09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自由摘要</a:t>
            </a:r>
          </a:p>
        </p:txBody>
      </p:sp>
      <p:sp>
        <p:nvSpPr>
          <p:cNvPr id="12" name="p04-chain-node-1">
            <a:extLst xmlns:a="http://schemas.openxmlformats.org/drawingml/2006/main">
              <a:ext uri="{FF2B5EF4-FFF2-40B4-BE49-F238E27FC236}">
                <a16:creationId xmlns:a16="http://schemas.microsoft.com/office/drawing/2014/main" id="{0E4FA7D0-1A91-4BED-9E5D-31F475B3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指标变化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0.31 → 0.18</a:t>
            </a:r>
          </a:p>
        </p:txBody>
      </p:sp>
      <p:sp>
        <p:nvSpPr>
          <p:cNvPr id="13" name="p04-chain-node-2">
            <a:extLst xmlns:a="http://schemas.openxmlformats.org/drawingml/2006/main">
              <a:ext uri="{FF2B5EF4-FFF2-40B4-BE49-F238E27FC236}">
                <a16:creationId xmlns:a16="http://schemas.microsoft.com/office/drawing/2014/main" id="{DF99B12A-DB62-48B4-BB2A-B5F3737E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判断与边界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 篇反而更差</a:t>
            </a:r>
          </a:p>
        </p:txBody>
      </p:sp>
      <p:sp>
        <p:nvSpPr>
          <p:cNvPr id="14" name="p04-e-label-0">
            <a:extLst xmlns:a="http://schemas.openxmlformats.org/drawingml/2006/main">
              <a:ext uri="{FF2B5EF4-FFF2-40B4-BE49-F238E27FC236}">
                <a16:creationId xmlns:a16="http://schemas.microsoft.com/office/drawing/2014/main" id="{F3DDAA3A-81E9-4BC1-8EB7-694C9CD3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对象</a:t>
            </a:r>
          </a:p>
        </p:txBody>
      </p:sp>
      <p:sp>
        <p:nvSpPr>
          <p:cNvPr id="15" name="p04-e-detail-0">
            <a:extLst xmlns:a="http://schemas.openxmlformats.org/drawingml/2006/main">
              <a:ext uri="{FF2B5EF4-FFF2-40B4-BE49-F238E27FC236}">
                <a16:creationId xmlns:a16="http://schemas.microsoft.com/office/drawing/2014/main" id="{CC48DD47-E89D-44F7-B83E-E6F73F26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科研动作</a:t>
            </a:r>
          </a:p>
        </p:txBody>
      </p:sp>
      <p:sp>
        <p:nvSpPr>
          <p:cNvPr id="16" name="p04-e-label-1">
            <a:extLst xmlns:a="http://schemas.openxmlformats.org/drawingml/2006/main">
              <a:ext uri="{FF2B5EF4-FFF2-40B4-BE49-F238E27FC236}">
                <a16:creationId xmlns:a16="http://schemas.microsoft.com/office/drawing/2014/main" id="{93B91202-ABD3-4679-AD9A-374B1ABF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17" name="p04-e-detail-1">
            <a:extLst xmlns:a="http://schemas.openxmlformats.org/drawingml/2006/main">
              <a:ext uri="{FF2B5EF4-FFF2-40B4-BE49-F238E27FC236}">
                <a16:creationId xmlns:a16="http://schemas.microsoft.com/office/drawing/2014/main" id="{23E99FB8-4391-41BA-A586-BB368BBA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18" name="p04-e-label-2">
            <a:extLst xmlns:a="http://schemas.openxmlformats.org/drawingml/2006/main">
              <a:ext uri="{FF2B5EF4-FFF2-40B4-BE49-F238E27FC236}">
                <a16:creationId xmlns:a16="http://schemas.microsoft.com/office/drawing/2014/main" id="{4F9FCD2B-8A72-4728-A0BD-D12F9F53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变化</a:t>
            </a:r>
          </a:p>
        </p:txBody>
      </p:sp>
      <p:sp>
        <p:nvSpPr>
          <p:cNvPr id="19" name="p04-e-detail-2">
            <a:extLst xmlns:a="http://schemas.openxmlformats.org/drawingml/2006/main">
              <a:ext uri="{FF2B5EF4-FFF2-40B4-BE49-F238E27FC236}">
                <a16:creationId xmlns:a16="http://schemas.microsoft.com/office/drawing/2014/main" id="{E924B18D-DB4F-4A8E-A168-81A82BCC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指标 / 成本</a:t>
            </a:r>
          </a:p>
        </p:txBody>
      </p:sp>
      <p:sp>
        <p:nvSpPr>
          <p:cNvPr id="20" name="p04-e-label-3">
            <a:extLst xmlns:a="http://schemas.openxmlformats.org/drawingml/2006/main">
              <a:ext uri="{FF2B5EF4-FFF2-40B4-BE49-F238E27FC236}">
                <a16:creationId xmlns:a16="http://schemas.microsoft.com/office/drawing/2014/main" id="{34E80374-E6ED-4805-94F7-790775C7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21" name="p04-e-detail-3">
            <a:extLst xmlns:a="http://schemas.openxmlformats.org/drawingml/2006/main">
              <a:ext uri="{FF2B5EF4-FFF2-40B4-BE49-F238E27FC236}">
                <a16:creationId xmlns:a16="http://schemas.microsoft.com/office/drawing/2014/main" id="{CEA41BB2-3172-4D05-B23E-EB287316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负向结果</a:t>
            </a:r>
          </a:p>
        </p:txBody>
      </p:sp>
      <p:sp>
        <p:nvSpPr>
          <p:cNvPr id="22" name="p04-errors">
            <a:extLst xmlns:a="http://schemas.openxmlformats.org/drawingml/2006/main">
              <a:ext uri="{FF2B5EF4-FFF2-40B4-BE49-F238E27FC236}">
                <a16:creationId xmlns:a16="http://schemas.microsoft.com/office/drawing/2014/main" id="{A42C9100-C34C-4FCB-B7D1-1FD1D6FB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952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Checkpoint 3 条件 8：评价报告说明实际影响，而不是只描述功能。</a:t>
            </a:r>
          </a:p>
        </p:txBody>
      </p:sp>
      <p:sp>
        <p:nvSpPr>
          <p:cNvPr id="23" name="fiction-label-4">
            <a:extLst xmlns:a="http://schemas.openxmlformats.org/drawingml/2006/main">
              <a:ext uri="{FF2B5EF4-FFF2-40B4-BE49-F238E27FC236}">
                <a16:creationId xmlns:a16="http://schemas.microsoft.com/office/drawing/2014/main" id="{57E7CD6B-F3A1-4380-B040-BF76743BA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742950"/>
            <a:ext cx="4305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</a:rPr>
              <a:t>课程虚构数值｜非实证结果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评价维度由科研问题决定，不是全选套餐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line-left">
            <a:extLst xmlns:a="http://schemas.openxmlformats.org/drawingml/2006/main">
              <a:ext uri="{FF2B5EF4-FFF2-40B4-BE49-F238E27FC236}">
                <a16:creationId xmlns:a16="http://schemas.microsoft.com/office/drawing/2014/main" id="{0DD1B5E0-E682-46F7-A521-95A0528E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121404">
            <a:off x="2633046" y="2652713"/>
            <a:ext cx="349690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05-line-mid">
            <a:extLst xmlns:a="http://schemas.openxmlformats.org/drawingml/2006/main">
              <a:ext uri="{FF2B5EF4-FFF2-40B4-BE49-F238E27FC236}">
                <a16:creationId xmlns:a16="http://schemas.microsoft.com/office/drawing/2014/main" id="{ED160058-FA6B-40CA-BA2E-65EEC790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753100" y="2652713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5-line-right">
            <a:extLst xmlns:a="http://schemas.openxmlformats.org/drawingml/2006/main">
              <a:ext uri="{FF2B5EF4-FFF2-40B4-BE49-F238E27FC236}">
                <a16:creationId xmlns:a16="http://schemas.microsoft.com/office/drawing/2014/main" id="{BCE378CE-5B82-445A-9588-D48C9FD4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78596">
            <a:off x="6062046" y="2652713"/>
            <a:ext cx="349690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5-main">
            <a:extLst xmlns:a="http://schemas.openxmlformats.org/drawingml/2006/main">
              <a:ext uri="{FF2B5EF4-FFF2-40B4-BE49-F238E27FC236}">
                <a16:creationId xmlns:a16="http://schemas.microsoft.com/office/drawing/2014/main" id="{A1820B40-0FDE-4874-91C0-EB7F0A3C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066800"/>
            <a:ext cx="5486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正确性与可追溯性 + 相对 baseline 改善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输出是否正确？能否追溯证据？主指标差多少？</a:t>
            </a:r>
          </a:p>
        </p:txBody>
      </p:sp>
      <p:sp>
        <p:nvSpPr>
          <p:cNvPr id="10" name="p05-alt-0">
            <a:extLst xmlns:a="http://schemas.openxmlformats.org/drawingml/2006/main">
              <a:ext uri="{FF2B5EF4-FFF2-40B4-BE49-F238E27FC236}">
                <a16:creationId xmlns:a16="http://schemas.microsoft.com/office/drawing/2014/main" id="{797ACF48-5864-4C01-BFD6-36603501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时间或成本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完成同一动作的变化</a:t>
            </a:r>
          </a:p>
        </p:txBody>
      </p:sp>
      <p:sp>
        <p:nvSpPr>
          <p:cNvPr id="11" name="p05-alt-1">
            <a:extLst xmlns:a="http://schemas.openxmlformats.org/drawingml/2006/main">
              <a:ext uri="{FF2B5EF4-FFF2-40B4-BE49-F238E27FC236}">
                <a16:creationId xmlns:a16="http://schemas.microsoft.com/office/drawing/2014/main" id="{2E24D3E3-CA90-4535-9E33-BCB071B5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失败率 + 权限风险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失败、无效、越权比例</a:t>
            </a:r>
          </a:p>
        </p:txBody>
      </p:sp>
      <p:sp>
        <p:nvSpPr>
          <p:cNvPr id="12" name="p05-alt-2">
            <a:extLst xmlns:a="http://schemas.openxmlformats.org/drawingml/2006/main">
              <a:ext uri="{FF2B5EF4-FFF2-40B4-BE49-F238E27FC236}">
                <a16:creationId xmlns:a16="http://schemas.microsoft.com/office/drawing/2014/main" id="{F85333A9-5640-464B-B277-06FF5CAF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人工修订量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达到可用需改多少</a:t>
            </a:r>
          </a:p>
        </p:txBody>
      </p:sp>
      <p:sp>
        <p:nvSpPr>
          <p:cNvPr id="13" name="p05-definition">
            <a:extLst xmlns:a="http://schemas.openxmlformats.org/drawingml/2006/main">
              <a:ext uri="{FF2B5EF4-FFF2-40B4-BE49-F238E27FC236}">
                <a16:creationId xmlns:a16="http://schemas.microsoft.com/office/drawing/2014/main" id="{26D0B2DD-D456-4239-BC53-53BF79FB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29100"/>
            <a:ext cx="8839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至少选择与项目相关的若干项；第 12 课任务契约的成功标准决定测什么。</a:t>
            </a:r>
          </a:p>
        </p:txBody>
      </p:sp>
      <p:sp>
        <p:nvSpPr>
          <p:cNvPr id="14" name="p05-eliminate">
            <a:extLst xmlns:a="http://schemas.openxmlformats.org/drawingml/2006/main">
              <a:ext uri="{FF2B5EF4-FFF2-40B4-BE49-F238E27FC236}">
                <a16:creationId xmlns:a16="http://schemas.microsoft.com/office/drawing/2014/main" id="{E9D8A878-E561-42D9-95B5-6CF02BD4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10629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贯穿案例选正确性/可追溯性与 baseline 改善；时间成本不是当前研究问题。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可重复评价需要固定输入、协议、对照与重复运行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label-0">
            <a:extLst xmlns:a="http://schemas.openxmlformats.org/drawingml/2006/main">
              <a:ext uri="{FF2B5EF4-FFF2-40B4-BE49-F238E27FC236}">
                <a16:creationId xmlns:a16="http://schemas.microsoft.com/office/drawing/2014/main" id="{4DA5BF2D-718C-409A-B220-79B4940E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固定输入</a:t>
            </a:r>
          </a:p>
        </p:txBody>
      </p:sp>
      <p:sp>
        <p:nvSpPr>
          <p:cNvPr id="7" name="p06-type-0">
            <a:extLst xmlns:a="http://schemas.openxmlformats.org/drawingml/2006/main">
              <a:ext uri="{FF2B5EF4-FFF2-40B4-BE49-F238E27FC236}">
                <a16:creationId xmlns:a16="http://schemas.microsoft.com/office/drawing/2014/main" id="{39AABC17-9EEE-48FB-8DCA-2ACDC468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版本 + 来源｜不是随手挑样本</a:t>
            </a:r>
          </a:p>
        </p:txBody>
      </p:sp>
      <p:sp>
        <p:nvSpPr>
          <p:cNvPr id="8" name="p06-label-1">
            <a:extLst xmlns:a="http://schemas.openxmlformats.org/drawingml/2006/main">
              <a:ext uri="{FF2B5EF4-FFF2-40B4-BE49-F238E27FC236}">
                <a16:creationId xmlns:a16="http://schemas.microsoft.com/office/drawing/2014/main" id="{9B575EAA-1EB5-4085-8267-362EED6D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固定协议</a:t>
            </a:r>
          </a:p>
        </p:txBody>
      </p:sp>
      <p:sp>
        <p:nvSpPr>
          <p:cNvPr id="9" name="p06-type-1">
            <a:extLst xmlns:a="http://schemas.openxmlformats.org/drawingml/2006/main">
              <a:ext uri="{FF2B5EF4-FFF2-40B4-BE49-F238E27FC236}">
                <a16:creationId xmlns:a16="http://schemas.microsoft.com/office/drawing/2014/main" id="{68458D5B-53C2-4226-804A-430F238F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指标 + rubric｜运行中不得改</a:t>
            </a:r>
          </a:p>
        </p:txBody>
      </p:sp>
      <p:sp>
        <p:nvSpPr>
          <p:cNvPr id="10" name="p06-label-2">
            <a:extLst xmlns:a="http://schemas.openxmlformats.org/drawingml/2006/main">
              <a:ext uri="{FF2B5EF4-FFF2-40B4-BE49-F238E27FC236}">
                <a16:creationId xmlns:a16="http://schemas.microsoft.com/office/drawing/2014/main" id="{D2F9B52A-C929-4A57-80BC-4717474A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11" name="p06-type-2">
            <a:extLst xmlns:a="http://schemas.openxmlformats.org/drawingml/2006/main">
              <a:ext uri="{FF2B5EF4-FFF2-40B4-BE49-F238E27FC236}">
                <a16:creationId xmlns:a16="http://schemas.microsoft.com/office/drawing/2014/main" id="{A75D245C-F0BD-46BB-B631-C1344DD7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无工作流 / 弱工作流 / 第 9 课基线</a:t>
            </a:r>
          </a:p>
        </p:txBody>
      </p:sp>
      <p:sp>
        <p:nvSpPr>
          <p:cNvPr id="12" name="p06-label-3">
            <a:extLst xmlns:a="http://schemas.openxmlformats.org/drawingml/2006/main">
              <a:ext uri="{FF2B5EF4-FFF2-40B4-BE49-F238E27FC236}">
                <a16:creationId xmlns:a16="http://schemas.microsoft.com/office/drawing/2014/main" id="{F507D663-5753-4FB3-9A8E-888A60EE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相称评价</a:t>
            </a:r>
          </a:p>
        </p:txBody>
      </p:sp>
      <p:sp>
        <p:nvSpPr>
          <p:cNvPr id="13" name="p06-type-3">
            <a:extLst xmlns:a="http://schemas.openxmlformats.org/drawingml/2006/main">
              <a:ext uri="{FF2B5EF4-FFF2-40B4-BE49-F238E27FC236}">
                <a16:creationId xmlns:a16="http://schemas.microsoft.com/office/drawing/2014/main" id="{1AB5DEF4-C166-440A-BD69-B92B0D05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多种子 / 独立标注 / 等价依据</a:t>
            </a:r>
          </a:p>
        </p:txBody>
      </p:sp>
      <p:sp>
        <p:nvSpPr>
          <p:cNvPr id="14" name="p06-record-title">
            <a:extLst xmlns:a="http://schemas.openxmlformats.org/drawingml/2006/main">
              <a:ext uri="{FF2B5EF4-FFF2-40B4-BE49-F238E27FC236}">
                <a16:creationId xmlns:a16="http://schemas.microsoft.com/office/drawing/2014/main" id="{04D2337F-7919-4EB0-A8AD-EAF4DBAF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9080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贯穿案例：让另一位检查者得到可比结果</a:t>
            </a:r>
          </a:p>
        </p:txBody>
      </p:sp>
      <p:sp>
        <p:nvSpPr>
          <p:cNvPr id="15" name="p06-field-label-0">
            <a:extLst xmlns:a="http://schemas.openxmlformats.org/drawingml/2006/main">
              <a:ext uri="{FF2B5EF4-FFF2-40B4-BE49-F238E27FC236}">
                <a16:creationId xmlns:a16="http://schemas.microsoft.com/office/drawing/2014/main" id="{A5C85025-1E26-4629-BE59-CC06899C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6" name="p06-field-detail-0">
            <a:extLst xmlns:a="http://schemas.openxmlformats.org/drawingml/2006/main">
              <a:ext uri="{FF2B5EF4-FFF2-40B4-BE49-F238E27FC236}">
                <a16:creationId xmlns:a16="http://schemas.microsoft.com/office/drawing/2014/main" id="{87A65883-3699-497F-9C2F-953361EA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20 篇 ACL 论文</a:t>
            </a:r>
          </a:p>
        </p:txBody>
      </p:sp>
      <p:sp>
        <p:nvSpPr>
          <p:cNvPr id="17" name="p06-field-label-1">
            <a:extLst xmlns:a="http://schemas.openxmlformats.org/drawingml/2006/main">
              <a:ext uri="{FF2B5EF4-FFF2-40B4-BE49-F238E27FC236}">
                <a16:creationId xmlns:a16="http://schemas.microsoft.com/office/drawing/2014/main" id="{E8E962C3-E940-4679-8AE9-0D8A188B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协议</a:t>
            </a:r>
          </a:p>
        </p:txBody>
      </p:sp>
      <p:sp>
        <p:nvSpPr>
          <p:cNvPr id="18" name="p06-field-detail-1">
            <a:extLst xmlns:a="http://schemas.openxmlformats.org/drawingml/2006/main">
              <a:ext uri="{FF2B5EF4-FFF2-40B4-BE49-F238E27FC236}">
                <a16:creationId xmlns:a16="http://schemas.microsoft.com/office/drawing/2014/main" id="{D456CCC2-6839-4EA5-8D33-07644CA6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rubric v1.2</a:t>
            </a:r>
          </a:p>
        </p:txBody>
      </p:sp>
      <p:sp>
        <p:nvSpPr>
          <p:cNvPr id="19" name="p06-field-label-2">
            <a:extLst xmlns:a="http://schemas.openxmlformats.org/drawingml/2006/main">
              <a:ext uri="{FF2B5EF4-FFF2-40B4-BE49-F238E27FC236}">
                <a16:creationId xmlns:a16="http://schemas.microsoft.com/office/drawing/2014/main" id="{EC2B9126-56F9-4523-9452-F3008353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标注</a:t>
            </a:r>
          </a:p>
        </p:txBody>
      </p:sp>
      <p:sp>
        <p:nvSpPr>
          <p:cNvPr id="20" name="p06-field-detail-2">
            <a:extLst xmlns:a="http://schemas.openxmlformats.org/drawingml/2006/main">
              <a:ext uri="{FF2B5EF4-FFF2-40B4-BE49-F238E27FC236}">
                <a16:creationId xmlns:a16="http://schemas.microsoft.com/office/drawing/2014/main" id="{62177EBD-91C2-4509-8DE3-68840CB4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双盲 / κ≥0.7</a:t>
            </a:r>
          </a:p>
        </p:txBody>
      </p:sp>
      <p:sp>
        <p:nvSpPr>
          <p:cNvPr id="21" name="p06-field-label-3">
            <a:extLst xmlns:a="http://schemas.openxmlformats.org/drawingml/2006/main">
              <a:ext uri="{FF2B5EF4-FFF2-40B4-BE49-F238E27FC236}">
                <a16:creationId xmlns:a16="http://schemas.microsoft.com/office/drawing/2014/main" id="{8E2A59B6-0F48-4AFB-A0B8-EB56D767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22" name="p06-field-detail-3">
            <a:extLst xmlns:a="http://schemas.openxmlformats.org/drawingml/2006/main">
              <a:ext uri="{FF2B5EF4-FFF2-40B4-BE49-F238E27FC236}">
                <a16:creationId xmlns:a16="http://schemas.microsoft.com/office/drawing/2014/main" id="{A1750493-A112-4E2A-8CB0-5803CAD3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自由摘要</a:t>
            </a:r>
          </a:p>
        </p:txBody>
      </p:sp>
      <p:sp>
        <p:nvSpPr>
          <p:cNvPr id="23" name="p06-field-label-4">
            <a:extLst xmlns:a="http://schemas.openxmlformats.org/drawingml/2006/main">
              <a:ext uri="{FF2B5EF4-FFF2-40B4-BE49-F238E27FC236}">
                <a16:creationId xmlns:a16="http://schemas.microsoft.com/office/drawing/2014/main" id="{F963E2F1-9489-4965-BD24-7DCFA901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</a:t>
            </a:r>
          </a:p>
        </p:txBody>
      </p:sp>
      <p:sp>
        <p:nvSpPr>
          <p:cNvPr id="24" name="p06-field-detail-4">
            <a:extLst xmlns:a="http://schemas.openxmlformats.org/drawingml/2006/main">
              <a:ext uri="{FF2B5EF4-FFF2-40B4-BE49-F238E27FC236}">
                <a16:creationId xmlns:a16="http://schemas.microsoft.com/office/drawing/2014/main" id="{0FC90B24-3365-4225-A9BD-8DFD3629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seeds 100/200/300</a:t>
            </a:r>
          </a:p>
        </p:txBody>
      </p:sp>
      <p:sp>
        <p:nvSpPr>
          <p:cNvPr id="25" name="p06-field-label-5">
            <a:extLst xmlns:a="http://schemas.openxmlformats.org/drawingml/2006/main">
              <a:ext uri="{FF2B5EF4-FFF2-40B4-BE49-F238E27FC236}">
                <a16:creationId xmlns:a16="http://schemas.microsoft.com/office/drawing/2014/main" id="{3FE3378C-1C8E-483C-A710-8D0FCB48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只跑 1 次</a:t>
            </a:r>
          </a:p>
        </p:txBody>
      </p:sp>
      <p:sp>
        <p:nvSpPr>
          <p:cNvPr id="26" name="p06-field-detail-5">
            <a:extLst xmlns:a="http://schemas.openxmlformats.org/drawingml/2006/main">
              <a:ext uri="{FF2B5EF4-FFF2-40B4-BE49-F238E27FC236}">
                <a16:creationId xmlns:a16="http://schemas.microsoft.com/office/drawing/2014/main" id="{5554BC7A-F5CE-4D8B-87CD-8F81A40A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写理由 + 待验证</a:t>
            </a:r>
          </a:p>
        </p:txBody>
      </p:sp>
      <p:sp>
        <p:nvSpPr>
          <p:cNvPr id="27" name="p06-bottom">
            <a:extLst xmlns:a="http://schemas.openxmlformats.org/drawingml/2006/main">
              <a:ext uri="{FF2B5EF4-FFF2-40B4-BE49-F238E27FC236}">
                <a16:creationId xmlns:a16="http://schemas.microsoft.com/office/drawing/2014/main" id="{3D130851-12D7-484A-AA27-21C69F16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1970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单次分数不能直接写成稳定结论；先报告不确定性。</a:t>
            </a:r>
          </a:p>
        </p:txBody>
      </p:sp>
      <p:sp>
        <p:nvSpPr>
          <p:cNvPr id="28" name="fiction-label-6">
            <a:extLst xmlns:a="http://schemas.openxmlformats.org/drawingml/2006/main">
              <a:ext uri="{FF2B5EF4-FFF2-40B4-BE49-F238E27FC236}">
                <a16:creationId xmlns:a16="http://schemas.microsoft.com/office/drawing/2014/main" id="{A3061C3A-5547-4A3F-BD9A-6BB168CD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742950"/>
            <a:ext cx="4305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</a:rPr>
              <a:t>课程虚构集合 / ID｜非真实运行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评价报告必须说明改变了哪个研究判断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a">
            <a:extLst xmlns:a="http://schemas.openxmlformats.org/drawingml/2006/main">
              <a:ext uri="{FF2B5EF4-FFF2-40B4-BE49-F238E27FC236}">
                <a16:creationId xmlns:a16="http://schemas.microsoft.com/office/drawing/2014/main" id="{E1962C74-0CEF-4062-9E10-8798E9E6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66800"/>
            <a:ext cx="4019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评价设置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 + baseline + 指标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样本量 + 重复协议</a:t>
            </a:r>
          </a:p>
        </p:txBody>
      </p:sp>
      <p:sp>
        <p:nvSpPr>
          <p:cNvPr id="7" name="p07-b">
            <a:extLst xmlns:a="http://schemas.openxmlformats.org/drawingml/2006/main">
              <a:ext uri="{FF2B5EF4-FFF2-40B4-BE49-F238E27FC236}">
                <a16:creationId xmlns:a16="http://schemas.microsoft.com/office/drawing/2014/main" id="{6B303354-6DBA-42FE-8587-F8690A07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066800"/>
            <a:ext cx="4019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实际影响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结果差异 + 不确定性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改变/未改变的判断</a:t>
            </a:r>
          </a:p>
        </p:txBody>
      </p:sp>
      <p:sp>
        <p:nvSpPr>
          <p:cNvPr id="8" name="p07-a-risk">
            <a:extLst xmlns:a="http://schemas.openxmlformats.org/drawingml/2006/main">
              <a:ext uri="{FF2B5EF4-FFF2-40B4-BE49-F238E27FC236}">
                <a16:creationId xmlns:a16="http://schemas.microsoft.com/office/drawing/2014/main" id="{ED0A4581-AFEA-4A5D-8AB9-3A27C43B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风险：只列功能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没有对照、没有影响</a:t>
            </a:r>
          </a:p>
        </p:txBody>
      </p:sp>
      <p:sp>
        <p:nvSpPr>
          <p:cNvPr id="9" name="p07-b-risk">
            <a:extLst xmlns:a="http://schemas.openxmlformats.org/drawingml/2006/main">
              <a:ext uri="{FF2B5EF4-FFF2-40B4-BE49-F238E27FC236}">
                <a16:creationId xmlns:a16="http://schemas.microsoft.com/office/drawing/2014/main" id="{2053D111-C3CE-48F9-8796-45D4FAE7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边界：保留 / 修改 / 移除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每个决定写依据</a:t>
            </a:r>
          </a:p>
        </p:txBody>
      </p:sp>
      <p:sp>
        <p:nvSpPr>
          <p:cNvPr id="10" name="p07-compare-title">
            <a:extLst xmlns:a="http://schemas.openxmlformats.org/drawingml/2006/main">
              <a:ext uri="{FF2B5EF4-FFF2-40B4-BE49-F238E27FC236}">
                <a16:creationId xmlns:a16="http://schemas.microsoft.com/office/drawing/2014/main" id="{2C3F46C9-4510-4E2B-B9F0-426B8144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066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合格报告的六项</a:t>
            </a:r>
          </a:p>
        </p:txBody>
      </p:sp>
      <p:sp>
        <p:nvSpPr>
          <p:cNvPr id="11" name="p07-dim-0">
            <a:extLst xmlns:a="http://schemas.openxmlformats.org/drawingml/2006/main">
              <a:ext uri="{FF2B5EF4-FFF2-40B4-BE49-F238E27FC236}">
                <a16:creationId xmlns:a16="http://schemas.microsoft.com/office/drawing/2014/main" id="{5BE68A9C-DEEC-4720-A729-8B3B23FF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6573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评价问题</a:t>
            </a:r>
          </a:p>
        </p:txBody>
      </p:sp>
      <p:sp>
        <p:nvSpPr>
          <p:cNvPr id="12" name="p07-dim-1">
            <a:extLst xmlns:a="http://schemas.openxmlformats.org/drawingml/2006/main">
              <a:ext uri="{FF2B5EF4-FFF2-40B4-BE49-F238E27FC236}">
                <a16:creationId xmlns:a16="http://schemas.microsoft.com/office/drawing/2014/main" id="{C7B80669-2F17-4206-A14E-A25212D9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2410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baseline 与对照</a:t>
            </a:r>
          </a:p>
        </p:txBody>
      </p:sp>
      <p:sp>
        <p:nvSpPr>
          <p:cNvPr id="13" name="p07-dim-2">
            <a:extLst xmlns:a="http://schemas.openxmlformats.org/drawingml/2006/main">
              <a:ext uri="{FF2B5EF4-FFF2-40B4-BE49-F238E27FC236}">
                <a16:creationId xmlns:a16="http://schemas.microsoft.com/office/drawing/2014/main" id="{B71DCA4D-0604-4315-951D-B17A0009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908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指标 / rubric / n</a:t>
            </a:r>
          </a:p>
        </p:txBody>
      </p:sp>
      <p:sp>
        <p:nvSpPr>
          <p:cNvPr id="14" name="p07-dim-3">
            <a:extLst xmlns:a="http://schemas.openxmlformats.org/drawingml/2006/main">
              <a:ext uri="{FF2B5EF4-FFF2-40B4-BE49-F238E27FC236}">
                <a16:creationId xmlns:a16="http://schemas.microsoft.com/office/drawing/2014/main" id="{C133F147-F482-4E6B-8F51-A7BD084B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5760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均值 / 方差 / 差异</a:t>
            </a:r>
          </a:p>
        </p:txBody>
      </p:sp>
      <p:sp>
        <p:nvSpPr>
          <p:cNvPr id="15" name="p07-dim-4">
            <a:extLst xmlns:a="http://schemas.openxmlformats.org/drawingml/2006/main">
              <a:ext uri="{FF2B5EF4-FFF2-40B4-BE49-F238E27FC236}">
                <a16:creationId xmlns:a16="http://schemas.microsoft.com/office/drawing/2014/main" id="{28286AC7-9771-41AE-89DF-3142F34C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3243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实际影响与组件取舍</a:t>
            </a:r>
          </a:p>
        </p:txBody>
      </p:sp>
      <p:sp>
        <p:nvSpPr>
          <p:cNvPr id="16" name="p07-decision">
            <a:extLst xmlns:a="http://schemas.openxmlformats.org/drawingml/2006/main">
              <a:ext uri="{FF2B5EF4-FFF2-40B4-BE49-F238E27FC236}">
                <a16:creationId xmlns:a16="http://schemas.microsoft.com/office/drawing/2014/main" id="{36942D5E-2AE5-4766-AF99-66685D0D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检查句：工作流改善了哪个科研动作？改变了哪个判断？哪些没有变？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结果必须映射为支持、反驳或仍不能判断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h-0">
            <a:extLst xmlns:a="http://schemas.openxmlformats.org/drawingml/2006/main">
              <a:ext uri="{FF2B5EF4-FFF2-40B4-BE49-F238E27FC236}">
                <a16:creationId xmlns:a16="http://schemas.microsoft.com/office/drawing/2014/main" id="{38D4C9D2-0F96-4B93-A4D2-1602E977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43000"/>
            <a:ext cx="1562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结果状态</a:t>
            </a:r>
          </a:p>
        </p:txBody>
      </p:sp>
      <p:sp>
        <p:nvSpPr>
          <p:cNvPr id="7" name="p08-h-1">
            <a:extLst xmlns:a="http://schemas.openxmlformats.org/drawingml/2006/main">
              <a:ext uri="{FF2B5EF4-FFF2-40B4-BE49-F238E27FC236}">
                <a16:creationId xmlns:a16="http://schemas.microsoft.com/office/drawing/2014/main" id="{7F4F3AAA-FEF2-4DE9-B83F-70ACFD3B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430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证据关系</a:t>
            </a:r>
          </a:p>
        </p:txBody>
      </p:sp>
      <p:sp>
        <p:nvSpPr>
          <p:cNvPr id="8" name="p08-h-2">
            <a:extLst xmlns:a="http://schemas.openxmlformats.org/drawingml/2006/main">
              <a:ext uri="{FF2B5EF4-FFF2-40B4-BE49-F238E27FC236}">
                <a16:creationId xmlns:a16="http://schemas.microsoft.com/office/drawing/2014/main" id="{044E0BEE-8EAC-4B47-8C87-AA03C4F4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14300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判断动作</a:t>
            </a:r>
          </a:p>
        </p:txBody>
      </p:sp>
      <p:sp>
        <p:nvSpPr>
          <p:cNvPr id="9" name="p08-h-3">
            <a:extLst xmlns:a="http://schemas.openxmlformats.org/drawingml/2006/main">
              <a:ext uri="{FF2B5EF4-FFF2-40B4-BE49-F238E27FC236}">
                <a16:creationId xmlns:a16="http://schemas.microsoft.com/office/drawing/2014/main" id="{8116D578-A48C-4A50-955C-DA1B551A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1430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</a:t>
            </a:r>
          </a:p>
        </p:txBody>
      </p:sp>
      <p:sp>
        <p:nvSpPr>
          <p:cNvPr id="10" name="p08-h-4">
            <a:extLst xmlns:a="http://schemas.openxmlformats.org/drawingml/2006/main">
              <a:ext uri="{FF2B5EF4-FFF2-40B4-BE49-F238E27FC236}">
                <a16:creationId xmlns:a16="http://schemas.microsoft.com/office/drawing/2014/main" id="{737244F8-6ACC-4316-9D0A-F19274EF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1430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11" name="p08-r0-0">
            <a:extLst xmlns:a="http://schemas.openxmlformats.org/drawingml/2006/main">
              <a:ext uri="{FF2B5EF4-FFF2-40B4-BE49-F238E27FC236}">
                <a16:creationId xmlns:a16="http://schemas.microsoft.com/office/drawing/2014/main" id="{A2CE4909-80ED-4D96-86B4-E8D135A7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支持</a:t>
            </a:r>
          </a:p>
        </p:txBody>
      </p:sp>
      <p:sp>
        <p:nvSpPr>
          <p:cNvPr id="12" name="p08-r0-1">
            <a:extLst xmlns:a="http://schemas.openxmlformats.org/drawingml/2006/main">
              <a:ext uri="{FF2B5EF4-FFF2-40B4-BE49-F238E27FC236}">
                <a16:creationId xmlns:a16="http://schemas.microsoft.com/office/drawing/2014/main" id="{8DFEDC57-FEAE-4D8B-9E29-587FDAA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192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与 H1 一致</a:t>
            </a:r>
          </a:p>
        </p:txBody>
      </p:sp>
      <p:sp>
        <p:nvSpPr>
          <p:cNvPr id="13" name="p08-r0-2">
            <a:extLst xmlns:a="http://schemas.openxmlformats.org/drawingml/2006/main">
              <a:ext uri="{FF2B5EF4-FFF2-40B4-BE49-F238E27FC236}">
                <a16:creationId xmlns:a16="http://schemas.microsoft.com/office/drawing/2014/main" id="{E595DF9D-EEBC-4C1A-9F1D-38DCE7E1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6192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写支持强度</a:t>
            </a:r>
          </a:p>
        </p:txBody>
      </p:sp>
      <p:sp>
        <p:nvSpPr>
          <p:cNvPr id="14" name="p08-r0-3">
            <a:extLst xmlns:a="http://schemas.openxmlformats.org/drawingml/2006/main">
              <a:ext uri="{FF2B5EF4-FFF2-40B4-BE49-F238E27FC236}">
                <a16:creationId xmlns:a16="http://schemas.microsoft.com/office/drawing/2014/main" id="{1C2760EA-DEFE-401B-8168-59284D3E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0.18±.03 &lt; .31±.04</a:t>
            </a:r>
          </a:p>
        </p:txBody>
      </p:sp>
      <p:sp>
        <p:nvSpPr>
          <p:cNvPr id="15" name="p08-r0-4">
            <a:extLst xmlns:a="http://schemas.openxmlformats.org/drawingml/2006/main">
              <a:ext uri="{FF2B5EF4-FFF2-40B4-BE49-F238E27FC236}">
                <a16:creationId xmlns:a16="http://schemas.microsoft.com/office/drawing/2014/main" id="{07DA84FF-A9CF-4458-A06D-0C92D8E3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小样本，非 stable</a:t>
            </a:r>
          </a:p>
        </p:txBody>
      </p:sp>
      <p:sp>
        <p:nvSpPr>
          <p:cNvPr id="16" name="p08-r1-0">
            <a:extLst xmlns:a="http://schemas.openxmlformats.org/drawingml/2006/main">
              <a:ext uri="{FF2B5EF4-FFF2-40B4-BE49-F238E27FC236}">
                <a16:creationId xmlns:a16="http://schemas.microsoft.com/office/drawing/2014/main" id="{DD8DDBAF-F6F5-4979-9F6E-454F8607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098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反驳</a:t>
            </a:r>
          </a:p>
        </p:txBody>
      </p:sp>
      <p:sp>
        <p:nvSpPr>
          <p:cNvPr id="17" name="p08-r1-1">
            <a:extLst xmlns:a="http://schemas.openxmlformats.org/drawingml/2006/main">
              <a:ext uri="{FF2B5EF4-FFF2-40B4-BE49-F238E27FC236}">
                <a16:creationId xmlns:a16="http://schemas.microsoft.com/office/drawing/2014/main" id="{CE67C768-7AD7-498D-9376-AEFB8FC9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6098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与 H1 不一致</a:t>
            </a:r>
          </a:p>
        </p:txBody>
      </p:sp>
      <p:sp>
        <p:nvSpPr>
          <p:cNvPr id="18" name="p08-r1-2">
            <a:extLst xmlns:a="http://schemas.openxmlformats.org/drawingml/2006/main">
              <a:ext uri="{FF2B5EF4-FFF2-40B4-BE49-F238E27FC236}">
                <a16:creationId xmlns:a16="http://schemas.microsoft.com/office/drawing/2014/main" id="{B128B293-4250-4901-8334-25FE8832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098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保留反证</a:t>
            </a:r>
          </a:p>
        </p:txBody>
      </p:sp>
      <p:sp>
        <p:nvSpPr>
          <p:cNvPr id="19" name="p08-r1-3">
            <a:extLst xmlns:a="http://schemas.openxmlformats.org/drawingml/2006/main">
              <a:ext uri="{FF2B5EF4-FFF2-40B4-BE49-F238E27FC236}">
                <a16:creationId xmlns:a16="http://schemas.microsoft.com/office/drawing/2014/main" id="{0A99A40B-10ED-4723-AB49-B3F813BE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图表子集反高</a:t>
            </a:r>
          </a:p>
        </p:txBody>
      </p:sp>
      <p:sp>
        <p:nvSpPr>
          <p:cNvPr id="20" name="p08-r1-4">
            <a:extLst xmlns:a="http://schemas.openxmlformats.org/drawingml/2006/main">
              <a:ext uri="{FF2B5EF4-FFF2-40B4-BE49-F238E27FC236}">
                <a16:creationId xmlns:a16="http://schemas.microsoft.com/office/drawing/2014/main" id="{AE75DFCF-7AC5-481A-85D8-5112E761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098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不得删除</a:t>
            </a:r>
          </a:p>
        </p:txBody>
      </p:sp>
      <p:sp>
        <p:nvSpPr>
          <p:cNvPr id="21" name="p08-r2-0">
            <a:extLst xmlns:a="http://schemas.openxmlformats.org/drawingml/2006/main">
              <a:ext uri="{FF2B5EF4-FFF2-40B4-BE49-F238E27FC236}">
                <a16:creationId xmlns:a16="http://schemas.microsoft.com/office/drawing/2014/main" id="{C9CF3E09-3C2E-4F47-AE05-138414CA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004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仍不能判断</a:t>
            </a:r>
          </a:p>
        </p:txBody>
      </p:sp>
      <p:sp>
        <p:nvSpPr>
          <p:cNvPr id="22" name="p08-r2-1">
            <a:extLst xmlns:a="http://schemas.openxmlformats.org/drawingml/2006/main">
              <a:ext uri="{FF2B5EF4-FFF2-40B4-BE49-F238E27FC236}">
                <a16:creationId xmlns:a16="http://schemas.microsoft.com/office/drawing/2014/main" id="{67893BD4-FBF5-4654-AC9D-A2B5ECED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6004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噪声/混杂未控</a:t>
            </a:r>
          </a:p>
        </p:txBody>
      </p:sp>
      <p:sp>
        <p:nvSpPr>
          <p:cNvPr id="23" name="p08-r2-2">
            <a:extLst xmlns:a="http://schemas.openxmlformats.org/drawingml/2006/main">
              <a:ext uri="{FF2B5EF4-FFF2-40B4-BE49-F238E27FC236}">
                <a16:creationId xmlns:a16="http://schemas.microsoft.com/office/drawing/2014/main" id="{70CFECA6-E7D8-4647-8C3C-2826A0D6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6004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写缺什么证据</a:t>
            </a:r>
          </a:p>
        </p:txBody>
      </p:sp>
      <p:sp>
        <p:nvSpPr>
          <p:cNvPr id="24" name="p08-r2-3">
            <a:extLst xmlns:a="http://schemas.openxmlformats.org/drawingml/2006/main">
              <a:ext uri="{FF2B5EF4-FFF2-40B4-BE49-F238E27FC236}">
                <a16:creationId xmlns:a16="http://schemas.microsoft.com/office/drawing/2014/main" id="{286AC6ED-959A-4E34-8965-75EA6CD0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004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A2 时间控制未跑</a:t>
            </a:r>
          </a:p>
        </p:txBody>
      </p:sp>
      <p:sp>
        <p:nvSpPr>
          <p:cNvPr id="25" name="p08-r2-4">
            <a:extLst xmlns:a="http://schemas.openxmlformats.org/drawingml/2006/main">
              <a:ext uri="{FF2B5EF4-FFF2-40B4-BE49-F238E27FC236}">
                <a16:creationId xmlns:a16="http://schemas.microsoft.com/office/drawing/2014/main" id="{E10482D2-FC89-4354-862A-A9805321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6004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标记待验证</a:t>
            </a:r>
          </a:p>
        </p:txBody>
      </p:sp>
      <p:sp>
        <p:nvSpPr>
          <p:cNvPr id="26" name="p08-bottom">
            <a:extLst xmlns:a="http://schemas.openxmlformats.org/drawingml/2006/main">
              <a:ext uri="{FF2B5EF4-FFF2-40B4-BE49-F238E27FC236}">
                <a16:creationId xmlns:a16="http://schemas.microsoft.com/office/drawing/2014/main" id="{B26AC0EF-2C2B-4744-A07A-D9D26C34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95850"/>
            <a:ext cx="9791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只有单一证据时：写强度、适用边界与缺失，不得标记 stable。</a:t>
            </a:r>
          </a:p>
        </p:txBody>
      </p:sp>
      <p:sp>
        <p:nvSpPr>
          <p:cNvPr id="27" name="fiction-label-8">
            <a:extLst xmlns:a="http://schemas.openxmlformats.org/drawingml/2006/main">
              <a:ext uri="{FF2B5EF4-FFF2-40B4-BE49-F238E27FC236}">
                <a16:creationId xmlns:a16="http://schemas.microsoft.com/office/drawing/2014/main" id="{723A9CCA-392A-4FCE-9451-2AD407CB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742950"/>
            <a:ext cx="4305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</a:rPr>
              <a:t>课程虚构数值｜非实证结果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正向、负向与冲突结果必须在同一记录中呈现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var-title">
            <a:extLst xmlns:a="http://schemas.openxmlformats.org/drawingml/2006/main">
              <a:ext uri="{FF2B5EF4-FFF2-40B4-BE49-F238E27FC236}">
                <a16:creationId xmlns:a16="http://schemas.microsoft.com/office/drawing/2014/main" id="{4A4EB1B0-749B-4738-A3D1-9B0093C7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09650"/>
            <a:ext cx="462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三类结果记录</a:t>
            </a:r>
          </a:p>
        </p:txBody>
      </p:sp>
      <p:sp>
        <p:nvSpPr>
          <p:cNvPr id="7" name="p09-vars-h-0">
            <a:extLst xmlns:a="http://schemas.openxmlformats.org/drawingml/2006/main">
              <a:ext uri="{FF2B5EF4-FFF2-40B4-BE49-F238E27FC236}">
                <a16:creationId xmlns:a16="http://schemas.microsoft.com/office/drawing/2014/main" id="{1ED01082-F944-4A27-A32E-0C1D8A15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类型</a:t>
            </a:r>
          </a:p>
        </p:txBody>
      </p:sp>
      <p:sp>
        <p:nvSpPr>
          <p:cNvPr id="8" name="p09-vars-h-1">
            <a:extLst xmlns:a="http://schemas.openxmlformats.org/drawingml/2006/main">
              <a:ext uri="{FF2B5EF4-FFF2-40B4-BE49-F238E27FC236}">
                <a16:creationId xmlns:a16="http://schemas.microsoft.com/office/drawing/2014/main" id="{05C018E4-3CE3-402F-8C6E-8BA47FD7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562100"/>
            <a:ext cx="3219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必须写什么</a:t>
            </a:r>
          </a:p>
        </p:txBody>
      </p:sp>
      <p:sp>
        <p:nvSpPr>
          <p:cNvPr id="9" name="p09-vars-r0-0">
            <a:extLst xmlns:a="http://schemas.openxmlformats.org/drawingml/2006/main">
              <a:ext uri="{FF2B5EF4-FFF2-40B4-BE49-F238E27FC236}">
                <a16:creationId xmlns:a16="http://schemas.microsoft.com/office/drawing/2014/main" id="{E7A03DD1-DE3F-4D21-8598-12C4BF40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正向</a:t>
            </a:r>
          </a:p>
        </p:txBody>
      </p:sp>
      <p:sp>
        <p:nvSpPr>
          <p:cNvPr id="10" name="p09-vars-r0-1">
            <a:extLst xmlns:a="http://schemas.openxmlformats.org/drawingml/2006/main">
              <a:ext uri="{FF2B5EF4-FFF2-40B4-BE49-F238E27FC236}">
                <a16:creationId xmlns:a16="http://schemas.microsoft.com/office/drawing/2014/main" id="{288A2EAF-FD75-4C67-A646-B3139FC3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00025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改善指标 / 降低成本 + 适用边界</a:t>
            </a:r>
          </a:p>
        </p:txBody>
      </p:sp>
      <p:sp>
        <p:nvSpPr>
          <p:cNvPr id="11" name="p09-vars-r1-0">
            <a:extLst xmlns:a="http://schemas.openxmlformats.org/drawingml/2006/main">
              <a:ext uri="{FF2B5EF4-FFF2-40B4-BE49-F238E27FC236}">
                <a16:creationId xmlns:a16="http://schemas.microsoft.com/office/drawing/2014/main" id="{224376EF-91F4-4971-B327-8219E2FC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负向</a:t>
            </a:r>
          </a:p>
        </p:txBody>
      </p:sp>
      <p:sp>
        <p:nvSpPr>
          <p:cNvPr id="12" name="p09-vars-r1-1">
            <a:extLst xmlns:a="http://schemas.openxmlformats.org/drawingml/2006/main">
              <a:ext uri="{FF2B5EF4-FFF2-40B4-BE49-F238E27FC236}">
                <a16:creationId xmlns:a16="http://schemas.microsoft.com/office/drawing/2014/main" id="{51915736-A0AB-4F13-8F92-27AF06A6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59080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未改善 / 新错误 / 越权 + 根因</a:t>
            </a:r>
          </a:p>
        </p:txBody>
      </p:sp>
      <p:sp>
        <p:nvSpPr>
          <p:cNvPr id="13" name="p09-vars-r2-0">
            <a:extLst xmlns:a="http://schemas.openxmlformats.org/drawingml/2006/main">
              <a:ext uri="{FF2B5EF4-FFF2-40B4-BE49-F238E27FC236}">
                <a16:creationId xmlns:a16="http://schemas.microsoft.com/office/drawing/2014/main" id="{03A7A6B0-33CA-45FD-B52F-74CBC576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813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14" name="p09-vars-r2-1">
            <a:extLst xmlns:a="http://schemas.openxmlformats.org/drawingml/2006/main">
              <a:ext uri="{FF2B5EF4-FFF2-40B4-BE49-F238E27FC236}">
                <a16:creationId xmlns:a16="http://schemas.microsoft.com/office/drawing/2014/main" id="{64F620BA-1778-4FC5-AF71-B6D6F357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18135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子集/种子方向相反 + 取舍理由</a:t>
            </a:r>
          </a:p>
        </p:txBody>
      </p:sp>
      <p:sp>
        <p:nvSpPr>
          <p:cNvPr id="15" name="p09-vars-r3-0">
            <a:extLst xmlns:a="http://schemas.openxmlformats.org/drawingml/2006/main">
              <a:ext uri="{FF2B5EF4-FFF2-40B4-BE49-F238E27FC236}">
                <a16:creationId xmlns:a16="http://schemas.microsoft.com/office/drawing/2014/main" id="{473B6B51-8CED-4B80-AF70-27384E7A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红线</a:t>
            </a:r>
          </a:p>
        </p:txBody>
      </p:sp>
      <p:sp>
        <p:nvSpPr>
          <p:cNvPr id="16" name="p09-vars-r3-1">
            <a:extLst xmlns:a="http://schemas.openxmlformats.org/drawingml/2006/main">
              <a:ext uri="{FF2B5EF4-FFF2-40B4-BE49-F238E27FC236}">
                <a16:creationId xmlns:a16="http://schemas.microsoft.com/office/drawing/2014/main" id="{82E5DCBD-F903-4109-9E22-139A9AA5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7190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不得删除失败或事后改变评价口径</a:t>
            </a:r>
          </a:p>
        </p:txBody>
      </p:sp>
      <p:sp>
        <p:nvSpPr>
          <p:cNvPr id="17" name="p09-spec-title">
            <a:extLst xmlns:a="http://schemas.openxmlformats.org/drawingml/2006/main">
              <a:ext uri="{FF2B5EF4-FFF2-40B4-BE49-F238E27FC236}">
                <a16:creationId xmlns:a16="http://schemas.microsoft.com/office/drawing/2014/main" id="{64AE2602-784B-4FBA-B1B1-7F6D9362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0096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记录八项</a:t>
            </a:r>
          </a:p>
        </p:txBody>
      </p:sp>
      <p:sp>
        <p:nvSpPr>
          <p:cNvPr id="18" name="p09-n-0">
            <a:extLst xmlns:a="http://schemas.openxmlformats.org/drawingml/2006/main">
              <a:ext uri="{FF2B5EF4-FFF2-40B4-BE49-F238E27FC236}">
                <a16:creationId xmlns:a16="http://schemas.microsoft.com/office/drawing/2014/main" id="{DA010CC0-836C-45FF-8471-6C70EB5F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81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p09-s-0">
            <a:extLst xmlns:a="http://schemas.openxmlformats.org/drawingml/2006/main">
              <a:ext uri="{FF2B5EF4-FFF2-40B4-BE49-F238E27FC236}">
                <a16:creationId xmlns:a16="http://schemas.microsoft.com/office/drawing/2014/main" id="{3C6A8891-C036-4EB3-93A6-951AE773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5811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 ID</a:t>
            </a:r>
          </a:p>
        </p:txBody>
      </p:sp>
      <p:sp>
        <p:nvSpPr>
          <p:cNvPr id="20" name="p09-n-1">
            <a:extLst xmlns:a="http://schemas.openxmlformats.org/drawingml/2006/main">
              <a:ext uri="{FF2B5EF4-FFF2-40B4-BE49-F238E27FC236}">
                <a16:creationId xmlns:a16="http://schemas.microsoft.com/office/drawing/2014/main" id="{128B52A7-42A9-4FCF-A6F1-C47F04DA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" name="p09-s-1">
            <a:extLst xmlns:a="http://schemas.openxmlformats.org/drawingml/2006/main">
              <a:ext uri="{FF2B5EF4-FFF2-40B4-BE49-F238E27FC236}">
                <a16:creationId xmlns:a16="http://schemas.microsoft.com/office/drawing/2014/main" id="{B6772FE8-923E-48BC-8C1A-D4EA2FD2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5811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指标与子集</a:t>
            </a:r>
          </a:p>
        </p:txBody>
      </p:sp>
      <p:sp>
        <p:nvSpPr>
          <p:cNvPr id="22" name="p09-n-2">
            <a:extLst xmlns:a="http://schemas.openxmlformats.org/drawingml/2006/main">
              <a:ext uri="{FF2B5EF4-FFF2-40B4-BE49-F238E27FC236}">
                <a16:creationId xmlns:a16="http://schemas.microsoft.com/office/drawing/2014/main" id="{51CCE020-D453-4108-9A1B-4A0EFC1D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p09-s-2">
            <a:extLst xmlns:a="http://schemas.openxmlformats.org/drawingml/2006/main">
              <a:ext uri="{FF2B5EF4-FFF2-40B4-BE49-F238E27FC236}">
                <a16:creationId xmlns:a16="http://schemas.microsoft.com/office/drawing/2014/main" id="{AD107FE3-98BD-416A-8D79-73688717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669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期望 / 实际</a:t>
            </a:r>
          </a:p>
        </p:txBody>
      </p:sp>
      <p:sp>
        <p:nvSpPr>
          <p:cNvPr id="24" name="p09-n-3">
            <a:extLst xmlns:a="http://schemas.openxmlformats.org/drawingml/2006/main">
              <a:ext uri="{FF2B5EF4-FFF2-40B4-BE49-F238E27FC236}">
                <a16:creationId xmlns:a16="http://schemas.microsoft.com/office/drawing/2014/main" id="{FCB4217E-4660-4C0E-9570-1D16460C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p09-s-3">
            <a:extLst xmlns:a="http://schemas.openxmlformats.org/drawingml/2006/main">
              <a:ext uri="{FF2B5EF4-FFF2-40B4-BE49-F238E27FC236}">
                <a16:creationId xmlns:a16="http://schemas.microsoft.com/office/drawing/2014/main" id="{095055EB-245D-4A28-9837-19C57953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669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假设关系</a:t>
            </a:r>
          </a:p>
        </p:txBody>
      </p:sp>
      <p:sp>
        <p:nvSpPr>
          <p:cNvPr id="26" name="p09-n-4">
            <a:extLst xmlns:a="http://schemas.openxmlformats.org/drawingml/2006/main">
              <a:ext uri="{FF2B5EF4-FFF2-40B4-BE49-F238E27FC236}">
                <a16:creationId xmlns:a16="http://schemas.microsoft.com/office/drawing/2014/main" id="{289F5A61-2E58-4F71-8DF9-2AC9ACA8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52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p09-s-4">
            <a:extLst xmlns:a="http://schemas.openxmlformats.org/drawingml/2006/main">
              <a:ext uri="{FF2B5EF4-FFF2-40B4-BE49-F238E27FC236}">
                <a16:creationId xmlns:a16="http://schemas.microsoft.com/office/drawing/2014/main" id="{5F2B8A75-0F87-467A-AE95-8BA5C941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527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支持强度</a:t>
            </a:r>
          </a:p>
        </p:txBody>
      </p:sp>
      <p:sp>
        <p:nvSpPr>
          <p:cNvPr id="28" name="p09-n-5">
            <a:extLst xmlns:a="http://schemas.openxmlformats.org/drawingml/2006/main">
              <a:ext uri="{FF2B5EF4-FFF2-40B4-BE49-F238E27FC236}">
                <a16:creationId xmlns:a16="http://schemas.microsoft.com/office/drawing/2014/main" id="{27D50A14-2557-4EC4-BFFF-C108B076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52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9" name="p09-s-5">
            <a:extLst xmlns:a="http://schemas.openxmlformats.org/drawingml/2006/main">
              <a:ext uri="{FF2B5EF4-FFF2-40B4-BE49-F238E27FC236}">
                <a16:creationId xmlns:a16="http://schemas.microsoft.com/office/drawing/2014/main" id="{981D0504-2375-4980-807C-33A175EB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527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冲突与缺失</a:t>
            </a:r>
          </a:p>
        </p:txBody>
      </p:sp>
      <p:sp>
        <p:nvSpPr>
          <p:cNvPr id="30" name="p09-n-6">
            <a:extLst xmlns:a="http://schemas.openxmlformats.org/drawingml/2006/main">
              <a:ext uri="{FF2B5EF4-FFF2-40B4-BE49-F238E27FC236}">
                <a16:creationId xmlns:a16="http://schemas.microsoft.com/office/drawing/2014/main" id="{8F3D0B35-20D9-42DA-9CC2-2299287E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1" name="p09-s-6">
            <a:extLst xmlns:a="http://schemas.openxmlformats.org/drawingml/2006/main">
              <a:ext uri="{FF2B5EF4-FFF2-40B4-BE49-F238E27FC236}">
                <a16:creationId xmlns:a16="http://schemas.microsoft.com/office/drawing/2014/main" id="{F903A4CC-56E8-48AA-9CA4-4F4DA48B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385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根因 / 改进</a:t>
            </a:r>
          </a:p>
        </p:txBody>
      </p:sp>
      <p:sp>
        <p:nvSpPr>
          <p:cNvPr id="32" name="p09-n-7">
            <a:extLst xmlns:a="http://schemas.openxmlformats.org/drawingml/2006/main">
              <a:ext uri="{FF2B5EF4-FFF2-40B4-BE49-F238E27FC236}">
                <a16:creationId xmlns:a16="http://schemas.microsoft.com/office/drawing/2014/main" id="{BFAC206D-4734-4F59-9F21-AB5BF0D1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3" name="p09-s-7">
            <a:extLst xmlns:a="http://schemas.openxmlformats.org/drawingml/2006/main">
              <a:ext uri="{FF2B5EF4-FFF2-40B4-BE49-F238E27FC236}">
                <a16:creationId xmlns:a16="http://schemas.microsoft.com/office/drawing/2014/main" id="{7DF0A642-FE1F-473E-940C-A4BD71BE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385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人工审核</a:t>
            </a:r>
          </a:p>
        </p:txBody>
      </p:sp>
      <p:sp>
        <p:nvSpPr>
          <p:cNvPr id="34" name="p09-bottom">
            <a:extLst xmlns:a="http://schemas.openxmlformats.org/drawingml/2006/main">
              <a:ext uri="{FF2B5EF4-FFF2-40B4-BE49-F238E27FC236}">
                <a16:creationId xmlns:a16="http://schemas.microsoft.com/office/drawing/2014/main" id="{96FFFC96-BD11-4AD7-981B-7BDABAE8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10363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失败实验和冲突证据不得选择性删除；完整记录决定研究可信度。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证据充分性检查把结论连接回实验与研究判断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check-title">
            <a:extLst xmlns:a="http://schemas.openxmlformats.org/drawingml/2006/main">
              <a:ext uri="{FF2B5EF4-FFF2-40B4-BE49-F238E27FC236}">
                <a16:creationId xmlns:a16="http://schemas.microsoft.com/office/drawing/2014/main" id="{629FAFB0-1C6E-4404-8002-CB3636B1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六项核验</a:t>
            </a:r>
          </a:p>
        </p:txBody>
      </p:sp>
      <p:sp>
        <p:nvSpPr>
          <p:cNvPr id="7" name="p10-n-0">
            <a:extLst xmlns:a="http://schemas.openxmlformats.org/drawingml/2006/main">
              <a:ext uri="{FF2B5EF4-FFF2-40B4-BE49-F238E27FC236}">
                <a16:creationId xmlns:a16="http://schemas.microsoft.com/office/drawing/2014/main" id="{CFEEE81F-1DD2-4E61-9BB1-FDD989AF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0-c-0">
            <a:extLst xmlns:a="http://schemas.openxmlformats.org/drawingml/2006/main">
              <a:ext uri="{FF2B5EF4-FFF2-40B4-BE49-F238E27FC236}">
                <a16:creationId xmlns:a16="http://schemas.microsoft.com/office/drawing/2014/main" id="{F5E1C5F7-0B34-4368-ACD8-09D80C15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811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关键结论绑定直接证据 / 实验 ID</a:t>
            </a:r>
          </a:p>
        </p:txBody>
      </p:sp>
      <p:sp>
        <p:nvSpPr>
          <p:cNvPr id="9" name="p10-n-1">
            <a:extLst xmlns:a="http://schemas.openxmlformats.org/drawingml/2006/main">
              <a:ext uri="{FF2B5EF4-FFF2-40B4-BE49-F238E27FC236}">
                <a16:creationId xmlns:a16="http://schemas.microsoft.com/office/drawing/2014/main" id="{3326119E-76A5-47C2-934F-A5B35FBC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0-c-1">
            <a:extLst xmlns:a="http://schemas.openxmlformats.org/drawingml/2006/main">
              <a:ext uri="{FF2B5EF4-FFF2-40B4-BE49-F238E27FC236}">
                <a16:creationId xmlns:a16="http://schemas.microsoft.com/office/drawing/2014/main" id="{D6018B89-67AA-4102-A203-0F4B2220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1717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连接上游研究判断与适用边界</a:t>
            </a:r>
          </a:p>
        </p:txBody>
      </p:sp>
      <p:sp>
        <p:nvSpPr>
          <p:cNvPr id="11" name="p10-n-2">
            <a:extLst xmlns:a="http://schemas.openxmlformats.org/drawingml/2006/main">
              <a:ext uri="{FF2B5EF4-FFF2-40B4-BE49-F238E27FC236}">
                <a16:creationId xmlns:a16="http://schemas.microsoft.com/office/drawing/2014/main" id="{8F3304DC-4F93-4E84-9652-E0BFB20C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0-c-2">
            <a:extLst xmlns:a="http://schemas.openxmlformats.org/drawingml/2006/main">
              <a:ext uri="{FF2B5EF4-FFF2-40B4-BE49-F238E27FC236}">
                <a16:creationId xmlns:a16="http://schemas.microsoft.com/office/drawing/2014/main" id="{78C37159-D673-47D4-B603-0FB00524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622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写明强 / 中 / 弱 / 反证</a:t>
            </a:r>
          </a:p>
        </p:txBody>
      </p:sp>
      <p:sp>
        <p:nvSpPr>
          <p:cNvPr id="13" name="p10-n-3">
            <a:extLst xmlns:a="http://schemas.openxmlformats.org/drawingml/2006/main">
              <a:ext uri="{FF2B5EF4-FFF2-40B4-BE49-F238E27FC236}">
                <a16:creationId xmlns:a16="http://schemas.microsoft.com/office/drawing/2014/main" id="{3C48FF74-7980-4FDA-8F07-E59550A5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0-c-3">
            <a:extLst xmlns:a="http://schemas.openxmlformats.org/drawingml/2006/main">
              <a:ext uri="{FF2B5EF4-FFF2-40B4-BE49-F238E27FC236}">
                <a16:creationId xmlns:a16="http://schemas.microsoft.com/office/drawing/2014/main" id="{BB66591E-4102-48B0-BE44-60B8BFE8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528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呈现冲突与反例，不只留支持项</a:t>
            </a:r>
          </a:p>
        </p:txBody>
      </p:sp>
      <p:sp>
        <p:nvSpPr>
          <p:cNvPr id="15" name="p10-n-4">
            <a:extLst xmlns:a="http://schemas.openxmlformats.org/drawingml/2006/main">
              <a:ext uri="{FF2B5EF4-FFF2-40B4-BE49-F238E27FC236}">
                <a16:creationId xmlns:a16="http://schemas.microsoft.com/office/drawing/2014/main" id="{2C5C1B2E-78E1-4D45-AB7A-BC9CA830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0-c-4">
            <a:extLst xmlns:a="http://schemas.openxmlformats.org/drawingml/2006/main">
              <a:ext uri="{FF2B5EF4-FFF2-40B4-BE49-F238E27FC236}">
                <a16:creationId xmlns:a16="http://schemas.microsoft.com/office/drawing/2014/main" id="{1740BCC9-B2E4-4CFE-934C-C18BED92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433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写缺失证据和待验证风险</a:t>
            </a:r>
          </a:p>
        </p:txBody>
      </p:sp>
      <p:sp>
        <p:nvSpPr>
          <p:cNvPr id="17" name="p10-n-5">
            <a:extLst xmlns:a="http://schemas.openxmlformats.org/drawingml/2006/main">
              <a:ext uri="{FF2B5EF4-FFF2-40B4-BE49-F238E27FC236}">
                <a16:creationId xmlns:a16="http://schemas.microsoft.com/office/drawing/2014/main" id="{C7AC25DB-AA0A-4FD7-B847-47C60E26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339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p10-c-5">
            <a:extLst xmlns:a="http://schemas.openxmlformats.org/drawingml/2006/main">
              <a:ext uri="{FF2B5EF4-FFF2-40B4-BE49-F238E27FC236}">
                <a16:creationId xmlns:a16="http://schemas.microsoft.com/office/drawing/2014/main" id="{AF83F3EE-F8AE-4D34-A3CD-B70ACD7B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339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stable 原则上需两项独立证据</a:t>
            </a:r>
          </a:p>
        </p:txBody>
      </p:sp>
      <p:sp>
        <p:nvSpPr>
          <p:cNvPr id="19" name="p10-flow-1">
            <a:extLst xmlns:a="http://schemas.openxmlformats.org/drawingml/2006/main">
              <a:ext uri="{FF2B5EF4-FFF2-40B4-BE49-F238E27FC236}">
                <a16:creationId xmlns:a16="http://schemas.microsoft.com/office/drawing/2014/main" id="{08C1B718-309E-4887-B6B5-BE55C164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8450" y="2309813"/>
            <a:ext cx="95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6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0-flow-2">
            <a:extLst xmlns:a="http://schemas.openxmlformats.org/drawingml/2006/main">
              <a:ext uri="{FF2B5EF4-FFF2-40B4-BE49-F238E27FC236}">
                <a16:creationId xmlns:a16="http://schemas.microsoft.com/office/drawing/2014/main" id="{2A003779-9709-4A0F-820B-A8DD7C27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8553450" y="1928813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10-flow-3">
            <a:extLst xmlns:a="http://schemas.openxmlformats.org/drawingml/2006/main">
              <a:ext uri="{FF2B5EF4-FFF2-40B4-BE49-F238E27FC236}">
                <a16:creationId xmlns:a16="http://schemas.microsoft.com/office/drawing/2014/main" id="{EE52993F-DD94-4917-9AD4-2368FFFC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486775" y="2757488"/>
            <a:ext cx="895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10-ai">
            <a:extLst xmlns:a="http://schemas.openxmlformats.org/drawingml/2006/main">
              <a:ext uri="{FF2B5EF4-FFF2-40B4-BE49-F238E27FC236}">
                <a16:creationId xmlns:a16="http://schemas.microsoft.com/office/drawing/2014/main" id="{2594A26D-3C8D-4EEB-BF33-13CE344C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24050"/>
            <a:ext cx="1409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实验结果</a:t>
            </a:r>
          </a:p>
        </p:txBody>
      </p:sp>
      <p:sp>
        <p:nvSpPr>
          <p:cNvPr id="23" name="p10-audit">
            <a:extLst xmlns:a="http://schemas.openxmlformats.org/drawingml/2006/main">
              <a:ext uri="{FF2B5EF4-FFF2-40B4-BE49-F238E27FC236}">
                <a16:creationId xmlns:a16="http://schemas.microsoft.com/office/drawing/2014/main" id="{A0DD66B2-DE87-475D-A4F8-A5F3687A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24050"/>
            <a:ext cx="1790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充分性检查</a:t>
            </a:r>
          </a:p>
        </p:txBody>
      </p:sp>
      <p:sp>
        <p:nvSpPr>
          <p:cNvPr id="24" name="p10-main">
            <a:extLst xmlns:a="http://schemas.openxmlformats.org/drawingml/2006/main">
              <a:ext uri="{FF2B5EF4-FFF2-40B4-BE49-F238E27FC236}">
                <a16:creationId xmlns:a16="http://schemas.microsoft.com/office/drawing/2014/main" id="{2CC9F631-2D05-449F-946D-704C3283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066800"/>
            <a:ext cx="1885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H1｜中等支持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exp-001..010 + 图表反例</a:t>
            </a:r>
          </a:p>
        </p:txBody>
      </p:sp>
      <p:sp>
        <p:nvSpPr>
          <p:cNvPr id="25" name="p10-clue">
            <a:extLst xmlns:a="http://schemas.openxmlformats.org/drawingml/2006/main">
              <a:ext uri="{FF2B5EF4-FFF2-40B4-BE49-F238E27FC236}">
                <a16:creationId xmlns:a16="http://schemas.microsoft.com/office/drawing/2014/main" id="{DA6ABD10-1CA7-4F52-93C2-016BFA8C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28950"/>
            <a:ext cx="1885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A2｜仍不能判断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时间控制未跑</a:t>
            </a:r>
          </a:p>
        </p:txBody>
      </p:sp>
      <p:sp>
        <p:nvSpPr>
          <p:cNvPr id="26" name="p10-record">
            <a:extLst xmlns:a="http://schemas.openxmlformats.org/drawingml/2006/main">
              <a:ext uri="{FF2B5EF4-FFF2-40B4-BE49-F238E27FC236}">
                <a16:creationId xmlns:a16="http://schemas.microsoft.com/office/drawing/2014/main" id="{38BBB49D-6534-42E5-84AD-44447026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72000"/>
            <a:ext cx="4876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记录：证据来源｜支持强度｜冲突｜缺失｜边界｜下一步</a:t>
            </a:r>
          </a:p>
        </p:txBody>
      </p:sp>
      <p:sp>
        <p:nvSpPr>
          <p:cNvPr id="27" name="fiction-label-10">
            <a:extLst xmlns:a="http://schemas.openxmlformats.org/drawingml/2006/main">
              <a:ext uri="{FF2B5EF4-FFF2-40B4-BE49-F238E27FC236}">
                <a16:creationId xmlns:a16="http://schemas.microsoft.com/office/drawing/2014/main" id="{E632215B-5BA7-4D61-8C07-165A6DD8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742950"/>
            <a:ext cx="4305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</a:rPr>
              <a:t>课程虚构假设 / ID｜非实验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有效性威胁说明结果为什么可能不等于方法效应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watermark">
            <a:extLst xmlns:a="http://schemas.openxmlformats.org/drawingml/2006/main">
              <a:ext uri="{FF2B5EF4-FFF2-40B4-BE49-F238E27FC236}">
                <a16:creationId xmlns:a16="http://schemas.microsoft.com/office/drawing/2014/main" id="{F8D46C40-EC53-4198-8AF5-825A9E4C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876300"/>
            <a:ext cx="3067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贯穿案例｜虚构教学示例，不构成实证结论</a:t>
            </a:r>
          </a:p>
        </p:txBody>
      </p:sp>
      <p:sp>
        <p:nvSpPr>
          <p:cNvPr id="7" name="p11-line-0">
            <a:extLst xmlns:a="http://schemas.openxmlformats.org/drawingml/2006/main">
              <a:ext uri="{FF2B5EF4-FFF2-40B4-BE49-F238E27FC236}">
                <a16:creationId xmlns:a16="http://schemas.microsoft.com/office/drawing/2014/main" id="{887A0D37-03FF-41D3-B768-40252109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1-line-1">
            <a:extLst xmlns:a="http://schemas.openxmlformats.org/drawingml/2006/main">
              <a:ext uri="{FF2B5EF4-FFF2-40B4-BE49-F238E27FC236}">
                <a16:creationId xmlns:a16="http://schemas.microsoft.com/office/drawing/2014/main" id="{D044FA46-381F-4743-939E-33686F8B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1-line-2">
            <a:extLst xmlns:a="http://schemas.openxmlformats.org/drawingml/2006/main">
              <a:ext uri="{FF2B5EF4-FFF2-40B4-BE49-F238E27FC236}">
                <a16:creationId xmlns:a16="http://schemas.microsoft.com/office/drawing/2014/main" id="{E55D8E3E-17E2-4041-AFDF-5EE3F441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1-number-0">
            <a:extLst xmlns:a="http://schemas.openxmlformats.org/drawingml/2006/main">
              <a:ext uri="{FF2B5EF4-FFF2-40B4-BE49-F238E27FC236}">
                <a16:creationId xmlns:a16="http://schemas.microsoft.com/office/drawing/2014/main" id="{98B46FD8-CC01-4CA0-AC26-9CC1D96E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p11-step-0">
            <a:extLst xmlns:a="http://schemas.openxmlformats.org/drawingml/2006/main">
              <a:ext uri="{FF2B5EF4-FFF2-40B4-BE49-F238E27FC236}">
                <a16:creationId xmlns:a16="http://schemas.microsoft.com/office/drawing/2014/main" id="{319E71F9-2032-44A0-B2B0-761EFDF7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内部有效性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baseline 是否公平？盲评是否彻底？</a:t>
            </a:r>
          </a:p>
        </p:txBody>
      </p:sp>
      <p:sp>
        <p:nvSpPr>
          <p:cNvPr id="12" name="p11-number-1">
            <a:extLst xmlns:a="http://schemas.openxmlformats.org/drawingml/2006/main">
              <a:ext uri="{FF2B5EF4-FFF2-40B4-BE49-F238E27FC236}">
                <a16:creationId xmlns:a16="http://schemas.microsoft.com/office/drawing/2014/main" id="{9586C302-2AF0-4B6A-AB93-55506DE8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p11-step-1">
            <a:extLst xmlns:a="http://schemas.openxmlformats.org/drawingml/2006/main">
              <a:ext uri="{FF2B5EF4-FFF2-40B4-BE49-F238E27FC236}">
                <a16:creationId xmlns:a16="http://schemas.microsoft.com/office/drawing/2014/main" id="{2247FC0D-C9FA-4765-82B8-9565F6C1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外部有效性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n=20、CS 单一、模型版本单一</a:t>
            </a:r>
          </a:p>
        </p:txBody>
      </p:sp>
      <p:sp>
        <p:nvSpPr>
          <p:cNvPr id="14" name="p11-number-2">
            <a:extLst xmlns:a="http://schemas.openxmlformats.org/drawingml/2006/main">
              <a:ext uri="{FF2B5EF4-FFF2-40B4-BE49-F238E27FC236}">
                <a16:creationId xmlns:a16="http://schemas.microsoft.com/office/drawing/2014/main" id="{9D37D208-27CE-45A1-91B8-ACC0CB81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11-step-2">
            <a:extLst xmlns:a="http://schemas.openxmlformats.org/drawingml/2006/main">
              <a:ext uri="{FF2B5EF4-FFF2-40B4-BE49-F238E27FC236}">
                <a16:creationId xmlns:a16="http://schemas.microsoft.com/office/drawing/2014/main" id="{3405DBE5-16A4-4609-A1F3-6AF6BCCB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构念有效性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遗漏率是否真的测量科研动作改善？</a:t>
            </a:r>
          </a:p>
        </p:txBody>
      </p:sp>
      <p:sp>
        <p:nvSpPr>
          <p:cNvPr id="16" name="p11-number-3">
            <a:extLst xmlns:a="http://schemas.openxmlformats.org/drawingml/2006/main">
              <a:ext uri="{FF2B5EF4-FFF2-40B4-BE49-F238E27FC236}">
                <a16:creationId xmlns:a16="http://schemas.microsoft.com/office/drawing/2014/main" id="{77DC03C2-C407-4CA0-BA64-209EDEDB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p11-step-3">
            <a:extLst xmlns:a="http://schemas.openxmlformats.org/drawingml/2006/main">
              <a:ext uri="{FF2B5EF4-FFF2-40B4-BE49-F238E27FC236}">
                <a16:creationId xmlns:a16="http://schemas.microsoft.com/office/drawing/2014/main" id="{92B3EA96-9CE0-4E1F-BDCA-F9978F1A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结论有效性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A2 未排除，不能把相关写成因果</a:t>
            </a:r>
          </a:p>
        </p:txBody>
      </p:sp>
      <p:sp>
        <p:nvSpPr>
          <p:cNvPr id="18" name="p11-predictions-title">
            <a:extLst xmlns:a="http://schemas.openxmlformats.org/drawingml/2006/main">
              <a:ext uri="{FF2B5EF4-FFF2-40B4-BE49-F238E27FC236}">
                <a16:creationId xmlns:a16="http://schemas.microsoft.com/office/drawing/2014/main" id="{2990AA63-9679-4E91-ACC3-0F04018A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147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至少写适合项目的两类具体威胁</a:t>
            </a:r>
          </a:p>
        </p:txBody>
      </p:sp>
      <p:sp>
        <p:nvSpPr>
          <p:cNvPr id="19" name="p11-pred-0">
            <a:extLst xmlns:a="http://schemas.openxmlformats.org/drawingml/2006/main">
              <a:ext uri="{FF2B5EF4-FFF2-40B4-BE49-F238E27FC236}">
                <a16:creationId xmlns:a16="http://schemas.microsoft.com/office/drawing/2014/main" id="{9FDC0C13-7BD6-4966-A2B8-C0ACA298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内部｜评价协议漂移</a:t>
            </a:r>
          </a:p>
        </p:txBody>
      </p:sp>
      <p:sp>
        <p:nvSpPr>
          <p:cNvPr id="20" name="p11-pred-1">
            <a:extLst xmlns:a="http://schemas.openxmlformats.org/drawingml/2006/main">
              <a:ext uri="{FF2B5EF4-FFF2-40B4-BE49-F238E27FC236}">
                <a16:creationId xmlns:a16="http://schemas.microsoft.com/office/drawing/2014/main" id="{4243CEC4-107B-4222-86E6-C209ED30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外部｜样本与领域边界</a:t>
            </a:r>
          </a:p>
        </p:txBody>
      </p:sp>
      <p:sp>
        <p:nvSpPr>
          <p:cNvPr id="21" name="p11-pred-2">
            <a:extLst xmlns:a="http://schemas.openxmlformats.org/drawingml/2006/main">
              <a:ext uri="{FF2B5EF4-FFF2-40B4-BE49-F238E27FC236}">
                <a16:creationId xmlns:a16="http://schemas.microsoft.com/office/drawing/2014/main" id="{9DA8377B-3566-4DCA-ABFE-FE8AE15F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构念/结论｜指标与因果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失败审计要求保留失败，而不是重跑到只剩成功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watermark">
            <a:extLst xmlns:a="http://schemas.openxmlformats.org/drawingml/2006/main">
              <a:ext uri="{FF2B5EF4-FFF2-40B4-BE49-F238E27FC236}">
                <a16:creationId xmlns:a16="http://schemas.microsoft.com/office/drawing/2014/main" id="{ED3A3EFF-84D4-4DC0-8D55-BAD0B0A3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87630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学术规范红线｜失败和冲突证据不得选择性删除</a:t>
            </a:r>
          </a:p>
        </p:txBody>
      </p:sp>
      <p:sp>
        <p:nvSpPr>
          <p:cNvPr id="7" name="p12-line-0">
            <a:extLst xmlns:a="http://schemas.openxmlformats.org/drawingml/2006/main">
              <a:ext uri="{FF2B5EF4-FFF2-40B4-BE49-F238E27FC236}">
                <a16:creationId xmlns:a16="http://schemas.microsoft.com/office/drawing/2014/main" id="{C57BA47A-ACFA-4184-AED4-34147F48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2-line-1">
            <a:extLst xmlns:a="http://schemas.openxmlformats.org/drawingml/2006/main">
              <a:ext uri="{FF2B5EF4-FFF2-40B4-BE49-F238E27FC236}">
                <a16:creationId xmlns:a16="http://schemas.microsoft.com/office/drawing/2014/main" id="{151A909A-69BB-4AA1-8794-98308830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338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2-line-2">
            <a:extLst xmlns:a="http://schemas.openxmlformats.org/drawingml/2006/main">
              <a:ext uri="{FF2B5EF4-FFF2-40B4-BE49-F238E27FC236}">
                <a16:creationId xmlns:a16="http://schemas.microsoft.com/office/drawing/2014/main" id="{7319D98F-588D-4A18-A5A8-BA2C10C3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008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2-line-3">
            <a:extLst xmlns:a="http://schemas.openxmlformats.org/drawingml/2006/main">
              <a:ext uri="{FF2B5EF4-FFF2-40B4-BE49-F238E27FC236}">
                <a16:creationId xmlns:a16="http://schemas.microsoft.com/office/drawing/2014/main" id="{C8734721-3DFE-4F4B-A56B-AFEE4F97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2-number-0">
            <a:extLst xmlns:a="http://schemas.openxmlformats.org/drawingml/2006/main">
              <a:ext uri="{FF2B5EF4-FFF2-40B4-BE49-F238E27FC236}">
                <a16:creationId xmlns:a16="http://schemas.microsoft.com/office/drawing/2014/main" id="{F93F61E0-12C9-44EA-BE34-13A50C26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p12-step-0">
            <a:extLst xmlns:a="http://schemas.openxmlformats.org/drawingml/2006/main">
              <a:ext uri="{FF2B5EF4-FFF2-40B4-BE49-F238E27FC236}">
                <a16:creationId xmlns:a16="http://schemas.microsoft.com/office/drawing/2014/main" id="{1C0ED6A2-14A0-4CB9-8E0A-E0D576E9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失败发生</a:t>
            </a:r>
          </a:p>
        </p:txBody>
      </p:sp>
      <p:sp>
        <p:nvSpPr>
          <p:cNvPr id="13" name="p12-number-1">
            <a:extLst xmlns:a="http://schemas.openxmlformats.org/drawingml/2006/main">
              <a:ext uri="{FF2B5EF4-FFF2-40B4-BE49-F238E27FC236}">
                <a16:creationId xmlns:a16="http://schemas.microsoft.com/office/drawing/2014/main" id="{A9C28DA4-5D2C-4D30-8D17-5E5067BF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p12-step-1">
            <a:extLst xmlns:a="http://schemas.openxmlformats.org/drawingml/2006/main">
              <a:ext uri="{FF2B5EF4-FFF2-40B4-BE49-F238E27FC236}">
                <a16:creationId xmlns:a16="http://schemas.microsoft.com/office/drawing/2014/main" id="{43524D41-A529-40EC-AE65-C7467066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保留日志</a:t>
            </a:r>
          </a:p>
        </p:txBody>
      </p:sp>
      <p:sp>
        <p:nvSpPr>
          <p:cNvPr id="15" name="p12-number-2">
            <a:extLst xmlns:a="http://schemas.openxmlformats.org/drawingml/2006/main">
              <a:ext uri="{FF2B5EF4-FFF2-40B4-BE49-F238E27FC236}">
                <a16:creationId xmlns:a16="http://schemas.microsoft.com/office/drawing/2014/main" id="{10CF8982-FC53-48CE-B187-6C803B20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p12-step-2">
            <a:extLst xmlns:a="http://schemas.openxmlformats.org/drawingml/2006/main">
              <a:ext uri="{FF2B5EF4-FFF2-40B4-BE49-F238E27FC236}">
                <a16:creationId xmlns:a16="http://schemas.microsoft.com/office/drawing/2014/main" id="{FA9D1B24-A61A-4153-86A4-30EA86EC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分类根因</a:t>
            </a:r>
          </a:p>
        </p:txBody>
      </p:sp>
      <p:sp>
        <p:nvSpPr>
          <p:cNvPr id="17" name="p12-number-3">
            <a:extLst xmlns:a="http://schemas.openxmlformats.org/drawingml/2006/main">
              <a:ext uri="{FF2B5EF4-FFF2-40B4-BE49-F238E27FC236}">
                <a16:creationId xmlns:a16="http://schemas.microsoft.com/office/drawing/2014/main" id="{D26289AF-1D34-4983-B5C5-F6C05E40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p12-step-3">
            <a:extLst xmlns:a="http://schemas.openxmlformats.org/drawingml/2006/main">
              <a:ext uri="{FF2B5EF4-FFF2-40B4-BE49-F238E27FC236}">
                <a16:creationId xmlns:a16="http://schemas.microsoft.com/office/drawing/2014/main" id="{B823A243-966B-465C-9983-FBFB7335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修改边界</a:t>
            </a:r>
          </a:p>
        </p:txBody>
      </p:sp>
      <p:sp>
        <p:nvSpPr>
          <p:cNvPr id="19" name="p12-number-4">
            <a:extLst xmlns:a="http://schemas.openxmlformats.org/drawingml/2006/main">
              <a:ext uri="{FF2B5EF4-FFF2-40B4-BE49-F238E27FC236}">
                <a16:creationId xmlns:a16="http://schemas.microsoft.com/office/drawing/2014/main" id="{C3BC4CB5-FA53-424B-968B-CA4D4BA0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p12-step-4">
            <a:extLst xmlns:a="http://schemas.openxmlformats.org/drawingml/2006/main">
              <a:ext uri="{FF2B5EF4-FFF2-40B4-BE49-F238E27FC236}">
                <a16:creationId xmlns:a16="http://schemas.microsoft.com/office/drawing/2014/main" id="{C480F172-758F-4C09-80A6-F332392A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复现修复</a:t>
            </a:r>
          </a:p>
        </p:txBody>
      </p:sp>
      <p:sp>
        <p:nvSpPr>
          <p:cNvPr id="21" name="p12-audit-h-0">
            <a:extLst xmlns:a="http://schemas.openxmlformats.org/drawingml/2006/main">
              <a:ext uri="{FF2B5EF4-FFF2-40B4-BE49-F238E27FC236}">
                <a16:creationId xmlns:a16="http://schemas.microsoft.com/office/drawing/2014/main" id="{EE1AE540-4B82-4C41-9B50-16CC010D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24100"/>
            <a:ext cx="390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22" name="p12-audit-h-1">
            <a:extLst xmlns:a="http://schemas.openxmlformats.org/drawingml/2006/main">
              <a:ext uri="{FF2B5EF4-FFF2-40B4-BE49-F238E27FC236}">
                <a16:creationId xmlns:a16="http://schemas.microsoft.com/office/drawing/2014/main" id="{BA5EFC10-46B3-4673-81C9-B0140ED1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241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研究后果</a:t>
            </a:r>
          </a:p>
        </p:txBody>
      </p:sp>
      <p:sp>
        <p:nvSpPr>
          <p:cNvPr id="23" name="p12-audit-h-2">
            <a:extLst xmlns:a="http://schemas.openxmlformats.org/drawingml/2006/main">
              <a:ext uri="{FF2B5EF4-FFF2-40B4-BE49-F238E27FC236}">
                <a16:creationId xmlns:a16="http://schemas.microsoft.com/office/drawing/2014/main" id="{8C3FF18D-32FF-41C4-BA3D-DD4CD55E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241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24" name="p12-audit-r0-0">
            <a:extLst xmlns:a="http://schemas.openxmlformats.org/drawingml/2006/main">
              <a:ext uri="{FF2B5EF4-FFF2-40B4-BE49-F238E27FC236}">
                <a16:creationId xmlns:a16="http://schemas.microsoft.com/office/drawing/2014/main" id="{D6325DF4-21F5-4750-9E6F-B9FE1825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保留失败 + 根因</a:t>
            </a:r>
          </a:p>
        </p:txBody>
      </p:sp>
      <p:sp>
        <p:nvSpPr>
          <p:cNvPr id="25" name="p12-audit-r0-1">
            <a:extLst xmlns:a="http://schemas.openxmlformats.org/drawingml/2006/main">
              <a:ext uri="{FF2B5EF4-FFF2-40B4-BE49-F238E27FC236}">
                <a16:creationId xmlns:a16="http://schemas.microsoft.com/office/drawing/2014/main" id="{CFA15B04-6109-467D-A318-DD83AD32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813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形成边界与下一轮证据</a:t>
            </a:r>
          </a:p>
        </p:txBody>
      </p:sp>
      <p:sp>
        <p:nvSpPr>
          <p:cNvPr id="26" name="p12-audit-r0-2">
            <a:extLst xmlns:a="http://schemas.openxmlformats.org/drawingml/2006/main">
              <a:ext uri="{FF2B5EF4-FFF2-40B4-BE49-F238E27FC236}">
                <a16:creationId xmlns:a16="http://schemas.microsoft.com/office/drawing/2014/main" id="{8A2F4CF6-0757-4AF3-945D-834CBD02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813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合规</a:t>
            </a:r>
          </a:p>
        </p:txBody>
      </p:sp>
      <p:sp>
        <p:nvSpPr>
          <p:cNvPr id="27" name="p12-audit-r1-0">
            <a:extLst xmlns:a="http://schemas.openxmlformats.org/drawingml/2006/main">
              <a:ext uri="{FF2B5EF4-FFF2-40B4-BE49-F238E27FC236}">
                <a16:creationId xmlns:a16="http://schemas.microsoft.com/office/drawing/2014/main" id="{B08CF45E-DBD9-45BD-8326-9CB4508B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删除失败后重跑</a:t>
            </a:r>
          </a:p>
        </p:txBody>
      </p:sp>
      <p:sp>
        <p:nvSpPr>
          <p:cNvPr id="28" name="p12-audit-r1-1">
            <a:extLst xmlns:a="http://schemas.openxmlformats.org/drawingml/2006/main">
              <a:ext uri="{FF2B5EF4-FFF2-40B4-BE49-F238E27FC236}">
                <a16:creationId xmlns:a16="http://schemas.microsoft.com/office/drawing/2014/main" id="{DD49AE2F-DAE8-4995-B170-06D37258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无法复盘，选择性报告</a:t>
            </a:r>
          </a:p>
        </p:txBody>
      </p:sp>
      <p:sp>
        <p:nvSpPr>
          <p:cNvPr id="29" name="p12-audit-r1-2">
            <a:extLst xmlns:a="http://schemas.openxmlformats.org/drawingml/2006/main">
              <a:ext uri="{FF2B5EF4-FFF2-40B4-BE49-F238E27FC236}">
                <a16:creationId xmlns:a16="http://schemas.microsoft.com/office/drawing/2014/main" id="{DB1CFBFD-4244-467B-A9B7-2EBB306F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5052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红线</a:t>
            </a:r>
          </a:p>
        </p:txBody>
      </p:sp>
      <p:sp>
        <p:nvSpPr>
          <p:cNvPr id="30" name="p12-audit-r2-0">
            <a:extLst xmlns:a="http://schemas.openxmlformats.org/drawingml/2006/main">
              <a:ext uri="{FF2B5EF4-FFF2-40B4-BE49-F238E27FC236}">
                <a16:creationId xmlns:a16="http://schemas.microsoft.com/office/drawing/2014/main" id="{D8761422-4244-4129-A00F-03E385B1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运行中改 rubric</a:t>
            </a:r>
          </a:p>
        </p:txBody>
      </p:sp>
      <p:sp>
        <p:nvSpPr>
          <p:cNvPr id="31" name="p12-audit-r2-1">
            <a:extLst xmlns:a="http://schemas.openxmlformats.org/drawingml/2006/main">
              <a:ext uri="{FF2B5EF4-FFF2-40B4-BE49-F238E27FC236}">
                <a16:creationId xmlns:a16="http://schemas.microsoft.com/office/drawing/2014/main" id="{0D8EA989-E4E7-4733-88FC-143C475E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291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评价协议漂移，结果不可比</a:t>
            </a:r>
          </a:p>
        </p:txBody>
      </p:sp>
      <p:sp>
        <p:nvSpPr>
          <p:cNvPr id="32" name="p12-audit-r2-2">
            <a:extLst xmlns:a="http://schemas.openxmlformats.org/drawingml/2006/main">
              <a:ext uri="{FF2B5EF4-FFF2-40B4-BE49-F238E27FC236}">
                <a16:creationId xmlns:a16="http://schemas.microsoft.com/office/drawing/2014/main" id="{123E9A35-D698-4B14-B0ED-B888E610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2291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红线</a:t>
            </a:r>
          </a:p>
        </p:txBody>
      </p:sp>
      <p:sp>
        <p:nvSpPr>
          <p:cNvPr id="33" name="p12-bottom">
            <a:extLst xmlns:a="http://schemas.openxmlformats.org/drawingml/2006/main">
              <a:ext uri="{FF2B5EF4-FFF2-40B4-BE49-F238E27FC236}">
                <a16:creationId xmlns:a16="http://schemas.microsoft.com/office/drawing/2014/main" id="{37C45680-A848-4FFD-AB8A-86EBBB82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1015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Checkpoint 3 条件 6：至少保留一次失败、无效建议或局限分析。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六类失败骨架把“模型不行”改写成可修复根因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errors-title">
            <a:extLst xmlns:a="http://schemas.openxmlformats.org/drawingml/2006/main">
              <a:ext uri="{FF2B5EF4-FFF2-40B4-BE49-F238E27FC236}">
                <a16:creationId xmlns:a16="http://schemas.microsoft.com/office/drawing/2014/main" id="{EE4C7D34-B53E-44E5-9C18-87AFFF47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六类失败 + 四项追问</a:t>
            </a:r>
          </a:p>
        </p:txBody>
      </p:sp>
      <p:sp>
        <p:nvSpPr>
          <p:cNvPr id="7" name="p13-x-0">
            <a:extLst xmlns:a="http://schemas.openxmlformats.org/drawingml/2006/main">
              <a:ext uri="{FF2B5EF4-FFF2-40B4-BE49-F238E27FC236}">
                <a16:creationId xmlns:a16="http://schemas.microsoft.com/office/drawing/2014/main" id="{815022BE-CD77-49F0-8F8A-9A719847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13-error-0">
            <a:extLst xmlns:a="http://schemas.openxmlformats.org/drawingml/2006/main">
              <a:ext uri="{FF2B5EF4-FFF2-40B4-BE49-F238E27FC236}">
                <a16:creationId xmlns:a16="http://schemas.microsoft.com/office/drawing/2014/main" id="{E68E2E25-B499-4768-AAC2-AE89226D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任务契约失败</a:t>
            </a:r>
          </a:p>
        </p:txBody>
      </p:sp>
      <p:sp>
        <p:nvSpPr>
          <p:cNvPr id="9" name="p13-x-1">
            <a:extLst xmlns:a="http://schemas.openxmlformats.org/drawingml/2006/main">
              <a:ext uri="{FF2B5EF4-FFF2-40B4-BE49-F238E27FC236}">
                <a16:creationId xmlns:a16="http://schemas.microsoft.com/office/drawing/2014/main" id="{36CF7543-81E6-4594-95E5-42781D48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3-error-1">
            <a:extLst xmlns:a="http://schemas.openxmlformats.org/drawingml/2006/main">
              <a:ext uri="{FF2B5EF4-FFF2-40B4-BE49-F238E27FC236}">
                <a16:creationId xmlns:a16="http://schemas.microsoft.com/office/drawing/2014/main" id="{00E01453-4F0A-4CA8-A0A8-E3BBC365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越权或边界失败</a:t>
            </a:r>
          </a:p>
        </p:txBody>
      </p:sp>
      <p:sp>
        <p:nvSpPr>
          <p:cNvPr id="11" name="p13-x-2">
            <a:extLst xmlns:a="http://schemas.openxmlformats.org/drawingml/2006/main">
              <a:ext uri="{FF2B5EF4-FFF2-40B4-BE49-F238E27FC236}">
                <a16:creationId xmlns:a16="http://schemas.microsoft.com/office/drawing/2014/main" id="{129B5344-CC12-4945-A5AF-D8428330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p13-error-2">
            <a:extLst xmlns:a="http://schemas.openxmlformats.org/drawingml/2006/main">
              <a:ext uri="{FF2B5EF4-FFF2-40B4-BE49-F238E27FC236}">
                <a16:creationId xmlns:a16="http://schemas.microsoft.com/office/drawing/2014/main" id="{E98E59BD-4560-4AFF-AF3E-3CAFC879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评价协议漂移</a:t>
            </a:r>
          </a:p>
        </p:txBody>
      </p:sp>
      <p:sp>
        <p:nvSpPr>
          <p:cNvPr id="13" name="p13-x-3">
            <a:extLst xmlns:a="http://schemas.openxmlformats.org/drawingml/2006/main">
              <a:ext uri="{FF2B5EF4-FFF2-40B4-BE49-F238E27FC236}">
                <a16:creationId xmlns:a16="http://schemas.microsoft.com/office/drawing/2014/main" id="{B0A3997F-84CB-40B8-A2EC-F631A62E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p13-error-3">
            <a:extLst xmlns:a="http://schemas.openxmlformats.org/drawingml/2006/main">
              <a:ext uri="{FF2B5EF4-FFF2-40B4-BE49-F238E27FC236}">
                <a16:creationId xmlns:a16="http://schemas.microsoft.com/office/drawing/2014/main" id="{1F6A043D-A8AE-4752-86B3-BAC7BD4C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数据依赖失败</a:t>
            </a:r>
          </a:p>
        </p:txBody>
      </p:sp>
      <p:sp>
        <p:nvSpPr>
          <p:cNvPr id="15" name="p13-x-4">
            <a:extLst xmlns:a="http://schemas.openxmlformats.org/drawingml/2006/main">
              <a:ext uri="{FF2B5EF4-FFF2-40B4-BE49-F238E27FC236}">
                <a16:creationId xmlns:a16="http://schemas.microsoft.com/office/drawing/2014/main" id="{9E5DBEA8-798C-4526-94F9-9A4F0702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6" name="p13-error-4">
            <a:extLst xmlns:a="http://schemas.openxmlformats.org/drawingml/2006/main">
              <a:ext uri="{FF2B5EF4-FFF2-40B4-BE49-F238E27FC236}">
                <a16:creationId xmlns:a16="http://schemas.microsoft.com/office/drawing/2014/main" id="{151BA0B4-FEE8-44EE-9F74-7156E548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配置债</a:t>
            </a:r>
          </a:p>
        </p:txBody>
      </p:sp>
      <p:sp>
        <p:nvSpPr>
          <p:cNvPr id="17" name="p13-x-5">
            <a:extLst xmlns:a="http://schemas.openxmlformats.org/drawingml/2006/main">
              <a:ext uri="{FF2B5EF4-FFF2-40B4-BE49-F238E27FC236}">
                <a16:creationId xmlns:a16="http://schemas.microsoft.com/office/drawing/2014/main" id="{C61256D1-2788-4035-B1FE-2F296955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8" name="p13-error-5">
            <a:extLst xmlns:a="http://schemas.openxmlformats.org/drawingml/2006/main">
              <a:ext uri="{FF2B5EF4-FFF2-40B4-BE49-F238E27FC236}">
                <a16:creationId xmlns:a16="http://schemas.microsoft.com/office/drawing/2014/main" id="{255FAFB0-BB24-41C3-BF55-3A6930FA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无效建议</a:t>
            </a:r>
          </a:p>
        </p:txBody>
      </p:sp>
      <p:sp>
        <p:nvSpPr>
          <p:cNvPr id="19" name="p13-x-6">
            <a:extLst xmlns:a="http://schemas.openxmlformats.org/drawingml/2006/main">
              <a:ext uri="{FF2B5EF4-FFF2-40B4-BE49-F238E27FC236}">
                <a16:creationId xmlns:a16="http://schemas.microsoft.com/office/drawing/2014/main" id="{AD019980-8AFC-46EC-9354-D56606D3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?</a:t>
            </a:r>
          </a:p>
        </p:txBody>
      </p:sp>
      <p:sp>
        <p:nvSpPr>
          <p:cNvPr id="20" name="p13-error-6">
            <a:extLst xmlns:a="http://schemas.openxmlformats.org/drawingml/2006/main">
              <a:ext uri="{FF2B5EF4-FFF2-40B4-BE49-F238E27FC236}">
                <a16:creationId xmlns:a16="http://schemas.microsoft.com/office/drawing/2014/main" id="{9E22E102-87E5-478A-B39B-35D3C0EA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输入/输出写清了吗</a:t>
            </a:r>
          </a:p>
        </p:txBody>
      </p:sp>
      <p:sp>
        <p:nvSpPr>
          <p:cNvPr id="21" name="p13-x-7">
            <a:extLst xmlns:a="http://schemas.openxmlformats.org/drawingml/2006/main">
              <a:ext uri="{FF2B5EF4-FFF2-40B4-BE49-F238E27FC236}">
                <a16:creationId xmlns:a16="http://schemas.microsoft.com/office/drawing/2014/main" id="{E5FBB88C-F771-4FA9-97EF-DC51A998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?</a:t>
            </a:r>
          </a:p>
        </p:txBody>
      </p:sp>
      <p:sp>
        <p:nvSpPr>
          <p:cNvPr id="22" name="p13-error-7">
            <a:extLst xmlns:a="http://schemas.openxmlformats.org/drawingml/2006/main">
              <a:ext uri="{FF2B5EF4-FFF2-40B4-BE49-F238E27FC236}">
                <a16:creationId xmlns:a16="http://schemas.microsoft.com/office/drawing/2014/main" id="{A4E4223C-924D-49A9-A993-6E7D3C1D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权限确认点缺失吗</a:t>
            </a:r>
          </a:p>
        </p:txBody>
      </p:sp>
      <p:sp>
        <p:nvSpPr>
          <p:cNvPr id="23" name="p13-x-8">
            <a:extLst xmlns:a="http://schemas.openxmlformats.org/drawingml/2006/main">
              <a:ext uri="{FF2B5EF4-FFF2-40B4-BE49-F238E27FC236}">
                <a16:creationId xmlns:a16="http://schemas.microsoft.com/office/drawing/2014/main" id="{575E9852-B4C2-4309-8394-D02D9439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?</a:t>
            </a:r>
          </a:p>
        </p:txBody>
      </p:sp>
      <p:sp>
        <p:nvSpPr>
          <p:cNvPr id="24" name="p13-error-8">
            <a:extLst xmlns:a="http://schemas.openxmlformats.org/drawingml/2006/main">
              <a:ext uri="{FF2B5EF4-FFF2-40B4-BE49-F238E27FC236}">
                <a16:creationId xmlns:a16="http://schemas.microsoft.com/office/drawing/2014/main" id="{01208096-F7E3-47B1-8146-77992ACB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数据版本固化了吗</a:t>
            </a:r>
          </a:p>
        </p:txBody>
      </p:sp>
      <p:sp>
        <p:nvSpPr>
          <p:cNvPr id="25" name="p13-x-9">
            <a:extLst xmlns:a="http://schemas.openxmlformats.org/drawingml/2006/main">
              <a:ext uri="{FF2B5EF4-FFF2-40B4-BE49-F238E27FC236}">
                <a16:creationId xmlns:a16="http://schemas.microsoft.com/office/drawing/2014/main" id="{AEF743C4-2D61-4E8B-B551-4B55F434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?</a:t>
            </a:r>
          </a:p>
        </p:txBody>
      </p:sp>
      <p:sp>
        <p:nvSpPr>
          <p:cNvPr id="26" name="p13-error-9">
            <a:extLst xmlns:a="http://schemas.openxmlformats.org/drawingml/2006/main">
              <a:ext uri="{FF2B5EF4-FFF2-40B4-BE49-F238E27FC236}">
                <a16:creationId xmlns:a16="http://schemas.microsoft.com/office/drawing/2014/main" id="{08508FCF-FFCD-4A35-88B6-5E044F2E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人工审核到位吗</a:t>
            </a:r>
          </a:p>
        </p:txBody>
      </p:sp>
      <p:sp>
        <p:nvSpPr>
          <p:cNvPr id="27" name="p13-separator">
            <a:extLst xmlns:a="http://schemas.openxmlformats.org/drawingml/2006/main">
              <a:ext uri="{FF2B5EF4-FFF2-40B4-BE49-F238E27FC236}">
                <a16:creationId xmlns:a16="http://schemas.microsoft.com/office/drawing/2014/main" id="{FC411C60-7AA1-4222-AC96-6C471DC3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38775" y="299085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13-questions-title">
            <a:extLst xmlns:a="http://schemas.openxmlformats.org/drawingml/2006/main">
              <a:ext uri="{FF2B5EF4-FFF2-40B4-BE49-F238E27FC236}">
                <a16:creationId xmlns:a16="http://schemas.microsoft.com/office/drawing/2014/main" id="{07F68B3E-4D24-4B98-8AC7-98E59B3D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90600"/>
            <a:ext cx="3638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根因五问</a:t>
            </a:r>
          </a:p>
        </p:txBody>
      </p:sp>
      <p:sp>
        <p:nvSpPr>
          <p:cNvPr id="29" name="p13-qn-0">
            <a:extLst xmlns:a="http://schemas.openxmlformats.org/drawingml/2006/main">
              <a:ext uri="{FF2B5EF4-FFF2-40B4-BE49-F238E27FC236}">
                <a16:creationId xmlns:a16="http://schemas.microsoft.com/office/drawing/2014/main" id="{521BF812-6EBE-4AF2-B74E-A3DB303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0" name="p13-q-0">
            <a:extLst xmlns:a="http://schemas.openxmlformats.org/drawingml/2006/main">
              <a:ext uri="{FF2B5EF4-FFF2-40B4-BE49-F238E27FC236}">
                <a16:creationId xmlns:a16="http://schemas.microsoft.com/office/drawing/2014/main" id="{060EB3D3-F55B-4087-89C8-2F919B45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失败表现和预期分别是什么？</a:t>
            </a:r>
          </a:p>
        </p:txBody>
      </p:sp>
      <p:sp>
        <p:nvSpPr>
          <p:cNvPr id="31" name="p13-qn-1">
            <a:extLst xmlns:a="http://schemas.openxmlformats.org/drawingml/2006/main">
              <a:ext uri="{FF2B5EF4-FFF2-40B4-BE49-F238E27FC236}">
                <a16:creationId xmlns:a16="http://schemas.microsoft.com/office/drawing/2014/main" id="{4A176C52-EAAD-4BCC-B864-30F05BE9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2" name="p13-q-1">
            <a:extLst xmlns:a="http://schemas.openxmlformats.org/drawingml/2006/main">
              <a:ext uri="{FF2B5EF4-FFF2-40B4-BE49-F238E27FC236}">
                <a16:creationId xmlns:a16="http://schemas.microsoft.com/office/drawing/2014/main" id="{FC67B32A-CE35-4B19-8B2E-8A8D39C5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288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是否涉及越权或协议篡改？</a:t>
            </a:r>
          </a:p>
        </p:txBody>
      </p:sp>
      <p:sp>
        <p:nvSpPr>
          <p:cNvPr id="33" name="p13-qn-2">
            <a:extLst xmlns:a="http://schemas.openxmlformats.org/drawingml/2006/main">
              <a:ext uri="{FF2B5EF4-FFF2-40B4-BE49-F238E27FC236}">
                <a16:creationId xmlns:a16="http://schemas.microsoft.com/office/drawing/2014/main" id="{1386AD79-9776-4CFE-AABB-8D8BB12E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4" name="p13-q-2">
            <a:extLst xmlns:a="http://schemas.openxmlformats.org/drawingml/2006/main">
              <a:ext uri="{FF2B5EF4-FFF2-40B4-BE49-F238E27FC236}">
                <a16:creationId xmlns:a16="http://schemas.microsoft.com/office/drawing/2014/main" id="{6ACE417E-7F8D-4FFA-9B73-2768D500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956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根因落在哪一类？</a:t>
            </a:r>
          </a:p>
        </p:txBody>
      </p:sp>
      <p:sp>
        <p:nvSpPr>
          <p:cNvPr id="35" name="p13-qn-3">
            <a:extLst xmlns:a="http://schemas.openxmlformats.org/drawingml/2006/main">
              <a:ext uri="{FF2B5EF4-FFF2-40B4-BE49-F238E27FC236}">
                <a16:creationId xmlns:a16="http://schemas.microsoft.com/office/drawing/2014/main" id="{4DC6410A-C799-4406-852C-E3EC1B65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6" name="p13-q-3">
            <a:extLst xmlns:a="http://schemas.openxmlformats.org/drawingml/2006/main">
              <a:ext uri="{FF2B5EF4-FFF2-40B4-BE49-F238E27FC236}">
                <a16:creationId xmlns:a16="http://schemas.microsoft.com/office/drawing/2014/main" id="{3E1A1370-B524-4B75-9998-8B60C658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623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任务契约或工作流改哪里？</a:t>
            </a:r>
          </a:p>
        </p:txBody>
      </p:sp>
      <p:sp>
        <p:nvSpPr>
          <p:cNvPr id="37" name="p13-qn-4">
            <a:extLst xmlns:a="http://schemas.openxmlformats.org/drawingml/2006/main">
              <a:ext uri="{FF2B5EF4-FFF2-40B4-BE49-F238E27FC236}">
                <a16:creationId xmlns:a16="http://schemas.microsoft.com/office/drawing/2014/main" id="{7B24AA40-CC08-481E-BD00-B2ACC1C0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8" name="p13-q-4">
            <a:extLst xmlns:a="http://schemas.openxmlformats.org/drawingml/2006/main">
              <a:ext uri="{FF2B5EF4-FFF2-40B4-BE49-F238E27FC236}">
                <a16:creationId xmlns:a16="http://schemas.microsoft.com/office/drawing/2014/main" id="{A4336E8C-2997-4CD8-BC44-14FB61BE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29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修改后是否复现同类失败？</a:t>
            </a:r>
          </a:p>
        </p:txBody>
      </p:sp>
      <p:sp>
        <p:nvSpPr>
          <p:cNvPr id="39" name="p13-bottom">
            <a:extLst xmlns:a="http://schemas.openxmlformats.org/drawingml/2006/main">
              <a:ext uri="{FF2B5EF4-FFF2-40B4-BE49-F238E27FC236}">
                <a16:creationId xmlns:a16="http://schemas.microsoft.com/office/drawing/2014/main" id="{449E0D47-6D62-43FB-B9E8-38061C12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19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贯穿案例：图表论文遗漏率反高 → 任务契约未覆盖图表为主论文。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失败日志与人工审核必须通过运行 ID 形成 trace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time">
            <a:extLst xmlns:a="http://schemas.openxmlformats.org/drawingml/2006/main">
              <a:ext uri="{FF2B5EF4-FFF2-40B4-BE49-F238E27FC236}">
                <a16:creationId xmlns:a16="http://schemas.microsoft.com/office/drawing/2014/main" id="{527D6F77-DD53-4250-9A20-D47FD444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8763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32:00–35:00｜写一条真实记录</a:t>
            </a:r>
          </a:p>
        </p:txBody>
      </p:sp>
      <p:sp>
        <p:nvSpPr>
          <p:cNvPr id="7" name="p14-line-0">
            <a:extLst xmlns:a="http://schemas.openxmlformats.org/drawingml/2006/main">
              <a:ext uri="{FF2B5EF4-FFF2-40B4-BE49-F238E27FC236}">
                <a16:creationId xmlns:a16="http://schemas.microsoft.com/office/drawing/2014/main" id="{60C1985F-AD02-4B81-96B5-403BC2ED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19002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4-line-1">
            <a:extLst xmlns:a="http://schemas.openxmlformats.org/drawingml/2006/main">
              <a:ext uri="{FF2B5EF4-FFF2-40B4-BE49-F238E27FC236}">
                <a16:creationId xmlns:a16="http://schemas.microsoft.com/office/drawing/2014/main" id="{073C8F07-5D6C-428A-B63C-220851B8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253841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4-line-2">
            <a:extLst xmlns:a="http://schemas.openxmlformats.org/drawingml/2006/main">
              <a:ext uri="{FF2B5EF4-FFF2-40B4-BE49-F238E27FC236}">
                <a16:creationId xmlns:a16="http://schemas.microsoft.com/office/drawing/2014/main" id="{6C0D6C51-A836-487B-9C04-1F5E64A6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17658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4-line-3">
            <a:extLst xmlns:a="http://schemas.openxmlformats.org/drawingml/2006/main">
              <a:ext uri="{FF2B5EF4-FFF2-40B4-BE49-F238E27FC236}">
                <a16:creationId xmlns:a16="http://schemas.microsoft.com/office/drawing/2014/main" id="{0450A5EB-907A-40A1-967B-FEA9C922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81476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4-line-4">
            <a:extLst xmlns:a="http://schemas.openxmlformats.org/drawingml/2006/main">
              <a:ext uri="{FF2B5EF4-FFF2-40B4-BE49-F238E27FC236}">
                <a16:creationId xmlns:a16="http://schemas.microsoft.com/office/drawing/2014/main" id="{28A509D0-BAB8-4685-9B72-27509EA5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44529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4-n-0">
            <a:extLst xmlns:a="http://schemas.openxmlformats.org/drawingml/2006/main">
              <a:ext uri="{FF2B5EF4-FFF2-40B4-BE49-F238E27FC236}">
                <a16:creationId xmlns:a16="http://schemas.microsoft.com/office/drawing/2014/main" id="{F64FFAEB-F06E-413E-A107-F31224C4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097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p14-task-0">
            <a:extLst xmlns:a="http://schemas.openxmlformats.org/drawingml/2006/main">
              <a:ext uri="{FF2B5EF4-FFF2-40B4-BE49-F238E27FC236}">
                <a16:creationId xmlns:a16="http://schemas.microsoft.com/office/drawing/2014/main" id="{0E678AC3-8198-4E9D-9A4E-29274D46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4097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 ID / 时间：何时发生</a:t>
            </a:r>
          </a:p>
        </p:txBody>
      </p:sp>
      <p:sp>
        <p:nvSpPr>
          <p:cNvPr id="14" name="p14-n-1">
            <a:extLst xmlns:a="http://schemas.openxmlformats.org/drawingml/2006/main">
              <a:ext uri="{FF2B5EF4-FFF2-40B4-BE49-F238E27FC236}">
                <a16:creationId xmlns:a16="http://schemas.microsoft.com/office/drawing/2014/main" id="{29F7F8AD-C6BC-4756-B83D-3A3F35A0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p14-task-1">
            <a:extLst xmlns:a="http://schemas.openxmlformats.org/drawingml/2006/main">
              <a:ext uri="{FF2B5EF4-FFF2-40B4-BE49-F238E27FC236}">
                <a16:creationId xmlns:a16="http://schemas.microsoft.com/office/drawing/2014/main" id="{90C77512-D4D5-4813-8A7C-B8F4D4DA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478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失败表现：输出 vs 预期</a:t>
            </a:r>
          </a:p>
        </p:txBody>
      </p:sp>
      <p:sp>
        <p:nvSpPr>
          <p:cNvPr id="16" name="p14-n-2">
            <a:extLst xmlns:a="http://schemas.openxmlformats.org/drawingml/2006/main">
              <a:ext uri="{FF2B5EF4-FFF2-40B4-BE49-F238E27FC236}">
                <a16:creationId xmlns:a16="http://schemas.microsoft.com/office/drawing/2014/main" id="{38C772B7-1744-428E-9A12-3BBC1236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p14-task-2">
            <a:extLst xmlns:a="http://schemas.openxmlformats.org/drawingml/2006/main">
              <a:ext uri="{FF2B5EF4-FFF2-40B4-BE49-F238E27FC236}">
                <a16:creationId xmlns:a16="http://schemas.microsoft.com/office/drawing/2014/main" id="{790AF569-E73D-4703-8341-F66FD674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8605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根因分类：六类骨架</a:t>
            </a:r>
          </a:p>
        </p:txBody>
      </p:sp>
      <p:sp>
        <p:nvSpPr>
          <p:cNvPr id="18" name="p14-n-3">
            <a:extLst xmlns:a="http://schemas.openxmlformats.org/drawingml/2006/main">
              <a:ext uri="{FF2B5EF4-FFF2-40B4-BE49-F238E27FC236}">
                <a16:creationId xmlns:a16="http://schemas.microsoft.com/office/drawing/2014/main" id="{E4ADEA21-CAD3-4C70-8017-1879A10B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2422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p14-task-3">
            <a:extLst xmlns:a="http://schemas.openxmlformats.org/drawingml/2006/main">
              <a:ext uri="{FF2B5EF4-FFF2-40B4-BE49-F238E27FC236}">
                <a16:creationId xmlns:a16="http://schemas.microsoft.com/office/drawing/2014/main" id="{0603EB65-21BE-4FC2-A070-D3483AE7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2422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红线检查：越权 / 协议篡改</a:t>
            </a:r>
          </a:p>
        </p:txBody>
      </p:sp>
      <p:sp>
        <p:nvSpPr>
          <p:cNvPr id="20" name="p14-n-4">
            <a:extLst xmlns:a="http://schemas.openxmlformats.org/drawingml/2006/main">
              <a:ext uri="{FF2B5EF4-FFF2-40B4-BE49-F238E27FC236}">
                <a16:creationId xmlns:a16="http://schemas.microsoft.com/office/drawing/2014/main" id="{477599E5-CCD3-4BF1-A6C7-1F17D99B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p14-task-4">
            <a:extLst xmlns:a="http://schemas.openxmlformats.org/drawingml/2006/main">
              <a:ext uri="{FF2B5EF4-FFF2-40B4-BE49-F238E27FC236}">
                <a16:creationId xmlns:a16="http://schemas.microsoft.com/office/drawing/2014/main" id="{CB9EFE96-9EF0-4ABF-9894-8B12E8B6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624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可改进点：下一轮改哪里</a:t>
            </a:r>
          </a:p>
        </p:txBody>
      </p:sp>
      <p:sp>
        <p:nvSpPr>
          <p:cNvPr id="22" name="p14-n-5">
            <a:extLst xmlns:a="http://schemas.openxmlformats.org/drawingml/2006/main">
              <a:ext uri="{FF2B5EF4-FFF2-40B4-BE49-F238E27FC236}">
                <a16:creationId xmlns:a16="http://schemas.microsoft.com/office/drawing/2014/main" id="{222FD65F-CE9E-4D66-BEA1-5345D20E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005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p14-task-5">
            <a:extLst xmlns:a="http://schemas.openxmlformats.org/drawingml/2006/main">
              <a:ext uri="{FF2B5EF4-FFF2-40B4-BE49-F238E27FC236}">
                <a16:creationId xmlns:a16="http://schemas.microsoft.com/office/drawing/2014/main" id="{6550F1B2-B815-4226-9FEE-13D05601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005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修改后：是否复现同类失败</a:t>
            </a:r>
          </a:p>
        </p:txBody>
      </p:sp>
      <p:sp>
        <p:nvSpPr>
          <p:cNvPr id="24" name="p14-min-title">
            <a:extLst xmlns:a="http://schemas.openxmlformats.org/drawingml/2006/main">
              <a:ext uri="{FF2B5EF4-FFF2-40B4-BE49-F238E27FC236}">
                <a16:creationId xmlns:a16="http://schemas.microsoft.com/office/drawing/2014/main" id="{F348741C-2DA1-492C-9214-0D85B7D7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390650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人工审核五字段</a:t>
            </a:r>
          </a:p>
        </p:txBody>
      </p:sp>
      <p:sp>
        <p:nvSpPr>
          <p:cNvPr id="25" name="p14-min">
            <a:extLst xmlns:a="http://schemas.openxmlformats.org/drawingml/2006/main">
              <a:ext uri="{FF2B5EF4-FFF2-40B4-BE49-F238E27FC236}">
                <a16:creationId xmlns:a16="http://schemas.microsoft.com/office/drawing/2014/main" id="{05E5BF8C-5F0D-471F-A2BE-6DEB8C6B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38350"/>
            <a:ext cx="3676650" cy="2495550"/>
          </a:xfrm>
          <a:prstGeom xmlns:a="http://schemas.openxmlformats.org/drawingml/2006/main" prst="roundRect">
            <a:avLst>
              <a:gd name="adj" fmla="val 305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审核对象｜审核人｜采纳/修改/拒绝｜具体理由｜日期 + 运行 ID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被拒绝的 AI 建议进入失败审计，成为工作流局限证据</a:t>
            </a:r>
          </a:p>
        </p:txBody>
      </p:sp>
      <p:sp>
        <p:nvSpPr>
          <p:cNvPr id="26" name="p14-fallback">
            <a:extLst xmlns:a="http://schemas.openxmlformats.org/drawingml/2006/main">
              <a:ext uri="{FF2B5EF4-FFF2-40B4-BE49-F238E27FC236}">
                <a16:creationId xmlns:a16="http://schemas.microsoft.com/office/drawing/2014/main" id="{FD85DFC3-B277-414E-844F-694D3911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762500"/>
            <a:ext cx="3981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案例 exp-007：图表论文反高 → 任务契约失败；修改后留作第 14 课前补做。</a:t>
            </a:r>
          </a:p>
        </p:txBody>
      </p:sp>
      <p:sp>
        <p:nvSpPr>
          <p:cNvPr id="27" name="fiction-label-14">
            <a:extLst xmlns:a="http://schemas.openxmlformats.org/drawingml/2006/main">
              <a:ext uri="{FF2B5EF4-FFF2-40B4-BE49-F238E27FC236}">
                <a16:creationId xmlns:a16="http://schemas.microsoft.com/office/drawing/2014/main" id="{B24C828B-2B97-4612-8881-53330B21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742950"/>
            <a:ext cx="4305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</a:rPr>
              <a:t>课程虚构运行 ID｜非真实日志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验证门 10 项条件逐项检查当前项目版本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3-errors-title">
            <a:extLst xmlns:a="http://schemas.openxmlformats.org/drawingml/2006/main">
              <a:ext uri="{FF2B5EF4-FFF2-40B4-BE49-F238E27FC236}">
                <a16:creationId xmlns:a16="http://schemas.microsoft.com/office/drawing/2014/main" id="{EE4C7D34-B53E-44E5-9C18-87AFFF47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Checkpoint 3｜10 项条件</a:t>
            </a:r>
          </a:p>
        </p:txBody>
      </p:sp>
      <p:sp>
        <p:nvSpPr>
          <p:cNvPr id="7" name="p13-x-0">
            <a:extLst xmlns:a="http://schemas.openxmlformats.org/drawingml/2006/main">
              <a:ext uri="{FF2B5EF4-FFF2-40B4-BE49-F238E27FC236}">
                <a16:creationId xmlns:a16="http://schemas.microsoft.com/office/drawing/2014/main" id="{815022BE-CD77-49F0-8F8A-9A719847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13-error-0">
            <a:extLst xmlns:a="http://schemas.openxmlformats.org/drawingml/2006/main">
              <a:ext uri="{FF2B5EF4-FFF2-40B4-BE49-F238E27FC236}">
                <a16:creationId xmlns:a16="http://schemas.microsoft.com/office/drawing/2014/main" id="{E68E2E25-B499-4768-AAC2-AE89226D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动作契约｜四字段</a:t>
            </a:r>
          </a:p>
        </p:txBody>
      </p:sp>
      <p:sp>
        <p:nvSpPr>
          <p:cNvPr id="9" name="p13-x-1">
            <a:extLst xmlns:a="http://schemas.openxmlformats.org/drawingml/2006/main">
              <a:ext uri="{FF2B5EF4-FFF2-40B4-BE49-F238E27FC236}">
                <a16:creationId xmlns:a16="http://schemas.microsoft.com/office/drawing/2014/main" id="{36CF7543-81E6-4594-95E5-42781D48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3-error-1">
            <a:extLst xmlns:a="http://schemas.openxmlformats.org/drawingml/2006/main">
              <a:ext uri="{FF2B5EF4-FFF2-40B4-BE49-F238E27FC236}">
                <a16:creationId xmlns:a16="http://schemas.microsoft.com/office/drawing/2014/main" id="{00E01453-4F0A-4CA8-A0A8-E3BBC365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可运行 / 可演示原型</a:t>
            </a:r>
          </a:p>
        </p:txBody>
      </p:sp>
      <p:sp>
        <p:nvSpPr>
          <p:cNvPr id="11" name="p13-x-2">
            <a:extLst xmlns:a="http://schemas.openxmlformats.org/drawingml/2006/main">
              <a:ext uri="{FF2B5EF4-FFF2-40B4-BE49-F238E27FC236}">
                <a16:creationId xmlns:a16="http://schemas.microsoft.com/office/drawing/2014/main" id="{129B5344-CC12-4945-A5AF-D8428330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p13-error-2">
            <a:extLst xmlns:a="http://schemas.openxmlformats.org/drawingml/2006/main">
              <a:ext uri="{FF2B5EF4-FFF2-40B4-BE49-F238E27FC236}">
                <a16:creationId xmlns:a16="http://schemas.microsoft.com/office/drawing/2014/main" id="{E98E59BD-4560-4AFF-AF3E-3CAFC879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Context / Memory / 工件</a:t>
            </a:r>
          </a:p>
        </p:txBody>
      </p:sp>
      <p:sp>
        <p:nvSpPr>
          <p:cNvPr id="13" name="p13-x-3">
            <a:extLst xmlns:a="http://schemas.openxmlformats.org/drawingml/2006/main">
              <a:ext uri="{FF2B5EF4-FFF2-40B4-BE49-F238E27FC236}">
                <a16:creationId xmlns:a16="http://schemas.microsoft.com/office/drawing/2014/main" id="{B0A3997F-84CB-40B8-A2EC-F631A62E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p13-error-3">
            <a:extLst xmlns:a="http://schemas.openxmlformats.org/drawingml/2006/main">
              <a:ext uri="{FF2B5EF4-FFF2-40B4-BE49-F238E27FC236}">
                <a16:creationId xmlns:a16="http://schemas.microsoft.com/office/drawing/2014/main" id="{1F6A043D-A8AE-4752-86B3-BAC7BD4C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 / 预算 / 停止 / 确认</a:t>
            </a:r>
          </a:p>
        </p:txBody>
      </p:sp>
      <p:sp>
        <p:nvSpPr>
          <p:cNvPr id="15" name="p13-x-4">
            <a:extLst xmlns:a="http://schemas.openxmlformats.org/drawingml/2006/main">
              <a:ext uri="{FF2B5EF4-FFF2-40B4-BE49-F238E27FC236}">
                <a16:creationId xmlns:a16="http://schemas.microsoft.com/office/drawing/2014/main" id="{9E5DBEA8-798C-4526-94F9-9A4F0702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6" name="p13-error-4">
            <a:extLst xmlns:a="http://schemas.openxmlformats.org/drawingml/2006/main">
              <a:ext uri="{FF2B5EF4-FFF2-40B4-BE49-F238E27FC236}">
                <a16:creationId xmlns:a16="http://schemas.microsoft.com/office/drawing/2014/main" id="{151BA0B4-FEE8-44EE-9F74-7156E548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可重复评价 + 对照</a:t>
            </a:r>
          </a:p>
        </p:txBody>
      </p:sp>
      <p:sp>
        <p:nvSpPr>
          <p:cNvPr id="17" name="p13-x-5">
            <a:extLst xmlns:a="http://schemas.openxmlformats.org/drawingml/2006/main">
              <a:ext uri="{FF2B5EF4-FFF2-40B4-BE49-F238E27FC236}">
                <a16:creationId xmlns:a16="http://schemas.microsoft.com/office/drawing/2014/main" id="{C61256D1-2788-4035-B1FE-2F296955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8" name="p13-error-5">
            <a:extLst xmlns:a="http://schemas.openxmlformats.org/drawingml/2006/main">
              <a:ext uri="{FF2B5EF4-FFF2-40B4-BE49-F238E27FC236}">
                <a16:creationId xmlns:a16="http://schemas.microsoft.com/office/drawing/2014/main" id="{255FAFB0-BB24-41C3-BF55-3A6930FA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 / 无效 / 局限保留</a:t>
            </a:r>
          </a:p>
        </p:txBody>
      </p:sp>
      <p:sp>
        <p:nvSpPr>
          <p:cNvPr id="19" name="p13-x-6">
            <a:extLst xmlns:a="http://schemas.openxmlformats.org/drawingml/2006/main">
              <a:ext uri="{FF2B5EF4-FFF2-40B4-BE49-F238E27FC236}">
                <a16:creationId xmlns:a16="http://schemas.microsoft.com/office/drawing/2014/main" id="{AD019980-8AFC-46EC-9354-D56606D3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0" name="p13-error-6">
            <a:extLst xmlns:a="http://schemas.openxmlformats.org/drawingml/2006/main">
              <a:ext uri="{FF2B5EF4-FFF2-40B4-BE49-F238E27FC236}">
                <a16:creationId xmlns:a16="http://schemas.microsoft.com/office/drawing/2014/main" id="{9E22E102-87E5-478A-B39B-35D3C0EA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输出有人工审核</a:t>
            </a:r>
          </a:p>
        </p:txBody>
      </p:sp>
      <p:sp>
        <p:nvSpPr>
          <p:cNvPr id="21" name="p13-x-7">
            <a:extLst xmlns:a="http://schemas.openxmlformats.org/drawingml/2006/main">
              <a:ext uri="{FF2B5EF4-FFF2-40B4-BE49-F238E27FC236}">
                <a16:creationId xmlns:a16="http://schemas.microsoft.com/office/drawing/2014/main" id="{E5FBB88C-F771-4FA9-97EF-DC51A998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22" name="p13-error-7">
            <a:extLst xmlns:a="http://schemas.openxmlformats.org/drawingml/2006/main">
              <a:ext uri="{FF2B5EF4-FFF2-40B4-BE49-F238E27FC236}">
                <a16:creationId xmlns:a16="http://schemas.microsoft.com/office/drawing/2014/main" id="{A4E4223C-924D-49A9-A993-6E7D3C1D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报告实际影响</a:t>
            </a:r>
          </a:p>
        </p:txBody>
      </p:sp>
      <p:sp>
        <p:nvSpPr>
          <p:cNvPr id="23" name="p13-x-8">
            <a:extLst xmlns:a="http://schemas.openxmlformats.org/drawingml/2006/main">
              <a:ext uri="{FF2B5EF4-FFF2-40B4-BE49-F238E27FC236}">
                <a16:creationId xmlns:a16="http://schemas.microsoft.com/office/drawing/2014/main" id="{575E9852-B4C2-4309-8394-D02D9439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24" name="p13-error-8">
            <a:extLst xmlns:a="http://schemas.openxmlformats.org/drawingml/2006/main">
              <a:ext uri="{FF2B5EF4-FFF2-40B4-BE49-F238E27FC236}">
                <a16:creationId xmlns:a16="http://schemas.microsoft.com/office/drawing/2014/main" id="{01208096-F7E3-47B1-8146-77992ACB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强度 / 冲突 / 缺失</a:t>
            </a:r>
          </a:p>
        </p:txBody>
      </p:sp>
      <p:sp>
        <p:nvSpPr>
          <p:cNvPr id="25" name="p13-x-9">
            <a:extLst xmlns:a="http://schemas.openxmlformats.org/drawingml/2006/main">
              <a:ext uri="{FF2B5EF4-FFF2-40B4-BE49-F238E27FC236}">
                <a16:creationId xmlns:a16="http://schemas.microsoft.com/office/drawing/2014/main" id="{AEF743C4-2D61-4E8B-B551-4B55F434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29100"/>
            <a:ext cx="571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26" name="p13-error-9">
            <a:extLst xmlns:a="http://schemas.openxmlformats.org/drawingml/2006/main">
              <a:ext uri="{FF2B5EF4-FFF2-40B4-BE49-F238E27FC236}">
                <a16:creationId xmlns:a16="http://schemas.microsoft.com/office/drawing/2014/main" id="{08508FCF-FFCD-4A35-88B6-5E044F2E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2291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伦理三项更新</a:t>
            </a:r>
          </a:p>
        </p:txBody>
      </p:sp>
      <p:sp>
        <p:nvSpPr>
          <p:cNvPr id="27" name="p13-separator">
            <a:extLst xmlns:a="http://schemas.openxmlformats.org/drawingml/2006/main">
              <a:ext uri="{FF2B5EF4-FFF2-40B4-BE49-F238E27FC236}">
                <a16:creationId xmlns:a16="http://schemas.microsoft.com/office/drawing/2014/main" id="{FC411C60-7AA1-4222-AC96-6C471DC3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38775" y="299085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13-questions-title">
            <a:extLst xmlns:a="http://schemas.openxmlformats.org/drawingml/2006/main">
              <a:ext uri="{FF2B5EF4-FFF2-40B4-BE49-F238E27FC236}">
                <a16:creationId xmlns:a16="http://schemas.microsoft.com/office/drawing/2014/main" id="{07F68B3E-4D24-4B98-8AC7-98E59B3D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90600"/>
            <a:ext cx="3638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本课补全重点</a:t>
            </a:r>
          </a:p>
        </p:txBody>
      </p:sp>
      <p:sp>
        <p:nvSpPr>
          <p:cNvPr id="29" name="p13-qn-0">
            <a:extLst xmlns:a="http://schemas.openxmlformats.org/drawingml/2006/main">
              <a:ext uri="{FF2B5EF4-FFF2-40B4-BE49-F238E27FC236}">
                <a16:creationId xmlns:a16="http://schemas.microsoft.com/office/drawing/2014/main" id="{521BF812-6EBE-4AF2-B74E-A3DB303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Ⅰ</a:t>
            </a:r>
          </a:p>
        </p:txBody>
      </p:sp>
      <p:sp>
        <p:nvSpPr>
          <p:cNvPr id="30" name="p13-q-0">
            <a:extLst xmlns:a="http://schemas.openxmlformats.org/drawingml/2006/main">
              <a:ext uri="{FF2B5EF4-FFF2-40B4-BE49-F238E27FC236}">
                <a16:creationId xmlns:a16="http://schemas.microsoft.com/office/drawing/2014/main" id="{060EB3D3-F55B-4087-89C8-2F919B45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12 课任务契约与原型是否齐全？</a:t>
            </a:r>
          </a:p>
        </p:txBody>
      </p:sp>
      <p:sp>
        <p:nvSpPr>
          <p:cNvPr id="31" name="p13-qn-1">
            <a:extLst xmlns:a="http://schemas.openxmlformats.org/drawingml/2006/main">
              <a:ext uri="{FF2B5EF4-FFF2-40B4-BE49-F238E27FC236}">
                <a16:creationId xmlns:a16="http://schemas.microsoft.com/office/drawing/2014/main" id="{4A176C52-EAAD-4BCC-B864-30F05BE9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Ⅱ</a:t>
            </a:r>
          </a:p>
        </p:txBody>
      </p:sp>
      <p:sp>
        <p:nvSpPr>
          <p:cNvPr id="32" name="p13-q-1">
            <a:extLst xmlns:a="http://schemas.openxmlformats.org/drawingml/2006/main">
              <a:ext uri="{FF2B5EF4-FFF2-40B4-BE49-F238E27FC236}">
                <a16:creationId xmlns:a16="http://schemas.microsoft.com/office/drawing/2014/main" id="{FC67B32A-CE35-4B19-8B2E-8A8D39C5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288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评价能被另一位检查者重复吗？</a:t>
            </a:r>
          </a:p>
        </p:txBody>
      </p:sp>
      <p:sp>
        <p:nvSpPr>
          <p:cNvPr id="33" name="p13-qn-2">
            <a:extLst xmlns:a="http://schemas.openxmlformats.org/drawingml/2006/main">
              <a:ext uri="{FF2B5EF4-FFF2-40B4-BE49-F238E27FC236}">
                <a16:creationId xmlns:a16="http://schemas.microsoft.com/office/drawing/2014/main" id="{1386AD79-9776-4CFE-AABB-8D8BB12E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Ⅲ</a:t>
            </a:r>
          </a:p>
        </p:txBody>
      </p:sp>
      <p:sp>
        <p:nvSpPr>
          <p:cNvPr id="34" name="p13-q-2">
            <a:extLst xmlns:a="http://schemas.openxmlformats.org/drawingml/2006/main">
              <a:ext uri="{FF2B5EF4-FFF2-40B4-BE49-F238E27FC236}">
                <a16:creationId xmlns:a16="http://schemas.microsoft.com/office/drawing/2014/main" id="{6ACE417E-7F8D-4FFA-9B73-2768D500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956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失败与人工审核是否有 trace？</a:t>
            </a:r>
          </a:p>
        </p:txBody>
      </p:sp>
      <p:sp>
        <p:nvSpPr>
          <p:cNvPr id="35" name="p13-qn-3">
            <a:extLst xmlns:a="http://schemas.openxmlformats.org/drawingml/2006/main">
              <a:ext uri="{FF2B5EF4-FFF2-40B4-BE49-F238E27FC236}">
                <a16:creationId xmlns:a16="http://schemas.microsoft.com/office/drawing/2014/main" id="{4DC6410A-C799-4406-852C-E3EC1B65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Ⅳ</a:t>
            </a:r>
          </a:p>
        </p:txBody>
      </p:sp>
      <p:sp>
        <p:nvSpPr>
          <p:cNvPr id="36" name="p13-q-3">
            <a:extLst xmlns:a="http://schemas.openxmlformats.org/drawingml/2006/main">
              <a:ext uri="{FF2B5EF4-FFF2-40B4-BE49-F238E27FC236}">
                <a16:creationId xmlns:a16="http://schemas.microsoft.com/office/drawing/2014/main" id="{3E1A1370-B524-4B75-9998-8B60C658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623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实际影响与证据充分吗？</a:t>
            </a:r>
          </a:p>
        </p:txBody>
      </p:sp>
      <p:sp>
        <p:nvSpPr>
          <p:cNvPr id="37" name="p13-qn-4">
            <a:extLst xmlns:a="http://schemas.openxmlformats.org/drawingml/2006/main">
              <a:ext uri="{FF2B5EF4-FFF2-40B4-BE49-F238E27FC236}">
                <a16:creationId xmlns:a16="http://schemas.microsoft.com/office/drawing/2014/main" id="{7B24AA40-CC08-481E-BD00-B2ACC1C0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Ⅴ</a:t>
            </a:r>
          </a:p>
        </p:txBody>
      </p:sp>
      <p:sp>
        <p:nvSpPr>
          <p:cNvPr id="38" name="p13-q-4">
            <a:extLst xmlns:a="http://schemas.openxmlformats.org/drawingml/2006/main">
              <a:ext uri="{FF2B5EF4-FFF2-40B4-BE49-F238E27FC236}">
                <a16:creationId xmlns:a16="http://schemas.microsoft.com/office/drawing/2014/main" id="{A4336E8C-2997-4CD8-BC44-14FB61BE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29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伦理三条是否更新到当前工作流？</a:t>
            </a:r>
          </a:p>
        </p:txBody>
      </p:sp>
      <p:sp>
        <p:nvSpPr>
          <p:cNvPr id="39" name="p13-bottom">
            <a:extLst xmlns:a="http://schemas.openxmlformats.org/drawingml/2006/main">
              <a:ext uri="{FF2B5EF4-FFF2-40B4-BE49-F238E27FC236}">
                <a16:creationId xmlns:a16="http://schemas.microsoft.com/office/drawing/2014/main" id="{449E0D47-6D62-43FB-B9E8-38061C12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19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权威来源：assignments.md Checkpoint 3；本页不新增、不弱化门条件。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贯穿案例把工作流原型收口为验证门材料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2-watermark">
            <a:extLst xmlns:a="http://schemas.openxmlformats.org/drawingml/2006/main">
              <a:ext uri="{FF2B5EF4-FFF2-40B4-BE49-F238E27FC236}">
                <a16:creationId xmlns:a16="http://schemas.microsoft.com/office/drawing/2014/main" id="{ED3A3EFF-84D4-4DC0-8D55-BAD0B0A3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87630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贯穿案例｜0.18±0.03 等数值为虚构教学示例</a:t>
            </a:r>
          </a:p>
        </p:txBody>
      </p:sp>
      <p:sp>
        <p:nvSpPr>
          <p:cNvPr id="7" name="p12-line-0">
            <a:extLst xmlns:a="http://schemas.openxmlformats.org/drawingml/2006/main">
              <a:ext uri="{FF2B5EF4-FFF2-40B4-BE49-F238E27FC236}">
                <a16:creationId xmlns:a16="http://schemas.microsoft.com/office/drawing/2014/main" id="{C57BA47A-ACFA-4184-AED4-34147F48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2-line-1">
            <a:extLst xmlns:a="http://schemas.openxmlformats.org/drawingml/2006/main">
              <a:ext uri="{FF2B5EF4-FFF2-40B4-BE49-F238E27FC236}">
                <a16:creationId xmlns:a16="http://schemas.microsoft.com/office/drawing/2014/main" id="{151A909A-69BB-4AA1-8794-98308830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338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2-line-2">
            <a:extLst xmlns:a="http://schemas.openxmlformats.org/drawingml/2006/main">
              <a:ext uri="{FF2B5EF4-FFF2-40B4-BE49-F238E27FC236}">
                <a16:creationId xmlns:a16="http://schemas.microsoft.com/office/drawing/2014/main" id="{7319D98F-588D-4A18-A5A8-BA2C10C3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008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2-line-3">
            <a:extLst xmlns:a="http://schemas.openxmlformats.org/drawingml/2006/main">
              <a:ext uri="{FF2B5EF4-FFF2-40B4-BE49-F238E27FC236}">
                <a16:creationId xmlns:a16="http://schemas.microsoft.com/office/drawing/2014/main" id="{C8734721-3DFE-4F4B-A56B-AFEE4F97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2-number-0">
            <a:extLst xmlns:a="http://schemas.openxmlformats.org/drawingml/2006/main">
              <a:ext uri="{FF2B5EF4-FFF2-40B4-BE49-F238E27FC236}">
                <a16:creationId xmlns:a16="http://schemas.microsoft.com/office/drawing/2014/main" id="{F93F61E0-12C9-44EA-BE34-13A50C26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p12-step-0">
            <a:extLst xmlns:a="http://schemas.openxmlformats.org/drawingml/2006/main">
              <a:ext uri="{FF2B5EF4-FFF2-40B4-BE49-F238E27FC236}">
                <a16:creationId xmlns:a16="http://schemas.microsoft.com/office/drawing/2014/main" id="{1C0ED6A2-14A0-4CB9-8E0A-E0D576E9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选评价维度</a:t>
            </a:r>
          </a:p>
        </p:txBody>
      </p:sp>
      <p:sp>
        <p:nvSpPr>
          <p:cNvPr id="13" name="p12-number-1">
            <a:extLst xmlns:a="http://schemas.openxmlformats.org/drawingml/2006/main">
              <a:ext uri="{FF2B5EF4-FFF2-40B4-BE49-F238E27FC236}">
                <a16:creationId xmlns:a16="http://schemas.microsoft.com/office/drawing/2014/main" id="{A9C28DA4-5D2C-4D30-8D17-5E5067BF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p12-step-1">
            <a:extLst xmlns:a="http://schemas.openxmlformats.org/drawingml/2006/main">
              <a:ext uri="{FF2B5EF4-FFF2-40B4-BE49-F238E27FC236}">
                <a16:creationId xmlns:a16="http://schemas.microsoft.com/office/drawing/2014/main" id="{43524D41-A529-40EC-AE65-C7467066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固定输入/协议</a:t>
            </a:r>
          </a:p>
        </p:txBody>
      </p:sp>
      <p:sp>
        <p:nvSpPr>
          <p:cNvPr id="15" name="p12-number-2">
            <a:extLst xmlns:a="http://schemas.openxmlformats.org/drawingml/2006/main">
              <a:ext uri="{FF2B5EF4-FFF2-40B4-BE49-F238E27FC236}">
                <a16:creationId xmlns:a16="http://schemas.microsoft.com/office/drawing/2014/main" id="{10CF8982-FC53-48CE-B187-6C803B20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p12-step-2">
            <a:extLst xmlns:a="http://schemas.openxmlformats.org/drawingml/2006/main">
              <a:ext uri="{FF2B5EF4-FFF2-40B4-BE49-F238E27FC236}">
                <a16:creationId xmlns:a16="http://schemas.microsoft.com/office/drawing/2014/main" id="{FA9D1B24-A61A-4153-86A4-30EA86EC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对比 baseline</a:t>
            </a:r>
          </a:p>
        </p:txBody>
      </p:sp>
      <p:sp>
        <p:nvSpPr>
          <p:cNvPr id="17" name="p12-number-3">
            <a:extLst xmlns:a="http://schemas.openxmlformats.org/drawingml/2006/main">
              <a:ext uri="{FF2B5EF4-FFF2-40B4-BE49-F238E27FC236}">
                <a16:creationId xmlns:a16="http://schemas.microsoft.com/office/drawing/2014/main" id="{D26289AF-1D34-4983-B5C5-F6C05E40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p12-step-3">
            <a:extLst xmlns:a="http://schemas.openxmlformats.org/drawingml/2006/main">
              <a:ext uri="{FF2B5EF4-FFF2-40B4-BE49-F238E27FC236}">
                <a16:creationId xmlns:a16="http://schemas.microsoft.com/office/drawing/2014/main" id="{B823A243-966B-465C-9983-FBFB7335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记录负向结果</a:t>
            </a:r>
          </a:p>
        </p:txBody>
      </p:sp>
      <p:sp>
        <p:nvSpPr>
          <p:cNvPr id="19" name="p12-number-4">
            <a:extLst xmlns:a="http://schemas.openxmlformats.org/drawingml/2006/main">
              <a:ext uri="{FF2B5EF4-FFF2-40B4-BE49-F238E27FC236}">
                <a16:creationId xmlns:a16="http://schemas.microsoft.com/office/drawing/2014/main" id="{C3BC4CB5-FA53-424B-968B-CA4D4BA0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p12-step-4">
            <a:extLst xmlns:a="http://schemas.openxmlformats.org/drawingml/2006/main">
              <a:ext uri="{FF2B5EF4-FFF2-40B4-BE49-F238E27FC236}">
                <a16:creationId xmlns:a16="http://schemas.microsoft.com/office/drawing/2014/main" id="{C480F172-758F-4C09-80A6-F332392A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分类失败根因</a:t>
            </a:r>
          </a:p>
        </p:txBody>
      </p:sp>
      <p:sp>
        <p:nvSpPr>
          <p:cNvPr id="21" name="p12-audit-h-0">
            <a:extLst xmlns:a="http://schemas.openxmlformats.org/drawingml/2006/main">
              <a:ext uri="{FF2B5EF4-FFF2-40B4-BE49-F238E27FC236}">
                <a16:creationId xmlns:a16="http://schemas.microsoft.com/office/drawing/2014/main" id="{EE1AE540-4B82-4C41-9B50-16CC010D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24100"/>
            <a:ext cx="390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后续动作</a:t>
            </a:r>
          </a:p>
        </p:txBody>
      </p:sp>
      <p:sp>
        <p:nvSpPr>
          <p:cNvPr id="22" name="p12-audit-h-1">
            <a:extLst xmlns:a="http://schemas.openxmlformats.org/drawingml/2006/main">
              <a:ext uri="{FF2B5EF4-FFF2-40B4-BE49-F238E27FC236}">
                <a16:creationId xmlns:a16="http://schemas.microsoft.com/office/drawing/2014/main" id="{BA5EFC10-46B3-4673-81C9-B0140ED1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241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</a:t>
            </a:r>
          </a:p>
        </p:txBody>
      </p:sp>
      <p:sp>
        <p:nvSpPr>
          <p:cNvPr id="23" name="p12-audit-h-2">
            <a:extLst xmlns:a="http://schemas.openxmlformats.org/drawingml/2006/main">
              <a:ext uri="{FF2B5EF4-FFF2-40B4-BE49-F238E27FC236}">
                <a16:creationId xmlns:a16="http://schemas.microsoft.com/office/drawing/2014/main" id="{8C3FF18D-32FF-41C4-BA3D-DD4CD55E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241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工件</a:t>
            </a:r>
          </a:p>
        </p:txBody>
      </p:sp>
      <p:sp>
        <p:nvSpPr>
          <p:cNvPr id="24" name="p12-audit-r0-0">
            <a:extLst xmlns:a="http://schemas.openxmlformats.org/drawingml/2006/main">
              <a:ext uri="{FF2B5EF4-FFF2-40B4-BE49-F238E27FC236}">
                <a16:creationId xmlns:a16="http://schemas.microsoft.com/office/drawing/2014/main" id="{D6325DF4-21F5-4750-9E6F-B9FE1825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6 人工审核</a:t>
            </a:r>
          </a:p>
        </p:txBody>
      </p:sp>
      <p:sp>
        <p:nvSpPr>
          <p:cNvPr id="25" name="p12-audit-r0-1">
            <a:extLst xmlns:a="http://schemas.openxmlformats.org/drawingml/2006/main">
              <a:ext uri="{FF2B5EF4-FFF2-40B4-BE49-F238E27FC236}">
                <a16:creationId xmlns:a16="http://schemas.microsoft.com/office/drawing/2014/main" id="{CFA15B04-6109-467D-A318-DD83AD32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813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3 条错标：2 修改，1 拒绝</a:t>
            </a:r>
          </a:p>
        </p:txBody>
      </p:sp>
      <p:sp>
        <p:nvSpPr>
          <p:cNvPr id="26" name="p12-audit-r0-2">
            <a:extLst xmlns:a="http://schemas.openxmlformats.org/drawingml/2006/main">
              <a:ext uri="{FF2B5EF4-FFF2-40B4-BE49-F238E27FC236}">
                <a16:creationId xmlns:a16="http://schemas.microsoft.com/office/drawing/2014/main" id="{8A2F4CF6-0757-4AF3-945D-834CBD02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813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review trace</a:t>
            </a:r>
          </a:p>
        </p:txBody>
      </p:sp>
      <p:sp>
        <p:nvSpPr>
          <p:cNvPr id="27" name="p12-audit-r1-0">
            <a:extLst xmlns:a="http://schemas.openxmlformats.org/drawingml/2006/main">
              <a:ext uri="{FF2B5EF4-FFF2-40B4-BE49-F238E27FC236}">
                <a16:creationId xmlns:a16="http://schemas.microsoft.com/office/drawing/2014/main" id="{B08CF45E-DBD9-45BD-8326-9CB4508B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7 证据充分性</a:t>
            </a:r>
          </a:p>
        </p:txBody>
      </p:sp>
      <p:sp>
        <p:nvSpPr>
          <p:cNvPr id="28" name="p12-audit-r1-1">
            <a:extLst xmlns:a="http://schemas.openxmlformats.org/drawingml/2006/main">
              <a:ext uri="{FF2B5EF4-FFF2-40B4-BE49-F238E27FC236}">
                <a16:creationId xmlns:a16="http://schemas.microsoft.com/office/drawing/2014/main" id="{DD49AE2F-DAE8-4995-B170-06D37258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H1 中等支持；A2 未判断</a:t>
            </a:r>
          </a:p>
        </p:txBody>
      </p:sp>
      <p:sp>
        <p:nvSpPr>
          <p:cNvPr id="29" name="p12-audit-r1-2">
            <a:extLst xmlns:a="http://schemas.openxmlformats.org/drawingml/2006/main">
              <a:ext uri="{FF2B5EF4-FFF2-40B4-BE49-F238E27FC236}">
                <a16:creationId xmlns:a16="http://schemas.microsoft.com/office/drawing/2014/main" id="{DB1CFBFD-4244-467B-A9B7-2EBB306F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5052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evidence table</a:t>
            </a:r>
          </a:p>
        </p:txBody>
      </p:sp>
      <p:sp>
        <p:nvSpPr>
          <p:cNvPr id="30" name="p12-audit-r2-0">
            <a:extLst xmlns:a="http://schemas.openxmlformats.org/drawingml/2006/main">
              <a:ext uri="{FF2B5EF4-FFF2-40B4-BE49-F238E27FC236}">
                <a16:creationId xmlns:a16="http://schemas.microsoft.com/office/drawing/2014/main" id="{D8761422-4244-4129-A00F-03E385B1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8 威胁有效性</a:t>
            </a:r>
          </a:p>
        </p:txBody>
      </p:sp>
      <p:sp>
        <p:nvSpPr>
          <p:cNvPr id="31" name="p12-audit-r2-1">
            <a:extLst xmlns:a="http://schemas.openxmlformats.org/drawingml/2006/main">
              <a:ext uri="{FF2B5EF4-FFF2-40B4-BE49-F238E27FC236}">
                <a16:creationId xmlns:a16="http://schemas.microsoft.com/office/drawing/2014/main" id="{0D8EA989-E4E7-4733-88FC-143C475E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291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n=20/CS 单一/时间控制未跑</a:t>
            </a:r>
          </a:p>
        </p:txBody>
      </p:sp>
      <p:sp>
        <p:nvSpPr>
          <p:cNvPr id="32" name="p12-audit-r2-2">
            <a:extLst xmlns:a="http://schemas.openxmlformats.org/drawingml/2006/main">
              <a:ext uri="{FF2B5EF4-FFF2-40B4-BE49-F238E27FC236}">
                <a16:creationId xmlns:a16="http://schemas.microsoft.com/office/drawing/2014/main" id="{123E9A35-D698-4B14-B0ED-B888E610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2291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threats</a:t>
            </a:r>
          </a:p>
        </p:txBody>
      </p:sp>
      <p:sp>
        <p:nvSpPr>
          <p:cNvPr id="33" name="p12-bottom">
            <a:extLst xmlns:a="http://schemas.openxmlformats.org/drawingml/2006/main">
              <a:ext uri="{FF2B5EF4-FFF2-40B4-BE49-F238E27FC236}">
                <a16:creationId xmlns:a16="http://schemas.microsoft.com/office/drawing/2014/main" id="{37C45680-A848-4FFD-AB8A-86EBBB82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1015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9 伦理更新：数据访问 / 工具权限 / 外部服务边界 → 验证门自查。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实践停留页：把评价、失败与伦理写回个人项目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4-time">
            <a:extLst xmlns:a="http://schemas.openxmlformats.org/drawingml/2006/main">
              <a:ext uri="{FF2B5EF4-FFF2-40B4-BE49-F238E27FC236}">
                <a16:creationId xmlns:a16="http://schemas.microsoft.com/office/drawing/2014/main" id="{527D6F77-DD53-4250-9A20-D47FD444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8763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43:00–60:00｜停留本页</a:t>
            </a:r>
          </a:p>
        </p:txBody>
      </p:sp>
      <p:sp>
        <p:nvSpPr>
          <p:cNvPr id="7" name="p14-line-0">
            <a:extLst xmlns:a="http://schemas.openxmlformats.org/drawingml/2006/main">
              <a:ext uri="{FF2B5EF4-FFF2-40B4-BE49-F238E27FC236}">
                <a16:creationId xmlns:a16="http://schemas.microsoft.com/office/drawing/2014/main" id="{60C1985F-AD02-4B81-96B5-403BC2ED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19002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4-line-1">
            <a:extLst xmlns:a="http://schemas.openxmlformats.org/drawingml/2006/main">
              <a:ext uri="{FF2B5EF4-FFF2-40B4-BE49-F238E27FC236}">
                <a16:creationId xmlns:a16="http://schemas.microsoft.com/office/drawing/2014/main" id="{073C8F07-5D6C-428A-B63C-220851B8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253841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4-line-2">
            <a:extLst xmlns:a="http://schemas.openxmlformats.org/drawingml/2006/main">
              <a:ext uri="{FF2B5EF4-FFF2-40B4-BE49-F238E27FC236}">
                <a16:creationId xmlns:a16="http://schemas.microsoft.com/office/drawing/2014/main" id="{6C0D6C51-A836-487B-9C04-1F5E64A6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17658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4-line-3">
            <a:extLst xmlns:a="http://schemas.openxmlformats.org/drawingml/2006/main">
              <a:ext uri="{FF2B5EF4-FFF2-40B4-BE49-F238E27FC236}">
                <a16:creationId xmlns:a16="http://schemas.microsoft.com/office/drawing/2014/main" id="{0450A5EB-907A-40A1-967B-FEA9C922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81476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4-line-4">
            <a:extLst xmlns:a="http://schemas.openxmlformats.org/drawingml/2006/main">
              <a:ext uri="{FF2B5EF4-FFF2-40B4-BE49-F238E27FC236}">
                <a16:creationId xmlns:a16="http://schemas.microsoft.com/office/drawing/2014/main" id="{28A509D0-BAB8-4685-9B72-27509EA5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44529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4-n-0">
            <a:extLst xmlns:a="http://schemas.openxmlformats.org/drawingml/2006/main">
              <a:ext uri="{FF2B5EF4-FFF2-40B4-BE49-F238E27FC236}">
                <a16:creationId xmlns:a16="http://schemas.microsoft.com/office/drawing/2014/main" id="{F64FFAEB-F06E-413E-A107-F31224C4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097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p14-task-0">
            <a:extLst xmlns:a="http://schemas.openxmlformats.org/drawingml/2006/main">
              <a:ext uri="{FF2B5EF4-FFF2-40B4-BE49-F238E27FC236}">
                <a16:creationId xmlns:a16="http://schemas.microsoft.com/office/drawing/2014/main" id="{0E678AC3-8198-4E9D-9A4E-29274D46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4097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evaluation-report.md｜评价问题 + baseline</a:t>
            </a:r>
          </a:p>
        </p:txBody>
      </p:sp>
      <p:sp>
        <p:nvSpPr>
          <p:cNvPr id="14" name="p14-n-1">
            <a:extLst xmlns:a="http://schemas.openxmlformats.org/drawingml/2006/main">
              <a:ext uri="{FF2B5EF4-FFF2-40B4-BE49-F238E27FC236}">
                <a16:creationId xmlns:a16="http://schemas.microsoft.com/office/drawing/2014/main" id="{29F7F8AD-C6BC-4756-B83D-3A3F35A0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p14-task-1">
            <a:extLst xmlns:a="http://schemas.openxmlformats.org/drawingml/2006/main">
              <a:ext uri="{FF2B5EF4-FFF2-40B4-BE49-F238E27FC236}">
                <a16:creationId xmlns:a16="http://schemas.microsoft.com/office/drawing/2014/main" id="{90C77512-D4D5-4813-8A7C-B8F4D4DA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478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experiments/｜结果 + 失败运行日志</a:t>
            </a:r>
          </a:p>
        </p:txBody>
      </p:sp>
      <p:sp>
        <p:nvSpPr>
          <p:cNvPr id="16" name="p14-n-2">
            <a:extLst xmlns:a="http://schemas.openxmlformats.org/drawingml/2006/main">
              <a:ext uri="{FF2B5EF4-FFF2-40B4-BE49-F238E27FC236}">
                <a16:creationId xmlns:a16="http://schemas.microsoft.com/office/drawing/2014/main" id="{38C772B7-1744-428E-9A12-3BBC1236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p14-task-2">
            <a:extLst xmlns:a="http://schemas.openxmlformats.org/drawingml/2006/main">
              <a:ext uri="{FF2B5EF4-FFF2-40B4-BE49-F238E27FC236}">
                <a16:creationId xmlns:a16="http://schemas.microsoft.com/office/drawing/2014/main" id="{790AF569-E73D-4703-8341-F66FD674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8605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evaluation-report.md｜假设映射 + 审核</a:t>
            </a:r>
          </a:p>
        </p:txBody>
      </p:sp>
      <p:sp>
        <p:nvSpPr>
          <p:cNvPr id="18" name="p14-n-3">
            <a:extLst xmlns:a="http://schemas.openxmlformats.org/drawingml/2006/main">
              <a:ext uri="{FF2B5EF4-FFF2-40B4-BE49-F238E27FC236}">
                <a16:creationId xmlns:a16="http://schemas.microsoft.com/office/drawing/2014/main" id="{E4ADEA21-CAD3-4C70-8017-1879A10B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2422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p14-task-3">
            <a:extLst xmlns:a="http://schemas.openxmlformats.org/drawingml/2006/main">
              <a:ext uri="{FF2B5EF4-FFF2-40B4-BE49-F238E27FC236}">
                <a16:creationId xmlns:a16="http://schemas.microsoft.com/office/drawing/2014/main" id="{0603EB65-21BE-4FC2-A070-D3483AE7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2422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evidence-map.md｜证据充分性更新</a:t>
            </a:r>
          </a:p>
        </p:txBody>
      </p:sp>
      <p:sp>
        <p:nvSpPr>
          <p:cNvPr id="20" name="p14-n-4">
            <a:extLst xmlns:a="http://schemas.openxmlformats.org/drawingml/2006/main">
              <a:ext uri="{FF2B5EF4-FFF2-40B4-BE49-F238E27FC236}">
                <a16:creationId xmlns:a16="http://schemas.microsoft.com/office/drawing/2014/main" id="{477599E5-CCD3-4BF1-A6C7-1F17D99B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p14-task-4">
            <a:extLst xmlns:a="http://schemas.openxmlformats.org/drawingml/2006/main">
              <a:ext uri="{FF2B5EF4-FFF2-40B4-BE49-F238E27FC236}">
                <a16:creationId xmlns:a16="http://schemas.microsoft.com/office/drawing/2014/main" id="{CB9EFE96-9EF0-4ABF-9894-8B12E8B6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624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ethics-and-compliance.md｜伦理三条</a:t>
            </a:r>
          </a:p>
        </p:txBody>
      </p:sp>
      <p:sp>
        <p:nvSpPr>
          <p:cNvPr id="22" name="p14-n-5">
            <a:extLst xmlns:a="http://schemas.openxmlformats.org/drawingml/2006/main">
              <a:ext uri="{FF2B5EF4-FFF2-40B4-BE49-F238E27FC236}">
                <a16:creationId xmlns:a16="http://schemas.microsoft.com/office/drawing/2014/main" id="{222FD65F-CE9E-4D66-BEA1-5345D20E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005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p14-task-5">
            <a:extLst xmlns:a="http://schemas.openxmlformats.org/drawingml/2006/main">
              <a:ext uri="{FF2B5EF4-FFF2-40B4-BE49-F238E27FC236}">
                <a16:creationId xmlns:a16="http://schemas.microsoft.com/office/drawing/2014/main" id="{6550F1B2-B815-4226-9FEE-13D05601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005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ai-usage-log.md｜用途 + Context + 核验</a:t>
            </a:r>
          </a:p>
        </p:txBody>
      </p:sp>
      <p:sp>
        <p:nvSpPr>
          <p:cNvPr id="24" name="p14-min-title">
            <a:extLst xmlns:a="http://schemas.openxmlformats.org/drawingml/2006/main">
              <a:ext uri="{FF2B5EF4-FFF2-40B4-BE49-F238E27FC236}">
                <a16:creationId xmlns:a16="http://schemas.microsoft.com/office/drawing/2014/main" id="{F348741C-2DA1-492C-9214-0D85B7D7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390650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本课可检查的最小产出</a:t>
            </a:r>
          </a:p>
        </p:txBody>
      </p:sp>
      <p:sp>
        <p:nvSpPr>
          <p:cNvPr id="25" name="p14-min">
            <a:extLst xmlns:a="http://schemas.openxmlformats.org/drawingml/2006/main">
              <a:ext uri="{FF2B5EF4-FFF2-40B4-BE49-F238E27FC236}">
                <a16:creationId xmlns:a16="http://schemas.microsoft.com/office/drawing/2014/main" id="{05E5BF8C-5F0D-471F-A2BE-6DEB8C6B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38350"/>
            <a:ext cx="3676650" cy="2495550"/>
          </a:xfrm>
          <a:prstGeom xmlns:a="http://schemas.openxmlformats.org/drawingml/2006/main" prst="roundRect">
            <a:avLst>
              <a:gd name="adj" fmla="val 305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评价维度 + baseline/前后对比｜结果映射｜至少 1 条失败｜至少 1 条人工审核｜证据充分性 + 威胁｜伦理三条</a:t>
            </a:r>
          </a:p>
        </p:txBody>
      </p:sp>
      <p:sp>
        <p:nvSpPr>
          <p:cNvPr id="26" name="p14-fallback">
            <a:extLst xmlns:a="http://schemas.openxmlformats.org/drawingml/2006/main">
              <a:ext uri="{FF2B5EF4-FFF2-40B4-BE49-F238E27FC236}">
                <a16:creationId xmlns:a16="http://schemas.microsoft.com/office/drawing/2014/main" id="{FD85DFC3-B277-414E-844F-694D3911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762500"/>
            <a:ext cx="3981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环境故障：在 Markdown 或纸面完成同一结构；课后再写回项目，不在课堂逐台排障。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同伴按门条件提问题，不替作者做研究决定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5-label-0">
            <a:extLst xmlns:a="http://schemas.openxmlformats.org/drawingml/2006/main">
              <a:ext uri="{FF2B5EF4-FFF2-40B4-BE49-F238E27FC236}">
                <a16:creationId xmlns:a16="http://schemas.microsoft.com/office/drawing/2014/main" id="{4AB489BC-DFA7-492E-AD6C-3A26BBB5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430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任务与原型</a:t>
            </a:r>
          </a:p>
        </p:txBody>
      </p:sp>
      <p:sp>
        <p:nvSpPr>
          <p:cNvPr id="7" name="p15-question-0">
            <a:extLst xmlns:a="http://schemas.openxmlformats.org/drawingml/2006/main">
              <a:ext uri="{FF2B5EF4-FFF2-40B4-BE49-F238E27FC236}">
                <a16:creationId xmlns:a16="http://schemas.microsoft.com/office/drawing/2014/main" id="{3C83C729-0BC4-4252-ABF7-DFE31F3E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1430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动作/成功标准清楚吗？有原型还是只有流程图？</a:t>
            </a:r>
          </a:p>
        </p:txBody>
      </p:sp>
      <p:sp>
        <p:nvSpPr>
          <p:cNvPr id="8" name="p15-label-1">
            <a:extLst xmlns:a="http://schemas.openxmlformats.org/drawingml/2006/main">
              <a:ext uri="{FF2B5EF4-FFF2-40B4-BE49-F238E27FC236}">
                <a16:creationId xmlns:a16="http://schemas.microsoft.com/office/drawing/2014/main" id="{86D45EC5-9E74-4E86-9FCB-E7A54F2A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405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评价与对照</a:t>
            </a:r>
          </a:p>
        </p:txBody>
      </p:sp>
      <p:sp>
        <p:nvSpPr>
          <p:cNvPr id="9" name="p15-question-1">
            <a:extLst xmlns:a="http://schemas.openxmlformats.org/drawingml/2006/main">
              <a:ext uri="{FF2B5EF4-FFF2-40B4-BE49-F238E27FC236}">
                <a16:creationId xmlns:a16="http://schemas.microsoft.com/office/drawing/2014/main" id="{6F14668C-203B-41F0-8856-613DF947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2405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 baseline/对照或等价依据？重复设计相称吗？</a:t>
            </a:r>
          </a:p>
        </p:txBody>
      </p:sp>
      <p:sp>
        <p:nvSpPr>
          <p:cNvPr id="10" name="p15-label-2">
            <a:extLst xmlns:a="http://schemas.openxmlformats.org/drawingml/2006/main">
              <a:ext uri="{FF2B5EF4-FFF2-40B4-BE49-F238E27FC236}">
                <a16:creationId xmlns:a16="http://schemas.microsoft.com/office/drawing/2014/main" id="{4870307E-623C-4E2C-9054-0EAA768E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失败与审核</a:t>
            </a:r>
          </a:p>
        </p:txBody>
      </p:sp>
      <p:sp>
        <p:nvSpPr>
          <p:cNvPr id="11" name="p15-question-2">
            <a:extLst xmlns:a="http://schemas.openxmlformats.org/drawingml/2006/main">
              <a:ext uri="{FF2B5EF4-FFF2-40B4-BE49-F238E27FC236}">
                <a16:creationId xmlns:a16="http://schemas.microsoft.com/office/drawing/2014/main" id="{D0808C69-B981-423D-BD26-5E9034D0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051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失败保留了吗？人工审核理由具体吗？</a:t>
            </a:r>
          </a:p>
        </p:txBody>
      </p:sp>
      <p:sp>
        <p:nvSpPr>
          <p:cNvPr id="12" name="p15-label-3">
            <a:extLst xmlns:a="http://schemas.openxmlformats.org/drawingml/2006/main">
              <a:ext uri="{FF2B5EF4-FFF2-40B4-BE49-F238E27FC236}">
                <a16:creationId xmlns:a16="http://schemas.microsoft.com/office/drawing/2014/main" id="{AA1519C9-39A6-4570-96B5-8AC70653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证据与判断</a:t>
            </a:r>
          </a:p>
        </p:txBody>
      </p:sp>
      <p:sp>
        <p:nvSpPr>
          <p:cNvPr id="13" name="p15-question-3">
            <a:extLst xmlns:a="http://schemas.openxmlformats.org/drawingml/2006/main">
              <a:ext uri="{FF2B5EF4-FFF2-40B4-BE49-F238E27FC236}">
                <a16:creationId xmlns:a16="http://schemas.microsoft.com/office/drawing/2014/main" id="{D6F30B87-D41F-4E3D-A206-F7140961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8615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实际影响写了吗？stable 有两项独立证据吗？</a:t>
            </a:r>
          </a:p>
        </p:txBody>
      </p:sp>
      <p:sp>
        <p:nvSpPr>
          <p:cNvPr id="14" name="p15-label-4">
            <a:extLst xmlns:a="http://schemas.openxmlformats.org/drawingml/2006/main">
              <a:ext uri="{FF2B5EF4-FFF2-40B4-BE49-F238E27FC236}">
                <a16:creationId xmlns:a16="http://schemas.microsoft.com/office/drawing/2014/main" id="{6AB2B7AF-34B4-4E53-BCF9-F25B002C8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权限与伦理</a:t>
            </a:r>
          </a:p>
        </p:txBody>
      </p:sp>
      <p:sp>
        <p:nvSpPr>
          <p:cNvPr id="15" name="p15-question-4">
            <a:extLst xmlns:a="http://schemas.openxmlformats.org/drawingml/2006/main">
              <a:ext uri="{FF2B5EF4-FFF2-40B4-BE49-F238E27FC236}">
                <a16:creationId xmlns:a16="http://schemas.microsoft.com/office/drawing/2014/main" id="{04680E33-595C-4C64-B45B-F3198D1C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672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越权/协议漂移？伦理三条已更新吗？</a:t>
            </a:r>
          </a:p>
        </p:txBody>
      </p:sp>
      <p:sp>
        <p:nvSpPr>
          <p:cNvPr id="16" name="p15-format">
            <a:extLst xmlns:a="http://schemas.openxmlformats.org/drawingml/2006/main">
              <a:ext uri="{FF2B5EF4-FFF2-40B4-BE49-F238E27FC236}">
                <a16:creationId xmlns:a16="http://schemas.microsoft.com/office/drawing/2014/main" id="{08CFB459-0945-4EB8-833D-4B53FB3C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1625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每人 45 秒说明 + 3–5 分钟互查｜记录采纳 / 暂不采纳 / 待核验</a:t>
            </a:r>
          </a:p>
        </p:txBody>
      </p:sp>
      <p:sp>
        <p:nvSpPr>
          <p:cNvPr id="17" name="p15-bottom">
            <a:extLst xmlns:a="http://schemas.openxmlformats.org/drawingml/2006/main">
              <a:ext uri="{FF2B5EF4-FFF2-40B4-BE49-F238E27FC236}">
                <a16:creationId xmlns:a16="http://schemas.microsoft.com/office/drawing/2014/main" id="{25034347-F3F5-40AA-930D-7A0966B3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562600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只提问题，不替作者决定；固定同伴组不形成共同提交。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验证门材料将成为第 14 课结果段与讨论段的直接输入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6-exit-title">
            <a:extLst xmlns:a="http://schemas.openxmlformats.org/drawingml/2006/main">
              <a:ext uri="{FF2B5EF4-FFF2-40B4-BE49-F238E27FC236}">
                <a16:creationId xmlns:a16="http://schemas.microsoft.com/office/drawing/2014/main" id="{E1B0F3B8-70CE-4889-AA60-AAD3005E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7" name="p16-n-0">
            <a:extLst xmlns:a="http://schemas.openxmlformats.org/drawingml/2006/main">
              <a:ext uri="{FF2B5EF4-FFF2-40B4-BE49-F238E27FC236}">
                <a16:creationId xmlns:a16="http://schemas.microsoft.com/office/drawing/2014/main" id="{F52F852F-0FE8-480E-B802-08CC6EEC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6-q-0">
            <a:extLst xmlns:a="http://schemas.openxmlformats.org/drawingml/2006/main">
              <a:ext uri="{FF2B5EF4-FFF2-40B4-BE49-F238E27FC236}">
                <a16:creationId xmlns:a16="http://schemas.microsoft.com/office/drawing/2014/main" id="{03E1C003-D697-4334-BCFC-00FBFD8A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811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评价有 baseline/对照或等价依据吗？</a:t>
            </a:r>
          </a:p>
        </p:txBody>
      </p:sp>
      <p:sp>
        <p:nvSpPr>
          <p:cNvPr id="9" name="p16-n-1">
            <a:extLst xmlns:a="http://schemas.openxmlformats.org/drawingml/2006/main">
              <a:ext uri="{FF2B5EF4-FFF2-40B4-BE49-F238E27FC236}">
                <a16:creationId xmlns:a16="http://schemas.microsoft.com/office/drawing/2014/main" id="{D3D5E220-48CA-4F4A-B29D-AE78E188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6-q-1">
            <a:extLst xmlns:a="http://schemas.openxmlformats.org/drawingml/2006/main">
              <a:ext uri="{FF2B5EF4-FFF2-40B4-BE49-F238E27FC236}">
                <a16:creationId xmlns:a16="http://schemas.microsoft.com/office/drawing/2014/main" id="{DF2C9FE0-2AAB-4D56-B656-4631AB3C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4790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结果映射回 H1 还是只报告数字？</a:t>
            </a:r>
          </a:p>
        </p:txBody>
      </p:sp>
      <p:sp>
        <p:nvSpPr>
          <p:cNvPr id="11" name="p16-n-2">
            <a:extLst xmlns:a="http://schemas.openxmlformats.org/drawingml/2006/main">
              <a:ext uri="{FF2B5EF4-FFF2-40B4-BE49-F238E27FC236}">
                <a16:creationId xmlns:a16="http://schemas.microsoft.com/office/drawing/2014/main" id="{1F933B00-50A2-49A6-9621-B48634E4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6-q-2">
            <a:extLst xmlns:a="http://schemas.openxmlformats.org/drawingml/2006/main">
              <a:ext uri="{FF2B5EF4-FFF2-40B4-BE49-F238E27FC236}">
                <a16:creationId xmlns:a16="http://schemas.microsoft.com/office/drawing/2014/main" id="{93694E98-4837-4B7E-9E68-B9CF5D0A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146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失败被保留并分类了吗？</a:t>
            </a:r>
          </a:p>
        </p:txBody>
      </p:sp>
      <p:sp>
        <p:nvSpPr>
          <p:cNvPr id="13" name="p16-n-3">
            <a:extLst xmlns:a="http://schemas.openxmlformats.org/drawingml/2006/main">
              <a:ext uri="{FF2B5EF4-FFF2-40B4-BE49-F238E27FC236}">
                <a16:creationId xmlns:a16="http://schemas.microsoft.com/office/drawing/2014/main" id="{74A6FE59-FCF3-4D28-8A0E-C186DFF4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6-q-3">
            <a:extLst xmlns:a="http://schemas.openxmlformats.org/drawingml/2006/main">
              <a:ext uri="{FF2B5EF4-FFF2-40B4-BE49-F238E27FC236}">
                <a16:creationId xmlns:a16="http://schemas.microsoft.com/office/drawing/2014/main" id="{ED5B5130-7694-4EA1-97D1-8FC1CCB1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8140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人工审核与证据充分性可追溯吗？</a:t>
            </a:r>
          </a:p>
        </p:txBody>
      </p:sp>
      <p:sp>
        <p:nvSpPr>
          <p:cNvPr id="15" name="p16-n-4">
            <a:extLst xmlns:a="http://schemas.openxmlformats.org/drawingml/2006/main">
              <a:ext uri="{FF2B5EF4-FFF2-40B4-BE49-F238E27FC236}">
                <a16:creationId xmlns:a16="http://schemas.microsoft.com/office/drawing/2014/main" id="{EFECC883-CE44-4712-906F-37E5A81C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6-q-4">
            <a:extLst xmlns:a="http://schemas.openxmlformats.org/drawingml/2006/main">
              <a:ext uri="{FF2B5EF4-FFF2-40B4-BE49-F238E27FC236}">
                <a16:creationId xmlns:a16="http://schemas.microsoft.com/office/drawing/2014/main" id="{C52CE204-CE3C-47A4-9A62-2CF9E7C7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481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伦理三条中哪一项仍需补全？</a:t>
            </a:r>
          </a:p>
        </p:txBody>
      </p:sp>
      <p:sp>
        <p:nvSpPr>
          <p:cNvPr id="17" name="p16-next-title">
            <a:extLst xmlns:a="http://schemas.openxmlformats.org/drawingml/2006/main">
              <a:ext uri="{FF2B5EF4-FFF2-40B4-BE49-F238E27FC236}">
                <a16:creationId xmlns:a16="http://schemas.microsoft.com/office/drawing/2014/main" id="{623D9715-1C91-48DD-8204-2DC1EA83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9060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提交与回退</a:t>
            </a:r>
          </a:p>
        </p:txBody>
      </p:sp>
      <p:sp>
        <p:nvSpPr>
          <p:cNvPr id="18" name="p16-line-1">
            <a:extLst xmlns:a="http://schemas.openxmlformats.org/drawingml/2006/main">
              <a:ext uri="{FF2B5EF4-FFF2-40B4-BE49-F238E27FC236}">
                <a16:creationId xmlns:a16="http://schemas.microsoft.com/office/drawing/2014/main" id="{44AC3A78-AD3E-49A2-BD93-2EC1E9A9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001125" y="26193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16-line-2">
            <a:extLst xmlns:a="http://schemas.openxmlformats.org/drawingml/2006/main">
              <a:ext uri="{FF2B5EF4-FFF2-40B4-BE49-F238E27FC236}">
                <a16:creationId xmlns:a16="http://schemas.microsoft.com/office/drawing/2014/main" id="{EABD11F4-46D1-49C5-9182-60103924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001125" y="39909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6-now">
            <a:extLst xmlns:a="http://schemas.openxmlformats.org/drawingml/2006/main">
              <a:ext uri="{FF2B5EF4-FFF2-40B4-BE49-F238E27FC236}">
                <a16:creationId xmlns:a16="http://schemas.microsoft.com/office/drawing/2014/main" id="{ADC4F276-98BF-4155-8142-0DBC97F6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52400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本课后｜提交当前项目版本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链接 / tag / 压缩包</a:t>
            </a:r>
          </a:p>
        </p:txBody>
      </p:sp>
      <p:sp>
        <p:nvSpPr>
          <p:cNvPr id="21" name="p16-week8">
            <a:extLst xmlns:a="http://schemas.openxmlformats.org/drawingml/2006/main">
              <a:ext uri="{FF2B5EF4-FFF2-40B4-BE49-F238E27FC236}">
                <a16:creationId xmlns:a16="http://schemas.microsoft.com/office/drawing/2014/main" id="{6F07E4BD-2272-4F52-8299-020EF30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9085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未通过｜修复缺失条件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一周内重新检查</a:t>
            </a:r>
          </a:p>
        </p:txBody>
      </p:sp>
      <p:sp>
        <p:nvSpPr>
          <p:cNvPr id="22" name="p16-week9">
            <a:extLst xmlns:a="http://schemas.openxmlformats.org/drawingml/2006/main">
              <a:ext uri="{FF2B5EF4-FFF2-40B4-BE49-F238E27FC236}">
                <a16:creationId xmlns:a16="http://schemas.microsoft.com/office/drawing/2014/main" id="{6C0C4F82-19ED-4CF1-B1FB-AE85BD28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45770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14 课｜论文式写作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结果段 + 讨论段 + AI 披露</a:t>
            </a:r>
          </a:p>
        </p:txBody>
      </p:sp>
      <p:sp>
        <p:nvSpPr>
          <p:cNvPr id="23" name="p16-bottom">
            <a:extLst xmlns:a="http://schemas.openxmlformats.org/drawingml/2006/main">
              <a:ext uri="{FF2B5EF4-FFF2-40B4-BE49-F238E27FC236}">
                <a16:creationId xmlns:a16="http://schemas.microsoft.com/office/drawing/2014/main" id="{2BBB237B-CE52-4E43-8D61-9243520E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46735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失败删除必须恢复｜证据充分性 + 威胁有效性 → 第 14 课直接使用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2026-08-07T15:15:46.5530000Z</dcterms:created>
  <dcterms:modified xsi:type="dcterms:W3CDTF">2026-08-07T15:15:46.5530000Z</dcterms:modified>
</coreProperties>
</file>