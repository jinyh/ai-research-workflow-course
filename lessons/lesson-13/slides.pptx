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addeb069d4cbd" /><Relationship Type="http://schemas.openxmlformats.org/officeDocument/2006/relationships/extended-properties" Target="/docProps/app.xml" Id="R25bfa16401004e52" /><Relationship Type="http://schemas.openxmlformats.org/officeDocument/2006/relationships/officeDocument" Target="/ppt/presentation.xml" Id="R933fa5c8b9c542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9ed806f474512"/>
  </p:sldMasterIdLst>
  <p:notesMasterIdLst>
    <p:notesMasterId xmlns:r="http://schemas.openxmlformats.org/officeDocument/2006/relationships" r:id="R72c406ffd27b4416"/>
  </p:notesMasterIdLst>
  <p:sldIdLst>
    <p:sldId xmlns:r="http://schemas.openxmlformats.org/officeDocument/2006/relationships" id="256" r:id="Ra648a424b70c4e74"/>
    <p:sldId xmlns:r="http://schemas.openxmlformats.org/officeDocument/2006/relationships" id="257" r:id="R5de3fcfe78164412"/>
    <p:sldId xmlns:r="http://schemas.openxmlformats.org/officeDocument/2006/relationships" id="258" r:id="R592b830142bc4400"/>
    <p:sldId xmlns:r="http://schemas.openxmlformats.org/officeDocument/2006/relationships" id="259" r:id="R7a270d1413434e53"/>
    <p:sldId xmlns:r="http://schemas.openxmlformats.org/officeDocument/2006/relationships" id="260" r:id="Rfeefbfca3f2d433e"/>
    <p:sldId xmlns:r="http://schemas.openxmlformats.org/officeDocument/2006/relationships" id="261" r:id="R4b00fcba9ce74640"/>
    <p:sldId xmlns:r="http://schemas.openxmlformats.org/officeDocument/2006/relationships" id="262" r:id="Rb092fc27c9a04f55"/>
    <p:sldId xmlns:r="http://schemas.openxmlformats.org/officeDocument/2006/relationships" id="263" r:id="R156428e28f7d486b"/>
    <p:sldId xmlns:r="http://schemas.openxmlformats.org/officeDocument/2006/relationships" id="264" r:id="R407164eba24743d1"/>
    <p:sldId xmlns:r="http://schemas.openxmlformats.org/officeDocument/2006/relationships" id="265" r:id="R630554fa191543bc"/>
    <p:sldId xmlns:r="http://schemas.openxmlformats.org/officeDocument/2006/relationships" id="266" r:id="R1ac948c25f5a4d22"/>
    <p:sldId xmlns:r="http://schemas.openxmlformats.org/officeDocument/2006/relationships" id="267" r:id="R388e6e264655461c"/>
    <p:sldId xmlns:r="http://schemas.openxmlformats.org/officeDocument/2006/relationships" id="268" r:id="R496efee0ec23419a"/>
    <p:sldId xmlns:r="http://schemas.openxmlformats.org/officeDocument/2006/relationships" id="269" r:id="R63408f41f47340d1"/>
    <p:sldId xmlns:r="http://schemas.openxmlformats.org/officeDocument/2006/relationships" id="270" r:id="Rf81e5a3023f74726"/>
    <p:sldId xmlns:r="http://schemas.openxmlformats.org/officeDocument/2006/relationships" id="271" r:id="R3b9f8766793d4922"/>
    <p:sldId xmlns:r="http://schemas.openxmlformats.org/officeDocument/2006/relationships" id="272" r:id="Rb3cba6a888b64d83"/>
    <p:sldId xmlns:r="http://schemas.openxmlformats.org/officeDocument/2006/relationships" id="273" r:id="Rc40486446cd14f53"/>
    <p:sldId xmlns:r="http://schemas.openxmlformats.org/officeDocument/2006/relationships" id="274" r:id="Re1e5228b689e48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06ff004db4f04" /><Relationship Type="http://schemas.openxmlformats.org/officeDocument/2006/relationships/slideMaster" Target="/ppt/slideMasters/slideMaster1.xml" Id="Rfcb9ed806f474512" /><Relationship Type="http://schemas.openxmlformats.org/officeDocument/2006/relationships/notesMaster" Target="/ppt/notesMasters/notesMaster1.xml" Id="R72c406ffd27b4416" /><Relationship Type="http://schemas.openxmlformats.org/officeDocument/2006/relationships/presProps" Target="/ppt/presProps.xml" Id="Ra03f749f88d14fbd" /><Relationship Type="http://schemas.openxmlformats.org/officeDocument/2006/relationships/viewProps" Target="/ppt/viewProps.xml" Id="Rb370c1746ae2466c" /><Relationship Type="http://schemas.openxmlformats.org/officeDocument/2006/relationships/tableStyles" Target="/ppt/tableStyles.xml" Id="Rbc0eb32baef14cc3" /><Relationship Type="http://schemas.openxmlformats.org/officeDocument/2006/relationships/slide" Target="/ppt/slides/slide1.xml" Id="Ra648a424b70c4e74" /><Relationship Type="http://schemas.openxmlformats.org/officeDocument/2006/relationships/slide" Target="/ppt/slides/slide2.xml" Id="R5de3fcfe78164412" /><Relationship Type="http://schemas.openxmlformats.org/officeDocument/2006/relationships/slide" Target="/ppt/slides/slide3.xml" Id="R592b830142bc4400" /><Relationship Type="http://schemas.openxmlformats.org/officeDocument/2006/relationships/slide" Target="/ppt/slides/slide4.xml" Id="R7a270d1413434e53" /><Relationship Type="http://schemas.openxmlformats.org/officeDocument/2006/relationships/slide" Target="/ppt/slides/slide5.xml" Id="Rfeefbfca3f2d433e" /><Relationship Type="http://schemas.openxmlformats.org/officeDocument/2006/relationships/slide" Target="/ppt/slides/slide6.xml" Id="R4b00fcba9ce74640" /><Relationship Type="http://schemas.openxmlformats.org/officeDocument/2006/relationships/slide" Target="/ppt/slides/slide7.xml" Id="Rb092fc27c9a04f55" /><Relationship Type="http://schemas.openxmlformats.org/officeDocument/2006/relationships/slide" Target="/ppt/slides/slide8.xml" Id="R156428e28f7d486b" /><Relationship Type="http://schemas.openxmlformats.org/officeDocument/2006/relationships/slide" Target="/ppt/slides/slide9.xml" Id="R407164eba24743d1" /><Relationship Type="http://schemas.openxmlformats.org/officeDocument/2006/relationships/slide" Target="/ppt/slides/slide10.xml" Id="R630554fa191543bc" /><Relationship Type="http://schemas.openxmlformats.org/officeDocument/2006/relationships/slide" Target="/ppt/slides/slide11.xml" Id="R1ac948c25f5a4d22" /><Relationship Type="http://schemas.openxmlformats.org/officeDocument/2006/relationships/slide" Target="/ppt/slides/slide12.xml" Id="R388e6e264655461c" /><Relationship Type="http://schemas.openxmlformats.org/officeDocument/2006/relationships/slide" Target="/ppt/slides/slide13.xml" Id="R496efee0ec23419a" /><Relationship Type="http://schemas.openxmlformats.org/officeDocument/2006/relationships/slide" Target="/ppt/slides/slide14.xml" Id="R63408f41f47340d1" /><Relationship Type="http://schemas.openxmlformats.org/officeDocument/2006/relationships/slide" Target="/ppt/slides/slide15.xml" Id="Rf81e5a3023f74726" /><Relationship Type="http://schemas.openxmlformats.org/officeDocument/2006/relationships/slide" Target="/ppt/slides/slide16.xml" Id="R3b9f8766793d4922" /><Relationship Type="http://schemas.openxmlformats.org/officeDocument/2006/relationships/slide" Target="/ppt/slides/slide17.xml" Id="Rb3cba6a888b64d83" /><Relationship Type="http://schemas.openxmlformats.org/officeDocument/2006/relationships/slide" Target="/ppt/slides/slide18.xml" Id="Rc40486446cd14f53" /><Relationship Type="http://schemas.openxmlformats.org/officeDocument/2006/relationships/slide" Target="/ppt/slides/slide19.xml" Id="Re1e5228b689e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e38faa93bd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05790fd9648ca" /><Relationship Type="http://schemas.openxmlformats.org/officeDocument/2006/relationships/notesMaster" Target="/ppt/notesMasters/notesMaster1.xml" Id="R12c15c8651bd42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cca741ec22449e" /><Relationship Type="http://schemas.openxmlformats.org/officeDocument/2006/relationships/notesMaster" Target="/ppt/notesMasters/notesMaster1.xml" Id="Ra8a31fc75260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9e912d4ab6485a" /><Relationship Type="http://schemas.openxmlformats.org/officeDocument/2006/relationships/notesMaster" Target="/ppt/notesMasters/notesMaster1.xml" Id="Rdb5102103ec2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15d718a6fb4c95" /><Relationship Type="http://schemas.openxmlformats.org/officeDocument/2006/relationships/notesMaster" Target="/ppt/notesMasters/notesMaster1.xml" Id="R3dbeb51fe5004f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c3935202174c2c" /><Relationship Type="http://schemas.openxmlformats.org/officeDocument/2006/relationships/notesMaster" Target="/ppt/notesMasters/notesMaster1.xml" Id="Rf11a84f50443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50a757fd9b4cdf" /><Relationship Type="http://schemas.openxmlformats.org/officeDocument/2006/relationships/notesMaster" Target="/ppt/notesMasters/notesMaster1.xml" Id="R10a55261afbc47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2e974bba148ca" /><Relationship Type="http://schemas.openxmlformats.org/officeDocument/2006/relationships/notesMaster" Target="/ppt/notesMasters/notesMaster1.xml" Id="R18ff78c8bb7643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798da70d13459e" /><Relationship Type="http://schemas.openxmlformats.org/officeDocument/2006/relationships/notesMaster" Target="/ppt/notesMasters/notesMaster1.xml" Id="R99af28b33dd149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f3a8b17ea34c11" /><Relationship Type="http://schemas.openxmlformats.org/officeDocument/2006/relationships/notesMaster" Target="/ppt/notesMasters/notesMaster1.xml" Id="R28dd8f9ffcc943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911302d9d64a55" /><Relationship Type="http://schemas.openxmlformats.org/officeDocument/2006/relationships/notesMaster" Target="/ppt/notesMasters/notesMaster1.xml" Id="R3637908749c04b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9a69b2fa42424b" /><Relationship Type="http://schemas.openxmlformats.org/officeDocument/2006/relationships/notesMaster" Target="/ppt/notesMasters/notesMaster1.xml" Id="Rc92bcc920a0045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501c28d5d8497f" /><Relationship Type="http://schemas.openxmlformats.org/officeDocument/2006/relationships/notesMaster" Target="/ppt/notesMasters/notesMaster1.xml" Id="R65f3b8e592f047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a3955da9384afa" /><Relationship Type="http://schemas.openxmlformats.org/officeDocument/2006/relationships/notesMaster" Target="/ppt/notesMasters/notesMaster1.xml" Id="R4b68149fb91e4c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ac58c98c2d466b" /><Relationship Type="http://schemas.openxmlformats.org/officeDocument/2006/relationships/notesMaster" Target="/ppt/notesMasters/notesMaster1.xml" Id="Rb0078447d0fe43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2c3046222448fe" /><Relationship Type="http://schemas.openxmlformats.org/officeDocument/2006/relationships/notesMaster" Target="/ppt/notesMasters/notesMaster1.xml" Id="Raac1f635299f40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a108ad7992465c" /><Relationship Type="http://schemas.openxmlformats.org/officeDocument/2006/relationships/notesMaster" Target="/ppt/notesMasters/notesMaster1.xml" Id="R32144574f0b24c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a648cd4a2f4c6c" /><Relationship Type="http://schemas.openxmlformats.org/officeDocument/2006/relationships/notesMaster" Target="/ppt/notesMasters/notesMaster1.xml" Id="R8583a5888a8a4c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c27479db2a499d" /><Relationship Type="http://schemas.openxmlformats.org/officeDocument/2006/relationships/notesMaster" Target="/ppt/notesMasters/notesMaster1.xml" Id="R734df3e7818448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b8d8a6cfe944ee" /><Relationship Type="http://schemas.openxmlformats.org/officeDocument/2006/relationships/notesMaster" Target="/ppt/notesMasters/notesMaster1.xml" Id="R9b23b06ce72f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开场放下第 12 课工作流原型。第 10–12 课解决了受限执行、自动化和个人工作流设计，本课检查原型是否经过评价，并完成第三次正式提交。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快问学生：第 12 课原型跑过几次？有没有 baseline？只听回答。本页把本课差距限定为评价、失败审计、证据与伦理更新。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/Users/bright/Projects/courses/graduate/lessons/lesson-13/slides.md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明确边界：课堂不要求全部 10 项都通过，但必须产出评价报告初版和伦理三条更新。验证门条件只认 assignments.md Checkpoint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/Users/bright/Projects/courses/graduate/lessons/lesson-13/teaching-plan.md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让学生把自己的功能清单改写成实际影响。如果写不出 baseline、指标变化和负向结果，说明还没有完成评价。示例数值为虚构教学示例，不预设真实结果。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六类评价维度不必全报。要求学生选至少两项并说明为什么；选择标准是研究问题和任务契约成功标准，而不是哪项容易得到漂亮数字。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- Breck, E. et al. The ML Test Score. IEEE Big Data, 2017.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逐项对照四项必备。Bouthillier 等强调 benchmark 比较中的方差；本课把这一要求落到多次运行与不确定性报告。只跑一次必须说明原因并降级为待验证。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Bouthillier, X. et al. Accounting for Variance in Machine Learning Benchmarks. MLSys 3, 2021.</a:t>
            </a:r>
          </a:p>
          <a:p xmlns:a="http://schemas.openxmlformats.org/drawingml/2006/main">
            <a:r>
              <a:t>- https://proceedings.mlsys.org/paper_files/paper/2021/hash/0184b0cd3cfb185989f858a1d9f5c1eb-Abstract.html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让学生检查 evaluation-report.md 是否回答了‘改变了哪个判断’。如果只能回答工作流做了什么，就回到 P04 补 baseline 与实际影响。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示例数值是虚构教学示例，仅用于演示映射动作。重点区分反驳与仍不能判断：A2 未排除是证据缺口，不是假装不存在。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让学生检查 experiments/ 是否仍保留失败运行。贯穿案例 2 篇图表论文反而更差，揭示的是任务契约边界，不是应被删掉的‘坏数据’。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独立证据是来源、测量、重复实验、对照、消融或分析路径的实质差异，不是两个网页。H1 只有中等支持，A2 仍不能判断，因此都不能写成 stable。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威胁不能只写‘可能存在偏差’，必须指明具体来源和可能改变哪个判断。本课不强制四类齐全，但至少写两类与项目相关的具体威胁。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强调失败审计不等于只报告失败率。静默删除失败、越权痕迹或改评价协议，是学术规范红线；失败记录本身是评价工作流的重要证据。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Sculley 等人的论文讨论 ML 系统技术债；本课借用其分类思路，不照搬原分类。六类不必全部命中，但每次失败必须给具体根因和可改进点。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Sculley, D. et al. Hidden Technical Debt in Machine Learning Systems. NeurIPS, 2015.</a:t>
            </a:r>
          </a:p>
          <a:p xmlns:a="http://schemas.openxmlformats.org/drawingml/2006/main">
            <a:r>
              <a:t>- https://research.google/pubs/hidden-technical-debt-in-machine-learning-systems/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让学生写一条失败日志和一条人工审核记录。审核理由不能写‘感觉不对’；必须指出数据来源、代码、实验建议或结论的具体问题。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Huang, Q. et al. MLAgentBench: Evaluating Language Agents on Machine Learning Experimentation. ICML, 2024.</a:t>
            </a:r>
          </a:p>
          <a:p xmlns:a="http://schemas.openxmlformats.org/drawingml/2006/main">
            <a:r>
              <a:t>- https://proceedings.mlr.press/v235/huang24y.html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逐条讲清 10 项。第 1–4 项主要确认第 12 课已有工件；第 5–9 项由本课补全；第 10 项更新数据访问、工具权限和外部服务边界。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学生用自己的工作流重复九步链路。本课不要求课堂完成全部，但必须形成 evaluation-report.md 初版。示例数值全部为虚构教学示例。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本页停留至 60:00。学生完成 evaluation-report.md 更新版和伦理说明三条；门条件自查只需启动，课后补全并提交。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/Users/bright/Projects/courses/graduate/lessons/lesson-13/teaching-plan.md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60:00–78:00 同伴互查。重点检查可重复评价、失败保留、人工审核、实际影响、证据充分性和伦理更新。人数为奇数时组成三人组。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/Users/bright/Projects/courses/graduate/lessons/lesson-13/teaching-plan.md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回扣：未通过只修复缺失条件，不重复提交无关材料；失败选择性删除是必须修复的红线。第 14 课将把评价结果、证据充分性、威胁与失败审计写入论文式短文。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- Sculley, D. et al. Hidden Technical Debt in Machine Learning Systems. NeurIPS, 2015.</a:t>
            </a:r>
          </a:p>
          <a:p xmlns:a="http://schemas.openxmlformats.org/drawingml/2006/main">
            <a:r>
              <a:t>- Bouthillier, X. et al. Accounting for Variance in Machine Learning Benchmarks. MLSys, 2021.</a:t>
            </a:r>
          </a:p>
          <a:p xmlns:a="http://schemas.openxmlformats.org/drawingml/2006/main">
            <a:r>
              <a:t>- Breck, E. et al. The ML Test Score. IEEE Big Data, 2017.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2e58c18cc40d7" /><Relationship Type="http://schemas.openxmlformats.org/officeDocument/2006/relationships/image" Target="/ppt/media/image.png" Id="R7423c0d940a347f7" /><Relationship Type="http://schemas.openxmlformats.org/officeDocument/2006/relationships/image" Target="/ppt/media/image2.png" Id="R238f291a2fdd43db" /><Relationship Type="http://schemas.openxmlformats.org/officeDocument/2006/relationships/image" Target="/ppt/media/image3.png" Id="Rd92e96096c2047e5" /><Relationship Type="http://schemas.openxmlformats.org/officeDocument/2006/relationships/image" Target="/ppt/media/image4.png" Id="R3568dbb8b55e4f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0fb1f124e41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e432372de42b2" /><Relationship Type="http://schemas.openxmlformats.org/officeDocument/2006/relationships/image" Target="/ppt/media/image2.png" Id="R03dd17f489594f20" /><Relationship Type="http://schemas.openxmlformats.org/officeDocument/2006/relationships/image" Target="/ppt/media/image5.png" Id="Re0e722c6a2214c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352e9ae694661" /><Relationship Type="http://schemas.openxmlformats.org/officeDocument/2006/relationships/image" Target="/ppt/media/image.png" Id="R1ed9a13140a9489a" /><Relationship Type="http://schemas.openxmlformats.org/officeDocument/2006/relationships/image" Target="/ppt/media/image3.png" Id="Rd547ed1a9dbd438b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3c0d940a347f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8f291a2fdd43db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2e96096c2047e5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8dbb8b55e4fcd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dd17f489594f20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722c6a221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9a13140a9489a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47ed1a9dbd438b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bf612f5371448b" /><Relationship Type="http://schemas.openxmlformats.org/officeDocument/2006/relationships/slideLayout" Target="/ppt/slideLayouts/slideLayout1.xml" Id="Rd1d6c211154f4bd0" /><Relationship Type="http://schemas.openxmlformats.org/officeDocument/2006/relationships/slideLayout" Target="/ppt/slideLayouts/slideLayout2.xml" Id="Re217cb2e2cff49ee" /><Relationship Type="http://schemas.openxmlformats.org/officeDocument/2006/relationships/slideLayout" Target="/ppt/slideLayouts/slideLayout3.xml" Id="R0fea7925cabc421e" /><Relationship Type="http://schemas.openxmlformats.org/officeDocument/2006/relationships/slideLayout" Target="/ppt/slideLayouts/slideLayout4.xml" Id="R16c817e8c58d4a5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d6c211154f4bd0"/>
    <p:sldLayoutId xmlns:r="http://schemas.openxmlformats.org/officeDocument/2006/relationships" id="2147483650" r:id="Re217cb2e2cff49ee"/>
    <p:sldLayoutId xmlns:r="http://schemas.openxmlformats.org/officeDocument/2006/relationships" id="2147483651" r:id="R0fea7925cabc421e"/>
    <p:sldLayoutId xmlns:r="http://schemas.openxmlformats.org/officeDocument/2006/relationships" id="2147483652" r:id="R16c817e8c58d4a5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0d2338ec24814" /><Relationship Type="http://schemas.openxmlformats.org/officeDocument/2006/relationships/notesSlide" Target="/ppt/notesSlides/notesSlide1.xml" Id="Rd6ac3d43cbd04e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a1b1441b5c442d" /><Relationship Type="http://schemas.openxmlformats.org/officeDocument/2006/relationships/notesSlide" Target="/ppt/notesSlides/notesSlide2.xml" Id="Rdedad88942a8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701fb6575647a5" /><Relationship Type="http://schemas.openxmlformats.org/officeDocument/2006/relationships/notesSlide" Target="/ppt/notesSlides/notesSlide3.xml" Id="Rcafe2423cc8a4b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b528744c10495f" /><Relationship Type="http://schemas.openxmlformats.org/officeDocument/2006/relationships/notesSlide" Target="/ppt/notesSlides/notesSlide4.xml" Id="R3b4c5822be0c4f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41d8a53a704042" /><Relationship Type="http://schemas.openxmlformats.org/officeDocument/2006/relationships/notesSlide" Target="/ppt/notesSlides/notesSlide5.xml" Id="R7fc7c0c436d444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b49e5a8f3f4b2d" /><Relationship Type="http://schemas.openxmlformats.org/officeDocument/2006/relationships/notesSlide" Target="/ppt/notesSlides/notesSlide6.xml" Id="R332314133e67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c10ebfa6bf44fa" /><Relationship Type="http://schemas.openxmlformats.org/officeDocument/2006/relationships/notesSlide" Target="/ppt/notesSlides/notesSlide7.xml" Id="Rc98525a0dd96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5634b8bdd84914" /><Relationship Type="http://schemas.openxmlformats.org/officeDocument/2006/relationships/notesSlide" Target="/ppt/notesSlides/notesSlide8.xml" Id="R7604f62769b74e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6196e6c5934a1f" /><Relationship Type="http://schemas.openxmlformats.org/officeDocument/2006/relationships/notesSlide" Target="/ppt/notesSlides/notesSlide9.xml" Id="R0daacf58d2814b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3e907576704656" /><Relationship Type="http://schemas.openxmlformats.org/officeDocument/2006/relationships/notesSlide" Target="/ppt/notesSlides/notesSlide10.xml" Id="Raa604a7d39e84b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ba8747666a44bb" /><Relationship Type="http://schemas.openxmlformats.org/officeDocument/2006/relationships/notesSlide" Target="/ppt/notesSlides/notesSlide11.xml" Id="R48e5266e6fc949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4795449eb74016" /><Relationship Type="http://schemas.openxmlformats.org/officeDocument/2006/relationships/notesSlide" Target="/ppt/notesSlides/notesSlide12.xml" Id="R42fc65f5b2cd4b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4bdfc7927e4f44" /><Relationship Type="http://schemas.openxmlformats.org/officeDocument/2006/relationships/notesSlide" Target="/ppt/notesSlides/notesSlide13.xml" Id="R037a82480b2649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a830fa9bad452c" /><Relationship Type="http://schemas.openxmlformats.org/officeDocument/2006/relationships/notesSlide" Target="/ppt/notesSlides/notesSlide14.xml" Id="R9f456a781a0d4c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63d197ee78453d" /><Relationship Type="http://schemas.openxmlformats.org/officeDocument/2006/relationships/notesSlide" Target="/ppt/notesSlides/notesSlide15.xml" Id="R27fb753b16d641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3e06ccb5bb49f5" /><Relationship Type="http://schemas.openxmlformats.org/officeDocument/2006/relationships/notesSlide" Target="/ppt/notesSlides/notesSlide16.xml" Id="R958e770c90fc41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7f623922544422" /><Relationship Type="http://schemas.openxmlformats.org/officeDocument/2006/relationships/notesSlide" Target="/ppt/notesSlides/notesSlide17.xml" Id="Rec5c32f208654a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0d8421a3384db4" /><Relationship Type="http://schemas.openxmlformats.org/officeDocument/2006/relationships/notesSlide" Target="/ppt/notesSlides/notesSlide18.xml" Id="Rda6c7af26c4445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ecef141d5e4780" /><Relationship Type="http://schemas.openxmlformats.org/officeDocument/2006/relationships/notesSlide" Target="/ppt/notesSlides/notesSlide19.xml" Id="R41ec2d37db8d4b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38250" y="3048000"/>
            <a:ext cx="9715500" cy="23431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从“我的工作流能跑”到“它是否真的改善了目标科研动作”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评价 + 结果映射 + 失败审计 + 人工审核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第十三讲｜阶段七：原型验证成案 + 评价 → 验证门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95400"/>
            <a:ext cx="9525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9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工作流评价、结果分析、失败审计与验证门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10–12 课之后，工作流原型仍缺评价闭环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EE9107FE-F7D1-4F93-BE51-15B3F50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已经建立</a:t>
            </a:r>
          </a:p>
        </p:txBody>
      </p:sp>
      <p:sp>
        <p:nvSpPr>
          <p:cNvPr id="7" name="p02-left-0">
            <a:extLst xmlns:a="http://schemas.openxmlformats.org/drawingml/2006/main">
              <a:ext uri="{FF2B5EF4-FFF2-40B4-BE49-F238E27FC236}">
                <a16:creationId xmlns:a16="http://schemas.microsoft.com/office/drawing/2014/main" id="{66C530BD-F2E5-4426-9807-8C05156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受限执行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契约 + diff + 失败日志</a:t>
            </a:r>
          </a:p>
        </p:txBody>
      </p:sp>
      <p:sp>
        <p:nvSpPr>
          <p:cNvPr id="8" name="p02-left-1">
            <a:extLst xmlns:a="http://schemas.openxmlformats.org/drawingml/2006/main">
              <a:ext uri="{FF2B5EF4-FFF2-40B4-BE49-F238E27FC236}">
                <a16:creationId xmlns:a16="http://schemas.microsoft.com/office/drawing/2014/main" id="{3F6E9C85-4795-4419-B219-3BAEA8C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自动化循环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预算 + 停止 + 指标轨迹</a:t>
            </a:r>
          </a:p>
        </p:txBody>
      </p:sp>
      <p:sp>
        <p:nvSpPr>
          <p:cNvPr id="9" name="p02-left-2">
            <a:extLst xmlns:a="http://schemas.openxmlformats.org/drawingml/2006/main">
              <a:ext uri="{FF2B5EF4-FFF2-40B4-BE49-F238E27FC236}">
                <a16:creationId xmlns:a16="http://schemas.microsoft.com/office/drawing/2014/main" id="{847DE9E6-69C5-4EA3-924A-8ECD64C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个人工作流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说明 + 原型 + 评价计划</a:t>
            </a:r>
          </a:p>
        </p:txBody>
      </p:sp>
      <p:sp>
        <p:nvSpPr>
          <p:cNvPr id="10" name="p02-separator">
            <a:extLst xmlns:a="http://schemas.openxmlformats.org/drawingml/2006/main">
              <a:ext uri="{FF2B5EF4-FFF2-40B4-BE49-F238E27FC236}">
                <a16:creationId xmlns:a16="http://schemas.microsoft.com/office/drawing/2014/main" id="{979165E0-986D-4A0E-B177-BE233DB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29622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2-not-equal">
            <a:extLst xmlns:a="http://schemas.openxmlformats.org/drawingml/2006/main">
              <a:ext uri="{FF2B5EF4-FFF2-40B4-BE49-F238E27FC236}">
                <a16:creationId xmlns:a16="http://schemas.microsoft.com/office/drawing/2014/main" id="{F4AF62FE-4181-447D-B08E-8C87627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895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C8161E"/>
                </a:solidFill>
              </a:defRPr>
            </a:pPr>
            <a:r>
              <a:rPr sz="33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2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A555259C-E2FB-4D6C-AEC4-5F3FEB8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仍未回答</a:t>
            </a:r>
          </a:p>
        </p:txBody>
      </p:sp>
      <p:sp>
        <p:nvSpPr>
          <p:cNvPr id="13" name="p02-right-0">
            <a:extLst xmlns:a="http://schemas.openxmlformats.org/drawingml/2006/main">
              <a:ext uri="{FF2B5EF4-FFF2-40B4-BE49-F238E27FC236}">
                <a16:creationId xmlns:a16="http://schemas.microsoft.com/office/drawing/2014/main" id="{E9CD1226-7146-4B2B-8114-CA8574D4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baseline 与重复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评价可复核吗</a:t>
            </a:r>
          </a:p>
        </p:txBody>
      </p:sp>
      <p:sp>
        <p:nvSpPr>
          <p:cNvPr id="14" name="p02-right-1">
            <a:extLst xmlns:a="http://schemas.openxmlformats.org/drawingml/2006/main">
              <a:ext uri="{FF2B5EF4-FFF2-40B4-BE49-F238E27FC236}">
                <a16:creationId xmlns:a16="http://schemas.microsoft.com/office/drawing/2014/main" id="{D403F129-E913-412C-8D8A-FD1BD08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结果与失败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映射并审计了吗</a:t>
            </a:r>
          </a:p>
        </p:txBody>
      </p:sp>
      <p:sp>
        <p:nvSpPr>
          <p:cNvPr id="15" name="p02-right-2">
            <a:extLst xmlns:a="http://schemas.openxmlformats.org/drawingml/2006/main">
              <a:ext uri="{FF2B5EF4-FFF2-40B4-BE49-F238E27FC236}">
                <a16:creationId xmlns:a16="http://schemas.microsoft.com/office/drawing/2014/main" id="{42BE3316-0B30-4C19-85DF-F6B1A3C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证据与伦理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审核和边界更新了吗</a:t>
            </a:r>
          </a:p>
        </p:txBody>
      </p:sp>
      <p:sp>
        <p:nvSpPr>
          <p:cNvPr id="16" name="p02-bottom">
            <a:extLst xmlns:a="http://schemas.openxmlformats.org/drawingml/2006/main">
              <a:ext uri="{FF2B5EF4-FFF2-40B4-BE49-F238E27FC236}">
                <a16:creationId xmlns:a16="http://schemas.microsoft.com/office/drawing/2014/main" id="{AB29C84D-7416-4005-A4F4-B6DE00A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能运行 ≠ 经过评价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本课跑通一条可复盘的评价—失败—验证链路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b-0">
            <a:extLst xmlns:a="http://schemas.openxmlformats.org/drawingml/2006/main">
              <a:ext uri="{FF2B5EF4-FFF2-40B4-BE49-F238E27FC236}">
                <a16:creationId xmlns:a16="http://schemas.microsoft.com/office/drawing/2014/main" id="{A53BF1C4-3789-4A8D-90E6-CBA575C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3-g-0">
            <a:extLst xmlns:a="http://schemas.openxmlformats.org/drawingml/2006/main">
              <a:ext uri="{FF2B5EF4-FFF2-40B4-BE49-F238E27FC236}">
                <a16:creationId xmlns:a16="http://schemas.microsoft.com/office/drawing/2014/main" id="{C2F0CC4D-229B-4401-9AF9-CB2CF275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评价实际影响，不列功能</a:t>
            </a:r>
          </a:p>
        </p:txBody>
      </p:sp>
      <p:sp>
        <p:nvSpPr>
          <p:cNvPr id="8" name="p03-b-1">
            <a:extLst xmlns:a="http://schemas.openxmlformats.org/drawingml/2006/main">
              <a:ext uri="{FF2B5EF4-FFF2-40B4-BE49-F238E27FC236}">
                <a16:creationId xmlns:a16="http://schemas.microsoft.com/office/drawing/2014/main" id="{D01401FF-6B12-41B1-8A30-0168EA0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03-g-1">
            <a:extLst xmlns:a="http://schemas.openxmlformats.org/drawingml/2006/main">
              <a:ext uri="{FF2B5EF4-FFF2-40B4-BE49-F238E27FC236}">
                <a16:creationId xmlns:a16="http://schemas.microsoft.com/office/drawing/2014/main" id="{AC06FE97-EBE1-4B11-B817-34D69D5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结果映射回 H1 与替代假设</a:t>
            </a:r>
          </a:p>
        </p:txBody>
      </p:sp>
      <p:sp>
        <p:nvSpPr>
          <p:cNvPr id="10" name="p03-b-2">
            <a:extLst xmlns:a="http://schemas.openxmlformats.org/drawingml/2006/main">
              <a:ext uri="{FF2B5EF4-FFF2-40B4-BE49-F238E27FC236}">
                <a16:creationId xmlns:a16="http://schemas.microsoft.com/office/drawing/2014/main" id="{E96B36C5-E59A-4A26-A96D-61EDAF1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03-g-2">
            <a:extLst xmlns:a="http://schemas.openxmlformats.org/drawingml/2006/main">
              <a:ext uri="{FF2B5EF4-FFF2-40B4-BE49-F238E27FC236}">
                <a16:creationId xmlns:a16="http://schemas.microsoft.com/office/drawing/2014/main" id="{1214C1D0-672B-4496-BFF9-E408638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正向、负向与冲突均保留</a:t>
            </a:r>
          </a:p>
        </p:txBody>
      </p:sp>
      <p:sp>
        <p:nvSpPr>
          <p:cNvPr id="12" name="p03-b-3">
            <a:extLst xmlns:a="http://schemas.openxmlformats.org/drawingml/2006/main">
              <a:ext uri="{FF2B5EF4-FFF2-40B4-BE49-F238E27FC236}">
                <a16:creationId xmlns:a16="http://schemas.microsoft.com/office/drawing/2014/main" id="{7E21DCFA-546A-4230-AC75-FDD229B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03-g-3">
            <a:extLst xmlns:a="http://schemas.openxmlformats.org/drawingml/2006/main">
              <a:ext uri="{FF2B5EF4-FFF2-40B4-BE49-F238E27FC236}">
                <a16:creationId xmlns:a16="http://schemas.microsoft.com/office/drawing/2014/main" id="{3A3BB176-899F-4A77-9402-54C7DB67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失败分类并记录人工审核</a:t>
            </a:r>
          </a:p>
        </p:txBody>
      </p:sp>
      <p:sp>
        <p:nvSpPr>
          <p:cNvPr id="14" name="p03-b-4">
            <a:extLst xmlns:a="http://schemas.openxmlformats.org/drawingml/2006/main">
              <a:ext uri="{FF2B5EF4-FFF2-40B4-BE49-F238E27FC236}">
                <a16:creationId xmlns:a16="http://schemas.microsoft.com/office/drawing/2014/main" id="{6FE613DC-C69E-4318-A53B-5B0A666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03-g-4">
            <a:extLst xmlns:a="http://schemas.openxmlformats.org/drawingml/2006/main">
              <a:ext uri="{FF2B5EF4-FFF2-40B4-BE49-F238E27FC236}">
                <a16:creationId xmlns:a16="http://schemas.microsoft.com/office/drawing/2014/main" id="{02631CAF-3955-4A29-978C-580C1B8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检查证据充分性与威胁</a:t>
            </a:r>
          </a:p>
        </p:txBody>
      </p:sp>
      <p:sp>
        <p:nvSpPr>
          <p:cNvPr id="16" name="p03-b-5">
            <a:extLst xmlns:a="http://schemas.openxmlformats.org/drawingml/2006/main">
              <a:ext uri="{FF2B5EF4-FFF2-40B4-BE49-F238E27FC236}">
                <a16:creationId xmlns:a16="http://schemas.microsoft.com/office/drawing/2014/main" id="{AC450CF2-5CBE-4DF8-8831-1A46BFB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03-g-5">
            <a:extLst xmlns:a="http://schemas.openxmlformats.org/drawingml/2006/main">
              <a:ext uri="{FF2B5EF4-FFF2-40B4-BE49-F238E27FC236}">
                <a16:creationId xmlns:a16="http://schemas.microsoft.com/office/drawing/2014/main" id="{1FBECE58-2AF3-415F-A4C3-32A5363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 10 项门条件自查并更新伦理</a:t>
            </a:r>
          </a:p>
        </p:txBody>
      </p:sp>
      <p:sp>
        <p:nvSpPr>
          <p:cNvPr id="18" name="p03-separator">
            <a:extLst xmlns:a="http://schemas.openxmlformats.org/drawingml/2006/main">
              <a:ext uri="{FF2B5EF4-FFF2-40B4-BE49-F238E27FC236}">
                <a16:creationId xmlns:a16="http://schemas.microsoft.com/office/drawing/2014/main" id="{FAE759D5-478A-4854-A905-3CF6285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7622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03-output-title">
            <a:extLst xmlns:a="http://schemas.openxmlformats.org/drawingml/2006/main">
              <a:ext uri="{FF2B5EF4-FFF2-40B4-BE49-F238E27FC236}">
                <a16:creationId xmlns:a16="http://schemas.microsoft.com/office/drawing/2014/main" id="{B3D47DF6-576C-493E-A794-FDE71B8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20" name="p03-output">
            <a:extLst xmlns:a="http://schemas.openxmlformats.org/drawingml/2006/main">
              <a:ext uri="{FF2B5EF4-FFF2-40B4-BE49-F238E27FC236}">
                <a16:creationId xmlns:a16="http://schemas.microsoft.com/office/drawing/2014/main" id="{1BF29DBD-05CB-4041-8F03-81B233D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276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evaluation-report.md 初版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 + 结果映射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失败审计 + 人工审核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伦理说明三条更新</a:t>
            </a:r>
          </a:p>
        </p:txBody>
      </p:sp>
      <p:sp>
        <p:nvSpPr>
          <p:cNvPr id="21" name="p03-minimum">
            <a:extLst xmlns:a="http://schemas.openxmlformats.org/drawingml/2006/main">
              <a:ext uri="{FF2B5EF4-FFF2-40B4-BE49-F238E27FC236}">
                <a16:creationId xmlns:a16="http://schemas.microsoft.com/office/drawing/2014/main" id="{B32198E6-BF51-48B0-94E9-0FD3BBE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27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35 分钟开始个人补全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课后提交验证门材料包</a:t>
            </a:r>
          </a:p>
        </p:txBody>
      </p:sp>
      <p:sp>
        <p:nvSpPr>
          <p:cNvPr id="22" name="p03-bottom">
            <a:extLst xmlns:a="http://schemas.openxmlformats.org/drawingml/2006/main">
              <a:ext uri="{FF2B5EF4-FFF2-40B4-BE49-F238E27FC236}">
                <a16:creationId xmlns:a16="http://schemas.microsoft.com/office/drawing/2014/main" id="{6385F2FE-D8B1-4793-8229-D767951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本课是验证门：检查当前项目版本，不重复制作汇报文档。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评价回答实际影响，功能清单只说明能做什么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prediction">
            <a:extLst xmlns:a="http://schemas.openxmlformats.org/drawingml/2006/main">
              <a:ext uri="{FF2B5EF4-FFF2-40B4-BE49-F238E27FC236}">
                <a16:creationId xmlns:a16="http://schemas.microsoft.com/office/drawing/2014/main" id="{C67761C8-26B9-490A-9740-023586A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524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功能清单｜不合格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能读取、生成、标注、写入</a:t>
            </a:r>
          </a:p>
        </p:txBody>
      </p:sp>
      <p:sp>
        <p:nvSpPr>
          <p:cNvPr id="7" name="p04-vs">
            <a:extLst xmlns:a="http://schemas.openxmlformats.org/drawingml/2006/main">
              <a:ext uri="{FF2B5EF4-FFF2-40B4-BE49-F238E27FC236}">
                <a16:creationId xmlns:a16="http://schemas.microsoft.com/office/drawing/2014/main" id="{CAA53DAC-51D9-4DD7-A651-AFE1224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14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不能回答改善</a:t>
            </a:r>
          </a:p>
        </p:txBody>
      </p:sp>
      <p:sp>
        <p:nvSpPr>
          <p:cNvPr id="8" name="p04-mechanism">
            <a:extLst xmlns:a="http://schemas.openxmlformats.org/drawingml/2006/main">
              <a:ext uri="{FF2B5EF4-FFF2-40B4-BE49-F238E27FC236}">
                <a16:creationId xmlns:a16="http://schemas.microsoft.com/office/drawing/2014/main" id="{8190F934-831D-4054-9793-9B10465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066800"/>
            <a:ext cx="4514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实际影响｜合格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相比 baseline，遗漏率变化且保留反例</a:t>
            </a:r>
          </a:p>
        </p:txBody>
      </p:sp>
      <p:sp>
        <p:nvSpPr>
          <p:cNvPr id="9" name="p04-chain-1">
            <a:extLst xmlns:a="http://schemas.openxmlformats.org/drawingml/2006/main">
              <a:ext uri="{FF2B5EF4-FFF2-40B4-BE49-F238E27FC236}">
                <a16:creationId xmlns:a16="http://schemas.microsoft.com/office/drawing/2014/main" id="{AADCA935-A870-475D-B7DB-EB7C00B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4-chain-2">
            <a:extLst xmlns:a="http://schemas.openxmlformats.org/drawingml/2006/main">
              <a:ext uri="{FF2B5EF4-FFF2-40B4-BE49-F238E27FC236}">
                <a16:creationId xmlns:a16="http://schemas.microsoft.com/office/drawing/2014/main" id="{23D919C7-9DD6-45CB-A2AE-266EC5B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4-chain-node-0">
            <a:extLst xmlns:a="http://schemas.openxmlformats.org/drawingml/2006/main">
              <a:ext uri="{FF2B5EF4-FFF2-40B4-BE49-F238E27FC236}">
                <a16:creationId xmlns:a16="http://schemas.microsoft.com/office/drawing/2014/main" id="{BBB3C465-2F5E-437E-B13E-A4905F09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自由摘要</a:t>
            </a:r>
          </a:p>
        </p:txBody>
      </p:sp>
      <p:sp>
        <p:nvSpPr>
          <p:cNvPr id="12" name="p04-chain-node-1">
            <a:extLst xmlns:a="http://schemas.openxmlformats.org/drawingml/2006/main">
              <a:ext uri="{FF2B5EF4-FFF2-40B4-BE49-F238E27FC236}">
                <a16:creationId xmlns:a16="http://schemas.microsoft.com/office/drawing/2014/main" id="{0E4FA7D0-1A91-4BED-9E5D-31F475B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指标变化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0.31 → 0.18</a:t>
            </a:r>
          </a:p>
        </p:txBody>
      </p:sp>
      <p:sp>
        <p:nvSpPr>
          <p:cNvPr id="13" name="p04-chain-node-2">
            <a:extLst xmlns:a="http://schemas.openxmlformats.org/drawingml/2006/main">
              <a:ext uri="{FF2B5EF4-FFF2-40B4-BE49-F238E27FC236}">
                <a16:creationId xmlns:a16="http://schemas.microsoft.com/office/drawing/2014/main" id="{DF99B12A-DB62-48B4-BB2A-B5F3737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判断与边界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 篇反而更差</a:t>
            </a:r>
          </a:p>
        </p:txBody>
      </p:sp>
      <p:sp>
        <p:nvSpPr>
          <p:cNvPr id="14" name="p04-e-label-0">
            <a:extLst xmlns:a="http://schemas.openxmlformats.org/drawingml/2006/main">
              <a:ext uri="{FF2B5EF4-FFF2-40B4-BE49-F238E27FC236}">
                <a16:creationId xmlns:a16="http://schemas.microsoft.com/office/drawing/2014/main" id="{F3DDAA3A-81E9-4BC1-8EB7-694C9CD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5" name="p04-e-detail-0">
            <a:extLst xmlns:a="http://schemas.openxmlformats.org/drawingml/2006/main">
              <a:ext uri="{FF2B5EF4-FFF2-40B4-BE49-F238E27FC236}">
                <a16:creationId xmlns:a16="http://schemas.microsoft.com/office/drawing/2014/main" id="{CC48DD47-E89D-44F7-B83E-E6F73F2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科研动作</a:t>
            </a:r>
          </a:p>
        </p:txBody>
      </p:sp>
      <p:sp>
        <p:nvSpPr>
          <p:cNvPr id="16" name="p04-e-label-1">
            <a:extLst xmlns:a="http://schemas.openxmlformats.org/drawingml/2006/main">
              <a:ext uri="{FF2B5EF4-FFF2-40B4-BE49-F238E27FC236}">
                <a16:creationId xmlns:a16="http://schemas.microsoft.com/office/drawing/2014/main" id="{93B91202-ABD3-4679-AD9A-374B1AB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17" name="p04-e-detail-1">
            <a:extLst xmlns:a="http://schemas.openxmlformats.org/drawingml/2006/main">
              <a:ext uri="{FF2B5EF4-FFF2-40B4-BE49-F238E27FC236}">
                <a16:creationId xmlns:a16="http://schemas.microsoft.com/office/drawing/2014/main" id="{23E99FB8-4391-41BA-A586-BB368BB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18" name="p04-e-label-2">
            <a:extLst xmlns:a="http://schemas.openxmlformats.org/drawingml/2006/main">
              <a:ext uri="{FF2B5EF4-FFF2-40B4-BE49-F238E27FC236}">
                <a16:creationId xmlns:a16="http://schemas.microsoft.com/office/drawing/2014/main" id="{4F9FCD2B-8A72-4728-A0BD-D12F9F5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19" name="p04-e-detail-2">
            <a:extLst xmlns:a="http://schemas.openxmlformats.org/drawingml/2006/main">
              <a:ext uri="{FF2B5EF4-FFF2-40B4-BE49-F238E27FC236}">
                <a16:creationId xmlns:a16="http://schemas.microsoft.com/office/drawing/2014/main" id="{E924B18D-DB4F-4A8E-A168-81A82BC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指标 / 成本</a:t>
            </a:r>
          </a:p>
        </p:txBody>
      </p:sp>
      <p:sp>
        <p:nvSpPr>
          <p:cNvPr id="20" name="p04-e-label-3">
            <a:extLst xmlns:a="http://schemas.openxmlformats.org/drawingml/2006/main">
              <a:ext uri="{FF2B5EF4-FFF2-40B4-BE49-F238E27FC236}">
                <a16:creationId xmlns:a16="http://schemas.microsoft.com/office/drawing/2014/main" id="{34E80374-E6ED-4805-94F7-790775C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1" name="p04-e-detail-3">
            <a:extLst xmlns:a="http://schemas.openxmlformats.org/drawingml/2006/main">
              <a:ext uri="{FF2B5EF4-FFF2-40B4-BE49-F238E27FC236}">
                <a16:creationId xmlns:a16="http://schemas.microsoft.com/office/drawing/2014/main" id="{CEA41BB2-3172-4D05-B23E-EB28731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负向结果</a:t>
            </a:r>
          </a:p>
        </p:txBody>
      </p:sp>
      <p:sp>
        <p:nvSpPr>
          <p:cNvPr id="22" name="p04-errors">
            <a:extLst xmlns:a="http://schemas.openxmlformats.org/drawingml/2006/main">
              <a:ext uri="{FF2B5EF4-FFF2-40B4-BE49-F238E27FC236}">
                <a16:creationId xmlns:a16="http://schemas.microsoft.com/office/drawing/2014/main" id="{A42C9100-C34C-4FCB-B7D1-1FD1D6F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Checkpoint 3 条件 8：评价报告说明实际影响，而不是只描述功能。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评价维度由科研问题决定，不是全选套餐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line-left">
            <a:extLst xmlns:a="http://schemas.openxmlformats.org/drawingml/2006/main">
              <a:ext uri="{FF2B5EF4-FFF2-40B4-BE49-F238E27FC236}">
                <a16:creationId xmlns:a16="http://schemas.microsoft.com/office/drawing/2014/main" id="{0DD1B5E0-E682-46F7-A521-95A0528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1404">
            <a:off x="2633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5-line-mid">
            <a:extLst xmlns:a="http://schemas.openxmlformats.org/drawingml/2006/main">
              <a:ext uri="{FF2B5EF4-FFF2-40B4-BE49-F238E27FC236}">
                <a16:creationId xmlns:a16="http://schemas.microsoft.com/office/drawing/2014/main" id="{ED160058-FA6B-40CA-BA2E-65EEC79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53100" y="2652713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5-line-right">
            <a:extLst xmlns:a="http://schemas.openxmlformats.org/drawingml/2006/main">
              <a:ext uri="{FF2B5EF4-FFF2-40B4-BE49-F238E27FC236}">
                <a16:creationId xmlns:a16="http://schemas.microsoft.com/office/drawing/2014/main" id="{BCE378CE-5B82-445A-9588-D48C9FD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8596">
            <a:off x="6062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5-main">
            <a:extLst xmlns:a="http://schemas.openxmlformats.org/drawingml/2006/main">
              <a:ext uri="{FF2B5EF4-FFF2-40B4-BE49-F238E27FC236}">
                <a16:creationId xmlns:a16="http://schemas.microsoft.com/office/drawing/2014/main" id="{A1820B40-0FDE-4874-91C0-EB7F0A3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"/>
            <a:ext cx="548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正确性与可追溯性 + 相对 baseline 改善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输出是否正确？能否追溯证据？主指标差多少？</a:t>
            </a:r>
          </a:p>
        </p:txBody>
      </p:sp>
      <p:sp>
        <p:nvSpPr>
          <p:cNvPr id="10" name="p05-alt-0">
            <a:extLst xmlns:a="http://schemas.openxmlformats.org/drawingml/2006/main">
              <a:ext uri="{FF2B5EF4-FFF2-40B4-BE49-F238E27FC236}">
                <a16:creationId xmlns:a16="http://schemas.microsoft.com/office/drawing/2014/main" id="{797ACF48-5864-4C01-BFD6-366035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时间或成本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完成同一动作的变化</a:t>
            </a:r>
          </a:p>
        </p:txBody>
      </p:sp>
      <p:sp>
        <p:nvSpPr>
          <p:cNvPr id="11" name="p05-alt-1">
            <a:extLst xmlns:a="http://schemas.openxmlformats.org/drawingml/2006/main">
              <a:ext uri="{FF2B5EF4-FFF2-40B4-BE49-F238E27FC236}">
                <a16:creationId xmlns:a16="http://schemas.microsoft.com/office/drawing/2014/main" id="{2E24D3E3-CA90-4535-9E33-BCB071B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失败率 + 权限风险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失败、无效、越权比例</a:t>
            </a:r>
          </a:p>
        </p:txBody>
      </p:sp>
      <p:sp>
        <p:nvSpPr>
          <p:cNvPr id="12" name="p05-alt-2">
            <a:extLst xmlns:a="http://schemas.openxmlformats.org/drawingml/2006/main">
              <a:ext uri="{FF2B5EF4-FFF2-40B4-BE49-F238E27FC236}">
                <a16:creationId xmlns:a16="http://schemas.microsoft.com/office/drawing/2014/main" id="{F85333A9-5640-464B-B277-06FF5CAF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人工修订量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达到可用需改多少</a:t>
            </a:r>
          </a:p>
        </p:txBody>
      </p:sp>
      <p:sp>
        <p:nvSpPr>
          <p:cNvPr id="13" name="p05-definition">
            <a:extLst xmlns:a="http://schemas.openxmlformats.org/drawingml/2006/main">
              <a:ext uri="{FF2B5EF4-FFF2-40B4-BE49-F238E27FC236}">
                <a16:creationId xmlns:a16="http://schemas.microsoft.com/office/drawing/2014/main" id="{26D0B2DD-D456-4239-BC53-53BF79FB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883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至少选择与项目相关的若干项；第 12 课任务契约的成功标准决定测什么。</a:t>
            </a:r>
          </a:p>
        </p:txBody>
      </p:sp>
      <p:sp>
        <p:nvSpPr>
          <p:cNvPr id="14" name="p05-eliminate">
            <a:extLst xmlns:a="http://schemas.openxmlformats.org/drawingml/2006/main">
              <a:ext uri="{FF2B5EF4-FFF2-40B4-BE49-F238E27FC236}">
                <a16:creationId xmlns:a16="http://schemas.microsoft.com/office/drawing/2014/main" id="{E9D8A878-E561-42D9-95B5-6CF02BD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62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贯穿案例选正确性/可追溯性与 baseline 改善；时间成本不是当前研究问题。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可重复评价需要固定输入、协议、对照与重复运行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label-0">
            <a:extLst xmlns:a="http://schemas.openxmlformats.org/drawingml/2006/main">
              <a:ext uri="{FF2B5EF4-FFF2-40B4-BE49-F238E27FC236}">
                <a16:creationId xmlns:a16="http://schemas.microsoft.com/office/drawing/2014/main" id="{4DA5BF2D-718C-409A-B220-79B4940E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固定输入</a:t>
            </a:r>
          </a:p>
        </p:txBody>
      </p:sp>
      <p:sp>
        <p:nvSpPr>
          <p:cNvPr id="7" name="p06-type-0">
            <a:extLst xmlns:a="http://schemas.openxmlformats.org/drawingml/2006/main">
              <a:ext uri="{FF2B5EF4-FFF2-40B4-BE49-F238E27FC236}">
                <a16:creationId xmlns:a16="http://schemas.microsoft.com/office/drawing/2014/main" id="{39AABC17-9EEE-48FB-8DCA-2ACDC46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版本 + 来源｜不是随手挑样本</a:t>
            </a:r>
          </a:p>
        </p:txBody>
      </p:sp>
      <p:sp>
        <p:nvSpPr>
          <p:cNvPr id="8" name="p06-label-1">
            <a:extLst xmlns:a="http://schemas.openxmlformats.org/drawingml/2006/main">
              <a:ext uri="{FF2B5EF4-FFF2-40B4-BE49-F238E27FC236}">
                <a16:creationId xmlns:a16="http://schemas.microsoft.com/office/drawing/2014/main" id="{9B575EAA-1EB5-4085-8267-362EED6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固定协议</a:t>
            </a:r>
          </a:p>
        </p:txBody>
      </p:sp>
      <p:sp>
        <p:nvSpPr>
          <p:cNvPr id="9" name="p06-type-1">
            <a:extLst xmlns:a="http://schemas.openxmlformats.org/drawingml/2006/main">
              <a:ext uri="{FF2B5EF4-FFF2-40B4-BE49-F238E27FC236}">
                <a16:creationId xmlns:a16="http://schemas.microsoft.com/office/drawing/2014/main" id="{68458D5B-53C2-4226-804A-430F238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指标 + rubric｜运行中不得改</a:t>
            </a:r>
          </a:p>
        </p:txBody>
      </p:sp>
      <p:sp>
        <p:nvSpPr>
          <p:cNvPr id="10" name="p06-label-2">
            <a:extLst xmlns:a="http://schemas.openxmlformats.org/drawingml/2006/main">
              <a:ext uri="{FF2B5EF4-FFF2-40B4-BE49-F238E27FC236}">
                <a16:creationId xmlns:a16="http://schemas.microsoft.com/office/drawing/2014/main" id="{D2F9B52A-C929-4A57-80BC-4717474A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11" name="p06-type-2">
            <a:extLst xmlns:a="http://schemas.openxmlformats.org/drawingml/2006/main">
              <a:ext uri="{FF2B5EF4-FFF2-40B4-BE49-F238E27FC236}">
                <a16:creationId xmlns:a16="http://schemas.microsoft.com/office/drawing/2014/main" id="{A75D245C-F0BD-46BB-B631-C1344DD7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无工作流 / 弱工作流 / 第 9 课基线</a:t>
            </a:r>
          </a:p>
        </p:txBody>
      </p:sp>
      <p:sp>
        <p:nvSpPr>
          <p:cNvPr id="12" name="p06-label-3">
            <a:extLst xmlns:a="http://schemas.openxmlformats.org/drawingml/2006/main">
              <a:ext uri="{FF2B5EF4-FFF2-40B4-BE49-F238E27FC236}">
                <a16:creationId xmlns:a16="http://schemas.microsoft.com/office/drawing/2014/main" id="{F507D663-5753-4FB3-9A8E-888A60E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重复与方差</a:t>
            </a:r>
          </a:p>
        </p:txBody>
      </p:sp>
      <p:sp>
        <p:nvSpPr>
          <p:cNvPr id="13" name="p06-type-3">
            <a:extLst xmlns:a="http://schemas.openxmlformats.org/drawingml/2006/main">
              <a:ext uri="{FF2B5EF4-FFF2-40B4-BE49-F238E27FC236}">
                <a16:creationId xmlns:a16="http://schemas.microsoft.com/office/drawing/2014/main" id="{1AB5DEF4-C166-440A-BD69-B92B0D05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≥3 次种子｜均值 + 标准差</a:t>
            </a:r>
          </a:p>
        </p:txBody>
      </p:sp>
      <p:sp>
        <p:nvSpPr>
          <p:cNvPr id="14" name="p06-record-title">
            <a:extLst xmlns:a="http://schemas.openxmlformats.org/drawingml/2006/main">
              <a:ext uri="{FF2B5EF4-FFF2-40B4-BE49-F238E27FC236}">
                <a16:creationId xmlns:a16="http://schemas.microsoft.com/office/drawing/2014/main" id="{04D2337F-7919-4EB0-A8AD-EAF4DBA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贯穿案例：让另一位检查者得到可比结果</a:t>
            </a:r>
          </a:p>
        </p:txBody>
      </p:sp>
      <p:sp>
        <p:nvSpPr>
          <p:cNvPr id="15" name="p06-field-label-0">
            <a:extLst xmlns:a="http://schemas.openxmlformats.org/drawingml/2006/main">
              <a:ext uri="{FF2B5EF4-FFF2-40B4-BE49-F238E27FC236}">
                <a16:creationId xmlns:a16="http://schemas.microsoft.com/office/drawing/2014/main" id="{A5C85025-1E26-4629-BE59-CC06899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p06-field-detail-0">
            <a:extLst xmlns:a="http://schemas.openxmlformats.org/drawingml/2006/main">
              <a:ext uri="{FF2B5EF4-FFF2-40B4-BE49-F238E27FC236}">
                <a16:creationId xmlns:a16="http://schemas.microsoft.com/office/drawing/2014/main" id="{87A65883-3699-497F-9C2F-953361E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20 篇 ACL 论文</a:t>
            </a:r>
          </a:p>
        </p:txBody>
      </p:sp>
      <p:sp>
        <p:nvSpPr>
          <p:cNvPr id="17" name="p06-field-label-1">
            <a:extLst xmlns:a="http://schemas.openxmlformats.org/drawingml/2006/main">
              <a:ext uri="{FF2B5EF4-FFF2-40B4-BE49-F238E27FC236}">
                <a16:creationId xmlns:a16="http://schemas.microsoft.com/office/drawing/2014/main" id="{E8E962C3-E940-4679-8AE9-0D8A188B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18" name="p06-field-detail-1">
            <a:extLst xmlns:a="http://schemas.openxmlformats.org/drawingml/2006/main">
              <a:ext uri="{FF2B5EF4-FFF2-40B4-BE49-F238E27FC236}">
                <a16:creationId xmlns:a16="http://schemas.microsoft.com/office/drawing/2014/main" id="{D456CCC2-6839-4EA5-8D33-07644CA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rubric v1.2</a:t>
            </a:r>
          </a:p>
        </p:txBody>
      </p:sp>
      <p:sp>
        <p:nvSpPr>
          <p:cNvPr id="19" name="p06-field-label-2">
            <a:extLst xmlns:a="http://schemas.openxmlformats.org/drawingml/2006/main">
              <a:ext uri="{FF2B5EF4-FFF2-40B4-BE49-F238E27FC236}">
                <a16:creationId xmlns:a16="http://schemas.microsoft.com/office/drawing/2014/main" id="{EC2B9126-56F9-4523-9452-F3008353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</a:t>
            </a:r>
          </a:p>
        </p:txBody>
      </p:sp>
      <p:sp>
        <p:nvSpPr>
          <p:cNvPr id="20" name="p06-field-detail-2">
            <a:extLst xmlns:a="http://schemas.openxmlformats.org/drawingml/2006/main">
              <a:ext uri="{FF2B5EF4-FFF2-40B4-BE49-F238E27FC236}">
                <a16:creationId xmlns:a16="http://schemas.microsoft.com/office/drawing/2014/main" id="{62177EBD-91C2-4509-8DE3-68840CB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双盲 / κ≥0.7</a:t>
            </a:r>
          </a:p>
        </p:txBody>
      </p:sp>
      <p:sp>
        <p:nvSpPr>
          <p:cNvPr id="21" name="p06-field-label-3">
            <a:extLst xmlns:a="http://schemas.openxmlformats.org/drawingml/2006/main">
              <a:ext uri="{FF2B5EF4-FFF2-40B4-BE49-F238E27FC236}">
                <a16:creationId xmlns:a16="http://schemas.microsoft.com/office/drawing/2014/main" id="{8E2A59B6-0F48-4AFB-A0B8-EB56D76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22" name="p06-field-detail-3">
            <a:extLst xmlns:a="http://schemas.openxmlformats.org/drawingml/2006/main">
              <a:ext uri="{FF2B5EF4-FFF2-40B4-BE49-F238E27FC236}">
                <a16:creationId xmlns:a16="http://schemas.microsoft.com/office/drawing/2014/main" id="{A1750493-A112-4E2A-8CB0-5803CAD3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自由摘要</a:t>
            </a:r>
          </a:p>
        </p:txBody>
      </p:sp>
      <p:sp>
        <p:nvSpPr>
          <p:cNvPr id="23" name="p06-field-label-4">
            <a:extLst xmlns:a="http://schemas.openxmlformats.org/drawingml/2006/main">
              <a:ext uri="{FF2B5EF4-FFF2-40B4-BE49-F238E27FC236}">
                <a16:creationId xmlns:a16="http://schemas.microsoft.com/office/drawing/2014/main" id="{F963E2F1-9489-4965-BD24-7DCFA90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24" name="p06-field-detail-4">
            <a:extLst xmlns:a="http://schemas.openxmlformats.org/drawingml/2006/main">
              <a:ext uri="{FF2B5EF4-FFF2-40B4-BE49-F238E27FC236}">
                <a16:creationId xmlns:a16="http://schemas.microsoft.com/office/drawing/2014/main" id="{0FC90B24-3365-4225-A9BD-8DFD362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seeds 100/200/300</a:t>
            </a:r>
          </a:p>
        </p:txBody>
      </p:sp>
      <p:sp>
        <p:nvSpPr>
          <p:cNvPr id="25" name="p06-field-label-5">
            <a:extLst xmlns:a="http://schemas.openxmlformats.org/drawingml/2006/main">
              <a:ext uri="{FF2B5EF4-FFF2-40B4-BE49-F238E27FC236}">
                <a16:creationId xmlns:a16="http://schemas.microsoft.com/office/drawing/2014/main" id="{3FE3378C-1C8E-483C-A710-8D0FCB4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只跑 1 次</a:t>
            </a:r>
          </a:p>
        </p:txBody>
      </p:sp>
      <p:sp>
        <p:nvSpPr>
          <p:cNvPr id="26" name="p06-field-detail-5">
            <a:extLst xmlns:a="http://schemas.openxmlformats.org/drawingml/2006/main">
              <a:ext uri="{FF2B5EF4-FFF2-40B4-BE49-F238E27FC236}">
                <a16:creationId xmlns:a16="http://schemas.microsoft.com/office/drawing/2014/main" id="{5554BC7A-F5CE-4D8B-87CD-8F81A40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写理由 + 待验证</a:t>
            </a:r>
          </a:p>
        </p:txBody>
      </p:sp>
      <p:sp>
        <p:nvSpPr>
          <p:cNvPr id="27" name="p06-bottom">
            <a:extLst xmlns:a="http://schemas.openxmlformats.org/drawingml/2006/main">
              <a:ext uri="{FF2B5EF4-FFF2-40B4-BE49-F238E27FC236}">
                <a16:creationId xmlns:a16="http://schemas.microsoft.com/office/drawing/2014/main" id="{3D130851-12D7-484A-AA27-21C69F1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单次分数不能直接写成稳定结论；先报告不确定性。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评价报告必须说明改变了哪个研究判断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a">
            <a:extLst xmlns:a="http://schemas.openxmlformats.org/drawingml/2006/main">
              <a:ext uri="{FF2B5EF4-FFF2-40B4-BE49-F238E27FC236}">
                <a16:creationId xmlns:a16="http://schemas.microsoft.com/office/drawing/2014/main" id="{E1962C74-0CEF-4062-9E10-8798E9E6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评价设置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 + baseline + 指标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样本量 + 重复协议</a:t>
            </a:r>
          </a:p>
        </p:txBody>
      </p:sp>
      <p:sp>
        <p:nvSpPr>
          <p:cNvPr id="7" name="p07-b">
            <a:extLst xmlns:a="http://schemas.openxmlformats.org/drawingml/2006/main">
              <a:ext uri="{FF2B5EF4-FFF2-40B4-BE49-F238E27FC236}">
                <a16:creationId xmlns:a16="http://schemas.microsoft.com/office/drawing/2014/main" id="{6B303354-6DBA-42FE-8587-F8690A07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实际影响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结果差异 + 不确定性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改变/未改变的判断</a:t>
            </a:r>
          </a:p>
        </p:txBody>
      </p:sp>
      <p:sp>
        <p:nvSpPr>
          <p:cNvPr id="8" name="p07-a-risk">
            <a:extLst xmlns:a="http://schemas.openxmlformats.org/drawingml/2006/main">
              <a:ext uri="{FF2B5EF4-FFF2-40B4-BE49-F238E27FC236}">
                <a16:creationId xmlns:a16="http://schemas.microsoft.com/office/drawing/2014/main" id="{ED0A4581-AFEA-4A5D-8AB9-3A27C43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风险：只列功能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没有对照、没有影响</a:t>
            </a:r>
          </a:p>
        </p:txBody>
      </p:sp>
      <p:sp>
        <p:nvSpPr>
          <p:cNvPr id="9" name="p07-b-risk">
            <a:extLst xmlns:a="http://schemas.openxmlformats.org/drawingml/2006/main">
              <a:ext uri="{FF2B5EF4-FFF2-40B4-BE49-F238E27FC236}">
                <a16:creationId xmlns:a16="http://schemas.microsoft.com/office/drawing/2014/main" id="{2053D111-C3CE-48F9-8796-45D4FAE7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边界：保留 / 修改 / 移除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每个决定写依据</a:t>
            </a:r>
          </a:p>
        </p:txBody>
      </p:sp>
      <p:sp>
        <p:nvSpPr>
          <p:cNvPr id="10" name="p07-compare-title">
            <a:extLst xmlns:a="http://schemas.openxmlformats.org/drawingml/2006/main">
              <a:ext uri="{FF2B5EF4-FFF2-40B4-BE49-F238E27FC236}">
                <a16:creationId xmlns:a16="http://schemas.microsoft.com/office/drawing/2014/main" id="{2C3F46C9-4510-4E2B-B9F0-426B814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66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合格报告的六项</a:t>
            </a:r>
          </a:p>
        </p:txBody>
      </p:sp>
      <p:sp>
        <p:nvSpPr>
          <p:cNvPr id="11" name="p07-dim-0">
            <a:extLst xmlns:a="http://schemas.openxmlformats.org/drawingml/2006/main">
              <a:ext uri="{FF2B5EF4-FFF2-40B4-BE49-F238E27FC236}">
                <a16:creationId xmlns:a16="http://schemas.microsoft.com/office/drawing/2014/main" id="{5BE68A9C-DEEC-4720-A729-8B3B23F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57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评价问题</a:t>
            </a:r>
          </a:p>
        </p:txBody>
      </p:sp>
      <p:sp>
        <p:nvSpPr>
          <p:cNvPr id="12" name="p07-dim-1">
            <a:extLst xmlns:a="http://schemas.openxmlformats.org/drawingml/2006/main">
              <a:ext uri="{FF2B5EF4-FFF2-40B4-BE49-F238E27FC236}">
                <a16:creationId xmlns:a16="http://schemas.microsoft.com/office/drawing/2014/main" id="{C7B80669-2F17-4206-A14E-A25212D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 与对照</a:t>
            </a:r>
          </a:p>
        </p:txBody>
      </p:sp>
      <p:sp>
        <p:nvSpPr>
          <p:cNvPr id="13" name="p07-dim-2">
            <a:extLst xmlns:a="http://schemas.openxmlformats.org/drawingml/2006/main">
              <a:ext uri="{FF2B5EF4-FFF2-40B4-BE49-F238E27FC236}">
                <a16:creationId xmlns:a16="http://schemas.microsoft.com/office/drawing/2014/main" id="{B71DCA4D-0604-4315-951D-B17A000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指标 / rubric / n</a:t>
            </a:r>
          </a:p>
        </p:txBody>
      </p:sp>
      <p:sp>
        <p:nvSpPr>
          <p:cNvPr id="14" name="p07-dim-3">
            <a:extLst xmlns:a="http://schemas.openxmlformats.org/drawingml/2006/main">
              <a:ext uri="{FF2B5EF4-FFF2-40B4-BE49-F238E27FC236}">
                <a16:creationId xmlns:a16="http://schemas.microsoft.com/office/drawing/2014/main" id="{C133F147-F482-4E6B-8F51-A7BD084B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均值 / 方差 / 差异</a:t>
            </a:r>
          </a:p>
        </p:txBody>
      </p:sp>
      <p:sp>
        <p:nvSpPr>
          <p:cNvPr id="15" name="p07-dim-4">
            <a:extLst xmlns:a="http://schemas.openxmlformats.org/drawingml/2006/main">
              <a:ext uri="{FF2B5EF4-FFF2-40B4-BE49-F238E27FC236}">
                <a16:creationId xmlns:a16="http://schemas.microsoft.com/office/drawing/2014/main" id="{28286AC7-9771-41AE-89DF-3142F34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实际影响与组件取舍</a:t>
            </a:r>
          </a:p>
        </p:txBody>
      </p:sp>
      <p:sp>
        <p:nvSpPr>
          <p:cNvPr id="16" name="p07-decision">
            <a:extLst xmlns:a="http://schemas.openxmlformats.org/drawingml/2006/main">
              <a:ext uri="{FF2B5EF4-FFF2-40B4-BE49-F238E27FC236}">
                <a16:creationId xmlns:a16="http://schemas.microsoft.com/office/drawing/2014/main" id="{36942D5E-2AE5-4766-AF99-66685D0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检查句：工作流改善了哪个科研动作？改变了哪个判断？哪些没有变？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结果必须映射为支持、反驳或仍不能判断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h-0">
            <a:extLst xmlns:a="http://schemas.openxmlformats.org/drawingml/2006/main">
              <a:ext uri="{FF2B5EF4-FFF2-40B4-BE49-F238E27FC236}">
                <a16:creationId xmlns:a16="http://schemas.microsoft.com/office/drawing/2014/main" id="{38D4C9D2-0F96-4B93-A4D2-1602E97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562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结果状态</a:t>
            </a:r>
          </a:p>
        </p:txBody>
      </p:sp>
      <p:sp>
        <p:nvSpPr>
          <p:cNvPr id="7" name="p08-h-1">
            <a:extLst xmlns:a="http://schemas.openxmlformats.org/drawingml/2006/main">
              <a:ext uri="{FF2B5EF4-FFF2-40B4-BE49-F238E27FC236}">
                <a16:creationId xmlns:a16="http://schemas.microsoft.com/office/drawing/2014/main" id="{7F4F3AAA-FEF2-4DE9-B83F-70ACFD3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430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证据关系</a:t>
            </a:r>
          </a:p>
        </p:txBody>
      </p:sp>
      <p:sp>
        <p:nvSpPr>
          <p:cNvPr id="8" name="p08-h-2">
            <a:extLst xmlns:a="http://schemas.openxmlformats.org/drawingml/2006/main">
              <a:ext uri="{FF2B5EF4-FFF2-40B4-BE49-F238E27FC236}">
                <a16:creationId xmlns:a16="http://schemas.microsoft.com/office/drawing/2014/main" id="{044E0BEE-8EAC-4B47-8C87-AA03C4F4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判断动作</a:t>
            </a:r>
          </a:p>
        </p:txBody>
      </p:sp>
      <p:sp>
        <p:nvSpPr>
          <p:cNvPr id="9" name="p08-h-3">
            <a:extLst xmlns:a="http://schemas.openxmlformats.org/drawingml/2006/main">
              <a:ext uri="{FF2B5EF4-FFF2-40B4-BE49-F238E27FC236}">
                <a16:creationId xmlns:a16="http://schemas.microsoft.com/office/drawing/2014/main" id="{8116D578-A48C-4A50-955C-DA1B551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</a:t>
            </a:r>
          </a:p>
        </p:txBody>
      </p:sp>
      <p:sp>
        <p:nvSpPr>
          <p:cNvPr id="10" name="p08-h-4">
            <a:extLst xmlns:a="http://schemas.openxmlformats.org/drawingml/2006/main">
              <a:ext uri="{FF2B5EF4-FFF2-40B4-BE49-F238E27FC236}">
                <a16:creationId xmlns:a16="http://schemas.microsoft.com/office/drawing/2014/main" id="{737244F8-6ACC-4316-9D0A-F19274E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1" name="p08-r0-0">
            <a:extLst xmlns:a="http://schemas.openxmlformats.org/drawingml/2006/main">
              <a:ext uri="{FF2B5EF4-FFF2-40B4-BE49-F238E27FC236}">
                <a16:creationId xmlns:a16="http://schemas.microsoft.com/office/drawing/2014/main" id="{A2CE4909-80ED-4D96-86B4-E8D135A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支持</a:t>
            </a:r>
          </a:p>
        </p:txBody>
      </p:sp>
      <p:sp>
        <p:nvSpPr>
          <p:cNvPr id="12" name="p08-r0-1">
            <a:extLst xmlns:a="http://schemas.openxmlformats.org/drawingml/2006/main">
              <a:ext uri="{FF2B5EF4-FFF2-40B4-BE49-F238E27FC236}">
                <a16:creationId xmlns:a16="http://schemas.microsoft.com/office/drawing/2014/main" id="{8DFEDC57-FEAE-4D8B-9E29-587FDAA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192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与 H1 一致</a:t>
            </a:r>
          </a:p>
        </p:txBody>
      </p:sp>
      <p:sp>
        <p:nvSpPr>
          <p:cNvPr id="13" name="p08-r0-2">
            <a:extLst xmlns:a="http://schemas.openxmlformats.org/drawingml/2006/main">
              <a:ext uri="{FF2B5EF4-FFF2-40B4-BE49-F238E27FC236}">
                <a16:creationId xmlns:a16="http://schemas.microsoft.com/office/drawing/2014/main" id="{E595DF9D-EEBC-4C1A-9F1D-38DCE7E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写支持强度</a:t>
            </a:r>
          </a:p>
        </p:txBody>
      </p:sp>
      <p:sp>
        <p:nvSpPr>
          <p:cNvPr id="14" name="p08-r0-3">
            <a:extLst xmlns:a="http://schemas.openxmlformats.org/drawingml/2006/main">
              <a:ext uri="{FF2B5EF4-FFF2-40B4-BE49-F238E27FC236}">
                <a16:creationId xmlns:a16="http://schemas.microsoft.com/office/drawing/2014/main" id="{1C2760EA-DEFE-401B-8168-59284D3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0.18±.03 &lt; .31±.04</a:t>
            </a:r>
          </a:p>
        </p:txBody>
      </p:sp>
      <p:sp>
        <p:nvSpPr>
          <p:cNvPr id="15" name="p08-r0-4">
            <a:extLst xmlns:a="http://schemas.openxmlformats.org/drawingml/2006/main">
              <a:ext uri="{FF2B5EF4-FFF2-40B4-BE49-F238E27FC236}">
                <a16:creationId xmlns:a16="http://schemas.microsoft.com/office/drawing/2014/main" id="{07DA84FF-A9CF-4458-A06D-0C92D8E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小样本，非 stable</a:t>
            </a:r>
          </a:p>
        </p:txBody>
      </p:sp>
      <p:sp>
        <p:nvSpPr>
          <p:cNvPr id="16" name="p08-r1-0">
            <a:extLst xmlns:a="http://schemas.openxmlformats.org/drawingml/2006/main">
              <a:ext uri="{FF2B5EF4-FFF2-40B4-BE49-F238E27FC236}">
                <a16:creationId xmlns:a16="http://schemas.microsoft.com/office/drawing/2014/main" id="{DD8DDBAF-F6F5-4979-9F6E-454F860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反驳</a:t>
            </a:r>
          </a:p>
        </p:txBody>
      </p:sp>
      <p:sp>
        <p:nvSpPr>
          <p:cNvPr id="17" name="p08-r1-1">
            <a:extLst xmlns:a="http://schemas.openxmlformats.org/drawingml/2006/main">
              <a:ext uri="{FF2B5EF4-FFF2-40B4-BE49-F238E27FC236}">
                <a16:creationId xmlns:a16="http://schemas.microsoft.com/office/drawing/2014/main" id="{CE67C768-7AD7-498D-9376-AEFB8F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098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与 H1 不一致</a:t>
            </a:r>
          </a:p>
        </p:txBody>
      </p:sp>
      <p:sp>
        <p:nvSpPr>
          <p:cNvPr id="18" name="p08-r1-2">
            <a:extLst xmlns:a="http://schemas.openxmlformats.org/drawingml/2006/main">
              <a:ext uri="{FF2B5EF4-FFF2-40B4-BE49-F238E27FC236}">
                <a16:creationId xmlns:a16="http://schemas.microsoft.com/office/drawing/2014/main" id="{B128B293-4250-4901-8334-25FE883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保留反证</a:t>
            </a:r>
          </a:p>
        </p:txBody>
      </p:sp>
      <p:sp>
        <p:nvSpPr>
          <p:cNvPr id="19" name="p08-r1-3">
            <a:extLst xmlns:a="http://schemas.openxmlformats.org/drawingml/2006/main">
              <a:ext uri="{FF2B5EF4-FFF2-40B4-BE49-F238E27FC236}">
                <a16:creationId xmlns:a16="http://schemas.microsoft.com/office/drawing/2014/main" id="{0A99A40B-10ED-4723-AB49-B3F813B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图表子集反高</a:t>
            </a:r>
          </a:p>
        </p:txBody>
      </p:sp>
      <p:sp>
        <p:nvSpPr>
          <p:cNvPr id="20" name="p08-r1-4">
            <a:extLst xmlns:a="http://schemas.openxmlformats.org/drawingml/2006/main">
              <a:ext uri="{FF2B5EF4-FFF2-40B4-BE49-F238E27FC236}">
                <a16:creationId xmlns:a16="http://schemas.microsoft.com/office/drawing/2014/main" id="{AE75DFCF-7AC5-481A-85D8-5112E76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不得删除</a:t>
            </a:r>
          </a:p>
        </p:txBody>
      </p:sp>
      <p:sp>
        <p:nvSpPr>
          <p:cNvPr id="21" name="p08-r2-0">
            <a:extLst xmlns:a="http://schemas.openxmlformats.org/drawingml/2006/main">
              <a:ext uri="{FF2B5EF4-FFF2-40B4-BE49-F238E27FC236}">
                <a16:creationId xmlns:a16="http://schemas.microsoft.com/office/drawing/2014/main" id="{C9CF3E09-3C2E-4F47-AE05-138414CA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仍不能判断</a:t>
            </a:r>
          </a:p>
        </p:txBody>
      </p:sp>
      <p:sp>
        <p:nvSpPr>
          <p:cNvPr id="22" name="p08-r2-1">
            <a:extLst xmlns:a="http://schemas.openxmlformats.org/drawingml/2006/main">
              <a:ext uri="{FF2B5EF4-FFF2-40B4-BE49-F238E27FC236}">
                <a16:creationId xmlns:a16="http://schemas.microsoft.com/office/drawing/2014/main" id="{67893BD4-FBF5-4654-AC9D-A2B5ECE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噪声/混杂未控</a:t>
            </a:r>
          </a:p>
        </p:txBody>
      </p:sp>
      <p:sp>
        <p:nvSpPr>
          <p:cNvPr id="23" name="p08-r2-2">
            <a:extLst xmlns:a="http://schemas.openxmlformats.org/drawingml/2006/main">
              <a:ext uri="{FF2B5EF4-FFF2-40B4-BE49-F238E27FC236}">
                <a16:creationId xmlns:a16="http://schemas.microsoft.com/office/drawing/2014/main" id="{70CFECA6-E7D8-4647-8C3C-2826A0D6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写缺什么证据</a:t>
            </a:r>
          </a:p>
        </p:txBody>
      </p:sp>
      <p:sp>
        <p:nvSpPr>
          <p:cNvPr id="24" name="p08-r2-3">
            <a:extLst xmlns:a="http://schemas.openxmlformats.org/drawingml/2006/main">
              <a:ext uri="{FF2B5EF4-FFF2-40B4-BE49-F238E27FC236}">
                <a16:creationId xmlns:a16="http://schemas.microsoft.com/office/drawing/2014/main" id="{286AC6ED-959A-4E34-8965-75EA6CD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A2 时间控制未跑</a:t>
            </a:r>
          </a:p>
        </p:txBody>
      </p:sp>
      <p:sp>
        <p:nvSpPr>
          <p:cNvPr id="25" name="p08-r2-4">
            <a:extLst xmlns:a="http://schemas.openxmlformats.org/drawingml/2006/main">
              <a:ext uri="{FF2B5EF4-FFF2-40B4-BE49-F238E27FC236}">
                <a16:creationId xmlns:a16="http://schemas.microsoft.com/office/drawing/2014/main" id="{E10482D2-FC89-4354-862A-A980532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标记待验证</a:t>
            </a:r>
          </a:p>
        </p:txBody>
      </p:sp>
      <p:sp>
        <p:nvSpPr>
          <p:cNvPr id="26" name="p08-bottom">
            <a:extLst xmlns:a="http://schemas.openxmlformats.org/drawingml/2006/main">
              <a:ext uri="{FF2B5EF4-FFF2-40B4-BE49-F238E27FC236}">
                <a16:creationId xmlns:a16="http://schemas.microsoft.com/office/drawing/2014/main" id="{B26AC0EF-2C2B-4744-A07A-D9D26C34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79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只有单一证据时：写强度、适用边界与缺失，不得标记 stable。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正向、负向与冲突结果必须在同一记录中呈现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var-title">
            <a:extLst xmlns:a="http://schemas.openxmlformats.org/drawingml/2006/main">
              <a:ext uri="{FF2B5EF4-FFF2-40B4-BE49-F238E27FC236}">
                <a16:creationId xmlns:a16="http://schemas.microsoft.com/office/drawing/2014/main" id="{4A4EB1B0-749B-4738-A3D1-9B0093C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三类结果记录</a:t>
            </a:r>
          </a:p>
        </p:txBody>
      </p:sp>
      <p:sp>
        <p:nvSpPr>
          <p:cNvPr id="7" name="p09-vars-h-0">
            <a:extLst xmlns:a="http://schemas.openxmlformats.org/drawingml/2006/main">
              <a:ext uri="{FF2B5EF4-FFF2-40B4-BE49-F238E27FC236}">
                <a16:creationId xmlns:a16="http://schemas.microsoft.com/office/drawing/2014/main" id="{1ED01082-F944-4A27-A32E-0C1D8A15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8" name="p09-vars-h-1">
            <a:extLst xmlns:a="http://schemas.openxmlformats.org/drawingml/2006/main">
              <a:ext uri="{FF2B5EF4-FFF2-40B4-BE49-F238E27FC236}">
                <a16:creationId xmlns:a16="http://schemas.microsoft.com/office/drawing/2014/main" id="{05C018E4-3CE3-402F-8C6E-8BA47FD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621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必须写什么</a:t>
            </a:r>
          </a:p>
        </p:txBody>
      </p:sp>
      <p:sp>
        <p:nvSpPr>
          <p:cNvPr id="9" name="p09-vars-r0-0">
            <a:extLst xmlns:a="http://schemas.openxmlformats.org/drawingml/2006/main">
              <a:ext uri="{FF2B5EF4-FFF2-40B4-BE49-F238E27FC236}">
                <a16:creationId xmlns:a16="http://schemas.microsoft.com/office/drawing/2014/main" id="{E7A03DD1-DE3F-4D21-8598-12C4BF4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正向</a:t>
            </a:r>
          </a:p>
        </p:txBody>
      </p:sp>
      <p:sp>
        <p:nvSpPr>
          <p:cNvPr id="10" name="p09-vars-r0-1">
            <a:extLst xmlns:a="http://schemas.openxmlformats.org/drawingml/2006/main">
              <a:ext uri="{FF2B5EF4-FFF2-40B4-BE49-F238E27FC236}">
                <a16:creationId xmlns:a16="http://schemas.microsoft.com/office/drawing/2014/main" id="{288A2EAF-FD75-4C67-A646-B3139FC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改善指标 / 降低成本 + 适用边界</a:t>
            </a:r>
          </a:p>
        </p:txBody>
      </p:sp>
      <p:sp>
        <p:nvSpPr>
          <p:cNvPr id="11" name="p09-vars-r1-0">
            <a:extLst xmlns:a="http://schemas.openxmlformats.org/drawingml/2006/main">
              <a:ext uri="{FF2B5EF4-FFF2-40B4-BE49-F238E27FC236}">
                <a16:creationId xmlns:a16="http://schemas.microsoft.com/office/drawing/2014/main" id="{224376EF-91F4-4971-B327-8219E2F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负向</a:t>
            </a:r>
          </a:p>
        </p:txBody>
      </p:sp>
      <p:sp>
        <p:nvSpPr>
          <p:cNvPr id="12" name="p09-vars-r1-1">
            <a:extLst xmlns:a="http://schemas.openxmlformats.org/drawingml/2006/main">
              <a:ext uri="{FF2B5EF4-FFF2-40B4-BE49-F238E27FC236}">
                <a16:creationId xmlns:a16="http://schemas.microsoft.com/office/drawing/2014/main" id="{51915736-A0AB-4F13-8F92-27AF06A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未改善 / 新错误 / 越权 + 根因</a:t>
            </a:r>
          </a:p>
        </p:txBody>
      </p:sp>
      <p:sp>
        <p:nvSpPr>
          <p:cNvPr id="13" name="p09-vars-r2-0">
            <a:extLst xmlns:a="http://schemas.openxmlformats.org/drawingml/2006/main">
              <a:ext uri="{FF2B5EF4-FFF2-40B4-BE49-F238E27FC236}">
                <a16:creationId xmlns:a16="http://schemas.microsoft.com/office/drawing/2014/main" id="{03A7A6B0-33CA-45FD-B52F-74CBC57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14" name="p09-vars-r2-1">
            <a:extLst xmlns:a="http://schemas.openxmlformats.org/drawingml/2006/main">
              <a:ext uri="{FF2B5EF4-FFF2-40B4-BE49-F238E27FC236}">
                <a16:creationId xmlns:a16="http://schemas.microsoft.com/office/drawing/2014/main" id="{64F620BA-1778-4FC5-AF71-B6D6F357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子集/种子方向相反 + 取舍理由</a:t>
            </a:r>
          </a:p>
        </p:txBody>
      </p:sp>
      <p:sp>
        <p:nvSpPr>
          <p:cNvPr id="15" name="p09-vars-r3-0">
            <a:extLst xmlns:a="http://schemas.openxmlformats.org/drawingml/2006/main">
              <a:ext uri="{FF2B5EF4-FFF2-40B4-BE49-F238E27FC236}">
                <a16:creationId xmlns:a16="http://schemas.microsoft.com/office/drawing/2014/main" id="{473B6B51-8CED-4B80-AF70-27384E7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红线</a:t>
            </a:r>
          </a:p>
        </p:txBody>
      </p:sp>
      <p:sp>
        <p:nvSpPr>
          <p:cNvPr id="16" name="p09-vars-r3-1">
            <a:extLst xmlns:a="http://schemas.openxmlformats.org/drawingml/2006/main">
              <a:ext uri="{FF2B5EF4-FFF2-40B4-BE49-F238E27FC236}">
                <a16:creationId xmlns:a16="http://schemas.microsoft.com/office/drawing/2014/main" id="{82E5DCBD-F903-4109-9E22-139A9AA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719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不得删除失败或事后改变评价口径</a:t>
            </a:r>
          </a:p>
        </p:txBody>
      </p:sp>
      <p:sp>
        <p:nvSpPr>
          <p:cNvPr id="17" name="p09-spec-title">
            <a:extLst xmlns:a="http://schemas.openxmlformats.org/drawingml/2006/main">
              <a:ext uri="{FF2B5EF4-FFF2-40B4-BE49-F238E27FC236}">
                <a16:creationId xmlns:a16="http://schemas.microsoft.com/office/drawing/2014/main" id="{64AE2602-784B-4FBA-B1B1-7F6D936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记录八项</a:t>
            </a:r>
          </a:p>
        </p:txBody>
      </p:sp>
      <p:sp>
        <p:nvSpPr>
          <p:cNvPr id="18" name="p09-n-0">
            <a:extLst xmlns:a="http://schemas.openxmlformats.org/drawingml/2006/main">
              <a:ext uri="{FF2B5EF4-FFF2-40B4-BE49-F238E27FC236}">
                <a16:creationId xmlns:a16="http://schemas.microsoft.com/office/drawing/2014/main" id="{DA010CC0-836C-45FF-8471-6C70EB5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p09-s-0">
            <a:extLst xmlns:a="http://schemas.openxmlformats.org/drawingml/2006/main">
              <a:ext uri="{FF2B5EF4-FFF2-40B4-BE49-F238E27FC236}">
                <a16:creationId xmlns:a16="http://schemas.microsoft.com/office/drawing/2014/main" id="{3C6A8891-C036-4EB3-93A6-951AE77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 ID</a:t>
            </a:r>
          </a:p>
        </p:txBody>
      </p:sp>
      <p:sp>
        <p:nvSpPr>
          <p:cNvPr id="20" name="p09-n-1">
            <a:extLst xmlns:a="http://schemas.openxmlformats.org/drawingml/2006/main">
              <a:ext uri="{FF2B5EF4-FFF2-40B4-BE49-F238E27FC236}">
                <a16:creationId xmlns:a16="http://schemas.microsoft.com/office/drawing/2014/main" id="{128B52A7-42A9-4FCF-A6F1-C47F04D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p09-s-1">
            <a:extLst xmlns:a="http://schemas.openxmlformats.org/drawingml/2006/main">
              <a:ext uri="{FF2B5EF4-FFF2-40B4-BE49-F238E27FC236}">
                <a16:creationId xmlns:a16="http://schemas.microsoft.com/office/drawing/2014/main" id="{B6772FE8-923E-48BC-8C1A-D4EA2FD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指标与子集</a:t>
            </a:r>
          </a:p>
        </p:txBody>
      </p:sp>
      <p:sp>
        <p:nvSpPr>
          <p:cNvPr id="22" name="p09-n-2">
            <a:extLst xmlns:a="http://schemas.openxmlformats.org/drawingml/2006/main">
              <a:ext uri="{FF2B5EF4-FFF2-40B4-BE49-F238E27FC236}">
                <a16:creationId xmlns:a16="http://schemas.microsoft.com/office/drawing/2014/main" id="{51CCE020-D453-4108-9A1B-4A0EFC1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09-s-2">
            <a:extLst xmlns:a="http://schemas.openxmlformats.org/drawingml/2006/main">
              <a:ext uri="{FF2B5EF4-FFF2-40B4-BE49-F238E27FC236}">
                <a16:creationId xmlns:a16="http://schemas.microsoft.com/office/drawing/2014/main" id="{AD107FE3-98BD-416A-8D79-7368871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期望 / 实际</a:t>
            </a:r>
          </a:p>
        </p:txBody>
      </p:sp>
      <p:sp>
        <p:nvSpPr>
          <p:cNvPr id="24" name="p09-n-3">
            <a:extLst xmlns:a="http://schemas.openxmlformats.org/drawingml/2006/main">
              <a:ext uri="{FF2B5EF4-FFF2-40B4-BE49-F238E27FC236}">
                <a16:creationId xmlns:a16="http://schemas.microsoft.com/office/drawing/2014/main" id="{FCB4217E-4660-4C0E-9570-1D16460C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p09-s-3">
            <a:extLst xmlns:a="http://schemas.openxmlformats.org/drawingml/2006/main">
              <a:ext uri="{FF2B5EF4-FFF2-40B4-BE49-F238E27FC236}">
                <a16:creationId xmlns:a16="http://schemas.microsoft.com/office/drawing/2014/main" id="{095055EB-245D-4A28-9837-19C5795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假设关系</a:t>
            </a:r>
          </a:p>
        </p:txBody>
      </p:sp>
      <p:sp>
        <p:nvSpPr>
          <p:cNvPr id="26" name="p09-n-4">
            <a:extLst xmlns:a="http://schemas.openxmlformats.org/drawingml/2006/main">
              <a:ext uri="{FF2B5EF4-FFF2-40B4-BE49-F238E27FC236}">
                <a16:creationId xmlns:a16="http://schemas.microsoft.com/office/drawing/2014/main" id="{289F5A61-2E58-4F71-8DF9-2AC9ACA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p09-s-4">
            <a:extLst xmlns:a="http://schemas.openxmlformats.org/drawingml/2006/main">
              <a:ext uri="{FF2B5EF4-FFF2-40B4-BE49-F238E27FC236}">
                <a16:creationId xmlns:a16="http://schemas.microsoft.com/office/drawing/2014/main" id="{5F2B8A75-0F87-467A-AE95-8BA5C94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支持强度</a:t>
            </a:r>
          </a:p>
        </p:txBody>
      </p:sp>
      <p:sp>
        <p:nvSpPr>
          <p:cNvPr id="28" name="p09-n-5">
            <a:extLst xmlns:a="http://schemas.openxmlformats.org/drawingml/2006/main">
              <a:ext uri="{FF2B5EF4-FFF2-40B4-BE49-F238E27FC236}">
                <a16:creationId xmlns:a16="http://schemas.microsoft.com/office/drawing/2014/main" id="{27D50A14-2557-4EC4-BFFF-C108B07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p09-s-5">
            <a:extLst xmlns:a="http://schemas.openxmlformats.org/drawingml/2006/main">
              <a:ext uri="{FF2B5EF4-FFF2-40B4-BE49-F238E27FC236}">
                <a16:creationId xmlns:a16="http://schemas.microsoft.com/office/drawing/2014/main" id="{981D0504-2375-4980-807C-33A175E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冲突与缺失</a:t>
            </a:r>
          </a:p>
        </p:txBody>
      </p:sp>
      <p:sp>
        <p:nvSpPr>
          <p:cNvPr id="30" name="p09-n-6">
            <a:extLst xmlns:a="http://schemas.openxmlformats.org/drawingml/2006/main">
              <a:ext uri="{FF2B5EF4-FFF2-40B4-BE49-F238E27FC236}">
                <a16:creationId xmlns:a16="http://schemas.microsoft.com/office/drawing/2014/main" id="{8F3D0B35-20D9-42DA-9CC2-2299287E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p09-s-6">
            <a:extLst xmlns:a="http://schemas.openxmlformats.org/drawingml/2006/main">
              <a:ext uri="{FF2B5EF4-FFF2-40B4-BE49-F238E27FC236}">
                <a16:creationId xmlns:a16="http://schemas.microsoft.com/office/drawing/2014/main" id="{F903A4CC-56E8-48AA-9CA4-4F4DA48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根因 / 改进</a:t>
            </a:r>
          </a:p>
        </p:txBody>
      </p:sp>
      <p:sp>
        <p:nvSpPr>
          <p:cNvPr id="32" name="p09-n-7">
            <a:extLst xmlns:a="http://schemas.openxmlformats.org/drawingml/2006/main">
              <a:ext uri="{FF2B5EF4-FFF2-40B4-BE49-F238E27FC236}">
                <a16:creationId xmlns:a16="http://schemas.microsoft.com/office/drawing/2014/main" id="{BFAC206D-4734-4F59-9F21-AB5BF0D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p09-s-7">
            <a:extLst xmlns:a="http://schemas.openxmlformats.org/drawingml/2006/main">
              <a:ext uri="{FF2B5EF4-FFF2-40B4-BE49-F238E27FC236}">
                <a16:creationId xmlns:a16="http://schemas.microsoft.com/office/drawing/2014/main" id="{7DF0A642-FE1F-473E-940C-A4BD71BE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34" name="p09-bottom">
            <a:extLst xmlns:a="http://schemas.openxmlformats.org/drawingml/2006/main">
              <a:ext uri="{FF2B5EF4-FFF2-40B4-BE49-F238E27FC236}">
                <a16:creationId xmlns:a16="http://schemas.microsoft.com/office/drawing/2014/main" id="{96FFFC96-BD11-4AD7-981B-7BDABAE8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失败实验和冲突证据不得选择性删除；完整记录决定研究可信度。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证据充分性检查把结论连接回实验与研究判断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heck-title">
            <a:extLst xmlns:a="http://schemas.openxmlformats.org/drawingml/2006/main">
              <a:ext uri="{FF2B5EF4-FFF2-40B4-BE49-F238E27FC236}">
                <a16:creationId xmlns:a16="http://schemas.microsoft.com/office/drawing/2014/main" id="{629FAFB0-1C6E-4404-8002-CB3636B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六项核验</a:t>
            </a:r>
          </a:p>
        </p:txBody>
      </p:sp>
      <p:sp>
        <p:nvSpPr>
          <p:cNvPr id="7" name="p10-n-0">
            <a:extLst xmlns:a="http://schemas.openxmlformats.org/drawingml/2006/main">
              <a:ext uri="{FF2B5EF4-FFF2-40B4-BE49-F238E27FC236}">
                <a16:creationId xmlns:a16="http://schemas.microsoft.com/office/drawing/2014/main" id="{CFEEE81F-1DD2-4E61-9BB1-FDD989AF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0-c-0">
            <a:extLst xmlns:a="http://schemas.openxmlformats.org/drawingml/2006/main">
              <a:ext uri="{FF2B5EF4-FFF2-40B4-BE49-F238E27FC236}">
                <a16:creationId xmlns:a16="http://schemas.microsoft.com/office/drawing/2014/main" id="{F5E1C5F7-0B34-4368-ACD8-09D80C1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关键结论绑定直接证据 / 实验 ID</a:t>
            </a:r>
          </a:p>
        </p:txBody>
      </p:sp>
      <p:sp>
        <p:nvSpPr>
          <p:cNvPr id="9" name="p10-n-1">
            <a:extLst xmlns:a="http://schemas.openxmlformats.org/drawingml/2006/main">
              <a:ext uri="{FF2B5EF4-FFF2-40B4-BE49-F238E27FC236}">
                <a16:creationId xmlns:a16="http://schemas.microsoft.com/office/drawing/2014/main" id="{3326119E-76A5-47C2-934F-A5B35FB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0-c-1">
            <a:extLst xmlns:a="http://schemas.openxmlformats.org/drawingml/2006/main">
              <a:ext uri="{FF2B5EF4-FFF2-40B4-BE49-F238E27FC236}">
                <a16:creationId xmlns:a16="http://schemas.microsoft.com/office/drawing/2014/main" id="{D6018B89-67AA-4102-A203-0F4B222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连接上游研究判断与适用边界</a:t>
            </a:r>
          </a:p>
        </p:txBody>
      </p:sp>
      <p:sp>
        <p:nvSpPr>
          <p:cNvPr id="11" name="p10-n-2">
            <a:extLst xmlns:a="http://schemas.openxmlformats.org/drawingml/2006/main">
              <a:ext uri="{FF2B5EF4-FFF2-40B4-BE49-F238E27FC236}">
                <a16:creationId xmlns:a16="http://schemas.microsoft.com/office/drawing/2014/main" id="{8F3304DC-4F93-4E84-9652-E0BFB20C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0-c-2">
            <a:extLst xmlns:a="http://schemas.openxmlformats.org/drawingml/2006/main">
              <a:ext uri="{FF2B5EF4-FFF2-40B4-BE49-F238E27FC236}">
                <a16:creationId xmlns:a16="http://schemas.microsoft.com/office/drawing/2014/main" id="{78C37159-D673-47D4-B603-0FB0052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写明强 / 中 / 弱 / 反证</a:t>
            </a:r>
          </a:p>
        </p:txBody>
      </p:sp>
      <p:sp>
        <p:nvSpPr>
          <p:cNvPr id="13" name="p10-n-3">
            <a:extLst xmlns:a="http://schemas.openxmlformats.org/drawingml/2006/main">
              <a:ext uri="{FF2B5EF4-FFF2-40B4-BE49-F238E27FC236}">
                <a16:creationId xmlns:a16="http://schemas.microsoft.com/office/drawing/2014/main" id="{3C48FF74-7980-4FDA-8F07-E59550A5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0-c-3">
            <a:extLst xmlns:a="http://schemas.openxmlformats.org/drawingml/2006/main">
              <a:ext uri="{FF2B5EF4-FFF2-40B4-BE49-F238E27FC236}">
                <a16:creationId xmlns:a16="http://schemas.microsoft.com/office/drawing/2014/main" id="{BB66591E-4102-48B0-BE44-60B8BFE8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呈现冲突与反例，不只留支持项</a:t>
            </a:r>
          </a:p>
        </p:txBody>
      </p:sp>
      <p:sp>
        <p:nvSpPr>
          <p:cNvPr id="15" name="p10-n-4">
            <a:extLst xmlns:a="http://schemas.openxmlformats.org/drawingml/2006/main">
              <a:ext uri="{FF2B5EF4-FFF2-40B4-BE49-F238E27FC236}">
                <a16:creationId xmlns:a16="http://schemas.microsoft.com/office/drawing/2014/main" id="{2C5C1B2E-78E1-4D45-AB7A-BC9CA83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0-c-4">
            <a:extLst xmlns:a="http://schemas.openxmlformats.org/drawingml/2006/main">
              <a:ext uri="{FF2B5EF4-FFF2-40B4-BE49-F238E27FC236}">
                <a16:creationId xmlns:a16="http://schemas.microsoft.com/office/drawing/2014/main" id="{1740BCC9-B2E4-4CFE-934C-C18BED9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写缺失证据和待验证风险</a:t>
            </a:r>
          </a:p>
        </p:txBody>
      </p:sp>
      <p:sp>
        <p:nvSpPr>
          <p:cNvPr id="17" name="p10-n-5">
            <a:extLst xmlns:a="http://schemas.openxmlformats.org/drawingml/2006/main">
              <a:ext uri="{FF2B5EF4-FFF2-40B4-BE49-F238E27FC236}">
                <a16:creationId xmlns:a16="http://schemas.microsoft.com/office/drawing/2014/main" id="{C7AC25DB-AA0A-4FD7-B847-47C60E2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p10-c-5">
            <a:extLst xmlns:a="http://schemas.openxmlformats.org/drawingml/2006/main">
              <a:ext uri="{FF2B5EF4-FFF2-40B4-BE49-F238E27FC236}">
                <a16:creationId xmlns:a16="http://schemas.microsoft.com/office/drawing/2014/main" id="{AF83F3EE-F8AE-4D34-A3CD-B70ACD7B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stable 原则上需两项独立证据</a:t>
            </a:r>
          </a:p>
        </p:txBody>
      </p:sp>
      <p:sp>
        <p:nvSpPr>
          <p:cNvPr id="19" name="p10-flow-1">
            <a:extLst xmlns:a="http://schemas.openxmlformats.org/drawingml/2006/main">
              <a:ext uri="{FF2B5EF4-FFF2-40B4-BE49-F238E27FC236}">
                <a16:creationId xmlns:a16="http://schemas.microsoft.com/office/drawing/2014/main" id="{08C1B718-309E-4887-B6B5-BE55C16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309813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0-flow-2">
            <a:extLst xmlns:a="http://schemas.openxmlformats.org/drawingml/2006/main">
              <a:ext uri="{FF2B5EF4-FFF2-40B4-BE49-F238E27FC236}">
                <a16:creationId xmlns:a16="http://schemas.microsoft.com/office/drawing/2014/main" id="{2A003779-9709-4A0F-820B-A8DD7C2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53450" y="19288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0-flow-3">
            <a:extLst xmlns:a="http://schemas.openxmlformats.org/drawingml/2006/main">
              <a:ext uri="{FF2B5EF4-FFF2-40B4-BE49-F238E27FC236}">
                <a16:creationId xmlns:a16="http://schemas.microsoft.com/office/drawing/2014/main" id="{EE52993F-DD94-4917-9AD4-2368FFF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86775" y="2757488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0-ai">
            <a:extLst xmlns:a="http://schemas.openxmlformats.org/drawingml/2006/main">
              <a:ext uri="{FF2B5EF4-FFF2-40B4-BE49-F238E27FC236}">
                <a16:creationId xmlns:a16="http://schemas.microsoft.com/office/drawing/2014/main" id="{2594A26D-3C8D-4EEB-BF33-13CE344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23" name="p10-audit">
            <a:extLst xmlns:a="http://schemas.openxmlformats.org/drawingml/2006/main">
              <a:ext uri="{FF2B5EF4-FFF2-40B4-BE49-F238E27FC236}">
                <a16:creationId xmlns:a16="http://schemas.microsoft.com/office/drawing/2014/main" id="{A0DD66B2-DE87-475D-A4F8-A5F3687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790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充分性检查</a:t>
            </a:r>
          </a:p>
        </p:txBody>
      </p:sp>
      <p:sp>
        <p:nvSpPr>
          <p:cNvPr id="24" name="p10-main">
            <a:extLst xmlns:a="http://schemas.openxmlformats.org/drawingml/2006/main">
              <a:ext uri="{FF2B5EF4-FFF2-40B4-BE49-F238E27FC236}">
                <a16:creationId xmlns:a16="http://schemas.microsoft.com/office/drawing/2014/main" id="{2CC9F631-2D05-449F-946D-704C328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0668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H1｜中等支持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exp-001..010 + 图表反例</a:t>
            </a:r>
          </a:p>
        </p:txBody>
      </p:sp>
      <p:sp>
        <p:nvSpPr>
          <p:cNvPr id="25" name="p10-clue">
            <a:extLst xmlns:a="http://schemas.openxmlformats.org/drawingml/2006/main">
              <a:ext uri="{FF2B5EF4-FFF2-40B4-BE49-F238E27FC236}">
                <a16:creationId xmlns:a16="http://schemas.microsoft.com/office/drawing/2014/main" id="{DA6ABD10-1CA7-4F52-93C2-016BFA8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885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A2｜仍不能判断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时间控制未跑</a:t>
            </a:r>
          </a:p>
        </p:txBody>
      </p:sp>
      <p:sp>
        <p:nvSpPr>
          <p:cNvPr id="26" name="p10-record">
            <a:extLst xmlns:a="http://schemas.openxmlformats.org/drawingml/2006/main">
              <a:ext uri="{FF2B5EF4-FFF2-40B4-BE49-F238E27FC236}">
                <a16:creationId xmlns:a16="http://schemas.microsoft.com/office/drawing/2014/main" id="{38BBB49D-6534-42E5-84AD-44447026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记录：证据来源｜支持强度｜冲突｜缺失｜边界｜下一步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有效性威胁说明结果为什么可能不等于方法效应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watermark">
            <a:extLst xmlns:a="http://schemas.openxmlformats.org/drawingml/2006/main">
              <a:ext uri="{FF2B5EF4-FFF2-40B4-BE49-F238E27FC236}">
                <a16:creationId xmlns:a16="http://schemas.microsoft.com/office/drawing/2014/main" id="{F8D46C40-EC53-4198-8AF5-825A9E4C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76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贯穿案例｜虚构教学示例，不构成实证结论</a:t>
            </a:r>
          </a:p>
        </p:txBody>
      </p:sp>
      <p:sp>
        <p:nvSpPr>
          <p:cNvPr id="7" name="p11-line-0">
            <a:extLst xmlns:a="http://schemas.openxmlformats.org/drawingml/2006/main">
              <a:ext uri="{FF2B5EF4-FFF2-40B4-BE49-F238E27FC236}">
                <a16:creationId xmlns:a16="http://schemas.microsoft.com/office/drawing/2014/main" id="{887A0D37-03FF-41D3-B768-4025210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1-line-1">
            <a:extLst xmlns:a="http://schemas.openxmlformats.org/drawingml/2006/main">
              <a:ext uri="{FF2B5EF4-FFF2-40B4-BE49-F238E27FC236}">
                <a16:creationId xmlns:a16="http://schemas.microsoft.com/office/drawing/2014/main" id="{D044FA46-381F-4743-939E-33686F8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1-line-2">
            <a:extLst xmlns:a="http://schemas.openxmlformats.org/drawingml/2006/main">
              <a:ext uri="{FF2B5EF4-FFF2-40B4-BE49-F238E27FC236}">
                <a16:creationId xmlns:a16="http://schemas.microsoft.com/office/drawing/2014/main" id="{E55D8E3E-17E2-4041-AFDF-5EE3F44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number-0">
            <a:extLst xmlns:a="http://schemas.openxmlformats.org/drawingml/2006/main">
              <a:ext uri="{FF2B5EF4-FFF2-40B4-BE49-F238E27FC236}">
                <a16:creationId xmlns:a16="http://schemas.microsoft.com/office/drawing/2014/main" id="{98B46FD8-CC01-4CA0-AC26-9CC1D96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11-step-0">
            <a:extLst xmlns:a="http://schemas.openxmlformats.org/drawingml/2006/main">
              <a:ext uri="{FF2B5EF4-FFF2-40B4-BE49-F238E27FC236}">
                <a16:creationId xmlns:a16="http://schemas.microsoft.com/office/drawing/2014/main" id="{319E71F9-2032-44A0-B2B0-761EFDF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内部有效性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 是否公平？盲评是否彻底？</a:t>
            </a:r>
          </a:p>
        </p:txBody>
      </p:sp>
      <p:sp>
        <p:nvSpPr>
          <p:cNvPr id="12" name="p11-number-1">
            <a:extLst xmlns:a="http://schemas.openxmlformats.org/drawingml/2006/main">
              <a:ext uri="{FF2B5EF4-FFF2-40B4-BE49-F238E27FC236}">
                <a16:creationId xmlns:a16="http://schemas.microsoft.com/office/drawing/2014/main" id="{9586C302-2AF0-4B6A-AB93-55506DE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p11-step-1">
            <a:extLst xmlns:a="http://schemas.openxmlformats.org/drawingml/2006/main">
              <a:ext uri="{FF2B5EF4-FFF2-40B4-BE49-F238E27FC236}">
                <a16:creationId xmlns:a16="http://schemas.microsoft.com/office/drawing/2014/main" id="{2247FC0D-C9FA-4765-82B8-9565F6C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外部有效性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n=20、CS 单一、模型版本单一</a:t>
            </a:r>
          </a:p>
        </p:txBody>
      </p:sp>
      <p:sp>
        <p:nvSpPr>
          <p:cNvPr id="14" name="p11-number-2">
            <a:extLst xmlns:a="http://schemas.openxmlformats.org/drawingml/2006/main">
              <a:ext uri="{FF2B5EF4-FFF2-40B4-BE49-F238E27FC236}">
                <a16:creationId xmlns:a16="http://schemas.microsoft.com/office/drawing/2014/main" id="{9D37D208-27CE-45A1-91B8-ACC0CB8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11-step-2">
            <a:extLst xmlns:a="http://schemas.openxmlformats.org/drawingml/2006/main">
              <a:ext uri="{FF2B5EF4-FFF2-40B4-BE49-F238E27FC236}">
                <a16:creationId xmlns:a16="http://schemas.microsoft.com/office/drawing/2014/main" id="{3405DBE5-16A4-4609-A1F3-6AF6BCCB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构念有效性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遗漏率是否真的测量科研动作改善？</a:t>
            </a:r>
          </a:p>
        </p:txBody>
      </p:sp>
      <p:sp>
        <p:nvSpPr>
          <p:cNvPr id="16" name="p11-number-3">
            <a:extLst xmlns:a="http://schemas.openxmlformats.org/drawingml/2006/main">
              <a:ext uri="{FF2B5EF4-FFF2-40B4-BE49-F238E27FC236}">
                <a16:creationId xmlns:a16="http://schemas.microsoft.com/office/drawing/2014/main" id="{77DC03C2-C407-4CA0-BA64-209EDED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11-step-3">
            <a:extLst xmlns:a="http://schemas.openxmlformats.org/drawingml/2006/main">
              <a:ext uri="{FF2B5EF4-FFF2-40B4-BE49-F238E27FC236}">
                <a16:creationId xmlns:a16="http://schemas.microsoft.com/office/drawing/2014/main" id="{92B3EA96-9CE0-4E1F-BDCA-F9978F1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结论有效性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A2 未排除，不能把相关写成因果</a:t>
            </a:r>
          </a:p>
        </p:txBody>
      </p:sp>
      <p:sp>
        <p:nvSpPr>
          <p:cNvPr id="18" name="p11-predictions-title">
            <a:extLst xmlns:a="http://schemas.openxmlformats.org/drawingml/2006/main">
              <a:ext uri="{FF2B5EF4-FFF2-40B4-BE49-F238E27FC236}">
                <a16:creationId xmlns:a16="http://schemas.microsoft.com/office/drawing/2014/main" id="{2990AA63-9679-4E91-ACC3-0F04018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至少写适合项目的两类具体威胁</a:t>
            </a:r>
          </a:p>
        </p:txBody>
      </p:sp>
      <p:sp>
        <p:nvSpPr>
          <p:cNvPr id="19" name="p11-pred-0">
            <a:extLst xmlns:a="http://schemas.openxmlformats.org/drawingml/2006/main">
              <a:ext uri="{FF2B5EF4-FFF2-40B4-BE49-F238E27FC236}">
                <a16:creationId xmlns:a16="http://schemas.microsoft.com/office/drawing/2014/main" id="{9FDC0C13-7BD6-4966-A2B8-C0ACA298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内部｜评价协议漂移</a:t>
            </a:r>
          </a:p>
        </p:txBody>
      </p:sp>
      <p:sp>
        <p:nvSpPr>
          <p:cNvPr id="20" name="p11-pred-1">
            <a:extLst xmlns:a="http://schemas.openxmlformats.org/drawingml/2006/main">
              <a:ext uri="{FF2B5EF4-FFF2-40B4-BE49-F238E27FC236}">
                <a16:creationId xmlns:a16="http://schemas.microsoft.com/office/drawing/2014/main" id="{4243CEC4-107B-4222-86E6-C209ED3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外部｜样本与领域边界</a:t>
            </a:r>
          </a:p>
        </p:txBody>
      </p:sp>
      <p:sp>
        <p:nvSpPr>
          <p:cNvPr id="21" name="p11-pred-2">
            <a:extLst xmlns:a="http://schemas.openxmlformats.org/drawingml/2006/main">
              <a:ext uri="{FF2B5EF4-FFF2-40B4-BE49-F238E27FC236}">
                <a16:creationId xmlns:a16="http://schemas.microsoft.com/office/drawing/2014/main" id="{9DA8377B-3566-4DCA-ABFE-FE8AE15F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构念/结论｜指标与因果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失败审计要求保留失败，而不是重跑到只剩成功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watermark">
            <a:extLst xmlns:a="http://schemas.openxmlformats.org/drawingml/2006/main">
              <a:ext uri="{FF2B5EF4-FFF2-40B4-BE49-F238E27FC236}">
                <a16:creationId xmlns:a16="http://schemas.microsoft.com/office/drawing/2014/main" id="{ED3A3EFF-84D4-4DC0-8D55-BAD0B0A3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学术规范红线｜失败和冲突证据不得选择性删除</a:t>
            </a:r>
          </a:p>
        </p:txBody>
      </p:sp>
      <p:sp>
        <p:nvSpPr>
          <p:cNvPr id="7" name="p12-line-0">
            <a:extLst xmlns:a="http://schemas.openxmlformats.org/drawingml/2006/main">
              <a:ext uri="{FF2B5EF4-FFF2-40B4-BE49-F238E27FC236}">
                <a16:creationId xmlns:a16="http://schemas.microsoft.com/office/drawing/2014/main" id="{C57BA47A-ACFA-4184-AED4-34147F4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line-1">
            <a:extLst xmlns:a="http://schemas.openxmlformats.org/drawingml/2006/main">
              <a:ext uri="{FF2B5EF4-FFF2-40B4-BE49-F238E27FC236}">
                <a16:creationId xmlns:a16="http://schemas.microsoft.com/office/drawing/2014/main" id="{151A909A-69BB-4AA1-8794-9830883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line-2">
            <a:extLst xmlns:a="http://schemas.openxmlformats.org/drawingml/2006/main">
              <a:ext uri="{FF2B5EF4-FFF2-40B4-BE49-F238E27FC236}">
                <a16:creationId xmlns:a16="http://schemas.microsoft.com/office/drawing/2014/main" id="{7319D98F-588D-4A18-A5A8-BA2C10C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line-3">
            <a:extLst xmlns:a="http://schemas.openxmlformats.org/drawingml/2006/main">
              <a:ext uri="{FF2B5EF4-FFF2-40B4-BE49-F238E27FC236}">
                <a16:creationId xmlns:a16="http://schemas.microsoft.com/office/drawing/2014/main" id="{C8734721-3DFE-4F4B-A56B-AFEE4F9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number-0">
            <a:extLst xmlns:a="http://schemas.openxmlformats.org/drawingml/2006/main">
              <a:ext uri="{FF2B5EF4-FFF2-40B4-BE49-F238E27FC236}">
                <a16:creationId xmlns:a16="http://schemas.microsoft.com/office/drawing/2014/main" id="{F93F61E0-12C9-44EA-BE34-13A50C2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12-step-0">
            <a:extLst xmlns:a="http://schemas.openxmlformats.org/drawingml/2006/main">
              <a:ext uri="{FF2B5EF4-FFF2-40B4-BE49-F238E27FC236}">
                <a16:creationId xmlns:a16="http://schemas.microsoft.com/office/drawing/2014/main" id="{1C0ED6A2-14A0-4CB9-8E0A-E0D576E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失败发生</a:t>
            </a:r>
          </a:p>
        </p:txBody>
      </p:sp>
      <p:sp>
        <p:nvSpPr>
          <p:cNvPr id="13" name="p12-number-1">
            <a:extLst xmlns:a="http://schemas.openxmlformats.org/drawingml/2006/main">
              <a:ext uri="{FF2B5EF4-FFF2-40B4-BE49-F238E27FC236}">
                <a16:creationId xmlns:a16="http://schemas.microsoft.com/office/drawing/2014/main" id="{A9C28DA4-5D2C-4D30-8D17-5E5067BF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p12-step-1">
            <a:extLst xmlns:a="http://schemas.openxmlformats.org/drawingml/2006/main">
              <a:ext uri="{FF2B5EF4-FFF2-40B4-BE49-F238E27FC236}">
                <a16:creationId xmlns:a16="http://schemas.microsoft.com/office/drawing/2014/main" id="{43524D41-A529-40EC-AE65-C746706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保留日志</a:t>
            </a:r>
          </a:p>
        </p:txBody>
      </p:sp>
      <p:sp>
        <p:nvSpPr>
          <p:cNvPr id="15" name="p12-number-2">
            <a:extLst xmlns:a="http://schemas.openxmlformats.org/drawingml/2006/main">
              <a:ext uri="{FF2B5EF4-FFF2-40B4-BE49-F238E27FC236}">
                <a16:creationId xmlns:a16="http://schemas.microsoft.com/office/drawing/2014/main" id="{10CF8982-FC53-48CE-B187-6C803B2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12-step-2">
            <a:extLst xmlns:a="http://schemas.openxmlformats.org/drawingml/2006/main">
              <a:ext uri="{FF2B5EF4-FFF2-40B4-BE49-F238E27FC236}">
                <a16:creationId xmlns:a16="http://schemas.microsoft.com/office/drawing/2014/main" id="{FA9D1B24-A61A-4153-86A4-30EA86E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分类根因</a:t>
            </a:r>
          </a:p>
        </p:txBody>
      </p:sp>
      <p:sp>
        <p:nvSpPr>
          <p:cNvPr id="17" name="p12-number-3">
            <a:extLst xmlns:a="http://schemas.openxmlformats.org/drawingml/2006/main">
              <a:ext uri="{FF2B5EF4-FFF2-40B4-BE49-F238E27FC236}">
                <a16:creationId xmlns:a16="http://schemas.microsoft.com/office/drawing/2014/main" id="{D26289AF-1D34-4983-B5C5-F6C05E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12-step-3">
            <a:extLst xmlns:a="http://schemas.openxmlformats.org/drawingml/2006/main">
              <a:ext uri="{FF2B5EF4-FFF2-40B4-BE49-F238E27FC236}">
                <a16:creationId xmlns:a16="http://schemas.microsoft.com/office/drawing/2014/main" id="{B823A243-966B-465C-9983-FBFB733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修改边界</a:t>
            </a:r>
          </a:p>
        </p:txBody>
      </p:sp>
      <p:sp>
        <p:nvSpPr>
          <p:cNvPr id="19" name="p12-number-4">
            <a:extLst xmlns:a="http://schemas.openxmlformats.org/drawingml/2006/main">
              <a:ext uri="{FF2B5EF4-FFF2-40B4-BE49-F238E27FC236}">
                <a16:creationId xmlns:a16="http://schemas.microsoft.com/office/drawing/2014/main" id="{C3BC4CB5-FA53-424B-968B-CA4D4B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12-step-4">
            <a:extLst xmlns:a="http://schemas.openxmlformats.org/drawingml/2006/main">
              <a:ext uri="{FF2B5EF4-FFF2-40B4-BE49-F238E27FC236}">
                <a16:creationId xmlns:a16="http://schemas.microsoft.com/office/drawing/2014/main" id="{C480F172-758F-4C09-80A6-F332392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复现修复</a:t>
            </a:r>
          </a:p>
        </p:txBody>
      </p:sp>
      <p:sp>
        <p:nvSpPr>
          <p:cNvPr id="21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EE1AE540-4B82-4C41-9B50-16CC010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22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BA5EFC10-46B3-4673-81C9-B0140ED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研究后果</a:t>
            </a:r>
          </a:p>
        </p:txBody>
      </p:sp>
      <p:sp>
        <p:nvSpPr>
          <p:cNvPr id="23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8C3FF18D-32FF-41C4-BA3D-DD4CD55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D6325DF4-21F5-4750-9E6F-B9FE182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保留失败 + 根因</a:t>
            </a:r>
          </a:p>
        </p:txBody>
      </p:sp>
      <p:sp>
        <p:nvSpPr>
          <p:cNvPr id="25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CFA15B04-6109-467D-A318-DD83AD3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形成边界与下一轮证据</a:t>
            </a:r>
          </a:p>
        </p:txBody>
      </p:sp>
      <p:sp>
        <p:nvSpPr>
          <p:cNvPr id="26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8A2F4CF6-0757-4AF3-945D-834CBD0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合规</a:t>
            </a:r>
          </a:p>
        </p:txBody>
      </p:sp>
      <p:sp>
        <p:nvSpPr>
          <p:cNvPr id="2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B08CF45E-DBD9-45BD-8326-9CB4508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删除失败后重跑</a:t>
            </a:r>
          </a:p>
        </p:txBody>
      </p:sp>
      <p:sp>
        <p:nvSpPr>
          <p:cNvPr id="2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DD49AE2F-DAE8-4995-B170-06D3725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无法复盘，选择性报告</a:t>
            </a:r>
          </a:p>
        </p:txBody>
      </p:sp>
      <p:sp>
        <p:nvSpPr>
          <p:cNvPr id="2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DB1CFBFD-4244-467B-A9B7-2EBB306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红线</a:t>
            </a:r>
          </a:p>
        </p:txBody>
      </p:sp>
      <p:sp>
        <p:nvSpPr>
          <p:cNvPr id="30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D8761422-4244-4129-A00F-03E385B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运行中改 rubric</a:t>
            </a:r>
          </a:p>
        </p:txBody>
      </p:sp>
      <p:sp>
        <p:nvSpPr>
          <p:cNvPr id="31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0D8EA989-E4E7-4733-88FC-143C47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评价协议漂移，结果不可比</a:t>
            </a:r>
          </a:p>
        </p:txBody>
      </p:sp>
      <p:sp>
        <p:nvSpPr>
          <p:cNvPr id="32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123E9A35-D698-4B14-B0ED-B888E61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红线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37C45680-A848-4FFD-AB8A-86EBBB8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Checkpoint 3 条件 6：至少保留一次失败、无效建议或局限分析。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六类失败骨架把“模型不行”改写成可修复根因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EE4C7D34-B53E-44E5-9C18-87AFFF4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六类失败 + 四项追问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815022BE-CD77-49F0-8F8A-9A71984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E68E2E25-B499-4768-AAC2-AE89226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任务契约失败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36CF7543-81E6-4594-95E5-42781D4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00E01453-4F0A-4CA8-A0A8-E3BBC3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越权或边界失败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129B5344-CC12-4945-A5AF-D842833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E98E59BD-4560-4AFF-AF3E-3CAFC87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评价协议漂移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B0A3997F-84CB-40B8-A2EC-F631A62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1F6A043D-A8AE-4752-86B3-BAC7BD4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数据依赖失败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9E5DBEA8-798C-4526-94F9-9A4F070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151BA0B4-FEE8-44EE-9F74-7156E54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配置债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C61256D1-2788-4035-B1FE-2F2969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255FAFB0-BB24-41C3-BF55-3A6930F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无效建议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AD019980-8AFC-46EC-9354-D56606D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9E22E102-87E5-478A-B39B-35D3C0E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输入/输出写清了吗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E5FBB88C-F771-4FA9-97EF-DC51A99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A4E4223C-924D-49A9-A993-6E7D3C1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权限确认点缺失吗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575E9852-B4C2-4309-8394-D02D943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1208096-F7E3-47B1-8146-77992AC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数据版本固化了吗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AEF743C4-2D61-4E8B-B551-4B55F43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08508FCF-FFCD-4A35-88B6-5E044F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人工审核到位吗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FC411C60-7AA1-4222-AC96-6C471DC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07F68B3E-4D24-4B98-8AC7-98E59B3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根因五问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521BF812-6EBE-4AF2-B74E-A3DB303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060EB3D3-F55B-4087-89C8-2F919B4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失败表现和预期分别是什么？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4A176C52-EAAD-4BCC-B864-30F05BE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FC67B32A-CE35-4B19-8B2E-8A8D39C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是否涉及越权或协议篡改？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1386AD79-9776-4CFE-AABB-8D8BB12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ACE417E-7F8D-4FFA-9B73-2768D50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根因落在哪一类？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4DC6410A-C799-4406-852C-E3EC1B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3E1A1370-B524-4B75-9998-8B60C65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任务契约或工作流改哪里？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7B24AA40-CC08-481E-BD00-B2ACC1C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A4336E8C-2997-4CD8-BC44-14FB61B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修改后是否复现同类失败？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449E0D47-6D62-43FB-B9E8-38061C1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贯穿案例：图表论文遗漏率反高 → 任务契约未覆盖图表为主论文。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失败日志与人工审核必须通过运行 ID 形成 trace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time">
            <a:extLst xmlns:a="http://schemas.openxmlformats.org/drawingml/2006/main">
              <a:ext uri="{FF2B5EF4-FFF2-40B4-BE49-F238E27FC236}">
                <a16:creationId xmlns:a16="http://schemas.microsoft.com/office/drawing/2014/main" id="{527D6F77-DD53-4250-9A20-D47FD44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76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32:00–35:00｜写一条真实记录</a:t>
            </a:r>
          </a:p>
        </p:txBody>
      </p:sp>
      <p:sp>
        <p:nvSpPr>
          <p:cNvPr id="7" name="p14-line-0">
            <a:extLst xmlns:a="http://schemas.openxmlformats.org/drawingml/2006/main">
              <a:ext uri="{FF2B5EF4-FFF2-40B4-BE49-F238E27FC236}">
                <a16:creationId xmlns:a16="http://schemas.microsoft.com/office/drawing/2014/main" id="{60C1985F-AD02-4B81-96B5-403BC2E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19002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4-line-1">
            <a:extLst xmlns:a="http://schemas.openxmlformats.org/drawingml/2006/main">
              <a:ext uri="{FF2B5EF4-FFF2-40B4-BE49-F238E27FC236}">
                <a16:creationId xmlns:a16="http://schemas.microsoft.com/office/drawing/2014/main" id="{073C8F07-5D6C-428A-B63C-220851B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25384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4-line-2">
            <a:extLst xmlns:a="http://schemas.openxmlformats.org/drawingml/2006/main">
              <a:ext uri="{FF2B5EF4-FFF2-40B4-BE49-F238E27FC236}">
                <a16:creationId xmlns:a16="http://schemas.microsoft.com/office/drawing/2014/main" id="{6C0D6C51-A836-487B-9C04-1F5E64A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1765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line-3">
            <a:extLst xmlns:a="http://schemas.openxmlformats.org/drawingml/2006/main">
              <a:ext uri="{FF2B5EF4-FFF2-40B4-BE49-F238E27FC236}">
                <a16:creationId xmlns:a16="http://schemas.microsoft.com/office/drawing/2014/main" id="{0450A5EB-907A-40A1-967B-FEA9C92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8147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4-line-4">
            <a:extLst xmlns:a="http://schemas.openxmlformats.org/drawingml/2006/main">
              <a:ext uri="{FF2B5EF4-FFF2-40B4-BE49-F238E27FC236}">
                <a16:creationId xmlns:a16="http://schemas.microsoft.com/office/drawing/2014/main" id="{28A509D0-BAB8-4685-9B72-27509EA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44529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4-n-0">
            <a:extLst xmlns:a="http://schemas.openxmlformats.org/drawingml/2006/main">
              <a:ext uri="{FF2B5EF4-FFF2-40B4-BE49-F238E27FC236}">
                <a16:creationId xmlns:a16="http://schemas.microsoft.com/office/drawing/2014/main" id="{F64FFAEB-F06E-413E-A107-F31224C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14-task-0">
            <a:extLst xmlns:a="http://schemas.openxmlformats.org/drawingml/2006/main">
              <a:ext uri="{FF2B5EF4-FFF2-40B4-BE49-F238E27FC236}">
                <a16:creationId xmlns:a16="http://schemas.microsoft.com/office/drawing/2014/main" id="{0E678AC3-8198-4E9D-9A4E-29274D4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 ID / 时间：何时发生</a:t>
            </a:r>
          </a:p>
        </p:txBody>
      </p:sp>
      <p:sp>
        <p:nvSpPr>
          <p:cNvPr id="14" name="p14-n-1">
            <a:extLst xmlns:a="http://schemas.openxmlformats.org/drawingml/2006/main">
              <a:ext uri="{FF2B5EF4-FFF2-40B4-BE49-F238E27FC236}">
                <a16:creationId xmlns:a16="http://schemas.microsoft.com/office/drawing/2014/main" id="{29F7F8AD-C6BC-4756-B83D-3A3F35A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14-task-1">
            <a:extLst xmlns:a="http://schemas.openxmlformats.org/drawingml/2006/main">
              <a:ext uri="{FF2B5EF4-FFF2-40B4-BE49-F238E27FC236}">
                <a16:creationId xmlns:a16="http://schemas.microsoft.com/office/drawing/2014/main" id="{90C77512-D4D5-4813-8A7C-B8F4D4D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失败表现：输出 vs 预期</a:t>
            </a:r>
          </a:p>
        </p:txBody>
      </p:sp>
      <p:sp>
        <p:nvSpPr>
          <p:cNvPr id="16" name="p14-n-2">
            <a:extLst xmlns:a="http://schemas.openxmlformats.org/drawingml/2006/main">
              <a:ext uri="{FF2B5EF4-FFF2-40B4-BE49-F238E27FC236}">
                <a16:creationId xmlns:a16="http://schemas.microsoft.com/office/drawing/2014/main" id="{38C772B7-1744-428E-9A12-3BBC123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p14-task-2">
            <a:extLst xmlns:a="http://schemas.openxmlformats.org/drawingml/2006/main">
              <a:ext uri="{FF2B5EF4-FFF2-40B4-BE49-F238E27FC236}">
                <a16:creationId xmlns:a16="http://schemas.microsoft.com/office/drawing/2014/main" id="{790AF569-E73D-4703-8341-F66FD67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根因分类：六类骨架</a:t>
            </a:r>
          </a:p>
        </p:txBody>
      </p:sp>
      <p:sp>
        <p:nvSpPr>
          <p:cNvPr id="18" name="p14-n-3">
            <a:extLst xmlns:a="http://schemas.openxmlformats.org/drawingml/2006/main">
              <a:ext uri="{FF2B5EF4-FFF2-40B4-BE49-F238E27FC236}">
                <a16:creationId xmlns:a16="http://schemas.microsoft.com/office/drawing/2014/main" id="{E4ADEA21-CAD3-4C70-8017-1879A1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14-task-3">
            <a:extLst xmlns:a="http://schemas.openxmlformats.org/drawingml/2006/main">
              <a:ext uri="{FF2B5EF4-FFF2-40B4-BE49-F238E27FC236}">
                <a16:creationId xmlns:a16="http://schemas.microsoft.com/office/drawing/2014/main" id="{0603EB65-21BE-4FC2-A070-D3483AE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红线检查：越权 / 协议篡改</a:t>
            </a:r>
          </a:p>
        </p:txBody>
      </p:sp>
      <p:sp>
        <p:nvSpPr>
          <p:cNvPr id="20" name="p14-n-4">
            <a:extLst xmlns:a="http://schemas.openxmlformats.org/drawingml/2006/main">
              <a:ext uri="{FF2B5EF4-FFF2-40B4-BE49-F238E27FC236}">
                <a16:creationId xmlns:a16="http://schemas.microsoft.com/office/drawing/2014/main" id="{477599E5-CCD3-4BF1-A6C7-1F17D99B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p14-task-4">
            <a:extLst xmlns:a="http://schemas.openxmlformats.org/drawingml/2006/main">
              <a:ext uri="{FF2B5EF4-FFF2-40B4-BE49-F238E27FC236}">
                <a16:creationId xmlns:a16="http://schemas.microsoft.com/office/drawing/2014/main" id="{CB9EFE96-9EF0-4ABF-9894-8B12E8B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可改进点：下一轮改哪里</a:t>
            </a:r>
          </a:p>
        </p:txBody>
      </p:sp>
      <p:sp>
        <p:nvSpPr>
          <p:cNvPr id="22" name="p14-n-5">
            <a:extLst xmlns:a="http://schemas.openxmlformats.org/drawingml/2006/main">
              <a:ext uri="{FF2B5EF4-FFF2-40B4-BE49-F238E27FC236}">
                <a16:creationId xmlns:a16="http://schemas.microsoft.com/office/drawing/2014/main" id="{222FD65F-CE9E-4D66-BEA1-5345D20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14-task-5">
            <a:extLst xmlns:a="http://schemas.openxmlformats.org/drawingml/2006/main">
              <a:ext uri="{FF2B5EF4-FFF2-40B4-BE49-F238E27FC236}">
                <a16:creationId xmlns:a16="http://schemas.microsoft.com/office/drawing/2014/main" id="{6550F1B2-B815-4226-9FEE-13D0560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修改后：是否复现同类失败</a:t>
            </a:r>
          </a:p>
        </p:txBody>
      </p:sp>
      <p:sp>
        <p:nvSpPr>
          <p:cNvPr id="24" name="p14-min-title">
            <a:extLst xmlns:a="http://schemas.openxmlformats.org/drawingml/2006/main">
              <a:ext uri="{FF2B5EF4-FFF2-40B4-BE49-F238E27FC236}">
                <a16:creationId xmlns:a16="http://schemas.microsoft.com/office/drawing/2014/main" id="{F348741C-2DA1-492C-9214-0D85B7D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人工审核五字段</a:t>
            </a:r>
          </a:p>
        </p:txBody>
      </p:sp>
      <p:sp>
        <p:nvSpPr>
          <p:cNvPr id="25" name="p14-min">
            <a:extLst xmlns:a="http://schemas.openxmlformats.org/drawingml/2006/main">
              <a:ext uri="{FF2B5EF4-FFF2-40B4-BE49-F238E27FC236}">
                <a16:creationId xmlns:a16="http://schemas.microsoft.com/office/drawing/2014/main" id="{05E5BF8C-5F0D-471F-A2BE-6DEB8C6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6766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审核对象｜审核人｜采纳/修改/拒绝｜具体理由｜日期 + 运行 ID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被拒绝的 AI 建议进入失败审计，成为工作流局限证据</a:t>
            </a:r>
          </a:p>
        </p:txBody>
      </p:sp>
      <p:sp>
        <p:nvSpPr>
          <p:cNvPr id="26" name="p14-fallback">
            <a:extLst xmlns:a="http://schemas.openxmlformats.org/drawingml/2006/main">
              <a:ext uri="{FF2B5EF4-FFF2-40B4-BE49-F238E27FC236}">
                <a16:creationId xmlns:a16="http://schemas.microsoft.com/office/drawing/2014/main" id="{FD85DFC3-B277-414E-844F-694D391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398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案例 exp-007：图表论文反高 → 任务契约失败；修改后留作第 14 课前补做。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验证门 10 项条件逐项检查当前项目版本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EE4C7D34-B53E-44E5-9C18-87AFFF4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Checkpoint 3｜10 项条件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815022BE-CD77-49F0-8F8A-9A71984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E68E2E25-B499-4768-AAC2-AE89226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明确动作；输入/输出/成功/不适用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36CF7543-81E6-4594-95E5-42781D4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00E01453-4F0A-4CA8-A0A8-E3BBC3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有可运行或可演示原型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129B5344-CC12-4945-A5AF-D842833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E98E59BD-4560-4AFF-AF3E-3CAFC87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Context/Memory/工件/工具/数据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B0A3997F-84CB-40B8-A2EC-F631A62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1F6A043D-A8AE-4752-86B3-BAC7BD4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权限/禁止/预算/停止/人工确认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9E5DBEA8-798C-4526-94F9-9A4F070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151BA0B4-FEE8-44EE-9F74-7156E54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至少一次可重复评价 + 对照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C61256D1-2788-4035-B1FE-2F2969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255FAFB0-BB24-41C3-BF55-3A6930F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保留失败/无效建议/局限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AD019980-8AFC-46EC-9354-D56606D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9E22E102-87E5-478A-B39B-35D3C0E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代码/建议/结论有人工审核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E5FBB88C-F771-4FA9-97EF-DC51A99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A4E4223C-924D-49A9-A993-6E7D3C1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评价说明实际影响，不列功能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575E9852-B4C2-4309-8394-D02D943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1208096-F7E3-47B1-8146-77992AC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证据/强度/冲突/缺失/风险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AEF743C4-2D61-4E8B-B551-4B55F43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⑩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08508FCF-FFCD-4A35-88B6-5E044F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伦理更新：数据/权限/外部服务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FC411C60-7AA1-4222-AC96-6C471DC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07F68B3E-4D24-4B98-8AC7-98E59B3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本课补全重点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521BF812-6EBE-4AF2-B74E-A3DB303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Ⅰ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060EB3D3-F55B-4087-89C8-2F919B4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12 课任务契约与原型是否齐全？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4A176C52-EAAD-4BCC-B864-30F05BE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Ⅱ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FC67B32A-CE35-4B19-8B2E-8A8D39C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评价能被另一位检查者重复吗？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1386AD79-9776-4CFE-AABB-8D8BB12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Ⅲ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ACE417E-7F8D-4FFA-9B73-2768D50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失败与人工审核是否有 trace？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4DC6410A-C799-4406-852C-E3EC1B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Ⅳ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3E1A1370-B524-4B75-9998-8B60C65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实际影响与证据充分吗？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7B24AA40-CC08-481E-BD00-B2ACC1C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Ⅴ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A4336E8C-2997-4CD8-BC44-14FB61B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伦理三条是否更新到当前工作流？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449E0D47-6D62-43FB-B9E8-38061C1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权威来源：assignments.md Checkpoint 3；本页不新增、不弱化门条件。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贯穿案例把工作流原型收口为验证门材料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2-watermark">
            <a:extLst xmlns:a="http://schemas.openxmlformats.org/drawingml/2006/main">
              <a:ext uri="{FF2B5EF4-FFF2-40B4-BE49-F238E27FC236}">
                <a16:creationId xmlns:a16="http://schemas.microsoft.com/office/drawing/2014/main" id="{ED3A3EFF-84D4-4DC0-8D55-BAD0B0A3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贯穿案例｜0.18±0.03 等数值为虚构教学示例</a:t>
            </a:r>
          </a:p>
        </p:txBody>
      </p:sp>
      <p:sp>
        <p:nvSpPr>
          <p:cNvPr id="7" name="p12-line-0">
            <a:extLst xmlns:a="http://schemas.openxmlformats.org/drawingml/2006/main">
              <a:ext uri="{FF2B5EF4-FFF2-40B4-BE49-F238E27FC236}">
                <a16:creationId xmlns:a16="http://schemas.microsoft.com/office/drawing/2014/main" id="{C57BA47A-ACFA-4184-AED4-34147F4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line-1">
            <a:extLst xmlns:a="http://schemas.openxmlformats.org/drawingml/2006/main">
              <a:ext uri="{FF2B5EF4-FFF2-40B4-BE49-F238E27FC236}">
                <a16:creationId xmlns:a16="http://schemas.microsoft.com/office/drawing/2014/main" id="{151A909A-69BB-4AA1-8794-9830883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line-2">
            <a:extLst xmlns:a="http://schemas.openxmlformats.org/drawingml/2006/main">
              <a:ext uri="{FF2B5EF4-FFF2-40B4-BE49-F238E27FC236}">
                <a16:creationId xmlns:a16="http://schemas.microsoft.com/office/drawing/2014/main" id="{7319D98F-588D-4A18-A5A8-BA2C10C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line-3">
            <a:extLst xmlns:a="http://schemas.openxmlformats.org/drawingml/2006/main">
              <a:ext uri="{FF2B5EF4-FFF2-40B4-BE49-F238E27FC236}">
                <a16:creationId xmlns:a16="http://schemas.microsoft.com/office/drawing/2014/main" id="{C8734721-3DFE-4F4B-A56B-AFEE4F9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number-0">
            <a:extLst xmlns:a="http://schemas.openxmlformats.org/drawingml/2006/main">
              <a:ext uri="{FF2B5EF4-FFF2-40B4-BE49-F238E27FC236}">
                <a16:creationId xmlns:a16="http://schemas.microsoft.com/office/drawing/2014/main" id="{F93F61E0-12C9-44EA-BE34-13A50C2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12-step-0">
            <a:extLst xmlns:a="http://schemas.openxmlformats.org/drawingml/2006/main">
              <a:ext uri="{FF2B5EF4-FFF2-40B4-BE49-F238E27FC236}">
                <a16:creationId xmlns:a16="http://schemas.microsoft.com/office/drawing/2014/main" id="{1C0ED6A2-14A0-4CB9-8E0A-E0D576E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选评价维度</a:t>
            </a:r>
          </a:p>
        </p:txBody>
      </p:sp>
      <p:sp>
        <p:nvSpPr>
          <p:cNvPr id="13" name="p12-number-1">
            <a:extLst xmlns:a="http://schemas.openxmlformats.org/drawingml/2006/main">
              <a:ext uri="{FF2B5EF4-FFF2-40B4-BE49-F238E27FC236}">
                <a16:creationId xmlns:a16="http://schemas.microsoft.com/office/drawing/2014/main" id="{A9C28DA4-5D2C-4D30-8D17-5E5067BF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p12-step-1">
            <a:extLst xmlns:a="http://schemas.openxmlformats.org/drawingml/2006/main">
              <a:ext uri="{FF2B5EF4-FFF2-40B4-BE49-F238E27FC236}">
                <a16:creationId xmlns:a16="http://schemas.microsoft.com/office/drawing/2014/main" id="{43524D41-A529-40EC-AE65-C746706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固定输入/协议</a:t>
            </a:r>
          </a:p>
        </p:txBody>
      </p:sp>
      <p:sp>
        <p:nvSpPr>
          <p:cNvPr id="15" name="p12-number-2">
            <a:extLst xmlns:a="http://schemas.openxmlformats.org/drawingml/2006/main">
              <a:ext uri="{FF2B5EF4-FFF2-40B4-BE49-F238E27FC236}">
                <a16:creationId xmlns:a16="http://schemas.microsoft.com/office/drawing/2014/main" id="{10CF8982-FC53-48CE-B187-6C803B2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12-step-2">
            <a:extLst xmlns:a="http://schemas.openxmlformats.org/drawingml/2006/main">
              <a:ext uri="{FF2B5EF4-FFF2-40B4-BE49-F238E27FC236}">
                <a16:creationId xmlns:a16="http://schemas.microsoft.com/office/drawing/2014/main" id="{FA9D1B24-A61A-4153-86A4-30EA86E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对比 baseline</a:t>
            </a:r>
          </a:p>
        </p:txBody>
      </p:sp>
      <p:sp>
        <p:nvSpPr>
          <p:cNvPr id="17" name="p12-number-3">
            <a:extLst xmlns:a="http://schemas.openxmlformats.org/drawingml/2006/main">
              <a:ext uri="{FF2B5EF4-FFF2-40B4-BE49-F238E27FC236}">
                <a16:creationId xmlns:a16="http://schemas.microsoft.com/office/drawing/2014/main" id="{D26289AF-1D34-4983-B5C5-F6C05E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12-step-3">
            <a:extLst xmlns:a="http://schemas.openxmlformats.org/drawingml/2006/main">
              <a:ext uri="{FF2B5EF4-FFF2-40B4-BE49-F238E27FC236}">
                <a16:creationId xmlns:a16="http://schemas.microsoft.com/office/drawing/2014/main" id="{B823A243-966B-465C-9983-FBFB733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记录负向结果</a:t>
            </a:r>
          </a:p>
        </p:txBody>
      </p:sp>
      <p:sp>
        <p:nvSpPr>
          <p:cNvPr id="19" name="p12-number-4">
            <a:extLst xmlns:a="http://schemas.openxmlformats.org/drawingml/2006/main">
              <a:ext uri="{FF2B5EF4-FFF2-40B4-BE49-F238E27FC236}">
                <a16:creationId xmlns:a16="http://schemas.microsoft.com/office/drawing/2014/main" id="{C3BC4CB5-FA53-424B-968B-CA4D4B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12-step-4">
            <a:extLst xmlns:a="http://schemas.openxmlformats.org/drawingml/2006/main">
              <a:ext uri="{FF2B5EF4-FFF2-40B4-BE49-F238E27FC236}">
                <a16:creationId xmlns:a16="http://schemas.microsoft.com/office/drawing/2014/main" id="{C480F172-758F-4C09-80A6-F332392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分类失败根因</a:t>
            </a:r>
          </a:p>
        </p:txBody>
      </p:sp>
      <p:sp>
        <p:nvSpPr>
          <p:cNvPr id="21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EE1AE540-4B82-4C41-9B50-16CC010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后续动作</a:t>
            </a:r>
          </a:p>
        </p:txBody>
      </p:sp>
      <p:sp>
        <p:nvSpPr>
          <p:cNvPr id="22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BA5EFC10-46B3-4673-81C9-B0140ED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</a:t>
            </a:r>
          </a:p>
        </p:txBody>
      </p:sp>
      <p:sp>
        <p:nvSpPr>
          <p:cNvPr id="23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8C3FF18D-32FF-41C4-BA3D-DD4CD55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工件</a:t>
            </a:r>
          </a:p>
        </p:txBody>
      </p:sp>
      <p:sp>
        <p:nvSpPr>
          <p:cNvPr id="24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D6325DF4-21F5-4750-9E6F-B9FE182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6 人工审核</a:t>
            </a:r>
          </a:p>
        </p:txBody>
      </p:sp>
      <p:sp>
        <p:nvSpPr>
          <p:cNvPr id="25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CFA15B04-6109-467D-A318-DD83AD3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 条错标：2 修改，1 拒绝</a:t>
            </a:r>
          </a:p>
        </p:txBody>
      </p:sp>
      <p:sp>
        <p:nvSpPr>
          <p:cNvPr id="26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8A2F4CF6-0757-4AF3-945D-834CBD0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review trace</a:t>
            </a:r>
          </a:p>
        </p:txBody>
      </p:sp>
      <p:sp>
        <p:nvSpPr>
          <p:cNvPr id="2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B08CF45E-DBD9-45BD-8326-9CB4508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7 证据充分性</a:t>
            </a:r>
          </a:p>
        </p:txBody>
      </p:sp>
      <p:sp>
        <p:nvSpPr>
          <p:cNvPr id="2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DD49AE2F-DAE8-4995-B170-06D3725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H1 中等支持；A2 未判断</a:t>
            </a:r>
          </a:p>
        </p:txBody>
      </p:sp>
      <p:sp>
        <p:nvSpPr>
          <p:cNvPr id="2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DB1CFBFD-4244-467B-A9B7-2EBB306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evidence table</a:t>
            </a:r>
          </a:p>
        </p:txBody>
      </p:sp>
      <p:sp>
        <p:nvSpPr>
          <p:cNvPr id="30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D8761422-4244-4129-A00F-03E385B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8 威胁有效性</a:t>
            </a:r>
          </a:p>
        </p:txBody>
      </p:sp>
      <p:sp>
        <p:nvSpPr>
          <p:cNvPr id="31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0D8EA989-E4E7-4733-88FC-143C47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n=20/CS 单一/时间控制未跑</a:t>
            </a:r>
          </a:p>
        </p:txBody>
      </p:sp>
      <p:sp>
        <p:nvSpPr>
          <p:cNvPr id="32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123E9A35-D698-4B14-B0ED-B888E61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threats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37C45680-A848-4FFD-AB8A-86EBBB8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9 伦理更新：数据访问 / 工具权限 / 外部服务边界 → 验证门自查。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实践停留页：把评价、失败与伦理写回个人项目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4-time">
            <a:extLst xmlns:a="http://schemas.openxmlformats.org/drawingml/2006/main">
              <a:ext uri="{FF2B5EF4-FFF2-40B4-BE49-F238E27FC236}">
                <a16:creationId xmlns:a16="http://schemas.microsoft.com/office/drawing/2014/main" id="{527D6F77-DD53-4250-9A20-D47FD44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76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43:00–60:00｜停留本页</a:t>
            </a:r>
          </a:p>
        </p:txBody>
      </p:sp>
      <p:sp>
        <p:nvSpPr>
          <p:cNvPr id="7" name="p14-line-0">
            <a:extLst xmlns:a="http://schemas.openxmlformats.org/drawingml/2006/main">
              <a:ext uri="{FF2B5EF4-FFF2-40B4-BE49-F238E27FC236}">
                <a16:creationId xmlns:a16="http://schemas.microsoft.com/office/drawing/2014/main" id="{60C1985F-AD02-4B81-96B5-403BC2E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19002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4-line-1">
            <a:extLst xmlns:a="http://schemas.openxmlformats.org/drawingml/2006/main">
              <a:ext uri="{FF2B5EF4-FFF2-40B4-BE49-F238E27FC236}">
                <a16:creationId xmlns:a16="http://schemas.microsoft.com/office/drawing/2014/main" id="{073C8F07-5D6C-428A-B63C-220851B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25384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4-line-2">
            <a:extLst xmlns:a="http://schemas.openxmlformats.org/drawingml/2006/main">
              <a:ext uri="{FF2B5EF4-FFF2-40B4-BE49-F238E27FC236}">
                <a16:creationId xmlns:a16="http://schemas.microsoft.com/office/drawing/2014/main" id="{6C0D6C51-A836-487B-9C04-1F5E64A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1765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line-3">
            <a:extLst xmlns:a="http://schemas.openxmlformats.org/drawingml/2006/main">
              <a:ext uri="{FF2B5EF4-FFF2-40B4-BE49-F238E27FC236}">
                <a16:creationId xmlns:a16="http://schemas.microsoft.com/office/drawing/2014/main" id="{0450A5EB-907A-40A1-967B-FEA9C92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8147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4-line-4">
            <a:extLst xmlns:a="http://schemas.openxmlformats.org/drawingml/2006/main">
              <a:ext uri="{FF2B5EF4-FFF2-40B4-BE49-F238E27FC236}">
                <a16:creationId xmlns:a16="http://schemas.microsoft.com/office/drawing/2014/main" id="{28A509D0-BAB8-4685-9B72-27509EA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44529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4-n-0">
            <a:extLst xmlns:a="http://schemas.openxmlformats.org/drawingml/2006/main">
              <a:ext uri="{FF2B5EF4-FFF2-40B4-BE49-F238E27FC236}">
                <a16:creationId xmlns:a16="http://schemas.microsoft.com/office/drawing/2014/main" id="{F64FFAEB-F06E-413E-A107-F31224C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14-task-0">
            <a:extLst xmlns:a="http://schemas.openxmlformats.org/drawingml/2006/main">
              <a:ext uri="{FF2B5EF4-FFF2-40B4-BE49-F238E27FC236}">
                <a16:creationId xmlns:a16="http://schemas.microsoft.com/office/drawing/2014/main" id="{0E678AC3-8198-4E9D-9A4E-29274D4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evaluation-report.md｜评价问题 + baseline</a:t>
            </a:r>
          </a:p>
        </p:txBody>
      </p:sp>
      <p:sp>
        <p:nvSpPr>
          <p:cNvPr id="14" name="p14-n-1">
            <a:extLst xmlns:a="http://schemas.openxmlformats.org/drawingml/2006/main">
              <a:ext uri="{FF2B5EF4-FFF2-40B4-BE49-F238E27FC236}">
                <a16:creationId xmlns:a16="http://schemas.microsoft.com/office/drawing/2014/main" id="{29F7F8AD-C6BC-4756-B83D-3A3F35A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14-task-1">
            <a:extLst xmlns:a="http://schemas.openxmlformats.org/drawingml/2006/main">
              <a:ext uri="{FF2B5EF4-FFF2-40B4-BE49-F238E27FC236}">
                <a16:creationId xmlns:a16="http://schemas.microsoft.com/office/drawing/2014/main" id="{90C77512-D4D5-4813-8A7C-B8F4D4D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experiments/｜结果 + 失败运行日志</a:t>
            </a:r>
          </a:p>
        </p:txBody>
      </p:sp>
      <p:sp>
        <p:nvSpPr>
          <p:cNvPr id="16" name="p14-n-2">
            <a:extLst xmlns:a="http://schemas.openxmlformats.org/drawingml/2006/main">
              <a:ext uri="{FF2B5EF4-FFF2-40B4-BE49-F238E27FC236}">
                <a16:creationId xmlns:a16="http://schemas.microsoft.com/office/drawing/2014/main" id="{38C772B7-1744-428E-9A12-3BBC123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p14-task-2">
            <a:extLst xmlns:a="http://schemas.openxmlformats.org/drawingml/2006/main">
              <a:ext uri="{FF2B5EF4-FFF2-40B4-BE49-F238E27FC236}">
                <a16:creationId xmlns:a16="http://schemas.microsoft.com/office/drawing/2014/main" id="{790AF569-E73D-4703-8341-F66FD67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evaluation-report.md｜假设映射 + 审核</a:t>
            </a:r>
          </a:p>
        </p:txBody>
      </p:sp>
      <p:sp>
        <p:nvSpPr>
          <p:cNvPr id="18" name="p14-n-3">
            <a:extLst xmlns:a="http://schemas.openxmlformats.org/drawingml/2006/main">
              <a:ext uri="{FF2B5EF4-FFF2-40B4-BE49-F238E27FC236}">
                <a16:creationId xmlns:a16="http://schemas.microsoft.com/office/drawing/2014/main" id="{E4ADEA21-CAD3-4C70-8017-1879A1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14-task-3">
            <a:extLst xmlns:a="http://schemas.openxmlformats.org/drawingml/2006/main">
              <a:ext uri="{FF2B5EF4-FFF2-40B4-BE49-F238E27FC236}">
                <a16:creationId xmlns:a16="http://schemas.microsoft.com/office/drawing/2014/main" id="{0603EB65-21BE-4FC2-A070-D3483AE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evidence-map.md｜证据充分性更新</a:t>
            </a:r>
          </a:p>
        </p:txBody>
      </p:sp>
      <p:sp>
        <p:nvSpPr>
          <p:cNvPr id="20" name="p14-n-4">
            <a:extLst xmlns:a="http://schemas.openxmlformats.org/drawingml/2006/main">
              <a:ext uri="{FF2B5EF4-FFF2-40B4-BE49-F238E27FC236}">
                <a16:creationId xmlns:a16="http://schemas.microsoft.com/office/drawing/2014/main" id="{477599E5-CCD3-4BF1-A6C7-1F17D99B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p14-task-4">
            <a:extLst xmlns:a="http://schemas.openxmlformats.org/drawingml/2006/main">
              <a:ext uri="{FF2B5EF4-FFF2-40B4-BE49-F238E27FC236}">
                <a16:creationId xmlns:a16="http://schemas.microsoft.com/office/drawing/2014/main" id="{CB9EFE96-9EF0-4ABF-9894-8B12E8B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ethics-and-compliance.md｜伦理三条</a:t>
            </a:r>
          </a:p>
        </p:txBody>
      </p:sp>
      <p:sp>
        <p:nvSpPr>
          <p:cNvPr id="22" name="p14-n-5">
            <a:extLst xmlns:a="http://schemas.openxmlformats.org/drawingml/2006/main">
              <a:ext uri="{FF2B5EF4-FFF2-40B4-BE49-F238E27FC236}">
                <a16:creationId xmlns:a16="http://schemas.microsoft.com/office/drawing/2014/main" id="{222FD65F-CE9E-4D66-BEA1-5345D20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14-task-5">
            <a:extLst xmlns:a="http://schemas.openxmlformats.org/drawingml/2006/main">
              <a:ext uri="{FF2B5EF4-FFF2-40B4-BE49-F238E27FC236}">
                <a16:creationId xmlns:a16="http://schemas.microsoft.com/office/drawing/2014/main" id="{6550F1B2-B815-4226-9FEE-13D0560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ai-usage-log.md｜用途 + Context + 核验</a:t>
            </a:r>
          </a:p>
        </p:txBody>
      </p:sp>
      <p:sp>
        <p:nvSpPr>
          <p:cNvPr id="24" name="p14-min-title">
            <a:extLst xmlns:a="http://schemas.openxmlformats.org/drawingml/2006/main">
              <a:ext uri="{FF2B5EF4-FFF2-40B4-BE49-F238E27FC236}">
                <a16:creationId xmlns:a16="http://schemas.microsoft.com/office/drawing/2014/main" id="{F348741C-2DA1-492C-9214-0D85B7D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本课可检查的最小产出</a:t>
            </a:r>
          </a:p>
        </p:txBody>
      </p:sp>
      <p:sp>
        <p:nvSpPr>
          <p:cNvPr id="25" name="p14-min">
            <a:extLst xmlns:a="http://schemas.openxmlformats.org/drawingml/2006/main">
              <a:ext uri="{FF2B5EF4-FFF2-40B4-BE49-F238E27FC236}">
                <a16:creationId xmlns:a16="http://schemas.microsoft.com/office/drawing/2014/main" id="{05E5BF8C-5F0D-471F-A2BE-6DEB8C6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6766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评价维度 + baseline/前后对比｜结果映射｜至少 1 条失败｜至少 1 条人工审核｜证据充分性 + 威胁｜伦理三条</a:t>
            </a:r>
          </a:p>
        </p:txBody>
      </p:sp>
      <p:sp>
        <p:nvSpPr>
          <p:cNvPr id="26" name="p14-fallback">
            <a:extLst xmlns:a="http://schemas.openxmlformats.org/drawingml/2006/main">
              <a:ext uri="{FF2B5EF4-FFF2-40B4-BE49-F238E27FC236}">
                <a16:creationId xmlns:a16="http://schemas.microsoft.com/office/drawing/2014/main" id="{FD85DFC3-B277-414E-844F-694D391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398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环境故障：在 Markdown 或纸面完成同一结构；课后再写回项目，不在课堂逐台排障。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同伴按门条件提问题，不替作者做研究决定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5-label-0">
            <a:extLst xmlns:a="http://schemas.openxmlformats.org/drawingml/2006/main">
              <a:ext uri="{FF2B5EF4-FFF2-40B4-BE49-F238E27FC236}">
                <a16:creationId xmlns:a16="http://schemas.microsoft.com/office/drawing/2014/main" id="{4AB489BC-DFA7-492E-AD6C-3A26BBB5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任务与原型</a:t>
            </a:r>
          </a:p>
        </p:txBody>
      </p:sp>
      <p:sp>
        <p:nvSpPr>
          <p:cNvPr id="7" name="p15-question-0">
            <a:extLst xmlns:a="http://schemas.openxmlformats.org/drawingml/2006/main">
              <a:ext uri="{FF2B5EF4-FFF2-40B4-BE49-F238E27FC236}">
                <a16:creationId xmlns:a16="http://schemas.microsoft.com/office/drawing/2014/main" id="{3C83C729-0BC4-4252-ABF7-DFE31F3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1430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动作/成功标准清楚吗？有原型还是只有流程图？</a:t>
            </a:r>
          </a:p>
        </p:txBody>
      </p:sp>
      <p:sp>
        <p:nvSpPr>
          <p:cNvPr id="8" name="p15-label-1">
            <a:extLst xmlns:a="http://schemas.openxmlformats.org/drawingml/2006/main">
              <a:ext uri="{FF2B5EF4-FFF2-40B4-BE49-F238E27FC236}">
                <a16:creationId xmlns:a16="http://schemas.microsoft.com/office/drawing/2014/main" id="{86D45EC5-9E74-4E86-9FCB-E7A54F2A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评价与对照</a:t>
            </a:r>
          </a:p>
        </p:txBody>
      </p:sp>
      <p:sp>
        <p:nvSpPr>
          <p:cNvPr id="9" name="p15-question-1">
            <a:extLst xmlns:a="http://schemas.openxmlformats.org/drawingml/2006/main">
              <a:ext uri="{FF2B5EF4-FFF2-40B4-BE49-F238E27FC236}">
                <a16:creationId xmlns:a16="http://schemas.microsoft.com/office/drawing/2014/main" id="{6F14668C-203B-41F0-8856-613DF94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 baseline、固定协议和 ≥3 次运行吗？</a:t>
            </a:r>
          </a:p>
        </p:txBody>
      </p:sp>
      <p:sp>
        <p:nvSpPr>
          <p:cNvPr id="10" name="p15-label-2">
            <a:extLst xmlns:a="http://schemas.openxmlformats.org/drawingml/2006/main">
              <a:ext uri="{FF2B5EF4-FFF2-40B4-BE49-F238E27FC236}">
                <a16:creationId xmlns:a16="http://schemas.microsoft.com/office/drawing/2014/main" id="{4870307E-623C-4E2C-9054-0EAA768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失败与审核</a:t>
            </a:r>
          </a:p>
        </p:txBody>
      </p:sp>
      <p:sp>
        <p:nvSpPr>
          <p:cNvPr id="11" name="p15-question-2">
            <a:extLst xmlns:a="http://schemas.openxmlformats.org/drawingml/2006/main">
              <a:ext uri="{FF2B5EF4-FFF2-40B4-BE49-F238E27FC236}">
                <a16:creationId xmlns:a16="http://schemas.microsoft.com/office/drawing/2014/main" id="{D0808C69-B981-423D-BD26-5E9034D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失败保留了吗？人工审核理由具体吗？</a:t>
            </a:r>
          </a:p>
        </p:txBody>
      </p:sp>
      <p:sp>
        <p:nvSpPr>
          <p:cNvPr id="12" name="p15-label-3">
            <a:extLst xmlns:a="http://schemas.openxmlformats.org/drawingml/2006/main">
              <a:ext uri="{FF2B5EF4-FFF2-40B4-BE49-F238E27FC236}">
                <a16:creationId xmlns:a16="http://schemas.microsoft.com/office/drawing/2014/main" id="{AA1519C9-39A6-4570-96B5-8AC70653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证据与判断</a:t>
            </a:r>
          </a:p>
        </p:txBody>
      </p:sp>
      <p:sp>
        <p:nvSpPr>
          <p:cNvPr id="13" name="p15-question-3">
            <a:extLst xmlns:a="http://schemas.openxmlformats.org/drawingml/2006/main">
              <a:ext uri="{FF2B5EF4-FFF2-40B4-BE49-F238E27FC236}">
                <a16:creationId xmlns:a16="http://schemas.microsoft.com/office/drawing/2014/main" id="{D6F30B87-D41F-4E3D-A206-F714096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实际影响写了吗？stable 有两项独立证据吗？</a:t>
            </a:r>
          </a:p>
        </p:txBody>
      </p:sp>
      <p:sp>
        <p:nvSpPr>
          <p:cNvPr id="14" name="p15-label-4">
            <a:extLst xmlns:a="http://schemas.openxmlformats.org/drawingml/2006/main">
              <a:ext uri="{FF2B5EF4-FFF2-40B4-BE49-F238E27FC236}">
                <a16:creationId xmlns:a16="http://schemas.microsoft.com/office/drawing/2014/main" id="{6AB2B7AF-34B4-4E53-BCF9-F25B002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权限与伦理</a:t>
            </a:r>
          </a:p>
        </p:txBody>
      </p:sp>
      <p:sp>
        <p:nvSpPr>
          <p:cNvPr id="15" name="p15-question-4">
            <a:extLst xmlns:a="http://schemas.openxmlformats.org/drawingml/2006/main">
              <a:ext uri="{FF2B5EF4-FFF2-40B4-BE49-F238E27FC236}">
                <a16:creationId xmlns:a16="http://schemas.microsoft.com/office/drawing/2014/main" id="{04680E33-595C-4C64-B45B-F3198D1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672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越权/协议漂移？伦理三条已更新吗？</a:t>
            </a:r>
          </a:p>
        </p:txBody>
      </p:sp>
      <p:sp>
        <p:nvSpPr>
          <p:cNvPr id="16" name="p15-format">
            <a:extLst xmlns:a="http://schemas.openxmlformats.org/drawingml/2006/main">
              <a:ext uri="{FF2B5EF4-FFF2-40B4-BE49-F238E27FC236}">
                <a16:creationId xmlns:a16="http://schemas.microsoft.com/office/drawing/2014/main" id="{08CFB459-0945-4EB8-833D-4B53FB3C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62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每人 45 秒说明 + 3–5 分钟互查｜记录采纳 / 暂不采纳 / 待核验</a:t>
            </a:r>
          </a:p>
        </p:txBody>
      </p:sp>
      <p:sp>
        <p:nvSpPr>
          <p:cNvPr id="17" name="p15-bottom">
            <a:extLst xmlns:a="http://schemas.openxmlformats.org/drawingml/2006/main">
              <a:ext uri="{FF2B5EF4-FFF2-40B4-BE49-F238E27FC236}">
                <a16:creationId xmlns:a16="http://schemas.microsoft.com/office/drawing/2014/main" id="{25034347-F3F5-40AA-930D-7A0966B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只提问题，不替作者决定；固定同伴组不形成共同提交。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验证门材料将成为第 14 课结果段与讨论段的直接输入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6-exit-title">
            <a:extLst xmlns:a="http://schemas.openxmlformats.org/drawingml/2006/main">
              <a:ext uri="{FF2B5EF4-FFF2-40B4-BE49-F238E27FC236}">
                <a16:creationId xmlns:a16="http://schemas.microsoft.com/office/drawing/2014/main" id="{E1B0F3B8-70CE-4889-AA60-AAD3005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7" name="p16-n-0">
            <a:extLst xmlns:a="http://schemas.openxmlformats.org/drawingml/2006/main">
              <a:ext uri="{FF2B5EF4-FFF2-40B4-BE49-F238E27FC236}">
                <a16:creationId xmlns:a16="http://schemas.microsoft.com/office/drawing/2014/main" id="{F52F852F-0FE8-480E-B802-08CC6EE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6-q-0">
            <a:extLst xmlns:a="http://schemas.openxmlformats.org/drawingml/2006/main">
              <a:ext uri="{FF2B5EF4-FFF2-40B4-BE49-F238E27FC236}">
                <a16:creationId xmlns:a16="http://schemas.microsoft.com/office/drawing/2014/main" id="{03E1C003-D697-4334-BCFC-00FBFD8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1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评价有 baseline 和可重复协议吗？</a:t>
            </a:r>
          </a:p>
        </p:txBody>
      </p:sp>
      <p:sp>
        <p:nvSpPr>
          <p:cNvPr id="9" name="p16-n-1">
            <a:extLst xmlns:a="http://schemas.openxmlformats.org/drawingml/2006/main">
              <a:ext uri="{FF2B5EF4-FFF2-40B4-BE49-F238E27FC236}">
                <a16:creationId xmlns:a16="http://schemas.microsoft.com/office/drawing/2014/main" id="{D3D5E220-48CA-4F4A-B29D-AE78E188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6-q-1">
            <a:extLst xmlns:a="http://schemas.openxmlformats.org/drawingml/2006/main">
              <a:ext uri="{FF2B5EF4-FFF2-40B4-BE49-F238E27FC236}">
                <a16:creationId xmlns:a16="http://schemas.microsoft.com/office/drawing/2014/main" id="{DF2C9FE0-2AAB-4D56-B656-4631AB3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结果映射回 H1 还是只报告数字？</a:t>
            </a:r>
          </a:p>
        </p:txBody>
      </p:sp>
      <p:sp>
        <p:nvSpPr>
          <p:cNvPr id="11" name="p16-n-2">
            <a:extLst xmlns:a="http://schemas.openxmlformats.org/drawingml/2006/main">
              <a:ext uri="{FF2B5EF4-FFF2-40B4-BE49-F238E27FC236}">
                <a16:creationId xmlns:a16="http://schemas.microsoft.com/office/drawing/2014/main" id="{1F933B00-50A2-49A6-9621-B48634E4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6-q-2">
            <a:extLst xmlns:a="http://schemas.openxmlformats.org/drawingml/2006/main">
              <a:ext uri="{FF2B5EF4-FFF2-40B4-BE49-F238E27FC236}">
                <a16:creationId xmlns:a16="http://schemas.microsoft.com/office/drawing/2014/main" id="{93694E98-4837-4B7E-9E68-B9CF5D0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失败被保留并分类了吗？</a:t>
            </a:r>
          </a:p>
        </p:txBody>
      </p:sp>
      <p:sp>
        <p:nvSpPr>
          <p:cNvPr id="13" name="p16-n-3">
            <a:extLst xmlns:a="http://schemas.openxmlformats.org/drawingml/2006/main">
              <a:ext uri="{FF2B5EF4-FFF2-40B4-BE49-F238E27FC236}">
                <a16:creationId xmlns:a16="http://schemas.microsoft.com/office/drawing/2014/main" id="{74A6FE59-FCF3-4D28-8A0E-C186DFF4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6-q-3">
            <a:extLst xmlns:a="http://schemas.openxmlformats.org/drawingml/2006/main">
              <a:ext uri="{FF2B5EF4-FFF2-40B4-BE49-F238E27FC236}">
                <a16:creationId xmlns:a16="http://schemas.microsoft.com/office/drawing/2014/main" id="{ED5B5130-7694-4EA1-97D1-8FC1CCB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人工审核与证据充分性可追溯吗？</a:t>
            </a:r>
          </a:p>
        </p:txBody>
      </p:sp>
      <p:sp>
        <p:nvSpPr>
          <p:cNvPr id="15" name="p16-n-4">
            <a:extLst xmlns:a="http://schemas.openxmlformats.org/drawingml/2006/main">
              <a:ext uri="{FF2B5EF4-FFF2-40B4-BE49-F238E27FC236}">
                <a16:creationId xmlns:a16="http://schemas.microsoft.com/office/drawing/2014/main" id="{EFECC883-CE44-4712-906F-37E5A81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6-q-4">
            <a:extLst xmlns:a="http://schemas.openxmlformats.org/drawingml/2006/main">
              <a:ext uri="{FF2B5EF4-FFF2-40B4-BE49-F238E27FC236}">
                <a16:creationId xmlns:a16="http://schemas.microsoft.com/office/drawing/2014/main" id="{C52CE204-CE3C-47A4-9A62-2CF9E7C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伦理三条中哪一项仍需补全？</a:t>
            </a:r>
          </a:p>
        </p:txBody>
      </p:sp>
      <p:sp>
        <p:nvSpPr>
          <p:cNvPr id="17" name="p16-next-title">
            <a:extLst xmlns:a="http://schemas.openxmlformats.org/drawingml/2006/main">
              <a:ext uri="{FF2B5EF4-FFF2-40B4-BE49-F238E27FC236}">
                <a16:creationId xmlns:a16="http://schemas.microsoft.com/office/drawing/2014/main" id="{623D9715-1C91-48DD-8204-2DC1EA8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提交与回退</a:t>
            </a:r>
          </a:p>
        </p:txBody>
      </p:sp>
      <p:sp>
        <p:nvSpPr>
          <p:cNvPr id="18" name="p16-line-1">
            <a:extLst xmlns:a="http://schemas.openxmlformats.org/drawingml/2006/main">
              <a:ext uri="{FF2B5EF4-FFF2-40B4-BE49-F238E27FC236}">
                <a16:creationId xmlns:a16="http://schemas.microsoft.com/office/drawing/2014/main" id="{44AC3A78-AD3E-49A2-BD93-2EC1E9A9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26193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6-line-2">
            <a:extLst xmlns:a="http://schemas.openxmlformats.org/drawingml/2006/main">
              <a:ext uri="{FF2B5EF4-FFF2-40B4-BE49-F238E27FC236}">
                <a16:creationId xmlns:a16="http://schemas.microsoft.com/office/drawing/2014/main" id="{EABD11F4-46D1-49C5-9182-6010392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39909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6-now">
            <a:extLst xmlns:a="http://schemas.openxmlformats.org/drawingml/2006/main">
              <a:ext uri="{FF2B5EF4-FFF2-40B4-BE49-F238E27FC236}">
                <a16:creationId xmlns:a16="http://schemas.microsoft.com/office/drawing/2014/main" id="{ADC4F276-98BF-4155-8142-0DBC97F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240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本课后｜提交当前项目版本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链接 / tag / 压缩包</a:t>
            </a:r>
          </a:p>
        </p:txBody>
      </p:sp>
      <p:sp>
        <p:nvSpPr>
          <p:cNvPr id="21" name="p16-week8">
            <a:extLst xmlns:a="http://schemas.openxmlformats.org/drawingml/2006/main">
              <a:ext uri="{FF2B5EF4-FFF2-40B4-BE49-F238E27FC236}">
                <a16:creationId xmlns:a16="http://schemas.microsoft.com/office/drawing/2014/main" id="{6F07E4BD-2272-4F52-8299-020EF30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未通过｜修复缺失条件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一周内重新检查</a:t>
            </a:r>
          </a:p>
        </p:txBody>
      </p:sp>
      <p:sp>
        <p:nvSpPr>
          <p:cNvPr id="22" name="p16-week9">
            <a:extLst xmlns:a="http://schemas.openxmlformats.org/drawingml/2006/main">
              <a:ext uri="{FF2B5EF4-FFF2-40B4-BE49-F238E27FC236}">
                <a16:creationId xmlns:a16="http://schemas.microsoft.com/office/drawing/2014/main" id="{6C0C4F82-19ED-4CF1-B1FB-AE85BD2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14 课｜论文式写作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结果段 + 讨论段 + AI 披露</a:t>
            </a:r>
          </a:p>
        </p:txBody>
      </p:sp>
      <p:sp>
        <p:nvSpPr>
          <p:cNvPr id="23" name="p16-bottom">
            <a:extLst xmlns:a="http://schemas.openxmlformats.org/drawingml/2006/main">
              <a:ext uri="{FF2B5EF4-FFF2-40B4-BE49-F238E27FC236}">
                <a16:creationId xmlns:a16="http://schemas.microsoft.com/office/drawing/2014/main" id="{2BBB237B-CE52-4E43-8D61-9243520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673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失败删除必须恢复｜证据充分性 + 威胁有效性 → 第 14 课直接使用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2026-08-07T11:06:56.8330000Z</dcterms:created>
  <dcterms:modified xsi:type="dcterms:W3CDTF">2026-08-07T11:06:56.8330000Z</dcterms:modified>
</coreProperties>
</file>