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5681b5c50740bf" /><Relationship Type="http://schemas.openxmlformats.org/officeDocument/2006/relationships/extended-properties" Target="/docProps/app.xml" Id="R136760cd82e04d17" /><Relationship Type="http://schemas.openxmlformats.org/officeDocument/2006/relationships/officeDocument" Target="/ppt/presentation.xml" Id="Rcc3ba36d8df944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85762a504a429b"/>
  </p:sldMasterIdLst>
  <p:notesMasterIdLst>
    <p:notesMasterId xmlns:r="http://schemas.openxmlformats.org/officeDocument/2006/relationships" r:id="Re2c72e616e74446c"/>
  </p:notesMasterIdLst>
  <p:sldIdLst>
    <p:sldId xmlns:r="http://schemas.openxmlformats.org/officeDocument/2006/relationships" id="256" r:id="R71bfbab9641f4f69"/>
    <p:sldId xmlns:r="http://schemas.openxmlformats.org/officeDocument/2006/relationships" id="257" r:id="R656320ff4f874fbc"/>
    <p:sldId xmlns:r="http://schemas.openxmlformats.org/officeDocument/2006/relationships" id="258" r:id="R2810b9748e5c4af3"/>
    <p:sldId xmlns:r="http://schemas.openxmlformats.org/officeDocument/2006/relationships" id="259" r:id="Rf99dd2a2edef4c1a"/>
    <p:sldId xmlns:r="http://schemas.openxmlformats.org/officeDocument/2006/relationships" id="260" r:id="R68afd8c278b94ac3"/>
    <p:sldId xmlns:r="http://schemas.openxmlformats.org/officeDocument/2006/relationships" id="261" r:id="R8921d590479b4659"/>
    <p:sldId xmlns:r="http://schemas.openxmlformats.org/officeDocument/2006/relationships" id="262" r:id="R620db5d587484ec9"/>
    <p:sldId xmlns:r="http://schemas.openxmlformats.org/officeDocument/2006/relationships" id="263" r:id="R29401d6d98c94abb"/>
    <p:sldId xmlns:r="http://schemas.openxmlformats.org/officeDocument/2006/relationships" id="264" r:id="Rd766b2c8398e449f"/>
    <p:sldId xmlns:r="http://schemas.openxmlformats.org/officeDocument/2006/relationships" id="265" r:id="R5e2f339da3f646e1"/>
    <p:sldId xmlns:r="http://schemas.openxmlformats.org/officeDocument/2006/relationships" id="266" r:id="R540b1667d5924e7b"/>
    <p:sldId xmlns:r="http://schemas.openxmlformats.org/officeDocument/2006/relationships" id="267" r:id="R96535a05f0e44fc1"/>
    <p:sldId xmlns:r="http://schemas.openxmlformats.org/officeDocument/2006/relationships" id="268" r:id="R5a44236eab0f4ab8"/>
    <p:sldId xmlns:r="http://schemas.openxmlformats.org/officeDocument/2006/relationships" id="269" r:id="Rb1ba1fcb59824a0f"/>
    <p:sldId xmlns:r="http://schemas.openxmlformats.org/officeDocument/2006/relationships" id="270" r:id="R379afed4ca324fa1"/>
    <p:sldId xmlns:r="http://schemas.openxmlformats.org/officeDocument/2006/relationships" id="271" r:id="R6179420b72f44cc9"/>
    <p:sldId xmlns:r="http://schemas.openxmlformats.org/officeDocument/2006/relationships" id="272" r:id="R10220e0ca0584f02"/>
    <p:sldId xmlns:r="http://schemas.openxmlformats.org/officeDocument/2006/relationships" id="273" r:id="R024330b6a85645c3"/>
    <p:sldId xmlns:r="http://schemas.openxmlformats.org/officeDocument/2006/relationships" id="274" r:id="R7d8add27376443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db15c270d41f1" /><Relationship Type="http://schemas.openxmlformats.org/officeDocument/2006/relationships/slideMaster" Target="/ppt/slideMasters/slideMaster1.xml" Id="Rb885762a504a429b" /><Relationship Type="http://schemas.openxmlformats.org/officeDocument/2006/relationships/notesMaster" Target="/ppt/notesMasters/notesMaster1.xml" Id="Re2c72e616e74446c" /><Relationship Type="http://schemas.openxmlformats.org/officeDocument/2006/relationships/presProps" Target="/ppt/presProps.xml" Id="R75217178145a407b" /><Relationship Type="http://schemas.openxmlformats.org/officeDocument/2006/relationships/viewProps" Target="/ppt/viewProps.xml" Id="R61c7a2b21b924898" /><Relationship Type="http://schemas.openxmlformats.org/officeDocument/2006/relationships/tableStyles" Target="/ppt/tableStyles.xml" Id="R5cc62f8bb18748c8" /><Relationship Type="http://schemas.openxmlformats.org/officeDocument/2006/relationships/slide" Target="/ppt/slides/slide1.xml" Id="R71bfbab9641f4f69" /><Relationship Type="http://schemas.openxmlformats.org/officeDocument/2006/relationships/slide" Target="/ppt/slides/slide2.xml" Id="R656320ff4f874fbc" /><Relationship Type="http://schemas.openxmlformats.org/officeDocument/2006/relationships/slide" Target="/ppt/slides/slide3.xml" Id="R2810b9748e5c4af3" /><Relationship Type="http://schemas.openxmlformats.org/officeDocument/2006/relationships/slide" Target="/ppt/slides/slide4.xml" Id="Rf99dd2a2edef4c1a" /><Relationship Type="http://schemas.openxmlformats.org/officeDocument/2006/relationships/slide" Target="/ppt/slides/slide5.xml" Id="R68afd8c278b94ac3" /><Relationship Type="http://schemas.openxmlformats.org/officeDocument/2006/relationships/slide" Target="/ppt/slides/slide6.xml" Id="R8921d590479b4659" /><Relationship Type="http://schemas.openxmlformats.org/officeDocument/2006/relationships/slide" Target="/ppt/slides/slide7.xml" Id="R620db5d587484ec9" /><Relationship Type="http://schemas.openxmlformats.org/officeDocument/2006/relationships/slide" Target="/ppt/slides/slide8.xml" Id="R29401d6d98c94abb" /><Relationship Type="http://schemas.openxmlformats.org/officeDocument/2006/relationships/slide" Target="/ppt/slides/slide9.xml" Id="Rd766b2c8398e449f" /><Relationship Type="http://schemas.openxmlformats.org/officeDocument/2006/relationships/slide" Target="/ppt/slides/slide10.xml" Id="R5e2f339da3f646e1" /><Relationship Type="http://schemas.openxmlformats.org/officeDocument/2006/relationships/slide" Target="/ppt/slides/slide11.xml" Id="R540b1667d5924e7b" /><Relationship Type="http://schemas.openxmlformats.org/officeDocument/2006/relationships/slide" Target="/ppt/slides/slide12.xml" Id="R96535a05f0e44fc1" /><Relationship Type="http://schemas.openxmlformats.org/officeDocument/2006/relationships/slide" Target="/ppt/slides/slide13.xml" Id="R5a44236eab0f4ab8" /><Relationship Type="http://schemas.openxmlformats.org/officeDocument/2006/relationships/slide" Target="/ppt/slides/slide14.xml" Id="Rb1ba1fcb59824a0f" /><Relationship Type="http://schemas.openxmlformats.org/officeDocument/2006/relationships/slide" Target="/ppt/slides/slide15.xml" Id="R379afed4ca324fa1" /><Relationship Type="http://schemas.openxmlformats.org/officeDocument/2006/relationships/slide" Target="/ppt/slides/slide16.xml" Id="R6179420b72f44cc9" /><Relationship Type="http://schemas.openxmlformats.org/officeDocument/2006/relationships/slide" Target="/ppt/slides/slide17.xml" Id="R10220e0ca0584f02" /><Relationship Type="http://schemas.openxmlformats.org/officeDocument/2006/relationships/slide" Target="/ppt/slides/slide18.xml" Id="R024330b6a85645c3" /><Relationship Type="http://schemas.openxmlformats.org/officeDocument/2006/relationships/slide" Target="/ppt/slides/slide19.xml" Id="R7d8add27376443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4340000cfc44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81a81728bb41e5" /><Relationship Type="http://schemas.openxmlformats.org/officeDocument/2006/relationships/notesMaster" Target="/ppt/notesMasters/notesMaster1.xml" Id="Raa3c0a98c93044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ccbf05f64a4f6e" /><Relationship Type="http://schemas.openxmlformats.org/officeDocument/2006/relationships/notesMaster" Target="/ppt/notesMasters/notesMaster1.xml" Id="Rea8853c39c194d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a289d5f3784a72" /><Relationship Type="http://schemas.openxmlformats.org/officeDocument/2006/relationships/notesMaster" Target="/ppt/notesMasters/notesMaster1.xml" Id="R7681069e24074a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fc751284b4be2" /><Relationship Type="http://schemas.openxmlformats.org/officeDocument/2006/relationships/notesMaster" Target="/ppt/notesMasters/notesMaster1.xml" Id="R9196a7964bf34e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94eb59e10c4262" /><Relationship Type="http://schemas.openxmlformats.org/officeDocument/2006/relationships/notesMaster" Target="/ppt/notesMasters/notesMaster1.xml" Id="R1c3c40907a624c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2ad7f7cb234c12" /><Relationship Type="http://schemas.openxmlformats.org/officeDocument/2006/relationships/notesMaster" Target="/ppt/notesMasters/notesMaster1.xml" Id="Rf111968413dc4a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19eccbd0df46c4" /><Relationship Type="http://schemas.openxmlformats.org/officeDocument/2006/relationships/notesMaster" Target="/ppt/notesMasters/notesMaster1.xml" Id="Rc86ed3a6daba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686d67be72459a" /><Relationship Type="http://schemas.openxmlformats.org/officeDocument/2006/relationships/notesMaster" Target="/ppt/notesMasters/notesMaster1.xml" Id="Re550824f9f1d4a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8de258353b4182" /><Relationship Type="http://schemas.openxmlformats.org/officeDocument/2006/relationships/notesMaster" Target="/ppt/notesMasters/notesMaster1.xml" Id="R0d121882866946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6f3075e9ab4df4" /><Relationship Type="http://schemas.openxmlformats.org/officeDocument/2006/relationships/notesMaster" Target="/ppt/notesMasters/notesMaster1.xml" Id="R6b58569699d04c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42ef6eae6046bd" /><Relationship Type="http://schemas.openxmlformats.org/officeDocument/2006/relationships/notesMaster" Target="/ppt/notesMasters/notesMaster1.xml" Id="R03080a84a9c042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d3b009082a4bcb" /><Relationship Type="http://schemas.openxmlformats.org/officeDocument/2006/relationships/notesMaster" Target="/ppt/notesMasters/notesMaster1.xml" Id="R2556a2696b6c47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1c45b425c64a03" /><Relationship Type="http://schemas.openxmlformats.org/officeDocument/2006/relationships/notesMaster" Target="/ppt/notesMasters/notesMaster1.xml" Id="R48d26e33d9af47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ab744599be4977" /><Relationship Type="http://schemas.openxmlformats.org/officeDocument/2006/relationships/notesMaster" Target="/ppt/notesMasters/notesMaster1.xml" Id="R3d80bddd67a348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515ad50c6f4a8c" /><Relationship Type="http://schemas.openxmlformats.org/officeDocument/2006/relationships/notesMaster" Target="/ppt/notesMasters/notesMaster1.xml" Id="R1166f286920d4d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7d78a0079f4c85" /><Relationship Type="http://schemas.openxmlformats.org/officeDocument/2006/relationships/notesMaster" Target="/ppt/notesMasters/notesMaster1.xml" Id="R2f8c49744b4f4f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dd565e1623495f" /><Relationship Type="http://schemas.openxmlformats.org/officeDocument/2006/relationships/notesMaster" Target="/ppt/notesMasters/notesMaster1.xml" Id="Rd551ea45e7b542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b04b0d2ae74fb1" /><Relationship Type="http://schemas.openxmlformats.org/officeDocument/2006/relationships/notesMaster" Target="/ppt/notesMasters/notesMaster1.xml" Id="R59f2cae59fda4b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12b9a1a39a4c39" /><Relationship Type="http://schemas.openxmlformats.org/officeDocument/2006/relationships/notesMaster" Target="/ppt/notesMasters/notesMaster1.xml" Id="R4651577ea9114a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本课把第 4 课阅读卡重组为按问题排列的证据结构，并形成问题门可检查的最小综合。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/Users/bright/Projects/courses/graduate/lessons/lesson-05/slides.md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 进行第一次短互动：请学生判断自己的阅读笔记目前是按论文排列，还是已经按问题组织。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/Users/bright/Projects/courses/graduate/lessons/lesson-04/slides.md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明确课堂最低产出与边界。mini literature review 是四句最小综合，不是最终 related work。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/Users/bright/Projects/courses/graduate/lessons/lesson-05/slides.md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让学生指出：一段逐篇摘要为何无法支持研究空白判断。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两类综述不是高低之分。学生需按研究任务选择结构，并保留检索、提取与取舍记录。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Kitchenham &amp; Charters, Guidelines for Performing Systematic Literature Reviews in Software Engineering, EBSE-2007-01 (2007)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矩阵示例为课程构造。列必须来自问题分解，不得从论文关键词反推。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这是本课最容易混淆的概念页：候选文献角色与问题门四视图是两层口径。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/Users/bright/Projects/courses/graduate/lessons/lesson-03/handout.md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三类空白的识别动作不同。重点是让学生先标候选类型，不急于宣告领域结论。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让学生用自己的一个空白候选口头判断哪一步最薄弱。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本页用非例保护研究空白概念，避免把表述换新或工程未做误判为空白。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核验清单逐项讲。AI 可帮助聚类与草拟，但不能自动判定证据角色、冲突或领域空白。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/Users/bright/Projects/courses/graduate/lessons/lesson-03/handout.md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虚构教学样例｜非真实论文、检索或实证证据。演示只训练阅读卡进入矩阵的动作，不提供论文事实。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/Users/bright/Projects/courses/graduate/lessons/lesson-05/slides.md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虚构教学样例｜非真实论文、检索或实证证据。E3 是不可比的对比条目，不与 E1 自动形成冲突；G1 只展示应记录的检索字段。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虚构教学样例｜非真实论文、检索或实证证据。四句骨架练习最小综合，不伪装成完整 related work。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虚构教学样例｜非真实论文、检索或实证证据。让学生给出一条缺失的核验步骤，教师现场补入受限任务契约。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/Users/bright/Projects/courses/graduate/lessons/lesson-02/handout.md</a:t>
            </a:r>
          </a:p>
          <a:p xmlns:a="http://schemas.openxmlformats.org/drawingml/2006/main">
            <a:r>
              <a:t>- /Users/bright/Projects/courses/graduate/lessons/lesson-05/teaching-plan.md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43:00-48:00 说明任务，48:00 切到 P17。教师巡视只处理共同卡点，不逐台排障。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/Users/bright/Projects/courses/graduate/course/starter-template.md</a:t>
            </a:r>
          </a:p>
          <a:p xmlns:a="http://schemas.openxmlformats.org/drawingml/2006/main">
            <a:r>
              <a:t>- /Users/bright/Projects/courses/graduate/lessons/lesson-05/slides.md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48:00-75:00 停留。本页只支持最小闭环，不要求补齐整份综述或问题门数量。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- /Users/bright/Projects/courses/graduate/course/starter-template.md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75:00-85:00 两人互查。每人用 45 秒说明问题、矩阵和四句草稿，同伴按四问反馈。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/Users/bright/Projects/courses/graduate/lessons/lesson-05/teaching-plan.md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收束开场：本课不要求完成完整综述，只把已核验材料重组为可进入问题门的证据结构。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- /Users/bright/Projects/courses/graduate/lessons/lesson-05/slides.md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b46abb5bb4b5c" /><Relationship Type="http://schemas.openxmlformats.org/officeDocument/2006/relationships/image" Target="/ppt/media/image.png" Id="R3318f1e4980b478c" /><Relationship Type="http://schemas.openxmlformats.org/officeDocument/2006/relationships/image" Target="/ppt/media/image2.png" Id="Rcf7e05977fe940d1" /><Relationship Type="http://schemas.openxmlformats.org/officeDocument/2006/relationships/image" Target="/ppt/media/image3.png" Id="Rda37fb28dd754a6d" /><Relationship Type="http://schemas.openxmlformats.org/officeDocument/2006/relationships/image" Target="/ppt/media/image4.png" Id="R34fcc29f1dca43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63d077d1841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ec851dbde41e0" /><Relationship Type="http://schemas.openxmlformats.org/officeDocument/2006/relationships/image" Target="/ppt/media/image2.png" Id="R03bc4934d64c4379" /><Relationship Type="http://schemas.openxmlformats.org/officeDocument/2006/relationships/image" Target="/ppt/media/image5.png" Id="R5e12700b51e44f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8b8bf9344449b" /><Relationship Type="http://schemas.openxmlformats.org/officeDocument/2006/relationships/image" Target="/ppt/media/image.png" Id="Rf273b67fbfaa4267" /><Relationship Type="http://schemas.openxmlformats.org/officeDocument/2006/relationships/image" Target="/ppt/media/image3.png" Id="R67d0fcee6dfd4699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8f1e4980b478c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7e05977fe940d1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37fb28dd754a6d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cc29f1dca43a7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bc4934d64c4379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2700b51e44f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3b67fbfaa4267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d0fcee6dfd4699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39035e884044ae" /><Relationship Type="http://schemas.openxmlformats.org/officeDocument/2006/relationships/slideLayout" Target="/ppt/slideLayouts/slideLayout1.xml" Id="R48d66be907994a62" /><Relationship Type="http://schemas.openxmlformats.org/officeDocument/2006/relationships/slideLayout" Target="/ppt/slideLayouts/slideLayout2.xml" Id="Rf69ad5574815403c" /><Relationship Type="http://schemas.openxmlformats.org/officeDocument/2006/relationships/slideLayout" Target="/ppt/slideLayouts/slideLayout3.xml" Id="R43a8353ad76a4ea9" /><Relationship Type="http://schemas.openxmlformats.org/officeDocument/2006/relationships/slideLayout" Target="/ppt/slideLayouts/slideLayout4.xml" Id="Rd9ff76874b0041c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d66be907994a62"/>
    <p:sldLayoutId xmlns:r="http://schemas.openxmlformats.org/officeDocument/2006/relationships" id="2147483650" r:id="Rf69ad5574815403c"/>
    <p:sldLayoutId xmlns:r="http://schemas.openxmlformats.org/officeDocument/2006/relationships" id="2147483651" r:id="R43a8353ad76a4ea9"/>
    <p:sldLayoutId xmlns:r="http://schemas.openxmlformats.org/officeDocument/2006/relationships" id="2147483652" r:id="Rd9ff76874b0041c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ac386e45d42a3" /><Relationship Type="http://schemas.openxmlformats.org/officeDocument/2006/relationships/notesSlide" Target="/ppt/notesSlides/notesSlide1.xml" Id="Rea1bfe8a51634d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8f97c7886a4c37" /><Relationship Type="http://schemas.openxmlformats.org/officeDocument/2006/relationships/notesSlide" Target="/ppt/notesSlides/notesSlide2.xml" Id="R5ed0410e3ffd4c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adefa22a804f45" /><Relationship Type="http://schemas.openxmlformats.org/officeDocument/2006/relationships/notesSlide" Target="/ppt/notesSlides/notesSlide3.xml" Id="R2d7a094abd6343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411223c4754b82" /><Relationship Type="http://schemas.openxmlformats.org/officeDocument/2006/relationships/notesSlide" Target="/ppt/notesSlides/notesSlide4.xml" Id="Ra5beee1fcc8b43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ff15dafb9145e3" /><Relationship Type="http://schemas.openxmlformats.org/officeDocument/2006/relationships/notesSlide" Target="/ppt/notesSlides/notesSlide5.xml" Id="R4de7c6ba5c1f45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0f7e4d34514b25" /><Relationship Type="http://schemas.openxmlformats.org/officeDocument/2006/relationships/notesSlide" Target="/ppt/notesSlides/notesSlide6.xml" Id="R1095b94dba8f4d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ef7ada40cf4d55" /><Relationship Type="http://schemas.openxmlformats.org/officeDocument/2006/relationships/notesSlide" Target="/ppt/notesSlides/notesSlide7.xml" Id="R3781bdb5487e45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b59d1b324a47d4" /><Relationship Type="http://schemas.openxmlformats.org/officeDocument/2006/relationships/notesSlide" Target="/ppt/notesSlides/notesSlide8.xml" Id="R1ffaf00be4ad44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2474d5f8e54d89" /><Relationship Type="http://schemas.openxmlformats.org/officeDocument/2006/relationships/notesSlide" Target="/ppt/notesSlides/notesSlide9.xml" Id="Rbb3c6693c69744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e49da8712245cd" /><Relationship Type="http://schemas.openxmlformats.org/officeDocument/2006/relationships/notesSlide" Target="/ppt/notesSlides/notesSlide10.xml" Id="R4be13cfe464e4d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14ed05f79c40fa" /><Relationship Type="http://schemas.openxmlformats.org/officeDocument/2006/relationships/notesSlide" Target="/ppt/notesSlides/notesSlide11.xml" Id="R47a6b4cb8fc04d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3ef5d0ac7a4a03" /><Relationship Type="http://schemas.openxmlformats.org/officeDocument/2006/relationships/notesSlide" Target="/ppt/notesSlides/notesSlide12.xml" Id="Rd39f385d2e5044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49ee6beca04850" /><Relationship Type="http://schemas.openxmlformats.org/officeDocument/2006/relationships/notesSlide" Target="/ppt/notesSlides/notesSlide13.xml" Id="Rff9f609470b142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e2c489847246a5" /><Relationship Type="http://schemas.openxmlformats.org/officeDocument/2006/relationships/notesSlide" Target="/ppt/notesSlides/notesSlide14.xml" Id="R10ce18beae6c4a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4f11c0aba74af0" /><Relationship Type="http://schemas.openxmlformats.org/officeDocument/2006/relationships/notesSlide" Target="/ppt/notesSlides/notesSlide15.xml" Id="R3fef281fa03a4e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f9d34e38d84c17" /><Relationship Type="http://schemas.openxmlformats.org/officeDocument/2006/relationships/notesSlide" Target="/ppt/notesSlides/notesSlide16.xml" Id="Rf7aef298db1643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be62ea743744fa" /><Relationship Type="http://schemas.openxmlformats.org/officeDocument/2006/relationships/notesSlide" Target="/ppt/notesSlides/notesSlide17.xml" Id="Rad9ce680beb747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a6721f85e04991" /><Relationship Type="http://schemas.openxmlformats.org/officeDocument/2006/relationships/notesSlide" Target="/ppt/notesSlides/notesSlide18.xml" Id="R27949582b90840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40bbdf2aad4091" /><Relationship Type="http://schemas.openxmlformats.org/officeDocument/2006/relationships/notesSlide" Target="/ppt/notesSlides/notesSlide19.xml" Id="Rd4693475e82049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066800" y="3009900"/>
            <a:ext cx="10058400" cy="22860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阅读卡 → 按问题组织 → 证据地图 → 四句 mini review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4000"/>
              </a:lnSpc>
              <a:buNone/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综述不是摘要堆叠，是按问题组织的证据结构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4000"/>
              </a:lnSpc>
              <a:buNone/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第五讲｜阶段五：证据整理 → 第 6 课问题门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00150"/>
            <a:ext cx="97536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0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综述结构、证据地图与研究空白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课之后，阅读卡为什么仍不算综述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h">
            <a:extLst xmlns:a="http://schemas.openxmlformats.org/drawingml/2006/main">
              <a:ext uri="{FF2B5EF4-FFF2-40B4-BE49-F238E27FC236}">
                <a16:creationId xmlns:a16="http://schemas.microsoft.com/office/drawing/2014/main" id="{B1637563-C7CE-410A-8AB8-7D64A28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已经有</a:t>
            </a:r>
          </a:p>
        </p:txBody>
      </p:sp>
      <p:sp>
        <p:nvSpPr>
          <p:cNvPr id="7" name="p02-left-0">
            <a:extLst xmlns:a="http://schemas.openxmlformats.org/drawingml/2006/main">
              <a:ext uri="{FF2B5EF4-FFF2-40B4-BE49-F238E27FC236}">
                <a16:creationId xmlns:a16="http://schemas.microsoft.com/office/drawing/2014/main" id="{6AD4FF24-49A8-4F54-AC49-49AE1C3E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4191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 带原文位置的阅读卡</a:t>
            </a:r>
          </a:p>
        </p:txBody>
      </p:sp>
      <p:sp>
        <p:nvSpPr>
          <p:cNvPr id="8" name="p02-left-1">
            <a:extLst xmlns:a="http://schemas.openxmlformats.org/drawingml/2006/main">
              <a:ext uri="{FF2B5EF4-FFF2-40B4-BE49-F238E27FC236}">
                <a16:creationId xmlns:a16="http://schemas.microsoft.com/office/drawing/2014/main" id="{C155B050-C474-44EF-9430-0F4E9693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191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 作者主张与人工判断分栏</a:t>
            </a:r>
          </a:p>
        </p:txBody>
      </p:sp>
      <p:sp>
        <p:nvSpPr>
          <p:cNvPr id="9" name="p02-left-2">
            <a:extLst xmlns:a="http://schemas.openxmlformats.org/drawingml/2006/main">
              <a:ext uri="{FF2B5EF4-FFF2-40B4-BE49-F238E27FC236}">
                <a16:creationId xmlns:a16="http://schemas.microsoft.com/office/drawing/2014/main" id="{ECAFF831-CE07-41BD-A35D-DABEECEE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4191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✓  AI 偏差审计记录</a:t>
            </a:r>
          </a:p>
        </p:txBody>
      </p:sp>
      <p:sp>
        <p:nvSpPr>
          <p:cNvPr id="10" name="p02-arrow">
            <a:extLst xmlns:a="http://schemas.openxmlformats.org/drawingml/2006/main">
              <a:ext uri="{FF2B5EF4-FFF2-40B4-BE49-F238E27FC236}">
                <a16:creationId xmlns:a16="http://schemas.microsoft.com/office/drawing/2014/main" id="{2FD43111-AB2D-4B7F-807F-46CCEB4F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67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02-right-h">
            <a:extLst xmlns:a="http://schemas.openxmlformats.org/drawingml/2006/main">
              <a:ext uri="{FF2B5EF4-FFF2-40B4-BE49-F238E27FC236}">
                <a16:creationId xmlns:a16="http://schemas.microsoft.com/office/drawing/2014/main" id="{91E637E9-2B11-467E-8F25-DB60BDF7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0125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仍看不见</a:t>
            </a:r>
          </a:p>
        </p:txBody>
      </p:sp>
      <p:sp>
        <p:nvSpPr>
          <p:cNvPr id="12" name="p02-right-0">
            <a:extLst xmlns:a="http://schemas.openxmlformats.org/drawingml/2006/main">
              <a:ext uri="{FF2B5EF4-FFF2-40B4-BE49-F238E27FC236}">
                <a16:creationId xmlns:a16="http://schemas.microsoft.com/office/drawing/2014/main" id="{0A204674-EAF1-4618-994F-049AA46E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28775"/>
            <a:ext cx="4191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文献之间支持、冲突还是不可比？</a:t>
            </a:r>
          </a:p>
        </p:txBody>
      </p:sp>
      <p:sp>
        <p:nvSpPr>
          <p:cNvPr id="13" name="p02-right-1">
            <a:extLst xmlns:a="http://schemas.openxmlformats.org/drawingml/2006/main">
              <a:ext uri="{FF2B5EF4-FFF2-40B4-BE49-F238E27FC236}">
                <a16:creationId xmlns:a16="http://schemas.microsoft.com/office/drawing/2014/main" id="{55CA79FE-6611-4EE5-997D-7DDF8268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4191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哪个子问题整列空白？</a:t>
            </a:r>
          </a:p>
        </p:txBody>
      </p:sp>
      <p:sp>
        <p:nvSpPr>
          <p:cNvPr id="14" name="p02-right-2">
            <a:extLst xmlns:a="http://schemas.openxmlformats.org/drawingml/2006/main">
              <a:ext uri="{FF2B5EF4-FFF2-40B4-BE49-F238E27FC236}">
                <a16:creationId xmlns:a16="http://schemas.microsoft.com/office/drawing/2014/main" id="{DB64104D-1515-477D-A303-C10CA9A3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9925"/>
            <a:ext cx="4191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?  哪些句子能进入最小综述？</a:t>
            </a:r>
          </a:p>
        </p:txBody>
      </p:sp>
      <p:sp>
        <p:nvSpPr>
          <p:cNvPr id="15" name="p02-bottom">
            <a:extLst xmlns:a="http://schemas.openxmlformats.org/drawingml/2006/main">
              <a:ext uri="{FF2B5EF4-FFF2-40B4-BE49-F238E27FC236}">
                <a16:creationId xmlns:a16="http://schemas.microsoft.com/office/drawing/2014/main" id="{DC33BA81-2E6B-4C4C-A299-4C133899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704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来源已核验  ≠  证据关系已组织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本课目标与课堂产出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thesis">
            <a:extLst xmlns:a="http://schemas.openxmlformats.org/drawingml/2006/main">
              <a:ext uri="{FF2B5EF4-FFF2-40B4-BE49-F238E27FC236}">
                <a16:creationId xmlns:a16="http://schemas.microsoft.com/office/drawing/2014/main" id="{757E5EC6-E390-495A-A0EB-90AA4493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27 分钟只跑通一个可复查的最小闭环</a:t>
            </a:r>
          </a:p>
        </p:txBody>
      </p:sp>
      <p:sp>
        <p:nvSpPr>
          <p:cNvPr id="7" name="p03-n0">
            <a:extLst xmlns:a="http://schemas.openxmlformats.org/drawingml/2006/main">
              <a:ext uri="{FF2B5EF4-FFF2-40B4-BE49-F238E27FC236}">
                <a16:creationId xmlns:a16="http://schemas.microsoft.com/office/drawing/2014/main" id="{4BE50487-32B8-4488-A25B-754AD17D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p03-h0">
            <a:extLst xmlns:a="http://schemas.openxmlformats.org/drawingml/2006/main">
              <a:ext uri="{FF2B5EF4-FFF2-40B4-BE49-F238E27FC236}">
                <a16:creationId xmlns:a16="http://schemas.microsoft.com/office/drawing/2014/main" id="{DDE5A112-6BC8-438F-90DE-AADD800E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47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窄矩阵</a:t>
            </a:r>
          </a:p>
        </p:txBody>
      </p:sp>
      <p:sp>
        <p:nvSpPr>
          <p:cNvPr id="9" name="p03-d0">
            <a:extLst xmlns:a="http://schemas.openxmlformats.org/drawingml/2006/main">
              <a:ext uri="{FF2B5EF4-FFF2-40B4-BE49-F238E27FC236}">
                <a16:creationId xmlns:a16="http://schemas.microsoft.com/office/drawing/2014/main" id="{B35BBF9B-2E2C-47C7-82F5-77935B6F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764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2-3 张卡 × 2-3 个子问题</a:t>
            </a:r>
          </a:p>
        </p:txBody>
      </p:sp>
      <p:sp>
        <p:nvSpPr>
          <p:cNvPr id="10" name="p03-n1">
            <a:extLst xmlns:a="http://schemas.openxmlformats.org/drawingml/2006/main">
              <a:ext uri="{FF2B5EF4-FFF2-40B4-BE49-F238E27FC236}">
                <a16:creationId xmlns:a16="http://schemas.microsoft.com/office/drawing/2014/main" id="{27E4BF38-D614-4DC1-868F-7F25774C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478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p03-h1">
            <a:extLst xmlns:a="http://schemas.openxmlformats.org/drawingml/2006/main">
              <a:ext uri="{FF2B5EF4-FFF2-40B4-BE49-F238E27FC236}">
                <a16:creationId xmlns:a16="http://schemas.microsoft.com/office/drawing/2014/main" id="{E904E882-3589-49B2-9F3F-58B66731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47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四视图地图</a:t>
            </a:r>
          </a:p>
        </p:txBody>
      </p:sp>
      <p:sp>
        <p:nvSpPr>
          <p:cNvPr id="12" name="p03-d1">
            <a:extLst xmlns:a="http://schemas.openxmlformats.org/drawingml/2006/main">
              <a:ext uri="{FF2B5EF4-FFF2-40B4-BE49-F238E27FC236}">
                <a16:creationId xmlns:a16="http://schemas.microsoft.com/office/drawing/2014/main" id="{A2D36720-3447-46BD-A140-9E7B9FCF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764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直接 / 补充 / 冲突 / 空白</a:t>
            </a:r>
          </a:p>
        </p:txBody>
      </p:sp>
      <p:sp>
        <p:nvSpPr>
          <p:cNvPr id="13" name="p03-n2">
            <a:extLst xmlns:a="http://schemas.openxmlformats.org/drawingml/2006/main">
              <a:ext uri="{FF2B5EF4-FFF2-40B4-BE49-F238E27FC236}">
                <a16:creationId xmlns:a16="http://schemas.microsoft.com/office/drawing/2014/main" id="{B1D76D08-7828-469B-B3B8-6F3B4CA3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p03-h2">
            <a:extLst xmlns:a="http://schemas.openxmlformats.org/drawingml/2006/main">
              <a:ext uri="{FF2B5EF4-FFF2-40B4-BE49-F238E27FC236}">
                <a16:creationId xmlns:a16="http://schemas.microsoft.com/office/drawing/2014/main" id="{170D2F31-5F8A-41CA-990F-26EC359F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47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空白首轮检验</a:t>
            </a:r>
          </a:p>
        </p:txBody>
      </p:sp>
      <p:sp>
        <p:nvSpPr>
          <p:cNvPr id="15" name="p03-d2">
            <a:extLst xmlns:a="http://schemas.openxmlformats.org/drawingml/2006/main">
              <a:ext uri="{FF2B5EF4-FFF2-40B4-BE49-F238E27FC236}">
                <a16:creationId xmlns:a16="http://schemas.microsoft.com/office/drawing/2014/main" id="{E0298357-0D32-4B85-B0BD-101C56B9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764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真实性 / 重要性 / 可行性</a:t>
            </a:r>
          </a:p>
        </p:txBody>
      </p:sp>
      <p:sp>
        <p:nvSpPr>
          <p:cNvPr id="16" name="p03-n3">
            <a:extLst xmlns:a="http://schemas.openxmlformats.org/drawingml/2006/main">
              <a:ext uri="{FF2B5EF4-FFF2-40B4-BE49-F238E27FC236}">
                <a16:creationId xmlns:a16="http://schemas.microsoft.com/office/drawing/2014/main" id="{275BCDD9-33CF-4D0C-AB11-D6AA737B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p03-h3">
            <a:extLst xmlns:a="http://schemas.openxmlformats.org/drawingml/2006/main">
              <a:ext uri="{FF2B5EF4-FFF2-40B4-BE49-F238E27FC236}">
                <a16:creationId xmlns:a16="http://schemas.microsoft.com/office/drawing/2014/main" id="{5FC2331C-0ED5-4566-89D6-DEFF8B00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四句 mini review</a:t>
            </a:r>
          </a:p>
        </p:txBody>
      </p:sp>
      <p:sp>
        <p:nvSpPr>
          <p:cNvPr id="18" name="p03-d3">
            <a:extLst xmlns:a="http://schemas.openxmlformats.org/drawingml/2006/main">
              <a:ext uri="{FF2B5EF4-FFF2-40B4-BE49-F238E27FC236}">
                <a16:creationId xmlns:a16="http://schemas.microsoft.com/office/drawing/2014/main" id="{E1876A87-3F94-419C-860B-98DD0A84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范围 / 证据 / 分歧 / 空白</a:t>
            </a:r>
          </a:p>
        </p:txBody>
      </p:sp>
      <p:sp>
        <p:nvSpPr>
          <p:cNvPr id="19" name="p03-n4">
            <a:extLst xmlns:a="http://schemas.openxmlformats.org/drawingml/2006/main">
              <a:ext uri="{FF2B5EF4-FFF2-40B4-BE49-F238E27FC236}">
                <a16:creationId xmlns:a16="http://schemas.microsoft.com/office/drawing/2014/main" id="{459B3B8C-266A-4757-BCF9-595700CE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p03-h4">
            <a:extLst xmlns:a="http://schemas.openxmlformats.org/drawingml/2006/main">
              <a:ext uri="{FF2B5EF4-FFF2-40B4-BE49-F238E27FC236}">
                <a16:creationId xmlns:a16="http://schemas.microsoft.com/office/drawing/2014/main" id="{98F68B04-B760-4BE3-B63E-D9DDE6C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95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一条 AI 核验</a:t>
            </a:r>
          </a:p>
        </p:txBody>
      </p:sp>
      <p:sp>
        <p:nvSpPr>
          <p:cNvPr id="21" name="p03-d4">
            <a:extLst xmlns:a="http://schemas.openxmlformats.org/drawingml/2006/main">
              <a:ext uri="{FF2B5EF4-FFF2-40B4-BE49-F238E27FC236}">
                <a16:creationId xmlns:a16="http://schemas.microsoft.com/office/drawing/2014/main" id="{41379276-6B51-4499-8DEF-4982C50D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242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处理决定 + 使用记录</a:t>
            </a:r>
          </a:p>
        </p:txBody>
      </p:sp>
      <p:sp>
        <p:nvSpPr>
          <p:cNvPr id="22" name="p03-boundary">
            <a:extLst xmlns:a="http://schemas.openxmlformats.org/drawingml/2006/main">
              <a:ext uri="{FF2B5EF4-FFF2-40B4-BE49-F238E27FC236}">
                <a16:creationId xmlns:a16="http://schemas.microsoft.com/office/drawing/2014/main" id="{25B4F7F1-3DC3-4395-BCD0-307D5037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本课不正式提交；以上工件进入第 6 课问题门，不等于完整 related work。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摘要堆叠为什么不算综述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left-h">
            <a:extLst xmlns:a="http://schemas.openxmlformats.org/drawingml/2006/main">
              <a:ext uri="{FF2B5EF4-FFF2-40B4-BE49-F238E27FC236}">
                <a16:creationId xmlns:a16="http://schemas.microsoft.com/office/drawing/2014/main" id="{A467C46B-1D9C-478A-BB72-250C79F6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按论文排列</a:t>
            </a:r>
          </a:p>
        </p:txBody>
      </p:sp>
      <p:sp>
        <p:nvSpPr>
          <p:cNvPr id="7" name="p04-a0">
            <a:extLst xmlns:a="http://schemas.openxmlformats.org/drawingml/2006/main">
              <a:ext uri="{FF2B5EF4-FFF2-40B4-BE49-F238E27FC236}">
                <a16:creationId xmlns:a16="http://schemas.microsoft.com/office/drawing/2014/main" id="{1C742231-F88A-4041-8F69-BDCB577C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3714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论文 A 摘要</a:t>
            </a:r>
          </a:p>
        </p:txBody>
      </p:sp>
      <p:sp>
        <p:nvSpPr>
          <p:cNvPr id="8" name="p04-a1">
            <a:extLst xmlns:a="http://schemas.openxmlformats.org/drawingml/2006/main">
              <a:ext uri="{FF2B5EF4-FFF2-40B4-BE49-F238E27FC236}">
                <a16:creationId xmlns:a16="http://schemas.microsoft.com/office/drawing/2014/main" id="{19456B5A-C8A1-4CFF-9028-7F3FD921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38425"/>
            <a:ext cx="3714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论文 B 摘要</a:t>
            </a:r>
          </a:p>
        </p:txBody>
      </p:sp>
      <p:sp>
        <p:nvSpPr>
          <p:cNvPr id="9" name="p04-a2">
            <a:extLst xmlns:a="http://schemas.openxmlformats.org/drawingml/2006/main">
              <a:ext uri="{FF2B5EF4-FFF2-40B4-BE49-F238E27FC236}">
                <a16:creationId xmlns:a16="http://schemas.microsoft.com/office/drawing/2014/main" id="{5F5F9B37-850F-4603-AB15-B091A75A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3714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论文 C 摘要</a:t>
            </a:r>
          </a:p>
        </p:txBody>
      </p:sp>
      <p:sp>
        <p:nvSpPr>
          <p:cNvPr id="10" name="p04-neq">
            <a:extLst xmlns:a="http://schemas.openxmlformats.org/drawingml/2006/main">
              <a:ext uri="{FF2B5EF4-FFF2-40B4-BE49-F238E27FC236}">
                <a16:creationId xmlns:a16="http://schemas.microsoft.com/office/drawing/2014/main" id="{995C7029-C005-494C-BF5D-FF290769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C8161E"/>
                </a:solidFill>
              </a:defRPr>
            </a:pPr>
            <a:r>
              <a:rPr sz="45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1" name="p04-right-h">
            <a:extLst xmlns:a="http://schemas.openxmlformats.org/drawingml/2006/main">
              <a:ext uri="{FF2B5EF4-FFF2-40B4-BE49-F238E27FC236}">
                <a16:creationId xmlns:a16="http://schemas.microsoft.com/office/drawing/2014/main" id="{2824F6FF-B3CB-4AD7-BA0C-488BC014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2870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45A"/>
                </a:solidFill>
              </a:defRPr>
            </a:pPr>
            <a:r>
              <a:rPr sz="18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按问题组织</a:t>
            </a:r>
          </a:p>
        </p:txBody>
      </p:sp>
      <p:sp>
        <p:nvSpPr>
          <p:cNvPr id="12" name="p04-q0">
            <a:extLst xmlns:a="http://schemas.openxmlformats.org/drawingml/2006/main">
              <a:ext uri="{FF2B5EF4-FFF2-40B4-BE49-F238E27FC236}">
                <a16:creationId xmlns:a16="http://schemas.microsoft.com/office/drawing/2014/main" id="{1015AA08-EF4D-4CEB-B2D3-56EBCA3F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62125"/>
            <a:ext cx="3714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共同回答什么？</a:t>
            </a:r>
          </a:p>
        </p:txBody>
      </p:sp>
      <p:sp>
        <p:nvSpPr>
          <p:cNvPr id="13" name="p04-q1">
            <a:extLst xmlns:a="http://schemas.openxmlformats.org/drawingml/2006/main">
              <a:ext uri="{FF2B5EF4-FFF2-40B4-BE49-F238E27FC236}">
                <a16:creationId xmlns:a16="http://schemas.microsoft.com/office/drawing/2014/main" id="{C1E25B76-263A-4456-AAED-3EA03530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38425"/>
            <a:ext cx="3714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哪里冲突或不可比？</a:t>
            </a:r>
          </a:p>
        </p:txBody>
      </p:sp>
      <p:sp>
        <p:nvSpPr>
          <p:cNvPr id="14" name="p04-q2">
            <a:extLst xmlns:a="http://schemas.openxmlformats.org/drawingml/2006/main">
              <a:ext uri="{FF2B5EF4-FFF2-40B4-BE49-F238E27FC236}">
                <a16:creationId xmlns:a16="http://schemas.microsoft.com/office/drawing/2014/main" id="{0F3D1D52-0A84-4B72-B9A7-FF3C1566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14725"/>
            <a:ext cx="3714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什么仍是空白？</a:t>
            </a:r>
          </a:p>
        </p:txBody>
      </p:sp>
      <p:sp>
        <p:nvSpPr>
          <p:cNvPr id="15" name="p04-bottom">
            <a:extLst xmlns:a="http://schemas.openxmlformats.org/drawingml/2006/main">
              <a:ext uri="{FF2B5EF4-FFF2-40B4-BE49-F238E27FC236}">
                <a16:creationId xmlns:a16="http://schemas.microsoft.com/office/drawing/2014/main" id="{9CF76586-0D48-4454-A052-35AB29D6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62500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摘要堆叠保留了顺序，却丢失了证据关系。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叙事性综述与系统性综述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h-0">
            <a:extLst xmlns:a="http://schemas.openxmlformats.org/drawingml/2006/main">
              <a:ext uri="{FF2B5EF4-FFF2-40B4-BE49-F238E27FC236}">
                <a16:creationId xmlns:a16="http://schemas.microsoft.com/office/drawing/2014/main" id="{3D90A0BE-7D48-48DE-B1E8-1314B0A6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430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7" name="p05-h-1">
            <a:extLst xmlns:a="http://schemas.openxmlformats.org/drawingml/2006/main">
              <a:ext uri="{FF2B5EF4-FFF2-40B4-BE49-F238E27FC236}">
                <a16:creationId xmlns:a16="http://schemas.microsoft.com/office/drawing/2014/main" id="{451C6E1A-9A69-4076-A105-E92FF528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430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叙事性综述</a:t>
            </a:r>
          </a:p>
        </p:txBody>
      </p:sp>
      <p:sp>
        <p:nvSpPr>
          <p:cNvPr id="8" name="p05-h-2">
            <a:extLst xmlns:a="http://schemas.openxmlformats.org/drawingml/2006/main">
              <a:ext uri="{FF2B5EF4-FFF2-40B4-BE49-F238E27FC236}">
                <a16:creationId xmlns:a16="http://schemas.microsoft.com/office/drawing/2014/main" id="{AE29862B-3C62-4446-9D5F-7EEE77D7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1430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系统性综述</a:t>
            </a:r>
          </a:p>
        </p:txBody>
      </p:sp>
      <p:sp>
        <p:nvSpPr>
          <p:cNvPr id="9" name="p05-r0-0">
            <a:extLst xmlns:a="http://schemas.openxmlformats.org/drawingml/2006/main">
              <a:ext uri="{FF2B5EF4-FFF2-40B4-BE49-F238E27FC236}">
                <a16:creationId xmlns:a16="http://schemas.microsoft.com/office/drawing/2014/main" id="{7DC3984F-B910-4AFF-BDEE-3F64817E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430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0" name="p05-r0-1">
            <a:extLst xmlns:a="http://schemas.openxmlformats.org/drawingml/2006/main">
              <a:ext uri="{FF2B5EF4-FFF2-40B4-BE49-F238E27FC236}">
                <a16:creationId xmlns:a16="http://schemas.microsoft.com/office/drawing/2014/main" id="{1FA763E4-F879-4172-8B35-E87CCBDD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430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解释主题、机制或冲突</a:t>
            </a:r>
          </a:p>
        </p:txBody>
      </p:sp>
      <p:sp>
        <p:nvSpPr>
          <p:cNvPr id="11" name="p05-r0-2">
            <a:extLst xmlns:a="http://schemas.openxmlformats.org/drawingml/2006/main">
              <a:ext uri="{FF2B5EF4-FFF2-40B4-BE49-F238E27FC236}">
                <a16:creationId xmlns:a16="http://schemas.microsoft.com/office/drawing/2014/main" id="{5A48939D-A3BD-41D2-9DE2-CBCD9009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430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按预设协议回答明确问题</a:t>
            </a:r>
          </a:p>
        </p:txBody>
      </p:sp>
      <p:sp>
        <p:nvSpPr>
          <p:cNvPr id="12" name="p05-r1-0">
            <a:extLst xmlns:a="http://schemas.openxmlformats.org/drawingml/2006/main">
              <a:ext uri="{FF2B5EF4-FFF2-40B4-BE49-F238E27FC236}">
                <a16:creationId xmlns:a16="http://schemas.microsoft.com/office/drawing/2014/main" id="{9042AD9F-3B66-435D-8661-DC998B4A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860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13" name="p05-r1-1">
            <a:extLst xmlns:a="http://schemas.openxmlformats.org/drawingml/2006/main">
              <a:ext uri="{FF2B5EF4-FFF2-40B4-BE49-F238E27FC236}">
                <a16:creationId xmlns:a16="http://schemas.microsoft.com/office/drawing/2014/main" id="{105019B4-6EE3-484B-A546-21F2F8E6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860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范围由研究者说明</a:t>
            </a:r>
          </a:p>
        </p:txBody>
      </p:sp>
      <p:sp>
        <p:nvSpPr>
          <p:cNvPr id="14" name="p05-r1-2">
            <a:extLst xmlns:a="http://schemas.openxmlformats.org/drawingml/2006/main">
              <a:ext uri="{FF2B5EF4-FFF2-40B4-BE49-F238E27FC236}">
                <a16:creationId xmlns:a16="http://schemas.microsoft.com/office/drawing/2014/main" id="{D195A543-C1F3-4B74-B27F-7178A16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检索与纳入排除规则预先定义</a:t>
            </a:r>
          </a:p>
        </p:txBody>
      </p:sp>
      <p:sp>
        <p:nvSpPr>
          <p:cNvPr id="15" name="p05-r2-0">
            <a:extLst xmlns:a="http://schemas.openxmlformats.org/drawingml/2006/main">
              <a:ext uri="{FF2B5EF4-FFF2-40B4-BE49-F238E27FC236}">
                <a16:creationId xmlns:a16="http://schemas.microsoft.com/office/drawing/2014/main" id="{A11D7265-01BE-4315-8CD0-11A01A27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289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综合</a:t>
            </a:r>
          </a:p>
        </p:txBody>
      </p:sp>
      <p:sp>
        <p:nvSpPr>
          <p:cNvPr id="16" name="p05-r2-1">
            <a:extLst xmlns:a="http://schemas.openxmlformats.org/drawingml/2006/main">
              <a:ext uri="{FF2B5EF4-FFF2-40B4-BE49-F238E27FC236}">
                <a16:creationId xmlns:a16="http://schemas.microsoft.com/office/drawing/2014/main" id="{B3B644BF-F96B-4F84-829B-18A7DDCC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28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按主题或机制组织</a:t>
            </a:r>
          </a:p>
        </p:txBody>
      </p:sp>
      <p:sp>
        <p:nvSpPr>
          <p:cNvPr id="17" name="p05-r2-2">
            <a:extLst xmlns:a="http://schemas.openxmlformats.org/drawingml/2006/main">
              <a:ext uri="{FF2B5EF4-FFF2-40B4-BE49-F238E27FC236}">
                <a16:creationId xmlns:a16="http://schemas.microsoft.com/office/drawing/2014/main" id="{BA1218DD-E31A-49CF-B29F-0297FC18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28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按固定字段提取并合成</a:t>
            </a:r>
          </a:p>
        </p:txBody>
      </p:sp>
      <p:sp>
        <p:nvSpPr>
          <p:cNvPr id="18" name="p05-r3-0">
            <a:extLst xmlns:a="http://schemas.openxmlformats.org/drawingml/2006/main">
              <a:ext uri="{FF2B5EF4-FFF2-40B4-BE49-F238E27FC236}">
                <a16:creationId xmlns:a16="http://schemas.microsoft.com/office/drawing/2014/main" id="{BBB25AA4-3278-4A45-803C-47F6EFA7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719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9" name="p05-r3-1">
            <a:extLst xmlns:a="http://schemas.openxmlformats.org/drawingml/2006/main">
              <a:ext uri="{FF2B5EF4-FFF2-40B4-BE49-F238E27FC236}">
                <a16:creationId xmlns:a16="http://schemas.microsoft.com/office/drawing/2014/main" id="{A2B1DD37-172A-4C2E-AF66-1679DCC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719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选择性引用、忽视冲突</a:t>
            </a:r>
          </a:p>
        </p:txBody>
      </p:sp>
      <p:sp>
        <p:nvSpPr>
          <p:cNvPr id="20" name="p05-r3-2">
            <a:extLst xmlns:a="http://schemas.openxmlformats.org/drawingml/2006/main">
              <a:ext uri="{FF2B5EF4-FFF2-40B4-BE49-F238E27FC236}">
                <a16:creationId xmlns:a16="http://schemas.microsoft.com/office/drawing/2014/main" id="{6D43361A-A537-426D-817E-8D7F555D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719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机械套用、强合并不可比研究</a:t>
            </a:r>
          </a:p>
        </p:txBody>
      </p:sp>
      <p:sp>
        <p:nvSpPr>
          <p:cNvPr id="21" name="p05-bottom">
            <a:extLst xmlns:a="http://schemas.openxmlformats.org/drawingml/2006/main">
              <a:ext uri="{FF2B5EF4-FFF2-40B4-BE49-F238E27FC236}">
                <a16:creationId xmlns:a16="http://schemas.microsoft.com/office/drawing/2014/main" id="{683DA581-DC93-4959-AE3A-3818D8EE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本课不要求完整系统综述，但要求过程可复盘、证据可定位。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相关工作矩阵：从按论文排列到按问题排列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rule">
            <a:extLst xmlns:a="http://schemas.openxmlformats.org/drawingml/2006/main">
              <a:ext uri="{FF2B5EF4-FFF2-40B4-BE49-F238E27FC236}">
                <a16:creationId xmlns:a16="http://schemas.microsoft.com/office/drawing/2014/main" id="{31D27BC7-AB12-4483-A657-3AF8394A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7155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行 = 已核验材料　｜　列 = 从研究问题拆出的子问题</a:t>
            </a:r>
          </a:p>
        </p:txBody>
      </p:sp>
      <p:sp>
        <p:nvSpPr>
          <p:cNvPr id="7" name="p06-h-0">
            <a:extLst xmlns:a="http://schemas.openxmlformats.org/drawingml/2006/main">
              <a:ext uri="{FF2B5EF4-FFF2-40B4-BE49-F238E27FC236}">
                <a16:creationId xmlns:a16="http://schemas.microsoft.com/office/drawing/2014/main" id="{FE6370B2-F5DA-41D2-A6DC-FE5580CC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8" name="p06-h-1">
            <a:extLst xmlns:a="http://schemas.openxmlformats.org/drawingml/2006/main">
              <a:ext uri="{FF2B5EF4-FFF2-40B4-BE49-F238E27FC236}">
                <a16:creationId xmlns:a16="http://schemas.microsoft.com/office/drawing/2014/main" id="{F785263A-FBD2-41A4-9D12-7C02F878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14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定位原文</a:t>
            </a:r>
          </a:p>
        </p:txBody>
      </p:sp>
      <p:sp>
        <p:nvSpPr>
          <p:cNvPr id="9" name="p06-h-2">
            <a:extLst xmlns:a="http://schemas.openxmlformats.org/drawingml/2006/main">
              <a:ext uri="{FF2B5EF4-FFF2-40B4-BE49-F238E27FC236}">
                <a16:creationId xmlns:a16="http://schemas.microsoft.com/office/drawing/2014/main" id="{2B0E5185-8EAF-4502-86AA-E82A1976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定义遗漏</a:t>
            </a:r>
          </a:p>
        </p:txBody>
      </p:sp>
      <p:sp>
        <p:nvSpPr>
          <p:cNvPr id="10" name="p06-h-3">
            <a:extLst xmlns:a="http://schemas.openxmlformats.org/drawingml/2006/main">
              <a:ext uri="{FF2B5EF4-FFF2-40B4-BE49-F238E27FC236}">
                <a16:creationId xmlns:a16="http://schemas.microsoft.com/office/drawing/2014/main" id="{42E874E3-7C44-4C5F-846A-431233DF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设置对照</a:t>
            </a:r>
          </a:p>
        </p:txBody>
      </p:sp>
      <p:sp>
        <p:nvSpPr>
          <p:cNvPr id="11" name="p06-h-4">
            <a:extLst xmlns:a="http://schemas.openxmlformats.org/drawingml/2006/main">
              <a:ext uri="{FF2B5EF4-FFF2-40B4-BE49-F238E27FC236}">
                <a16:creationId xmlns:a16="http://schemas.microsoft.com/office/drawing/2014/main" id="{E20CCFBB-6979-4299-A1CF-CD2954B0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候选角色</a:t>
            </a:r>
          </a:p>
        </p:txBody>
      </p:sp>
      <p:sp>
        <p:nvSpPr>
          <p:cNvPr id="12" name="p06-r0-0">
            <a:extLst xmlns:a="http://schemas.openxmlformats.org/drawingml/2006/main">
              <a:ext uri="{FF2B5EF4-FFF2-40B4-BE49-F238E27FC236}">
                <a16:creationId xmlns:a16="http://schemas.microsoft.com/office/drawing/2014/main" id="{C64708C5-1C93-43E8-85EA-6648A7AB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p06-r0-1">
            <a:extLst xmlns:a="http://schemas.openxmlformats.org/drawingml/2006/main">
              <a:ext uri="{FF2B5EF4-FFF2-40B4-BE49-F238E27FC236}">
                <a16:creationId xmlns:a16="http://schemas.microsoft.com/office/drawing/2014/main" id="{114DCE75-5A3E-4195-912B-24400F65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145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4" name="p06-r0-2">
            <a:extLst xmlns:a="http://schemas.openxmlformats.org/drawingml/2006/main">
              <a:ext uri="{FF2B5EF4-FFF2-40B4-BE49-F238E27FC236}">
                <a16:creationId xmlns:a16="http://schemas.microsoft.com/office/drawing/2014/main" id="{BA4526C2-CEA9-45ED-B292-DA111CA3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5" name="p06-r0-3">
            <a:extLst xmlns:a="http://schemas.openxmlformats.org/drawingml/2006/main">
              <a:ext uri="{FF2B5EF4-FFF2-40B4-BE49-F238E27FC236}">
                <a16:creationId xmlns:a16="http://schemas.microsoft.com/office/drawing/2014/main" id="{95D9BDA7-005A-4850-BB89-706F3EBC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6" name="p06-r0-4">
            <a:extLst xmlns:a="http://schemas.openxmlformats.org/drawingml/2006/main">
              <a:ext uri="{FF2B5EF4-FFF2-40B4-BE49-F238E27FC236}">
                <a16:creationId xmlns:a16="http://schemas.microsoft.com/office/drawing/2014/main" id="{C47A54A2-F595-4CB1-A320-BD876C5E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主证据</a:t>
            </a:r>
          </a:p>
        </p:txBody>
      </p:sp>
      <p:sp>
        <p:nvSpPr>
          <p:cNvPr id="17" name="p06-r1-0">
            <a:extLst xmlns:a="http://schemas.openxmlformats.org/drawingml/2006/main">
              <a:ext uri="{FF2B5EF4-FFF2-40B4-BE49-F238E27FC236}">
                <a16:creationId xmlns:a16="http://schemas.microsoft.com/office/drawing/2014/main" id="{303521AB-A175-4481-B77B-9DD55FD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8" name="p06-r1-1">
            <a:extLst xmlns:a="http://schemas.openxmlformats.org/drawingml/2006/main">
              <a:ext uri="{FF2B5EF4-FFF2-40B4-BE49-F238E27FC236}">
                <a16:creationId xmlns:a16="http://schemas.microsoft.com/office/drawing/2014/main" id="{853F2246-4669-4902-BFEC-4C183D1B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19" name="p06-r1-2">
            <a:extLst xmlns:a="http://schemas.openxmlformats.org/drawingml/2006/main">
              <a:ext uri="{FF2B5EF4-FFF2-40B4-BE49-F238E27FC236}">
                <a16:creationId xmlns:a16="http://schemas.microsoft.com/office/drawing/2014/main" id="{2DF04FB2-F6DF-4342-8C29-6D6394A0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0" name="p06-r1-3">
            <a:extLst xmlns:a="http://schemas.openxmlformats.org/drawingml/2006/main">
              <a:ext uri="{FF2B5EF4-FFF2-40B4-BE49-F238E27FC236}">
                <a16:creationId xmlns:a16="http://schemas.microsoft.com/office/drawing/2014/main" id="{6E10139D-1A4A-4075-ACB1-C019AD52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21" name="p06-r1-4">
            <a:extLst xmlns:a="http://schemas.openxmlformats.org/drawingml/2006/main">
              <a:ext uri="{FF2B5EF4-FFF2-40B4-BE49-F238E27FC236}">
                <a16:creationId xmlns:a16="http://schemas.microsoft.com/office/drawing/2014/main" id="{A1BAE21C-A906-4583-9B6C-8694F35D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22" name="p06-r2-0">
            <a:extLst xmlns:a="http://schemas.openxmlformats.org/drawingml/2006/main">
              <a:ext uri="{FF2B5EF4-FFF2-40B4-BE49-F238E27FC236}">
                <a16:creationId xmlns:a16="http://schemas.microsoft.com/office/drawing/2014/main" id="{37600EA3-05F7-459B-989D-78B21C99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" name="p06-r2-1">
            <a:extLst xmlns:a="http://schemas.openxmlformats.org/drawingml/2006/main">
              <a:ext uri="{FF2B5EF4-FFF2-40B4-BE49-F238E27FC236}">
                <a16:creationId xmlns:a16="http://schemas.microsoft.com/office/drawing/2014/main" id="{08ED9679-A244-4489-8926-CB16BA1F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24" name="p06-r2-2">
            <a:extLst xmlns:a="http://schemas.openxmlformats.org/drawingml/2006/main">
              <a:ext uri="{FF2B5EF4-FFF2-40B4-BE49-F238E27FC236}">
                <a16:creationId xmlns:a16="http://schemas.microsoft.com/office/drawing/2014/main" id="{794CE330-2172-4186-8285-460414D3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检索任务</a:t>
            </a:r>
          </a:p>
        </p:txBody>
      </p:sp>
      <p:sp>
        <p:nvSpPr>
          <p:cNvPr id="25" name="p06-r2-3">
            <a:extLst xmlns:a="http://schemas.openxmlformats.org/drawingml/2006/main">
              <a:ext uri="{FF2B5EF4-FFF2-40B4-BE49-F238E27FC236}">
                <a16:creationId xmlns:a16="http://schemas.microsoft.com/office/drawing/2014/main" id="{687A365C-2645-4232-B564-0D66AD89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26" name="p06-r2-4">
            <a:extLst xmlns:a="http://schemas.openxmlformats.org/drawingml/2006/main">
              <a:ext uri="{FF2B5EF4-FFF2-40B4-BE49-F238E27FC236}">
                <a16:creationId xmlns:a16="http://schemas.microsoft.com/office/drawing/2014/main" id="{6729C97D-2AD8-4D09-98E8-70B28A78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27" name="p06-r3-0">
            <a:extLst xmlns:a="http://schemas.openxmlformats.org/drawingml/2006/main">
              <a:ext uri="{FF2B5EF4-FFF2-40B4-BE49-F238E27FC236}">
                <a16:creationId xmlns:a16="http://schemas.microsoft.com/office/drawing/2014/main" id="{051D81B8-AC09-4937-A42C-7434047C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8" name="p06-r3-1">
            <a:extLst xmlns:a="http://schemas.openxmlformats.org/drawingml/2006/main">
              <a:ext uri="{FF2B5EF4-FFF2-40B4-BE49-F238E27FC236}">
                <a16:creationId xmlns:a16="http://schemas.microsoft.com/office/drawing/2014/main" id="{B43D4435-21C1-4468-BE33-C91072F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290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相反结论</a:t>
            </a:r>
          </a:p>
        </p:txBody>
      </p:sp>
      <p:sp>
        <p:nvSpPr>
          <p:cNvPr id="29" name="p06-r3-2">
            <a:extLst xmlns:a="http://schemas.openxmlformats.org/drawingml/2006/main">
              <a:ext uri="{FF2B5EF4-FFF2-40B4-BE49-F238E27FC236}">
                <a16:creationId xmlns:a16="http://schemas.microsoft.com/office/drawing/2014/main" id="{E0A50D70-FA5C-4C3E-A948-51E78290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0" name="p06-r3-3">
            <a:extLst xmlns:a="http://schemas.openxmlformats.org/drawingml/2006/main">
              <a:ext uri="{FF2B5EF4-FFF2-40B4-BE49-F238E27FC236}">
                <a16:creationId xmlns:a16="http://schemas.microsoft.com/office/drawing/2014/main" id="{603B0B35-CE50-4490-BF88-37F1BC5D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1" name="p06-r3-4">
            <a:extLst xmlns:a="http://schemas.openxmlformats.org/drawingml/2006/main">
              <a:ext uri="{FF2B5EF4-FFF2-40B4-BE49-F238E27FC236}">
                <a16:creationId xmlns:a16="http://schemas.microsoft.com/office/drawing/2014/main" id="{026C96CD-CE2D-4A66-975D-040B16BD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待核验</a:t>
            </a:r>
          </a:p>
        </p:txBody>
      </p:sp>
      <p:sp>
        <p:nvSpPr>
          <p:cNvPr id="32" name="p06-r4-0">
            <a:extLst xmlns:a="http://schemas.openxmlformats.org/drawingml/2006/main">
              <a:ext uri="{FF2B5EF4-FFF2-40B4-BE49-F238E27FC236}">
                <a16:creationId xmlns:a16="http://schemas.microsoft.com/office/drawing/2014/main" id="{A9E03FB4-877A-497D-A772-1FC9ED49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3" name="p06-r4-1">
            <a:extLst xmlns:a="http://schemas.openxmlformats.org/drawingml/2006/main">
              <a:ext uri="{FF2B5EF4-FFF2-40B4-BE49-F238E27FC236}">
                <a16:creationId xmlns:a16="http://schemas.microsoft.com/office/drawing/2014/main" id="{86437534-BDE3-46E3-9E06-A72B6C6C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4" name="p06-r4-2">
            <a:extLst xmlns:a="http://schemas.openxmlformats.org/drawingml/2006/main">
              <a:ext uri="{FF2B5EF4-FFF2-40B4-BE49-F238E27FC236}">
                <a16:creationId xmlns:a16="http://schemas.microsoft.com/office/drawing/2014/main" id="{A3B2F400-EBDF-482A-981E-C270C2FF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5" name="p06-r4-3">
            <a:extLst xmlns:a="http://schemas.openxmlformats.org/drawingml/2006/main">
              <a:ext uri="{FF2B5EF4-FFF2-40B4-BE49-F238E27FC236}">
                <a16:creationId xmlns:a16="http://schemas.microsoft.com/office/drawing/2014/main" id="{B25B1B77-70E9-4447-A425-8BC69BF2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6" name="p06-r4-4">
            <a:extLst xmlns:a="http://schemas.openxmlformats.org/drawingml/2006/main">
              <a:ext uri="{FF2B5EF4-FFF2-40B4-BE49-F238E27FC236}">
                <a16:creationId xmlns:a16="http://schemas.microsoft.com/office/drawing/2014/main" id="{1769A04F-C37A-461E-98AB-D6AB358F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空白候选</a:t>
            </a:r>
          </a:p>
        </p:txBody>
      </p:sp>
      <p:sp>
        <p:nvSpPr>
          <p:cNvPr id="37" name="p06-bottom">
            <a:extLst xmlns:a="http://schemas.openxmlformats.org/drawingml/2006/main">
              <a:ext uri="{FF2B5EF4-FFF2-40B4-BE49-F238E27FC236}">
                <a16:creationId xmlns:a16="http://schemas.microsoft.com/office/drawing/2014/main" id="{2A62E388-C610-440A-BA9E-856E242B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空格只说明“当前地图未回答”，不自动证明领域没人做过。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证据地图：从文献角色到问题门四视图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left-h">
            <a:extLst xmlns:a="http://schemas.openxmlformats.org/drawingml/2006/main">
              <a:ext uri="{FF2B5EF4-FFF2-40B4-BE49-F238E27FC236}">
                <a16:creationId xmlns:a16="http://schemas.microsoft.com/office/drawing/2014/main" id="{EC7C9392-1A83-49E7-994E-E1FF07F5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3 课：候选文献角色</a:t>
            </a:r>
          </a:p>
        </p:txBody>
      </p:sp>
      <p:sp>
        <p:nvSpPr>
          <p:cNvPr id="7" name="p07-l0">
            <a:extLst xmlns:a="http://schemas.openxmlformats.org/drawingml/2006/main">
              <a:ext uri="{FF2B5EF4-FFF2-40B4-BE49-F238E27FC236}">
                <a16:creationId xmlns:a16="http://schemas.microsoft.com/office/drawing/2014/main" id="{292FB0CC-80FF-4EDD-B633-C35F1B13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主证据</a:t>
            </a:r>
          </a:p>
        </p:txBody>
      </p:sp>
      <p:sp>
        <p:nvSpPr>
          <p:cNvPr id="8" name="p07-l1">
            <a:extLst xmlns:a="http://schemas.openxmlformats.org/drawingml/2006/main">
              <a:ext uri="{FF2B5EF4-FFF2-40B4-BE49-F238E27FC236}">
                <a16:creationId xmlns:a16="http://schemas.microsoft.com/office/drawing/2014/main" id="{9231F9A7-20FD-448D-A395-B57B4FC6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补充证据</a:t>
            </a:r>
          </a:p>
        </p:txBody>
      </p:sp>
      <p:sp>
        <p:nvSpPr>
          <p:cNvPr id="9" name="p07-l2">
            <a:extLst xmlns:a="http://schemas.openxmlformats.org/drawingml/2006/main">
              <a:ext uri="{FF2B5EF4-FFF2-40B4-BE49-F238E27FC236}">
                <a16:creationId xmlns:a16="http://schemas.microsoft.com/office/drawing/2014/main" id="{6F5AB3B8-29F2-48EF-81AB-2918D339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对比证据</a:t>
            </a:r>
          </a:p>
        </p:txBody>
      </p:sp>
      <p:sp>
        <p:nvSpPr>
          <p:cNvPr id="10" name="p07-l3">
            <a:extLst xmlns:a="http://schemas.openxmlformats.org/drawingml/2006/main">
              <a:ext uri="{FF2B5EF4-FFF2-40B4-BE49-F238E27FC236}">
                <a16:creationId xmlns:a16="http://schemas.microsoft.com/office/drawing/2014/main" id="{C9FAC209-9FB2-411B-81E5-E6298F2C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684"/>
                </a:solidFill>
              </a:defRPr>
            </a:pPr>
            <a:r>
              <a:rPr sz="157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探索线索</a:t>
            </a:r>
          </a:p>
        </p:txBody>
      </p:sp>
      <p:sp>
        <p:nvSpPr>
          <p:cNvPr id="11" name="p07-a1">
            <a:extLst xmlns:a="http://schemas.openxmlformats.org/drawingml/2006/main">
              <a:ext uri="{FF2B5EF4-FFF2-40B4-BE49-F238E27FC236}">
                <a16:creationId xmlns:a16="http://schemas.microsoft.com/office/drawing/2014/main" id="{A028CDE1-4B6E-40D8-9831-65FE8190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07-a2">
            <a:extLst xmlns:a="http://schemas.openxmlformats.org/drawingml/2006/main">
              <a:ext uri="{FF2B5EF4-FFF2-40B4-BE49-F238E27FC236}">
                <a16:creationId xmlns:a16="http://schemas.microsoft.com/office/drawing/2014/main" id="{BF3F8D7A-0AC8-43DA-86E3-E45AA9AE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07-a3">
            <a:extLst xmlns:a="http://schemas.openxmlformats.org/drawingml/2006/main">
              <a:ext uri="{FF2B5EF4-FFF2-40B4-BE49-F238E27FC236}">
                <a16:creationId xmlns:a16="http://schemas.microsoft.com/office/drawing/2014/main" id="{0CEFBF88-9730-4F26-870D-A29576C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p07-a4">
            <a:extLst xmlns:a="http://schemas.openxmlformats.org/drawingml/2006/main">
              <a:ext uri="{FF2B5EF4-FFF2-40B4-BE49-F238E27FC236}">
                <a16:creationId xmlns:a16="http://schemas.microsoft.com/office/drawing/2014/main" id="{7B77A291-D2D1-461E-AE87-DA88998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781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不进入</a:t>
            </a:r>
          </a:p>
        </p:txBody>
      </p:sp>
      <p:sp>
        <p:nvSpPr>
          <p:cNvPr id="15" name="p07-right-h">
            <a:extLst xmlns:a="http://schemas.openxmlformats.org/drawingml/2006/main">
              <a:ext uri="{FF2B5EF4-FFF2-40B4-BE49-F238E27FC236}">
                <a16:creationId xmlns:a16="http://schemas.microsoft.com/office/drawing/2014/main" id="{A6FE6DE5-3EAB-4A55-803F-5156958D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71550"/>
            <a:ext cx="542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问题门：证据地图四视图</a:t>
            </a:r>
          </a:p>
        </p:txBody>
      </p:sp>
      <p:sp>
        <p:nvSpPr>
          <p:cNvPr id="16" name="p07-rh0">
            <a:extLst xmlns:a="http://schemas.openxmlformats.org/drawingml/2006/main">
              <a:ext uri="{FF2B5EF4-FFF2-40B4-BE49-F238E27FC236}">
                <a16:creationId xmlns:a16="http://schemas.microsoft.com/office/drawing/2014/main" id="{1CE7F02A-3DF6-40F8-9B68-A521F909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直接证据</a:t>
            </a:r>
          </a:p>
        </p:txBody>
      </p:sp>
      <p:sp>
        <p:nvSpPr>
          <p:cNvPr id="17" name="p07-rd0">
            <a:extLst xmlns:a="http://schemas.openxmlformats.org/drawingml/2006/main">
              <a:ext uri="{FF2B5EF4-FFF2-40B4-BE49-F238E27FC236}">
                <a16:creationId xmlns:a16="http://schemas.microsoft.com/office/drawing/2014/main" id="{02333FD6-A5BB-4FA6-834A-2AF1ACF2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811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主证据且直接回答当前子问题</a:t>
            </a:r>
          </a:p>
        </p:txBody>
      </p:sp>
      <p:sp>
        <p:nvSpPr>
          <p:cNvPr id="18" name="p07-rh1">
            <a:extLst xmlns:a="http://schemas.openxmlformats.org/drawingml/2006/main">
              <a:ext uri="{FF2B5EF4-FFF2-40B4-BE49-F238E27FC236}">
                <a16:creationId xmlns:a16="http://schemas.microsoft.com/office/drawing/2014/main" id="{DF839AFE-E48F-49C6-818C-99B3A529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补充证据</a:t>
            </a:r>
          </a:p>
        </p:txBody>
      </p:sp>
      <p:sp>
        <p:nvSpPr>
          <p:cNvPr id="19" name="p07-rd1">
            <a:extLst xmlns:a="http://schemas.openxmlformats.org/drawingml/2006/main">
              <a:ext uri="{FF2B5EF4-FFF2-40B4-BE49-F238E27FC236}">
                <a16:creationId xmlns:a16="http://schemas.microsoft.com/office/drawing/2014/main" id="{502C7F87-92CB-4B18-A1CD-0EC4810C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574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提供不同来源、测量或路径</a:t>
            </a:r>
          </a:p>
        </p:txBody>
      </p:sp>
      <p:sp>
        <p:nvSpPr>
          <p:cNvPr id="20" name="p07-rh2">
            <a:extLst xmlns:a="http://schemas.openxmlformats.org/drawingml/2006/main">
              <a:ext uri="{FF2B5EF4-FFF2-40B4-BE49-F238E27FC236}">
                <a16:creationId xmlns:a16="http://schemas.microsoft.com/office/drawing/2014/main" id="{122FAA7C-4B1A-4303-B07C-54C78345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21" name="p07-rd2">
            <a:extLst xmlns:a="http://schemas.openxmlformats.org/drawingml/2006/main">
              <a:ext uri="{FF2B5EF4-FFF2-40B4-BE49-F238E27FC236}">
                <a16:creationId xmlns:a16="http://schemas.microsoft.com/office/drawing/2014/main" id="{72D82FEF-3FB2-4DFC-91E0-5F871F92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条件可比且结论相反</a:t>
            </a:r>
          </a:p>
        </p:txBody>
      </p:sp>
      <p:sp>
        <p:nvSpPr>
          <p:cNvPr id="22" name="p07-rh3">
            <a:extLst xmlns:a="http://schemas.openxmlformats.org/drawingml/2006/main">
              <a:ext uri="{FF2B5EF4-FFF2-40B4-BE49-F238E27FC236}">
                <a16:creationId xmlns:a16="http://schemas.microsoft.com/office/drawing/2014/main" id="{FCB8EF7A-96DA-408F-8878-1EDAC925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空白</a:t>
            </a:r>
          </a:p>
        </p:txBody>
      </p:sp>
      <p:sp>
        <p:nvSpPr>
          <p:cNvPr id="23" name="p07-rd3">
            <a:extLst xmlns:a="http://schemas.openxmlformats.org/drawingml/2006/main">
              <a:ext uri="{FF2B5EF4-FFF2-40B4-BE49-F238E27FC236}">
                <a16:creationId xmlns:a16="http://schemas.microsoft.com/office/drawing/2014/main" id="{0DBDE300-2FF2-4D95-BF7A-D686F93A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100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当前地图没有直接回答材料</a:t>
            </a:r>
          </a:p>
        </p:txBody>
      </p:sp>
      <p:sp>
        <p:nvSpPr>
          <p:cNvPr id="24" name="p07-bottom">
            <a:extLst xmlns:a="http://schemas.openxmlformats.org/drawingml/2006/main">
              <a:ext uri="{FF2B5EF4-FFF2-40B4-BE49-F238E27FC236}">
                <a16:creationId xmlns:a16="http://schemas.microsoft.com/office/drawing/2014/main" id="{1DF157B1-FDE2-4046-A648-98808CBE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对比证据不自动等于冲突；探索线索不进入主格。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研究空白三类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n0">
            <a:extLst xmlns:a="http://schemas.openxmlformats.org/drawingml/2006/main">
              <a:ext uri="{FF2B5EF4-FFF2-40B4-BE49-F238E27FC236}">
                <a16:creationId xmlns:a16="http://schemas.microsoft.com/office/drawing/2014/main" id="{A0AE979C-643F-4698-886A-F83B2550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08-h0">
            <a:extLst xmlns:a="http://schemas.openxmlformats.org/drawingml/2006/main">
              <a:ext uri="{FF2B5EF4-FFF2-40B4-BE49-F238E27FC236}">
                <a16:creationId xmlns:a16="http://schemas.microsoft.com/office/drawing/2014/main" id="{ECDA0E33-CC4A-4A92-8BBE-84EF2E5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95375"/>
            <a:ext cx="2333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冲突空白</a:t>
            </a:r>
          </a:p>
        </p:txBody>
      </p:sp>
      <p:sp>
        <p:nvSpPr>
          <p:cNvPr id="8" name="p08-d0">
            <a:extLst xmlns:a="http://schemas.openxmlformats.org/drawingml/2006/main">
              <a:ext uri="{FF2B5EF4-FFF2-40B4-BE49-F238E27FC236}">
                <a16:creationId xmlns:a16="http://schemas.microsoft.com/office/drawing/2014/main" id="{CE9C545F-30A6-4E40-90EA-81B28F88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95375"/>
            <a:ext cx="476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可比条件下结论相反，差异未解释</a:t>
            </a:r>
          </a:p>
        </p:txBody>
      </p:sp>
      <p:sp>
        <p:nvSpPr>
          <p:cNvPr id="9" name="p08-c0">
            <a:extLst xmlns:a="http://schemas.openxmlformats.org/drawingml/2006/main">
              <a:ext uri="{FF2B5EF4-FFF2-40B4-BE49-F238E27FC236}">
                <a16:creationId xmlns:a16="http://schemas.microsoft.com/office/drawing/2014/main" id="{EA2ABB7F-33C1-4FEC-B47A-1C54222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095375"/>
            <a:ext cx="26193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先核对任务、指标、样本</a:t>
            </a:r>
          </a:p>
        </p:txBody>
      </p:sp>
      <p:sp>
        <p:nvSpPr>
          <p:cNvPr id="10" name="p08-n1">
            <a:extLst xmlns:a="http://schemas.openxmlformats.org/drawingml/2006/main">
              <a:ext uri="{FF2B5EF4-FFF2-40B4-BE49-F238E27FC236}">
                <a16:creationId xmlns:a16="http://schemas.microsoft.com/office/drawing/2014/main" id="{02A4BDA7-FE1D-499A-9C79-E69A1D64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95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p08-h1">
            <a:extLst xmlns:a="http://schemas.openxmlformats.org/drawingml/2006/main">
              <a:ext uri="{FF2B5EF4-FFF2-40B4-BE49-F238E27FC236}">
                <a16:creationId xmlns:a16="http://schemas.microsoft.com/office/drawing/2014/main" id="{25BD41E6-942B-4032-9AD5-1A3DE8F4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2333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6C12"/>
                </a:solidFill>
              </a:defRPr>
            </a:pPr>
            <a:r>
              <a:rPr sz="18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缺角空白</a:t>
            </a:r>
          </a:p>
        </p:txBody>
      </p:sp>
      <p:sp>
        <p:nvSpPr>
          <p:cNvPr id="12" name="p08-d1">
            <a:extLst xmlns:a="http://schemas.openxmlformats.org/drawingml/2006/main">
              <a:ext uri="{FF2B5EF4-FFF2-40B4-BE49-F238E27FC236}">
                <a16:creationId xmlns:a16="http://schemas.microsoft.com/office/drawing/2014/main" id="{3F81BB08-55D2-40D2-B6E7-ECFF3055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476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某子问题整列空白，邻近条件已有材料</a:t>
            </a:r>
          </a:p>
        </p:txBody>
      </p:sp>
      <p:sp>
        <p:nvSpPr>
          <p:cNvPr id="13" name="p08-c1">
            <a:extLst xmlns:a="http://schemas.openxmlformats.org/drawingml/2006/main">
              <a:ext uri="{FF2B5EF4-FFF2-40B4-BE49-F238E27FC236}">
                <a16:creationId xmlns:a16="http://schemas.microsoft.com/office/drawing/2014/main" id="{1F1C4309-4B0C-4678-9099-9AB1CBDA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6193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先做窄检索</a:t>
            </a:r>
          </a:p>
        </p:txBody>
      </p:sp>
      <p:sp>
        <p:nvSpPr>
          <p:cNvPr id="14" name="p08-n2">
            <a:extLst xmlns:a="http://schemas.openxmlformats.org/drawingml/2006/main">
              <a:ext uri="{FF2B5EF4-FFF2-40B4-BE49-F238E27FC236}">
                <a16:creationId xmlns:a16="http://schemas.microsoft.com/office/drawing/2014/main" id="{A8E52D07-E9BE-4F7C-8510-1D628620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p08-h2">
            <a:extLst xmlns:a="http://schemas.openxmlformats.org/drawingml/2006/main">
              <a:ext uri="{FF2B5EF4-FFF2-40B4-BE49-F238E27FC236}">
                <a16:creationId xmlns:a16="http://schemas.microsoft.com/office/drawing/2014/main" id="{F696580C-1B01-488C-9689-E4DED165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05225"/>
            <a:ext cx="2333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38A"/>
                </a:solidFill>
              </a:defRPr>
            </a:pPr>
            <a:r>
              <a:rPr sz="180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新问题空白</a:t>
            </a:r>
          </a:p>
        </p:txBody>
      </p:sp>
      <p:sp>
        <p:nvSpPr>
          <p:cNvPr id="16" name="p08-d2">
            <a:extLst xmlns:a="http://schemas.openxmlformats.org/drawingml/2006/main">
              <a:ext uri="{FF2B5EF4-FFF2-40B4-BE49-F238E27FC236}">
                <a16:creationId xmlns:a16="http://schemas.microsoft.com/office/drawing/2014/main" id="{41D97A0E-F412-4505-8431-4AD8DB0E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476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新场景、条件或机制衍生的问题</a:t>
            </a:r>
          </a:p>
        </p:txBody>
      </p:sp>
      <p:sp>
        <p:nvSpPr>
          <p:cNvPr id="17" name="p08-c2">
            <a:extLst xmlns:a="http://schemas.openxmlformats.org/drawingml/2006/main">
              <a:ext uri="{FF2B5EF4-FFF2-40B4-BE49-F238E27FC236}">
                <a16:creationId xmlns:a16="http://schemas.microsoft.com/office/drawing/2014/main" id="{34064687-4369-44D1-BF0F-E9B444E1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05225"/>
            <a:ext cx="26193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仍需可证伪</a:t>
            </a:r>
          </a:p>
        </p:txBody>
      </p:sp>
      <p:sp>
        <p:nvSpPr>
          <p:cNvPr id="18" name="p08-bottom">
            <a:extLst xmlns:a="http://schemas.openxmlformats.org/drawingml/2006/main">
              <a:ext uri="{FF2B5EF4-FFF2-40B4-BE49-F238E27FC236}">
                <a16:creationId xmlns:a16="http://schemas.microsoft.com/office/drawing/2014/main" id="{8DE65586-97EA-4C62-BB3C-03BA90EE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“还没有论文写过”不是空白证明，只是待核验的候选表述。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三步检验：从证据空白到可检验问题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n0">
            <a:extLst xmlns:a="http://schemas.openxmlformats.org/drawingml/2006/main">
              <a:ext uri="{FF2B5EF4-FFF2-40B4-BE49-F238E27FC236}">
                <a16:creationId xmlns:a16="http://schemas.microsoft.com/office/drawing/2014/main" id="{FA3B5558-25EA-452F-9E27-50FEE1C9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09-h0">
            <a:extLst xmlns:a="http://schemas.openxmlformats.org/drawingml/2006/main">
              <a:ext uri="{FF2B5EF4-FFF2-40B4-BE49-F238E27FC236}">
                <a16:creationId xmlns:a16="http://schemas.microsoft.com/office/drawing/2014/main" id="{296D5522-420C-4AFC-B175-6A6B6268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38A"/>
                </a:solidFill>
              </a:defRPr>
            </a:pPr>
            <a:r>
              <a:rPr sz="19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真实性</a:t>
            </a:r>
          </a:p>
        </p:txBody>
      </p:sp>
      <p:sp>
        <p:nvSpPr>
          <p:cNvPr id="8" name="p09-d0">
            <a:extLst xmlns:a="http://schemas.openxmlformats.org/drawingml/2006/main">
              <a:ext uri="{FF2B5EF4-FFF2-40B4-BE49-F238E27FC236}">
                <a16:creationId xmlns:a16="http://schemas.microsoft.com/office/drawing/2014/main" id="{E91FA4CC-BECC-4037-86A7-5194F93B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窄检索：式 / 库 / 日期 / 命中 / 筛选</a:t>
            </a:r>
          </a:p>
        </p:txBody>
      </p:sp>
      <p:sp>
        <p:nvSpPr>
          <p:cNvPr id="9" name="p09-a0">
            <a:extLst xmlns:a="http://schemas.openxmlformats.org/drawingml/2006/main">
              <a:ext uri="{FF2B5EF4-FFF2-40B4-BE49-F238E27FC236}">
                <a16:creationId xmlns:a16="http://schemas.microsoft.com/office/drawing/2014/main" id="{A23905ED-DD3C-4010-AE67-34A89CE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193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09-n1">
            <a:extLst xmlns:a="http://schemas.openxmlformats.org/drawingml/2006/main">
              <a:ext uri="{FF2B5EF4-FFF2-40B4-BE49-F238E27FC236}">
                <a16:creationId xmlns:a16="http://schemas.microsoft.com/office/drawing/2014/main" id="{962C97FC-F5CF-48DC-B385-A15A7F34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525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p09-h1">
            <a:extLst xmlns:a="http://schemas.openxmlformats.org/drawingml/2006/main">
              <a:ext uri="{FF2B5EF4-FFF2-40B4-BE49-F238E27FC236}">
                <a16:creationId xmlns:a16="http://schemas.microsoft.com/office/drawing/2014/main" id="{FFD5A8E6-1B3E-4761-BDB2-2573D24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257300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86C12"/>
                </a:solidFill>
              </a:defRPr>
            </a:pPr>
            <a:r>
              <a:rPr sz="19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重要性</a:t>
            </a:r>
          </a:p>
        </p:txBody>
      </p:sp>
      <p:sp>
        <p:nvSpPr>
          <p:cNvPr id="12" name="p09-d1">
            <a:extLst xmlns:a="http://schemas.openxmlformats.org/drawingml/2006/main">
              <a:ext uri="{FF2B5EF4-FFF2-40B4-BE49-F238E27FC236}">
                <a16:creationId xmlns:a16="http://schemas.microsoft.com/office/drawing/2014/main" id="{CA83D086-0227-420F-9210-26925151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4312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若不回答，哪条主张或机制无法成立？</a:t>
            </a:r>
          </a:p>
        </p:txBody>
      </p:sp>
      <p:sp>
        <p:nvSpPr>
          <p:cNvPr id="13" name="p09-a1">
            <a:extLst xmlns:a="http://schemas.openxmlformats.org/drawingml/2006/main">
              <a:ext uri="{FF2B5EF4-FFF2-40B4-BE49-F238E27FC236}">
                <a16:creationId xmlns:a16="http://schemas.microsoft.com/office/drawing/2014/main" id="{701B0C5B-DD53-4298-9EC9-2789D4DA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193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p09-n2">
            <a:extLst xmlns:a="http://schemas.openxmlformats.org/drawingml/2006/main">
              <a:ext uri="{FF2B5EF4-FFF2-40B4-BE49-F238E27FC236}">
                <a16:creationId xmlns:a16="http://schemas.microsoft.com/office/drawing/2014/main" id="{C5DF82C1-5383-456E-8C9E-BB1C900D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525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p09-h2">
            <a:extLst xmlns:a="http://schemas.openxmlformats.org/drawingml/2006/main">
              <a:ext uri="{FF2B5EF4-FFF2-40B4-BE49-F238E27FC236}">
                <a16:creationId xmlns:a16="http://schemas.microsoft.com/office/drawing/2014/main" id="{D5D140DC-FAE2-4F97-9BDF-7E98248F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57300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745A"/>
                </a:solidFill>
              </a:defRPr>
            </a:pPr>
            <a:r>
              <a:rPr sz="19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可行性</a:t>
            </a:r>
          </a:p>
        </p:txBody>
      </p:sp>
      <p:sp>
        <p:nvSpPr>
          <p:cNvPr id="16" name="p09-d2">
            <a:extLst xmlns:a="http://schemas.openxmlformats.org/drawingml/2006/main">
              <a:ext uri="{FF2B5EF4-FFF2-40B4-BE49-F238E27FC236}">
                <a16:creationId xmlns:a16="http://schemas.microsoft.com/office/drawing/2014/main" id="{38DC5654-5BA6-460A-B5BC-4A5C67F8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课程周期内能否做最小实验、对照或分析？</a:t>
            </a:r>
          </a:p>
        </p:txBody>
      </p:sp>
      <p:sp>
        <p:nvSpPr>
          <p:cNvPr id="17" name="p09-pass">
            <a:extLst xmlns:a="http://schemas.openxmlformats.org/drawingml/2006/main">
              <a:ext uri="{FF2B5EF4-FFF2-40B4-BE49-F238E27FC236}">
                <a16:creationId xmlns:a16="http://schemas.microsoft.com/office/drawing/2014/main" id="{58051F33-6256-4DD0-8CD1-37BEA5EC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76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28745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45A"/>
                </a:solidFill>
              </a:defRPr>
            </a:pPr>
            <a:r>
              <a:rPr sz="18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三步均有记录 → 进入第 6 课继续收敛</a:t>
            </a:r>
          </a:p>
        </p:txBody>
      </p:sp>
      <p:sp>
        <p:nvSpPr>
          <p:cNvPr id="18" name="p09-back">
            <a:extLst xmlns:a="http://schemas.openxmlformats.org/drawingml/2006/main">
              <a:ext uri="{FF2B5EF4-FFF2-40B4-BE49-F238E27FC236}">
                <a16:creationId xmlns:a16="http://schemas.microsoft.com/office/drawing/2014/main" id="{4B6AFBEF-CC9F-4B85-8883-06E9F1F2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476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任一步不足 → 回到检索、证据或范围</a:t>
            </a:r>
          </a:p>
        </p:txBody>
      </p:sp>
      <p:sp>
        <p:nvSpPr>
          <p:cNvPr id="19" name="p09-bottom">
            <a:extLst xmlns:a="http://schemas.openxmlformats.org/drawingml/2006/main">
              <a:ext uri="{FF2B5EF4-FFF2-40B4-BE49-F238E27FC236}">
                <a16:creationId xmlns:a16="http://schemas.microsoft.com/office/drawing/2014/main" id="{1EC34C26-9CBE-4C8C-809F-5B3DEC7A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不要把“我没找到”升级为“领域没人做过”。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不是空白的情况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a0">
            <a:extLst xmlns:a="http://schemas.openxmlformats.org/drawingml/2006/main">
              <a:ext uri="{FF2B5EF4-FFF2-40B4-BE49-F238E27FC236}">
                <a16:creationId xmlns:a16="http://schemas.microsoft.com/office/drawing/2014/main" id="{663AD520-2AFD-4B1D-AB08-3326A325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表述差异</a:t>
            </a:r>
          </a:p>
        </p:txBody>
      </p:sp>
      <p:sp>
        <p:nvSpPr>
          <p:cNvPr id="7" name="p10-arr0">
            <a:extLst xmlns:a="http://schemas.openxmlformats.org/drawingml/2006/main">
              <a:ext uri="{FF2B5EF4-FFF2-40B4-BE49-F238E27FC236}">
                <a16:creationId xmlns:a16="http://schemas.microsoft.com/office/drawing/2014/main" id="{F52017BC-B9A1-46E1-BD05-84B83853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38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10-b0">
            <a:extLst xmlns:a="http://schemas.openxmlformats.org/drawingml/2006/main">
              <a:ext uri="{FF2B5EF4-FFF2-40B4-BE49-F238E27FC236}">
                <a16:creationId xmlns:a16="http://schemas.microsoft.com/office/drawing/2014/main" id="{E9D36EAB-4B77-4956-9990-A25539B8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23950"/>
            <a:ext cx="666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术语不同，但操作定义相同</a:t>
            </a:r>
          </a:p>
        </p:txBody>
      </p:sp>
      <p:sp>
        <p:nvSpPr>
          <p:cNvPr id="9" name="p10-a1">
            <a:extLst xmlns:a="http://schemas.openxmlformats.org/drawingml/2006/main">
              <a:ext uri="{FF2B5EF4-FFF2-40B4-BE49-F238E27FC236}">
                <a16:creationId xmlns:a16="http://schemas.microsoft.com/office/drawing/2014/main" id="{5827CD6C-38DA-4D9C-9AB5-184FBDC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范围差异</a:t>
            </a:r>
          </a:p>
        </p:txBody>
      </p:sp>
      <p:sp>
        <p:nvSpPr>
          <p:cNvPr id="10" name="p10-arr1">
            <a:extLst xmlns:a="http://schemas.openxmlformats.org/drawingml/2006/main">
              <a:ext uri="{FF2B5EF4-FFF2-40B4-BE49-F238E27FC236}">
                <a16:creationId xmlns:a16="http://schemas.microsoft.com/office/drawing/2014/main" id="{F77C91FB-7175-43AA-B0A9-B5987E4C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193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10-b1">
            <a:extLst xmlns:a="http://schemas.openxmlformats.org/drawingml/2006/main">
              <a:ext uri="{FF2B5EF4-FFF2-40B4-BE49-F238E27FC236}">
                <a16:creationId xmlns:a16="http://schemas.microsoft.com/office/drawing/2014/main" id="{D0C0CD5A-6FAF-4295-8D79-65837B86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05025"/>
            <a:ext cx="666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数据集或任务不同，结论不可比</a:t>
            </a:r>
          </a:p>
        </p:txBody>
      </p:sp>
      <p:sp>
        <p:nvSpPr>
          <p:cNvPr id="12" name="p10-a2">
            <a:extLst xmlns:a="http://schemas.openxmlformats.org/drawingml/2006/main">
              <a:ext uri="{FF2B5EF4-FFF2-40B4-BE49-F238E27FC236}">
                <a16:creationId xmlns:a16="http://schemas.microsoft.com/office/drawing/2014/main" id="{7E1886B2-DD1B-47D7-AC8D-F42BCD49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工程未做</a:t>
            </a:r>
          </a:p>
        </p:txBody>
      </p:sp>
      <p:sp>
        <p:nvSpPr>
          <p:cNvPr id="13" name="p10-arr2">
            <a:extLst xmlns:a="http://schemas.openxmlformats.org/drawingml/2006/main">
              <a:ext uri="{FF2B5EF4-FFF2-40B4-BE49-F238E27FC236}">
                <a16:creationId xmlns:a16="http://schemas.microsoft.com/office/drawing/2014/main" id="{B43A08C3-56E3-4AC1-8AA4-E11F9F9E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00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p10-b2">
            <a:extLst xmlns:a="http://schemas.openxmlformats.org/drawingml/2006/main">
              <a:ext uri="{FF2B5EF4-FFF2-40B4-BE49-F238E27FC236}">
                <a16:creationId xmlns:a16="http://schemas.microsoft.com/office/drawing/2014/main" id="{1D584389-C6FF-4CFA-98DF-80E06CB3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666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尚未评测某产品，不一定是机制问题</a:t>
            </a:r>
          </a:p>
        </p:txBody>
      </p:sp>
      <p:sp>
        <p:nvSpPr>
          <p:cNvPr id="15" name="p10-a3">
            <a:extLst xmlns:a="http://schemas.openxmlformats.org/drawingml/2006/main">
              <a:ext uri="{FF2B5EF4-FFF2-40B4-BE49-F238E27FC236}">
                <a16:creationId xmlns:a16="http://schemas.microsoft.com/office/drawing/2014/main" id="{02DB52BB-B4BD-480F-82AB-D41B08AA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新但不重要</a:t>
            </a:r>
          </a:p>
        </p:txBody>
      </p:sp>
      <p:sp>
        <p:nvSpPr>
          <p:cNvPr id="16" name="p10-arr3">
            <a:extLst xmlns:a="http://schemas.openxmlformats.org/drawingml/2006/main">
              <a:ext uri="{FF2B5EF4-FFF2-40B4-BE49-F238E27FC236}">
                <a16:creationId xmlns:a16="http://schemas.microsoft.com/office/drawing/2014/main" id="{8A1A0FA5-BF06-43F1-B9EB-9E17CC4F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p10-b3">
            <a:extLst xmlns:a="http://schemas.openxmlformats.org/drawingml/2006/main">
              <a:ext uri="{FF2B5EF4-FFF2-40B4-BE49-F238E27FC236}">
                <a16:creationId xmlns:a16="http://schemas.microsoft.com/office/drawing/2014/main" id="{A5463FF9-893D-4925-B45C-78C4608A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67175"/>
            <a:ext cx="666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换模型再跑一遍，判断没有改变</a:t>
            </a:r>
          </a:p>
        </p:txBody>
      </p:sp>
      <p:sp>
        <p:nvSpPr>
          <p:cNvPr id="18" name="p10-bottom">
            <a:extLst xmlns:a="http://schemas.openxmlformats.org/drawingml/2006/main">
              <a:ext uri="{FF2B5EF4-FFF2-40B4-BE49-F238E27FC236}">
                <a16:creationId xmlns:a16="http://schemas.microsoft.com/office/drawing/2014/main" id="{665B2915-B0C7-493A-9134-162B39AD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真实空白必须是已有证据不能回答的具体问题。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综述草稿核验清单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n0">
            <a:extLst xmlns:a="http://schemas.openxmlformats.org/drawingml/2006/main">
              <a:ext uri="{FF2B5EF4-FFF2-40B4-BE49-F238E27FC236}">
                <a16:creationId xmlns:a16="http://schemas.microsoft.com/office/drawing/2014/main" id="{DB31C880-9835-425A-BDEF-895A59B9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11-t0">
            <a:extLst xmlns:a="http://schemas.openxmlformats.org/drawingml/2006/main">
              <a:ext uri="{FF2B5EF4-FFF2-40B4-BE49-F238E27FC236}">
                <a16:creationId xmlns:a16="http://schemas.microsoft.com/office/drawing/2014/main" id="{122E4C36-6D9A-4CA2-8334-050B1B1C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71550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引文真实存在，题名 / 作者 / 年份 / DOI 与原文一致？</a:t>
            </a:r>
          </a:p>
        </p:txBody>
      </p:sp>
      <p:sp>
        <p:nvSpPr>
          <p:cNvPr id="8" name="p11-n1">
            <a:extLst xmlns:a="http://schemas.openxmlformats.org/drawingml/2006/main">
              <a:ext uri="{FF2B5EF4-FFF2-40B4-BE49-F238E27FC236}">
                <a16:creationId xmlns:a16="http://schemas.microsoft.com/office/drawing/2014/main" id="{C28DCCE7-EF65-495B-8BEC-035824A8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p11-t1">
            <a:extLst xmlns:a="http://schemas.openxmlformats.org/drawingml/2006/main">
              <a:ext uri="{FF2B5EF4-FFF2-40B4-BE49-F238E27FC236}">
                <a16:creationId xmlns:a16="http://schemas.microsoft.com/office/drawing/2014/main" id="{D845596F-8E3E-4A14-A8E8-ECCB020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“共同主张”真的出现在每条引用原文中？</a:t>
            </a:r>
          </a:p>
        </p:txBody>
      </p:sp>
      <p:sp>
        <p:nvSpPr>
          <p:cNvPr id="10" name="p11-n2">
            <a:extLst xmlns:a="http://schemas.openxmlformats.org/drawingml/2006/main">
              <a:ext uri="{FF2B5EF4-FFF2-40B4-BE49-F238E27FC236}">
                <a16:creationId xmlns:a16="http://schemas.microsoft.com/office/drawing/2014/main" id="{CC1C844D-1DFD-466E-960F-E3F72C71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p11-t2">
            <a:extLst xmlns:a="http://schemas.openxmlformats.org/drawingml/2006/main">
              <a:ext uri="{FF2B5EF4-FFF2-40B4-BE49-F238E27FC236}">
                <a16:creationId xmlns:a16="http://schemas.microsoft.com/office/drawing/2014/main" id="{1B1E44C6-3BBF-475D-9466-8EBCDB87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“冲突”来自可比结论，还是任务设置不同？</a:t>
            </a:r>
          </a:p>
        </p:txBody>
      </p:sp>
      <p:sp>
        <p:nvSpPr>
          <p:cNvPr id="12" name="p11-n3">
            <a:extLst xmlns:a="http://schemas.openxmlformats.org/drawingml/2006/main">
              <a:ext uri="{FF2B5EF4-FFF2-40B4-BE49-F238E27FC236}">
                <a16:creationId xmlns:a16="http://schemas.microsoft.com/office/drawing/2014/main" id="{BC0F14E4-8122-4EA8-8F79-F273C5C4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p11-t3">
            <a:extLst xmlns:a="http://schemas.openxmlformats.org/drawingml/2006/main">
              <a:ext uri="{FF2B5EF4-FFF2-40B4-BE49-F238E27FC236}">
                <a16:creationId xmlns:a16="http://schemas.microsoft.com/office/drawing/2014/main" id="{2BC4BD1F-8168-4C1E-890C-151D63B4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“缺角”经过窄检索确认，还是只凭当前列表？</a:t>
            </a:r>
          </a:p>
        </p:txBody>
      </p:sp>
      <p:sp>
        <p:nvSpPr>
          <p:cNvPr id="14" name="p11-n4">
            <a:extLst xmlns:a="http://schemas.openxmlformats.org/drawingml/2006/main">
              <a:ext uri="{FF2B5EF4-FFF2-40B4-BE49-F238E27FC236}">
                <a16:creationId xmlns:a16="http://schemas.microsoft.com/office/drawing/2014/main" id="{2073F7E0-A4D8-4FA2-BB4B-D9504E37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p11-t4">
            <a:extLst xmlns:a="http://schemas.openxmlformats.org/drawingml/2006/main">
              <a:ext uri="{FF2B5EF4-FFF2-40B4-BE49-F238E27FC236}">
                <a16:creationId xmlns:a16="http://schemas.microsoft.com/office/drawing/2014/main" id="{0397A502-297B-4E69-9006-62FB885F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综述段落是否把模型推断写成原文结论？</a:t>
            </a:r>
          </a:p>
        </p:txBody>
      </p:sp>
      <p:sp>
        <p:nvSpPr>
          <p:cNvPr id="16" name="p11-status-h">
            <a:extLst xmlns:a="http://schemas.openxmlformats.org/drawingml/2006/main">
              <a:ext uri="{FF2B5EF4-FFF2-40B4-BE49-F238E27FC236}">
                <a16:creationId xmlns:a16="http://schemas.microsoft.com/office/drawing/2014/main" id="{D6CD9A31-45C1-43C8-ABF1-0E709FE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0668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核验状态</a:t>
            </a:r>
          </a:p>
        </p:txBody>
      </p:sp>
      <p:sp>
        <p:nvSpPr>
          <p:cNvPr id="17" name="p11-s0">
            <a:extLst xmlns:a="http://schemas.openxmlformats.org/drawingml/2006/main">
              <a:ext uri="{FF2B5EF4-FFF2-40B4-BE49-F238E27FC236}">
                <a16:creationId xmlns:a16="http://schemas.microsoft.com/office/drawing/2014/main" id="{46F85B35-058D-4603-A255-1FC72670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18" name="p11-s1">
            <a:extLst xmlns:a="http://schemas.openxmlformats.org/drawingml/2006/main">
              <a:ext uri="{FF2B5EF4-FFF2-40B4-BE49-F238E27FC236}">
                <a16:creationId xmlns:a16="http://schemas.microsoft.com/office/drawing/2014/main" id="{34E342C3-B960-4DED-BB3C-3E042BD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19" name="p11-s2">
            <a:extLst xmlns:a="http://schemas.openxmlformats.org/drawingml/2006/main">
              <a:ext uri="{FF2B5EF4-FFF2-40B4-BE49-F238E27FC236}">
                <a16:creationId xmlns:a16="http://schemas.microsoft.com/office/drawing/2014/main" id="{87BB89E8-9F81-48EF-929B-6C568B6F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38A"/>
                </a:solidFill>
              </a:defRPr>
            </a:pPr>
            <a:r>
              <a:rPr sz="13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with caveat</a:t>
            </a:r>
          </a:p>
        </p:txBody>
      </p:sp>
      <p:sp>
        <p:nvSpPr>
          <p:cNvPr id="20" name="p11-s3">
            <a:extLst xmlns:a="http://schemas.openxmlformats.org/drawingml/2006/main">
              <a:ext uri="{FF2B5EF4-FFF2-40B4-BE49-F238E27FC236}">
                <a16:creationId xmlns:a16="http://schemas.microsoft.com/office/drawing/2014/main" id="{C4DE3A6D-032A-448D-A84A-7009324A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rejected</a:t>
            </a:r>
          </a:p>
        </p:txBody>
      </p:sp>
      <p:sp>
        <p:nvSpPr>
          <p:cNvPr id="21" name="p11-bottom">
            <a:extLst xmlns:a="http://schemas.openxmlformats.org/drawingml/2006/main">
              <a:ext uri="{FF2B5EF4-FFF2-40B4-BE49-F238E27FC236}">
                <a16:creationId xmlns:a16="http://schemas.microsoft.com/office/drawing/2014/main" id="{0421C27F-95CF-41C9-99C7-B4A0B5B9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未完成核验前，AI 产出只留在线索区。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演示：5 张阅读卡进入相关工作矩阵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virtual">
            <a:extLst xmlns:a="http://schemas.openxmlformats.org/drawingml/2006/main">
              <a:ext uri="{FF2B5EF4-FFF2-40B4-BE49-F238E27FC236}">
                <a16:creationId xmlns:a16="http://schemas.microsoft.com/office/drawing/2014/main" id="{EEAC541F-1C9C-4308-BA1C-197D9F07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6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虚构教学样例｜非真实论文、检索或实证证据</a:t>
            </a:r>
          </a:p>
        </p:txBody>
      </p:sp>
      <p:sp>
        <p:nvSpPr>
          <p:cNvPr id="7" name="p12-question">
            <a:extLst xmlns:a="http://schemas.openxmlformats.org/drawingml/2006/main">
              <a:ext uri="{FF2B5EF4-FFF2-40B4-BE49-F238E27FC236}">
                <a16:creationId xmlns:a16="http://schemas.microsoft.com/office/drawing/2014/main" id="{090C166A-A0C6-4F8F-8C0A-0AFB6741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问题：结构化阅读卡是否降低 AI 摘要的限定条件遗漏？</a:t>
            </a:r>
          </a:p>
        </p:txBody>
      </p:sp>
      <p:sp>
        <p:nvSpPr>
          <p:cNvPr id="8" name="p12-c0">
            <a:extLst xmlns:a="http://schemas.openxmlformats.org/drawingml/2006/main">
              <a:ext uri="{FF2B5EF4-FFF2-40B4-BE49-F238E27FC236}">
                <a16:creationId xmlns:a16="http://schemas.microsoft.com/office/drawing/2014/main" id="{E8C3D66B-8423-4055-887C-8B305BC4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9" name="p12-ct0">
            <a:extLst xmlns:a="http://schemas.openxmlformats.org/drawingml/2006/main">
              <a:ext uri="{FF2B5EF4-FFF2-40B4-BE49-F238E27FC236}">
                <a16:creationId xmlns:a16="http://schemas.microsoft.com/office/drawing/2014/main" id="{092AF625-EAD9-4A68-BC4D-49BC4A39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3143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直接回答 a、b</a:t>
            </a:r>
          </a:p>
        </p:txBody>
      </p:sp>
      <p:sp>
        <p:nvSpPr>
          <p:cNvPr id="10" name="p12-c1">
            <a:extLst xmlns:a="http://schemas.openxmlformats.org/drawingml/2006/main">
              <a:ext uri="{FF2B5EF4-FFF2-40B4-BE49-F238E27FC236}">
                <a16:creationId xmlns:a16="http://schemas.microsoft.com/office/drawing/2014/main" id="{3A0E8755-0F08-47CA-8F22-EE67C610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1" name="p12-ct1">
            <a:extLst xmlns:a="http://schemas.openxmlformats.org/drawingml/2006/main">
              <a:ext uri="{FF2B5EF4-FFF2-40B4-BE49-F238E27FC236}">
                <a16:creationId xmlns:a16="http://schemas.microsoft.com/office/drawing/2014/main" id="{E676A2F2-D861-4F05-B4E3-9C89CBD0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3143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部分回答 a</a:t>
            </a:r>
          </a:p>
        </p:txBody>
      </p:sp>
      <p:sp>
        <p:nvSpPr>
          <p:cNvPr id="12" name="p12-c2">
            <a:extLst xmlns:a="http://schemas.openxmlformats.org/drawingml/2006/main">
              <a:ext uri="{FF2B5EF4-FFF2-40B4-BE49-F238E27FC236}">
                <a16:creationId xmlns:a16="http://schemas.microsoft.com/office/drawing/2014/main" id="{CCD46096-690A-44EE-AD4A-552B7BF7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3" name="p12-ct2">
            <a:extLst xmlns:a="http://schemas.openxmlformats.org/drawingml/2006/main">
              <a:ext uri="{FF2B5EF4-FFF2-40B4-BE49-F238E27FC236}">
                <a16:creationId xmlns:a16="http://schemas.microsoft.com/office/drawing/2014/main" id="{F3C1814C-7B17-4E00-84EC-53760677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3143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EBF4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任务不同，不可比</a:t>
            </a:r>
          </a:p>
        </p:txBody>
      </p:sp>
      <p:sp>
        <p:nvSpPr>
          <p:cNvPr id="14" name="p12-c3">
            <a:extLst xmlns:a="http://schemas.openxmlformats.org/drawingml/2006/main">
              <a:ext uri="{FF2B5EF4-FFF2-40B4-BE49-F238E27FC236}">
                <a16:creationId xmlns:a16="http://schemas.microsoft.com/office/drawing/2014/main" id="{28217CCF-879A-45CB-9C30-4579E1CB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5" name="p12-ct3">
            <a:extLst xmlns:a="http://schemas.openxmlformats.org/drawingml/2006/main">
              <a:ext uri="{FF2B5EF4-FFF2-40B4-BE49-F238E27FC236}">
                <a16:creationId xmlns:a16="http://schemas.microsoft.com/office/drawing/2014/main" id="{4D4E92C9-42E8-4C80-82EE-777988CC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3143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可比条件下相反</a:t>
            </a:r>
          </a:p>
        </p:txBody>
      </p:sp>
      <p:sp>
        <p:nvSpPr>
          <p:cNvPr id="16" name="p12-c4">
            <a:extLst xmlns:a="http://schemas.openxmlformats.org/drawingml/2006/main">
              <a:ext uri="{FF2B5EF4-FFF2-40B4-BE49-F238E27FC236}">
                <a16:creationId xmlns:a16="http://schemas.microsoft.com/office/drawing/2014/main" id="{D432F7B2-8773-4AAB-AA4B-329A211C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17" name="p12-ct4">
            <a:extLst xmlns:a="http://schemas.openxmlformats.org/drawingml/2006/main">
              <a:ext uri="{FF2B5EF4-FFF2-40B4-BE49-F238E27FC236}">
                <a16:creationId xmlns:a16="http://schemas.microsoft.com/office/drawing/2014/main" id="{F8F4530E-DF93-420A-B8C2-180ECF87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3143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子问题 c 无材料</a:t>
            </a:r>
          </a:p>
        </p:txBody>
      </p:sp>
      <p:sp>
        <p:nvSpPr>
          <p:cNvPr id="18" name="p12-main-arrow">
            <a:extLst xmlns:a="http://schemas.openxmlformats.org/drawingml/2006/main">
              <a:ext uri="{FF2B5EF4-FFF2-40B4-BE49-F238E27FC236}">
                <a16:creationId xmlns:a16="http://schemas.microsoft.com/office/drawing/2014/main" id="{5289A1F5-2448-4972-8CD7-145CF8DC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p12-matrix-h-0">
            <a:extLst xmlns:a="http://schemas.openxmlformats.org/drawingml/2006/main">
              <a:ext uri="{FF2B5EF4-FFF2-40B4-BE49-F238E27FC236}">
                <a16:creationId xmlns:a16="http://schemas.microsoft.com/office/drawing/2014/main" id="{664DFF50-68AB-4C82-8459-07D2C02F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20" name="p12-matrix-h-1">
            <a:extLst xmlns:a="http://schemas.openxmlformats.org/drawingml/2006/main">
              <a:ext uri="{FF2B5EF4-FFF2-40B4-BE49-F238E27FC236}">
                <a16:creationId xmlns:a16="http://schemas.microsoft.com/office/drawing/2014/main" id="{3B4E3068-2C33-495C-B8A6-27DA9F32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定位</a:t>
            </a:r>
          </a:p>
        </p:txBody>
      </p:sp>
      <p:sp>
        <p:nvSpPr>
          <p:cNvPr id="21" name="p12-matrix-h-2">
            <a:extLst xmlns:a="http://schemas.openxmlformats.org/drawingml/2006/main">
              <a:ext uri="{FF2B5EF4-FFF2-40B4-BE49-F238E27FC236}">
                <a16:creationId xmlns:a16="http://schemas.microsoft.com/office/drawing/2014/main" id="{3CFA7147-EAB8-4957-A13C-101D24BA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定义</a:t>
            </a:r>
          </a:p>
        </p:txBody>
      </p:sp>
      <p:sp>
        <p:nvSpPr>
          <p:cNvPr id="22" name="p12-matrix-h-3">
            <a:extLst xmlns:a="http://schemas.openxmlformats.org/drawingml/2006/main">
              <a:ext uri="{FF2B5EF4-FFF2-40B4-BE49-F238E27FC236}">
                <a16:creationId xmlns:a16="http://schemas.microsoft.com/office/drawing/2014/main" id="{A46F3DCC-87F2-41D4-A591-F7853536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764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对照</a:t>
            </a:r>
          </a:p>
        </p:txBody>
      </p:sp>
      <p:sp>
        <p:nvSpPr>
          <p:cNvPr id="23" name="p12-matrix-r0-0">
            <a:extLst xmlns:a="http://schemas.openxmlformats.org/drawingml/2006/main">
              <a:ext uri="{FF2B5EF4-FFF2-40B4-BE49-F238E27FC236}">
                <a16:creationId xmlns:a16="http://schemas.microsoft.com/office/drawing/2014/main" id="{0C4A9DE9-19EB-42C8-BCC8-A72F3B3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952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4" name="p12-matrix-r0-1">
            <a:extLst xmlns:a="http://schemas.openxmlformats.org/drawingml/2006/main">
              <a:ext uri="{FF2B5EF4-FFF2-40B4-BE49-F238E27FC236}">
                <a16:creationId xmlns:a16="http://schemas.microsoft.com/office/drawing/2014/main" id="{4D9722A4-6F93-4044-85BD-49AD47B0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5" name="p12-matrix-r0-2">
            <a:extLst xmlns:a="http://schemas.openxmlformats.org/drawingml/2006/main">
              <a:ext uri="{FF2B5EF4-FFF2-40B4-BE49-F238E27FC236}">
                <a16:creationId xmlns:a16="http://schemas.microsoft.com/office/drawing/2014/main" id="{857C1593-1F08-4006-82E0-72B28FED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6" name="p12-matrix-r0-3">
            <a:extLst xmlns:a="http://schemas.openxmlformats.org/drawingml/2006/main">
              <a:ext uri="{FF2B5EF4-FFF2-40B4-BE49-F238E27FC236}">
                <a16:creationId xmlns:a16="http://schemas.microsoft.com/office/drawing/2014/main" id="{9AC2A6B4-D508-4E4E-B729-4742682C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7" name="p12-matrix-r1-0">
            <a:extLst xmlns:a="http://schemas.openxmlformats.org/drawingml/2006/main">
              <a:ext uri="{FF2B5EF4-FFF2-40B4-BE49-F238E27FC236}">
                <a16:creationId xmlns:a16="http://schemas.microsoft.com/office/drawing/2014/main" id="{EB807128-E52F-4B2E-9C9B-CEC89541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19425"/>
            <a:ext cx="952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8" name="p12-matrix-r1-1">
            <a:extLst xmlns:a="http://schemas.openxmlformats.org/drawingml/2006/main">
              <a:ext uri="{FF2B5EF4-FFF2-40B4-BE49-F238E27FC236}">
                <a16:creationId xmlns:a16="http://schemas.microsoft.com/office/drawing/2014/main" id="{C8B9B1A0-47A4-4A34-A582-6773BDA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9" name="p12-matrix-r1-2">
            <a:extLst xmlns:a="http://schemas.openxmlformats.org/drawingml/2006/main">
              <a:ext uri="{FF2B5EF4-FFF2-40B4-BE49-F238E27FC236}">
                <a16:creationId xmlns:a16="http://schemas.microsoft.com/office/drawing/2014/main" id="{3B2BB975-9FE8-40C1-84E2-2630601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0" name="p12-matrix-r1-3">
            <a:extLst xmlns:a="http://schemas.openxmlformats.org/drawingml/2006/main">
              <a:ext uri="{FF2B5EF4-FFF2-40B4-BE49-F238E27FC236}">
                <a16:creationId xmlns:a16="http://schemas.microsoft.com/office/drawing/2014/main" id="{6EECB6D7-96C0-4871-9604-B728D2E3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19425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1" name="p12-matrix-r2-0">
            <a:extLst xmlns:a="http://schemas.openxmlformats.org/drawingml/2006/main">
              <a:ext uri="{FF2B5EF4-FFF2-40B4-BE49-F238E27FC236}">
                <a16:creationId xmlns:a16="http://schemas.microsoft.com/office/drawing/2014/main" id="{50F8AA7E-8FC7-4689-B16A-BABB8F21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62350"/>
            <a:ext cx="952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2" name="p12-matrix-r2-1">
            <a:extLst xmlns:a="http://schemas.openxmlformats.org/drawingml/2006/main">
              <a:ext uri="{FF2B5EF4-FFF2-40B4-BE49-F238E27FC236}">
                <a16:creationId xmlns:a16="http://schemas.microsoft.com/office/drawing/2014/main" id="{3F100E86-5CC6-493D-ADE6-5F6203AD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3" name="p12-matrix-r2-2">
            <a:extLst xmlns:a="http://schemas.openxmlformats.org/drawingml/2006/main">
              <a:ext uri="{FF2B5EF4-FFF2-40B4-BE49-F238E27FC236}">
                <a16:creationId xmlns:a16="http://schemas.microsoft.com/office/drawing/2014/main" id="{3E782BAF-5460-4542-90F8-AA8130BE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34" name="p12-matrix-r2-3">
            <a:extLst xmlns:a="http://schemas.openxmlformats.org/drawingml/2006/main">
              <a:ext uri="{FF2B5EF4-FFF2-40B4-BE49-F238E27FC236}">
                <a16:creationId xmlns:a16="http://schemas.microsoft.com/office/drawing/2014/main" id="{FFEA9AEF-5BD5-4338-A578-5D810988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62350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35" name="p12-matrix-r3-0">
            <a:extLst xmlns:a="http://schemas.openxmlformats.org/drawingml/2006/main">
              <a:ext uri="{FF2B5EF4-FFF2-40B4-BE49-F238E27FC236}">
                <a16:creationId xmlns:a16="http://schemas.microsoft.com/office/drawing/2014/main" id="{D4364395-6971-4060-A3C5-530E0946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05275"/>
            <a:ext cx="952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36" name="p12-matrix-r3-1">
            <a:extLst xmlns:a="http://schemas.openxmlformats.org/drawingml/2006/main">
              <a:ext uri="{FF2B5EF4-FFF2-40B4-BE49-F238E27FC236}">
                <a16:creationId xmlns:a16="http://schemas.microsoft.com/office/drawing/2014/main" id="{2D5519EA-50EE-4431-9777-A311B20B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05275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相反</a:t>
            </a:r>
          </a:p>
        </p:txBody>
      </p:sp>
      <p:sp>
        <p:nvSpPr>
          <p:cNvPr id="37" name="p12-matrix-r3-2">
            <a:extLst xmlns:a="http://schemas.openxmlformats.org/drawingml/2006/main">
              <a:ext uri="{FF2B5EF4-FFF2-40B4-BE49-F238E27FC236}">
                <a16:creationId xmlns:a16="http://schemas.microsoft.com/office/drawing/2014/main" id="{A6FC849F-C5A9-4F44-BDB0-125556B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8" name="p12-matrix-r3-3">
            <a:extLst xmlns:a="http://schemas.openxmlformats.org/drawingml/2006/main">
              <a:ext uri="{FF2B5EF4-FFF2-40B4-BE49-F238E27FC236}">
                <a16:creationId xmlns:a16="http://schemas.microsoft.com/office/drawing/2014/main" id="{DF67A42F-F66A-4225-BE8D-8C374B30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05275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9" name="p12-matrix-r4-0">
            <a:extLst xmlns:a="http://schemas.openxmlformats.org/drawingml/2006/main">
              <a:ext uri="{FF2B5EF4-FFF2-40B4-BE49-F238E27FC236}">
                <a16:creationId xmlns:a16="http://schemas.microsoft.com/office/drawing/2014/main" id="{0F218AE4-FF50-42D5-BB71-40FFEC05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48200"/>
            <a:ext cx="952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40" name="p12-matrix-r4-1">
            <a:extLst xmlns:a="http://schemas.openxmlformats.org/drawingml/2006/main">
              <a:ext uri="{FF2B5EF4-FFF2-40B4-BE49-F238E27FC236}">
                <a16:creationId xmlns:a16="http://schemas.microsoft.com/office/drawing/2014/main" id="{FFAB44D4-0A1E-486C-9846-57F18ED7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1" name="p12-matrix-r4-2">
            <a:extLst xmlns:a="http://schemas.openxmlformats.org/drawingml/2006/main">
              <a:ext uri="{FF2B5EF4-FFF2-40B4-BE49-F238E27FC236}">
                <a16:creationId xmlns:a16="http://schemas.microsoft.com/office/drawing/2014/main" id="{F129DD5B-CBA5-4AED-946A-AE1298FC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2" name="p12-matrix-r4-3">
            <a:extLst xmlns:a="http://schemas.openxmlformats.org/drawingml/2006/main">
              <a:ext uri="{FF2B5EF4-FFF2-40B4-BE49-F238E27FC236}">
                <a16:creationId xmlns:a16="http://schemas.microsoft.com/office/drawing/2014/main" id="{20EB84EE-5E87-4F08-83A5-2C7FBDC4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48200"/>
            <a:ext cx="1809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演示：矩阵进入证据地图与空白检验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virtual">
            <a:extLst xmlns:a="http://schemas.openxmlformats.org/drawingml/2006/main">
              <a:ext uri="{FF2B5EF4-FFF2-40B4-BE49-F238E27FC236}">
                <a16:creationId xmlns:a16="http://schemas.microsoft.com/office/drawing/2014/main" id="{160527B6-CC2D-4A7D-9164-9DBDA1F6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6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虚构教学样例｜非真实论文、检索或实证证据</a:t>
            </a:r>
          </a:p>
        </p:txBody>
      </p:sp>
      <p:sp>
        <p:nvSpPr>
          <p:cNvPr id="7" name="p13-map-h-0">
            <a:extLst xmlns:a="http://schemas.openxmlformats.org/drawingml/2006/main">
              <a:ext uri="{FF2B5EF4-FFF2-40B4-BE49-F238E27FC236}">
                <a16:creationId xmlns:a16="http://schemas.microsoft.com/office/drawing/2014/main" id="{E8C611F8-CAD5-48E2-8F40-2BA9C489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编号</a:t>
            </a:r>
          </a:p>
        </p:txBody>
      </p:sp>
      <p:sp>
        <p:nvSpPr>
          <p:cNvPr id="8" name="p13-map-h-1">
            <a:extLst xmlns:a="http://schemas.openxmlformats.org/drawingml/2006/main">
              <a:ext uri="{FF2B5EF4-FFF2-40B4-BE49-F238E27FC236}">
                <a16:creationId xmlns:a16="http://schemas.microsoft.com/office/drawing/2014/main" id="{B51114D1-49E2-4C77-A023-6E2E7699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9" name="p13-map-h-2">
            <a:extLst xmlns:a="http://schemas.openxmlformats.org/drawingml/2006/main">
              <a:ext uri="{FF2B5EF4-FFF2-40B4-BE49-F238E27FC236}">
                <a16:creationId xmlns:a16="http://schemas.microsoft.com/office/drawing/2014/main" id="{53924E46-2AAF-4EE6-BE91-07A77FC4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28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地图视图 / 角色</a:t>
            </a:r>
          </a:p>
        </p:txBody>
      </p:sp>
      <p:sp>
        <p:nvSpPr>
          <p:cNvPr id="10" name="p13-map-h-3">
            <a:extLst xmlns:a="http://schemas.openxmlformats.org/drawingml/2006/main">
              <a:ext uri="{FF2B5EF4-FFF2-40B4-BE49-F238E27FC236}">
                <a16:creationId xmlns:a16="http://schemas.microsoft.com/office/drawing/2014/main" id="{A963B963-3C20-4B63-8378-3AB3FF3D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边界或状态</a:t>
            </a:r>
          </a:p>
        </p:txBody>
      </p:sp>
      <p:sp>
        <p:nvSpPr>
          <p:cNvPr id="11" name="p13-map-r0-0">
            <a:extLst xmlns:a="http://schemas.openxmlformats.org/drawingml/2006/main">
              <a:ext uri="{FF2B5EF4-FFF2-40B4-BE49-F238E27FC236}">
                <a16:creationId xmlns:a16="http://schemas.microsoft.com/office/drawing/2014/main" id="{5C6568F4-899F-4018-9962-C0F2AC5B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E1</a:t>
            </a:r>
          </a:p>
        </p:txBody>
      </p:sp>
      <p:sp>
        <p:nvSpPr>
          <p:cNvPr id="12" name="p13-map-r0-1">
            <a:extLst xmlns:a="http://schemas.openxmlformats.org/drawingml/2006/main">
              <a:ext uri="{FF2B5EF4-FFF2-40B4-BE49-F238E27FC236}">
                <a16:creationId xmlns:a16="http://schemas.microsoft.com/office/drawing/2014/main" id="{DBFB566B-4DA4-400F-B657-393D0458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p13-map-r0-2">
            <a:extLst xmlns:a="http://schemas.openxmlformats.org/drawingml/2006/main">
              <a:ext uri="{FF2B5EF4-FFF2-40B4-BE49-F238E27FC236}">
                <a16:creationId xmlns:a16="http://schemas.microsoft.com/office/drawing/2014/main" id="{A6DBC55C-2907-4493-BDC4-43FC0C03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288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直接证据</a:t>
            </a:r>
          </a:p>
        </p:txBody>
      </p:sp>
      <p:sp>
        <p:nvSpPr>
          <p:cNvPr id="14" name="p13-map-r0-3">
            <a:extLst xmlns:a="http://schemas.openxmlformats.org/drawingml/2006/main">
              <a:ext uri="{FF2B5EF4-FFF2-40B4-BE49-F238E27FC236}">
                <a16:creationId xmlns:a16="http://schemas.microsoft.com/office/drawing/2014/main" id="{922BC721-A35A-4EE1-B6DB-CBEC5B7E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回答 a、b</a:t>
            </a:r>
          </a:p>
        </p:txBody>
      </p:sp>
      <p:sp>
        <p:nvSpPr>
          <p:cNvPr id="15" name="p13-map-r1-0">
            <a:extLst xmlns:a="http://schemas.openxmlformats.org/drawingml/2006/main">
              <a:ext uri="{FF2B5EF4-FFF2-40B4-BE49-F238E27FC236}">
                <a16:creationId xmlns:a16="http://schemas.microsoft.com/office/drawing/2014/main" id="{D8224D02-3CAB-4419-BE4B-03DC9951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E2</a:t>
            </a:r>
          </a:p>
        </p:txBody>
      </p:sp>
      <p:sp>
        <p:nvSpPr>
          <p:cNvPr id="16" name="p13-map-r1-1">
            <a:extLst xmlns:a="http://schemas.openxmlformats.org/drawingml/2006/main">
              <a:ext uri="{FF2B5EF4-FFF2-40B4-BE49-F238E27FC236}">
                <a16:creationId xmlns:a16="http://schemas.microsoft.com/office/drawing/2014/main" id="{7310F25F-1AD8-444E-9FBD-76AE561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431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p13-map-r1-2">
            <a:extLst xmlns:a="http://schemas.openxmlformats.org/drawingml/2006/main">
              <a:ext uri="{FF2B5EF4-FFF2-40B4-BE49-F238E27FC236}">
                <a16:creationId xmlns:a16="http://schemas.microsoft.com/office/drawing/2014/main" id="{7A8196C5-D25A-4A89-BFC3-6403449E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43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补充证据</a:t>
            </a:r>
          </a:p>
        </p:txBody>
      </p:sp>
      <p:sp>
        <p:nvSpPr>
          <p:cNvPr id="18" name="p13-map-r1-3">
            <a:extLst xmlns:a="http://schemas.openxmlformats.org/drawingml/2006/main">
              <a:ext uri="{FF2B5EF4-FFF2-40B4-BE49-F238E27FC236}">
                <a16:creationId xmlns:a16="http://schemas.microsoft.com/office/drawing/2014/main" id="{DB91061E-EF0F-4ADA-B8FF-DBC25AE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定义不一致</a:t>
            </a:r>
          </a:p>
        </p:txBody>
      </p:sp>
      <p:sp>
        <p:nvSpPr>
          <p:cNvPr id="19" name="p13-map-r2-0">
            <a:extLst xmlns:a="http://schemas.openxmlformats.org/drawingml/2006/main">
              <a:ext uri="{FF2B5EF4-FFF2-40B4-BE49-F238E27FC236}">
                <a16:creationId xmlns:a16="http://schemas.microsoft.com/office/drawing/2014/main" id="{FF2A5EB7-76E3-4037-83A6-FAA148D4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E3</a:t>
            </a:r>
          </a:p>
        </p:txBody>
      </p:sp>
      <p:sp>
        <p:nvSpPr>
          <p:cNvPr id="20" name="p13-map-r2-1">
            <a:extLst xmlns:a="http://schemas.openxmlformats.org/drawingml/2006/main">
              <a:ext uri="{FF2B5EF4-FFF2-40B4-BE49-F238E27FC236}">
                <a16:creationId xmlns:a16="http://schemas.microsoft.com/office/drawing/2014/main" id="{D8B622AD-CBB9-4AAE-8031-48624ED0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p13-map-r2-2">
            <a:extLst xmlns:a="http://schemas.openxmlformats.org/drawingml/2006/main">
              <a:ext uri="{FF2B5EF4-FFF2-40B4-BE49-F238E27FC236}">
                <a16:creationId xmlns:a16="http://schemas.microsoft.com/office/drawing/2014/main" id="{C22B790C-6029-462D-BE18-B3B65C49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对比证据</a:t>
            </a:r>
          </a:p>
        </p:txBody>
      </p:sp>
      <p:sp>
        <p:nvSpPr>
          <p:cNvPr id="22" name="p13-map-r2-3">
            <a:extLst xmlns:a="http://schemas.openxmlformats.org/drawingml/2006/main">
              <a:ext uri="{FF2B5EF4-FFF2-40B4-BE49-F238E27FC236}">
                <a16:creationId xmlns:a16="http://schemas.microsoft.com/office/drawing/2014/main" id="{54FC522B-630D-439B-BAA7-0EC50A44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任务不同，不可比</a:t>
            </a:r>
          </a:p>
        </p:txBody>
      </p:sp>
      <p:sp>
        <p:nvSpPr>
          <p:cNvPr id="23" name="p13-map-r3-0">
            <a:extLst xmlns:a="http://schemas.openxmlformats.org/drawingml/2006/main">
              <a:ext uri="{FF2B5EF4-FFF2-40B4-BE49-F238E27FC236}">
                <a16:creationId xmlns:a16="http://schemas.microsoft.com/office/drawing/2014/main" id="{C07BD114-3E63-46A2-96EB-45E1D60E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E4</a:t>
            </a:r>
          </a:p>
        </p:txBody>
      </p:sp>
      <p:sp>
        <p:nvSpPr>
          <p:cNvPr id="24" name="p13-map-r3-1">
            <a:extLst xmlns:a="http://schemas.openxmlformats.org/drawingml/2006/main">
              <a:ext uri="{FF2B5EF4-FFF2-40B4-BE49-F238E27FC236}">
                <a16:creationId xmlns:a16="http://schemas.microsoft.com/office/drawing/2014/main" id="{D2C14ABD-6A33-49F5-AD2B-9E9BDBFA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5" name="p13-map-r3-2">
            <a:extLst xmlns:a="http://schemas.openxmlformats.org/drawingml/2006/main">
              <a:ext uri="{FF2B5EF4-FFF2-40B4-BE49-F238E27FC236}">
                <a16:creationId xmlns:a16="http://schemas.microsoft.com/office/drawing/2014/main" id="{A8F54DA4-E47D-4135-BE7F-06A63545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26" name="p13-map-r3-3">
            <a:extLst xmlns:a="http://schemas.openxmlformats.org/drawingml/2006/main">
              <a:ext uri="{FF2B5EF4-FFF2-40B4-BE49-F238E27FC236}">
                <a16:creationId xmlns:a16="http://schemas.microsoft.com/office/drawing/2014/main" id="{E7C17E4D-FF45-43B6-9170-49CBD493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与 A 相反，待核条件</a:t>
            </a:r>
          </a:p>
        </p:txBody>
      </p:sp>
      <p:sp>
        <p:nvSpPr>
          <p:cNvPr id="27" name="p13-map-r4-0">
            <a:extLst xmlns:a="http://schemas.openxmlformats.org/drawingml/2006/main">
              <a:ext uri="{FF2B5EF4-FFF2-40B4-BE49-F238E27FC236}">
                <a16:creationId xmlns:a16="http://schemas.microsoft.com/office/drawing/2014/main" id="{DC347340-58E9-4802-997B-FDD4D233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G1</a:t>
            </a:r>
          </a:p>
        </p:txBody>
      </p:sp>
      <p:sp>
        <p:nvSpPr>
          <p:cNvPr id="28" name="p13-map-r4-1">
            <a:extLst xmlns:a="http://schemas.openxmlformats.org/drawingml/2006/main">
              <a:ext uri="{FF2B5EF4-FFF2-40B4-BE49-F238E27FC236}">
                <a16:creationId xmlns:a16="http://schemas.microsoft.com/office/drawing/2014/main" id="{FF067924-39F4-4F45-B1BF-A6DCE3BD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整列空白</a:t>
            </a:r>
          </a:p>
        </p:txBody>
      </p:sp>
      <p:sp>
        <p:nvSpPr>
          <p:cNvPr id="29" name="p13-map-r4-2">
            <a:extLst xmlns:a="http://schemas.openxmlformats.org/drawingml/2006/main">
              <a:ext uri="{FF2B5EF4-FFF2-40B4-BE49-F238E27FC236}">
                <a16:creationId xmlns:a16="http://schemas.microsoft.com/office/drawing/2014/main" id="{16B40E07-8AD6-49F6-BAAF-F1F57026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862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空白候选</a:t>
            </a:r>
          </a:p>
        </p:txBody>
      </p:sp>
      <p:sp>
        <p:nvSpPr>
          <p:cNvPr id="30" name="p13-map-r4-3">
            <a:extLst xmlns:a="http://schemas.openxmlformats.org/drawingml/2006/main">
              <a:ext uri="{FF2B5EF4-FFF2-40B4-BE49-F238E27FC236}">
                <a16:creationId xmlns:a16="http://schemas.microsoft.com/office/drawing/2014/main" id="{D9512A28-8DB9-4099-9549-5816CA7F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待真实窄检索</a:t>
            </a:r>
          </a:p>
        </p:txBody>
      </p:sp>
      <p:sp>
        <p:nvSpPr>
          <p:cNvPr id="31" name="p13-th0">
            <a:extLst xmlns:a="http://schemas.openxmlformats.org/drawingml/2006/main">
              <a:ext uri="{FF2B5EF4-FFF2-40B4-BE49-F238E27FC236}">
                <a16:creationId xmlns:a16="http://schemas.microsoft.com/office/drawing/2014/main" id="{612647E9-1500-49D2-9558-06CD126D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真实性</a:t>
            </a:r>
          </a:p>
        </p:txBody>
      </p:sp>
      <p:sp>
        <p:nvSpPr>
          <p:cNvPr id="32" name="p13-td0">
            <a:extLst xmlns:a="http://schemas.openxmlformats.org/drawingml/2006/main">
              <a:ext uri="{FF2B5EF4-FFF2-40B4-BE49-F238E27FC236}">
                <a16:creationId xmlns:a16="http://schemas.microsoft.com/office/drawing/2014/main" id="{FEB23A42-F4F9-4216-9E31-CB06687F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式 / 库 / 日期 / 命中 / 筛选</a:t>
            </a:r>
          </a:p>
        </p:txBody>
      </p:sp>
      <p:sp>
        <p:nvSpPr>
          <p:cNvPr id="33" name="p13-th1">
            <a:extLst xmlns:a="http://schemas.openxmlformats.org/drawingml/2006/main">
              <a:ext uri="{FF2B5EF4-FFF2-40B4-BE49-F238E27FC236}">
                <a16:creationId xmlns:a16="http://schemas.microsoft.com/office/drawing/2014/main" id="{C2D5859F-43FE-4868-919B-DA17BCD7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重要性</a:t>
            </a:r>
          </a:p>
        </p:txBody>
      </p:sp>
      <p:sp>
        <p:nvSpPr>
          <p:cNvPr id="34" name="p13-td1">
            <a:extLst xmlns:a="http://schemas.openxmlformats.org/drawingml/2006/main">
              <a:ext uri="{FF2B5EF4-FFF2-40B4-BE49-F238E27FC236}">
                <a16:creationId xmlns:a16="http://schemas.microsoft.com/office/drawing/2014/main" id="{35D8E4E5-55FA-45DE-9140-72A77CF7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缺它，哪条机制无法检验？</a:t>
            </a:r>
          </a:p>
        </p:txBody>
      </p:sp>
      <p:sp>
        <p:nvSpPr>
          <p:cNvPr id="35" name="p13-th2">
            <a:extLst xmlns:a="http://schemas.openxmlformats.org/drawingml/2006/main">
              <a:ext uri="{FF2B5EF4-FFF2-40B4-BE49-F238E27FC236}">
                <a16:creationId xmlns:a16="http://schemas.microsoft.com/office/drawing/2014/main" id="{45B62999-C016-4B8E-A74A-F39FFE67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可行性</a:t>
            </a:r>
          </a:p>
        </p:txBody>
      </p:sp>
      <p:sp>
        <p:nvSpPr>
          <p:cNvPr id="36" name="p13-td2">
            <a:extLst xmlns:a="http://schemas.openxmlformats.org/drawingml/2006/main">
              <a:ext uri="{FF2B5EF4-FFF2-40B4-BE49-F238E27FC236}">
                <a16:creationId xmlns:a16="http://schemas.microsoft.com/office/drawing/2014/main" id="{53A313A1-4FBA-41B9-958D-0867E141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能否做最小实验或分析？</a:t>
            </a:r>
          </a:p>
        </p:txBody>
      </p:sp>
      <p:sp>
        <p:nvSpPr>
          <p:cNvPr id="37" name="p13-warning">
            <a:extLst xmlns:a="http://schemas.openxmlformats.org/drawingml/2006/main">
              <a:ext uri="{FF2B5EF4-FFF2-40B4-BE49-F238E27FC236}">
                <a16:creationId xmlns:a16="http://schemas.microsoft.com/office/drawing/2014/main" id="{9208E8A0-FEC2-49A9-AA7D-DCF8CDB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721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本样例不预设“命中 0”；真实项目必须填实际检索记录。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演示：AI 核验后写四句 mini review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virtual">
            <a:extLst xmlns:a="http://schemas.openxmlformats.org/drawingml/2006/main">
              <a:ext uri="{FF2B5EF4-FFF2-40B4-BE49-F238E27FC236}">
                <a16:creationId xmlns:a16="http://schemas.microsoft.com/office/drawing/2014/main" id="{70171A13-2AB3-40C6-9EF8-E296D6F4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6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虚构教学样例｜非真实论文、检索或实证证据</a:t>
            </a:r>
          </a:p>
        </p:txBody>
      </p:sp>
      <p:sp>
        <p:nvSpPr>
          <p:cNvPr id="7" name="p14-bad">
            <a:extLst xmlns:a="http://schemas.openxmlformats.org/drawingml/2006/main">
              <a:ext uri="{FF2B5EF4-FFF2-40B4-BE49-F238E27FC236}">
                <a16:creationId xmlns:a16="http://schemas.microsoft.com/office/drawing/2014/main" id="{026AD720-4222-4D6D-B8E7-86342767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0970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草稿：“5 篇文献共同支持结构化阅读卡降低遗漏率。”</a:t>
            </a:r>
          </a:p>
        </p:txBody>
      </p:sp>
      <p:sp>
        <p:nvSpPr>
          <p:cNvPr id="8" name="p14-ah0">
            <a:extLst xmlns:a="http://schemas.openxmlformats.org/drawingml/2006/main">
              <a:ext uri="{FF2B5EF4-FFF2-40B4-BE49-F238E27FC236}">
                <a16:creationId xmlns:a16="http://schemas.microsoft.com/office/drawing/2014/main" id="{EDF030E7-3334-4E3F-A355-282EBA34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190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rejected</a:t>
            </a:r>
          </a:p>
        </p:txBody>
      </p:sp>
      <p:sp>
        <p:nvSpPr>
          <p:cNvPr id="9" name="p14-ad0">
            <a:extLst xmlns:a="http://schemas.openxmlformats.org/drawingml/2006/main">
              <a:ext uri="{FF2B5EF4-FFF2-40B4-BE49-F238E27FC236}">
                <a16:creationId xmlns:a16="http://schemas.microsoft.com/office/drawing/2014/main" id="{E933432E-0C3F-49A3-9252-B3D4A9CB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28600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 条引文无法回源</a:t>
            </a:r>
          </a:p>
        </p:txBody>
      </p:sp>
      <p:sp>
        <p:nvSpPr>
          <p:cNvPr id="10" name="p14-ah1">
            <a:extLst xmlns:a="http://schemas.openxmlformats.org/drawingml/2006/main">
              <a:ext uri="{FF2B5EF4-FFF2-40B4-BE49-F238E27FC236}">
                <a16:creationId xmlns:a16="http://schemas.microsoft.com/office/drawing/2014/main" id="{6BE3C36F-C47A-4E08-A268-82F74316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190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不可比</a:t>
            </a:r>
          </a:p>
        </p:txBody>
      </p:sp>
      <p:sp>
        <p:nvSpPr>
          <p:cNvPr id="11" name="p14-ad1">
            <a:extLst xmlns:a="http://schemas.openxmlformats.org/drawingml/2006/main">
              <a:ext uri="{FF2B5EF4-FFF2-40B4-BE49-F238E27FC236}">
                <a16:creationId xmlns:a16="http://schemas.microsoft.com/office/drawing/2014/main" id="{C16C95D9-FDB5-4A7E-A695-38F76113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8600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 条来自不同任务</a:t>
            </a:r>
          </a:p>
        </p:txBody>
      </p:sp>
      <p:sp>
        <p:nvSpPr>
          <p:cNvPr id="12" name="p14-ah2">
            <a:extLst xmlns:a="http://schemas.openxmlformats.org/drawingml/2006/main">
              <a:ext uri="{FF2B5EF4-FFF2-40B4-BE49-F238E27FC236}">
                <a16:creationId xmlns:a16="http://schemas.microsoft.com/office/drawing/2014/main" id="{B009C5D3-532F-43B9-B8A8-49950D43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1190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13" name="p14-ad2">
            <a:extLst xmlns:a="http://schemas.openxmlformats.org/drawingml/2006/main">
              <a:ext uri="{FF2B5EF4-FFF2-40B4-BE49-F238E27FC236}">
                <a16:creationId xmlns:a16="http://schemas.microsoft.com/office/drawing/2014/main" id="{38F4E77B-6A43-4987-8515-2FB152B3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8600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 条相反结论待核条件</a:t>
            </a:r>
          </a:p>
        </p:txBody>
      </p:sp>
      <p:sp>
        <p:nvSpPr>
          <p:cNvPr id="14" name="p14-ah3">
            <a:extLst xmlns:a="http://schemas.openxmlformats.org/drawingml/2006/main">
              <a:ext uri="{FF2B5EF4-FFF2-40B4-BE49-F238E27FC236}">
                <a16:creationId xmlns:a16="http://schemas.microsoft.com/office/drawing/2014/main" id="{1CE22E6D-4AD9-43F6-9A8D-0A2786AA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33625"/>
            <a:ext cx="1190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空白</a:t>
            </a:r>
          </a:p>
        </p:txBody>
      </p:sp>
      <p:sp>
        <p:nvSpPr>
          <p:cNvPr id="15" name="p14-ad3">
            <a:extLst xmlns:a="http://schemas.openxmlformats.org/drawingml/2006/main">
              <a:ext uri="{FF2B5EF4-FFF2-40B4-BE49-F238E27FC236}">
                <a16:creationId xmlns:a16="http://schemas.microsoft.com/office/drawing/2014/main" id="{42AFD60A-708F-491D-95CA-9E6DE805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28600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 个子问题仍待窄检索</a:t>
            </a:r>
          </a:p>
        </p:txBody>
      </p:sp>
      <p:sp>
        <p:nvSpPr>
          <p:cNvPr id="16" name="p14-label">
            <a:extLst xmlns:a="http://schemas.openxmlformats.org/drawingml/2006/main">
              <a:ext uri="{FF2B5EF4-FFF2-40B4-BE49-F238E27FC236}">
                <a16:creationId xmlns:a16="http://schemas.microsoft.com/office/drawing/2014/main" id="{0494C4FF-CFE9-436A-B1A3-C422CF65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四句 mini literature review</a:t>
            </a:r>
          </a:p>
        </p:txBody>
      </p:sp>
      <p:sp>
        <p:nvSpPr>
          <p:cNvPr id="17" name="p14-s0">
            <a:extLst xmlns:a="http://schemas.openxmlformats.org/drawingml/2006/main">
              <a:ext uri="{FF2B5EF4-FFF2-40B4-BE49-F238E27FC236}">
                <a16:creationId xmlns:a16="http://schemas.microsoft.com/office/drawing/2014/main" id="{20A574B3-B01D-49F6-9C6E-F5474812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1  范围与子问题</a:t>
            </a:r>
          </a:p>
        </p:txBody>
      </p:sp>
      <p:sp>
        <p:nvSpPr>
          <p:cNvPr id="18" name="p14-s1">
            <a:extLst xmlns:a="http://schemas.openxmlformats.org/drawingml/2006/main">
              <a:ext uri="{FF2B5EF4-FFF2-40B4-BE49-F238E27FC236}">
                <a16:creationId xmlns:a16="http://schemas.microsoft.com/office/drawing/2014/main" id="{F83F3B11-494F-4ECA-BBA0-59F10ABE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  直接证据</a:t>
            </a:r>
          </a:p>
        </p:txBody>
      </p:sp>
      <p:sp>
        <p:nvSpPr>
          <p:cNvPr id="19" name="p14-s2">
            <a:extLst xmlns:a="http://schemas.openxmlformats.org/drawingml/2006/main">
              <a:ext uri="{FF2B5EF4-FFF2-40B4-BE49-F238E27FC236}">
                <a16:creationId xmlns:a16="http://schemas.microsoft.com/office/drawing/2014/main" id="{135BD67B-898B-40D3-B854-2B72E32C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3  补充 / 对比 / 冲突</a:t>
            </a:r>
          </a:p>
        </p:txBody>
      </p:sp>
      <p:sp>
        <p:nvSpPr>
          <p:cNvPr id="20" name="p14-s3">
            <a:extLst xmlns:a="http://schemas.openxmlformats.org/drawingml/2006/main">
              <a:ext uri="{FF2B5EF4-FFF2-40B4-BE49-F238E27FC236}">
                <a16:creationId xmlns:a16="http://schemas.microsoft.com/office/drawing/2014/main" id="{C9C38A89-E8B9-4BD6-AF24-D5214B4A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  空白与下一步核验</a:t>
            </a:r>
          </a:p>
        </p:txBody>
      </p:sp>
      <p:sp>
        <p:nvSpPr>
          <p:cNvPr id="21" name="p14-bottom">
            <a:extLst xmlns:a="http://schemas.openxmlformats.org/drawingml/2006/main">
              <a:ext uri="{FF2B5EF4-FFF2-40B4-BE49-F238E27FC236}">
                <a16:creationId xmlns:a16="http://schemas.microsoft.com/office/drawing/2014/main" id="{0DEC16F5-52C4-4CF3-8D49-011F9C22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只有 verified 条目进入四句草稿；pending / rejected 留在线索区。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演示判断点与失败路径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virtual">
            <a:extLst xmlns:a="http://schemas.openxmlformats.org/drawingml/2006/main">
              <a:ext uri="{FF2B5EF4-FFF2-40B4-BE49-F238E27FC236}">
                <a16:creationId xmlns:a16="http://schemas.microsoft.com/office/drawing/2014/main" id="{E82629EA-C0CE-4718-ACD1-4AB77D33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6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虚构教学样例｜非真实论文、检索或实证证据</a:t>
            </a:r>
          </a:p>
        </p:txBody>
      </p:sp>
      <p:sp>
        <p:nvSpPr>
          <p:cNvPr id="7" name="p15-q0">
            <a:extLst xmlns:a="http://schemas.openxmlformats.org/drawingml/2006/main">
              <a:ext uri="{FF2B5EF4-FFF2-40B4-BE49-F238E27FC236}">
                <a16:creationId xmlns:a16="http://schemas.microsoft.com/office/drawing/2014/main" id="{B20D191D-8F35-4BDB-B038-9FFD1068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38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1. 为什么按论文排列不算综述？</a:t>
            </a:r>
          </a:p>
        </p:txBody>
      </p:sp>
      <p:sp>
        <p:nvSpPr>
          <p:cNvPr id="8" name="p15-q1">
            <a:extLst xmlns:a="http://schemas.openxmlformats.org/drawingml/2006/main">
              <a:ext uri="{FF2B5EF4-FFF2-40B4-BE49-F238E27FC236}">
                <a16:creationId xmlns:a16="http://schemas.microsoft.com/office/drawing/2014/main" id="{29DC5DCB-821A-4F37-ACB5-82B9198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538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2. 对比何时才构成冲突？</a:t>
            </a:r>
          </a:p>
        </p:txBody>
      </p:sp>
      <p:sp>
        <p:nvSpPr>
          <p:cNvPr id="9" name="p15-q2">
            <a:extLst xmlns:a="http://schemas.openxmlformats.org/drawingml/2006/main">
              <a:ext uri="{FF2B5EF4-FFF2-40B4-BE49-F238E27FC236}">
                <a16:creationId xmlns:a16="http://schemas.microsoft.com/office/drawing/2014/main" id="{40D66B81-B693-4C2C-9863-DB337B4D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538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3. “我没找到”之后还要做什么？</a:t>
            </a:r>
          </a:p>
        </p:txBody>
      </p:sp>
      <p:sp>
        <p:nvSpPr>
          <p:cNvPr id="10" name="p15-q3">
            <a:extLst xmlns:a="http://schemas.openxmlformats.org/drawingml/2006/main">
              <a:ext uri="{FF2B5EF4-FFF2-40B4-BE49-F238E27FC236}">
                <a16:creationId xmlns:a16="http://schemas.microsoft.com/office/drawing/2014/main" id="{38C52D0B-8EF9-4A9D-BE1E-6EA4ABB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538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4. AI 草稿何时只能算探索线索？</a:t>
            </a:r>
          </a:p>
        </p:txBody>
      </p:sp>
      <p:sp>
        <p:nvSpPr>
          <p:cNvPr id="11" name="p15-fail-h">
            <a:extLst xmlns:a="http://schemas.openxmlformats.org/drawingml/2006/main">
              <a:ext uri="{FF2B5EF4-FFF2-40B4-BE49-F238E27FC236}">
                <a16:creationId xmlns:a16="http://schemas.microsoft.com/office/drawing/2014/main" id="{F7761706-8CF4-458A-A351-B32866E6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失败路径</a:t>
            </a:r>
          </a:p>
        </p:txBody>
      </p:sp>
      <p:sp>
        <p:nvSpPr>
          <p:cNvPr id="12" name="p15-f0">
            <a:extLst xmlns:a="http://schemas.openxmlformats.org/drawingml/2006/main">
              <a:ext uri="{FF2B5EF4-FFF2-40B4-BE49-F238E27FC236}">
                <a16:creationId xmlns:a16="http://schemas.microsoft.com/office/drawing/2014/main" id="{041AAB2C-E290-4E28-878E-6999C453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5 张卡交给 AI</a:t>
            </a:r>
          </a:p>
        </p:txBody>
      </p:sp>
      <p:sp>
        <p:nvSpPr>
          <p:cNvPr id="13" name="p15-fa0">
            <a:extLst xmlns:a="http://schemas.openxmlformats.org/drawingml/2006/main">
              <a:ext uri="{FF2B5EF4-FFF2-40B4-BE49-F238E27FC236}">
                <a16:creationId xmlns:a16="http://schemas.microsoft.com/office/drawing/2014/main" id="{82CBE982-A023-4C79-860A-3468534E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574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4" name="p15-f1">
            <a:extLst xmlns:a="http://schemas.openxmlformats.org/drawingml/2006/main">
              <a:ext uri="{FF2B5EF4-FFF2-40B4-BE49-F238E27FC236}">
                <a16:creationId xmlns:a16="http://schemas.microsoft.com/office/drawing/2014/main" id="{13160064-9A8A-41DD-858A-F6C4BDD9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“共同支持”</a:t>
            </a:r>
          </a:p>
        </p:txBody>
      </p:sp>
      <p:sp>
        <p:nvSpPr>
          <p:cNvPr id="15" name="p15-fa1">
            <a:extLst xmlns:a="http://schemas.openxmlformats.org/drawingml/2006/main">
              <a:ext uri="{FF2B5EF4-FFF2-40B4-BE49-F238E27FC236}">
                <a16:creationId xmlns:a16="http://schemas.microsoft.com/office/drawing/2014/main" id="{47832C69-CD8B-4031-BCA2-F658E90A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43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6" name="p15-f2">
            <a:extLst xmlns:a="http://schemas.openxmlformats.org/drawingml/2006/main">
              <a:ext uri="{FF2B5EF4-FFF2-40B4-BE49-F238E27FC236}">
                <a16:creationId xmlns:a16="http://schemas.microsoft.com/office/drawing/2014/main" id="{636F07EF-F28F-4A51-A101-70AA9808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直接写入地图</a:t>
            </a:r>
          </a:p>
        </p:txBody>
      </p:sp>
      <p:sp>
        <p:nvSpPr>
          <p:cNvPr id="17" name="p15-fa2">
            <a:extLst xmlns:a="http://schemas.openxmlformats.org/drawingml/2006/main">
              <a:ext uri="{FF2B5EF4-FFF2-40B4-BE49-F238E27FC236}">
                <a16:creationId xmlns:a16="http://schemas.microsoft.com/office/drawing/2014/main" id="{007ADC48-8BD9-4259-96EE-A986C060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p15-f3">
            <a:extLst xmlns:a="http://schemas.openxmlformats.org/drawingml/2006/main">
              <a:ext uri="{FF2B5EF4-FFF2-40B4-BE49-F238E27FC236}">
                <a16:creationId xmlns:a16="http://schemas.microsoft.com/office/drawing/2014/main" id="{5B0ED2C6-B69F-42E4-93A5-5C631982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冲突 / 限定 / 来源消失</a:t>
            </a:r>
          </a:p>
        </p:txBody>
      </p:sp>
      <p:sp>
        <p:nvSpPr>
          <p:cNvPr id="19" name="p15-bottom">
            <a:extLst xmlns:a="http://schemas.openxmlformats.org/drawingml/2006/main">
              <a:ext uri="{FF2B5EF4-FFF2-40B4-BE49-F238E27FC236}">
                <a16:creationId xmlns:a16="http://schemas.microsoft.com/office/drawing/2014/main" id="{B8C9CF62-CA69-454F-9B98-A9E92D9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435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失败不重跑到成功：保留原始输出，补上核验步骤。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个人实践：跑通一次综述结构重组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goal">
            <a:extLst xmlns:a="http://schemas.openxmlformats.org/drawingml/2006/main">
              <a:ext uri="{FF2B5EF4-FFF2-40B4-BE49-F238E27FC236}">
                <a16:creationId xmlns:a16="http://schemas.microsoft.com/office/drawing/2014/main" id="{8E4D804F-E696-4B63-8177-A4EAC7F1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本人真实问题优先；没有者使用课程虚构样例，但须改换子问题分解。</a:t>
            </a:r>
          </a:p>
        </p:txBody>
      </p:sp>
      <p:sp>
        <p:nvSpPr>
          <p:cNvPr id="7" name="p16-n0">
            <a:extLst xmlns:a="http://schemas.openxmlformats.org/drawingml/2006/main">
              <a:ext uri="{FF2B5EF4-FFF2-40B4-BE49-F238E27FC236}">
                <a16:creationId xmlns:a16="http://schemas.microsoft.com/office/drawing/2014/main" id="{78B9C5A1-173B-48FD-962E-D53A3BFB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p16-t0">
            <a:extLst xmlns:a="http://schemas.openxmlformats.org/drawingml/2006/main">
              <a:ext uri="{FF2B5EF4-FFF2-40B4-BE49-F238E27FC236}">
                <a16:creationId xmlns:a16="http://schemas.microsoft.com/office/drawing/2014/main" id="{64AC8362-78C7-4B8C-9643-EA77B43D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00200"/>
            <a:ext cx="4429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 2-3 个子问题</a:t>
            </a:r>
          </a:p>
        </p:txBody>
      </p:sp>
      <p:sp>
        <p:nvSpPr>
          <p:cNvPr id="9" name="p16-n1">
            <a:extLst xmlns:a="http://schemas.openxmlformats.org/drawingml/2006/main">
              <a:ext uri="{FF2B5EF4-FFF2-40B4-BE49-F238E27FC236}">
                <a16:creationId xmlns:a16="http://schemas.microsoft.com/office/drawing/2014/main" id="{017DEC46-7C38-41BB-BA30-C6DC71AD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p16-t1">
            <a:extLst xmlns:a="http://schemas.openxmlformats.org/drawingml/2006/main">
              <a:ext uri="{FF2B5EF4-FFF2-40B4-BE49-F238E27FC236}">
                <a16:creationId xmlns:a16="http://schemas.microsoft.com/office/drawing/2014/main" id="{50F5694F-DEB1-4B61-BF76-72F5B29B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4429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填 2-3 张已核验阅读卡</a:t>
            </a:r>
          </a:p>
        </p:txBody>
      </p:sp>
      <p:sp>
        <p:nvSpPr>
          <p:cNvPr id="11" name="p16-n2">
            <a:extLst xmlns:a="http://schemas.openxmlformats.org/drawingml/2006/main">
              <a:ext uri="{FF2B5EF4-FFF2-40B4-BE49-F238E27FC236}">
                <a16:creationId xmlns:a16="http://schemas.microsoft.com/office/drawing/2014/main" id="{B1EDBF51-E861-4A4D-9648-FF370449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p16-t2">
            <a:extLst xmlns:a="http://schemas.openxmlformats.org/drawingml/2006/main">
              <a:ext uri="{FF2B5EF4-FFF2-40B4-BE49-F238E27FC236}">
                <a16:creationId xmlns:a16="http://schemas.microsoft.com/office/drawing/2014/main" id="{A67B1434-B22C-486B-B57B-0F8B1AE0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4429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抽取四视图地图</a:t>
            </a:r>
          </a:p>
        </p:txBody>
      </p:sp>
      <p:sp>
        <p:nvSpPr>
          <p:cNvPr id="13" name="p16-n3">
            <a:extLst xmlns:a="http://schemas.openxmlformats.org/drawingml/2006/main">
              <a:ext uri="{FF2B5EF4-FFF2-40B4-BE49-F238E27FC236}">
                <a16:creationId xmlns:a16="http://schemas.microsoft.com/office/drawing/2014/main" id="{7F54EB59-4872-4D02-9A8F-6BA8E160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p16-t3">
            <a:extLst xmlns:a="http://schemas.openxmlformats.org/drawingml/2006/main">
              <a:ext uri="{FF2B5EF4-FFF2-40B4-BE49-F238E27FC236}">
                <a16:creationId xmlns:a16="http://schemas.microsoft.com/office/drawing/2014/main" id="{F459874A-88BA-42AE-BFF6-708F2761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4429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记录一个空白首轮检验</a:t>
            </a:r>
          </a:p>
        </p:txBody>
      </p:sp>
      <p:sp>
        <p:nvSpPr>
          <p:cNvPr id="15" name="p16-n4">
            <a:extLst xmlns:a="http://schemas.openxmlformats.org/drawingml/2006/main">
              <a:ext uri="{FF2B5EF4-FFF2-40B4-BE49-F238E27FC236}">
                <a16:creationId xmlns:a16="http://schemas.microsoft.com/office/drawing/2014/main" id="{9AB0D2DB-5099-4814-A8BD-9B9D4721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p16-t4">
            <a:extLst xmlns:a="http://schemas.openxmlformats.org/drawingml/2006/main">
              <a:ext uri="{FF2B5EF4-FFF2-40B4-BE49-F238E27FC236}">
                <a16:creationId xmlns:a16="http://schemas.microsoft.com/office/drawing/2014/main" id="{5CABCAB5-DB30-461E-952E-9297BBD7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00200"/>
            <a:ext cx="4429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写四句 mini review</a:t>
            </a:r>
          </a:p>
        </p:txBody>
      </p:sp>
      <p:sp>
        <p:nvSpPr>
          <p:cNvPr id="17" name="p16-n5">
            <a:extLst xmlns:a="http://schemas.openxmlformats.org/drawingml/2006/main">
              <a:ext uri="{FF2B5EF4-FFF2-40B4-BE49-F238E27FC236}">
                <a16:creationId xmlns:a16="http://schemas.microsoft.com/office/drawing/2014/main" id="{98BADA3F-C0AD-47B1-AA95-A7CF7FB2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479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8" name="p16-t5">
            <a:extLst xmlns:a="http://schemas.openxmlformats.org/drawingml/2006/main">
              <a:ext uri="{FF2B5EF4-FFF2-40B4-BE49-F238E27FC236}">
                <a16:creationId xmlns:a16="http://schemas.microsoft.com/office/drawing/2014/main" id="{F3C5F914-7E74-4AF7-91D4-EF7E6F66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4429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核验一条 AI 归纳</a:t>
            </a:r>
          </a:p>
        </p:txBody>
      </p:sp>
      <p:sp>
        <p:nvSpPr>
          <p:cNvPr id="19" name="p16-n6">
            <a:extLst xmlns:a="http://schemas.openxmlformats.org/drawingml/2006/main">
              <a:ext uri="{FF2B5EF4-FFF2-40B4-BE49-F238E27FC236}">
                <a16:creationId xmlns:a16="http://schemas.microsoft.com/office/drawing/2014/main" id="{F8AAFC9F-9B10-4799-9EB4-B4008867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289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0" name="p16-t6">
            <a:extLst xmlns:a="http://schemas.openxmlformats.org/drawingml/2006/main">
              <a:ext uri="{FF2B5EF4-FFF2-40B4-BE49-F238E27FC236}">
                <a16:creationId xmlns:a16="http://schemas.microsoft.com/office/drawing/2014/main" id="{B58CDD6B-F8D2-497D-9B55-90F7ADED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429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保存并记录 AI 使用</a:t>
            </a:r>
          </a:p>
        </p:txBody>
      </p:sp>
      <p:sp>
        <p:nvSpPr>
          <p:cNvPr id="21" name="p16-time">
            <a:extLst xmlns:a="http://schemas.openxmlformats.org/drawingml/2006/main">
              <a:ext uri="{FF2B5EF4-FFF2-40B4-BE49-F238E27FC236}">
                <a16:creationId xmlns:a16="http://schemas.microsoft.com/office/drawing/2014/main" id="{5725F362-A1CE-409F-B397-CA3B51A1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5 分矩阵 → 7 分地图 → 6 分空白 → 5 分四句 → 4 分核验与保存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实践停留页：最小综述闭环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7-zone1-h">
            <a:extLst xmlns:a="http://schemas.openxmlformats.org/drawingml/2006/main">
              <a:ext uri="{FF2B5EF4-FFF2-40B4-BE49-F238E27FC236}">
                <a16:creationId xmlns:a16="http://schemas.microsoft.com/office/drawing/2014/main" id="{5EA83AEB-9F60-4AF2-9020-EEEFF73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1｜窄矩阵</a:t>
            </a:r>
          </a:p>
        </p:txBody>
      </p:sp>
      <p:sp>
        <p:nvSpPr>
          <p:cNvPr id="7" name="p17-zone1">
            <a:extLst xmlns:a="http://schemas.openxmlformats.org/drawingml/2006/main">
              <a:ext uri="{FF2B5EF4-FFF2-40B4-BE49-F238E27FC236}">
                <a16:creationId xmlns:a16="http://schemas.microsoft.com/office/drawing/2014/main" id="{8FB57FB8-AC1F-4E10-ACC8-8B4660CC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91440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材料（核验后）｜子问题 a｜子问题 b｜子问题 c｜候选角色</a:t>
            </a:r>
          </a:p>
        </p:txBody>
      </p:sp>
      <p:sp>
        <p:nvSpPr>
          <p:cNvPr id="8" name="p17-zone2-h">
            <a:extLst xmlns:a="http://schemas.openxmlformats.org/drawingml/2006/main">
              <a:ext uri="{FF2B5EF4-FFF2-40B4-BE49-F238E27FC236}">
                <a16:creationId xmlns:a16="http://schemas.microsoft.com/office/drawing/2014/main" id="{43E5AD2C-413B-4074-A500-E0D4091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2｜四视图地图</a:t>
            </a:r>
          </a:p>
        </p:txBody>
      </p:sp>
      <p:sp>
        <p:nvSpPr>
          <p:cNvPr id="9" name="p17-zone2">
            <a:extLst xmlns:a="http://schemas.openxmlformats.org/drawingml/2006/main">
              <a:ext uri="{FF2B5EF4-FFF2-40B4-BE49-F238E27FC236}">
                <a16:creationId xmlns:a16="http://schemas.microsoft.com/office/drawing/2014/main" id="{7E1CB1C2-FFF7-4CDF-A33F-C140C150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2400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编号｜子问题｜材料｜原文位置｜主张｜直接/补充/冲突/空白｜局限｜状态</a:t>
            </a:r>
          </a:p>
        </p:txBody>
      </p:sp>
      <p:sp>
        <p:nvSpPr>
          <p:cNvPr id="10" name="p17-zone3-h">
            <a:extLst xmlns:a="http://schemas.openxmlformats.org/drawingml/2006/main">
              <a:ext uri="{FF2B5EF4-FFF2-40B4-BE49-F238E27FC236}">
                <a16:creationId xmlns:a16="http://schemas.microsoft.com/office/drawing/2014/main" id="{E9395411-FECA-41C7-A8B5-C101A22A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3｜空白首轮检验</a:t>
            </a:r>
          </a:p>
        </p:txBody>
      </p:sp>
      <p:sp>
        <p:nvSpPr>
          <p:cNvPr id="11" name="p17-zone3">
            <a:extLst xmlns:a="http://schemas.openxmlformats.org/drawingml/2006/main">
              <a:ext uri="{FF2B5EF4-FFF2-40B4-BE49-F238E27FC236}">
                <a16:creationId xmlns:a16="http://schemas.microsoft.com/office/drawing/2014/main" id="{1484E71D-3969-4A83-BA20-B8A5317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3360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真实性：式/库/日期/命中/筛选　｜　重要性：缺它影响哪条主张　｜　可行性：最小验证</a:t>
            </a:r>
          </a:p>
        </p:txBody>
      </p:sp>
      <p:sp>
        <p:nvSpPr>
          <p:cNvPr id="12" name="p17-zone4-h">
            <a:extLst xmlns:a="http://schemas.openxmlformats.org/drawingml/2006/main">
              <a:ext uri="{FF2B5EF4-FFF2-40B4-BE49-F238E27FC236}">
                <a16:creationId xmlns:a16="http://schemas.microsoft.com/office/drawing/2014/main" id="{B238E701-C838-4C71-BE04-B595EA7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43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4｜四句 mini review</a:t>
            </a:r>
          </a:p>
        </p:txBody>
      </p:sp>
      <p:sp>
        <p:nvSpPr>
          <p:cNvPr id="13" name="p17-four0">
            <a:extLst xmlns:a="http://schemas.openxmlformats.org/drawingml/2006/main">
              <a:ext uri="{FF2B5EF4-FFF2-40B4-BE49-F238E27FC236}">
                <a16:creationId xmlns:a16="http://schemas.microsoft.com/office/drawing/2014/main" id="{F247BC49-93BB-48A5-8952-286C60B7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432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① 范围与子问题</a:t>
            </a:r>
          </a:p>
        </p:txBody>
      </p:sp>
      <p:sp>
        <p:nvSpPr>
          <p:cNvPr id="14" name="p17-four1">
            <a:extLst xmlns:a="http://schemas.openxmlformats.org/drawingml/2006/main">
              <a:ext uri="{FF2B5EF4-FFF2-40B4-BE49-F238E27FC236}">
                <a16:creationId xmlns:a16="http://schemas.microsoft.com/office/drawing/2014/main" id="{0093C9C9-E61F-402F-B765-71FC72FC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432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② 直接证据</a:t>
            </a:r>
          </a:p>
        </p:txBody>
      </p:sp>
      <p:sp>
        <p:nvSpPr>
          <p:cNvPr id="15" name="p17-four2">
            <a:extLst xmlns:a="http://schemas.openxmlformats.org/drawingml/2006/main">
              <a:ext uri="{FF2B5EF4-FFF2-40B4-BE49-F238E27FC236}">
                <a16:creationId xmlns:a16="http://schemas.microsoft.com/office/drawing/2014/main" id="{3055FD7F-594E-473B-BFFE-404D436D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432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③ 补充/对比/冲突</a:t>
            </a:r>
          </a:p>
        </p:txBody>
      </p:sp>
      <p:sp>
        <p:nvSpPr>
          <p:cNvPr id="16" name="p17-four3">
            <a:extLst xmlns:a="http://schemas.openxmlformats.org/drawingml/2006/main">
              <a:ext uri="{FF2B5EF4-FFF2-40B4-BE49-F238E27FC236}">
                <a16:creationId xmlns:a16="http://schemas.microsoft.com/office/drawing/2014/main" id="{836C15FE-FE92-4DC7-885A-83C78A23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432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④ 空白与下一步核验</a:t>
            </a:r>
          </a:p>
        </p:txBody>
      </p:sp>
      <p:sp>
        <p:nvSpPr>
          <p:cNvPr id="17" name="p17-work-h">
            <a:extLst xmlns:a="http://schemas.openxmlformats.org/drawingml/2006/main">
              <a:ext uri="{FF2B5EF4-FFF2-40B4-BE49-F238E27FC236}">
                <a16:creationId xmlns:a16="http://schemas.microsoft.com/office/drawing/2014/main" id="{4092AA06-8594-4BDA-83B6-32E87434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27 分钟顺序</a:t>
            </a:r>
          </a:p>
        </p:txBody>
      </p:sp>
      <p:sp>
        <p:nvSpPr>
          <p:cNvPr id="18" name="p17-m0">
            <a:extLst xmlns:a="http://schemas.openxmlformats.org/drawingml/2006/main">
              <a:ext uri="{FF2B5EF4-FFF2-40B4-BE49-F238E27FC236}">
                <a16:creationId xmlns:a16="http://schemas.microsoft.com/office/drawing/2014/main" id="{62F06C0D-E679-48B5-B1EB-683C8465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24250"/>
            <a:ext cx="57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5′</a:t>
            </a:r>
          </a:p>
        </p:txBody>
      </p:sp>
      <p:sp>
        <p:nvSpPr>
          <p:cNvPr id="19" name="p17-p0">
            <a:extLst xmlns:a="http://schemas.openxmlformats.org/drawingml/2006/main">
              <a:ext uri="{FF2B5EF4-FFF2-40B4-BE49-F238E27FC236}">
                <a16:creationId xmlns:a16="http://schemas.microsoft.com/office/drawing/2014/main" id="{927AF4A1-3CF4-4A11-A7DF-8527BD32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524250"/>
            <a:ext cx="95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矩阵</a:t>
            </a:r>
          </a:p>
        </p:txBody>
      </p:sp>
      <p:sp>
        <p:nvSpPr>
          <p:cNvPr id="20" name="p17-m1">
            <a:extLst xmlns:a="http://schemas.openxmlformats.org/drawingml/2006/main">
              <a:ext uri="{FF2B5EF4-FFF2-40B4-BE49-F238E27FC236}">
                <a16:creationId xmlns:a16="http://schemas.microsoft.com/office/drawing/2014/main" id="{F20539C3-33BB-4633-94EE-E2C1FECE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24250"/>
            <a:ext cx="57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7′</a:t>
            </a:r>
          </a:p>
        </p:txBody>
      </p:sp>
      <p:sp>
        <p:nvSpPr>
          <p:cNvPr id="21" name="p17-p1">
            <a:extLst xmlns:a="http://schemas.openxmlformats.org/drawingml/2006/main">
              <a:ext uri="{FF2B5EF4-FFF2-40B4-BE49-F238E27FC236}">
                <a16:creationId xmlns:a16="http://schemas.microsoft.com/office/drawing/2014/main" id="{536C1D3F-534B-480E-8D17-EE1593E1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24250"/>
            <a:ext cx="95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38A"/>
                </a:solidFill>
              </a:defRPr>
            </a:pPr>
            <a:r>
              <a:rPr sz="142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地图</a:t>
            </a:r>
          </a:p>
        </p:txBody>
      </p:sp>
      <p:sp>
        <p:nvSpPr>
          <p:cNvPr id="22" name="p17-m2">
            <a:extLst xmlns:a="http://schemas.openxmlformats.org/drawingml/2006/main">
              <a:ext uri="{FF2B5EF4-FFF2-40B4-BE49-F238E27FC236}">
                <a16:creationId xmlns:a16="http://schemas.microsoft.com/office/drawing/2014/main" id="{78543F19-777B-45A2-823F-B197EC05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24250"/>
            <a:ext cx="57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6′</a:t>
            </a:r>
          </a:p>
        </p:txBody>
      </p:sp>
      <p:sp>
        <p:nvSpPr>
          <p:cNvPr id="23" name="p17-p2">
            <a:extLst xmlns:a="http://schemas.openxmlformats.org/drawingml/2006/main">
              <a:ext uri="{FF2B5EF4-FFF2-40B4-BE49-F238E27FC236}">
                <a16:creationId xmlns:a16="http://schemas.microsoft.com/office/drawing/2014/main" id="{DB0CDE78-D65A-40C6-A95B-7D668394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524250"/>
            <a:ext cx="95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空白</a:t>
            </a:r>
          </a:p>
        </p:txBody>
      </p:sp>
      <p:sp>
        <p:nvSpPr>
          <p:cNvPr id="24" name="p17-m3">
            <a:extLst xmlns:a="http://schemas.openxmlformats.org/drawingml/2006/main">
              <a:ext uri="{FF2B5EF4-FFF2-40B4-BE49-F238E27FC236}">
                <a16:creationId xmlns:a16="http://schemas.microsoft.com/office/drawing/2014/main" id="{3ECA660D-B383-4FB4-BE56-3F82BFFB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24250"/>
            <a:ext cx="57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5′</a:t>
            </a:r>
          </a:p>
        </p:txBody>
      </p:sp>
      <p:sp>
        <p:nvSpPr>
          <p:cNvPr id="25" name="p17-p3">
            <a:extLst xmlns:a="http://schemas.openxmlformats.org/drawingml/2006/main">
              <a:ext uri="{FF2B5EF4-FFF2-40B4-BE49-F238E27FC236}">
                <a16:creationId xmlns:a16="http://schemas.microsoft.com/office/drawing/2014/main" id="{56C1F4E9-1399-43E9-B925-271ECB5D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24250"/>
            <a:ext cx="95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四句</a:t>
            </a:r>
          </a:p>
        </p:txBody>
      </p:sp>
      <p:sp>
        <p:nvSpPr>
          <p:cNvPr id="26" name="p17-m4">
            <a:extLst xmlns:a="http://schemas.openxmlformats.org/drawingml/2006/main">
              <a:ext uri="{FF2B5EF4-FFF2-40B4-BE49-F238E27FC236}">
                <a16:creationId xmlns:a16="http://schemas.microsoft.com/office/drawing/2014/main" id="{5BADA80D-D07C-42D7-819B-4C355E41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524250"/>
            <a:ext cx="57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4′</a:t>
            </a:r>
          </a:p>
        </p:txBody>
      </p:sp>
      <p:sp>
        <p:nvSpPr>
          <p:cNvPr id="27" name="p17-p4">
            <a:extLst xmlns:a="http://schemas.openxmlformats.org/drawingml/2006/main">
              <a:ext uri="{FF2B5EF4-FFF2-40B4-BE49-F238E27FC236}">
                <a16:creationId xmlns:a16="http://schemas.microsoft.com/office/drawing/2014/main" id="{59C462E1-6933-4BAE-B749-7C984851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24250"/>
            <a:ext cx="95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核验/保存</a:t>
            </a:r>
          </a:p>
        </p:txBody>
      </p:sp>
      <p:sp>
        <p:nvSpPr>
          <p:cNvPr id="28" name="p17-log">
            <a:extLst xmlns:a="http://schemas.openxmlformats.org/drawingml/2006/main">
              <a:ext uri="{FF2B5EF4-FFF2-40B4-BE49-F238E27FC236}">
                <a16:creationId xmlns:a16="http://schemas.microsoft.com/office/drawing/2014/main" id="{753B8349-DD6F-4656-AEB3-E55919E6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AI 使用记录：工具/模型｜用途｜Context｜输出用途｜人工核验方式｜问题</a:t>
            </a:r>
          </a:p>
        </p:txBody>
      </p:sp>
      <p:sp>
        <p:nvSpPr>
          <p:cNvPr id="29" name="p17-save">
            <a:extLst xmlns:a="http://schemas.openxmlformats.org/drawingml/2006/main">
              <a:ext uri="{FF2B5EF4-FFF2-40B4-BE49-F238E27FC236}">
                <a16:creationId xmlns:a16="http://schemas.microsoft.com/office/drawing/2014/main" id="{E9B35E79-4FCA-42ED-9FB9-736DAEC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2920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写入 evidence-map.md 或 notes/　｜　网络失败：用预录样例或纸面模板继续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同伴互查四问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8-n0">
            <a:extLst xmlns:a="http://schemas.openxmlformats.org/drawingml/2006/main">
              <a:ext uri="{FF2B5EF4-FFF2-40B4-BE49-F238E27FC236}">
                <a16:creationId xmlns:a16="http://schemas.microsoft.com/office/drawing/2014/main" id="{87074726-1DAC-4F57-96BD-E57BE8C7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04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18-h0">
            <a:extLst xmlns:a="http://schemas.openxmlformats.org/drawingml/2006/main">
              <a:ext uri="{FF2B5EF4-FFF2-40B4-BE49-F238E27FC236}">
                <a16:creationId xmlns:a16="http://schemas.microsoft.com/office/drawing/2014/main" id="{F6FDEC7B-4146-4A3E-A94A-D676945A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2870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问题组织</a:t>
            </a:r>
          </a:p>
        </p:txBody>
      </p:sp>
      <p:sp>
        <p:nvSpPr>
          <p:cNvPr id="8" name="p18-d0">
            <a:extLst xmlns:a="http://schemas.openxmlformats.org/drawingml/2006/main">
              <a:ext uri="{FF2B5EF4-FFF2-40B4-BE49-F238E27FC236}">
                <a16:creationId xmlns:a16="http://schemas.microsoft.com/office/drawing/2014/main" id="{A4383188-46A7-4DAA-8EF8-3D365DB9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28700"/>
            <a:ext cx="571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矩阵列来自问题分解，还是论文关键词？</a:t>
            </a:r>
          </a:p>
        </p:txBody>
      </p:sp>
      <p:sp>
        <p:nvSpPr>
          <p:cNvPr id="9" name="p18-n1">
            <a:extLst xmlns:a="http://schemas.openxmlformats.org/drawingml/2006/main">
              <a:ext uri="{FF2B5EF4-FFF2-40B4-BE49-F238E27FC236}">
                <a16:creationId xmlns:a16="http://schemas.microsoft.com/office/drawing/2014/main" id="{39D76D86-0096-4A24-84CA-16ED85D1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p18-h1">
            <a:extLst xmlns:a="http://schemas.openxmlformats.org/drawingml/2006/main">
              <a:ext uri="{FF2B5EF4-FFF2-40B4-BE49-F238E27FC236}">
                <a16:creationId xmlns:a16="http://schemas.microsoft.com/office/drawing/2014/main" id="{530FA112-673B-4D1F-93BC-22DFF27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冲突边界</a:t>
            </a:r>
          </a:p>
        </p:txBody>
      </p:sp>
      <p:sp>
        <p:nvSpPr>
          <p:cNvPr id="11" name="p18-d1">
            <a:extLst xmlns:a="http://schemas.openxmlformats.org/drawingml/2006/main">
              <a:ext uri="{FF2B5EF4-FFF2-40B4-BE49-F238E27FC236}">
                <a16:creationId xmlns:a16="http://schemas.microsoft.com/office/drawing/2014/main" id="{F01A256C-3A6B-4E6C-84AD-434DBB21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571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任务不可比是否被误写成相反结论？</a:t>
            </a:r>
          </a:p>
        </p:txBody>
      </p:sp>
      <p:sp>
        <p:nvSpPr>
          <p:cNvPr id="12" name="p18-n2">
            <a:extLst xmlns:a="http://schemas.openxmlformats.org/drawingml/2006/main">
              <a:ext uri="{FF2B5EF4-FFF2-40B4-BE49-F238E27FC236}">
                <a16:creationId xmlns:a16="http://schemas.microsoft.com/office/drawing/2014/main" id="{04FE48FD-01B3-44AD-9D00-E2162FF4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p18-h2">
            <a:extLst xmlns:a="http://schemas.openxmlformats.org/drawingml/2006/main">
              <a:ext uri="{FF2B5EF4-FFF2-40B4-BE49-F238E27FC236}">
                <a16:creationId xmlns:a16="http://schemas.microsoft.com/office/drawing/2014/main" id="{98C9DC86-9F51-49F6-A528-E283C01F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空白状态</a:t>
            </a:r>
          </a:p>
        </p:txBody>
      </p:sp>
      <p:sp>
        <p:nvSpPr>
          <p:cNvPr id="14" name="p18-d2">
            <a:extLst xmlns:a="http://schemas.openxmlformats.org/drawingml/2006/main">
              <a:ext uri="{FF2B5EF4-FFF2-40B4-BE49-F238E27FC236}">
                <a16:creationId xmlns:a16="http://schemas.microsoft.com/office/drawing/2014/main" id="{BC4AEAD2-0C5A-4301-A418-DF3EA72A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571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有真实检索记录，还是明确标注待核验？</a:t>
            </a:r>
          </a:p>
        </p:txBody>
      </p:sp>
      <p:sp>
        <p:nvSpPr>
          <p:cNvPr id="15" name="p18-n3">
            <a:extLst xmlns:a="http://schemas.openxmlformats.org/drawingml/2006/main">
              <a:ext uri="{FF2B5EF4-FFF2-40B4-BE49-F238E27FC236}">
                <a16:creationId xmlns:a16="http://schemas.microsoft.com/office/drawing/2014/main" id="{0D5F2894-CF35-4857-8788-874A3126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p18-h3">
            <a:extLst xmlns:a="http://schemas.openxmlformats.org/drawingml/2006/main">
              <a:ext uri="{FF2B5EF4-FFF2-40B4-BE49-F238E27FC236}">
                <a16:creationId xmlns:a16="http://schemas.microsoft.com/office/drawing/2014/main" id="{AB55370C-8189-4187-BAFA-C669C9D7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四句追溯</a:t>
            </a:r>
          </a:p>
        </p:txBody>
      </p:sp>
      <p:sp>
        <p:nvSpPr>
          <p:cNvPr id="17" name="p18-d3">
            <a:extLst xmlns:a="http://schemas.openxmlformats.org/drawingml/2006/main">
              <a:ext uri="{FF2B5EF4-FFF2-40B4-BE49-F238E27FC236}">
                <a16:creationId xmlns:a16="http://schemas.microsoft.com/office/drawing/2014/main" id="{409ED6BA-C8A4-4DAD-9F28-0E6CD03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571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每句话能回指 verified 条目吗？</a:t>
            </a:r>
          </a:p>
        </p:txBody>
      </p:sp>
      <p:sp>
        <p:nvSpPr>
          <p:cNvPr id="18" name="p18-author-h">
            <a:extLst xmlns:a="http://schemas.openxmlformats.org/drawingml/2006/main">
              <a:ext uri="{FF2B5EF4-FFF2-40B4-BE49-F238E27FC236}">
                <a16:creationId xmlns:a16="http://schemas.microsoft.com/office/drawing/2014/main" id="{0F5E0110-5E45-4D26-AE84-844C40FA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作者记录</a:t>
            </a:r>
          </a:p>
        </p:txBody>
      </p:sp>
      <p:sp>
        <p:nvSpPr>
          <p:cNvPr id="19" name="p18-s0">
            <a:extLst xmlns:a="http://schemas.openxmlformats.org/drawingml/2006/main">
              <a:ext uri="{FF2B5EF4-FFF2-40B4-BE49-F238E27FC236}">
                <a16:creationId xmlns:a16="http://schemas.microsoft.com/office/drawing/2014/main" id="{FB5AEDA7-D939-454A-8971-AB5031E1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20" name="p18-s1">
            <a:extLst xmlns:a="http://schemas.openxmlformats.org/drawingml/2006/main">
              <a:ext uri="{FF2B5EF4-FFF2-40B4-BE49-F238E27FC236}">
                <a16:creationId xmlns:a16="http://schemas.microsoft.com/office/drawing/2014/main" id="{54837DEC-9D61-4C8B-97C9-7F91DBE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86075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暂不采纳</a:t>
            </a:r>
          </a:p>
        </p:txBody>
      </p:sp>
      <p:sp>
        <p:nvSpPr>
          <p:cNvPr id="21" name="p18-s2">
            <a:extLst xmlns:a="http://schemas.openxmlformats.org/drawingml/2006/main">
              <a:ext uri="{FF2B5EF4-FFF2-40B4-BE49-F238E27FC236}">
                <a16:creationId xmlns:a16="http://schemas.microsoft.com/office/drawing/2014/main" id="{1B12C93E-A164-4DA7-8A21-4C828ADF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9525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待核验</a:t>
            </a:r>
          </a:p>
        </p:txBody>
      </p:sp>
      <p:sp>
        <p:nvSpPr>
          <p:cNvPr id="22" name="p18-bottom">
            <a:extLst xmlns:a="http://schemas.openxmlformats.org/drawingml/2006/main">
              <a:ext uri="{FF2B5EF4-FFF2-40B4-BE49-F238E27FC236}">
                <a16:creationId xmlns:a16="http://schemas.microsoft.com/office/drawing/2014/main" id="{5293A175-8839-4D37-A442-06A3CBA0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同伴只提问题；作者保留最终决定，不形成共同提交。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退出卡与第 6 课预告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p19-in0">
            <a:extLst xmlns:a="http://schemas.openxmlformats.org/drawingml/2006/main">
              <a:ext uri="{FF2B5EF4-FFF2-40B4-BE49-F238E27FC236}">
                <a16:creationId xmlns:a16="http://schemas.microsoft.com/office/drawing/2014/main" id="{369215A1-0C03-4629-B862-F680DF44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342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28745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四句 mini review</a:t>
            </a:r>
          </a:p>
        </p:txBody>
      </p:sp>
      <p:sp>
        <p:nvSpPr>
          <p:cNvPr id="7" name="p19-a0">
            <a:extLst xmlns:a="http://schemas.openxmlformats.org/drawingml/2006/main">
              <a:ext uri="{FF2B5EF4-FFF2-40B4-BE49-F238E27FC236}">
                <a16:creationId xmlns:a16="http://schemas.microsoft.com/office/drawing/2014/main" id="{124DA012-B3A4-4752-96D8-14F4B841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763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19-in1">
            <a:extLst xmlns:a="http://schemas.openxmlformats.org/drawingml/2006/main">
              <a:ext uri="{FF2B5EF4-FFF2-40B4-BE49-F238E27FC236}">
                <a16:creationId xmlns:a16="http://schemas.microsoft.com/office/drawing/2014/main" id="{6A7AC7A8-7F0B-4683-A70E-53D06DA5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342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2F638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38A"/>
                </a:solidFill>
              </a:defRPr>
            </a:pPr>
            <a:r>
              <a:rPr sz="16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四视图证据地图</a:t>
            </a:r>
          </a:p>
        </p:txBody>
      </p:sp>
      <p:sp>
        <p:nvSpPr>
          <p:cNvPr id="9" name="p19-a1">
            <a:extLst xmlns:a="http://schemas.openxmlformats.org/drawingml/2006/main">
              <a:ext uri="{FF2B5EF4-FFF2-40B4-BE49-F238E27FC236}">
                <a16:creationId xmlns:a16="http://schemas.microsoft.com/office/drawing/2014/main" id="{272C7B79-351D-462F-BCAC-FE3243E9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19-in2">
            <a:extLst xmlns:a="http://schemas.openxmlformats.org/drawingml/2006/main">
              <a:ext uri="{FF2B5EF4-FFF2-40B4-BE49-F238E27FC236}">
                <a16:creationId xmlns:a16="http://schemas.microsoft.com/office/drawing/2014/main" id="{2494006A-D2EF-4C24-A030-079AE071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342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A86C1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6C12"/>
                </a:solidFill>
              </a:defRPr>
            </a:pPr>
            <a:r>
              <a:rPr sz="16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空白候选 + 首轮检验</a:t>
            </a:r>
          </a:p>
        </p:txBody>
      </p:sp>
      <p:sp>
        <p:nvSpPr>
          <p:cNvPr id="11" name="p19-a2">
            <a:extLst xmlns:a="http://schemas.openxmlformats.org/drawingml/2006/main">
              <a:ext uri="{FF2B5EF4-FFF2-40B4-BE49-F238E27FC236}">
                <a16:creationId xmlns:a16="http://schemas.microsoft.com/office/drawing/2014/main" id="{0720AD51-9E1E-43BE-9A0C-41A9B7CA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051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7684"/>
                </a:solidFill>
              </a:defRPr>
            </a:pPr>
            <a:r>
              <a:rPr sz="21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19-gate">
            <a:extLst xmlns:a="http://schemas.openxmlformats.org/drawingml/2006/main">
              <a:ext uri="{FF2B5EF4-FFF2-40B4-BE49-F238E27FC236}">
                <a16:creationId xmlns:a16="http://schemas.microsoft.com/office/drawing/2014/main" id="{991E241E-73C0-40C4-B006-7789CA0C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14500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6 课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问题定义 + 第一性原理 + 问题门</a:t>
            </a:r>
          </a:p>
        </p:txBody>
      </p:sp>
      <p:sp>
        <p:nvSpPr>
          <p:cNvPr id="13" name="p19-check-h">
            <a:extLst xmlns:a="http://schemas.openxmlformats.org/drawingml/2006/main">
              <a:ext uri="{FF2B5EF4-FFF2-40B4-BE49-F238E27FC236}">
                <a16:creationId xmlns:a16="http://schemas.microsoft.com/office/drawing/2014/main" id="{0999E4E2-0792-4D23-96D6-47237914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66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退出卡</a:t>
            </a:r>
          </a:p>
        </p:txBody>
      </p:sp>
      <p:sp>
        <p:nvSpPr>
          <p:cNvPr id="14" name="p19-c0">
            <a:extLst xmlns:a="http://schemas.openxmlformats.org/drawingml/2006/main">
              <a:ext uri="{FF2B5EF4-FFF2-40B4-BE49-F238E27FC236}">
                <a16:creationId xmlns:a16="http://schemas.microsoft.com/office/drawing/2014/main" id="{C23D2AA3-B833-4606-82E1-00342316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09750"/>
            <a:ext cx="209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哪一句仍缺直接证据？</a:t>
            </a:r>
          </a:p>
        </p:txBody>
      </p:sp>
      <p:sp>
        <p:nvSpPr>
          <p:cNvPr id="15" name="p19-c1">
            <a:extLst xmlns:a="http://schemas.openxmlformats.org/drawingml/2006/main">
              <a:ext uri="{FF2B5EF4-FFF2-40B4-BE49-F238E27FC236}">
                <a16:creationId xmlns:a16="http://schemas.microsoft.com/office/drawing/2014/main" id="{970C8727-B7A6-4801-B62B-B615FB48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86050"/>
            <a:ext cx="209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哪个空白最可能不通过？</a:t>
            </a:r>
          </a:p>
        </p:txBody>
      </p:sp>
      <p:sp>
        <p:nvSpPr>
          <p:cNvPr id="16" name="p19-c2">
            <a:extLst xmlns:a="http://schemas.openxmlformats.org/drawingml/2006/main">
              <a:ext uri="{FF2B5EF4-FFF2-40B4-BE49-F238E27FC236}">
                <a16:creationId xmlns:a16="http://schemas.microsoft.com/office/drawing/2014/main" id="{84BAA3D6-3A5B-4F3F-AD75-85B530B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62350"/>
            <a:ext cx="209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问题门还需补哪一项？</a:t>
            </a:r>
          </a:p>
        </p:txBody>
      </p:sp>
      <p:sp>
        <p:nvSpPr>
          <p:cNvPr id="17" name="p19-path">
            <a:extLst xmlns:a="http://schemas.openxmlformats.org/drawingml/2006/main">
              <a:ext uri="{FF2B5EF4-FFF2-40B4-BE49-F238E27FC236}">
                <a16:creationId xmlns:a16="http://schemas.microsoft.com/office/drawing/2014/main" id="{85799915-87D5-4A54-A252-E572CD3F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42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阅读卡 → mini review / 证据地图 → 研究问题 → 可证伪命题</a:t>
            </a:r>
          </a:p>
        </p:txBody>
      </p:sp>
      <p:sp>
        <p:nvSpPr>
          <p:cNvPr id="18" name="p19-bottom">
            <a:extLst xmlns:a="http://schemas.openxmlformats.org/drawingml/2006/main">
              <a:ext uri="{FF2B5EF4-FFF2-40B4-BE49-F238E27FC236}">
                <a16:creationId xmlns:a16="http://schemas.microsoft.com/office/drawing/2014/main" id="{4B799BCD-A481-463A-948A-34BB501B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95875"/>
            <a:ext cx="790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本课不新增正式作业；继续回写同一个人项目。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2026-08-07T10:50:20.8600000Z</dcterms:created>
  <dcterms:modified xsi:type="dcterms:W3CDTF">2026-08-07T10:50:20.8600000Z</dcterms:modified>
</coreProperties>
</file>