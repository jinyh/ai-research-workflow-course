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be2c50e26d4e01" /><Relationship Type="http://schemas.openxmlformats.org/officeDocument/2006/relationships/extended-properties" Target="/docProps/app.xml" Id="R32529e9c14a44574" /><Relationship Type="http://schemas.openxmlformats.org/officeDocument/2006/relationships/officeDocument" Target="/ppt/presentation.xml" Id="R7b50fc4685ca41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2e1d6fc2c6492a"/>
  </p:sldMasterIdLst>
  <p:notesMasterIdLst>
    <p:notesMasterId xmlns:r="http://schemas.openxmlformats.org/officeDocument/2006/relationships" r:id="Rc5595d62dc884232"/>
  </p:notesMasterIdLst>
  <p:sldIdLst>
    <p:sldId xmlns:r="http://schemas.openxmlformats.org/officeDocument/2006/relationships" id="256" r:id="Rb1880e4e5f5a4fc2"/>
    <p:sldId xmlns:r="http://schemas.openxmlformats.org/officeDocument/2006/relationships" id="257" r:id="R213b16cf0ba24c9f"/>
    <p:sldId xmlns:r="http://schemas.openxmlformats.org/officeDocument/2006/relationships" id="258" r:id="Rf909f7fbb0c94fb8"/>
    <p:sldId xmlns:r="http://schemas.openxmlformats.org/officeDocument/2006/relationships" id="259" r:id="R768a01bcb50c4cd3"/>
    <p:sldId xmlns:r="http://schemas.openxmlformats.org/officeDocument/2006/relationships" id="260" r:id="R81c5c1e739e04c08"/>
    <p:sldId xmlns:r="http://schemas.openxmlformats.org/officeDocument/2006/relationships" id="261" r:id="R8a57a1cbc2904413"/>
    <p:sldId xmlns:r="http://schemas.openxmlformats.org/officeDocument/2006/relationships" id="262" r:id="Raeda30773a0f4a04"/>
    <p:sldId xmlns:r="http://schemas.openxmlformats.org/officeDocument/2006/relationships" id="263" r:id="Ra0d2dbbf09a44a4e"/>
    <p:sldId xmlns:r="http://schemas.openxmlformats.org/officeDocument/2006/relationships" id="264" r:id="Rdd5844a1684b4e0f"/>
    <p:sldId xmlns:r="http://schemas.openxmlformats.org/officeDocument/2006/relationships" id="265" r:id="R0f0370f68030450d"/>
    <p:sldId xmlns:r="http://schemas.openxmlformats.org/officeDocument/2006/relationships" id="266" r:id="Re59ee59b436c4f43"/>
    <p:sldId xmlns:r="http://schemas.openxmlformats.org/officeDocument/2006/relationships" id="267" r:id="R09c5a6cd779a4af0"/>
    <p:sldId xmlns:r="http://schemas.openxmlformats.org/officeDocument/2006/relationships" id="268" r:id="R367c496528134481"/>
    <p:sldId xmlns:r="http://schemas.openxmlformats.org/officeDocument/2006/relationships" id="269" r:id="R8cb5566faff64f1c"/>
    <p:sldId xmlns:r="http://schemas.openxmlformats.org/officeDocument/2006/relationships" id="270" r:id="R4fd80b6c3b13457e"/>
    <p:sldId xmlns:r="http://schemas.openxmlformats.org/officeDocument/2006/relationships" id="271" r:id="R273dfdc6e4404e6b"/>
    <p:sldId xmlns:r="http://schemas.openxmlformats.org/officeDocument/2006/relationships" id="272" r:id="Ra59b966c93ad4ab7"/>
    <p:sldId xmlns:r="http://schemas.openxmlformats.org/officeDocument/2006/relationships" id="273" r:id="R58fe9c2b89164c3a"/>
    <p:sldId xmlns:r="http://schemas.openxmlformats.org/officeDocument/2006/relationships" id="274" r:id="R0e99f54c6aa449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0fb639ca6a44ce" /><Relationship Type="http://schemas.openxmlformats.org/officeDocument/2006/relationships/slideMaster" Target="/ppt/slideMasters/slideMaster1.xml" Id="Rf92e1d6fc2c6492a" /><Relationship Type="http://schemas.openxmlformats.org/officeDocument/2006/relationships/notesMaster" Target="/ppt/notesMasters/notesMaster1.xml" Id="Rc5595d62dc884232" /><Relationship Type="http://schemas.openxmlformats.org/officeDocument/2006/relationships/presProps" Target="/ppt/presProps.xml" Id="Rce3d3c28d3ce4ef5" /><Relationship Type="http://schemas.openxmlformats.org/officeDocument/2006/relationships/viewProps" Target="/ppt/viewProps.xml" Id="R454ac7b9739644e6" /><Relationship Type="http://schemas.openxmlformats.org/officeDocument/2006/relationships/tableStyles" Target="/ppt/tableStyles.xml" Id="R70f86dce5d1a4708" /><Relationship Type="http://schemas.openxmlformats.org/officeDocument/2006/relationships/slide" Target="/ppt/slides/slide1.xml" Id="Rb1880e4e5f5a4fc2" /><Relationship Type="http://schemas.openxmlformats.org/officeDocument/2006/relationships/slide" Target="/ppt/slides/slide2.xml" Id="R213b16cf0ba24c9f" /><Relationship Type="http://schemas.openxmlformats.org/officeDocument/2006/relationships/slide" Target="/ppt/slides/slide3.xml" Id="Rf909f7fbb0c94fb8" /><Relationship Type="http://schemas.openxmlformats.org/officeDocument/2006/relationships/slide" Target="/ppt/slides/slide4.xml" Id="R768a01bcb50c4cd3" /><Relationship Type="http://schemas.openxmlformats.org/officeDocument/2006/relationships/slide" Target="/ppt/slides/slide5.xml" Id="R81c5c1e739e04c08" /><Relationship Type="http://schemas.openxmlformats.org/officeDocument/2006/relationships/slide" Target="/ppt/slides/slide6.xml" Id="R8a57a1cbc2904413" /><Relationship Type="http://schemas.openxmlformats.org/officeDocument/2006/relationships/slide" Target="/ppt/slides/slide7.xml" Id="Raeda30773a0f4a04" /><Relationship Type="http://schemas.openxmlformats.org/officeDocument/2006/relationships/slide" Target="/ppt/slides/slide8.xml" Id="Ra0d2dbbf09a44a4e" /><Relationship Type="http://schemas.openxmlformats.org/officeDocument/2006/relationships/slide" Target="/ppt/slides/slide9.xml" Id="Rdd5844a1684b4e0f" /><Relationship Type="http://schemas.openxmlformats.org/officeDocument/2006/relationships/slide" Target="/ppt/slides/slide10.xml" Id="R0f0370f68030450d" /><Relationship Type="http://schemas.openxmlformats.org/officeDocument/2006/relationships/slide" Target="/ppt/slides/slide11.xml" Id="Re59ee59b436c4f43" /><Relationship Type="http://schemas.openxmlformats.org/officeDocument/2006/relationships/slide" Target="/ppt/slides/slide12.xml" Id="R09c5a6cd779a4af0" /><Relationship Type="http://schemas.openxmlformats.org/officeDocument/2006/relationships/slide" Target="/ppt/slides/slide13.xml" Id="R367c496528134481" /><Relationship Type="http://schemas.openxmlformats.org/officeDocument/2006/relationships/slide" Target="/ppt/slides/slide14.xml" Id="R8cb5566faff64f1c" /><Relationship Type="http://schemas.openxmlformats.org/officeDocument/2006/relationships/slide" Target="/ppt/slides/slide15.xml" Id="R4fd80b6c3b13457e" /><Relationship Type="http://schemas.openxmlformats.org/officeDocument/2006/relationships/slide" Target="/ppt/slides/slide16.xml" Id="R273dfdc6e4404e6b" /><Relationship Type="http://schemas.openxmlformats.org/officeDocument/2006/relationships/slide" Target="/ppt/slides/slide17.xml" Id="Ra59b966c93ad4ab7" /><Relationship Type="http://schemas.openxmlformats.org/officeDocument/2006/relationships/slide" Target="/ppt/slides/slide18.xml" Id="R58fe9c2b89164c3a" /><Relationship Type="http://schemas.openxmlformats.org/officeDocument/2006/relationships/slide" Target="/ppt/slides/slide19.xml" Id="R0e99f54c6aa449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855bde0d714f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956129902d41a8" /><Relationship Type="http://schemas.openxmlformats.org/officeDocument/2006/relationships/notesMaster" Target="/ppt/notesMasters/notesMaster1.xml" Id="Rd3c0c9ccfd5042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bb64a9dae7418e" /><Relationship Type="http://schemas.openxmlformats.org/officeDocument/2006/relationships/notesMaster" Target="/ppt/notesMasters/notesMaster1.xml" Id="R83897b70a62148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a971671b9b404f" /><Relationship Type="http://schemas.openxmlformats.org/officeDocument/2006/relationships/notesMaster" Target="/ppt/notesMasters/notesMaster1.xml" Id="R0af3cc70330040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25202c8a764fb6" /><Relationship Type="http://schemas.openxmlformats.org/officeDocument/2006/relationships/notesMaster" Target="/ppt/notesMasters/notesMaster1.xml" Id="Rea625b2288f741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29b9d864014900" /><Relationship Type="http://schemas.openxmlformats.org/officeDocument/2006/relationships/notesMaster" Target="/ppt/notesMasters/notesMaster1.xml" Id="R1d405ef5e8a74a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74c27182e74955" /><Relationship Type="http://schemas.openxmlformats.org/officeDocument/2006/relationships/notesMaster" Target="/ppt/notesMasters/notesMaster1.xml" Id="R5698472815a24c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078f9c80734f12" /><Relationship Type="http://schemas.openxmlformats.org/officeDocument/2006/relationships/notesMaster" Target="/ppt/notesMasters/notesMaster1.xml" Id="R3d928e4c17e94c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6839836e0b4a9e" /><Relationship Type="http://schemas.openxmlformats.org/officeDocument/2006/relationships/notesMaster" Target="/ppt/notesMasters/notesMaster1.xml" Id="Rbb3898ac7c104a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c0d70609bf4742" /><Relationship Type="http://schemas.openxmlformats.org/officeDocument/2006/relationships/notesMaster" Target="/ppt/notesMasters/notesMaster1.xml" Id="R054f1738c431406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df2c5f53f545d2" /><Relationship Type="http://schemas.openxmlformats.org/officeDocument/2006/relationships/notesMaster" Target="/ppt/notesMasters/notesMaster1.xml" Id="Reab71586c8874b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7c6586a4f340e3" /><Relationship Type="http://schemas.openxmlformats.org/officeDocument/2006/relationships/notesMaster" Target="/ppt/notesMasters/notesMaster1.xml" Id="Ra0fdcc7338494b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3f75b07d924d06" /><Relationship Type="http://schemas.openxmlformats.org/officeDocument/2006/relationships/notesMaster" Target="/ppt/notesMasters/notesMaster1.xml" Id="R1958986d3a2e42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f4eaf932894cac" /><Relationship Type="http://schemas.openxmlformats.org/officeDocument/2006/relationships/notesMaster" Target="/ppt/notesMasters/notesMaster1.xml" Id="R2bdcb3dd899d46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7d9dd6efbc463f" /><Relationship Type="http://schemas.openxmlformats.org/officeDocument/2006/relationships/notesMaster" Target="/ppt/notesMasters/notesMaster1.xml" Id="Rcc70c60c5b00487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016e88c51104f7c" /><Relationship Type="http://schemas.openxmlformats.org/officeDocument/2006/relationships/notesMaster" Target="/ppt/notesMasters/notesMaster1.xml" Id="R33fb77e053f34e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d21bcad24184edb" /><Relationship Type="http://schemas.openxmlformats.org/officeDocument/2006/relationships/notesMaster" Target="/ppt/notesMasters/notesMaster1.xml" Id="Re68257e7c74644c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f404cc9b5054344" /><Relationship Type="http://schemas.openxmlformats.org/officeDocument/2006/relationships/notesMaster" Target="/ppt/notesMasters/notesMaster1.xml" Id="Rc786814bf756452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2f029f3415942ac" /><Relationship Type="http://schemas.openxmlformats.org/officeDocument/2006/relationships/notesMaster" Target="/ppt/notesMasters/notesMaster1.xml" Id="R579e386f7f9a470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4ef576394942d8" /><Relationship Type="http://schemas.openxmlformats.org/officeDocument/2006/relationships/notesMaster" Target="/ppt/notesMasters/notesMaster1.xml" Id="R42c3a7a8c5174b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本课把第 4 课阅读卡重组为按问题排列的证据结构，并形成问题门可检查的最小综合。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lessons/备课规划.md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 进行第一次短互动：请学生判断自己的阅读笔记目前是按论文排列，还是已经按问题组织。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lessons/lesson-04/slides.md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明确课堂最低产出与边界。mini literature review 是四句最小综合，不是最终 related work。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让学生指出：一段逐篇摘要为何无法支持研究空白判断。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两类综述不是高低之分。学生需按研究任务选择结构，并保留检索、提取与取舍记录。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Kitchenham &amp; Charters, Guidelines for Performing Systematic Literature Reviews in Software Engineering, EBSE-2007-01 (2007)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矩阵示例为课程构造。列必须来自问题分解，不得从论文关键词反推。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这是本课最容易混淆的概念页：候选文献角色与问题门四视图是两层口径。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三类空白的识别动作不同。重点是让学生先标候选类型，不急于宣告领域结论。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让学生用自己的一个空白候选口头判断哪一步最薄弱。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本页用非例保护研究空白概念，避免把表述换新或工程未做误判为空白。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核验清单逐项讲。AI 可帮助聚类与草拟，但不能自动判定证据角色、冲突或领域空白。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虚构教学样例｜非真实论文、检索或实证证据。演示只训练阅读卡进入矩阵的动作，不提供论文事实。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虚构教学样例｜非真实论文、检索或实证证据。E3 是不可比的对比条目，不与 E1 自动形成冲突；G1 只展示应记录的检索字段。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虚构教学样例｜非真实论文、检索或实证证据。四句骨架练习最小综合，不伪装成完整 related work。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虚构教学样例｜非真实论文、检索或实证证据。让学生给出一条缺失的核验步骤，教师现场补入受限任务契约。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- lessons/lesson-05/teaching-plan.md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43:00-48:00 说明任务，48:00 切到 P17。教师巡视只处理共同卡点，不逐台排障。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48:00-75:00 停留。本页只支持最小闭环，不要求补齐整份综述或问题门数量。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75:00-85:00 两人互查。每人用 45 秒说明问题、矩阵和四句草稿，同伴按四问反馈。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收束开场：本课不要求完成完整综述，只把已核验材料重组为可进入问题门的证据结构。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68d0d59af840eb" /><Relationship Type="http://schemas.openxmlformats.org/officeDocument/2006/relationships/image" Target="/ppt/media/image.png" Id="Re77ff10218db4919" /><Relationship Type="http://schemas.openxmlformats.org/officeDocument/2006/relationships/image" Target="/ppt/media/image2.png" Id="Re6a9d8cbe92f4f10" /><Relationship Type="http://schemas.openxmlformats.org/officeDocument/2006/relationships/image" Target="/ppt/media/image3.png" Id="Red3e91d5f4eb435b" /><Relationship Type="http://schemas.openxmlformats.org/officeDocument/2006/relationships/image" Target="/ppt/media/image4.png" Id="R8062a518ba0740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a20ea713084fc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b3a27d89f046a0" /><Relationship Type="http://schemas.openxmlformats.org/officeDocument/2006/relationships/image" Target="/ppt/media/image2.png" Id="Rf3abcfde092a4c56" /><Relationship Type="http://schemas.openxmlformats.org/officeDocument/2006/relationships/image" Target="/ppt/media/image5.png" Id="Rc1c19088c8ca47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652ae3623a482a" /><Relationship Type="http://schemas.openxmlformats.org/officeDocument/2006/relationships/image" Target="/ppt/media/image.png" Id="Rf6ed74e801094c5b" /><Relationship Type="http://schemas.openxmlformats.org/officeDocument/2006/relationships/image" Target="/ppt/media/image3.png" Id="R8150e4cdc903442c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ff10218db4919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a9d8cbe92f4f10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3e91d5f4eb435b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62a518ba0740a6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abcfde092a4c56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19088c8ca47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ed74e801094c5b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50e4cdc903442c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33473c7bfc44c9" /><Relationship Type="http://schemas.openxmlformats.org/officeDocument/2006/relationships/slideLayout" Target="/ppt/slideLayouts/slideLayout1.xml" Id="R52b6653eec064d63" /><Relationship Type="http://schemas.openxmlformats.org/officeDocument/2006/relationships/slideLayout" Target="/ppt/slideLayouts/slideLayout2.xml" Id="R3534d1ed15f94a0f" /><Relationship Type="http://schemas.openxmlformats.org/officeDocument/2006/relationships/slideLayout" Target="/ppt/slideLayouts/slideLayout3.xml" Id="Re989b2741cec4e63" /><Relationship Type="http://schemas.openxmlformats.org/officeDocument/2006/relationships/slideLayout" Target="/ppt/slideLayouts/slideLayout4.xml" Id="Re85b3205ea7949bd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b6653eec064d63"/>
    <p:sldLayoutId xmlns:r="http://schemas.openxmlformats.org/officeDocument/2006/relationships" id="2147483650" r:id="R3534d1ed15f94a0f"/>
    <p:sldLayoutId xmlns:r="http://schemas.openxmlformats.org/officeDocument/2006/relationships" id="2147483651" r:id="Re989b2741cec4e63"/>
    <p:sldLayoutId xmlns:r="http://schemas.openxmlformats.org/officeDocument/2006/relationships" id="2147483652" r:id="Re85b3205ea7949b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caf7c0202495c" /><Relationship Type="http://schemas.openxmlformats.org/officeDocument/2006/relationships/notesSlide" Target="/ppt/notesSlides/notesSlide1.xml" Id="R6e9d3b4b96b24c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697302f24b4b9d" /><Relationship Type="http://schemas.openxmlformats.org/officeDocument/2006/relationships/notesSlide" Target="/ppt/notesSlides/notesSlide2.xml" Id="Rf577ff0ac3d640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6c20afadfa149b2" /><Relationship Type="http://schemas.openxmlformats.org/officeDocument/2006/relationships/notesSlide" Target="/ppt/notesSlides/notesSlide3.xml" Id="R2ce9bc39ea194a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25a617c79d4cb6" /><Relationship Type="http://schemas.openxmlformats.org/officeDocument/2006/relationships/notesSlide" Target="/ppt/notesSlides/notesSlide4.xml" Id="R551d3cb5a0c740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95d6a5d3fef46c9" /><Relationship Type="http://schemas.openxmlformats.org/officeDocument/2006/relationships/notesSlide" Target="/ppt/notesSlides/notesSlide5.xml" Id="Rabe0f36882f045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7adee4bf744535" /><Relationship Type="http://schemas.openxmlformats.org/officeDocument/2006/relationships/notesSlide" Target="/ppt/notesSlides/notesSlide6.xml" Id="Rbc4e9906970b46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d4ac52db9de4624" /><Relationship Type="http://schemas.openxmlformats.org/officeDocument/2006/relationships/notesSlide" Target="/ppt/notesSlides/notesSlide7.xml" Id="R6b1b90093ef046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a261ab70f5486a" /><Relationship Type="http://schemas.openxmlformats.org/officeDocument/2006/relationships/notesSlide" Target="/ppt/notesSlides/notesSlide8.xml" Id="R362c403bdfc643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783974851454b0f" /><Relationship Type="http://schemas.openxmlformats.org/officeDocument/2006/relationships/notesSlide" Target="/ppt/notesSlides/notesSlide9.xml" Id="R0cceb2d7271d4f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e4eb77d551a4ebc" /><Relationship Type="http://schemas.openxmlformats.org/officeDocument/2006/relationships/notesSlide" Target="/ppt/notesSlides/notesSlide10.xml" Id="Rcde08e68276a4e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d52cdb58364c02" /><Relationship Type="http://schemas.openxmlformats.org/officeDocument/2006/relationships/notesSlide" Target="/ppt/notesSlides/notesSlide11.xml" Id="Rab22a18a8a1d47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e6871891f1947ae" /><Relationship Type="http://schemas.openxmlformats.org/officeDocument/2006/relationships/notesSlide" Target="/ppt/notesSlides/notesSlide12.xml" Id="R735771f6b9cc4af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f527b237baa4b9c" /><Relationship Type="http://schemas.openxmlformats.org/officeDocument/2006/relationships/notesSlide" Target="/ppt/notesSlides/notesSlide13.xml" Id="Rb9980cc53925416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964f0d38ac64884" /><Relationship Type="http://schemas.openxmlformats.org/officeDocument/2006/relationships/notesSlide" Target="/ppt/notesSlides/notesSlide14.xml" Id="R4e7f9b8f2cf1405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5176e8af7004d26" /><Relationship Type="http://schemas.openxmlformats.org/officeDocument/2006/relationships/notesSlide" Target="/ppt/notesSlides/notesSlide15.xml" Id="R637dbd437c3549a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c9ac827d0a46c5" /><Relationship Type="http://schemas.openxmlformats.org/officeDocument/2006/relationships/notesSlide" Target="/ppt/notesSlides/notesSlide16.xml" Id="Rcf234f1f78414fc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7ff34d3f7fb412b" /><Relationship Type="http://schemas.openxmlformats.org/officeDocument/2006/relationships/notesSlide" Target="/ppt/notesSlides/notesSlide17.xml" Id="Rff789a5f255440f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a0eb158ed44ae2" /><Relationship Type="http://schemas.openxmlformats.org/officeDocument/2006/relationships/notesSlide" Target="/ppt/notesSlides/notesSlide18.xml" Id="R554e9b358e704b3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d2878348534141" /><Relationship Type="http://schemas.openxmlformats.org/officeDocument/2006/relationships/notesSlide" Target="/ppt/notesSlides/notesSlide19.xml" Id="R336f86cef4cf401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066800" y="3009900"/>
            <a:ext cx="10058400" cy="22860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 → 按问题组织 → 证据地图 → 四句 mini review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综述不是摘要堆叠，是按问题组织的证据结构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4000"/>
              </a:lnSpc>
              <a:buNone/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第五讲｜阶段五：证据整理 → 第 6 课问题门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200150"/>
            <a:ext cx="97536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综述结构、证据地图与研究空白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4 课之后，阅读卡为什么仍不算综述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h">
            <a:extLst xmlns:a="http://schemas.openxmlformats.org/drawingml/2006/main">
              <a:ext uri="{FF2B5EF4-FFF2-40B4-BE49-F238E27FC236}">
                <a16:creationId xmlns:a16="http://schemas.microsoft.com/office/drawing/2014/main" id="{7DA734E9-5612-4530-9F29-5FDA90FC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0125"/>
            <a:ext cx="447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已经有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60BBAC4A-DD1F-4B9D-B4C3-C2154323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带原文位置的阅读卡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24CF31D1-5D75-4A98-A18B-2B778B9D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作者主张与人工判断分栏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59A8CD17-9EAB-47CA-97C1-E7B9D637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AI 偏差审计记录</a:t>
            </a:r>
          </a:p>
        </p:txBody>
      </p:sp>
      <p:sp>
        <p:nvSpPr>
          <p:cNvPr id="10" name="p02-arrow">
            <a:extLst xmlns:a="http://schemas.openxmlformats.org/drawingml/2006/main">
              <a:ext uri="{FF2B5EF4-FFF2-40B4-BE49-F238E27FC236}">
                <a16:creationId xmlns:a16="http://schemas.microsoft.com/office/drawing/2014/main" id="{BC5CFB5B-86BA-4E0A-9F77-6B8223EA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67000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2-right-h">
            <a:extLst xmlns:a="http://schemas.openxmlformats.org/drawingml/2006/main">
              <a:ext uri="{FF2B5EF4-FFF2-40B4-BE49-F238E27FC236}">
                <a16:creationId xmlns:a16="http://schemas.microsoft.com/office/drawing/2014/main" id="{7C8F4FBF-BF4D-4F53-8E0D-7A2815F5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00125"/>
            <a:ext cx="447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仍看不见</a:t>
            </a:r>
          </a:p>
        </p:txBody>
      </p:sp>
      <p:sp>
        <p:nvSpPr>
          <p:cNvPr id="12" name="p02-right-0">
            <a:extLst xmlns:a="http://schemas.openxmlformats.org/drawingml/2006/main">
              <a:ext uri="{FF2B5EF4-FFF2-40B4-BE49-F238E27FC236}">
                <a16:creationId xmlns:a16="http://schemas.microsoft.com/office/drawing/2014/main" id="{488D31E2-BE61-4149-BD49-1497D694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2877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文献之间支持、冲突还是不可比？</a:t>
            </a:r>
          </a:p>
        </p:txBody>
      </p:sp>
      <p:sp>
        <p:nvSpPr>
          <p:cNvPr id="13" name="p02-right-1">
            <a:extLst xmlns:a="http://schemas.openxmlformats.org/drawingml/2006/main">
              <a:ext uri="{FF2B5EF4-FFF2-40B4-BE49-F238E27FC236}">
                <a16:creationId xmlns:a16="http://schemas.microsoft.com/office/drawing/2014/main" id="{B9B47F78-D310-4373-95DF-B2F7DE80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哪个子问题整列空白？</a:t>
            </a:r>
          </a:p>
        </p:txBody>
      </p:sp>
      <p:sp>
        <p:nvSpPr>
          <p:cNvPr id="14" name="p02-right-2">
            <a:extLst xmlns:a="http://schemas.openxmlformats.org/drawingml/2006/main">
              <a:ext uri="{FF2B5EF4-FFF2-40B4-BE49-F238E27FC236}">
                <a16:creationId xmlns:a16="http://schemas.microsoft.com/office/drawing/2014/main" id="{88B4B9C5-066C-4085-A58A-6F000EA8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0992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哪些句子能进入最小综述？</a:t>
            </a:r>
          </a:p>
        </p:txBody>
      </p:sp>
      <p:sp>
        <p:nvSpPr>
          <p:cNvPr id="15" name="p02-bottom">
            <a:extLst xmlns:a="http://schemas.openxmlformats.org/drawingml/2006/main">
              <a:ext uri="{FF2B5EF4-FFF2-40B4-BE49-F238E27FC236}">
                <a16:creationId xmlns:a16="http://schemas.microsoft.com/office/drawing/2014/main" id="{2BF59140-DF93-4FCE-A2E0-FFB8A14D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来源已核验  ≠  证据关系已组织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thesis">
            <a:extLst xmlns:a="http://schemas.openxmlformats.org/drawingml/2006/main">
              <a:ext uri="{FF2B5EF4-FFF2-40B4-BE49-F238E27FC236}">
                <a16:creationId xmlns:a16="http://schemas.microsoft.com/office/drawing/2014/main" id="{2F36DD86-56DD-4047-81AA-9710306D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10858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27 分钟只跑通一个可复查的最小闭环</a:t>
            </a:r>
          </a:p>
        </p:txBody>
      </p:sp>
      <p:sp>
        <p:nvSpPr>
          <p:cNvPr id="7" name="p03-n0">
            <a:extLst xmlns:a="http://schemas.openxmlformats.org/drawingml/2006/main">
              <a:ext uri="{FF2B5EF4-FFF2-40B4-BE49-F238E27FC236}">
                <a16:creationId xmlns:a16="http://schemas.microsoft.com/office/drawing/2014/main" id="{5B1A8D85-EA94-4111-828F-04A1FD82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03-h0">
            <a:extLst xmlns:a="http://schemas.openxmlformats.org/drawingml/2006/main">
              <a:ext uri="{FF2B5EF4-FFF2-40B4-BE49-F238E27FC236}">
                <a16:creationId xmlns:a16="http://schemas.microsoft.com/office/drawing/2014/main" id="{B599746D-C2E5-4B7C-A4DA-DC0F5BCB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窄矩阵</a:t>
            </a:r>
          </a:p>
        </p:txBody>
      </p:sp>
      <p:sp>
        <p:nvSpPr>
          <p:cNvPr id="9" name="p03-d0">
            <a:extLst xmlns:a="http://schemas.openxmlformats.org/drawingml/2006/main">
              <a:ext uri="{FF2B5EF4-FFF2-40B4-BE49-F238E27FC236}">
                <a16:creationId xmlns:a16="http://schemas.microsoft.com/office/drawing/2014/main" id="{18C55410-6AE8-40F4-A4E2-DEC2F468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2-3 张卡 × 2-3 个子问题</a:t>
            </a:r>
          </a:p>
        </p:txBody>
      </p:sp>
      <p:sp>
        <p:nvSpPr>
          <p:cNvPr id="10" name="p03-n1">
            <a:extLst xmlns:a="http://schemas.openxmlformats.org/drawingml/2006/main">
              <a:ext uri="{FF2B5EF4-FFF2-40B4-BE49-F238E27FC236}">
                <a16:creationId xmlns:a16="http://schemas.microsoft.com/office/drawing/2014/main" id="{7159B5C5-28A7-4A64-9969-EC543F39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03-h1">
            <a:extLst xmlns:a="http://schemas.openxmlformats.org/drawingml/2006/main">
              <a:ext uri="{FF2B5EF4-FFF2-40B4-BE49-F238E27FC236}">
                <a16:creationId xmlns:a16="http://schemas.microsoft.com/office/drawing/2014/main" id="{FD933C0F-DBD6-4F60-9657-B8A988BC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四视图地图</a:t>
            </a:r>
          </a:p>
        </p:txBody>
      </p:sp>
      <p:sp>
        <p:nvSpPr>
          <p:cNvPr id="12" name="p03-d1">
            <a:extLst xmlns:a="http://schemas.openxmlformats.org/drawingml/2006/main">
              <a:ext uri="{FF2B5EF4-FFF2-40B4-BE49-F238E27FC236}">
                <a16:creationId xmlns:a16="http://schemas.microsoft.com/office/drawing/2014/main" id="{3874C6B8-24BE-423E-BC88-8C121350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 / 补充 / 冲突 / 空白</a:t>
            </a:r>
          </a:p>
        </p:txBody>
      </p:sp>
      <p:sp>
        <p:nvSpPr>
          <p:cNvPr id="13" name="p03-n2">
            <a:extLst xmlns:a="http://schemas.openxmlformats.org/drawingml/2006/main">
              <a:ext uri="{FF2B5EF4-FFF2-40B4-BE49-F238E27FC236}">
                <a16:creationId xmlns:a16="http://schemas.microsoft.com/office/drawing/2014/main" id="{A77C418C-4F9F-410C-B904-9A7DC9D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4" name="p03-h2">
            <a:extLst xmlns:a="http://schemas.openxmlformats.org/drawingml/2006/main">
              <a:ext uri="{FF2B5EF4-FFF2-40B4-BE49-F238E27FC236}">
                <a16:creationId xmlns:a16="http://schemas.microsoft.com/office/drawing/2014/main" id="{8907073F-81B1-43E7-B8AD-E760E7FF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空白首轮检验</a:t>
            </a:r>
          </a:p>
        </p:txBody>
      </p:sp>
      <p:sp>
        <p:nvSpPr>
          <p:cNvPr id="15" name="p03-d2">
            <a:extLst xmlns:a="http://schemas.openxmlformats.org/drawingml/2006/main">
              <a:ext uri="{FF2B5EF4-FFF2-40B4-BE49-F238E27FC236}">
                <a16:creationId xmlns:a16="http://schemas.microsoft.com/office/drawing/2014/main" id="{ECF7582C-B2A4-49AA-A6CB-C35315B1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真实性 / 重要性 / 可行性</a:t>
            </a:r>
          </a:p>
        </p:txBody>
      </p:sp>
      <p:sp>
        <p:nvSpPr>
          <p:cNvPr id="16" name="p03-n3">
            <a:extLst xmlns:a="http://schemas.openxmlformats.org/drawingml/2006/main">
              <a:ext uri="{FF2B5EF4-FFF2-40B4-BE49-F238E27FC236}">
                <a16:creationId xmlns:a16="http://schemas.microsoft.com/office/drawing/2014/main" id="{01EDCCA3-8DD3-4000-B3B9-D164E84A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95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7" name="p03-h3">
            <a:extLst xmlns:a="http://schemas.openxmlformats.org/drawingml/2006/main">
              <a:ext uri="{FF2B5EF4-FFF2-40B4-BE49-F238E27FC236}">
                <a16:creationId xmlns:a16="http://schemas.microsoft.com/office/drawing/2014/main" id="{CB6E584B-0E13-418C-8AFF-6395EF69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95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四句 mini review</a:t>
            </a:r>
          </a:p>
        </p:txBody>
      </p:sp>
      <p:sp>
        <p:nvSpPr>
          <p:cNvPr id="18" name="p03-d3">
            <a:extLst xmlns:a="http://schemas.openxmlformats.org/drawingml/2006/main">
              <a:ext uri="{FF2B5EF4-FFF2-40B4-BE49-F238E27FC236}">
                <a16:creationId xmlns:a16="http://schemas.microsoft.com/office/drawing/2014/main" id="{898ADEB4-BFE9-4302-97F4-17D3EE48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 / 证据 / 分歧 / 空白</a:t>
            </a:r>
          </a:p>
        </p:txBody>
      </p:sp>
      <p:sp>
        <p:nvSpPr>
          <p:cNvPr id="19" name="p03-n4">
            <a:extLst xmlns:a="http://schemas.openxmlformats.org/drawingml/2006/main">
              <a:ext uri="{FF2B5EF4-FFF2-40B4-BE49-F238E27FC236}">
                <a16:creationId xmlns:a16="http://schemas.microsoft.com/office/drawing/2014/main" id="{7BB4778F-DA72-4F6E-A958-D06267CF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5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0" name="p03-h4">
            <a:extLst xmlns:a="http://schemas.openxmlformats.org/drawingml/2006/main">
              <a:ext uri="{FF2B5EF4-FFF2-40B4-BE49-F238E27FC236}">
                <a16:creationId xmlns:a16="http://schemas.microsoft.com/office/drawing/2014/main" id="{5366081F-DE44-4480-A8E3-3C4C7E63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95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一条 AI 核验</a:t>
            </a:r>
          </a:p>
        </p:txBody>
      </p:sp>
      <p:sp>
        <p:nvSpPr>
          <p:cNvPr id="21" name="p03-d4">
            <a:extLst xmlns:a="http://schemas.openxmlformats.org/drawingml/2006/main">
              <a:ext uri="{FF2B5EF4-FFF2-40B4-BE49-F238E27FC236}">
                <a16:creationId xmlns:a16="http://schemas.microsoft.com/office/drawing/2014/main" id="{C83DEF1A-9E59-46C5-A94B-237C7328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242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处理决定 + 使用记录</a:t>
            </a:r>
          </a:p>
        </p:txBody>
      </p:sp>
      <p:sp>
        <p:nvSpPr>
          <p:cNvPr id="22" name="p03-boundary">
            <a:extLst xmlns:a="http://schemas.openxmlformats.org/drawingml/2006/main">
              <a:ext uri="{FF2B5EF4-FFF2-40B4-BE49-F238E27FC236}">
                <a16:creationId xmlns:a16="http://schemas.microsoft.com/office/drawing/2014/main" id="{58A64E55-8B48-4F75-A6D2-46650554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0125"/>
            <a:ext cx="971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本课不正式提交；以上工件进入第 6 课问题门，不等于完整 related work。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摘要堆叠为什么不算综述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left-h">
            <a:extLst xmlns:a="http://schemas.openxmlformats.org/drawingml/2006/main">
              <a:ext uri="{FF2B5EF4-FFF2-40B4-BE49-F238E27FC236}">
                <a16:creationId xmlns:a16="http://schemas.microsoft.com/office/drawing/2014/main" id="{F8395AEE-88A8-4149-8CFA-778EE6FF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438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按论文排列</a:t>
            </a:r>
          </a:p>
        </p:txBody>
      </p:sp>
      <p:sp>
        <p:nvSpPr>
          <p:cNvPr id="7" name="p04-a0">
            <a:extLst xmlns:a="http://schemas.openxmlformats.org/drawingml/2006/main">
              <a:ext uri="{FF2B5EF4-FFF2-40B4-BE49-F238E27FC236}">
                <a16:creationId xmlns:a16="http://schemas.microsoft.com/office/drawing/2014/main" id="{2C866765-2194-474B-8602-3551BF64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621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A 摘要</a:t>
            </a:r>
          </a:p>
        </p:txBody>
      </p:sp>
      <p:sp>
        <p:nvSpPr>
          <p:cNvPr id="8" name="p04-a1">
            <a:extLst xmlns:a="http://schemas.openxmlformats.org/drawingml/2006/main">
              <a:ext uri="{FF2B5EF4-FFF2-40B4-BE49-F238E27FC236}">
                <a16:creationId xmlns:a16="http://schemas.microsoft.com/office/drawing/2014/main" id="{3DC2FE3A-CF0F-43BD-8C7D-9310D2BD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B 摘要</a:t>
            </a:r>
          </a:p>
        </p:txBody>
      </p:sp>
      <p:sp>
        <p:nvSpPr>
          <p:cNvPr id="9" name="p04-a2">
            <a:extLst xmlns:a="http://schemas.openxmlformats.org/drawingml/2006/main">
              <a:ext uri="{FF2B5EF4-FFF2-40B4-BE49-F238E27FC236}">
                <a16:creationId xmlns:a16="http://schemas.microsoft.com/office/drawing/2014/main" id="{9CCF1535-043C-4823-AF82-DDCE815C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C 摘要</a:t>
            </a:r>
          </a:p>
        </p:txBody>
      </p:sp>
      <p:sp>
        <p:nvSpPr>
          <p:cNvPr id="10" name="p04-neq">
            <a:extLst xmlns:a="http://schemas.openxmlformats.org/drawingml/2006/main">
              <a:ext uri="{FF2B5EF4-FFF2-40B4-BE49-F238E27FC236}">
                <a16:creationId xmlns:a16="http://schemas.microsoft.com/office/drawing/2014/main" id="{B40FAED9-4239-484D-8A21-120F82AB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19375"/>
            <a:ext cx="1104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C8161E"/>
                </a:solidFill>
              </a:defRPr>
            </a:pPr>
            <a:r>
              <a:rPr sz="4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1" name="p04-right-h">
            <a:extLst xmlns:a="http://schemas.openxmlformats.org/drawingml/2006/main">
              <a:ext uri="{FF2B5EF4-FFF2-40B4-BE49-F238E27FC236}">
                <a16:creationId xmlns:a16="http://schemas.microsoft.com/office/drawing/2014/main" id="{B7C358C9-1999-488B-9829-F1F2174E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28700"/>
            <a:ext cx="438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按问题组织</a:t>
            </a:r>
          </a:p>
        </p:txBody>
      </p:sp>
      <p:sp>
        <p:nvSpPr>
          <p:cNvPr id="12" name="p04-q0">
            <a:extLst xmlns:a="http://schemas.openxmlformats.org/drawingml/2006/main">
              <a:ext uri="{FF2B5EF4-FFF2-40B4-BE49-F238E27FC236}">
                <a16:creationId xmlns:a16="http://schemas.microsoft.com/office/drawing/2014/main" id="{DF0A6D63-111B-40AD-AB05-8AF3A1FF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621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共同回答什么？</a:t>
            </a:r>
          </a:p>
        </p:txBody>
      </p:sp>
      <p:sp>
        <p:nvSpPr>
          <p:cNvPr id="13" name="p04-q1">
            <a:extLst xmlns:a="http://schemas.openxmlformats.org/drawingml/2006/main">
              <a:ext uri="{FF2B5EF4-FFF2-40B4-BE49-F238E27FC236}">
                <a16:creationId xmlns:a16="http://schemas.microsoft.com/office/drawing/2014/main" id="{41449ED1-1F79-4494-9A15-602D7CD6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384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哪里冲突或不可比？</a:t>
            </a:r>
          </a:p>
        </p:txBody>
      </p:sp>
      <p:sp>
        <p:nvSpPr>
          <p:cNvPr id="14" name="p04-q2">
            <a:extLst xmlns:a="http://schemas.openxmlformats.org/drawingml/2006/main">
              <a:ext uri="{FF2B5EF4-FFF2-40B4-BE49-F238E27FC236}">
                <a16:creationId xmlns:a16="http://schemas.microsoft.com/office/drawing/2014/main" id="{BB36785E-51C7-419D-B59A-0F5C17F6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147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什么仍是空白？</a:t>
            </a:r>
          </a:p>
        </p:txBody>
      </p:sp>
      <p:sp>
        <p:nvSpPr>
          <p:cNvPr id="15" name="p04-bottom">
            <a:extLst xmlns:a="http://schemas.openxmlformats.org/drawingml/2006/main">
              <a:ext uri="{FF2B5EF4-FFF2-40B4-BE49-F238E27FC236}">
                <a16:creationId xmlns:a16="http://schemas.microsoft.com/office/drawing/2014/main" id="{7378EF33-3FD4-4EA6-9943-B9847752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62500"/>
            <a:ext cx="790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摘要堆叠保留了顺序，却丢失了证据关系。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叙事性综述与系统性综述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h-0">
            <a:extLst xmlns:a="http://schemas.openxmlformats.org/drawingml/2006/main">
              <a:ext uri="{FF2B5EF4-FFF2-40B4-BE49-F238E27FC236}">
                <a16:creationId xmlns:a16="http://schemas.microsoft.com/office/drawing/2014/main" id="{C0CEAD2F-493B-4AE9-BA4D-A6B9178A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维度</a:t>
            </a:r>
          </a:p>
        </p:txBody>
      </p:sp>
      <p:sp>
        <p:nvSpPr>
          <p:cNvPr id="7" name="p05-h-1">
            <a:extLst xmlns:a="http://schemas.openxmlformats.org/drawingml/2006/main">
              <a:ext uri="{FF2B5EF4-FFF2-40B4-BE49-F238E27FC236}">
                <a16:creationId xmlns:a16="http://schemas.microsoft.com/office/drawing/2014/main" id="{BA593F7D-78FE-43C3-A77A-847D47B8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43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叙事性综述</a:t>
            </a:r>
          </a:p>
        </p:txBody>
      </p:sp>
      <p:sp>
        <p:nvSpPr>
          <p:cNvPr id="8" name="p05-h-2">
            <a:extLst xmlns:a="http://schemas.openxmlformats.org/drawingml/2006/main">
              <a:ext uri="{FF2B5EF4-FFF2-40B4-BE49-F238E27FC236}">
                <a16:creationId xmlns:a16="http://schemas.microsoft.com/office/drawing/2014/main" id="{86D9E5C6-A069-406E-A564-159A34E9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143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系统性综述</a:t>
            </a:r>
          </a:p>
        </p:txBody>
      </p:sp>
      <p:sp>
        <p:nvSpPr>
          <p:cNvPr id="9" name="p05-r0-0">
            <a:extLst xmlns:a="http://schemas.openxmlformats.org/drawingml/2006/main">
              <a:ext uri="{FF2B5EF4-FFF2-40B4-BE49-F238E27FC236}">
                <a16:creationId xmlns:a16="http://schemas.microsoft.com/office/drawing/2014/main" id="{0CB5C68B-4916-4689-B12C-4E214966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430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10" name="p05-r0-1">
            <a:extLst xmlns:a="http://schemas.openxmlformats.org/drawingml/2006/main">
              <a:ext uri="{FF2B5EF4-FFF2-40B4-BE49-F238E27FC236}">
                <a16:creationId xmlns:a16="http://schemas.microsoft.com/office/drawing/2014/main" id="{726DEA08-6334-4EAF-9736-07D5E700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5430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解释主题、机制或冲突</a:t>
            </a:r>
          </a:p>
        </p:txBody>
      </p:sp>
      <p:sp>
        <p:nvSpPr>
          <p:cNvPr id="11" name="p05-r0-2">
            <a:extLst xmlns:a="http://schemas.openxmlformats.org/drawingml/2006/main">
              <a:ext uri="{FF2B5EF4-FFF2-40B4-BE49-F238E27FC236}">
                <a16:creationId xmlns:a16="http://schemas.microsoft.com/office/drawing/2014/main" id="{C6DFCAEC-ACD8-4F7B-AC1A-0FE0A3E8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430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按预设协议回答明确问题</a:t>
            </a:r>
          </a:p>
        </p:txBody>
      </p:sp>
      <p:sp>
        <p:nvSpPr>
          <p:cNvPr id="12" name="p05-r1-0">
            <a:extLst xmlns:a="http://schemas.openxmlformats.org/drawingml/2006/main">
              <a:ext uri="{FF2B5EF4-FFF2-40B4-BE49-F238E27FC236}">
                <a16:creationId xmlns:a16="http://schemas.microsoft.com/office/drawing/2014/main" id="{CBBCB29C-323C-4E26-883A-1D37930C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860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13" name="p05-r1-1">
            <a:extLst xmlns:a="http://schemas.openxmlformats.org/drawingml/2006/main">
              <a:ext uri="{FF2B5EF4-FFF2-40B4-BE49-F238E27FC236}">
                <a16:creationId xmlns:a16="http://schemas.microsoft.com/office/drawing/2014/main" id="{BF9F3166-38ED-475E-81F5-3B677983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286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范围由研究者说明</a:t>
            </a:r>
          </a:p>
        </p:txBody>
      </p:sp>
      <p:sp>
        <p:nvSpPr>
          <p:cNvPr id="14" name="p05-r1-2">
            <a:extLst xmlns:a="http://schemas.openxmlformats.org/drawingml/2006/main">
              <a:ext uri="{FF2B5EF4-FFF2-40B4-BE49-F238E27FC236}">
                <a16:creationId xmlns:a16="http://schemas.microsoft.com/office/drawing/2014/main" id="{70234BB4-60DF-4E0E-B824-B8F0B714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86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检索与纳入排除规则预先定义</a:t>
            </a:r>
          </a:p>
        </p:txBody>
      </p:sp>
      <p:sp>
        <p:nvSpPr>
          <p:cNvPr id="15" name="p05-r2-0">
            <a:extLst xmlns:a="http://schemas.openxmlformats.org/drawingml/2006/main">
              <a:ext uri="{FF2B5EF4-FFF2-40B4-BE49-F238E27FC236}">
                <a16:creationId xmlns:a16="http://schemas.microsoft.com/office/drawing/2014/main" id="{3D83805A-44E0-4C6D-9AEC-7A973A41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289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综合</a:t>
            </a:r>
          </a:p>
        </p:txBody>
      </p:sp>
      <p:sp>
        <p:nvSpPr>
          <p:cNvPr id="16" name="p05-r2-1">
            <a:extLst xmlns:a="http://schemas.openxmlformats.org/drawingml/2006/main">
              <a:ext uri="{FF2B5EF4-FFF2-40B4-BE49-F238E27FC236}">
                <a16:creationId xmlns:a16="http://schemas.microsoft.com/office/drawing/2014/main" id="{47B2911E-DD55-40F7-8880-1FDA20B2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289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按主题或机制组织</a:t>
            </a:r>
          </a:p>
        </p:txBody>
      </p:sp>
      <p:sp>
        <p:nvSpPr>
          <p:cNvPr id="17" name="p05-r2-2">
            <a:extLst xmlns:a="http://schemas.openxmlformats.org/drawingml/2006/main">
              <a:ext uri="{FF2B5EF4-FFF2-40B4-BE49-F238E27FC236}">
                <a16:creationId xmlns:a16="http://schemas.microsoft.com/office/drawing/2014/main" id="{1349FCA4-01E1-4875-85C7-E581F349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按固定字段提取并合成</a:t>
            </a:r>
          </a:p>
        </p:txBody>
      </p:sp>
      <p:sp>
        <p:nvSpPr>
          <p:cNvPr id="18" name="p05-r3-0">
            <a:extLst xmlns:a="http://schemas.openxmlformats.org/drawingml/2006/main">
              <a:ext uri="{FF2B5EF4-FFF2-40B4-BE49-F238E27FC236}">
                <a16:creationId xmlns:a16="http://schemas.microsoft.com/office/drawing/2014/main" id="{791A0EE3-192E-4CD9-9027-5BAFB0FE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7719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</a:t>
            </a:r>
          </a:p>
        </p:txBody>
      </p:sp>
      <p:sp>
        <p:nvSpPr>
          <p:cNvPr id="19" name="p05-r3-1">
            <a:extLst xmlns:a="http://schemas.openxmlformats.org/drawingml/2006/main">
              <a:ext uri="{FF2B5EF4-FFF2-40B4-BE49-F238E27FC236}">
                <a16:creationId xmlns:a16="http://schemas.microsoft.com/office/drawing/2014/main" id="{DE1FBF14-ADB4-4AE7-9B60-D1B0DC10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7719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选择性引用、忽视冲突</a:t>
            </a:r>
          </a:p>
        </p:txBody>
      </p:sp>
      <p:sp>
        <p:nvSpPr>
          <p:cNvPr id="20" name="p05-r3-2">
            <a:extLst xmlns:a="http://schemas.openxmlformats.org/drawingml/2006/main">
              <a:ext uri="{FF2B5EF4-FFF2-40B4-BE49-F238E27FC236}">
                <a16:creationId xmlns:a16="http://schemas.microsoft.com/office/drawing/2014/main" id="{DA4A5497-AA55-4EB1-B0AB-69D6C178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719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机械套用、强合并不可比研究</a:t>
            </a:r>
          </a:p>
        </p:txBody>
      </p:sp>
      <p:sp>
        <p:nvSpPr>
          <p:cNvPr id="21" name="p05-bottom">
            <a:extLst xmlns:a="http://schemas.openxmlformats.org/drawingml/2006/main">
              <a:ext uri="{FF2B5EF4-FFF2-40B4-BE49-F238E27FC236}">
                <a16:creationId xmlns:a16="http://schemas.microsoft.com/office/drawing/2014/main" id="{94A462C5-92DD-4B95-9F11-59D811D9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62500"/>
            <a:ext cx="9239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本课不要求完整系统综述，但要求过程可复盘、证据可定位。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相关工作矩阵：从按论文排列到按问题排列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rule">
            <a:extLst xmlns:a="http://schemas.openxmlformats.org/drawingml/2006/main">
              <a:ext uri="{FF2B5EF4-FFF2-40B4-BE49-F238E27FC236}">
                <a16:creationId xmlns:a16="http://schemas.microsoft.com/office/drawing/2014/main" id="{E86CC03C-A3D4-4984-9027-4DD71590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971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行 = 已核验材料　｜　列 = 从研究问题拆出的子问题</a:t>
            </a:r>
          </a:p>
        </p:txBody>
      </p:sp>
      <p:sp>
        <p:nvSpPr>
          <p:cNvPr id="7" name="p06-h-0">
            <a:extLst xmlns:a="http://schemas.openxmlformats.org/drawingml/2006/main">
              <a:ext uri="{FF2B5EF4-FFF2-40B4-BE49-F238E27FC236}">
                <a16:creationId xmlns:a16="http://schemas.microsoft.com/office/drawing/2014/main" id="{0E452575-6F56-4953-B3EE-3A9DA2B7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8" name="p06-h-1">
            <a:extLst xmlns:a="http://schemas.openxmlformats.org/drawingml/2006/main">
              <a:ext uri="{FF2B5EF4-FFF2-40B4-BE49-F238E27FC236}">
                <a16:creationId xmlns:a16="http://schemas.microsoft.com/office/drawing/2014/main" id="{2C6301B4-B763-4F32-9105-14B8D81E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定位原文</a:t>
            </a:r>
          </a:p>
        </p:txBody>
      </p:sp>
      <p:sp>
        <p:nvSpPr>
          <p:cNvPr id="9" name="p06-h-2">
            <a:extLst xmlns:a="http://schemas.openxmlformats.org/drawingml/2006/main">
              <a:ext uri="{FF2B5EF4-FFF2-40B4-BE49-F238E27FC236}">
                <a16:creationId xmlns:a16="http://schemas.microsoft.com/office/drawing/2014/main" id="{9D0A0DFF-DDB2-4A43-8E74-D885FCA4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定义遗漏</a:t>
            </a:r>
          </a:p>
        </p:txBody>
      </p:sp>
      <p:sp>
        <p:nvSpPr>
          <p:cNvPr id="10" name="p06-h-3">
            <a:extLst xmlns:a="http://schemas.openxmlformats.org/drawingml/2006/main">
              <a:ext uri="{FF2B5EF4-FFF2-40B4-BE49-F238E27FC236}">
                <a16:creationId xmlns:a16="http://schemas.microsoft.com/office/drawing/2014/main" id="{68D13D8F-8A59-4A13-B1D9-0FD47E6B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设置对照</a:t>
            </a:r>
          </a:p>
        </p:txBody>
      </p:sp>
      <p:sp>
        <p:nvSpPr>
          <p:cNvPr id="11" name="p06-h-4">
            <a:extLst xmlns:a="http://schemas.openxmlformats.org/drawingml/2006/main">
              <a:ext uri="{FF2B5EF4-FFF2-40B4-BE49-F238E27FC236}">
                <a16:creationId xmlns:a16="http://schemas.microsoft.com/office/drawing/2014/main" id="{467751C0-B404-4BA1-84A9-791DDF0A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候选角色</a:t>
            </a:r>
          </a:p>
        </p:txBody>
      </p:sp>
      <p:sp>
        <p:nvSpPr>
          <p:cNvPr id="12" name="p06-r0-0">
            <a:extLst xmlns:a="http://schemas.openxmlformats.org/drawingml/2006/main">
              <a:ext uri="{FF2B5EF4-FFF2-40B4-BE49-F238E27FC236}">
                <a16:creationId xmlns:a16="http://schemas.microsoft.com/office/drawing/2014/main" id="{1E3BA73A-744B-4CC3-A9DA-21996542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3" name="p06-r0-1">
            <a:extLst xmlns:a="http://schemas.openxmlformats.org/drawingml/2006/main">
              <a:ext uri="{FF2B5EF4-FFF2-40B4-BE49-F238E27FC236}">
                <a16:creationId xmlns:a16="http://schemas.microsoft.com/office/drawing/2014/main" id="{B830044A-6932-4325-B607-072624CE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4" name="p06-r0-2">
            <a:extLst xmlns:a="http://schemas.openxmlformats.org/drawingml/2006/main">
              <a:ext uri="{FF2B5EF4-FFF2-40B4-BE49-F238E27FC236}">
                <a16:creationId xmlns:a16="http://schemas.microsoft.com/office/drawing/2014/main" id="{54AE5100-5337-4A05-A233-CF15BFF9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5" name="p06-r0-3">
            <a:extLst xmlns:a="http://schemas.openxmlformats.org/drawingml/2006/main">
              <a:ext uri="{FF2B5EF4-FFF2-40B4-BE49-F238E27FC236}">
                <a16:creationId xmlns:a16="http://schemas.microsoft.com/office/drawing/2014/main" id="{28166C7E-56F3-4198-BDBD-1D2140A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6" name="p06-r0-4">
            <a:extLst xmlns:a="http://schemas.openxmlformats.org/drawingml/2006/main">
              <a:ext uri="{FF2B5EF4-FFF2-40B4-BE49-F238E27FC236}">
                <a16:creationId xmlns:a16="http://schemas.microsoft.com/office/drawing/2014/main" id="{0B2B5B3C-23EB-44C6-84DD-B3DE5E0E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</a:t>
            </a:r>
          </a:p>
        </p:txBody>
      </p:sp>
      <p:sp>
        <p:nvSpPr>
          <p:cNvPr id="17" name="p06-r1-0">
            <a:extLst xmlns:a="http://schemas.openxmlformats.org/drawingml/2006/main">
              <a:ext uri="{FF2B5EF4-FFF2-40B4-BE49-F238E27FC236}">
                <a16:creationId xmlns:a16="http://schemas.microsoft.com/office/drawing/2014/main" id="{61E9EB25-4FCA-4B9D-8ABC-87546DD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8" name="p06-r1-1">
            <a:extLst xmlns:a="http://schemas.openxmlformats.org/drawingml/2006/main">
              <a:ext uri="{FF2B5EF4-FFF2-40B4-BE49-F238E27FC236}">
                <a16:creationId xmlns:a16="http://schemas.microsoft.com/office/drawing/2014/main" id="{2E29E307-0A94-4EC8-BD30-C664B1BD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19" name="p06-r1-2">
            <a:extLst xmlns:a="http://schemas.openxmlformats.org/drawingml/2006/main">
              <a:ext uri="{FF2B5EF4-FFF2-40B4-BE49-F238E27FC236}">
                <a16:creationId xmlns:a16="http://schemas.microsoft.com/office/drawing/2014/main" id="{B5B62457-34FC-4BAE-B932-6F5FCED7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0" name="p06-r1-3">
            <a:extLst xmlns:a="http://schemas.openxmlformats.org/drawingml/2006/main">
              <a:ext uri="{FF2B5EF4-FFF2-40B4-BE49-F238E27FC236}">
                <a16:creationId xmlns:a16="http://schemas.microsoft.com/office/drawing/2014/main" id="{671C2976-97BA-4026-8D4B-D3796CAC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21" name="p06-r1-4">
            <a:extLst xmlns:a="http://schemas.openxmlformats.org/drawingml/2006/main">
              <a:ext uri="{FF2B5EF4-FFF2-40B4-BE49-F238E27FC236}">
                <a16:creationId xmlns:a16="http://schemas.microsoft.com/office/drawing/2014/main" id="{A88489C1-7A36-47CF-8062-7C5FC894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860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</a:t>
            </a:r>
          </a:p>
        </p:txBody>
      </p:sp>
      <p:sp>
        <p:nvSpPr>
          <p:cNvPr id="22" name="p06-r2-0">
            <a:extLst xmlns:a="http://schemas.openxmlformats.org/drawingml/2006/main">
              <a:ext uri="{FF2B5EF4-FFF2-40B4-BE49-F238E27FC236}">
                <a16:creationId xmlns:a16="http://schemas.microsoft.com/office/drawing/2014/main" id="{8F13FCCA-75BE-466F-9AF7-E171698F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3" name="p06-r2-1">
            <a:extLst xmlns:a="http://schemas.openxmlformats.org/drawingml/2006/main">
              <a:ext uri="{FF2B5EF4-FFF2-40B4-BE49-F238E27FC236}">
                <a16:creationId xmlns:a16="http://schemas.microsoft.com/office/drawing/2014/main" id="{E5C834D4-9833-4AA2-83DC-19F174E7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24" name="p06-r2-2">
            <a:extLst xmlns:a="http://schemas.openxmlformats.org/drawingml/2006/main">
              <a:ext uri="{FF2B5EF4-FFF2-40B4-BE49-F238E27FC236}">
                <a16:creationId xmlns:a16="http://schemas.microsoft.com/office/drawing/2014/main" id="{EE5A92D8-8558-4820-9914-CD6F4543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检索任务</a:t>
            </a:r>
          </a:p>
        </p:txBody>
      </p:sp>
      <p:sp>
        <p:nvSpPr>
          <p:cNvPr id="25" name="p06-r2-3">
            <a:extLst xmlns:a="http://schemas.openxmlformats.org/drawingml/2006/main">
              <a:ext uri="{FF2B5EF4-FFF2-40B4-BE49-F238E27FC236}">
                <a16:creationId xmlns:a16="http://schemas.microsoft.com/office/drawing/2014/main" id="{4A19DEB6-D68A-4813-8A24-E9F9F253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</a:t>
            </a:r>
          </a:p>
        </p:txBody>
      </p:sp>
      <p:sp>
        <p:nvSpPr>
          <p:cNvPr id="26" name="p06-r2-4">
            <a:extLst xmlns:a="http://schemas.openxmlformats.org/drawingml/2006/main">
              <a:ext uri="{FF2B5EF4-FFF2-40B4-BE49-F238E27FC236}">
                <a16:creationId xmlns:a16="http://schemas.microsoft.com/office/drawing/2014/main" id="{9D7D2AE3-0B8F-4D29-AD17-EA2D32D7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</a:t>
            </a:r>
          </a:p>
        </p:txBody>
      </p:sp>
      <p:sp>
        <p:nvSpPr>
          <p:cNvPr id="27" name="p06-r3-0">
            <a:extLst xmlns:a="http://schemas.openxmlformats.org/drawingml/2006/main">
              <a:ext uri="{FF2B5EF4-FFF2-40B4-BE49-F238E27FC236}">
                <a16:creationId xmlns:a16="http://schemas.microsoft.com/office/drawing/2014/main" id="{4A4C70B4-2589-453C-83E5-8A5F6FDC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28" name="p06-r3-1">
            <a:extLst xmlns:a="http://schemas.openxmlformats.org/drawingml/2006/main">
              <a:ext uri="{FF2B5EF4-FFF2-40B4-BE49-F238E27FC236}">
                <a16:creationId xmlns:a16="http://schemas.microsoft.com/office/drawing/2014/main" id="{ED2760CC-245F-42C6-B0F8-5068D5C6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相反结论</a:t>
            </a:r>
          </a:p>
        </p:txBody>
      </p:sp>
      <p:sp>
        <p:nvSpPr>
          <p:cNvPr id="29" name="p06-r3-2">
            <a:extLst xmlns:a="http://schemas.openxmlformats.org/drawingml/2006/main">
              <a:ext uri="{FF2B5EF4-FFF2-40B4-BE49-F238E27FC236}">
                <a16:creationId xmlns:a16="http://schemas.microsoft.com/office/drawing/2014/main" id="{8014AF48-7647-4991-A80B-B7BE5A72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0" name="p06-r3-3">
            <a:extLst xmlns:a="http://schemas.openxmlformats.org/drawingml/2006/main">
              <a:ext uri="{FF2B5EF4-FFF2-40B4-BE49-F238E27FC236}">
                <a16:creationId xmlns:a16="http://schemas.microsoft.com/office/drawing/2014/main" id="{307265FA-70A3-424B-93A7-A509F9FC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1" name="p06-r3-4">
            <a:extLst xmlns:a="http://schemas.openxmlformats.org/drawingml/2006/main">
              <a:ext uri="{FF2B5EF4-FFF2-40B4-BE49-F238E27FC236}">
                <a16:creationId xmlns:a16="http://schemas.microsoft.com/office/drawing/2014/main" id="{9B6AE304-FCB2-4A73-9A9D-345C7C0F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290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32" name="p06-r4-0">
            <a:extLst xmlns:a="http://schemas.openxmlformats.org/drawingml/2006/main">
              <a:ext uri="{FF2B5EF4-FFF2-40B4-BE49-F238E27FC236}">
                <a16:creationId xmlns:a16="http://schemas.microsoft.com/office/drawing/2014/main" id="{4614E4FE-11D8-4086-988D-52454CAE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</a:t>
            </a:r>
          </a:p>
        </p:txBody>
      </p:sp>
      <p:sp>
        <p:nvSpPr>
          <p:cNvPr id="33" name="p06-r4-1">
            <a:extLst xmlns:a="http://schemas.openxmlformats.org/drawingml/2006/main">
              <a:ext uri="{FF2B5EF4-FFF2-40B4-BE49-F238E27FC236}">
                <a16:creationId xmlns:a16="http://schemas.microsoft.com/office/drawing/2014/main" id="{2C86C0B4-0061-45EE-ADCD-9C20DEC5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4" name="p06-r4-2">
            <a:extLst xmlns:a="http://schemas.openxmlformats.org/drawingml/2006/main">
              <a:ext uri="{FF2B5EF4-FFF2-40B4-BE49-F238E27FC236}">
                <a16:creationId xmlns:a16="http://schemas.microsoft.com/office/drawing/2014/main" id="{73F9E344-7877-4D0A-9166-505FB93B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5" name="p06-r4-3">
            <a:extLst xmlns:a="http://schemas.openxmlformats.org/drawingml/2006/main">
              <a:ext uri="{FF2B5EF4-FFF2-40B4-BE49-F238E27FC236}">
                <a16:creationId xmlns:a16="http://schemas.microsoft.com/office/drawing/2014/main" id="{2B039E96-15E2-4EA1-AA29-6CD7BCBB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6" name="p06-r4-4">
            <a:extLst xmlns:a="http://schemas.openxmlformats.org/drawingml/2006/main">
              <a:ext uri="{FF2B5EF4-FFF2-40B4-BE49-F238E27FC236}">
                <a16:creationId xmlns:a16="http://schemas.microsoft.com/office/drawing/2014/main" id="{D4CD2B49-DCAF-4CCA-B7D4-C9D2FF98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00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空白候选</a:t>
            </a:r>
          </a:p>
        </p:txBody>
      </p:sp>
      <p:sp>
        <p:nvSpPr>
          <p:cNvPr id="37" name="p06-bottom">
            <a:extLst xmlns:a="http://schemas.openxmlformats.org/drawingml/2006/main">
              <a:ext uri="{FF2B5EF4-FFF2-40B4-BE49-F238E27FC236}">
                <a16:creationId xmlns:a16="http://schemas.microsoft.com/office/drawing/2014/main" id="{6F1F18CA-9D12-43B7-8CDD-BDB99407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673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空格只说明“当前地图未回答”，不自动证明领域没人做过。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证据地图：从文献角色到问题门四视图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left-h">
            <a:extLst xmlns:a="http://schemas.openxmlformats.org/drawingml/2006/main">
              <a:ext uri="{FF2B5EF4-FFF2-40B4-BE49-F238E27FC236}">
                <a16:creationId xmlns:a16="http://schemas.microsoft.com/office/drawing/2014/main" id="{147EA3AA-EC55-4636-84C6-A6E80DC8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1550"/>
            <a:ext cx="419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3 课：候选文献角色</a:t>
            </a:r>
          </a:p>
        </p:txBody>
      </p:sp>
      <p:sp>
        <p:nvSpPr>
          <p:cNvPr id="7" name="p07-l0">
            <a:extLst xmlns:a="http://schemas.openxmlformats.org/drawingml/2006/main">
              <a:ext uri="{FF2B5EF4-FFF2-40B4-BE49-F238E27FC236}">
                <a16:creationId xmlns:a16="http://schemas.microsoft.com/office/drawing/2014/main" id="{6BDDCFD9-8470-4E75-9767-04F11DCD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</a:t>
            </a:r>
          </a:p>
        </p:txBody>
      </p:sp>
      <p:sp>
        <p:nvSpPr>
          <p:cNvPr id="8" name="p07-l1">
            <a:extLst xmlns:a="http://schemas.openxmlformats.org/drawingml/2006/main">
              <a:ext uri="{FF2B5EF4-FFF2-40B4-BE49-F238E27FC236}">
                <a16:creationId xmlns:a16="http://schemas.microsoft.com/office/drawing/2014/main" id="{875B89E5-ADE2-4A40-9EE0-10BD9C4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9" name="p07-l2">
            <a:extLst xmlns:a="http://schemas.openxmlformats.org/drawingml/2006/main">
              <a:ext uri="{FF2B5EF4-FFF2-40B4-BE49-F238E27FC236}">
                <a16:creationId xmlns:a16="http://schemas.microsoft.com/office/drawing/2014/main" id="{4B1C8FAC-0BFF-4CEB-8D51-F4F01302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对比证据</a:t>
            </a:r>
          </a:p>
        </p:txBody>
      </p:sp>
      <p:sp>
        <p:nvSpPr>
          <p:cNvPr id="10" name="p07-l3">
            <a:extLst xmlns:a="http://schemas.openxmlformats.org/drawingml/2006/main">
              <a:ext uri="{FF2B5EF4-FFF2-40B4-BE49-F238E27FC236}">
                <a16:creationId xmlns:a16="http://schemas.microsoft.com/office/drawing/2014/main" id="{ACAF2317-EEBB-4BB6-8986-A4B9BA3A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684"/>
                </a:solidFill>
              </a:defRPr>
            </a:pPr>
            <a:r>
              <a:rPr sz="15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探索线索</a:t>
            </a:r>
          </a:p>
        </p:txBody>
      </p:sp>
      <p:sp>
        <p:nvSpPr>
          <p:cNvPr id="11" name="p07-a1">
            <a:extLst xmlns:a="http://schemas.openxmlformats.org/drawingml/2006/main">
              <a:ext uri="{FF2B5EF4-FFF2-40B4-BE49-F238E27FC236}">
                <a16:creationId xmlns:a16="http://schemas.microsoft.com/office/drawing/2014/main" id="{0E848CC3-7F33-4B87-AEF9-CF1A66A9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002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07-a2">
            <a:extLst xmlns:a="http://schemas.openxmlformats.org/drawingml/2006/main">
              <a:ext uri="{FF2B5EF4-FFF2-40B4-BE49-F238E27FC236}">
                <a16:creationId xmlns:a16="http://schemas.microsoft.com/office/drawing/2014/main" id="{0DE3CE96-7D25-4162-BCD2-78528A2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19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07-a3">
            <a:extLst xmlns:a="http://schemas.openxmlformats.org/drawingml/2006/main">
              <a:ext uri="{FF2B5EF4-FFF2-40B4-BE49-F238E27FC236}">
                <a16:creationId xmlns:a16="http://schemas.microsoft.com/office/drawing/2014/main" id="{E0355538-4B5A-40D8-8C25-7242B345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385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07-a4">
            <a:extLst xmlns:a="http://schemas.openxmlformats.org/drawingml/2006/main">
              <a:ext uri="{FF2B5EF4-FFF2-40B4-BE49-F238E27FC236}">
                <a16:creationId xmlns:a16="http://schemas.microsoft.com/office/drawing/2014/main" id="{FFF8C5FE-4B8D-482E-A177-2A51194D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781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不进入</a:t>
            </a:r>
          </a:p>
        </p:txBody>
      </p:sp>
      <p:sp>
        <p:nvSpPr>
          <p:cNvPr id="15" name="p07-right-h">
            <a:extLst xmlns:a="http://schemas.openxmlformats.org/drawingml/2006/main">
              <a:ext uri="{FF2B5EF4-FFF2-40B4-BE49-F238E27FC236}">
                <a16:creationId xmlns:a16="http://schemas.microsoft.com/office/drawing/2014/main" id="{1C34D828-BA6C-455D-8CBC-E54B3D67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971550"/>
            <a:ext cx="542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问题门：证据地图四视图</a:t>
            </a:r>
          </a:p>
        </p:txBody>
      </p:sp>
      <p:sp>
        <p:nvSpPr>
          <p:cNvPr id="16" name="p07-rh0">
            <a:extLst xmlns:a="http://schemas.openxmlformats.org/drawingml/2006/main">
              <a:ext uri="{FF2B5EF4-FFF2-40B4-BE49-F238E27FC236}">
                <a16:creationId xmlns:a16="http://schemas.microsoft.com/office/drawing/2014/main" id="{A6FABADA-CE72-4F45-8ADF-F89E69DD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直接证据</a:t>
            </a:r>
          </a:p>
        </p:txBody>
      </p:sp>
      <p:sp>
        <p:nvSpPr>
          <p:cNvPr id="17" name="p07-rd0">
            <a:extLst xmlns:a="http://schemas.openxmlformats.org/drawingml/2006/main">
              <a:ext uri="{FF2B5EF4-FFF2-40B4-BE49-F238E27FC236}">
                <a16:creationId xmlns:a16="http://schemas.microsoft.com/office/drawing/2014/main" id="{51FA94F0-2892-4C6E-A437-2C865CD4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811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主证据且直接回答当前子问题</a:t>
            </a:r>
          </a:p>
        </p:txBody>
      </p:sp>
      <p:sp>
        <p:nvSpPr>
          <p:cNvPr id="18" name="p07-rh1">
            <a:extLst xmlns:a="http://schemas.openxmlformats.org/drawingml/2006/main">
              <a:ext uri="{FF2B5EF4-FFF2-40B4-BE49-F238E27FC236}">
                <a16:creationId xmlns:a16="http://schemas.microsoft.com/office/drawing/2014/main" id="{20E3D79F-5EBE-457F-B52F-A1F9020E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574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19" name="p07-rd1">
            <a:extLst xmlns:a="http://schemas.openxmlformats.org/drawingml/2006/main">
              <a:ext uri="{FF2B5EF4-FFF2-40B4-BE49-F238E27FC236}">
                <a16:creationId xmlns:a16="http://schemas.microsoft.com/office/drawing/2014/main" id="{BC49C6EF-9185-4269-9DC0-31DE6FCE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574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提供不同来源、测量或路径</a:t>
            </a:r>
          </a:p>
        </p:txBody>
      </p:sp>
      <p:sp>
        <p:nvSpPr>
          <p:cNvPr id="20" name="p07-rh2">
            <a:extLst xmlns:a="http://schemas.openxmlformats.org/drawingml/2006/main">
              <a:ext uri="{FF2B5EF4-FFF2-40B4-BE49-F238E27FC236}">
                <a16:creationId xmlns:a16="http://schemas.microsoft.com/office/drawing/2014/main" id="{DDA7ED8A-F603-4518-B5D1-9D60132C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337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1" name="p07-rd2">
            <a:extLst xmlns:a="http://schemas.openxmlformats.org/drawingml/2006/main">
              <a:ext uri="{FF2B5EF4-FFF2-40B4-BE49-F238E27FC236}">
                <a16:creationId xmlns:a16="http://schemas.microsoft.com/office/drawing/2014/main" id="{01EAECAB-1E02-4DA4-BAC3-362E7B10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337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条件可比且结论相反</a:t>
            </a:r>
          </a:p>
        </p:txBody>
      </p:sp>
      <p:sp>
        <p:nvSpPr>
          <p:cNvPr id="22" name="p07-rh3">
            <a:extLst xmlns:a="http://schemas.openxmlformats.org/drawingml/2006/main">
              <a:ext uri="{FF2B5EF4-FFF2-40B4-BE49-F238E27FC236}">
                <a16:creationId xmlns:a16="http://schemas.microsoft.com/office/drawing/2014/main" id="{9A46654C-6731-45EF-BEB4-8ABB029F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100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23" name="p07-rd3">
            <a:extLst xmlns:a="http://schemas.openxmlformats.org/drawingml/2006/main">
              <a:ext uri="{FF2B5EF4-FFF2-40B4-BE49-F238E27FC236}">
                <a16:creationId xmlns:a16="http://schemas.microsoft.com/office/drawing/2014/main" id="{33C53ED8-874D-44C3-ACAF-024DA86F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100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当前地图没有直接回答材料</a:t>
            </a:r>
          </a:p>
        </p:txBody>
      </p:sp>
      <p:sp>
        <p:nvSpPr>
          <p:cNvPr id="24" name="p07-bottom">
            <a:extLst xmlns:a="http://schemas.openxmlformats.org/drawingml/2006/main">
              <a:ext uri="{FF2B5EF4-FFF2-40B4-BE49-F238E27FC236}">
                <a16:creationId xmlns:a16="http://schemas.microsoft.com/office/drawing/2014/main" id="{5D7602D7-1CE3-481E-A27A-BDC4301A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95875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对比证据不自动等于冲突；探索线索不进入主格。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研究空白三类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n0">
            <a:extLst xmlns:a="http://schemas.openxmlformats.org/drawingml/2006/main">
              <a:ext uri="{FF2B5EF4-FFF2-40B4-BE49-F238E27FC236}">
                <a16:creationId xmlns:a16="http://schemas.microsoft.com/office/drawing/2014/main" id="{677D563A-B25C-47CE-A12A-A869DD7A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90625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08-h0">
            <a:extLst xmlns:a="http://schemas.openxmlformats.org/drawingml/2006/main">
              <a:ext uri="{FF2B5EF4-FFF2-40B4-BE49-F238E27FC236}">
                <a16:creationId xmlns:a16="http://schemas.microsoft.com/office/drawing/2014/main" id="{B3BA1C5C-909A-4187-9EDD-BD92AE27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95375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冲突空白</a:t>
            </a:r>
          </a:p>
        </p:txBody>
      </p:sp>
      <p:sp>
        <p:nvSpPr>
          <p:cNvPr id="8" name="p08-d0">
            <a:extLst xmlns:a="http://schemas.openxmlformats.org/drawingml/2006/main">
              <a:ext uri="{FF2B5EF4-FFF2-40B4-BE49-F238E27FC236}">
                <a16:creationId xmlns:a16="http://schemas.microsoft.com/office/drawing/2014/main" id="{6D92B9BE-F258-41B5-B9BE-84108F10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095375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可比条件下结论相反，差异未解释</a:t>
            </a:r>
          </a:p>
        </p:txBody>
      </p:sp>
      <p:sp>
        <p:nvSpPr>
          <p:cNvPr id="9" name="p08-c0">
            <a:extLst xmlns:a="http://schemas.openxmlformats.org/drawingml/2006/main">
              <a:ext uri="{FF2B5EF4-FFF2-40B4-BE49-F238E27FC236}">
                <a16:creationId xmlns:a16="http://schemas.microsoft.com/office/drawing/2014/main" id="{8BB3BE68-1CAF-4D3F-BE14-0279E800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095375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先核对任务、指标、样本</a:t>
            </a:r>
          </a:p>
        </p:txBody>
      </p:sp>
      <p:sp>
        <p:nvSpPr>
          <p:cNvPr id="10" name="p08-n1">
            <a:extLst xmlns:a="http://schemas.openxmlformats.org/drawingml/2006/main">
              <a:ext uri="{FF2B5EF4-FFF2-40B4-BE49-F238E27FC236}">
                <a16:creationId xmlns:a16="http://schemas.microsoft.com/office/drawing/2014/main" id="{CE55917F-0AC5-459D-A2C1-17E9F759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95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08-h1">
            <a:extLst xmlns:a="http://schemas.openxmlformats.org/drawingml/2006/main">
              <a:ext uri="{FF2B5EF4-FFF2-40B4-BE49-F238E27FC236}">
                <a16:creationId xmlns:a16="http://schemas.microsoft.com/office/drawing/2014/main" id="{60F241FF-8152-4DC7-9C20-8672E0EF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0300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缺角空白</a:t>
            </a:r>
          </a:p>
        </p:txBody>
      </p:sp>
      <p:sp>
        <p:nvSpPr>
          <p:cNvPr id="12" name="p08-d1">
            <a:extLst xmlns:a="http://schemas.openxmlformats.org/drawingml/2006/main">
              <a:ext uri="{FF2B5EF4-FFF2-40B4-BE49-F238E27FC236}">
                <a16:creationId xmlns:a16="http://schemas.microsoft.com/office/drawing/2014/main" id="{D1066D62-D94F-43E1-8579-4014C756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00300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某子问题整列空白，邻近条件已有材料</a:t>
            </a:r>
          </a:p>
        </p:txBody>
      </p:sp>
      <p:sp>
        <p:nvSpPr>
          <p:cNvPr id="13" name="p08-c1">
            <a:extLst xmlns:a="http://schemas.openxmlformats.org/drawingml/2006/main">
              <a:ext uri="{FF2B5EF4-FFF2-40B4-BE49-F238E27FC236}">
                <a16:creationId xmlns:a16="http://schemas.microsoft.com/office/drawing/2014/main" id="{CAC34771-2F9A-404E-80B5-9F9C62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00300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先做窄检索</a:t>
            </a:r>
          </a:p>
        </p:txBody>
      </p:sp>
      <p:sp>
        <p:nvSpPr>
          <p:cNvPr id="14" name="p08-n2">
            <a:extLst xmlns:a="http://schemas.openxmlformats.org/drawingml/2006/main">
              <a:ext uri="{FF2B5EF4-FFF2-40B4-BE49-F238E27FC236}">
                <a16:creationId xmlns:a16="http://schemas.microsoft.com/office/drawing/2014/main" id="{A5F95C70-3B59-4D5C-A006-992C1392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00475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08-h2">
            <a:extLst xmlns:a="http://schemas.openxmlformats.org/drawingml/2006/main">
              <a:ext uri="{FF2B5EF4-FFF2-40B4-BE49-F238E27FC236}">
                <a16:creationId xmlns:a16="http://schemas.microsoft.com/office/drawing/2014/main" id="{E7E440FD-F2A7-4044-BB1C-979E430C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05225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新问题空白</a:t>
            </a:r>
          </a:p>
        </p:txBody>
      </p:sp>
      <p:sp>
        <p:nvSpPr>
          <p:cNvPr id="16" name="p08-d2">
            <a:extLst xmlns:a="http://schemas.openxmlformats.org/drawingml/2006/main">
              <a:ext uri="{FF2B5EF4-FFF2-40B4-BE49-F238E27FC236}">
                <a16:creationId xmlns:a16="http://schemas.microsoft.com/office/drawing/2014/main" id="{7245439B-9ACE-4B50-9A9A-B665A26F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05225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新场景、条件或机制衍生的问题</a:t>
            </a:r>
          </a:p>
        </p:txBody>
      </p:sp>
      <p:sp>
        <p:nvSpPr>
          <p:cNvPr id="17" name="p08-c2">
            <a:extLst xmlns:a="http://schemas.openxmlformats.org/drawingml/2006/main">
              <a:ext uri="{FF2B5EF4-FFF2-40B4-BE49-F238E27FC236}">
                <a16:creationId xmlns:a16="http://schemas.microsoft.com/office/drawing/2014/main" id="{93061DB8-F711-4D66-8D83-E4B2C3EC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05225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仍需可证伪</a:t>
            </a:r>
          </a:p>
        </p:txBody>
      </p:sp>
      <p:sp>
        <p:nvSpPr>
          <p:cNvPr id="18" name="p08-bottom">
            <a:extLst xmlns:a="http://schemas.openxmlformats.org/drawingml/2006/main">
              <a:ext uri="{FF2B5EF4-FFF2-40B4-BE49-F238E27FC236}">
                <a16:creationId xmlns:a16="http://schemas.microsoft.com/office/drawing/2014/main" id="{4DCC7FC3-37CD-49D9-9379-9C111D83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“还没有论文写过”不是空白证明，只是待核验的候选表述。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三步检验：从证据空白到可检验问题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n0">
            <a:extLst xmlns:a="http://schemas.openxmlformats.org/drawingml/2006/main">
              <a:ext uri="{FF2B5EF4-FFF2-40B4-BE49-F238E27FC236}">
                <a16:creationId xmlns:a16="http://schemas.microsoft.com/office/drawing/2014/main" id="{A3D534BA-AB1D-4128-9D6B-8E1F4EFE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09-h0">
            <a:extLst xmlns:a="http://schemas.openxmlformats.org/drawingml/2006/main">
              <a:ext uri="{FF2B5EF4-FFF2-40B4-BE49-F238E27FC236}">
                <a16:creationId xmlns:a16="http://schemas.microsoft.com/office/drawing/2014/main" id="{B299A5A4-1AD3-43D9-928B-26DBCE6D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F638A"/>
                </a:solidFill>
              </a:defRPr>
            </a:pPr>
            <a:r>
              <a:rPr sz="19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真实性</a:t>
            </a:r>
          </a:p>
        </p:txBody>
      </p:sp>
      <p:sp>
        <p:nvSpPr>
          <p:cNvPr id="8" name="p09-d0">
            <a:extLst xmlns:a="http://schemas.openxmlformats.org/drawingml/2006/main">
              <a:ext uri="{FF2B5EF4-FFF2-40B4-BE49-F238E27FC236}">
                <a16:creationId xmlns:a16="http://schemas.microsoft.com/office/drawing/2014/main" id="{9AA4E957-441E-40B2-A56A-0F2B3335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窄检索：式 / 库 / 日期 / 命中 / 筛选</a:t>
            </a:r>
          </a:p>
        </p:txBody>
      </p:sp>
      <p:sp>
        <p:nvSpPr>
          <p:cNvPr id="9" name="p09-a0">
            <a:extLst xmlns:a="http://schemas.openxmlformats.org/drawingml/2006/main">
              <a:ext uri="{FF2B5EF4-FFF2-40B4-BE49-F238E27FC236}">
                <a16:creationId xmlns:a16="http://schemas.microsoft.com/office/drawing/2014/main" id="{3A00A264-9AFC-4337-8455-298D2879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9-n1">
            <a:extLst xmlns:a="http://schemas.openxmlformats.org/drawingml/2006/main">
              <a:ext uri="{FF2B5EF4-FFF2-40B4-BE49-F238E27FC236}">
                <a16:creationId xmlns:a16="http://schemas.microsoft.com/office/drawing/2014/main" id="{0E761202-55E6-483D-9C28-DFA9EC82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09-h1">
            <a:extLst xmlns:a="http://schemas.openxmlformats.org/drawingml/2006/main">
              <a:ext uri="{FF2B5EF4-FFF2-40B4-BE49-F238E27FC236}">
                <a16:creationId xmlns:a16="http://schemas.microsoft.com/office/drawing/2014/main" id="{778DE76E-A5C2-49DA-8FCC-566B6B71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86C12"/>
                </a:solidFill>
              </a:defRPr>
            </a:pPr>
            <a:r>
              <a:rPr sz="19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重要性</a:t>
            </a:r>
          </a:p>
        </p:txBody>
      </p:sp>
      <p:sp>
        <p:nvSpPr>
          <p:cNvPr id="12" name="p09-d1">
            <a:extLst xmlns:a="http://schemas.openxmlformats.org/drawingml/2006/main">
              <a:ext uri="{FF2B5EF4-FFF2-40B4-BE49-F238E27FC236}">
                <a16:creationId xmlns:a16="http://schemas.microsoft.com/office/drawing/2014/main" id="{CCD8694D-EF58-4AF2-BC91-657F86EE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若不回答，哪条主张或机制无法成立？</a:t>
            </a:r>
          </a:p>
        </p:txBody>
      </p:sp>
      <p:sp>
        <p:nvSpPr>
          <p:cNvPr id="13" name="p09-a1">
            <a:extLst xmlns:a="http://schemas.openxmlformats.org/drawingml/2006/main">
              <a:ext uri="{FF2B5EF4-FFF2-40B4-BE49-F238E27FC236}">
                <a16:creationId xmlns:a16="http://schemas.microsoft.com/office/drawing/2014/main" id="{4E6B414A-1748-4457-ADCF-4AE46A26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09-n2">
            <a:extLst xmlns:a="http://schemas.openxmlformats.org/drawingml/2006/main">
              <a:ext uri="{FF2B5EF4-FFF2-40B4-BE49-F238E27FC236}">
                <a16:creationId xmlns:a16="http://schemas.microsoft.com/office/drawing/2014/main" id="{F5AA9F99-DEDD-4D7D-BE58-CC8D9E18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09-h2">
            <a:extLst xmlns:a="http://schemas.openxmlformats.org/drawingml/2006/main">
              <a:ext uri="{FF2B5EF4-FFF2-40B4-BE49-F238E27FC236}">
                <a16:creationId xmlns:a16="http://schemas.microsoft.com/office/drawing/2014/main" id="{2D588B32-FAC8-4416-9E30-C90023ED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8745A"/>
                </a:solidFill>
              </a:defRPr>
            </a:pPr>
            <a:r>
              <a:rPr sz="19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可行性</a:t>
            </a:r>
          </a:p>
        </p:txBody>
      </p:sp>
      <p:sp>
        <p:nvSpPr>
          <p:cNvPr id="16" name="p09-d2">
            <a:extLst xmlns:a="http://schemas.openxmlformats.org/drawingml/2006/main">
              <a:ext uri="{FF2B5EF4-FFF2-40B4-BE49-F238E27FC236}">
                <a16:creationId xmlns:a16="http://schemas.microsoft.com/office/drawing/2014/main" id="{4254A99E-9F3C-420B-BB85-133C43A5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课程周期内能否做最小实验、对照或分析？</a:t>
            </a:r>
          </a:p>
        </p:txBody>
      </p:sp>
      <p:sp>
        <p:nvSpPr>
          <p:cNvPr id="17" name="p09-pass">
            <a:extLst xmlns:a="http://schemas.openxmlformats.org/drawingml/2006/main">
              <a:ext uri="{FF2B5EF4-FFF2-40B4-BE49-F238E27FC236}">
                <a16:creationId xmlns:a16="http://schemas.microsoft.com/office/drawing/2014/main" id="{4C2E2103-433B-4A14-B572-ACA2AE30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95750"/>
            <a:ext cx="4762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三步均有记录 → 进入第 6 课继续收敛</a:t>
            </a:r>
          </a:p>
        </p:txBody>
      </p:sp>
      <p:sp>
        <p:nvSpPr>
          <p:cNvPr id="18" name="p09-back">
            <a:extLst xmlns:a="http://schemas.openxmlformats.org/drawingml/2006/main">
              <a:ext uri="{FF2B5EF4-FFF2-40B4-BE49-F238E27FC236}">
                <a16:creationId xmlns:a16="http://schemas.microsoft.com/office/drawing/2014/main" id="{81546501-9EEC-47C3-A896-5E003ECF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95750"/>
            <a:ext cx="4762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任一步不足 → 回到检索、证据或范围</a:t>
            </a:r>
          </a:p>
        </p:txBody>
      </p:sp>
      <p:sp>
        <p:nvSpPr>
          <p:cNvPr id="19" name="p09-bottom">
            <a:extLst xmlns:a="http://schemas.openxmlformats.org/drawingml/2006/main">
              <a:ext uri="{FF2B5EF4-FFF2-40B4-BE49-F238E27FC236}">
                <a16:creationId xmlns:a16="http://schemas.microsoft.com/office/drawing/2014/main" id="{2D1AAAEF-2275-4AC6-B851-7797091A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9587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不要把“我没找到”升级为“领域没人做过”。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不是空白的情况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a0">
            <a:extLst xmlns:a="http://schemas.openxmlformats.org/drawingml/2006/main">
              <a:ext uri="{FF2B5EF4-FFF2-40B4-BE49-F238E27FC236}">
                <a16:creationId xmlns:a16="http://schemas.microsoft.com/office/drawing/2014/main" id="{9EEE9CB7-26FC-4830-9CB5-D21DA92F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表述差异</a:t>
            </a:r>
          </a:p>
        </p:txBody>
      </p:sp>
      <p:sp>
        <p:nvSpPr>
          <p:cNvPr id="7" name="p10-arr0">
            <a:extLst xmlns:a="http://schemas.openxmlformats.org/drawingml/2006/main">
              <a:ext uri="{FF2B5EF4-FFF2-40B4-BE49-F238E27FC236}">
                <a16:creationId xmlns:a16="http://schemas.microsoft.com/office/drawing/2014/main" id="{25F6BD65-DF90-4B1B-B831-143067BD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382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10-b0">
            <a:extLst xmlns:a="http://schemas.openxmlformats.org/drawingml/2006/main">
              <a:ext uri="{FF2B5EF4-FFF2-40B4-BE49-F238E27FC236}">
                <a16:creationId xmlns:a16="http://schemas.microsoft.com/office/drawing/2014/main" id="{31857315-5C9B-4CBF-8E64-10F97D55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123950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术语不同，但操作定义相同</a:t>
            </a:r>
          </a:p>
        </p:txBody>
      </p:sp>
      <p:sp>
        <p:nvSpPr>
          <p:cNvPr id="9" name="p10-a1">
            <a:extLst xmlns:a="http://schemas.openxmlformats.org/drawingml/2006/main">
              <a:ext uri="{FF2B5EF4-FFF2-40B4-BE49-F238E27FC236}">
                <a16:creationId xmlns:a16="http://schemas.microsoft.com/office/drawing/2014/main" id="{134F4B49-F58F-4DF5-A497-72D68CF4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5025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范围差异</a:t>
            </a:r>
          </a:p>
        </p:txBody>
      </p:sp>
      <p:sp>
        <p:nvSpPr>
          <p:cNvPr id="10" name="p10-arr1">
            <a:extLst xmlns:a="http://schemas.openxmlformats.org/drawingml/2006/main">
              <a:ext uri="{FF2B5EF4-FFF2-40B4-BE49-F238E27FC236}">
                <a16:creationId xmlns:a16="http://schemas.microsoft.com/office/drawing/2014/main" id="{D82F37A6-93CD-4C0E-B440-2DC82F4A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21932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0-b1">
            <a:extLst xmlns:a="http://schemas.openxmlformats.org/drawingml/2006/main">
              <a:ext uri="{FF2B5EF4-FFF2-40B4-BE49-F238E27FC236}">
                <a16:creationId xmlns:a16="http://schemas.microsoft.com/office/drawing/2014/main" id="{8EBC901C-7B4D-4B8C-A260-53D7CBF9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05025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数据集或任务不同，结论不可比</a:t>
            </a:r>
          </a:p>
        </p:txBody>
      </p:sp>
      <p:sp>
        <p:nvSpPr>
          <p:cNvPr id="12" name="p10-a2">
            <a:extLst xmlns:a="http://schemas.openxmlformats.org/drawingml/2006/main">
              <a:ext uri="{FF2B5EF4-FFF2-40B4-BE49-F238E27FC236}">
                <a16:creationId xmlns:a16="http://schemas.microsoft.com/office/drawing/2014/main" id="{5ED8A546-E7DA-4037-B6C5-9C2B874E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工程未做</a:t>
            </a:r>
          </a:p>
        </p:txBody>
      </p:sp>
      <p:sp>
        <p:nvSpPr>
          <p:cNvPr id="13" name="p10-arr2">
            <a:extLst xmlns:a="http://schemas.openxmlformats.org/drawingml/2006/main">
              <a:ext uri="{FF2B5EF4-FFF2-40B4-BE49-F238E27FC236}">
                <a16:creationId xmlns:a16="http://schemas.microsoft.com/office/drawing/2014/main" id="{AB91E045-C07A-42C3-8576-DEAC1B1B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004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0-b2">
            <a:extLst xmlns:a="http://schemas.openxmlformats.org/drawingml/2006/main">
              <a:ext uri="{FF2B5EF4-FFF2-40B4-BE49-F238E27FC236}">
                <a16:creationId xmlns:a16="http://schemas.microsoft.com/office/drawing/2014/main" id="{CEF724F7-01D0-4FE5-9EAB-24EED90D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尚未评测某产品，不一定是机制问题</a:t>
            </a:r>
          </a:p>
        </p:txBody>
      </p:sp>
      <p:sp>
        <p:nvSpPr>
          <p:cNvPr id="15" name="p10-a3">
            <a:extLst xmlns:a="http://schemas.openxmlformats.org/drawingml/2006/main">
              <a:ext uri="{FF2B5EF4-FFF2-40B4-BE49-F238E27FC236}">
                <a16:creationId xmlns:a16="http://schemas.microsoft.com/office/drawing/2014/main" id="{0EDEE54F-8973-466A-A781-FB1AE75F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67175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新但不重要</a:t>
            </a:r>
          </a:p>
        </p:txBody>
      </p:sp>
      <p:sp>
        <p:nvSpPr>
          <p:cNvPr id="16" name="p10-arr3">
            <a:extLst xmlns:a="http://schemas.openxmlformats.org/drawingml/2006/main">
              <a:ext uri="{FF2B5EF4-FFF2-40B4-BE49-F238E27FC236}">
                <a16:creationId xmlns:a16="http://schemas.microsoft.com/office/drawing/2014/main" id="{9EE70306-D2E4-4487-8FD1-D4E399DE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8147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0-b3">
            <a:extLst xmlns:a="http://schemas.openxmlformats.org/drawingml/2006/main">
              <a:ext uri="{FF2B5EF4-FFF2-40B4-BE49-F238E27FC236}">
                <a16:creationId xmlns:a16="http://schemas.microsoft.com/office/drawing/2014/main" id="{9487FAA2-8904-4DDB-8DC9-BC14E5AD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67175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换模型再跑一遍，判断没有改变</a:t>
            </a:r>
          </a:p>
        </p:txBody>
      </p:sp>
      <p:sp>
        <p:nvSpPr>
          <p:cNvPr id="18" name="p10-bottom">
            <a:extLst xmlns:a="http://schemas.openxmlformats.org/drawingml/2006/main">
              <a:ext uri="{FF2B5EF4-FFF2-40B4-BE49-F238E27FC236}">
                <a16:creationId xmlns:a16="http://schemas.microsoft.com/office/drawing/2014/main" id="{BC8BD521-A292-4026-ACD2-A1A61A33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95875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真实空白必须是已有证据不能回答的具体问题。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综述草稿核验清单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n0">
            <a:extLst xmlns:a="http://schemas.openxmlformats.org/drawingml/2006/main">
              <a:ext uri="{FF2B5EF4-FFF2-40B4-BE49-F238E27FC236}">
                <a16:creationId xmlns:a16="http://schemas.microsoft.com/office/drawing/2014/main" id="{D8AF56E1-DD65-40B1-9569-8C708971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1-t0">
            <a:extLst xmlns:a="http://schemas.openxmlformats.org/drawingml/2006/main">
              <a:ext uri="{FF2B5EF4-FFF2-40B4-BE49-F238E27FC236}">
                <a16:creationId xmlns:a16="http://schemas.microsoft.com/office/drawing/2014/main" id="{D1473288-0B42-41A4-992F-B89E08F4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715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引文真实存在，题名 / 作者 / 年份 / DOI 与原文一致？</a:t>
            </a:r>
          </a:p>
        </p:txBody>
      </p:sp>
      <p:sp>
        <p:nvSpPr>
          <p:cNvPr id="8" name="p11-n1">
            <a:extLst xmlns:a="http://schemas.openxmlformats.org/drawingml/2006/main">
              <a:ext uri="{FF2B5EF4-FFF2-40B4-BE49-F238E27FC236}">
                <a16:creationId xmlns:a16="http://schemas.microsoft.com/office/drawing/2014/main" id="{6076CE8E-CFC0-4A56-9DC7-3B5D7A5B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1-t1">
            <a:extLst xmlns:a="http://schemas.openxmlformats.org/drawingml/2006/main">
              <a:ext uri="{FF2B5EF4-FFF2-40B4-BE49-F238E27FC236}">
                <a16:creationId xmlns:a16="http://schemas.microsoft.com/office/drawing/2014/main" id="{52542DE7-2F89-4239-840A-CE5A0C4A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“共同主张”真的出现在每条引用原文中？</a:t>
            </a:r>
          </a:p>
        </p:txBody>
      </p:sp>
      <p:sp>
        <p:nvSpPr>
          <p:cNvPr id="10" name="p11-n2">
            <a:extLst xmlns:a="http://schemas.openxmlformats.org/drawingml/2006/main">
              <a:ext uri="{FF2B5EF4-FFF2-40B4-BE49-F238E27FC236}">
                <a16:creationId xmlns:a16="http://schemas.microsoft.com/office/drawing/2014/main" id="{5093DBAC-181D-451F-A1F0-A871694D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1-t2">
            <a:extLst xmlns:a="http://schemas.openxmlformats.org/drawingml/2006/main">
              <a:ext uri="{FF2B5EF4-FFF2-40B4-BE49-F238E27FC236}">
                <a16:creationId xmlns:a16="http://schemas.microsoft.com/office/drawing/2014/main" id="{2579BA18-67B8-4B88-94F6-53AD9721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98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“冲突”来自可比结论，还是任务设置不同？</a:t>
            </a:r>
          </a:p>
        </p:txBody>
      </p:sp>
      <p:sp>
        <p:nvSpPr>
          <p:cNvPr id="12" name="p11-n3">
            <a:extLst xmlns:a="http://schemas.openxmlformats.org/drawingml/2006/main">
              <a:ext uri="{FF2B5EF4-FFF2-40B4-BE49-F238E27FC236}">
                <a16:creationId xmlns:a16="http://schemas.microsoft.com/office/drawing/2014/main" id="{99C4C03A-EB62-41D9-9483-D934EF52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6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1-t3">
            <a:extLst xmlns:a="http://schemas.openxmlformats.org/drawingml/2006/main">
              <a:ext uri="{FF2B5EF4-FFF2-40B4-BE49-F238E27FC236}">
                <a16:creationId xmlns:a16="http://schemas.microsoft.com/office/drawing/2014/main" id="{A6A8652E-A078-4E6A-AA43-627594D7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“缺角”经过窄检索确认，还是只凭当前列表？</a:t>
            </a:r>
          </a:p>
        </p:txBody>
      </p:sp>
      <p:sp>
        <p:nvSpPr>
          <p:cNvPr id="14" name="p11-n4">
            <a:extLst xmlns:a="http://schemas.openxmlformats.org/drawingml/2006/main">
              <a:ext uri="{FF2B5EF4-FFF2-40B4-BE49-F238E27FC236}">
                <a16:creationId xmlns:a16="http://schemas.microsoft.com/office/drawing/2014/main" id="{9387252E-BD4D-4B37-860E-6D522296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1-t4">
            <a:extLst xmlns:a="http://schemas.openxmlformats.org/drawingml/2006/main">
              <a:ext uri="{FF2B5EF4-FFF2-40B4-BE49-F238E27FC236}">
                <a16:creationId xmlns:a16="http://schemas.microsoft.com/office/drawing/2014/main" id="{5E04C71E-F83A-48A6-8AF3-B5BE9E6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综述段落是否把模型推断写成原文结论？</a:t>
            </a:r>
          </a:p>
        </p:txBody>
      </p:sp>
      <p:sp>
        <p:nvSpPr>
          <p:cNvPr id="16" name="p11-status-h">
            <a:extLst xmlns:a="http://schemas.openxmlformats.org/drawingml/2006/main">
              <a:ext uri="{FF2B5EF4-FFF2-40B4-BE49-F238E27FC236}">
                <a16:creationId xmlns:a16="http://schemas.microsoft.com/office/drawing/2014/main" id="{FBC6E190-4456-4513-9D3F-39F5EDC9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0668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核验状态</a:t>
            </a:r>
          </a:p>
        </p:txBody>
      </p:sp>
      <p:sp>
        <p:nvSpPr>
          <p:cNvPr id="17" name="p11-s0">
            <a:extLst xmlns:a="http://schemas.openxmlformats.org/drawingml/2006/main">
              <a:ext uri="{FF2B5EF4-FFF2-40B4-BE49-F238E27FC236}">
                <a16:creationId xmlns:a16="http://schemas.microsoft.com/office/drawing/2014/main" id="{8108D961-19D6-45E4-877F-65956A2E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18" name="p11-s1">
            <a:extLst xmlns:a="http://schemas.openxmlformats.org/drawingml/2006/main">
              <a:ext uri="{FF2B5EF4-FFF2-40B4-BE49-F238E27FC236}">
                <a16:creationId xmlns:a16="http://schemas.microsoft.com/office/drawing/2014/main" id="{7B1A744F-116A-47EB-B100-0F29B7C4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verified</a:t>
            </a:r>
          </a:p>
        </p:txBody>
      </p:sp>
      <p:sp>
        <p:nvSpPr>
          <p:cNvPr id="19" name="p11-s2">
            <a:extLst xmlns:a="http://schemas.openxmlformats.org/drawingml/2006/main">
              <a:ext uri="{FF2B5EF4-FFF2-40B4-BE49-F238E27FC236}">
                <a16:creationId xmlns:a16="http://schemas.microsoft.com/office/drawing/2014/main" id="{7785C593-A404-41FE-ADDC-675197B7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28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638A"/>
                </a:solidFill>
              </a:defRPr>
            </a:pPr>
            <a:r>
              <a:rPr sz="12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verified-with-caveat</a:t>
            </a:r>
          </a:p>
        </p:txBody>
      </p:sp>
      <p:sp>
        <p:nvSpPr>
          <p:cNvPr id="20" name="p11-s3">
            <a:extLst xmlns:a="http://schemas.openxmlformats.org/drawingml/2006/main">
              <a:ext uri="{FF2B5EF4-FFF2-40B4-BE49-F238E27FC236}">
                <a16:creationId xmlns:a16="http://schemas.microsoft.com/office/drawing/2014/main" id="{64BBE182-7045-4903-B924-F0B8FB19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3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rejected</a:t>
            </a:r>
          </a:p>
        </p:txBody>
      </p:sp>
      <p:sp>
        <p:nvSpPr>
          <p:cNvPr id="21" name="p11-bottom">
            <a:extLst xmlns:a="http://schemas.openxmlformats.org/drawingml/2006/main">
              <a:ext uri="{FF2B5EF4-FFF2-40B4-BE49-F238E27FC236}">
                <a16:creationId xmlns:a16="http://schemas.microsoft.com/office/drawing/2014/main" id="{744020E6-E977-4E16-9533-F627E610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05400"/>
            <a:ext cx="8991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pending 仅线索区｜caveat 必须保留限定且不可单独支撑 stable｜rejected 仅审计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演示：5 张阅读卡 → 相关工作矩阵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virtual">
            <a:extLst xmlns:a="http://schemas.openxmlformats.org/drawingml/2006/main">
              <a:ext uri="{FF2B5EF4-FFF2-40B4-BE49-F238E27FC236}">
                <a16:creationId xmlns:a16="http://schemas.microsoft.com/office/drawing/2014/main" id="{C6644380-5942-4C2A-8334-58422C2E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2-question">
            <a:extLst xmlns:a="http://schemas.openxmlformats.org/drawingml/2006/main">
              <a:ext uri="{FF2B5EF4-FFF2-40B4-BE49-F238E27FC236}">
                <a16:creationId xmlns:a16="http://schemas.microsoft.com/office/drawing/2014/main" id="{46D2D8D0-81D8-46A7-BC87-3076283C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问题：结构化阅读卡是否降低 AI 摘要的限定条件遗漏？</a:t>
            </a:r>
          </a:p>
        </p:txBody>
      </p:sp>
      <p:sp>
        <p:nvSpPr>
          <p:cNvPr id="8" name="p12-c0">
            <a:extLst xmlns:a="http://schemas.openxmlformats.org/drawingml/2006/main">
              <a:ext uri="{FF2B5EF4-FFF2-40B4-BE49-F238E27FC236}">
                <a16:creationId xmlns:a16="http://schemas.microsoft.com/office/drawing/2014/main" id="{67B6689D-7821-418B-BBD5-94A9F11D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9" name="p12-ct0">
            <a:extLst xmlns:a="http://schemas.openxmlformats.org/drawingml/2006/main">
              <a:ext uri="{FF2B5EF4-FFF2-40B4-BE49-F238E27FC236}">
                <a16:creationId xmlns:a16="http://schemas.microsoft.com/office/drawing/2014/main" id="{737CA568-8749-4AE9-B5B0-FEC7A83A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383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直接回答 a、b</a:t>
            </a:r>
          </a:p>
        </p:txBody>
      </p:sp>
      <p:sp>
        <p:nvSpPr>
          <p:cNvPr id="10" name="p12-c1">
            <a:extLst xmlns:a="http://schemas.openxmlformats.org/drawingml/2006/main">
              <a:ext uri="{FF2B5EF4-FFF2-40B4-BE49-F238E27FC236}">
                <a16:creationId xmlns:a16="http://schemas.microsoft.com/office/drawing/2014/main" id="{1F48A2D0-9C1C-4A37-84F4-45C3FB7B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432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1" name="p12-ct1">
            <a:extLst xmlns:a="http://schemas.openxmlformats.org/drawingml/2006/main">
              <a:ext uri="{FF2B5EF4-FFF2-40B4-BE49-F238E27FC236}">
                <a16:creationId xmlns:a16="http://schemas.microsoft.com/office/drawing/2014/main" id="{A14345DF-3D69-4112-907E-06AA9BCC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860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部分回答 a</a:t>
            </a:r>
          </a:p>
        </p:txBody>
      </p:sp>
      <p:sp>
        <p:nvSpPr>
          <p:cNvPr id="12" name="p12-c2">
            <a:extLst xmlns:a="http://schemas.openxmlformats.org/drawingml/2006/main">
              <a:ext uri="{FF2B5EF4-FFF2-40B4-BE49-F238E27FC236}">
                <a16:creationId xmlns:a16="http://schemas.microsoft.com/office/drawing/2014/main" id="{495BBDA4-6E7C-4420-B5CA-B367F34E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13" name="p12-ct2">
            <a:extLst xmlns:a="http://schemas.openxmlformats.org/drawingml/2006/main">
              <a:ext uri="{FF2B5EF4-FFF2-40B4-BE49-F238E27FC236}">
                <a16:creationId xmlns:a16="http://schemas.microsoft.com/office/drawing/2014/main" id="{DEC4DB76-6B3E-4898-99CE-FD455293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EBF4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任务不同，不可比</a:t>
            </a:r>
          </a:p>
        </p:txBody>
      </p:sp>
      <p:sp>
        <p:nvSpPr>
          <p:cNvPr id="14" name="p12-c3">
            <a:extLst xmlns:a="http://schemas.openxmlformats.org/drawingml/2006/main">
              <a:ext uri="{FF2B5EF4-FFF2-40B4-BE49-F238E27FC236}">
                <a16:creationId xmlns:a16="http://schemas.microsoft.com/office/drawing/2014/main" id="{46782821-188C-4AEF-9DE7-B6A76FE6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386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15" name="p12-ct3">
            <a:extLst xmlns:a="http://schemas.openxmlformats.org/drawingml/2006/main">
              <a:ext uri="{FF2B5EF4-FFF2-40B4-BE49-F238E27FC236}">
                <a16:creationId xmlns:a16="http://schemas.microsoft.com/office/drawing/2014/main" id="{E7527AEF-0812-4AD2-BA49-C174287C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可比条件下相反</a:t>
            </a:r>
          </a:p>
        </p:txBody>
      </p:sp>
      <p:sp>
        <p:nvSpPr>
          <p:cNvPr id="16" name="p12-c4">
            <a:extLst xmlns:a="http://schemas.openxmlformats.org/drawingml/2006/main">
              <a:ext uri="{FF2B5EF4-FFF2-40B4-BE49-F238E27FC236}">
                <a16:creationId xmlns:a16="http://schemas.microsoft.com/office/drawing/2014/main" id="{5924D25F-108A-448A-A66D-704E9040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</a:t>
            </a:r>
          </a:p>
        </p:txBody>
      </p:sp>
      <p:sp>
        <p:nvSpPr>
          <p:cNvPr id="17" name="p12-ct4">
            <a:extLst xmlns:a="http://schemas.openxmlformats.org/drawingml/2006/main">
              <a:ext uri="{FF2B5EF4-FFF2-40B4-BE49-F238E27FC236}">
                <a16:creationId xmlns:a16="http://schemas.microsoft.com/office/drawing/2014/main" id="{196A192B-885E-4CAF-AFD2-4014C279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29150"/>
            <a:ext cx="3143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子问题 c 无材料</a:t>
            </a:r>
          </a:p>
        </p:txBody>
      </p:sp>
      <p:sp>
        <p:nvSpPr>
          <p:cNvPr id="18" name="p12-main-arrow">
            <a:extLst xmlns:a="http://schemas.openxmlformats.org/drawingml/2006/main">
              <a:ext uri="{FF2B5EF4-FFF2-40B4-BE49-F238E27FC236}">
                <a16:creationId xmlns:a16="http://schemas.microsoft.com/office/drawing/2014/main" id="{D745B93C-39DA-487B-A0E3-93CC7953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12-matrix-h-0">
            <a:extLst xmlns:a="http://schemas.openxmlformats.org/drawingml/2006/main">
              <a:ext uri="{FF2B5EF4-FFF2-40B4-BE49-F238E27FC236}">
                <a16:creationId xmlns:a16="http://schemas.microsoft.com/office/drawing/2014/main" id="{36BE54C3-92E5-4E34-91A8-E8BE09E1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764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20" name="p12-matrix-h-1">
            <a:extLst xmlns:a="http://schemas.openxmlformats.org/drawingml/2006/main">
              <a:ext uri="{FF2B5EF4-FFF2-40B4-BE49-F238E27FC236}">
                <a16:creationId xmlns:a16="http://schemas.microsoft.com/office/drawing/2014/main" id="{8CFCADEF-DCA3-43D8-A18F-48E922D2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定位</a:t>
            </a:r>
          </a:p>
        </p:txBody>
      </p:sp>
      <p:sp>
        <p:nvSpPr>
          <p:cNvPr id="21" name="p12-matrix-h-2">
            <a:extLst xmlns:a="http://schemas.openxmlformats.org/drawingml/2006/main">
              <a:ext uri="{FF2B5EF4-FFF2-40B4-BE49-F238E27FC236}">
                <a16:creationId xmlns:a16="http://schemas.microsoft.com/office/drawing/2014/main" id="{B13621FA-7CA5-4E30-8366-9A133B51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定义</a:t>
            </a:r>
          </a:p>
        </p:txBody>
      </p:sp>
      <p:sp>
        <p:nvSpPr>
          <p:cNvPr id="22" name="p12-matrix-h-3">
            <a:extLst xmlns:a="http://schemas.openxmlformats.org/drawingml/2006/main">
              <a:ext uri="{FF2B5EF4-FFF2-40B4-BE49-F238E27FC236}">
                <a16:creationId xmlns:a16="http://schemas.microsoft.com/office/drawing/2014/main" id="{CC73CEB1-C05C-4EFA-80A7-AB77D2AE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对照</a:t>
            </a:r>
          </a:p>
        </p:txBody>
      </p:sp>
      <p:sp>
        <p:nvSpPr>
          <p:cNvPr id="23" name="p12-matrix-r0-0">
            <a:extLst xmlns:a="http://schemas.openxmlformats.org/drawingml/2006/main">
              <a:ext uri="{FF2B5EF4-FFF2-40B4-BE49-F238E27FC236}">
                <a16:creationId xmlns:a16="http://schemas.microsoft.com/office/drawing/2014/main" id="{D08F3D9F-1435-4ABD-B468-EEC11660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4" name="p12-matrix-r0-1">
            <a:extLst xmlns:a="http://schemas.openxmlformats.org/drawingml/2006/main">
              <a:ext uri="{FF2B5EF4-FFF2-40B4-BE49-F238E27FC236}">
                <a16:creationId xmlns:a16="http://schemas.microsoft.com/office/drawing/2014/main" id="{F39AFE3B-E446-4C58-B8E1-56484A4C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5" name="p12-matrix-r0-2">
            <a:extLst xmlns:a="http://schemas.openxmlformats.org/drawingml/2006/main">
              <a:ext uri="{FF2B5EF4-FFF2-40B4-BE49-F238E27FC236}">
                <a16:creationId xmlns:a16="http://schemas.microsoft.com/office/drawing/2014/main" id="{27F6339A-BAB8-4D6D-A386-87BED2FE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765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6" name="p12-matrix-r0-3">
            <a:extLst xmlns:a="http://schemas.openxmlformats.org/drawingml/2006/main">
              <a:ext uri="{FF2B5EF4-FFF2-40B4-BE49-F238E27FC236}">
                <a16:creationId xmlns:a16="http://schemas.microsoft.com/office/drawing/2014/main" id="{0B1AD25E-4773-49D4-A9E3-63CA4824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765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7" name="p12-matrix-r1-0">
            <a:extLst xmlns:a="http://schemas.openxmlformats.org/drawingml/2006/main">
              <a:ext uri="{FF2B5EF4-FFF2-40B4-BE49-F238E27FC236}">
                <a16:creationId xmlns:a16="http://schemas.microsoft.com/office/drawing/2014/main" id="{09664624-9BC1-4850-BC89-2495F241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19425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" name="p12-matrix-r1-1">
            <a:extLst xmlns:a="http://schemas.openxmlformats.org/drawingml/2006/main">
              <a:ext uri="{FF2B5EF4-FFF2-40B4-BE49-F238E27FC236}">
                <a16:creationId xmlns:a16="http://schemas.microsoft.com/office/drawing/2014/main" id="{2894348F-307D-4673-9084-72ACFA3D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942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29" name="p12-matrix-r1-2">
            <a:extLst xmlns:a="http://schemas.openxmlformats.org/drawingml/2006/main">
              <a:ext uri="{FF2B5EF4-FFF2-40B4-BE49-F238E27FC236}">
                <a16:creationId xmlns:a16="http://schemas.microsoft.com/office/drawing/2014/main" id="{600AF2E5-41EF-4700-AC40-B24C3ABE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1942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0" name="p12-matrix-r1-3">
            <a:extLst xmlns:a="http://schemas.openxmlformats.org/drawingml/2006/main">
              <a:ext uri="{FF2B5EF4-FFF2-40B4-BE49-F238E27FC236}">
                <a16:creationId xmlns:a16="http://schemas.microsoft.com/office/drawing/2014/main" id="{BE4A315D-5B3B-4EF7-80C3-FE9C603B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1942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31" name="p12-matrix-r2-0">
            <a:extLst xmlns:a="http://schemas.openxmlformats.org/drawingml/2006/main">
              <a:ext uri="{FF2B5EF4-FFF2-40B4-BE49-F238E27FC236}">
                <a16:creationId xmlns:a16="http://schemas.microsoft.com/office/drawing/2014/main" id="{0CD52309-9649-46C2-BA42-51122DEB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62350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2" name="p12-matrix-r2-1">
            <a:extLst xmlns:a="http://schemas.openxmlformats.org/drawingml/2006/main">
              <a:ext uri="{FF2B5EF4-FFF2-40B4-BE49-F238E27FC236}">
                <a16:creationId xmlns:a16="http://schemas.microsoft.com/office/drawing/2014/main" id="{AC0AF11A-D70C-477A-828C-F06760EB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6235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33" name="p12-matrix-r2-2">
            <a:extLst xmlns:a="http://schemas.openxmlformats.org/drawingml/2006/main">
              <a:ext uri="{FF2B5EF4-FFF2-40B4-BE49-F238E27FC236}">
                <a16:creationId xmlns:a16="http://schemas.microsoft.com/office/drawing/2014/main" id="{FA8EF1AF-602E-4C85-A8FB-2357C71E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34" name="p12-matrix-r2-3">
            <a:extLst xmlns:a="http://schemas.openxmlformats.org/drawingml/2006/main">
              <a:ext uri="{FF2B5EF4-FFF2-40B4-BE49-F238E27FC236}">
                <a16:creationId xmlns:a16="http://schemas.microsoft.com/office/drawing/2014/main" id="{1A86D978-6D07-4957-B873-797999D9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56235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</a:t>
            </a:r>
          </a:p>
        </p:txBody>
      </p:sp>
      <p:sp>
        <p:nvSpPr>
          <p:cNvPr id="35" name="p12-matrix-r3-0">
            <a:extLst xmlns:a="http://schemas.openxmlformats.org/drawingml/2006/main">
              <a:ext uri="{FF2B5EF4-FFF2-40B4-BE49-F238E27FC236}">
                <a16:creationId xmlns:a16="http://schemas.microsoft.com/office/drawing/2014/main" id="{AC6BF59A-B50E-4BDA-A804-8792F290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05275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36" name="p12-matrix-r3-1">
            <a:extLst xmlns:a="http://schemas.openxmlformats.org/drawingml/2006/main">
              <a:ext uri="{FF2B5EF4-FFF2-40B4-BE49-F238E27FC236}">
                <a16:creationId xmlns:a16="http://schemas.microsoft.com/office/drawing/2014/main" id="{16EC7D0E-BB61-4A41-B1F6-1DB413E5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0527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相反</a:t>
            </a:r>
          </a:p>
        </p:txBody>
      </p:sp>
      <p:sp>
        <p:nvSpPr>
          <p:cNvPr id="37" name="p12-matrix-r3-2">
            <a:extLst xmlns:a="http://schemas.openxmlformats.org/drawingml/2006/main">
              <a:ext uri="{FF2B5EF4-FFF2-40B4-BE49-F238E27FC236}">
                <a16:creationId xmlns:a16="http://schemas.microsoft.com/office/drawing/2014/main" id="{F66AF1F8-CAE4-4F34-974F-DDAFE029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0527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8" name="p12-matrix-r3-3">
            <a:extLst xmlns:a="http://schemas.openxmlformats.org/drawingml/2006/main">
              <a:ext uri="{FF2B5EF4-FFF2-40B4-BE49-F238E27FC236}">
                <a16:creationId xmlns:a16="http://schemas.microsoft.com/office/drawing/2014/main" id="{BA9FD395-0011-41E4-9175-46A9BF20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105275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9" name="p12-matrix-r4-0">
            <a:extLst xmlns:a="http://schemas.openxmlformats.org/drawingml/2006/main">
              <a:ext uri="{FF2B5EF4-FFF2-40B4-BE49-F238E27FC236}">
                <a16:creationId xmlns:a16="http://schemas.microsoft.com/office/drawing/2014/main" id="{98E8D1B6-F5D3-4585-A0C1-BB68AF26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48200"/>
            <a:ext cx="9525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</a:t>
            </a:r>
          </a:p>
        </p:txBody>
      </p:sp>
      <p:sp>
        <p:nvSpPr>
          <p:cNvPr id="40" name="p12-matrix-r4-1">
            <a:extLst xmlns:a="http://schemas.openxmlformats.org/drawingml/2006/main">
              <a:ext uri="{FF2B5EF4-FFF2-40B4-BE49-F238E27FC236}">
                <a16:creationId xmlns:a16="http://schemas.microsoft.com/office/drawing/2014/main" id="{E2351F5A-6C85-4EEB-8A66-7053A1AD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482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1" name="p12-matrix-r4-2">
            <a:extLst xmlns:a="http://schemas.openxmlformats.org/drawingml/2006/main">
              <a:ext uri="{FF2B5EF4-FFF2-40B4-BE49-F238E27FC236}">
                <a16:creationId xmlns:a16="http://schemas.microsoft.com/office/drawing/2014/main" id="{BA167911-36A8-4AB2-B92A-E1E064D7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482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2" name="p12-matrix-r4-3">
            <a:extLst xmlns:a="http://schemas.openxmlformats.org/drawingml/2006/main">
              <a:ext uri="{FF2B5EF4-FFF2-40B4-BE49-F238E27FC236}">
                <a16:creationId xmlns:a16="http://schemas.microsoft.com/office/drawing/2014/main" id="{2FBABA6F-BDA1-4474-9722-EF3157A8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648200"/>
            <a:ext cx="18097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演示：矩阵 → 证据地图 → 空白候选 → 三步检验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virtual">
            <a:extLst xmlns:a="http://schemas.openxmlformats.org/drawingml/2006/main">
              <a:ext uri="{FF2B5EF4-FFF2-40B4-BE49-F238E27FC236}">
                <a16:creationId xmlns:a16="http://schemas.microsoft.com/office/drawing/2014/main" id="{2A2910CD-4285-4A41-9120-E7201673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3-map-h-0">
            <a:extLst xmlns:a="http://schemas.openxmlformats.org/drawingml/2006/main">
              <a:ext uri="{FF2B5EF4-FFF2-40B4-BE49-F238E27FC236}">
                <a16:creationId xmlns:a16="http://schemas.microsoft.com/office/drawing/2014/main" id="{624B32ED-D0EC-49B8-91B1-3E66F156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编号</a:t>
            </a:r>
          </a:p>
        </p:txBody>
      </p:sp>
      <p:sp>
        <p:nvSpPr>
          <p:cNvPr id="8" name="p13-map-h-1">
            <a:extLst xmlns:a="http://schemas.openxmlformats.org/drawingml/2006/main">
              <a:ext uri="{FF2B5EF4-FFF2-40B4-BE49-F238E27FC236}">
                <a16:creationId xmlns:a16="http://schemas.microsoft.com/office/drawing/2014/main" id="{479062D6-BDF7-4CE6-B07B-CBE61B04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4287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9" name="p13-map-h-2">
            <a:extLst xmlns:a="http://schemas.openxmlformats.org/drawingml/2006/main">
              <a:ext uri="{FF2B5EF4-FFF2-40B4-BE49-F238E27FC236}">
                <a16:creationId xmlns:a16="http://schemas.microsoft.com/office/drawing/2014/main" id="{D08DF1AC-F13E-4D5B-B8BD-18738F98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地图视图 / 角色</a:t>
            </a:r>
          </a:p>
        </p:txBody>
      </p:sp>
      <p:sp>
        <p:nvSpPr>
          <p:cNvPr id="10" name="p13-map-h-3">
            <a:extLst xmlns:a="http://schemas.openxmlformats.org/drawingml/2006/main">
              <a:ext uri="{FF2B5EF4-FFF2-40B4-BE49-F238E27FC236}">
                <a16:creationId xmlns:a16="http://schemas.microsoft.com/office/drawing/2014/main" id="{5FF07736-B986-4930-9C7E-C53EB861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457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边界或状态</a:t>
            </a:r>
          </a:p>
        </p:txBody>
      </p:sp>
      <p:sp>
        <p:nvSpPr>
          <p:cNvPr id="11" name="p13-map-r0-0">
            <a:extLst xmlns:a="http://schemas.openxmlformats.org/drawingml/2006/main">
              <a:ext uri="{FF2B5EF4-FFF2-40B4-BE49-F238E27FC236}">
                <a16:creationId xmlns:a16="http://schemas.microsoft.com/office/drawing/2014/main" id="{3F89699B-7A2C-4B91-A91B-A724A6AB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E1</a:t>
            </a:r>
          </a:p>
        </p:txBody>
      </p:sp>
      <p:sp>
        <p:nvSpPr>
          <p:cNvPr id="12" name="p13-map-r0-1">
            <a:extLst xmlns:a="http://schemas.openxmlformats.org/drawingml/2006/main">
              <a:ext uri="{FF2B5EF4-FFF2-40B4-BE49-F238E27FC236}">
                <a16:creationId xmlns:a16="http://schemas.microsoft.com/office/drawing/2014/main" id="{48FC27D5-C37B-4109-BBC8-5C41A53F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8288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3" name="p13-map-r0-2">
            <a:extLst xmlns:a="http://schemas.openxmlformats.org/drawingml/2006/main">
              <a:ext uri="{FF2B5EF4-FFF2-40B4-BE49-F238E27FC236}">
                <a16:creationId xmlns:a16="http://schemas.microsoft.com/office/drawing/2014/main" id="{512BF2B2-F701-4AA1-89BF-54A1FE20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直接证据</a:t>
            </a:r>
          </a:p>
        </p:txBody>
      </p:sp>
      <p:sp>
        <p:nvSpPr>
          <p:cNvPr id="14" name="p13-map-r0-3">
            <a:extLst xmlns:a="http://schemas.openxmlformats.org/drawingml/2006/main">
              <a:ext uri="{FF2B5EF4-FFF2-40B4-BE49-F238E27FC236}">
                <a16:creationId xmlns:a16="http://schemas.microsoft.com/office/drawing/2014/main" id="{2EF5DB17-261D-47B3-9AD3-04378033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回答 a、b</a:t>
            </a:r>
          </a:p>
        </p:txBody>
      </p:sp>
      <p:sp>
        <p:nvSpPr>
          <p:cNvPr id="15" name="p13-map-r1-0">
            <a:extLst xmlns:a="http://schemas.openxmlformats.org/drawingml/2006/main">
              <a:ext uri="{FF2B5EF4-FFF2-40B4-BE49-F238E27FC236}">
                <a16:creationId xmlns:a16="http://schemas.microsoft.com/office/drawing/2014/main" id="{774BDBD5-D2F2-4172-8274-4FD18B18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E2</a:t>
            </a:r>
          </a:p>
        </p:txBody>
      </p:sp>
      <p:sp>
        <p:nvSpPr>
          <p:cNvPr id="16" name="p13-map-r1-1">
            <a:extLst xmlns:a="http://schemas.openxmlformats.org/drawingml/2006/main">
              <a:ext uri="{FF2B5EF4-FFF2-40B4-BE49-F238E27FC236}">
                <a16:creationId xmlns:a16="http://schemas.microsoft.com/office/drawing/2014/main" id="{C9ADF08E-A1F2-46F6-98E4-439C435F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431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7" name="p13-map-r1-2">
            <a:extLst xmlns:a="http://schemas.openxmlformats.org/drawingml/2006/main">
              <a:ext uri="{FF2B5EF4-FFF2-40B4-BE49-F238E27FC236}">
                <a16:creationId xmlns:a16="http://schemas.microsoft.com/office/drawing/2014/main" id="{33FE2F92-6369-412B-BC2D-C22D0547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431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18" name="p13-map-r1-3">
            <a:extLst xmlns:a="http://schemas.openxmlformats.org/drawingml/2006/main">
              <a:ext uri="{FF2B5EF4-FFF2-40B4-BE49-F238E27FC236}">
                <a16:creationId xmlns:a16="http://schemas.microsoft.com/office/drawing/2014/main" id="{649E747D-D550-4E74-B659-D7DAF148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定义不一致</a:t>
            </a:r>
          </a:p>
        </p:txBody>
      </p:sp>
      <p:sp>
        <p:nvSpPr>
          <p:cNvPr id="19" name="p13-map-r2-0">
            <a:extLst xmlns:a="http://schemas.openxmlformats.org/drawingml/2006/main">
              <a:ext uri="{FF2B5EF4-FFF2-40B4-BE49-F238E27FC236}">
                <a16:creationId xmlns:a16="http://schemas.microsoft.com/office/drawing/2014/main" id="{4939ADA0-E5EA-4C4C-AA78-BCB69160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E3</a:t>
            </a:r>
          </a:p>
        </p:txBody>
      </p:sp>
      <p:sp>
        <p:nvSpPr>
          <p:cNvPr id="20" name="p13-map-r2-1">
            <a:extLst xmlns:a="http://schemas.openxmlformats.org/drawingml/2006/main">
              <a:ext uri="{FF2B5EF4-FFF2-40B4-BE49-F238E27FC236}">
                <a16:creationId xmlns:a16="http://schemas.microsoft.com/office/drawing/2014/main" id="{E4344845-6282-4DEC-88D1-B404022B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575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1" name="p13-map-r2-2">
            <a:extLst xmlns:a="http://schemas.openxmlformats.org/drawingml/2006/main">
              <a:ext uri="{FF2B5EF4-FFF2-40B4-BE49-F238E27FC236}">
                <a16:creationId xmlns:a16="http://schemas.microsoft.com/office/drawing/2014/main" id="{8FD6B4E0-28B5-4244-980D-7936CAEE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575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对比证据</a:t>
            </a:r>
          </a:p>
        </p:txBody>
      </p:sp>
      <p:sp>
        <p:nvSpPr>
          <p:cNvPr id="22" name="p13-map-r2-3">
            <a:extLst xmlns:a="http://schemas.openxmlformats.org/drawingml/2006/main">
              <a:ext uri="{FF2B5EF4-FFF2-40B4-BE49-F238E27FC236}">
                <a16:creationId xmlns:a16="http://schemas.microsoft.com/office/drawing/2014/main" id="{5220C8D9-538C-4470-8FBD-6E05AF1B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5750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任务不同，不可比</a:t>
            </a:r>
          </a:p>
        </p:txBody>
      </p:sp>
      <p:sp>
        <p:nvSpPr>
          <p:cNvPr id="23" name="p13-map-r3-0">
            <a:extLst xmlns:a="http://schemas.openxmlformats.org/drawingml/2006/main">
              <a:ext uri="{FF2B5EF4-FFF2-40B4-BE49-F238E27FC236}">
                <a16:creationId xmlns:a16="http://schemas.microsoft.com/office/drawing/2014/main" id="{E9F1FC38-BF70-4A53-B6C9-5B3A27C4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E4</a:t>
            </a:r>
          </a:p>
        </p:txBody>
      </p:sp>
      <p:sp>
        <p:nvSpPr>
          <p:cNvPr id="24" name="p13-map-r3-1">
            <a:extLst xmlns:a="http://schemas.openxmlformats.org/drawingml/2006/main">
              <a:ext uri="{FF2B5EF4-FFF2-40B4-BE49-F238E27FC236}">
                <a16:creationId xmlns:a16="http://schemas.microsoft.com/office/drawing/2014/main" id="{C5E34B8D-2B3D-46CB-92AA-FD1ADB56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718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25" name="p13-map-r3-2">
            <a:extLst xmlns:a="http://schemas.openxmlformats.org/drawingml/2006/main">
              <a:ext uri="{FF2B5EF4-FFF2-40B4-BE49-F238E27FC236}">
                <a16:creationId xmlns:a16="http://schemas.microsoft.com/office/drawing/2014/main" id="{53DA6A2D-1AB6-426B-A258-C6AE9579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7185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6" name="p13-map-r3-3">
            <a:extLst xmlns:a="http://schemas.openxmlformats.org/drawingml/2006/main">
              <a:ext uri="{FF2B5EF4-FFF2-40B4-BE49-F238E27FC236}">
                <a16:creationId xmlns:a16="http://schemas.microsoft.com/office/drawing/2014/main" id="{060B1955-CE4A-47DD-BA2A-54679354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7185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 A 相反，待核条件</a:t>
            </a:r>
          </a:p>
        </p:txBody>
      </p:sp>
      <p:sp>
        <p:nvSpPr>
          <p:cNvPr id="27" name="p13-map-r4-0">
            <a:extLst xmlns:a="http://schemas.openxmlformats.org/drawingml/2006/main">
              <a:ext uri="{FF2B5EF4-FFF2-40B4-BE49-F238E27FC236}">
                <a16:creationId xmlns:a16="http://schemas.microsoft.com/office/drawing/2014/main" id="{3F1FB14E-D972-414A-A810-02990688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95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28" name="p13-map-r4-1">
            <a:extLst xmlns:a="http://schemas.openxmlformats.org/drawingml/2006/main">
              <a:ext uri="{FF2B5EF4-FFF2-40B4-BE49-F238E27FC236}">
                <a16:creationId xmlns:a16="http://schemas.microsoft.com/office/drawing/2014/main" id="{AB60F33E-4568-479B-9C76-14935CF1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862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整列空白</a:t>
            </a:r>
          </a:p>
        </p:txBody>
      </p:sp>
      <p:sp>
        <p:nvSpPr>
          <p:cNvPr id="29" name="p13-map-r4-2">
            <a:extLst xmlns:a="http://schemas.openxmlformats.org/drawingml/2006/main">
              <a:ext uri="{FF2B5EF4-FFF2-40B4-BE49-F238E27FC236}">
                <a16:creationId xmlns:a16="http://schemas.microsoft.com/office/drawing/2014/main" id="{EB0A085D-ADAD-4C87-881F-1817B383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862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空白候选</a:t>
            </a:r>
          </a:p>
        </p:txBody>
      </p:sp>
      <p:sp>
        <p:nvSpPr>
          <p:cNvPr id="30" name="p13-map-r4-3">
            <a:extLst xmlns:a="http://schemas.openxmlformats.org/drawingml/2006/main">
              <a:ext uri="{FF2B5EF4-FFF2-40B4-BE49-F238E27FC236}">
                <a16:creationId xmlns:a16="http://schemas.microsoft.com/office/drawing/2014/main" id="{91EB78D4-6719-46E5-B0FF-D83E8FC8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待真实窄检索</a:t>
            </a:r>
          </a:p>
        </p:txBody>
      </p:sp>
      <p:sp>
        <p:nvSpPr>
          <p:cNvPr id="31" name="p13-th0">
            <a:extLst xmlns:a="http://schemas.openxmlformats.org/drawingml/2006/main">
              <a:ext uri="{FF2B5EF4-FFF2-40B4-BE49-F238E27FC236}">
                <a16:creationId xmlns:a16="http://schemas.microsoft.com/office/drawing/2014/main" id="{984383DA-9125-41BB-89EE-9798D103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真实性</a:t>
            </a:r>
          </a:p>
        </p:txBody>
      </p:sp>
      <p:sp>
        <p:nvSpPr>
          <p:cNvPr id="32" name="p13-td0">
            <a:extLst xmlns:a="http://schemas.openxmlformats.org/drawingml/2006/main">
              <a:ext uri="{FF2B5EF4-FFF2-40B4-BE49-F238E27FC236}">
                <a16:creationId xmlns:a16="http://schemas.microsoft.com/office/drawing/2014/main" id="{1AFEDC62-B7BB-4B6D-BBE4-21FFA53E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62500"/>
            <a:ext cx="209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式 / 库 / 日期 / 命中 / 筛选</a:t>
            </a:r>
          </a:p>
        </p:txBody>
      </p:sp>
      <p:sp>
        <p:nvSpPr>
          <p:cNvPr id="33" name="p13-th1">
            <a:extLst xmlns:a="http://schemas.openxmlformats.org/drawingml/2006/main">
              <a:ext uri="{FF2B5EF4-FFF2-40B4-BE49-F238E27FC236}">
                <a16:creationId xmlns:a16="http://schemas.microsoft.com/office/drawing/2014/main" id="{0C0D5551-9E39-4FEE-A7FF-641E8A59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6250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重要性</a:t>
            </a:r>
          </a:p>
        </p:txBody>
      </p:sp>
      <p:sp>
        <p:nvSpPr>
          <p:cNvPr id="34" name="p13-td1">
            <a:extLst xmlns:a="http://schemas.openxmlformats.org/drawingml/2006/main">
              <a:ext uri="{FF2B5EF4-FFF2-40B4-BE49-F238E27FC236}">
                <a16:creationId xmlns:a16="http://schemas.microsoft.com/office/drawing/2014/main" id="{66EA804E-22FC-4484-B6CC-AC68C0BF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09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缺它，哪条机制无法检验？</a:t>
            </a:r>
          </a:p>
        </p:txBody>
      </p:sp>
      <p:sp>
        <p:nvSpPr>
          <p:cNvPr id="35" name="p13-th2">
            <a:extLst xmlns:a="http://schemas.openxmlformats.org/drawingml/2006/main">
              <a:ext uri="{FF2B5EF4-FFF2-40B4-BE49-F238E27FC236}">
                <a16:creationId xmlns:a16="http://schemas.microsoft.com/office/drawing/2014/main" id="{CCDD1EE1-71D9-426F-805F-46D7159D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可行性</a:t>
            </a:r>
          </a:p>
        </p:txBody>
      </p:sp>
      <p:sp>
        <p:nvSpPr>
          <p:cNvPr id="36" name="p13-td2">
            <a:extLst xmlns:a="http://schemas.openxmlformats.org/drawingml/2006/main">
              <a:ext uri="{FF2B5EF4-FFF2-40B4-BE49-F238E27FC236}">
                <a16:creationId xmlns:a16="http://schemas.microsoft.com/office/drawing/2014/main" id="{1F000FF6-6168-4E51-9572-471C0EC6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762500"/>
            <a:ext cx="2095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能否做最小实验或分析？</a:t>
            </a:r>
          </a:p>
        </p:txBody>
      </p:sp>
      <p:sp>
        <p:nvSpPr>
          <p:cNvPr id="37" name="p13-warning">
            <a:extLst xmlns:a="http://schemas.openxmlformats.org/drawingml/2006/main">
              <a:ext uri="{FF2B5EF4-FFF2-40B4-BE49-F238E27FC236}">
                <a16:creationId xmlns:a16="http://schemas.microsoft.com/office/drawing/2014/main" id="{2FFC814E-FBC7-4CA4-9A64-902FCEBF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72100"/>
            <a:ext cx="790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本样例不预设“命中 0”；真实项目必须填实际检索记录。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演示：AI 核验后写四句 mini review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virtual">
            <a:extLst xmlns:a="http://schemas.openxmlformats.org/drawingml/2006/main">
              <a:ext uri="{FF2B5EF4-FFF2-40B4-BE49-F238E27FC236}">
                <a16:creationId xmlns:a16="http://schemas.microsoft.com/office/drawing/2014/main" id="{35F04BCC-D6AC-468B-B8E3-C22FC5A4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4-bad">
            <a:extLst xmlns:a="http://schemas.openxmlformats.org/drawingml/2006/main">
              <a:ext uri="{FF2B5EF4-FFF2-40B4-BE49-F238E27FC236}">
                <a16:creationId xmlns:a16="http://schemas.microsoft.com/office/drawing/2014/main" id="{6F9BDF22-B17A-4ACF-A346-7E1D565E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09700"/>
            <a:ext cx="10572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草稿：“5 篇文献共同支持结构化阅读卡降低遗漏率。”</a:t>
            </a:r>
          </a:p>
        </p:txBody>
      </p:sp>
      <p:sp>
        <p:nvSpPr>
          <p:cNvPr id="8" name="p14-ah0">
            <a:extLst xmlns:a="http://schemas.openxmlformats.org/drawingml/2006/main">
              <a:ext uri="{FF2B5EF4-FFF2-40B4-BE49-F238E27FC236}">
                <a16:creationId xmlns:a16="http://schemas.microsoft.com/office/drawing/2014/main" id="{5AE8F1CA-6AF0-4729-96AB-44509C87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19062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rejected</a:t>
            </a:r>
          </a:p>
        </p:txBody>
      </p:sp>
      <p:sp>
        <p:nvSpPr>
          <p:cNvPr id="9" name="p14-ad0">
            <a:extLst xmlns:a="http://schemas.openxmlformats.org/drawingml/2006/main">
              <a:ext uri="{FF2B5EF4-FFF2-40B4-BE49-F238E27FC236}">
                <a16:creationId xmlns:a16="http://schemas.microsoft.com/office/drawing/2014/main" id="{04D37297-BBF2-479A-848E-C64CFDBB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286000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条引文无法回源</a:t>
            </a:r>
          </a:p>
        </p:txBody>
      </p:sp>
      <p:sp>
        <p:nvSpPr>
          <p:cNvPr id="10" name="p14-ah1">
            <a:extLst xmlns:a="http://schemas.openxmlformats.org/drawingml/2006/main">
              <a:ext uri="{FF2B5EF4-FFF2-40B4-BE49-F238E27FC236}">
                <a16:creationId xmlns:a16="http://schemas.microsoft.com/office/drawing/2014/main" id="{2641AC77-DD58-4C6C-8B8E-6688B80E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33625"/>
            <a:ext cx="119062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不可比</a:t>
            </a:r>
          </a:p>
        </p:txBody>
      </p:sp>
      <p:sp>
        <p:nvSpPr>
          <p:cNvPr id="11" name="p14-ad1">
            <a:extLst xmlns:a="http://schemas.openxmlformats.org/drawingml/2006/main">
              <a:ext uri="{FF2B5EF4-FFF2-40B4-BE49-F238E27FC236}">
                <a16:creationId xmlns:a16="http://schemas.microsoft.com/office/drawing/2014/main" id="{274AEAFA-0357-4C74-B176-C351D2D0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286000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条来自不同任务</a:t>
            </a:r>
          </a:p>
        </p:txBody>
      </p:sp>
      <p:sp>
        <p:nvSpPr>
          <p:cNvPr id="12" name="p14-ah2">
            <a:extLst xmlns:a="http://schemas.openxmlformats.org/drawingml/2006/main">
              <a:ext uri="{FF2B5EF4-FFF2-40B4-BE49-F238E27FC236}">
                <a16:creationId xmlns:a16="http://schemas.microsoft.com/office/drawing/2014/main" id="{5DD2532C-03A4-42A8-9D7B-D30C00EF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33625"/>
            <a:ext cx="119062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13" name="p14-ad2">
            <a:extLst xmlns:a="http://schemas.openxmlformats.org/drawingml/2006/main">
              <a:ext uri="{FF2B5EF4-FFF2-40B4-BE49-F238E27FC236}">
                <a16:creationId xmlns:a16="http://schemas.microsoft.com/office/drawing/2014/main" id="{22DE6979-CBB3-4AF9-95E1-4F1F3A47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86000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条相反结论待核条件</a:t>
            </a:r>
          </a:p>
        </p:txBody>
      </p:sp>
      <p:sp>
        <p:nvSpPr>
          <p:cNvPr id="14" name="p14-ah3">
            <a:extLst xmlns:a="http://schemas.openxmlformats.org/drawingml/2006/main">
              <a:ext uri="{FF2B5EF4-FFF2-40B4-BE49-F238E27FC236}">
                <a16:creationId xmlns:a16="http://schemas.microsoft.com/office/drawing/2014/main" id="{67AE617E-34ED-4BD5-AD6D-F36F60DF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33625"/>
            <a:ext cx="1190625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15" name="p14-ad3">
            <a:extLst xmlns:a="http://schemas.openxmlformats.org/drawingml/2006/main">
              <a:ext uri="{FF2B5EF4-FFF2-40B4-BE49-F238E27FC236}">
                <a16:creationId xmlns:a16="http://schemas.microsoft.com/office/drawing/2014/main" id="{E5E12F25-8AA1-4707-B7FA-AD0381FB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225" y="2286000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1 个子问题仍待窄检索</a:t>
            </a:r>
          </a:p>
        </p:txBody>
      </p:sp>
      <p:sp>
        <p:nvSpPr>
          <p:cNvPr id="16" name="p14-label">
            <a:extLst xmlns:a="http://schemas.openxmlformats.org/drawingml/2006/main">
              <a:ext uri="{FF2B5EF4-FFF2-40B4-BE49-F238E27FC236}">
                <a16:creationId xmlns:a16="http://schemas.microsoft.com/office/drawing/2014/main" id="{A4634ACB-E35E-4724-8CE0-765463D9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四句 mini literature review</a:t>
            </a:r>
          </a:p>
        </p:txBody>
      </p:sp>
      <p:sp>
        <p:nvSpPr>
          <p:cNvPr id="17" name="p14-s0">
            <a:extLst xmlns:a="http://schemas.openxmlformats.org/drawingml/2006/main">
              <a:ext uri="{FF2B5EF4-FFF2-40B4-BE49-F238E27FC236}">
                <a16:creationId xmlns:a16="http://schemas.microsoft.com/office/drawing/2014/main" id="{F6889F87-6760-425A-A9F5-529FDC09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1945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 范围与子问题</a:t>
            </a:r>
          </a:p>
        </p:txBody>
      </p:sp>
      <p:sp>
        <p:nvSpPr>
          <p:cNvPr id="18" name="p14-s1">
            <a:extLst xmlns:a="http://schemas.openxmlformats.org/drawingml/2006/main">
              <a:ext uri="{FF2B5EF4-FFF2-40B4-BE49-F238E27FC236}">
                <a16:creationId xmlns:a16="http://schemas.microsoft.com/office/drawing/2014/main" id="{3527489B-454F-434D-9EDF-472E251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1945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 直接证据</a:t>
            </a:r>
          </a:p>
        </p:txBody>
      </p:sp>
      <p:sp>
        <p:nvSpPr>
          <p:cNvPr id="19" name="p14-s2">
            <a:extLst xmlns:a="http://schemas.openxmlformats.org/drawingml/2006/main">
              <a:ext uri="{FF2B5EF4-FFF2-40B4-BE49-F238E27FC236}">
                <a16:creationId xmlns:a16="http://schemas.microsoft.com/office/drawing/2014/main" id="{C29433FA-3939-40C7-ACEE-946B8A0A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0050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  补充 / 对比 / 冲突</a:t>
            </a:r>
          </a:p>
        </p:txBody>
      </p:sp>
      <p:sp>
        <p:nvSpPr>
          <p:cNvPr id="20" name="p14-s3">
            <a:extLst xmlns:a="http://schemas.openxmlformats.org/drawingml/2006/main">
              <a:ext uri="{FF2B5EF4-FFF2-40B4-BE49-F238E27FC236}">
                <a16:creationId xmlns:a16="http://schemas.microsoft.com/office/drawing/2014/main" id="{5DC3D4C9-1C51-4F0E-80E8-707B974E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0"/>
            <a:ext cx="3619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  空白与下一步核验</a:t>
            </a:r>
          </a:p>
        </p:txBody>
      </p:sp>
      <p:sp>
        <p:nvSpPr>
          <p:cNvPr id="21" name="p14-bottom">
            <a:extLst xmlns:a="http://schemas.openxmlformats.org/drawingml/2006/main">
              <a:ext uri="{FF2B5EF4-FFF2-40B4-BE49-F238E27FC236}">
                <a16:creationId xmlns:a16="http://schemas.microsoft.com/office/drawing/2014/main" id="{425971AA-019D-4BFB-8D94-4C994E6A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923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verified 与保留限定的 caveat 可进入四句草稿；pending 仅线索，rejected 仅审计。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演示判断点与失败演示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virtual">
            <a:extLst xmlns:a="http://schemas.openxmlformats.org/drawingml/2006/main">
              <a:ext uri="{FF2B5EF4-FFF2-40B4-BE49-F238E27FC236}">
                <a16:creationId xmlns:a16="http://schemas.microsoft.com/office/drawing/2014/main" id="{0FC621FC-D6C0-4503-AFBE-3BE802DB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虚构教学样例｜非真实论文、检索或实证证据</a:t>
            </a:r>
          </a:p>
        </p:txBody>
      </p:sp>
      <p:sp>
        <p:nvSpPr>
          <p:cNvPr id="7" name="p15-q0">
            <a:extLst xmlns:a="http://schemas.openxmlformats.org/drawingml/2006/main">
              <a:ext uri="{FF2B5EF4-FFF2-40B4-BE49-F238E27FC236}">
                <a16:creationId xmlns:a16="http://schemas.microsoft.com/office/drawing/2014/main" id="{BE536FC1-B122-4D3B-8E96-05B4162B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53816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1. 为什么按论文排列不算综述？</a:t>
            </a:r>
          </a:p>
        </p:txBody>
      </p:sp>
      <p:sp>
        <p:nvSpPr>
          <p:cNvPr id="8" name="p15-q1">
            <a:extLst xmlns:a="http://schemas.openxmlformats.org/drawingml/2006/main">
              <a:ext uri="{FF2B5EF4-FFF2-40B4-BE49-F238E27FC236}">
                <a16:creationId xmlns:a16="http://schemas.microsoft.com/office/drawing/2014/main" id="{E7F8CD2B-13BA-4EFA-BE2F-02E456C3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81225"/>
            <a:ext cx="53816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2. 对比何时才构成冲突？</a:t>
            </a:r>
          </a:p>
        </p:txBody>
      </p:sp>
      <p:sp>
        <p:nvSpPr>
          <p:cNvPr id="9" name="p15-q2">
            <a:extLst xmlns:a="http://schemas.openxmlformats.org/drawingml/2006/main">
              <a:ext uri="{FF2B5EF4-FFF2-40B4-BE49-F238E27FC236}">
                <a16:creationId xmlns:a16="http://schemas.microsoft.com/office/drawing/2014/main" id="{A0242E8C-BC5B-4F08-926D-BC4AA7E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53816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3. “我没找到”之后还要做什么？</a:t>
            </a:r>
          </a:p>
        </p:txBody>
      </p:sp>
      <p:sp>
        <p:nvSpPr>
          <p:cNvPr id="10" name="p15-q3">
            <a:extLst xmlns:a="http://schemas.openxmlformats.org/drawingml/2006/main">
              <a:ext uri="{FF2B5EF4-FFF2-40B4-BE49-F238E27FC236}">
                <a16:creationId xmlns:a16="http://schemas.microsoft.com/office/drawing/2014/main" id="{C52BE177-CA95-4F74-A825-26A8E392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53816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4. AI 草稿何时只能算探索线索？</a:t>
            </a:r>
          </a:p>
        </p:txBody>
      </p:sp>
      <p:sp>
        <p:nvSpPr>
          <p:cNvPr id="11" name="p15-fail-h">
            <a:extLst xmlns:a="http://schemas.openxmlformats.org/drawingml/2006/main">
              <a:ext uri="{FF2B5EF4-FFF2-40B4-BE49-F238E27FC236}">
                <a16:creationId xmlns:a16="http://schemas.microsoft.com/office/drawing/2014/main" id="{402EBD14-ABDB-4811-BC0F-D095FF9C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76375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失败路径</a:t>
            </a:r>
          </a:p>
        </p:txBody>
      </p:sp>
      <p:sp>
        <p:nvSpPr>
          <p:cNvPr id="12" name="p15-f0">
            <a:extLst xmlns:a="http://schemas.openxmlformats.org/drawingml/2006/main">
              <a:ext uri="{FF2B5EF4-FFF2-40B4-BE49-F238E27FC236}">
                <a16:creationId xmlns:a16="http://schemas.microsoft.com/office/drawing/2014/main" id="{6CB2922E-9A99-42F9-A064-F1EA2BFF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 张卡交给 AI</a:t>
            </a:r>
          </a:p>
        </p:txBody>
      </p:sp>
      <p:sp>
        <p:nvSpPr>
          <p:cNvPr id="13" name="p15-fa0">
            <a:extLst xmlns:a="http://schemas.openxmlformats.org/drawingml/2006/main">
              <a:ext uri="{FF2B5EF4-FFF2-40B4-BE49-F238E27FC236}">
                <a16:creationId xmlns:a16="http://schemas.microsoft.com/office/drawing/2014/main" id="{97BAF8EA-4BED-4004-A3EE-C44441DA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574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4" name="p15-f1">
            <a:extLst xmlns:a="http://schemas.openxmlformats.org/drawingml/2006/main">
              <a:ext uri="{FF2B5EF4-FFF2-40B4-BE49-F238E27FC236}">
                <a16:creationId xmlns:a16="http://schemas.microsoft.com/office/drawing/2014/main" id="{49323B27-2E87-46C9-B4B9-32B8F945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7655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“共同支持”</a:t>
            </a:r>
          </a:p>
        </p:txBody>
      </p:sp>
      <p:sp>
        <p:nvSpPr>
          <p:cNvPr id="15" name="p15-fa1">
            <a:extLst xmlns:a="http://schemas.openxmlformats.org/drawingml/2006/main">
              <a:ext uri="{FF2B5EF4-FFF2-40B4-BE49-F238E27FC236}">
                <a16:creationId xmlns:a16="http://schemas.microsoft.com/office/drawing/2014/main" id="{ADA07B01-DFBB-48C8-AD03-67DAE354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432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6" name="p15-f2">
            <a:extLst xmlns:a="http://schemas.openxmlformats.org/drawingml/2006/main">
              <a:ext uri="{FF2B5EF4-FFF2-40B4-BE49-F238E27FC236}">
                <a16:creationId xmlns:a16="http://schemas.microsoft.com/office/drawing/2014/main" id="{CADBF163-AE52-49A6-86A5-66A633F3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6235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直接写入地图</a:t>
            </a:r>
          </a:p>
        </p:txBody>
      </p:sp>
      <p:sp>
        <p:nvSpPr>
          <p:cNvPr id="17" name="p15-fa2">
            <a:extLst xmlns:a="http://schemas.openxmlformats.org/drawingml/2006/main">
              <a:ext uri="{FF2B5EF4-FFF2-40B4-BE49-F238E27FC236}">
                <a16:creationId xmlns:a16="http://schemas.microsoft.com/office/drawing/2014/main" id="{11BCA84B-952A-441C-A61A-0F6E3E07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290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67684"/>
                </a:solidFill>
              </a:defRPr>
            </a:pPr>
            <a:r>
              <a:rPr sz="18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8" name="p15-f3">
            <a:extLst xmlns:a="http://schemas.openxmlformats.org/drawingml/2006/main">
              <a:ext uri="{FF2B5EF4-FFF2-40B4-BE49-F238E27FC236}">
                <a16:creationId xmlns:a16="http://schemas.microsoft.com/office/drawing/2014/main" id="{52813B77-888A-4FFE-94F0-FFA85166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48150"/>
            <a:ext cx="3143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 / 限定 / 来源消失</a:t>
            </a:r>
          </a:p>
        </p:txBody>
      </p:sp>
      <p:sp>
        <p:nvSpPr>
          <p:cNvPr id="19" name="p15-bottom">
            <a:extLst xmlns:a="http://schemas.openxmlformats.org/drawingml/2006/main">
              <a:ext uri="{FF2B5EF4-FFF2-40B4-BE49-F238E27FC236}">
                <a16:creationId xmlns:a16="http://schemas.microsoft.com/office/drawing/2014/main" id="{EE6C6DBE-6792-432F-A283-D48C25DE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43500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失败不重跑到成功：保留原始输出，补上核验步骤。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个人实践：跑通一次综述结构重组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goal">
            <a:extLst xmlns:a="http://schemas.openxmlformats.org/drawingml/2006/main">
              <a:ext uri="{FF2B5EF4-FFF2-40B4-BE49-F238E27FC236}">
                <a16:creationId xmlns:a16="http://schemas.microsoft.com/office/drawing/2014/main" id="{20500C7E-0B15-4252-B32D-FEBD2D5B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本人真实问题优先；没有者使用课程虚构样例，但须改换子问题分解。</a:t>
            </a:r>
          </a:p>
        </p:txBody>
      </p:sp>
      <p:sp>
        <p:nvSpPr>
          <p:cNvPr id="7" name="p16-n0">
            <a:extLst xmlns:a="http://schemas.openxmlformats.org/drawingml/2006/main">
              <a:ext uri="{FF2B5EF4-FFF2-40B4-BE49-F238E27FC236}">
                <a16:creationId xmlns:a16="http://schemas.microsoft.com/office/drawing/2014/main" id="{C90A12CF-B137-4819-9977-58B030F9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6-t0">
            <a:extLst xmlns:a="http://schemas.openxmlformats.org/drawingml/2006/main">
              <a:ext uri="{FF2B5EF4-FFF2-40B4-BE49-F238E27FC236}">
                <a16:creationId xmlns:a16="http://schemas.microsoft.com/office/drawing/2014/main" id="{7A4906D7-260F-4828-BBBE-419D3FF4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 1 个子问题</a:t>
            </a:r>
          </a:p>
        </p:txBody>
      </p:sp>
      <p:sp>
        <p:nvSpPr>
          <p:cNvPr id="9" name="p16-n1">
            <a:extLst xmlns:a="http://schemas.openxmlformats.org/drawingml/2006/main">
              <a:ext uri="{FF2B5EF4-FFF2-40B4-BE49-F238E27FC236}">
                <a16:creationId xmlns:a16="http://schemas.microsoft.com/office/drawing/2014/main" id="{5E7EF07E-6DE6-4861-B21D-A325096A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6-t1">
            <a:extLst xmlns:a="http://schemas.openxmlformats.org/drawingml/2006/main">
              <a:ext uri="{FF2B5EF4-FFF2-40B4-BE49-F238E27FC236}">
                <a16:creationId xmlns:a16="http://schemas.microsoft.com/office/drawing/2014/main" id="{6603F944-4A76-428B-97D5-BD4E6394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取 2 张 verified / caveat 卡</a:t>
            </a:r>
          </a:p>
        </p:txBody>
      </p:sp>
      <p:sp>
        <p:nvSpPr>
          <p:cNvPr id="11" name="p16-n2">
            <a:extLst xmlns:a="http://schemas.openxmlformats.org/drawingml/2006/main">
              <a:ext uri="{FF2B5EF4-FFF2-40B4-BE49-F238E27FC236}">
                <a16:creationId xmlns:a16="http://schemas.microsoft.com/office/drawing/2014/main" id="{1B9A71BE-59D8-43ED-8CDA-3D290FC7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6-t2">
            <a:extLst xmlns:a="http://schemas.openxmlformats.org/drawingml/2006/main">
              <a:ext uri="{FF2B5EF4-FFF2-40B4-BE49-F238E27FC236}">
                <a16:creationId xmlns:a16="http://schemas.microsoft.com/office/drawing/2014/main" id="{360B515A-6E12-4168-AD7C-A1F8435E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填窄矩阵</a:t>
            </a:r>
          </a:p>
        </p:txBody>
      </p:sp>
      <p:sp>
        <p:nvSpPr>
          <p:cNvPr id="13" name="p16-n3">
            <a:extLst xmlns:a="http://schemas.openxmlformats.org/drawingml/2006/main">
              <a:ext uri="{FF2B5EF4-FFF2-40B4-BE49-F238E27FC236}">
                <a16:creationId xmlns:a16="http://schemas.microsoft.com/office/drawing/2014/main" id="{40A05565-C455-4E3D-ACA3-543C3C04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6-t3">
            <a:extLst xmlns:a="http://schemas.openxmlformats.org/drawingml/2006/main">
              <a:ext uri="{FF2B5EF4-FFF2-40B4-BE49-F238E27FC236}">
                <a16:creationId xmlns:a16="http://schemas.microsoft.com/office/drawing/2014/main" id="{CF4F5C05-37F7-472B-A744-31272DBA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2 行证据地图</a:t>
            </a:r>
          </a:p>
        </p:txBody>
      </p:sp>
      <p:sp>
        <p:nvSpPr>
          <p:cNvPr id="15" name="p16-n4">
            <a:extLst xmlns:a="http://schemas.openxmlformats.org/drawingml/2006/main">
              <a:ext uri="{FF2B5EF4-FFF2-40B4-BE49-F238E27FC236}">
                <a16:creationId xmlns:a16="http://schemas.microsoft.com/office/drawing/2014/main" id="{B05462A1-553C-4F30-8062-F8323E41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6-t4">
            <a:extLst xmlns:a="http://schemas.openxmlformats.org/drawingml/2006/main">
              <a:ext uri="{FF2B5EF4-FFF2-40B4-BE49-F238E27FC236}">
                <a16:creationId xmlns:a16="http://schemas.microsoft.com/office/drawing/2014/main" id="{1D1362B1-9E16-4214-A532-F510DEB1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002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写四句 mini review</a:t>
            </a:r>
          </a:p>
        </p:txBody>
      </p:sp>
      <p:sp>
        <p:nvSpPr>
          <p:cNvPr id="17" name="p16-n5">
            <a:extLst xmlns:a="http://schemas.openxmlformats.org/drawingml/2006/main">
              <a:ext uri="{FF2B5EF4-FFF2-40B4-BE49-F238E27FC236}">
                <a16:creationId xmlns:a16="http://schemas.microsoft.com/office/drawing/2014/main" id="{A077026E-1136-4FCA-99CC-5B9D7382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479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8" name="p16-t5">
            <a:extLst xmlns:a="http://schemas.openxmlformats.org/drawingml/2006/main">
              <a:ext uri="{FF2B5EF4-FFF2-40B4-BE49-F238E27FC236}">
                <a16:creationId xmlns:a16="http://schemas.microsoft.com/office/drawing/2014/main" id="{F89C2F19-927E-40B4-B8B2-7E7BBF09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812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留 1 条空白候选线索</a:t>
            </a:r>
          </a:p>
        </p:txBody>
      </p:sp>
      <p:sp>
        <p:nvSpPr>
          <p:cNvPr id="19" name="p16-n6">
            <a:extLst xmlns:a="http://schemas.openxmlformats.org/drawingml/2006/main">
              <a:ext uri="{FF2B5EF4-FFF2-40B4-BE49-F238E27FC236}">
                <a16:creationId xmlns:a16="http://schemas.microsoft.com/office/drawing/2014/main" id="{A9C445FC-EC13-420A-B992-A3B7FB86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289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0" name="p16-t6">
            <a:extLst xmlns:a="http://schemas.openxmlformats.org/drawingml/2006/main">
              <a:ext uri="{FF2B5EF4-FFF2-40B4-BE49-F238E27FC236}">
                <a16:creationId xmlns:a16="http://schemas.microsoft.com/office/drawing/2014/main" id="{2448CA20-1C7F-45C6-8EDD-30FB1277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1623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保存并记录 AI 使用</a:t>
            </a:r>
          </a:p>
        </p:txBody>
      </p:sp>
      <p:sp>
        <p:nvSpPr>
          <p:cNvPr id="21" name="p16-time">
            <a:extLst xmlns:a="http://schemas.openxmlformats.org/drawingml/2006/main">
              <a:ext uri="{FF2B5EF4-FFF2-40B4-BE49-F238E27FC236}">
                <a16:creationId xmlns:a16="http://schemas.microsoft.com/office/drawing/2014/main" id="{5488F7D7-FD7A-46EA-9400-260F6223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 分窄矩阵 → 7 分 2 行地图 → 8 分四句 → 6 分 AI 审计与保存；空白只留候选线索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zone1-h">
            <a:extLst xmlns:a="http://schemas.openxmlformats.org/drawingml/2006/main">
              <a:ext uri="{FF2B5EF4-FFF2-40B4-BE49-F238E27FC236}">
                <a16:creationId xmlns:a16="http://schemas.microsoft.com/office/drawing/2014/main" id="{C7865108-5FCE-41C2-8A53-373E2633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144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1｜窄矩阵</a:t>
            </a:r>
          </a:p>
        </p:txBody>
      </p:sp>
      <p:sp>
        <p:nvSpPr>
          <p:cNvPr id="7" name="p17-zone1">
            <a:extLst xmlns:a="http://schemas.openxmlformats.org/drawingml/2006/main">
              <a:ext uri="{FF2B5EF4-FFF2-40B4-BE49-F238E27FC236}">
                <a16:creationId xmlns:a16="http://schemas.microsoft.com/office/drawing/2014/main" id="{B948DE66-569D-45E1-94ED-9B3ECB67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91440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 个子问题｜2 张 verified / caveat 阅读卡｜材料 × 子问题 × 角色</a:t>
            </a:r>
          </a:p>
        </p:txBody>
      </p:sp>
      <p:sp>
        <p:nvSpPr>
          <p:cNvPr id="8" name="p17-zone2-h">
            <a:extLst xmlns:a="http://schemas.openxmlformats.org/drawingml/2006/main">
              <a:ext uri="{FF2B5EF4-FFF2-40B4-BE49-F238E27FC236}">
                <a16:creationId xmlns:a16="http://schemas.microsoft.com/office/drawing/2014/main" id="{ED12CD09-F533-4B7B-9765-6BB702F2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81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2｜证据地图</a:t>
            </a:r>
          </a:p>
        </p:txBody>
      </p:sp>
      <p:sp>
        <p:nvSpPr>
          <p:cNvPr id="9" name="p17-zone2">
            <a:extLst xmlns:a="http://schemas.openxmlformats.org/drawingml/2006/main">
              <a:ext uri="{FF2B5EF4-FFF2-40B4-BE49-F238E27FC236}">
                <a16:creationId xmlns:a16="http://schemas.microsoft.com/office/drawing/2014/main" id="{BDB618A0-7C98-40C3-B9AE-C034DFC4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58115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只写 2 行：编号｜子问题｜材料｜原文位置｜主张｜角色｜局限｜四态</a:t>
            </a:r>
          </a:p>
        </p:txBody>
      </p:sp>
      <p:sp>
        <p:nvSpPr>
          <p:cNvPr id="10" name="p17-zone3-h">
            <a:extLst xmlns:a="http://schemas.openxmlformats.org/drawingml/2006/main">
              <a:ext uri="{FF2B5EF4-FFF2-40B4-BE49-F238E27FC236}">
                <a16:creationId xmlns:a16="http://schemas.microsoft.com/office/drawing/2014/main" id="{8D3B67D3-727A-49CC-89DD-FB09806B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47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3｜空白线索</a:t>
            </a:r>
          </a:p>
        </p:txBody>
      </p:sp>
      <p:sp>
        <p:nvSpPr>
          <p:cNvPr id="11" name="p17-zone3">
            <a:extLst xmlns:a="http://schemas.openxmlformats.org/drawingml/2006/main">
              <a:ext uri="{FF2B5EF4-FFF2-40B4-BE49-F238E27FC236}">
                <a16:creationId xmlns:a16="http://schemas.microsoft.com/office/drawing/2014/main" id="{9A2F52BB-B73D-4864-86D1-B1509F9D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4790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只留 1 条 pending 候选 + 下一次窄检索动作；三步完整检验在第 6 课前完成</a:t>
            </a:r>
          </a:p>
        </p:txBody>
      </p:sp>
      <p:sp>
        <p:nvSpPr>
          <p:cNvPr id="12" name="p17-zone4-h">
            <a:extLst xmlns:a="http://schemas.openxmlformats.org/drawingml/2006/main">
              <a:ext uri="{FF2B5EF4-FFF2-40B4-BE49-F238E27FC236}">
                <a16:creationId xmlns:a16="http://schemas.microsoft.com/office/drawing/2014/main" id="{E2D3F2B6-46E2-4E30-BD6F-2DC50AA5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146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4｜四句草稿</a:t>
            </a:r>
          </a:p>
        </p:txBody>
      </p:sp>
      <p:sp>
        <p:nvSpPr>
          <p:cNvPr id="13" name="p17-four0">
            <a:extLst xmlns:a="http://schemas.openxmlformats.org/drawingml/2006/main">
              <a:ext uri="{FF2B5EF4-FFF2-40B4-BE49-F238E27FC236}">
                <a16:creationId xmlns:a16="http://schemas.microsoft.com/office/drawing/2014/main" id="{0FE20D0F-0A27-4063-BF45-32A1337D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① 范围与子问题</a:t>
            </a:r>
          </a:p>
        </p:txBody>
      </p:sp>
      <p:sp>
        <p:nvSpPr>
          <p:cNvPr id="14" name="p17-four1">
            <a:extLst xmlns:a="http://schemas.openxmlformats.org/drawingml/2006/main">
              <a:ext uri="{FF2B5EF4-FFF2-40B4-BE49-F238E27FC236}">
                <a16:creationId xmlns:a16="http://schemas.microsoft.com/office/drawing/2014/main" id="{830A7CD8-0499-4B7D-A419-3EFCDC41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② 直接证据</a:t>
            </a:r>
          </a:p>
        </p:txBody>
      </p:sp>
      <p:sp>
        <p:nvSpPr>
          <p:cNvPr id="15" name="p17-four2">
            <a:extLst xmlns:a="http://schemas.openxmlformats.org/drawingml/2006/main">
              <a:ext uri="{FF2B5EF4-FFF2-40B4-BE49-F238E27FC236}">
                <a16:creationId xmlns:a16="http://schemas.microsoft.com/office/drawing/2014/main" id="{61065160-0C5A-41D8-8AB4-A239B917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③ 补充/对比/冲突</a:t>
            </a:r>
          </a:p>
        </p:txBody>
      </p:sp>
      <p:sp>
        <p:nvSpPr>
          <p:cNvPr id="16" name="p17-four3">
            <a:extLst xmlns:a="http://schemas.openxmlformats.org/drawingml/2006/main">
              <a:ext uri="{FF2B5EF4-FFF2-40B4-BE49-F238E27FC236}">
                <a16:creationId xmlns:a16="http://schemas.microsoft.com/office/drawing/2014/main" id="{7962BF4E-C19F-4FAB-BCFE-BA29CEEB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④ 空白与下一步核验</a:t>
            </a:r>
          </a:p>
        </p:txBody>
      </p:sp>
      <p:sp>
        <p:nvSpPr>
          <p:cNvPr id="17" name="p17-work-h">
            <a:extLst xmlns:a="http://schemas.openxmlformats.org/drawingml/2006/main">
              <a:ext uri="{FF2B5EF4-FFF2-40B4-BE49-F238E27FC236}">
                <a16:creationId xmlns:a16="http://schemas.microsoft.com/office/drawing/2014/main" id="{A1E3AAAD-F300-4460-8E5F-B84DD73F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27 分钟顺序</a:t>
            </a:r>
          </a:p>
        </p:txBody>
      </p:sp>
      <p:sp>
        <p:nvSpPr>
          <p:cNvPr id="18" name="p17-m0">
            <a:extLst xmlns:a="http://schemas.openxmlformats.org/drawingml/2006/main">
              <a:ext uri="{FF2B5EF4-FFF2-40B4-BE49-F238E27FC236}">
                <a16:creationId xmlns:a16="http://schemas.microsoft.com/office/drawing/2014/main" id="{74B5A6DD-4AFB-4C68-8E45-1554E707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6′</a:t>
            </a:r>
          </a:p>
        </p:txBody>
      </p:sp>
      <p:sp>
        <p:nvSpPr>
          <p:cNvPr id="19" name="p17-p0">
            <a:extLst xmlns:a="http://schemas.openxmlformats.org/drawingml/2006/main">
              <a:ext uri="{FF2B5EF4-FFF2-40B4-BE49-F238E27FC236}">
                <a16:creationId xmlns:a16="http://schemas.microsoft.com/office/drawing/2014/main" id="{7C3A2A2F-69CD-49BA-8887-3D484655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矩阵</a:t>
            </a:r>
          </a:p>
        </p:txBody>
      </p:sp>
      <p:sp>
        <p:nvSpPr>
          <p:cNvPr id="20" name="p17-m1">
            <a:extLst xmlns:a="http://schemas.openxmlformats.org/drawingml/2006/main">
              <a:ext uri="{FF2B5EF4-FFF2-40B4-BE49-F238E27FC236}">
                <a16:creationId xmlns:a16="http://schemas.microsoft.com/office/drawing/2014/main" id="{9516E928-67A5-4662-B004-B3C471E4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7′</a:t>
            </a:r>
          </a:p>
        </p:txBody>
      </p:sp>
      <p:sp>
        <p:nvSpPr>
          <p:cNvPr id="21" name="p17-p1">
            <a:extLst xmlns:a="http://schemas.openxmlformats.org/drawingml/2006/main">
              <a:ext uri="{FF2B5EF4-FFF2-40B4-BE49-F238E27FC236}">
                <a16:creationId xmlns:a16="http://schemas.microsoft.com/office/drawing/2014/main" id="{B58BB614-73DF-4225-AA47-6430D6FB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地图</a:t>
            </a:r>
          </a:p>
        </p:txBody>
      </p:sp>
      <p:sp>
        <p:nvSpPr>
          <p:cNvPr id="22" name="p17-m2">
            <a:extLst xmlns:a="http://schemas.openxmlformats.org/drawingml/2006/main">
              <a:ext uri="{FF2B5EF4-FFF2-40B4-BE49-F238E27FC236}">
                <a16:creationId xmlns:a16="http://schemas.microsoft.com/office/drawing/2014/main" id="{A4D206B7-7A12-43D9-B0CF-91309919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8′</a:t>
            </a:r>
          </a:p>
        </p:txBody>
      </p:sp>
      <p:sp>
        <p:nvSpPr>
          <p:cNvPr id="23" name="p17-p2">
            <a:extLst xmlns:a="http://schemas.openxmlformats.org/drawingml/2006/main">
              <a:ext uri="{FF2B5EF4-FFF2-40B4-BE49-F238E27FC236}">
                <a16:creationId xmlns:a16="http://schemas.microsoft.com/office/drawing/2014/main" id="{CEEEBDB1-CC35-48AE-AAA7-74C544A3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四句</a:t>
            </a:r>
          </a:p>
        </p:txBody>
      </p:sp>
      <p:sp>
        <p:nvSpPr>
          <p:cNvPr id="24" name="p17-m3">
            <a:extLst xmlns:a="http://schemas.openxmlformats.org/drawingml/2006/main">
              <a:ext uri="{FF2B5EF4-FFF2-40B4-BE49-F238E27FC236}">
                <a16:creationId xmlns:a16="http://schemas.microsoft.com/office/drawing/2014/main" id="{2FC868F3-2865-4897-9F00-8F5705DD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6′</a:t>
            </a:r>
          </a:p>
        </p:txBody>
      </p:sp>
      <p:sp>
        <p:nvSpPr>
          <p:cNvPr id="25" name="p17-p3">
            <a:extLst xmlns:a="http://schemas.openxmlformats.org/drawingml/2006/main">
              <a:ext uri="{FF2B5EF4-FFF2-40B4-BE49-F238E27FC236}">
                <a16:creationId xmlns:a16="http://schemas.microsoft.com/office/drawing/2014/main" id="{1CF5C20A-7A19-413E-B7E5-83A45A81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审计/保存</a:t>
            </a:r>
          </a:p>
        </p:txBody>
      </p:sp>
      <p:sp>
        <p:nvSpPr>
          <p:cNvPr id="26" name="p17-log">
            <a:extLst xmlns:a="http://schemas.openxmlformats.org/drawingml/2006/main">
              <a:ext uri="{FF2B5EF4-FFF2-40B4-BE49-F238E27FC236}">
                <a16:creationId xmlns:a16="http://schemas.microsoft.com/office/drawing/2014/main" id="{EDA8A1AF-3FC7-4C99-BE5A-9D20DC4A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5770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AI 使用记录：工具/模型｜用途｜Context｜输出用途｜人工核验方式｜问题</a:t>
            </a:r>
          </a:p>
        </p:txBody>
      </p:sp>
      <p:sp>
        <p:nvSpPr>
          <p:cNvPr id="27" name="p17-save">
            <a:extLst xmlns:a="http://schemas.openxmlformats.org/drawingml/2006/main">
              <a:ext uri="{FF2B5EF4-FFF2-40B4-BE49-F238E27FC236}">
                <a16:creationId xmlns:a16="http://schemas.microsoft.com/office/drawing/2014/main" id="{242F3F82-6BA9-4C7D-904C-C9ACA218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6730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课堂最低产出完成即可｜网络失败：用预录样例或纸面模板继续｜第 6 课前补齐三步空白检验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同伴互查四问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n0">
            <a:extLst xmlns:a="http://schemas.openxmlformats.org/drawingml/2006/main">
              <a:ext uri="{FF2B5EF4-FFF2-40B4-BE49-F238E27FC236}">
                <a16:creationId xmlns:a16="http://schemas.microsoft.com/office/drawing/2014/main" id="{F3F0E612-1C0E-4724-AA01-A0364E1B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04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8-h0">
            <a:extLst xmlns:a="http://schemas.openxmlformats.org/drawingml/2006/main">
              <a:ext uri="{FF2B5EF4-FFF2-40B4-BE49-F238E27FC236}">
                <a16:creationId xmlns:a16="http://schemas.microsoft.com/office/drawing/2014/main" id="{5E2037C3-722D-4D2C-8FA2-068392B5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0287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问题组织</a:t>
            </a:r>
          </a:p>
        </p:txBody>
      </p:sp>
      <p:sp>
        <p:nvSpPr>
          <p:cNvPr id="8" name="p18-d0">
            <a:extLst xmlns:a="http://schemas.openxmlformats.org/drawingml/2006/main">
              <a:ext uri="{FF2B5EF4-FFF2-40B4-BE49-F238E27FC236}">
                <a16:creationId xmlns:a16="http://schemas.microsoft.com/office/drawing/2014/main" id="{26C57F2A-B23A-4F3C-BC88-580457EC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02870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矩阵列来自问题分解，还是论文关键词？</a:t>
            </a:r>
          </a:p>
        </p:txBody>
      </p:sp>
      <p:sp>
        <p:nvSpPr>
          <p:cNvPr id="9" name="p18-n1">
            <a:extLst xmlns:a="http://schemas.openxmlformats.org/drawingml/2006/main">
              <a:ext uri="{FF2B5EF4-FFF2-40B4-BE49-F238E27FC236}">
                <a16:creationId xmlns:a16="http://schemas.microsoft.com/office/drawing/2014/main" id="{ABBF8A35-5C33-45FF-9469-D9218CDB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8-h1">
            <a:extLst xmlns:a="http://schemas.openxmlformats.org/drawingml/2006/main">
              <a:ext uri="{FF2B5EF4-FFF2-40B4-BE49-F238E27FC236}">
                <a16:creationId xmlns:a16="http://schemas.microsoft.com/office/drawing/2014/main" id="{C76F83DE-C206-443B-AF4C-7202866D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冲突边界</a:t>
            </a:r>
          </a:p>
        </p:txBody>
      </p:sp>
      <p:sp>
        <p:nvSpPr>
          <p:cNvPr id="11" name="p18-d1">
            <a:extLst xmlns:a="http://schemas.openxmlformats.org/drawingml/2006/main">
              <a:ext uri="{FF2B5EF4-FFF2-40B4-BE49-F238E27FC236}">
                <a16:creationId xmlns:a16="http://schemas.microsoft.com/office/drawing/2014/main" id="{FAA71AB3-8FE9-418B-9728-A040A340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任务不可比是否被误写成相反结论？</a:t>
            </a:r>
          </a:p>
        </p:txBody>
      </p:sp>
      <p:sp>
        <p:nvSpPr>
          <p:cNvPr id="12" name="p18-n2">
            <a:extLst xmlns:a="http://schemas.openxmlformats.org/drawingml/2006/main">
              <a:ext uri="{FF2B5EF4-FFF2-40B4-BE49-F238E27FC236}">
                <a16:creationId xmlns:a16="http://schemas.microsoft.com/office/drawing/2014/main" id="{23BB542A-200A-467C-A6F8-6362B9EA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18-h2">
            <a:extLst xmlns:a="http://schemas.openxmlformats.org/drawingml/2006/main">
              <a:ext uri="{FF2B5EF4-FFF2-40B4-BE49-F238E27FC236}">
                <a16:creationId xmlns:a16="http://schemas.microsoft.com/office/drawing/2014/main" id="{B0C729A0-D6E2-46EE-80A1-4A8819A8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空白状态</a:t>
            </a:r>
          </a:p>
        </p:txBody>
      </p:sp>
      <p:sp>
        <p:nvSpPr>
          <p:cNvPr id="14" name="p18-d2">
            <a:extLst xmlns:a="http://schemas.openxmlformats.org/drawingml/2006/main">
              <a:ext uri="{FF2B5EF4-FFF2-40B4-BE49-F238E27FC236}">
                <a16:creationId xmlns:a16="http://schemas.microsoft.com/office/drawing/2014/main" id="{F3B23053-D689-420D-B241-754AAF2A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7180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有真实检索记录，还是明确标注待核验？</a:t>
            </a:r>
          </a:p>
        </p:txBody>
      </p:sp>
      <p:sp>
        <p:nvSpPr>
          <p:cNvPr id="15" name="p18-n3">
            <a:extLst xmlns:a="http://schemas.openxmlformats.org/drawingml/2006/main">
              <a:ext uri="{FF2B5EF4-FFF2-40B4-BE49-F238E27FC236}">
                <a16:creationId xmlns:a16="http://schemas.microsoft.com/office/drawing/2014/main" id="{AC22ADB0-EF79-4690-B610-F6BD8393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19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p18-h3">
            <a:extLst xmlns:a="http://schemas.openxmlformats.org/drawingml/2006/main">
              <a:ext uri="{FF2B5EF4-FFF2-40B4-BE49-F238E27FC236}">
                <a16:creationId xmlns:a16="http://schemas.microsoft.com/office/drawing/2014/main" id="{C0D1EF0E-28CC-4091-82F6-989E639E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四句追溯</a:t>
            </a:r>
          </a:p>
        </p:txBody>
      </p:sp>
      <p:sp>
        <p:nvSpPr>
          <p:cNvPr id="17" name="p18-d3">
            <a:extLst xmlns:a="http://schemas.openxmlformats.org/drawingml/2006/main">
              <a:ext uri="{FF2B5EF4-FFF2-40B4-BE49-F238E27FC236}">
                <a16:creationId xmlns:a16="http://schemas.microsoft.com/office/drawing/2014/main" id="{15DB583D-B804-4115-9F55-2F3073D4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4335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每句话能回指 verified 条目吗？</a:t>
            </a:r>
          </a:p>
        </p:txBody>
      </p:sp>
      <p:sp>
        <p:nvSpPr>
          <p:cNvPr id="18" name="p18-author-h">
            <a:extLst xmlns:a="http://schemas.openxmlformats.org/drawingml/2006/main">
              <a:ext uri="{FF2B5EF4-FFF2-40B4-BE49-F238E27FC236}">
                <a16:creationId xmlns:a16="http://schemas.microsoft.com/office/drawing/2014/main" id="{A82C880D-8475-4B37-80C4-CB7ACF14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095375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9" name="p18-s0">
            <a:extLst xmlns:a="http://schemas.openxmlformats.org/drawingml/2006/main">
              <a:ext uri="{FF2B5EF4-FFF2-40B4-BE49-F238E27FC236}">
                <a16:creationId xmlns:a16="http://schemas.microsoft.com/office/drawing/2014/main" id="{A639190C-8A27-4349-A230-11E806F9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5262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20" name="p18-s1">
            <a:extLst xmlns:a="http://schemas.openxmlformats.org/drawingml/2006/main">
              <a:ext uri="{FF2B5EF4-FFF2-40B4-BE49-F238E27FC236}">
                <a16:creationId xmlns:a16="http://schemas.microsoft.com/office/drawing/2014/main" id="{0A801A94-2F91-452D-81C0-9A1AD0D6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8607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21" name="p18-s2">
            <a:extLst xmlns:a="http://schemas.openxmlformats.org/drawingml/2006/main">
              <a:ext uri="{FF2B5EF4-FFF2-40B4-BE49-F238E27FC236}">
                <a16:creationId xmlns:a16="http://schemas.microsoft.com/office/drawing/2014/main" id="{4424C58B-1422-4F0C-B31E-5E7954F5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1952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22" name="p18-bottom">
            <a:extLst xmlns:a="http://schemas.openxmlformats.org/drawingml/2006/main">
              <a:ext uri="{FF2B5EF4-FFF2-40B4-BE49-F238E27FC236}">
                <a16:creationId xmlns:a16="http://schemas.microsoft.com/office/drawing/2014/main" id="{D4C000ED-10ED-421B-B057-92EF7851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095875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6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in0">
            <a:extLst xmlns:a="http://schemas.openxmlformats.org/drawingml/2006/main">
              <a:ext uri="{FF2B5EF4-FFF2-40B4-BE49-F238E27FC236}">
                <a16:creationId xmlns:a16="http://schemas.microsoft.com/office/drawing/2014/main" id="{940811A6-C9C0-49D8-98E2-75480586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620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四句 mini review</a:t>
            </a:r>
          </a:p>
        </p:txBody>
      </p:sp>
      <p:sp>
        <p:nvSpPr>
          <p:cNvPr id="7" name="p19-a0">
            <a:extLst xmlns:a="http://schemas.openxmlformats.org/drawingml/2006/main">
              <a:ext uri="{FF2B5EF4-FFF2-40B4-BE49-F238E27FC236}">
                <a16:creationId xmlns:a16="http://schemas.microsoft.com/office/drawing/2014/main" id="{5C755EFC-B1D7-49FE-9C1B-28F56079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763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19-in1">
            <a:extLst xmlns:a="http://schemas.openxmlformats.org/drawingml/2006/main">
              <a:ext uri="{FF2B5EF4-FFF2-40B4-BE49-F238E27FC236}">
                <a16:creationId xmlns:a16="http://schemas.microsoft.com/office/drawing/2014/main" id="{DACF7047-BC74-4A61-B8ED-3E840D01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F638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四视图证据地图</a:t>
            </a:r>
          </a:p>
        </p:txBody>
      </p:sp>
      <p:sp>
        <p:nvSpPr>
          <p:cNvPr id="9" name="p19-a1">
            <a:extLst xmlns:a="http://schemas.openxmlformats.org/drawingml/2006/main">
              <a:ext uri="{FF2B5EF4-FFF2-40B4-BE49-F238E27FC236}">
                <a16:creationId xmlns:a16="http://schemas.microsoft.com/office/drawing/2014/main" id="{45AE9DF1-9C35-437D-B8A5-64A43D8A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9-in2">
            <a:extLst xmlns:a="http://schemas.openxmlformats.org/drawingml/2006/main">
              <a:ext uri="{FF2B5EF4-FFF2-40B4-BE49-F238E27FC236}">
                <a16:creationId xmlns:a16="http://schemas.microsoft.com/office/drawing/2014/main" id="{EEDA0C80-9A97-4763-9D89-6CB85140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908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空白候选 + 首轮检验</a:t>
            </a:r>
          </a:p>
        </p:txBody>
      </p:sp>
      <p:sp>
        <p:nvSpPr>
          <p:cNvPr id="11" name="p19-a2">
            <a:extLst xmlns:a="http://schemas.openxmlformats.org/drawingml/2006/main">
              <a:ext uri="{FF2B5EF4-FFF2-40B4-BE49-F238E27FC236}">
                <a16:creationId xmlns:a16="http://schemas.microsoft.com/office/drawing/2014/main" id="{6CC0CD8E-5F8E-4776-AB81-23FF0AE4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05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19-gate">
            <a:extLst xmlns:a="http://schemas.openxmlformats.org/drawingml/2006/main">
              <a:ext uri="{FF2B5EF4-FFF2-40B4-BE49-F238E27FC236}">
                <a16:creationId xmlns:a16="http://schemas.microsoft.com/office/drawing/2014/main" id="{957989BC-3BE3-4C89-870C-E9C18BDE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714500"/>
            <a:ext cx="4000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6 课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问题定义 + 第一性原理 + 问题门</a:t>
            </a:r>
          </a:p>
        </p:txBody>
      </p:sp>
      <p:sp>
        <p:nvSpPr>
          <p:cNvPr id="13" name="p19-check-h">
            <a:extLst xmlns:a="http://schemas.openxmlformats.org/drawingml/2006/main">
              <a:ext uri="{FF2B5EF4-FFF2-40B4-BE49-F238E27FC236}">
                <a16:creationId xmlns:a16="http://schemas.microsoft.com/office/drawing/2014/main" id="{1235EA5C-5F2F-4E73-9F41-5CF0809E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066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14" name="p19-c0">
            <a:extLst xmlns:a="http://schemas.openxmlformats.org/drawingml/2006/main">
              <a:ext uri="{FF2B5EF4-FFF2-40B4-BE49-F238E27FC236}">
                <a16:creationId xmlns:a16="http://schemas.microsoft.com/office/drawing/2014/main" id="{01169736-6079-4888-B41C-C185B005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8097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哪一句仍缺直接证据？</a:t>
            </a:r>
          </a:p>
        </p:txBody>
      </p:sp>
      <p:sp>
        <p:nvSpPr>
          <p:cNvPr id="15" name="p19-c1">
            <a:extLst xmlns:a="http://schemas.openxmlformats.org/drawingml/2006/main">
              <a:ext uri="{FF2B5EF4-FFF2-40B4-BE49-F238E27FC236}">
                <a16:creationId xmlns:a16="http://schemas.microsoft.com/office/drawing/2014/main" id="{5C7849FA-0655-4E80-AC54-6EC69FD0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860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哪个空白最可能不通过？</a:t>
            </a:r>
          </a:p>
        </p:txBody>
      </p:sp>
      <p:sp>
        <p:nvSpPr>
          <p:cNvPr id="16" name="p19-c2">
            <a:extLst xmlns:a="http://schemas.openxmlformats.org/drawingml/2006/main">
              <a:ext uri="{FF2B5EF4-FFF2-40B4-BE49-F238E27FC236}">
                <a16:creationId xmlns:a16="http://schemas.microsoft.com/office/drawing/2014/main" id="{02D49489-B614-4E44-9FF2-03BD72B8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5623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问题门还需补哪一项？</a:t>
            </a:r>
          </a:p>
        </p:txBody>
      </p:sp>
      <p:sp>
        <p:nvSpPr>
          <p:cNvPr id="17" name="p19-path">
            <a:extLst xmlns:a="http://schemas.openxmlformats.org/drawingml/2006/main">
              <a:ext uri="{FF2B5EF4-FFF2-40B4-BE49-F238E27FC236}">
                <a16:creationId xmlns:a16="http://schemas.microsoft.com/office/drawing/2014/main" id="{64B50295-F848-4619-8AAA-22CB2174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95750"/>
            <a:ext cx="942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 → mini review / 证据地图 → 研究问题 → 可证伪命题</a:t>
            </a:r>
          </a:p>
        </p:txBody>
      </p:sp>
      <p:sp>
        <p:nvSpPr>
          <p:cNvPr id="18" name="p19-bottom">
            <a:extLst xmlns:a="http://schemas.openxmlformats.org/drawingml/2006/main">
              <a:ext uri="{FF2B5EF4-FFF2-40B4-BE49-F238E27FC236}">
                <a16:creationId xmlns:a16="http://schemas.microsoft.com/office/drawing/2014/main" id="{949367C9-A2D5-4271-8A08-508FA254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95875"/>
            <a:ext cx="790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本课不新增正式作业；继续回写同一个人项目。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2026-08-07T15:15:27.7480000Z</dcterms:created>
  <dcterms:modified xsi:type="dcterms:W3CDTF">2026-08-07T15:15:27.7480000Z</dcterms:modified>
</coreProperties>
</file>