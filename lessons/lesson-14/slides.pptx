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09f3c84ebe4d66" /><Relationship Type="http://schemas.openxmlformats.org/officeDocument/2006/relationships/extended-properties" Target="/docProps/app.xml" Id="Ra155c2ba46b54bf2" /><Relationship Type="http://schemas.openxmlformats.org/officeDocument/2006/relationships/officeDocument" Target="/ppt/presentation.xml" Id="Rbc769038835e40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482719ca654acc"/>
  </p:sldMasterIdLst>
  <p:notesMasterIdLst>
    <p:notesMasterId xmlns:r="http://schemas.openxmlformats.org/officeDocument/2006/relationships" r:id="Re5f66fe039ea433d"/>
  </p:notesMasterIdLst>
  <p:sldIdLst>
    <p:sldId xmlns:r="http://schemas.openxmlformats.org/officeDocument/2006/relationships" id="256" r:id="Rfc22ba5046484210"/>
    <p:sldId xmlns:r="http://schemas.openxmlformats.org/officeDocument/2006/relationships" id="257" r:id="Rb8d16bdd6ac443d8"/>
    <p:sldId xmlns:r="http://schemas.openxmlformats.org/officeDocument/2006/relationships" id="258" r:id="R14d7813a18b243ba"/>
    <p:sldId xmlns:r="http://schemas.openxmlformats.org/officeDocument/2006/relationships" id="259" r:id="R401ca0d44c88454f"/>
    <p:sldId xmlns:r="http://schemas.openxmlformats.org/officeDocument/2006/relationships" id="260" r:id="R05202a87cacb4239"/>
    <p:sldId xmlns:r="http://schemas.openxmlformats.org/officeDocument/2006/relationships" id="261" r:id="R2dd7165c57bc47d2"/>
    <p:sldId xmlns:r="http://schemas.openxmlformats.org/officeDocument/2006/relationships" id="262" r:id="R2ee59febbb2a4af6"/>
    <p:sldId xmlns:r="http://schemas.openxmlformats.org/officeDocument/2006/relationships" id="263" r:id="Rcdd7e2a40cf34501"/>
    <p:sldId xmlns:r="http://schemas.openxmlformats.org/officeDocument/2006/relationships" id="264" r:id="Rfde7358336f940a2"/>
    <p:sldId xmlns:r="http://schemas.openxmlformats.org/officeDocument/2006/relationships" id="265" r:id="R52a3ff3ef0964049"/>
    <p:sldId xmlns:r="http://schemas.openxmlformats.org/officeDocument/2006/relationships" id="266" r:id="R9d0556ac8aa146dc"/>
    <p:sldId xmlns:r="http://schemas.openxmlformats.org/officeDocument/2006/relationships" id="267" r:id="Rbd3cacbb54a34d9c"/>
    <p:sldId xmlns:r="http://schemas.openxmlformats.org/officeDocument/2006/relationships" id="268" r:id="R6650a2780b20485c"/>
    <p:sldId xmlns:r="http://schemas.openxmlformats.org/officeDocument/2006/relationships" id="269" r:id="R02c99c861894472d"/>
    <p:sldId xmlns:r="http://schemas.openxmlformats.org/officeDocument/2006/relationships" id="270" r:id="R247cac6d70cb44eb"/>
    <p:sldId xmlns:r="http://schemas.openxmlformats.org/officeDocument/2006/relationships" id="271" r:id="Rfa05ad48d1c34ceb"/>
    <p:sldId xmlns:r="http://schemas.openxmlformats.org/officeDocument/2006/relationships" id="272" r:id="Ra7fe8a104cb446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bbf4bf15e345e8" /><Relationship Type="http://schemas.openxmlformats.org/officeDocument/2006/relationships/slideMaster" Target="/ppt/slideMasters/slideMaster1.xml" Id="R8f482719ca654acc" /><Relationship Type="http://schemas.openxmlformats.org/officeDocument/2006/relationships/notesMaster" Target="/ppt/notesMasters/notesMaster1.xml" Id="Re5f66fe039ea433d" /><Relationship Type="http://schemas.openxmlformats.org/officeDocument/2006/relationships/presProps" Target="/ppt/presProps.xml" Id="R80ec6768d0704c00" /><Relationship Type="http://schemas.openxmlformats.org/officeDocument/2006/relationships/viewProps" Target="/ppt/viewProps.xml" Id="R9695c5f18be24164" /><Relationship Type="http://schemas.openxmlformats.org/officeDocument/2006/relationships/tableStyles" Target="/ppt/tableStyles.xml" Id="R38427f7981774442" /><Relationship Type="http://schemas.openxmlformats.org/officeDocument/2006/relationships/slide" Target="/ppt/slides/slide1.xml" Id="Rfc22ba5046484210" /><Relationship Type="http://schemas.openxmlformats.org/officeDocument/2006/relationships/slide" Target="/ppt/slides/slide2.xml" Id="Rb8d16bdd6ac443d8" /><Relationship Type="http://schemas.openxmlformats.org/officeDocument/2006/relationships/slide" Target="/ppt/slides/slide3.xml" Id="R14d7813a18b243ba" /><Relationship Type="http://schemas.openxmlformats.org/officeDocument/2006/relationships/slide" Target="/ppt/slides/slide4.xml" Id="R401ca0d44c88454f" /><Relationship Type="http://schemas.openxmlformats.org/officeDocument/2006/relationships/slide" Target="/ppt/slides/slide5.xml" Id="R05202a87cacb4239" /><Relationship Type="http://schemas.openxmlformats.org/officeDocument/2006/relationships/slide" Target="/ppt/slides/slide6.xml" Id="R2dd7165c57bc47d2" /><Relationship Type="http://schemas.openxmlformats.org/officeDocument/2006/relationships/slide" Target="/ppt/slides/slide7.xml" Id="R2ee59febbb2a4af6" /><Relationship Type="http://schemas.openxmlformats.org/officeDocument/2006/relationships/slide" Target="/ppt/slides/slide8.xml" Id="Rcdd7e2a40cf34501" /><Relationship Type="http://schemas.openxmlformats.org/officeDocument/2006/relationships/slide" Target="/ppt/slides/slide9.xml" Id="Rfde7358336f940a2" /><Relationship Type="http://schemas.openxmlformats.org/officeDocument/2006/relationships/slide" Target="/ppt/slides/slide10.xml" Id="R52a3ff3ef0964049" /><Relationship Type="http://schemas.openxmlformats.org/officeDocument/2006/relationships/slide" Target="/ppt/slides/slide11.xml" Id="R9d0556ac8aa146dc" /><Relationship Type="http://schemas.openxmlformats.org/officeDocument/2006/relationships/slide" Target="/ppt/slides/slide12.xml" Id="Rbd3cacbb54a34d9c" /><Relationship Type="http://schemas.openxmlformats.org/officeDocument/2006/relationships/slide" Target="/ppt/slides/slide13.xml" Id="R6650a2780b20485c" /><Relationship Type="http://schemas.openxmlformats.org/officeDocument/2006/relationships/slide" Target="/ppt/slides/slide14.xml" Id="R02c99c861894472d" /><Relationship Type="http://schemas.openxmlformats.org/officeDocument/2006/relationships/slide" Target="/ppt/slides/slide15.xml" Id="R247cac6d70cb44eb" /><Relationship Type="http://schemas.openxmlformats.org/officeDocument/2006/relationships/slide" Target="/ppt/slides/slide16.xml" Id="Rfa05ad48d1c34ceb" /><Relationship Type="http://schemas.openxmlformats.org/officeDocument/2006/relationships/slide" Target="/ppt/slides/slide17.xml" Id="Ra7fe8a104cb446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6b8e02b09642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233aa916544725" /><Relationship Type="http://schemas.openxmlformats.org/officeDocument/2006/relationships/notesMaster" Target="/ppt/notesMasters/notesMaster1.xml" Id="Ra1f2ade92a9341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26374c5ab34c7f" /><Relationship Type="http://schemas.openxmlformats.org/officeDocument/2006/relationships/notesMaster" Target="/ppt/notesMasters/notesMaster1.xml" Id="R50b3fe8674304f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721cbcb8d14af3" /><Relationship Type="http://schemas.openxmlformats.org/officeDocument/2006/relationships/notesMaster" Target="/ppt/notesMasters/notesMaster1.xml" Id="R8325213ad66d48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d5644f4ad346f8" /><Relationship Type="http://schemas.openxmlformats.org/officeDocument/2006/relationships/notesMaster" Target="/ppt/notesMasters/notesMaster1.xml" Id="R0ed3247d0cbd46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4895e73656410a" /><Relationship Type="http://schemas.openxmlformats.org/officeDocument/2006/relationships/notesMaster" Target="/ppt/notesMasters/notesMaster1.xml" Id="R97df08894ece48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107955e29e489b" /><Relationship Type="http://schemas.openxmlformats.org/officeDocument/2006/relationships/notesMaster" Target="/ppt/notesMasters/notesMaster1.xml" Id="R86e6851c346348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de075f2731487f" /><Relationship Type="http://schemas.openxmlformats.org/officeDocument/2006/relationships/notesMaster" Target="/ppt/notesMasters/notesMaster1.xml" Id="Rfd7cc267a91e4c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137cf794104ed7" /><Relationship Type="http://schemas.openxmlformats.org/officeDocument/2006/relationships/notesMaster" Target="/ppt/notesMasters/notesMaster1.xml" Id="R737fc343e3b745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c5af7d356d46d1" /><Relationship Type="http://schemas.openxmlformats.org/officeDocument/2006/relationships/notesMaster" Target="/ppt/notesMasters/notesMaster1.xml" Id="Rd58f5186ec944b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50bc9d3a3f47d1" /><Relationship Type="http://schemas.openxmlformats.org/officeDocument/2006/relationships/notesMaster" Target="/ppt/notesMasters/notesMaster1.xml" Id="R197d34f8e63f49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033cc1f05d4e62" /><Relationship Type="http://schemas.openxmlformats.org/officeDocument/2006/relationships/notesMaster" Target="/ppt/notesMasters/notesMaster1.xml" Id="Radd61102171c42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df7c8cc9344ab2" /><Relationship Type="http://schemas.openxmlformats.org/officeDocument/2006/relationships/notesMaster" Target="/ppt/notesMasters/notesMaster1.xml" Id="R7219d247e82849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9fda294dc849fd" /><Relationship Type="http://schemas.openxmlformats.org/officeDocument/2006/relationships/notesMaster" Target="/ppt/notesMasters/notesMaster1.xml" Id="R612eed02f08c4c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66d6de6fc4494d" /><Relationship Type="http://schemas.openxmlformats.org/officeDocument/2006/relationships/notesMaster" Target="/ppt/notesMasters/notesMaster1.xml" Id="Rfe56b0be5d574d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30903888c96432e" /><Relationship Type="http://schemas.openxmlformats.org/officeDocument/2006/relationships/notesMaster" Target="/ppt/notesMasters/notesMaster1.xml" Id="Ra3101e8e31a74a5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91518efde745bd" /><Relationship Type="http://schemas.openxmlformats.org/officeDocument/2006/relationships/notesMaster" Target="/ppt/notesMasters/notesMaster1.xml" Id="R43c9b8879f00401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9a970a5c3b4a4a" /><Relationship Type="http://schemas.openxmlformats.org/officeDocument/2006/relationships/notesMaster" Target="/ppt/notesMasters/notesMaster1.xml" Id="R6fabe66222a846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开场放下第 13 课验证门材料：它们回答工作流是否改善科研动作，但还不是面向同行的研究论证。本课把内部材料回写为论文式短文初版，并为第 15 课同行评审准备可检查输入。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/Users/bright/Projects/courses/graduate/lessons/lesson-14/handout.md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- /Users/bright/Projects/courses/graduate/course/syllabus.md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快问：你的验证门材料里，哪一段最像给检查者看的内部材料？只听回答，不评价。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/Users/bright/Projects/courses/graduate/lessons/lesson-14/handout.md</a:t>
            </a:r>
          </a:p>
          <a:p xmlns:a="http://schemas.openxmlformats.org/drawingml/2006/main">
            <a:r>
              <a:t>- /Users/bright/Projects/courses/graduate/lessons/lesson-13/handout.md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明确边界：本课不追求论文终稿，只要求跑通一条可复盘链路并留下四类可检查产出。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/Users/bright/Projects/courses/graduate/lessons/lesson-14/teaching-plan.md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让学生用自己的一个结论写四行。如果写不出证据 ID，说明仍停留在主张层。画面中的案例数字是虚构教学示例，只演示追踪动作。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https://press.uchicago.edu/ucp/books/book/chicago/C/bo215874008</a:t>
            </a:r>
          </a:p>
          <a:p xmlns:a="http://schemas.openxmlformats.org/drawingml/2006/main">
            <a:r>
              <a:t>- /Users/bright/Projects/courses/graduate/lessons/lesson-14/handout.md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让学生对照五行映射，标出自己的论文各段缺哪个回写来源。Whitesides 的教学建议用于说明先组织 outline、图表与数据，而非把内部表格直接粘贴成论文。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/Users/bright/Projects/courses/graduate/lessons/lesson-14/handout.md</a:t>
            </a:r>
          </a:p>
          <a:p xmlns:a="http://schemas.openxmlformats.org/drawingml/2006/main">
            <a:r>
              <a:t>- https://doi.org/10.1002/adma.200400767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课程不要求逐句套公式，只要求检查结果段是否给读者建立信息预期。示例句用于教学说明，不是经验数据。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/Users/bright/Projects/courses/graduate/lessons/lesson-14/handout.md</a:t>
            </a:r>
          </a:p>
          <a:p xmlns:a="http://schemas.openxmlformats.org/drawingml/2006/main">
            <a:r>
              <a:t>- https://www.americanscientist.org/article/the-science-of-scientific-writing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让学生先写 3–5 条贡献，每条标状态并绑定证据。Peyton Jones 的材料是写作教学案例，不作为研究结论证据。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/Users/bright/Projects/courses/graduate/lessons/lesson-14/handout.md</a:t>
            </a:r>
          </a:p>
          <a:p xmlns:a="http://schemas.openxmlformats.org/drawingml/2006/main">
            <a:r>
              <a:t>- /Users/bright/Projects/courses/graduate/references/library/research-method/how to write/How to write a great research paper.pdf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回写不是抄数字。逐行检查证据项、实验 ID 与上游研究判断。C3 缺直接证据，必须保持“仍不能判断”；案例为虚构教学示例。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/Users/bright/Projects/courses/graduate/lessons/lesson-14/handout.md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让学生检查自己的论文是否只展示成功结果。失败实验和冲突证据不得选择性删除；同时不能事后改评价口径来“修复”结果。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- /Users/bright/Projects/courses/graduate/course/assessment.md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对照表格标出自己的结果、讨论与方法段分别缺哪一份上游材料。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/Users/bright/Projects/courses/graduate/lessons/lesson-14/handout.md</a:t>
            </a:r>
          </a:p>
          <a:p xmlns:a="http://schemas.openxmlformats.org/drawingml/2006/main">
            <a:r>
              <a:t>- /Users/bright/Projects/courses/graduate/lessons/lesson-13/handout.md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若没有发现明显错误，记录检查过的风险点与核验依据；不虚构错误，也不写“AI 输出全部正确”。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/Users/bright/Projects/courses/graduate/lessons/lesson-14/handout.md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- /Users/bright/Projects/courses/graduate/course/assessment.md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检查论文中的每条引用：证据角色是什么？是否呈现反例？AI 推荐的文献是否逐项回正式来源核验？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/Users/bright/Projects/courses/graduate/lessons/lesson-14/handout.md</a:t>
            </a:r>
          </a:p>
          <a:p xmlns:a="http://schemas.openxmlformats.org/drawingml/2006/main">
            <a:r>
              <a:t>- /Users/bright/Projects/courses/graduate/course/reading-list.md</a:t>
            </a:r>
          </a:p>
          <a:p xmlns:a="http://schemas.openxmlformats.org/drawingml/2006/main">
            <a:r>
              <a:t>- /Users/bright/Projects/courses/graduate/course/assessment.md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重点演示第 4 步：把“降低”写成“消除”、把“限定条件遗漏率”写成“引用幻觉”、把“初步证据”写成“研究证明”，都属于证据断裂。案例数值、ID 与错误数量均为虚构教学示例。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/Users/bright/Projects/courses/graduate/lessons/lesson-14/handout.md</a:t>
            </a:r>
          </a:p>
          <a:p xmlns:a="http://schemas.openxmlformats.org/drawingml/2006/main">
            <a:r>
              <a:t>- /Users/bright/Projects/courses/graduate/lessons/lesson-13/handout.md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本页停留 25 分钟。预演目的不是全部通过，而是发现缺口并标注后续课次。十项逐字对应 assignments.md Checkpoint 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/Users/bright/Projects/courses/graduate/lessons/lesson-14/handout.md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每人 3–5 分钟：作者 45 秒说明贡献、追踪表与披露段，同伴按八项检查。重点检查失败保留、AI 文本审计、披露与 stable 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/Users/bright/Projects/courses/graduate/lessons/lesson-14/teaching-plan.md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回扣目标：初版已经形成可继续检查的起点，不等于终稿或正式提交。第 15 课在本课产出上做同行评审与修改。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- /Users/bright/Projects/courses/graduate/lessons/lesson-14/handout.md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精读卡继续保存在个人项目 notes/，不逐周正式提交。本课产出直接带入第 15 课同行评审。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https://press.uchicago.edu/ucp/books/book/chicago/C/bo215874008</a:t>
            </a:r>
          </a:p>
          <a:p xmlns:a="http://schemas.openxmlformats.org/drawingml/2006/main">
            <a:r>
              <a:t>- https://doi.org/10.1002/adma.200400767</a:t>
            </a:r>
          </a:p>
          <a:p xmlns:a="http://schemas.openxmlformats.org/drawingml/2006/main">
            <a:r>
              <a:t>- https://www.americanscientist.org/article/the-science-of-scientific-writing</a:t>
            </a:r>
          </a:p>
          <a:p xmlns:a="http://schemas.openxmlformats.org/drawingml/2006/main">
            <a:r>
              <a:t>- /Users/bright/Projects/courses/graduate/course/reading-list.md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b00fecc414093" /><Relationship Type="http://schemas.openxmlformats.org/officeDocument/2006/relationships/image" Target="/ppt/media/image.png" Id="Rd07ac5bcaee349c0" /><Relationship Type="http://schemas.openxmlformats.org/officeDocument/2006/relationships/image" Target="/ppt/media/image2.png" Id="Rbf32b603cd5c4cda" /><Relationship Type="http://schemas.openxmlformats.org/officeDocument/2006/relationships/image" Target="/ppt/media/image3.png" Id="Ra462d5e633494927" /><Relationship Type="http://schemas.openxmlformats.org/officeDocument/2006/relationships/image" Target="/ppt/media/image4.png" Id="Raf975a52200940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aa37a12cb4f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ba7989b814973" /><Relationship Type="http://schemas.openxmlformats.org/officeDocument/2006/relationships/image" Target="/ppt/media/image2.png" Id="Rb04d2f921d8a41ba" /><Relationship Type="http://schemas.openxmlformats.org/officeDocument/2006/relationships/image" Target="/ppt/media/image5.png" Id="R3f36d884d1ab42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dbf45a39440c7" /><Relationship Type="http://schemas.openxmlformats.org/officeDocument/2006/relationships/image" Target="/ppt/media/image.png" Id="R9560b00ffa6f48ff" /><Relationship Type="http://schemas.openxmlformats.org/officeDocument/2006/relationships/image" Target="/ppt/media/image3.png" Id="R44c62d8e6daf4907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ac5bcaee349c0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32b603cd5c4cda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62d5e633494927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75a522009409f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4d2f921d8a41ba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6d884d1ab42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0b00ffa6f48ff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4c62d8e6daf4907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20b2e00263447b" /><Relationship Type="http://schemas.openxmlformats.org/officeDocument/2006/relationships/slideLayout" Target="/ppt/slideLayouts/slideLayout1.xml" Id="R3e1252fe34104697" /><Relationship Type="http://schemas.openxmlformats.org/officeDocument/2006/relationships/slideLayout" Target="/ppt/slideLayouts/slideLayout2.xml" Id="R66fcbd84989f4022" /><Relationship Type="http://schemas.openxmlformats.org/officeDocument/2006/relationships/slideLayout" Target="/ppt/slideLayouts/slideLayout3.xml" Id="Rc214fb8c963b49bd" /><Relationship Type="http://schemas.openxmlformats.org/officeDocument/2006/relationships/slideLayout" Target="/ppt/slideLayouts/slideLayout4.xml" Id="Rdbb7c1b41c414d4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1252fe34104697"/>
    <p:sldLayoutId xmlns:r="http://schemas.openxmlformats.org/officeDocument/2006/relationships" id="2147483650" r:id="R66fcbd84989f4022"/>
    <p:sldLayoutId xmlns:r="http://schemas.openxmlformats.org/officeDocument/2006/relationships" id="2147483651" r:id="Rc214fb8c963b49bd"/>
    <p:sldLayoutId xmlns:r="http://schemas.openxmlformats.org/officeDocument/2006/relationships" id="2147483652" r:id="Rdbb7c1b41c414d4c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caeb9c165463c" /><Relationship Type="http://schemas.openxmlformats.org/officeDocument/2006/relationships/notesSlide" Target="/ppt/notesSlides/notesSlide1.xml" Id="R49980cc0056c40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59f60cb1b994d67" /><Relationship Type="http://schemas.openxmlformats.org/officeDocument/2006/relationships/notesSlide" Target="/ppt/notesSlides/notesSlide2.xml" Id="R5126f149d1f74e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58ddb66b89a49cf" /><Relationship Type="http://schemas.openxmlformats.org/officeDocument/2006/relationships/notesSlide" Target="/ppt/notesSlides/notesSlide3.xml" Id="R14f7d3d1e4bd49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a1286a03b84857" /><Relationship Type="http://schemas.openxmlformats.org/officeDocument/2006/relationships/notesSlide" Target="/ppt/notesSlides/notesSlide4.xml" Id="R0ea8fea45b8642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2d8089bfa14a37" /><Relationship Type="http://schemas.openxmlformats.org/officeDocument/2006/relationships/notesSlide" Target="/ppt/notesSlides/notesSlide5.xml" Id="R72b16bb9279f4e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ea7b1c538e443de" /><Relationship Type="http://schemas.openxmlformats.org/officeDocument/2006/relationships/notesSlide" Target="/ppt/notesSlides/notesSlide6.xml" Id="Rd5d3af6300bd44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cecfd9031c2430a" /><Relationship Type="http://schemas.openxmlformats.org/officeDocument/2006/relationships/notesSlide" Target="/ppt/notesSlides/notesSlide7.xml" Id="R369510140ca84d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6abc765ff6f4014" /><Relationship Type="http://schemas.openxmlformats.org/officeDocument/2006/relationships/notesSlide" Target="/ppt/notesSlides/notesSlide8.xml" Id="Rdc75897d87c046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53362b1d8924fbc" /><Relationship Type="http://schemas.openxmlformats.org/officeDocument/2006/relationships/notesSlide" Target="/ppt/notesSlides/notesSlide9.xml" Id="Rc9b025a3e56944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e9067edb6ab41a2" /><Relationship Type="http://schemas.openxmlformats.org/officeDocument/2006/relationships/notesSlide" Target="/ppt/notesSlides/notesSlide10.xml" Id="R0a6497ee2ea049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a84015468944b12" /><Relationship Type="http://schemas.openxmlformats.org/officeDocument/2006/relationships/notesSlide" Target="/ppt/notesSlides/notesSlide11.xml" Id="R6342ecb0d22142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9d8b6d2d7a645fa" /><Relationship Type="http://schemas.openxmlformats.org/officeDocument/2006/relationships/notesSlide" Target="/ppt/notesSlides/notesSlide12.xml" Id="R2c6f0501b6ff4b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87718ea62e4d39" /><Relationship Type="http://schemas.openxmlformats.org/officeDocument/2006/relationships/notesSlide" Target="/ppt/notesSlides/notesSlide13.xml" Id="R357259f67598440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8a52b17aaaa4cee" /><Relationship Type="http://schemas.openxmlformats.org/officeDocument/2006/relationships/notesSlide" Target="/ppt/notesSlides/notesSlide14.xml" Id="Rf9b2edca15f4430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818d11641c9470c" /><Relationship Type="http://schemas.openxmlformats.org/officeDocument/2006/relationships/notesSlide" Target="/ppt/notesSlides/notesSlide15.xml" Id="Ra0a0009560814e3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3cf13072fc14308" /><Relationship Type="http://schemas.openxmlformats.org/officeDocument/2006/relationships/notesSlide" Target="/ppt/notesSlides/notesSlide16.xml" Id="R9acfb36793aa4a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9413619f0694485" /><Relationship Type="http://schemas.openxmlformats.org/officeDocument/2006/relationships/notesSlide" Target="/ppt/notesSlides/notesSlide17.xml" Id="Rda62ee2f448b4c4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1D30E0E-D2D5-4C08-A919-2A1C2D5A8D02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143000" y="3067050"/>
            <a:ext cx="9906000" cy="2286000"/>
          </a:xfrm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</a:pPr>
            <a:r>
              <a:rPr sz="18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评价报告 → 可追溯研究叙事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>
                <a:latin typeface="+mn-ea"/>
                <a:ea typeface="+mn-ea"/>
                <a:cs typeface="+mn-ea"/>
              </a:rPr>
              <a:t/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2000"/>
              </a:lnSpc>
              <a:buNone/>
            </a:pPr>
            <a:r>
              <a:rPr sz="18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IMRaD 回写 · 结论追踪 · 失败保留 · 七字段披露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2000"/>
              </a:lnSpc>
              <a:buNone/>
            </a:pPr>
            <a:r>
              <a:rPr sz="18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第十四讲｜阶段八：回写与表达｜本课非提交门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219200"/>
            <a:ext cx="100012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76200" tIns="38100" rIns="76200" bIns="381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31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论文式写作、证据回写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8000"/>
              </a:lnSpc>
              <a:buNone/>
            </a:pPr>
            <a:r>
              <a:rPr sz="31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与 AI 使用披露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13 课之后，论文还缺什么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02E87148-4442-4939-AE01-237B9A82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745A"/>
                </a:solidFill>
              </a:defRPr>
            </a:pPr>
            <a:r>
              <a:rPr sz="18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第 13 课已经有</a:t>
            </a:r>
          </a:p>
        </p:txBody>
      </p:sp>
      <p:sp>
        <p:nvSpPr>
          <p:cNvPr id="7" name="left-0">
            <a:extLst xmlns:a="http://schemas.openxmlformats.org/drawingml/2006/main">
              <a:ext uri="{FF2B5EF4-FFF2-40B4-BE49-F238E27FC236}">
                <a16:creationId xmlns:a16="http://schemas.microsoft.com/office/drawing/2014/main" id="{31BA6FF7-4793-4E8F-A0F4-B905ABF5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2481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评价报告与实验结果</a:t>
            </a:r>
          </a:p>
        </p:txBody>
      </p:sp>
      <p:sp>
        <p:nvSpPr>
          <p:cNvPr id="8" name="left-1">
            <a:extLst xmlns:a="http://schemas.openxmlformats.org/drawingml/2006/main">
              <a:ext uri="{FF2B5EF4-FFF2-40B4-BE49-F238E27FC236}">
                <a16:creationId xmlns:a16="http://schemas.microsoft.com/office/drawing/2014/main" id="{E7598B30-CD22-4EB6-A20F-2AF58F74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2481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证据充分性与有效性威胁</a:t>
            </a:r>
          </a:p>
        </p:txBody>
      </p:sp>
      <p:sp>
        <p:nvSpPr>
          <p:cNvPr id="9" name="left-2">
            <a:extLst xmlns:a="http://schemas.openxmlformats.org/drawingml/2006/main">
              <a:ext uri="{FF2B5EF4-FFF2-40B4-BE49-F238E27FC236}">
                <a16:creationId xmlns:a16="http://schemas.microsoft.com/office/drawing/2014/main" id="{978F45C5-690A-44AA-90DD-ADE61450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42481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失败审计与人工审核</a:t>
            </a:r>
          </a:p>
        </p:txBody>
      </p:sp>
      <p:sp>
        <p:nvSpPr>
          <p:cNvPr id="10" name="left-3">
            <a:extLst xmlns:a="http://schemas.openxmlformats.org/drawingml/2006/main">
              <a:ext uri="{FF2B5EF4-FFF2-40B4-BE49-F238E27FC236}">
                <a16:creationId xmlns:a16="http://schemas.microsoft.com/office/drawing/2014/main" id="{EA8FFD70-9545-4CA7-84C2-069696C7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42481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第 1–13 课 AI 使用记录</a:t>
            </a:r>
          </a:p>
        </p:txBody>
      </p:sp>
      <p:sp>
        <p:nvSpPr>
          <p:cNvPr id="11" name="neq">
            <a:extLst xmlns:a="http://schemas.openxmlformats.org/drawingml/2006/main">
              <a:ext uri="{FF2B5EF4-FFF2-40B4-BE49-F238E27FC236}">
                <a16:creationId xmlns:a16="http://schemas.microsoft.com/office/drawing/2014/main" id="{463188F1-D391-457E-8FC3-1DC358A0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28875"/>
            <a:ext cx="990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C8161E"/>
                </a:solidFill>
              </a:defRPr>
            </a:pPr>
            <a:r>
              <a:rPr sz="36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</p:txBody>
      </p:sp>
      <p:sp>
        <p:nvSpPr>
          <p:cNvPr id="12" name="right-head">
            <a:extLst xmlns:a="http://schemas.openxmlformats.org/drawingml/2006/main">
              <a:ext uri="{FF2B5EF4-FFF2-40B4-BE49-F238E27FC236}">
                <a16:creationId xmlns:a16="http://schemas.microsoft.com/office/drawing/2014/main" id="{393D0820-5A5C-4650-9270-1C1F7DF9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00012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面向同行的论文还缺</a:t>
            </a:r>
          </a:p>
        </p:txBody>
      </p:sp>
      <p:sp>
        <p:nvSpPr>
          <p:cNvPr id="13" name="right-0">
            <a:extLst xmlns:a="http://schemas.openxmlformats.org/drawingml/2006/main">
              <a:ext uri="{FF2B5EF4-FFF2-40B4-BE49-F238E27FC236}">
                <a16:creationId xmlns:a16="http://schemas.microsoft.com/office/drawing/2014/main" id="{BB352C3D-3096-4EDF-83BE-C6DFB1BE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19250"/>
            <a:ext cx="42481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IMRaD 可追溯叙事</a:t>
            </a:r>
          </a:p>
        </p:txBody>
      </p:sp>
      <p:sp>
        <p:nvSpPr>
          <p:cNvPr id="14" name="right-1">
            <a:extLst xmlns:a="http://schemas.openxmlformats.org/drawingml/2006/main">
              <a:ext uri="{FF2B5EF4-FFF2-40B4-BE49-F238E27FC236}">
                <a16:creationId xmlns:a16="http://schemas.microsoft.com/office/drawing/2014/main" id="{CB2B5299-F00C-460E-9E14-AD0443A3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0300"/>
            <a:ext cx="42481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结论追踪表</a:t>
            </a:r>
          </a:p>
        </p:txBody>
      </p:sp>
      <p:sp>
        <p:nvSpPr>
          <p:cNvPr id="15" name="right-2">
            <a:extLst xmlns:a="http://schemas.openxmlformats.org/drawingml/2006/main">
              <a:ext uri="{FF2B5EF4-FFF2-40B4-BE49-F238E27FC236}">
                <a16:creationId xmlns:a16="http://schemas.microsoft.com/office/drawing/2014/main" id="{82A22C70-5EE0-45A4-990C-9AA2A8AF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81350"/>
            <a:ext cx="42481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七字段 AI 使用披露段</a:t>
            </a:r>
          </a:p>
        </p:txBody>
      </p:sp>
      <p:sp>
        <p:nvSpPr>
          <p:cNvPr id="16" name="right-3">
            <a:extLst xmlns:a="http://schemas.openxmlformats.org/drawingml/2006/main">
              <a:ext uri="{FF2B5EF4-FFF2-40B4-BE49-F238E27FC236}">
                <a16:creationId xmlns:a16="http://schemas.microsoft.com/office/drawing/2014/main" id="{96D71579-1179-4C04-875C-05D2AD3E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62400"/>
            <a:ext cx="42481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Checkpoint 4 预演</a:t>
            </a:r>
          </a:p>
        </p:txBody>
      </p:sp>
      <p:sp>
        <p:nvSpPr>
          <p:cNvPr id="17" name="out">
            <a:extLst xmlns:a="http://schemas.openxmlformats.org/drawingml/2006/main">
              <a:ext uri="{FF2B5EF4-FFF2-40B4-BE49-F238E27FC236}">
                <a16:creationId xmlns:a16="http://schemas.microsoft.com/office/drawing/2014/main" id="{5CE66FA5-5A14-4C4C-8074-FBBF5F2B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10150"/>
            <a:ext cx="8305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本课动作：把内部材料回写成论文式短文初版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本课目标与课堂产出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ln-0">
            <a:extLst xmlns:a="http://schemas.openxmlformats.org/drawingml/2006/main">
              <a:ext uri="{FF2B5EF4-FFF2-40B4-BE49-F238E27FC236}">
                <a16:creationId xmlns:a16="http://schemas.microsoft.com/office/drawing/2014/main" id="{388F4484-B770-4E33-AEF5-BF469FCE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9300" y="17526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-0">
            <a:extLst xmlns:a="http://schemas.openxmlformats.org/drawingml/2006/main">
              <a:ext uri="{FF2B5EF4-FFF2-40B4-BE49-F238E27FC236}">
                <a16:creationId xmlns:a16="http://schemas.microsoft.com/office/drawing/2014/main" id="{17ECF85D-DDB5-469D-A549-42CBFD8D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ep-0">
            <a:extLst xmlns:a="http://schemas.openxmlformats.org/drawingml/2006/main">
              <a:ext uri="{FF2B5EF4-FFF2-40B4-BE49-F238E27FC236}">
                <a16:creationId xmlns:a16="http://schemas.microsoft.com/office/drawing/2014/main" id="{236EFEDE-2B89-4458-BEEC-76BD620D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4668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论证单元</a:t>
            </a:r>
          </a:p>
        </p:txBody>
      </p:sp>
      <p:sp>
        <p:nvSpPr>
          <p:cNvPr id="9" name="ln-1">
            <a:extLst xmlns:a="http://schemas.openxmlformats.org/drawingml/2006/main">
              <a:ext uri="{FF2B5EF4-FFF2-40B4-BE49-F238E27FC236}">
                <a16:creationId xmlns:a16="http://schemas.microsoft.com/office/drawing/2014/main" id="{F5AAC4B2-C518-445B-BAD6-75B0975F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17526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-1">
            <a:extLst xmlns:a="http://schemas.openxmlformats.org/drawingml/2006/main">
              <a:ext uri="{FF2B5EF4-FFF2-40B4-BE49-F238E27FC236}">
                <a16:creationId xmlns:a16="http://schemas.microsoft.com/office/drawing/2014/main" id="{0A0FAF43-06B4-4EFB-951F-33315C80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485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tep-1">
            <a:extLst xmlns:a="http://schemas.openxmlformats.org/drawingml/2006/main">
              <a:ext uri="{FF2B5EF4-FFF2-40B4-BE49-F238E27FC236}">
                <a16:creationId xmlns:a16="http://schemas.microsoft.com/office/drawing/2014/main" id="{E1C15664-0D62-4A9B-8E22-F6643D72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668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IMRaD 回写</a:t>
            </a:r>
          </a:p>
        </p:txBody>
      </p:sp>
      <p:sp>
        <p:nvSpPr>
          <p:cNvPr id="12" name="ln-2">
            <a:extLst xmlns:a="http://schemas.openxmlformats.org/drawingml/2006/main">
              <a:ext uri="{FF2B5EF4-FFF2-40B4-BE49-F238E27FC236}">
                <a16:creationId xmlns:a16="http://schemas.microsoft.com/office/drawing/2014/main" id="{E4EECB3F-3B93-4193-B856-39A8730A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17526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-2">
            <a:extLst xmlns:a="http://schemas.openxmlformats.org/drawingml/2006/main">
              <a:ext uri="{FF2B5EF4-FFF2-40B4-BE49-F238E27FC236}">
                <a16:creationId xmlns:a16="http://schemas.microsoft.com/office/drawing/2014/main" id="{CA18C5C0-EEB5-4763-9D75-815BC716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485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-2">
            <a:extLst xmlns:a="http://schemas.openxmlformats.org/drawingml/2006/main">
              <a:ext uri="{FF2B5EF4-FFF2-40B4-BE49-F238E27FC236}">
                <a16:creationId xmlns:a16="http://schemas.microsoft.com/office/drawing/2014/main" id="{FCA00907-3475-4159-9F2C-DB9559A6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4668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结论追踪</a:t>
            </a:r>
          </a:p>
        </p:txBody>
      </p:sp>
      <p:sp>
        <p:nvSpPr>
          <p:cNvPr id="15" name="ln-3">
            <a:extLst xmlns:a="http://schemas.openxmlformats.org/drawingml/2006/main">
              <a:ext uri="{FF2B5EF4-FFF2-40B4-BE49-F238E27FC236}">
                <a16:creationId xmlns:a16="http://schemas.microsoft.com/office/drawing/2014/main" id="{2CA571DC-AE7E-4DBF-84BE-03331861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17526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-3">
            <a:extLst xmlns:a="http://schemas.openxmlformats.org/drawingml/2006/main">
              <a:ext uri="{FF2B5EF4-FFF2-40B4-BE49-F238E27FC236}">
                <a16:creationId xmlns:a16="http://schemas.microsoft.com/office/drawing/2014/main" id="{AF2FCB19-C543-46A0-AFFB-31AC36C5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85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step-3">
            <a:extLst xmlns:a="http://schemas.openxmlformats.org/drawingml/2006/main">
              <a:ext uri="{FF2B5EF4-FFF2-40B4-BE49-F238E27FC236}">
                <a16:creationId xmlns:a16="http://schemas.microsoft.com/office/drawing/2014/main" id="{B1B71BF6-8D37-4C87-AA40-7E69314B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4668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AI 披露</a:t>
            </a:r>
          </a:p>
        </p:txBody>
      </p:sp>
      <p:sp>
        <p:nvSpPr>
          <p:cNvPr id="18" name="n-4">
            <a:extLst xmlns:a="http://schemas.openxmlformats.org/drawingml/2006/main">
              <a:ext uri="{FF2B5EF4-FFF2-40B4-BE49-F238E27FC236}">
                <a16:creationId xmlns:a16="http://schemas.microsoft.com/office/drawing/2014/main" id="{63EBABFB-81E3-4589-AA5A-8C855811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85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step-4">
            <a:extLst xmlns:a="http://schemas.openxmlformats.org/drawingml/2006/main">
              <a:ext uri="{FF2B5EF4-FFF2-40B4-BE49-F238E27FC236}">
                <a16:creationId xmlns:a16="http://schemas.microsoft.com/office/drawing/2014/main" id="{F5154D52-5AE8-487A-9DD8-82FEE343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4668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门预演</a:t>
            </a:r>
          </a:p>
        </p:txBody>
      </p:sp>
      <p:sp>
        <p:nvSpPr>
          <p:cNvPr id="20" name="out-title">
            <a:extLst xmlns:a="http://schemas.openxmlformats.org/drawingml/2006/main">
              <a:ext uri="{FF2B5EF4-FFF2-40B4-BE49-F238E27FC236}">
                <a16:creationId xmlns:a16="http://schemas.microsoft.com/office/drawing/2014/main" id="{DA79F312-1C13-4D03-A5A7-53739FEC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课堂可检查产出</a:t>
            </a:r>
          </a:p>
        </p:txBody>
      </p:sp>
      <p:sp>
        <p:nvSpPr>
          <p:cNvPr id="21" name="oh-0">
            <a:extLst xmlns:a="http://schemas.openxmlformats.org/drawingml/2006/main">
              <a:ext uri="{FF2B5EF4-FFF2-40B4-BE49-F238E27FC236}">
                <a16:creationId xmlns:a16="http://schemas.microsoft.com/office/drawing/2014/main" id="{B8198711-F8BC-4018-85F6-7733835E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IMRaD 骨架</a:t>
            </a:r>
          </a:p>
        </p:txBody>
      </p:sp>
      <p:sp>
        <p:nvSpPr>
          <p:cNvPr id="22" name="od-0">
            <a:extLst xmlns:a="http://schemas.openxmlformats.org/drawingml/2006/main">
              <a:ext uri="{FF2B5EF4-FFF2-40B4-BE49-F238E27FC236}">
                <a16:creationId xmlns:a16="http://schemas.microsoft.com/office/drawing/2014/main" id="{13C4A071-EA7D-433A-9F02-C9DA3980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7190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每段有回写来源</a:t>
            </a:r>
          </a:p>
        </p:txBody>
      </p:sp>
      <p:sp>
        <p:nvSpPr>
          <p:cNvPr id="23" name="oh-1">
            <a:extLst xmlns:a="http://schemas.openxmlformats.org/drawingml/2006/main">
              <a:ext uri="{FF2B5EF4-FFF2-40B4-BE49-F238E27FC236}">
                <a16:creationId xmlns:a16="http://schemas.microsoft.com/office/drawing/2014/main" id="{340E02DF-8529-456A-9F53-5624C851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7660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贡献列表</a:t>
            </a:r>
          </a:p>
        </p:txBody>
      </p:sp>
      <p:sp>
        <p:nvSpPr>
          <p:cNvPr id="24" name="od-1">
            <a:extLst xmlns:a="http://schemas.openxmlformats.org/drawingml/2006/main">
              <a:ext uri="{FF2B5EF4-FFF2-40B4-BE49-F238E27FC236}">
                <a16:creationId xmlns:a16="http://schemas.microsoft.com/office/drawing/2014/main" id="{14DAD08B-7D82-48A5-A376-34AD924D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7190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3–5 条；含状态</a:t>
            </a:r>
          </a:p>
        </p:txBody>
      </p:sp>
      <p:sp>
        <p:nvSpPr>
          <p:cNvPr id="25" name="oh-2">
            <a:extLst xmlns:a="http://schemas.openxmlformats.org/drawingml/2006/main">
              <a:ext uri="{FF2B5EF4-FFF2-40B4-BE49-F238E27FC236}">
                <a16:creationId xmlns:a16="http://schemas.microsoft.com/office/drawing/2014/main" id="{2E8109CF-BEF9-4133-9869-ABD7C59D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结论追踪表</a:t>
            </a:r>
          </a:p>
        </p:txBody>
      </p:sp>
      <p:sp>
        <p:nvSpPr>
          <p:cNvPr id="26" name="od-2">
            <a:extLst xmlns:a="http://schemas.openxmlformats.org/drawingml/2006/main">
              <a:ext uri="{FF2B5EF4-FFF2-40B4-BE49-F238E27FC236}">
                <a16:creationId xmlns:a16="http://schemas.microsoft.com/office/drawing/2014/main" id="{B82BBDCC-6020-4994-AB5C-B2D57AB3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至少 3 行；三字段</a:t>
            </a:r>
          </a:p>
        </p:txBody>
      </p:sp>
      <p:sp>
        <p:nvSpPr>
          <p:cNvPr id="27" name="oh-3">
            <a:extLst xmlns:a="http://schemas.openxmlformats.org/drawingml/2006/main">
              <a:ext uri="{FF2B5EF4-FFF2-40B4-BE49-F238E27FC236}">
                <a16:creationId xmlns:a16="http://schemas.microsoft.com/office/drawing/2014/main" id="{F0A4F873-17A7-4152-85D5-148A1062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使用披露</a:t>
            </a:r>
          </a:p>
        </p:txBody>
      </p:sp>
      <p:sp>
        <p:nvSpPr>
          <p:cNvPr id="28" name="od-3">
            <a:extLst xmlns:a="http://schemas.openxmlformats.org/drawingml/2006/main">
              <a:ext uri="{FF2B5EF4-FFF2-40B4-BE49-F238E27FC236}">
                <a16:creationId xmlns:a16="http://schemas.microsoft.com/office/drawing/2014/main" id="{3547A1DB-0983-476A-ACC4-3C6BF703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7190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七字段；含失败</a:t>
            </a:r>
          </a:p>
        </p:txBody>
      </p:sp>
      <p:sp>
        <p:nvSpPr>
          <p:cNvPr id="29" name="bottom">
            <a:extLst xmlns:a="http://schemas.openxmlformats.org/drawingml/2006/main">
              <a:ext uri="{FF2B5EF4-FFF2-40B4-BE49-F238E27FC236}">
                <a16:creationId xmlns:a16="http://schemas.microsoft.com/office/drawing/2014/main" id="{7CA77847-E0C2-4FB8-98EE-699283D4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67300"/>
            <a:ext cx="784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本课非提交门｜初版留作第 15 课同行评审输入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IMRaD 不是填表，是论证组织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teaching-label">
            <a:extLst xmlns:a="http://schemas.openxmlformats.org/drawingml/2006/main">
              <a:ext uri="{FF2B5EF4-FFF2-40B4-BE49-F238E27FC236}">
                <a16:creationId xmlns:a16="http://schemas.microsoft.com/office/drawing/2014/main" id="{223B3B56-04F9-4F0C-A83E-68E4413F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838200"/>
            <a:ext cx="3105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虚构教学示例 · 仅演示追踪动作</a:t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FA3D76CA-393D-469B-ABF7-E6ECC5A4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25336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um-0">
            <a:extLst xmlns:a="http://schemas.openxmlformats.org/drawingml/2006/main">
              <a:ext uri="{FF2B5EF4-FFF2-40B4-BE49-F238E27FC236}">
                <a16:creationId xmlns:a16="http://schemas.microsoft.com/office/drawing/2014/main" id="{A73F729A-B89A-42CD-B1DB-2E30DD7B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head-0">
            <a:extLst xmlns:a="http://schemas.openxmlformats.org/drawingml/2006/main">
              <a:ext uri="{FF2B5EF4-FFF2-40B4-BE49-F238E27FC236}">
                <a16:creationId xmlns:a16="http://schemas.microsoft.com/office/drawing/2014/main" id="{0457150E-A9E7-432A-A50C-C45947F7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主张</a:t>
            </a:r>
          </a:p>
        </p:txBody>
      </p:sp>
      <p:sp>
        <p:nvSpPr>
          <p:cNvPr id="10" name="body-0">
            <a:extLst xmlns:a="http://schemas.openxmlformats.org/drawingml/2006/main">
              <a:ext uri="{FF2B5EF4-FFF2-40B4-BE49-F238E27FC236}">
                <a16:creationId xmlns:a16="http://schemas.microsoft.com/office/drawing/2014/main" id="{29300C03-558C-4587-A17A-F6E4F87D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52650"/>
            <a:ext cx="2400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阅读卡降低遗漏率</a:t>
            </a:r>
          </a:p>
        </p:txBody>
      </p:sp>
      <p:sp>
        <p:nvSpPr>
          <p:cNvPr id="11" name="arrow-1">
            <a:extLst xmlns:a="http://schemas.openxmlformats.org/drawingml/2006/main">
              <a:ext uri="{FF2B5EF4-FFF2-40B4-BE49-F238E27FC236}">
                <a16:creationId xmlns:a16="http://schemas.microsoft.com/office/drawing/2014/main" id="{596E6EF0-DF6A-425F-A5EF-686CA96C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3100" y="25336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-1">
            <a:extLst xmlns:a="http://schemas.openxmlformats.org/drawingml/2006/main">
              <a:ext uri="{FF2B5EF4-FFF2-40B4-BE49-F238E27FC236}">
                <a16:creationId xmlns:a16="http://schemas.microsoft.com/office/drawing/2014/main" id="{B5F4BD63-7DAD-41E4-8265-4AC92CE1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430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head-1">
            <a:extLst xmlns:a="http://schemas.openxmlformats.org/drawingml/2006/main">
              <a:ext uri="{FF2B5EF4-FFF2-40B4-BE49-F238E27FC236}">
                <a16:creationId xmlns:a16="http://schemas.microsoft.com/office/drawing/2014/main" id="{C6A6010C-E079-4715-98EC-DB53F0BA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524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38A"/>
                </a:solidFill>
              </a:defRPr>
            </a:pPr>
            <a:r>
              <a:rPr sz="172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A330D389-8C18-400E-BCFA-8C9951C5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52650"/>
            <a:ext cx="2400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exp-001…010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0.18 vs 0.31</a:t>
            </a:r>
          </a:p>
        </p:txBody>
      </p:sp>
      <p:sp>
        <p:nvSpPr>
          <p:cNvPr id="15" name="arrow-2">
            <a:extLst xmlns:a="http://schemas.openxmlformats.org/drawingml/2006/main">
              <a:ext uri="{FF2B5EF4-FFF2-40B4-BE49-F238E27FC236}">
                <a16:creationId xmlns:a16="http://schemas.microsoft.com/office/drawing/2014/main" id="{BFD176F7-3385-4F12-A39F-800275FA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25336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40FE87E1-5868-4AB6-8EDB-83809C00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430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head-2">
            <a:extLst xmlns:a="http://schemas.openxmlformats.org/drawingml/2006/main">
              <a:ext uri="{FF2B5EF4-FFF2-40B4-BE49-F238E27FC236}">
                <a16:creationId xmlns:a16="http://schemas.microsoft.com/office/drawing/2014/main" id="{344ED4C9-089E-47FB-A0F0-973FA042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24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86C12"/>
                </a:solidFill>
              </a:defRPr>
            </a:pPr>
            <a:r>
              <a:rPr sz="17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786E95DA-E4D9-4300-A1CF-F53D7BE8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2400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原文位置标注暴露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无来源主张</a:t>
            </a:r>
          </a:p>
        </p:txBody>
      </p:sp>
      <p:sp>
        <p:nvSpPr>
          <p:cNvPr id="19" name="num-3">
            <a:extLst xmlns:a="http://schemas.openxmlformats.org/drawingml/2006/main">
              <a:ext uri="{FF2B5EF4-FFF2-40B4-BE49-F238E27FC236}">
                <a16:creationId xmlns:a16="http://schemas.microsoft.com/office/drawing/2014/main" id="{892E6E16-5D01-42AA-83DA-D954938C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430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head-3">
            <a:extLst xmlns:a="http://schemas.openxmlformats.org/drawingml/2006/main">
              <a:ext uri="{FF2B5EF4-FFF2-40B4-BE49-F238E27FC236}">
                <a16:creationId xmlns:a16="http://schemas.microsoft.com/office/drawing/2014/main" id="{6E29E31F-9A6E-47DE-9003-7906049F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24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8745A"/>
                </a:solidFill>
              </a:defRPr>
            </a:pPr>
            <a:r>
              <a:rPr sz="17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1" name="body-3">
            <a:extLst xmlns:a="http://schemas.openxmlformats.org/drawingml/2006/main">
              <a:ext uri="{FF2B5EF4-FFF2-40B4-BE49-F238E27FC236}">
                <a16:creationId xmlns:a16="http://schemas.microsoft.com/office/drawing/2014/main" id="{0B79B696-720B-4321-8BF8-ADE2CF4D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52650"/>
            <a:ext cx="2400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n=20；CS 单一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A2 未排除；2 篇反例</a:t>
            </a:r>
          </a:p>
        </p:txBody>
      </p:sp>
      <p:sp>
        <p:nvSpPr>
          <p:cNvPr id="22" name="claim">
            <a:extLst xmlns:a="http://schemas.openxmlformats.org/drawingml/2006/main">
              <a:ext uri="{FF2B5EF4-FFF2-40B4-BE49-F238E27FC236}">
                <a16:creationId xmlns:a16="http://schemas.microsoft.com/office/drawing/2014/main" id="{2C5D30B7-A23A-4021-95CE-21101CB1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48100"/>
            <a:ext cx="9791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只写“方法有效”不合格：四行缺一项，论证就无法复核。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DA788E86-898D-45DB-A0E0-CF88822C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96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684"/>
                </a:solidFill>
              </a:defRPr>
            </a:pPr>
            <a:r>
              <a:rPr sz="1350" b="0">
                <a:solidFill>
                  <a:srgbClr val="667684"/>
                </a:solidFill>
                <a:latin typeface="Arial"/>
                <a:ea typeface="Arial"/>
                <a:cs typeface="Arial"/>
              </a:rPr>
              <a:t>论证组织参考：Booth et al., The Craft of Research, 5th ed., Ch. 5 &amp; 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IMRaD 各段的回写来源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imrad-h0">
            <a:extLst xmlns:a="http://schemas.openxmlformats.org/drawingml/2006/main">
              <a:ext uri="{FF2B5EF4-FFF2-40B4-BE49-F238E27FC236}">
                <a16:creationId xmlns:a16="http://schemas.microsoft.com/office/drawing/2014/main" id="{F4420005-27B9-4469-A4D3-C4C50334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049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论文段</a:t>
            </a:r>
          </a:p>
        </p:txBody>
      </p:sp>
      <p:sp>
        <p:nvSpPr>
          <p:cNvPr id="7" name="imrad-h1">
            <a:extLst xmlns:a="http://schemas.openxmlformats.org/drawingml/2006/main">
              <a:ext uri="{FF2B5EF4-FFF2-40B4-BE49-F238E27FC236}">
                <a16:creationId xmlns:a16="http://schemas.microsoft.com/office/drawing/2014/main" id="{486F4E22-00BE-411C-A617-69F59B68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1049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回写来源</a:t>
            </a:r>
          </a:p>
        </p:txBody>
      </p:sp>
      <p:sp>
        <p:nvSpPr>
          <p:cNvPr id="8" name="imrad-h2">
            <a:extLst xmlns:a="http://schemas.openxmlformats.org/drawingml/2006/main">
              <a:ext uri="{FF2B5EF4-FFF2-40B4-BE49-F238E27FC236}">
                <a16:creationId xmlns:a16="http://schemas.microsoft.com/office/drawing/2014/main" id="{81A947B3-46B0-45CF-8089-78B2FB9D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104900"/>
            <a:ext cx="561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必须回答</a:t>
            </a:r>
          </a:p>
        </p:txBody>
      </p:sp>
      <p:sp>
        <p:nvSpPr>
          <p:cNvPr id="9" name="imrad-r0c0">
            <a:extLst xmlns:a="http://schemas.openxmlformats.org/drawingml/2006/main">
              <a:ext uri="{FF2B5EF4-FFF2-40B4-BE49-F238E27FC236}">
                <a16:creationId xmlns:a16="http://schemas.microsoft.com/office/drawing/2014/main" id="{40BD8BC6-A803-424B-8C3C-C4BEB73A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049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引言</a:t>
            </a:r>
          </a:p>
        </p:txBody>
      </p:sp>
      <p:sp>
        <p:nvSpPr>
          <p:cNvPr id="10" name="imrad-r0c1">
            <a:extLst xmlns:a="http://schemas.openxmlformats.org/drawingml/2006/main">
              <a:ext uri="{FF2B5EF4-FFF2-40B4-BE49-F238E27FC236}">
                <a16:creationId xmlns:a16="http://schemas.microsoft.com/office/drawing/2014/main" id="{E18A1660-4A04-4E89-8AC8-C128D745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049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problem-definition / evidence-map</a:t>
            </a:r>
          </a:p>
        </p:txBody>
      </p:sp>
      <p:sp>
        <p:nvSpPr>
          <p:cNvPr id="11" name="imrad-r0c2">
            <a:extLst xmlns:a="http://schemas.openxmlformats.org/drawingml/2006/main">
              <a:ext uri="{FF2B5EF4-FFF2-40B4-BE49-F238E27FC236}">
                <a16:creationId xmlns:a16="http://schemas.microsoft.com/office/drawing/2014/main" id="{B758561B-4627-466D-83AB-4CCD53F3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04950"/>
            <a:ext cx="561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为什么重要？非例？可证伪命题？</a:t>
            </a:r>
          </a:p>
        </p:txBody>
      </p:sp>
      <p:sp>
        <p:nvSpPr>
          <p:cNvPr id="12" name="imrad-r1c0">
            <a:extLst xmlns:a="http://schemas.openxmlformats.org/drawingml/2006/main">
              <a:ext uri="{FF2B5EF4-FFF2-40B4-BE49-F238E27FC236}">
                <a16:creationId xmlns:a16="http://schemas.microsoft.com/office/drawing/2014/main" id="{BE565E9E-43D6-41D6-A0C7-3BCF2C1C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717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3" name="imrad-r1c1">
            <a:extLst xmlns:a="http://schemas.openxmlformats.org/drawingml/2006/main">
              <a:ext uri="{FF2B5EF4-FFF2-40B4-BE49-F238E27FC236}">
                <a16:creationId xmlns:a16="http://schemas.microsoft.com/office/drawing/2014/main" id="{6AE28F21-2747-43F6-8594-DC070F03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717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experiment-spec / workflow / ethics</a:t>
            </a:r>
          </a:p>
        </p:txBody>
      </p:sp>
      <p:sp>
        <p:nvSpPr>
          <p:cNvPr id="14" name="imrad-r1c2">
            <a:extLst xmlns:a="http://schemas.openxmlformats.org/drawingml/2006/main">
              <a:ext uri="{FF2B5EF4-FFF2-40B4-BE49-F238E27FC236}">
                <a16:creationId xmlns:a16="http://schemas.microsoft.com/office/drawing/2014/main" id="{B02437F5-574B-41E9-A150-E03EEDE3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71700"/>
            <a:ext cx="561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baseline？变量？复现？权限边界？</a:t>
            </a:r>
          </a:p>
        </p:txBody>
      </p:sp>
      <p:sp>
        <p:nvSpPr>
          <p:cNvPr id="15" name="imrad-r2c0">
            <a:extLst xmlns:a="http://schemas.openxmlformats.org/drawingml/2006/main">
              <a:ext uri="{FF2B5EF4-FFF2-40B4-BE49-F238E27FC236}">
                <a16:creationId xmlns:a16="http://schemas.microsoft.com/office/drawing/2014/main" id="{F98DB8D0-DCC3-4808-843D-4A42B4F1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384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6" name="imrad-r2c1">
            <a:extLst xmlns:a="http://schemas.openxmlformats.org/drawingml/2006/main">
              <a:ext uri="{FF2B5EF4-FFF2-40B4-BE49-F238E27FC236}">
                <a16:creationId xmlns:a16="http://schemas.microsoft.com/office/drawing/2014/main" id="{0D1BB0AA-A727-41AD-87F8-30A28CF1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384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evaluation-report / experiments</a:t>
            </a:r>
          </a:p>
        </p:txBody>
      </p:sp>
      <p:sp>
        <p:nvSpPr>
          <p:cNvPr id="17" name="imrad-r2c2">
            <a:extLst xmlns:a="http://schemas.openxmlformats.org/drawingml/2006/main">
              <a:ext uri="{FF2B5EF4-FFF2-40B4-BE49-F238E27FC236}">
                <a16:creationId xmlns:a16="http://schemas.microsoft.com/office/drawing/2014/main" id="{9789FDA4-F8D3-4DB6-ABD9-648A401C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61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支持、反驳还是未知？负向结果？</a:t>
            </a:r>
          </a:p>
        </p:txBody>
      </p:sp>
      <p:sp>
        <p:nvSpPr>
          <p:cNvPr id="18" name="imrad-r3c0">
            <a:extLst xmlns:a="http://schemas.openxmlformats.org/drawingml/2006/main">
              <a:ext uri="{FF2B5EF4-FFF2-40B4-BE49-F238E27FC236}">
                <a16:creationId xmlns:a16="http://schemas.microsoft.com/office/drawing/2014/main" id="{5E3EEC2C-1409-488A-B3C6-67448F54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052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19" name="imrad-r3c1">
            <a:extLst xmlns:a="http://schemas.openxmlformats.org/drawingml/2006/main">
              <a:ext uri="{FF2B5EF4-FFF2-40B4-BE49-F238E27FC236}">
                <a16:creationId xmlns:a16="http://schemas.microsoft.com/office/drawing/2014/main" id="{E1DF3219-5AA2-4199-A936-94CCF56A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052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有效性威胁 / 证据充分性</a:t>
            </a:r>
          </a:p>
        </p:txBody>
      </p:sp>
      <p:sp>
        <p:nvSpPr>
          <p:cNvPr id="20" name="imrad-r3c2">
            <a:extLst xmlns:a="http://schemas.openxmlformats.org/drawingml/2006/main">
              <a:ext uri="{FF2B5EF4-FFF2-40B4-BE49-F238E27FC236}">
                <a16:creationId xmlns:a16="http://schemas.microsoft.com/office/drawing/2014/main" id="{0FD4FCC2-B7F8-43B1-B6A7-7BB4344C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05200"/>
            <a:ext cx="561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边界？冲突？缺失证据？</a:t>
            </a:r>
          </a:p>
        </p:txBody>
      </p:sp>
      <p:sp>
        <p:nvSpPr>
          <p:cNvPr id="21" name="imrad-r4c0">
            <a:extLst xmlns:a="http://schemas.openxmlformats.org/drawingml/2006/main">
              <a:ext uri="{FF2B5EF4-FFF2-40B4-BE49-F238E27FC236}">
                <a16:creationId xmlns:a16="http://schemas.microsoft.com/office/drawing/2014/main" id="{AD38A606-BFD3-4399-A949-FA86FA7B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披露</a:t>
            </a:r>
          </a:p>
        </p:txBody>
      </p:sp>
      <p:sp>
        <p:nvSpPr>
          <p:cNvPr id="22" name="imrad-r4c1">
            <a:extLst xmlns:a="http://schemas.openxmlformats.org/drawingml/2006/main">
              <a:ext uri="{FF2B5EF4-FFF2-40B4-BE49-F238E27FC236}">
                <a16:creationId xmlns:a16="http://schemas.microsoft.com/office/drawing/2014/main" id="{677FCE73-11A8-47FB-9F3E-0F719F4A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719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ai-usage-log</a:t>
            </a:r>
          </a:p>
        </p:txBody>
      </p:sp>
      <p:sp>
        <p:nvSpPr>
          <p:cNvPr id="23" name="imrad-r4c2">
            <a:extLst xmlns:a="http://schemas.openxmlformats.org/drawingml/2006/main">
              <a:ext uri="{FF2B5EF4-FFF2-40B4-BE49-F238E27FC236}">
                <a16:creationId xmlns:a16="http://schemas.microsoft.com/office/drawing/2014/main" id="{472F5DD0-7BEC-4238-9A61-F253631F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71950"/>
            <a:ext cx="561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环节？模型？核验？失败？</a:t>
            </a:r>
          </a:p>
        </p:txBody>
      </p:sp>
      <p:sp>
        <p:nvSpPr>
          <p:cNvPr id="24" name="bottom">
            <a:extLst xmlns:a="http://schemas.openxmlformats.org/drawingml/2006/main">
              <a:ext uri="{FF2B5EF4-FFF2-40B4-BE49-F238E27FC236}">
                <a16:creationId xmlns:a16="http://schemas.microsoft.com/office/drawing/2014/main" id="{4AFDC88E-CE2A-473F-90F1-4059F7E5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9677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不要把评价报告表格直接贴进论文；要改写为同行能复核的叙事。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主题位与重音位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26A49F32-2F60-4D12-88F6-84AE4917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66800"/>
            <a:ext cx="914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已知信息放句首（主题位）｜新信息放句末（重音位）</a:t>
            </a:r>
          </a:p>
        </p:txBody>
      </p:sp>
      <p:sp>
        <p:nvSpPr>
          <p:cNvPr id="7" name="bad-h">
            <a:extLst xmlns:a="http://schemas.openxmlformats.org/drawingml/2006/main">
              <a:ext uri="{FF2B5EF4-FFF2-40B4-BE49-F238E27FC236}">
                <a16:creationId xmlns:a16="http://schemas.microsoft.com/office/drawing/2014/main" id="{6E3AB91E-1269-49EF-A7FB-DCF1B21F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× 读者无法预期</a:t>
            </a:r>
          </a:p>
        </p:txBody>
      </p:sp>
      <p:sp>
        <p:nvSpPr>
          <p:cNvPr id="8" name="bad">
            <a:extLst xmlns:a="http://schemas.openxmlformats.org/drawingml/2006/main">
              <a:ext uri="{FF2B5EF4-FFF2-40B4-BE49-F238E27FC236}">
                <a16:creationId xmlns:a16="http://schemas.microsoft.com/office/drawing/2014/main" id="{EF80D22A-D4F3-4090-AF7B-42DD1786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9530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650" b="0">
                <a:solidFill>
                  <a:srgbClr val="263746"/>
                </a:solidFill>
              </a:defRPr>
            </a:pPr>
            <a:r>
              <a:rPr sz="16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结构化阅读卡降低了遗漏率。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650" b="0">
                <a:solidFill>
                  <a:srgbClr val="263746"/>
                </a:solidFill>
              </a:defRPr>
            </a:pPr>
            <a:r>
              <a:rPr sz="16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我们此前比较了两种阅读流程。</a:t>
            </a:r>
          </a:p>
        </p:txBody>
      </p:sp>
      <p:sp>
        <p:nvSpPr>
          <p:cNvPr id="9" name="good-h">
            <a:extLst xmlns:a="http://schemas.openxmlformats.org/drawingml/2006/main">
              <a:ext uri="{FF2B5EF4-FFF2-40B4-BE49-F238E27FC236}">
                <a16:creationId xmlns:a16="http://schemas.microsoft.com/office/drawing/2014/main" id="{C9A44B9A-B80D-4A55-A15C-E07D3B0F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1930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8745A"/>
                </a:solidFill>
              </a:defRPr>
            </a:pPr>
            <a:r>
              <a:rPr sz="17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信息顺序形成接力</a:t>
            </a:r>
          </a:p>
        </p:txBody>
      </p:sp>
      <p:sp>
        <p:nvSpPr>
          <p:cNvPr id="10" name="good">
            <a:extLst xmlns:a="http://schemas.openxmlformats.org/drawingml/2006/main">
              <a:ext uri="{FF2B5EF4-FFF2-40B4-BE49-F238E27FC236}">
                <a16:creationId xmlns:a16="http://schemas.microsoft.com/office/drawing/2014/main" id="{0A065C3B-4ECB-4529-A09E-9015871D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49530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650" b="0">
                <a:solidFill>
                  <a:srgbClr val="263746"/>
                </a:solidFill>
              </a:defRPr>
            </a:pPr>
            <a:r>
              <a:rPr sz="16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我们比较了两种阅读流程。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650" b="0">
                <a:solidFill>
                  <a:srgbClr val="263746"/>
                </a:solidFill>
              </a:defRPr>
            </a:pPr>
            <a:r>
              <a:rPr sz="16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其中，结构化阅读卡降低了遗漏率。</a:t>
            </a:r>
          </a:p>
        </p:txBody>
      </p:sp>
      <p:sp>
        <p:nvSpPr>
          <p:cNvPr id="11" name="flow">
            <a:extLst xmlns:a="http://schemas.openxmlformats.org/drawingml/2006/main">
              <a:ext uri="{FF2B5EF4-FFF2-40B4-BE49-F238E27FC236}">
                <a16:creationId xmlns:a16="http://schemas.microsoft.com/office/drawing/2014/main" id="{46DFF56A-670C-41ED-958E-AC38DB2E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42291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known">
            <a:extLst xmlns:a="http://schemas.openxmlformats.org/drawingml/2006/main">
              <a:ext uri="{FF2B5EF4-FFF2-40B4-BE49-F238E27FC236}">
                <a16:creationId xmlns:a16="http://schemas.microsoft.com/office/drawing/2014/main" id="{064A2EE9-B089-4170-AD5F-D527903B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57650"/>
            <a:ext cx="171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旧信息</a:t>
            </a:r>
          </a:p>
        </p:txBody>
      </p:sp>
      <p:sp>
        <p:nvSpPr>
          <p:cNvPr id="13" name="new">
            <a:extLst xmlns:a="http://schemas.openxmlformats.org/drawingml/2006/main">
              <a:ext uri="{FF2B5EF4-FFF2-40B4-BE49-F238E27FC236}">
                <a16:creationId xmlns:a16="http://schemas.microsoft.com/office/drawing/2014/main" id="{AA8E99C3-D80C-406A-93C2-C509F21F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57650"/>
            <a:ext cx="171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新信息</a:t>
            </a:r>
          </a:p>
        </p:txBody>
      </p:sp>
      <p:sp>
        <p:nvSpPr>
          <p:cNvPr id="14" name="bottom">
            <a:extLst xmlns:a="http://schemas.openxmlformats.org/drawingml/2006/main">
              <a:ext uri="{FF2B5EF4-FFF2-40B4-BE49-F238E27FC236}">
                <a16:creationId xmlns:a16="http://schemas.microsoft.com/office/drawing/2014/main" id="{D53BBF1B-816A-4C09-A054-361FCCA9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76800"/>
            <a:ext cx="872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检查结果段第一句：它是突然出现的新信息，还是承接上文？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贡献列表先行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teaching-label">
            <a:extLst xmlns:a="http://schemas.openxmlformats.org/drawingml/2006/main">
              <a:ext uri="{FF2B5EF4-FFF2-40B4-BE49-F238E27FC236}">
                <a16:creationId xmlns:a16="http://schemas.microsoft.com/office/drawing/2014/main" id="{2F6707E9-4C45-4FCA-8A2C-B036D2FD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838200"/>
            <a:ext cx="3105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虚构教学示例 · 仅演示追踪动作</a:t>
            </a:r>
          </a:p>
        </p:txBody>
      </p:sp>
      <p:sp>
        <p:nvSpPr>
          <p:cNvPr id="7" name="id-0">
            <a:extLst xmlns:a="http://schemas.openxmlformats.org/drawingml/2006/main">
              <a:ext uri="{FF2B5EF4-FFF2-40B4-BE49-F238E27FC236}">
                <a16:creationId xmlns:a16="http://schemas.microsoft.com/office/drawing/2014/main" id="{2014C6F6-05A0-4707-9181-C92CF3B5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723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8" name="state-0">
            <a:extLst xmlns:a="http://schemas.openxmlformats.org/drawingml/2006/main">
              <a:ext uri="{FF2B5EF4-FFF2-40B4-BE49-F238E27FC236}">
                <a16:creationId xmlns:a16="http://schemas.microsoft.com/office/drawing/2014/main" id="{3CD0738A-7CB3-46DB-BD16-C67001DE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76375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638A"/>
                </a:solidFill>
              </a:defRPr>
            </a:pPr>
            <a:r>
              <a:rPr sz="142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支持（待验证）</a:t>
            </a:r>
          </a:p>
        </p:txBody>
      </p:sp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16559460-E021-45F7-B12A-73328390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81125"/>
            <a:ext cx="77533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20 篇论文：遗漏率 0.31 → 0.18；方向支持 H1</a:t>
            </a:r>
          </a:p>
        </p:txBody>
      </p:sp>
      <p:sp>
        <p:nvSpPr>
          <p:cNvPr id="10" name="id-1">
            <a:extLst xmlns:a="http://schemas.openxmlformats.org/drawingml/2006/main">
              <a:ext uri="{FF2B5EF4-FFF2-40B4-BE49-F238E27FC236}">
                <a16:creationId xmlns:a16="http://schemas.microsoft.com/office/drawing/2014/main" id="{2DA310EA-3436-4B05-A02C-8865FF86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723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11" name="state-1">
            <a:extLst xmlns:a="http://schemas.openxmlformats.org/drawingml/2006/main">
              <a:ext uri="{FF2B5EF4-FFF2-40B4-BE49-F238E27FC236}">
                <a16:creationId xmlns:a16="http://schemas.microsoft.com/office/drawing/2014/main" id="{E754DCD4-C620-4371-8C0A-C15DEF5A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19375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反例（边界）</a:t>
            </a:r>
          </a:p>
        </p:txBody>
      </p:sp>
      <p:sp>
        <p:nvSpPr>
          <p:cNvPr id="12" name="text-1">
            <a:extLst xmlns:a="http://schemas.openxmlformats.org/drawingml/2006/main">
              <a:ext uri="{FF2B5EF4-FFF2-40B4-BE49-F238E27FC236}">
                <a16:creationId xmlns:a16="http://schemas.microsoft.com/office/drawing/2014/main" id="{CAB32103-FB8F-4C82-891A-601CB958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24125"/>
            <a:ext cx="77533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2 篇图表为主论文更差：暴露“不适用范围”缺口</a:t>
            </a:r>
          </a:p>
        </p:txBody>
      </p:sp>
      <p:sp>
        <p:nvSpPr>
          <p:cNvPr id="13" name="id-2">
            <a:extLst xmlns:a="http://schemas.openxmlformats.org/drawingml/2006/main">
              <a:ext uri="{FF2B5EF4-FFF2-40B4-BE49-F238E27FC236}">
                <a16:creationId xmlns:a16="http://schemas.microsoft.com/office/drawing/2014/main" id="{6A0C9F95-ABC1-435F-93E7-D6DC7762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723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14" name="state-2">
            <a:extLst xmlns:a="http://schemas.openxmlformats.org/drawingml/2006/main">
              <a:ext uri="{FF2B5EF4-FFF2-40B4-BE49-F238E27FC236}">
                <a16:creationId xmlns:a16="http://schemas.microsoft.com/office/drawing/2014/main" id="{A6FBA901-3A0D-41F6-9B87-16F0D218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62375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仍不能判断</a:t>
            </a:r>
          </a:p>
        </p:txBody>
      </p:sp>
      <p:sp>
        <p:nvSpPr>
          <p:cNvPr id="15" name="text-2">
            <a:extLst xmlns:a="http://schemas.openxmlformats.org/drawingml/2006/main">
              <a:ext uri="{FF2B5EF4-FFF2-40B4-BE49-F238E27FC236}">
                <a16:creationId xmlns:a16="http://schemas.microsoft.com/office/drawing/2014/main" id="{3C70B36B-D250-4DBD-8BF7-37832409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67125"/>
            <a:ext cx="77533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A2 时间投入未排除：不标 stable</a:t>
            </a:r>
          </a:p>
        </p:txBody>
      </p:sp>
      <p:sp>
        <p:nvSpPr>
          <p:cNvPr id="16" name="bottom">
            <a:extLst xmlns:a="http://schemas.openxmlformats.org/drawingml/2006/main">
              <a:ext uri="{FF2B5EF4-FFF2-40B4-BE49-F238E27FC236}">
                <a16:creationId xmlns:a16="http://schemas.microsoft.com/office/drawing/2014/main" id="{8D89324B-F74F-4008-BE76-3CD7C459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反例与未知也是贡献：它们让边界和证据缺口可见。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回写不是润色，是反向追踪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teaching-label">
            <a:extLst xmlns:a="http://schemas.openxmlformats.org/drawingml/2006/main">
              <a:ext uri="{FF2B5EF4-FFF2-40B4-BE49-F238E27FC236}">
                <a16:creationId xmlns:a16="http://schemas.microsoft.com/office/drawing/2014/main" id="{960D2525-7230-49D7-A8BA-BFA28A69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838200"/>
            <a:ext cx="3105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虚构教学示例 · 仅演示追踪动作</a:t>
            </a:r>
          </a:p>
        </p:txBody>
      </p:sp>
      <p:sp>
        <p:nvSpPr>
          <p:cNvPr id="7" name="trace-h0">
            <a:extLst xmlns:a="http://schemas.openxmlformats.org/drawingml/2006/main">
              <a:ext uri="{FF2B5EF4-FFF2-40B4-BE49-F238E27FC236}">
                <a16:creationId xmlns:a16="http://schemas.microsoft.com/office/drawing/2014/main" id="{572A3038-CC43-437A-B8D4-6779322C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8" name="trace-h1">
            <a:extLst xmlns:a="http://schemas.openxmlformats.org/drawingml/2006/main">
              <a:ext uri="{FF2B5EF4-FFF2-40B4-BE49-F238E27FC236}">
                <a16:creationId xmlns:a16="http://schemas.microsoft.com/office/drawing/2014/main" id="{C3C46B04-2108-477B-96B3-5EE54F32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573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证据项</a:t>
            </a:r>
          </a:p>
        </p:txBody>
      </p:sp>
      <p:sp>
        <p:nvSpPr>
          <p:cNvPr id="9" name="trace-h2">
            <a:extLst xmlns:a="http://schemas.openxmlformats.org/drawingml/2006/main">
              <a:ext uri="{FF2B5EF4-FFF2-40B4-BE49-F238E27FC236}">
                <a16:creationId xmlns:a16="http://schemas.microsoft.com/office/drawing/2014/main" id="{2D8479DE-3E37-4C0A-8920-30995C4F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573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 ID</a:t>
            </a:r>
          </a:p>
        </p:txBody>
      </p:sp>
      <p:sp>
        <p:nvSpPr>
          <p:cNvPr id="10" name="trace-h3">
            <a:extLst xmlns:a="http://schemas.openxmlformats.org/drawingml/2006/main">
              <a:ext uri="{FF2B5EF4-FFF2-40B4-BE49-F238E27FC236}">
                <a16:creationId xmlns:a16="http://schemas.microsoft.com/office/drawing/2014/main" id="{6156C3CD-53F6-469F-930C-1D6EFD3D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2573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上游判断</a:t>
            </a:r>
          </a:p>
        </p:txBody>
      </p:sp>
      <p:sp>
        <p:nvSpPr>
          <p:cNvPr id="11" name="trace-h4">
            <a:extLst xmlns:a="http://schemas.openxmlformats.org/drawingml/2006/main">
              <a:ext uri="{FF2B5EF4-FFF2-40B4-BE49-F238E27FC236}">
                <a16:creationId xmlns:a16="http://schemas.microsoft.com/office/drawing/2014/main" id="{BB0D9F12-5254-4EF1-898F-CE6F50BD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2573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缺失/冲突</a:t>
            </a:r>
          </a:p>
        </p:txBody>
      </p:sp>
      <p:sp>
        <p:nvSpPr>
          <p:cNvPr id="12" name="trace-h5">
            <a:extLst xmlns:a="http://schemas.openxmlformats.org/drawingml/2006/main">
              <a:ext uri="{FF2B5EF4-FFF2-40B4-BE49-F238E27FC236}">
                <a16:creationId xmlns:a16="http://schemas.microsoft.com/office/drawing/2014/main" id="{808035CA-EF2F-46CE-90F2-A4BF868B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2573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3" name="trace-r0c0">
            <a:extLst xmlns:a="http://schemas.openxmlformats.org/drawingml/2006/main">
              <a:ext uri="{FF2B5EF4-FFF2-40B4-BE49-F238E27FC236}">
                <a16:creationId xmlns:a16="http://schemas.microsoft.com/office/drawing/2014/main" id="{934350C5-EA57-448F-A0D7-B0018AEE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781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" name="trace-r0c1">
            <a:extLst xmlns:a="http://schemas.openxmlformats.org/drawingml/2006/main">
              <a:ext uri="{FF2B5EF4-FFF2-40B4-BE49-F238E27FC236}">
                <a16:creationId xmlns:a16="http://schemas.microsoft.com/office/drawing/2014/main" id="{96F1CFE8-8536-4A50-BA4E-A9A58FB5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E3 评价结果</a:t>
            </a:r>
          </a:p>
        </p:txBody>
      </p:sp>
      <p:sp>
        <p:nvSpPr>
          <p:cNvPr id="15" name="trace-r0c2">
            <a:extLst xmlns:a="http://schemas.openxmlformats.org/drawingml/2006/main">
              <a:ext uri="{FF2B5EF4-FFF2-40B4-BE49-F238E27FC236}">
                <a16:creationId xmlns:a16="http://schemas.microsoft.com/office/drawing/2014/main" id="{FF1FD6BD-CF49-4E69-B9A6-7F0FD43C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573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exp-001…010</a:t>
            </a:r>
          </a:p>
        </p:txBody>
      </p:sp>
      <p:sp>
        <p:nvSpPr>
          <p:cNvPr id="16" name="trace-r0c3">
            <a:extLst xmlns:a="http://schemas.openxmlformats.org/drawingml/2006/main">
              <a:ext uri="{FF2B5EF4-FFF2-40B4-BE49-F238E27FC236}">
                <a16:creationId xmlns:a16="http://schemas.microsoft.com/office/drawing/2014/main" id="{8FA6184B-10FC-4D60-AC9C-A49ADDB0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57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J1 选遗漏率</a:t>
            </a:r>
          </a:p>
        </p:txBody>
      </p:sp>
      <p:sp>
        <p:nvSpPr>
          <p:cNvPr id="17" name="trace-r0c4">
            <a:extLst xmlns:a="http://schemas.openxmlformats.org/drawingml/2006/main">
              <a:ext uri="{FF2B5EF4-FFF2-40B4-BE49-F238E27FC236}">
                <a16:creationId xmlns:a16="http://schemas.microsoft.com/office/drawing/2014/main" id="{E60EDB89-3BBE-45E4-B594-049F22BC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573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A2 未排除</a:t>
            </a:r>
          </a:p>
        </p:txBody>
      </p:sp>
      <p:sp>
        <p:nvSpPr>
          <p:cNvPr id="18" name="trace-r0c5">
            <a:extLst xmlns:a="http://schemas.openxmlformats.org/drawingml/2006/main">
              <a:ext uri="{FF2B5EF4-FFF2-40B4-BE49-F238E27FC236}">
                <a16:creationId xmlns:a16="http://schemas.microsoft.com/office/drawing/2014/main" id="{DB4B6E72-8863-4D56-9FD3-BBA89D81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573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支持（待验证）</a:t>
            </a:r>
          </a:p>
        </p:txBody>
      </p:sp>
      <p:sp>
        <p:nvSpPr>
          <p:cNvPr id="19" name="trace-r1c0">
            <a:extLst xmlns:a="http://schemas.openxmlformats.org/drawingml/2006/main">
              <a:ext uri="{FF2B5EF4-FFF2-40B4-BE49-F238E27FC236}">
                <a16:creationId xmlns:a16="http://schemas.microsoft.com/office/drawing/2014/main" id="{9ADA8241-24E0-4193-AC85-7F7F02EF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781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20" name="trace-r1c1">
            <a:extLst xmlns:a="http://schemas.openxmlformats.org/drawingml/2006/main">
              <a:ext uri="{FF2B5EF4-FFF2-40B4-BE49-F238E27FC236}">
                <a16:creationId xmlns:a16="http://schemas.microsoft.com/office/drawing/2014/main" id="{3BC3852A-B543-4229-A0D3-C641B4AB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765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失败日志</a:t>
            </a:r>
          </a:p>
        </p:txBody>
      </p:sp>
      <p:sp>
        <p:nvSpPr>
          <p:cNvPr id="21" name="trace-r1c2">
            <a:extLst xmlns:a="http://schemas.openxmlformats.org/drawingml/2006/main">
              <a:ext uri="{FF2B5EF4-FFF2-40B4-BE49-F238E27FC236}">
                <a16:creationId xmlns:a16="http://schemas.microsoft.com/office/drawing/2014/main" id="{AABE067E-E973-40EB-B7BB-9F7F9A79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765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exp-007</a:t>
            </a:r>
          </a:p>
        </p:txBody>
      </p:sp>
      <p:sp>
        <p:nvSpPr>
          <p:cNvPr id="22" name="trace-r1c3">
            <a:extLst xmlns:a="http://schemas.openxmlformats.org/drawingml/2006/main">
              <a:ext uri="{FF2B5EF4-FFF2-40B4-BE49-F238E27FC236}">
                <a16:creationId xmlns:a16="http://schemas.microsoft.com/office/drawing/2014/main" id="{6986FAA5-FFC7-4407-8767-60059EFA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J2 写不适用范围</a:t>
            </a:r>
          </a:p>
        </p:txBody>
      </p:sp>
      <p:sp>
        <p:nvSpPr>
          <p:cNvPr id="23" name="trace-r1c4">
            <a:extLst xmlns:a="http://schemas.openxmlformats.org/drawingml/2006/main">
              <a:ext uri="{FF2B5EF4-FFF2-40B4-BE49-F238E27FC236}">
                <a16:creationId xmlns:a16="http://schemas.microsoft.com/office/drawing/2014/main" id="{C36C7615-8280-4DF5-9A54-AC790D8A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765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24" name="trace-r1c5">
            <a:extLst xmlns:a="http://schemas.openxmlformats.org/drawingml/2006/main">
              <a:ext uri="{FF2B5EF4-FFF2-40B4-BE49-F238E27FC236}">
                <a16:creationId xmlns:a16="http://schemas.microsoft.com/office/drawing/2014/main" id="{E5A30397-63FB-4049-A387-55BEDE54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765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反例（边界）</a:t>
            </a:r>
          </a:p>
        </p:txBody>
      </p:sp>
      <p:sp>
        <p:nvSpPr>
          <p:cNvPr id="25" name="trace-r2c0">
            <a:extLst xmlns:a="http://schemas.openxmlformats.org/drawingml/2006/main">
              <a:ext uri="{FF2B5EF4-FFF2-40B4-BE49-F238E27FC236}">
                <a16:creationId xmlns:a16="http://schemas.microsoft.com/office/drawing/2014/main" id="{F338FEBA-3373-4DAA-BFE5-26C89F27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781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26" name="trace-r2c1">
            <a:extLst xmlns:a="http://schemas.openxmlformats.org/drawingml/2006/main">
              <a:ext uri="{FF2B5EF4-FFF2-40B4-BE49-F238E27FC236}">
                <a16:creationId xmlns:a16="http://schemas.microsoft.com/office/drawing/2014/main" id="{6A7CF47C-CA5C-4663-B85C-9F3047D7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956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无直接证据</a:t>
            </a:r>
          </a:p>
        </p:txBody>
      </p:sp>
      <p:sp>
        <p:nvSpPr>
          <p:cNvPr id="27" name="trace-r2c2">
            <a:extLst xmlns:a="http://schemas.openxmlformats.org/drawingml/2006/main">
              <a:ext uri="{FF2B5EF4-FFF2-40B4-BE49-F238E27FC236}">
                <a16:creationId xmlns:a16="http://schemas.microsoft.com/office/drawing/2014/main" id="{9A1B0DA3-C2E9-4B00-94DA-C03B1EC0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956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28" name="trace-r2c3">
            <a:extLst xmlns:a="http://schemas.openxmlformats.org/drawingml/2006/main">
              <a:ext uri="{FF2B5EF4-FFF2-40B4-BE49-F238E27FC236}">
                <a16:creationId xmlns:a16="http://schemas.microsoft.com/office/drawing/2014/main" id="{DBE2872B-8C34-4FB8-AE6E-969F1239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956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A2 替代假设</a:t>
            </a:r>
          </a:p>
        </p:txBody>
      </p:sp>
      <p:sp>
        <p:nvSpPr>
          <p:cNvPr id="29" name="trace-r2c4">
            <a:extLst xmlns:a="http://schemas.openxmlformats.org/drawingml/2006/main">
              <a:ext uri="{FF2B5EF4-FFF2-40B4-BE49-F238E27FC236}">
                <a16:creationId xmlns:a16="http://schemas.microsoft.com/office/drawing/2014/main" id="{1844406D-48D0-45F6-B0EA-51979F12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956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时间控制未跑</a:t>
            </a:r>
          </a:p>
        </p:txBody>
      </p:sp>
      <p:sp>
        <p:nvSpPr>
          <p:cNvPr id="30" name="trace-r2c5">
            <a:extLst xmlns:a="http://schemas.openxmlformats.org/drawingml/2006/main">
              <a:ext uri="{FF2B5EF4-FFF2-40B4-BE49-F238E27FC236}">
                <a16:creationId xmlns:a16="http://schemas.microsoft.com/office/drawing/2014/main" id="{D3D16E22-F7AD-444A-A65E-DF7856D0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956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仍不能判断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D2A70418-3DF1-43A6-AA8C-A51FAA1D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关键结论：≥1 项直接证据 + 1 个上游研究判断｜stable：原则上 ≥2 项独立证据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不选择性删除失败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redline">
            <a:extLst xmlns:a="http://schemas.openxmlformats.org/drawingml/2006/main">
              <a:ext uri="{FF2B5EF4-FFF2-40B4-BE49-F238E27FC236}">
                <a16:creationId xmlns:a16="http://schemas.microsoft.com/office/drawing/2014/main" id="{1E0ACB20-530D-4412-86BC-0B0EB52A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2247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学术规范红线</a:t>
            </a:r>
          </a:p>
        </p:txBody>
      </p:sp>
      <p:sp>
        <p:nvSpPr>
          <p:cNvPr id="7" name="i-0">
            <a:extLst xmlns:a="http://schemas.openxmlformats.org/drawingml/2006/main">
              <a:ext uri="{FF2B5EF4-FFF2-40B4-BE49-F238E27FC236}">
                <a16:creationId xmlns:a16="http://schemas.microsoft.com/office/drawing/2014/main" id="{E7128B17-6515-40DD-9AD7-86E9889C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h-0">
            <a:extLst xmlns:a="http://schemas.openxmlformats.org/drawingml/2006/main">
              <a:ext uri="{FF2B5EF4-FFF2-40B4-BE49-F238E27FC236}">
                <a16:creationId xmlns:a16="http://schemas.microsoft.com/office/drawing/2014/main" id="{ED8BE071-08D1-425F-BC19-91A8CF62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35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负向结果</a:t>
            </a:r>
          </a:p>
        </p:txBody>
      </p:sp>
      <p:sp>
        <p:nvSpPr>
          <p:cNvPr id="9" name="d-0">
            <a:extLst xmlns:a="http://schemas.openxmlformats.org/drawingml/2006/main">
              <a:ext uri="{FF2B5EF4-FFF2-40B4-BE49-F238E27FC236}">
                <a16:creationId xmlns:a16="http://schemas.microsoft.com/office/drawing/2014/main" id="{975A74B6-CD8A-4ADE-B840-1595485E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3905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写进结果段或讨论段</a:t>
            </a:r>
          </a:p>
        </p:txBody>
      </p:sp>
      <p:sp>
        <p:nvSpPr>
          <p:cNvPr id="10" name="i-1">
            <a:extLst xmlns:a="http://schemas.openxmlformats.org/drawingml/2006/main">
              <a:ext uri="{FF2B5EF4-FFF2-40B4-BE49-F238E27FC236}">
                <a16:creationId xmlns:a16="http://schemas.microsoft.com/office/drawing/2014/main" id="{11D47490-C7EE-424C-BD61-70996780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h-1">
            <a:extLst xmlns:a="http://schemas.openxmlformats.org/drawingml/2006/main">
              <a:ext uri="{FF2B5EF4-FFF2-40B4-BE49-F238E27FC236}">
                <a16:creationId xmlns:a16="http://schemas.microsoft.com/office/drawing/2014/main" id="{924BC02B-5910-4D2F-A5A2-FE862111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765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失败根因</a:t>
            </a:r>
          </a:p>
        </p:txBody>
      </p:sp>
      <p:sp>
        <p:nvSpPr>
          <p:cNvPr id="12" name="d-1">
            <a:extLst xmlns:a="http://schemas.openxmlformats.org/drawingml/2006/main">
              <a:ext uri="{FF2B5EF4-FFF2-40B4-BE49-F238E27FC236}">
                <a16:creationId xmlns:a16="http://schemas.microsoft.com/office/drawing/2014/main" id="{BC9B65BD-E388-4936-9A5C-62D6713E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3905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写进讨论段 §局限</a:t>
            </a:r>
          </a:p>
        </p:txBody>
      </p:sp>
      <p:sp>
        <p:nvSpPr>
          <p:cNvPr id="13" name="i-2">
            <a:extLst xmlns:a="http://schemas.openxmlformats.org/drawingml/2006/main">
              <a:ext uri="{FF2B5EF4-FFF2-40B4-BE49-F238E27FC236}">
                <a16:creationId xmlns:a16="http://schemas.microsoft.com/office/drawing/2014/main" id="{B7E92DEE-3F84-481D-AEC4-70554C82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h-2">
            <a:extLst xmlns:a="http://schemas.openxmlformats.org/drawingml/2006/main">
              <a:ext uri="{FF2B5EF4-FFF2-40B4-BE49-F238E27FC236}">
                <a16:creationId xmlns:a16="http://schemas.microsoft.com/office/drawing/2014/main" id="{265F2B17-7A37-4A84-9C60-410874F8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194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冲突证据</a:t>
            </a:r>
          </a:p>
        </p:txBody>
      </p:sp>
      <p:sp>
        <p:nvSpPr>
          <p:cNvPr id="15" name="d-2">
            <a:extLst xmlns:a="http://schemas.openxmlformats.org/drawingml/2006/main">
              <a:ext uri="{FF2B5EF4-FFF2-40B4-BE49-F238E27FC236}">
                <a16:creationId xmlns:a16="http://schemas.microsoft.com/office/drawing/2014/main" id="{2F4E2FEC-3519-4827-944D-30F667D3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9450"/>
            <a:ext cx="3905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必须呈现并说明取舍</a:t>
            </a:r>
          </a:p>
        </p:txBody>
      </p:sp>
      <p:sp>
        <p:nvSpPr>
          <p:cNvPr id="16" name="i-3">
            <a:extLst xmlns:a="http://schemas.openxmlformats.org/drawingml/2006/main">
              <a:ext uri="{FF2B5EF4-FFF2-40B4-BE49-F238E27FC236}">
                <a16:creationId xmlns:a16="http://schemas.microsoft.com/office/drawing/2014/main" id="{7417B01A-B0DC-418D-B8DF-5576309C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h-3">
            <a:extLst xmlns:a="http://schemas.openxmlformats.org/drawingml/2006/main">
              <a:ext uri="{FF2B5EF4-FFF2-40B4-BE49-F238E27FC236}">
                <a16:creationId xmlns:a16="http://schemas.microsoft.com/office/drawing/2014/main" id="{04B783A6-38FB-4662-BF01-67FCD1BC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624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stable 状态</a:t>
            </a:r>
          </a:p>
        </p:txBody>
      </p:sp>
      <p:sp>
        <p:nvSpPr>
          <p:cNvPr id="18" name="d-3">
            <a:extLst xmlns:a="http://schemas.openxmlformats.org/drawingml/2006/main">
              <a:ext uri="{FF2B5EF4-FFF2-40B4-BE49-F238E27FC236}">
                <a16:creationId xmlns:a16="http://schemas.microsoft.com/office/drawing/2014/main" id="{F4967F41-3BCC-4C9A-8F4C-F17433A2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3905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单一证据不得标稳定</a:t>
            </a:r>
          </a:p>
        </p:txBody>
      </p:sp>
      <p:sp>
        <p:nvSpPr>
          <p:cNvPr id="19" name="case-h">
            <a:extLst xmlns:a="http://schemas.openxmlformats.org/drawingml/2006/main">
              <a:ext uri="{FF2B5EF4-FFF2-40B4-BE49-F238E27FC236}">
                <a16:creationId xmlns:a16="http://schemas.microsoft.com/office/drawing/2014/main" id="{FD944335-B9B2-45B4-ABCE-5BCD653F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47800"/>
            <a:ext cx="388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C2 反例必须留在论文里</a:t>
            </a:r>
          </a:p>
        </p:txBody>
      </p:sp>
      <p:sp>
        <p:nvSpPr>
          <p:cNvPr id="20" name="case">
            <a:extLst xmlns:a="http://schemas.openxmlformats.org/drawingml/2006/main">
              <a:ext uri="{FF2B5EF4-FFF2-40B4-BE49-F238E27FC236}">
                <a16:creationId xmlns:a16="http://schemas.microsoft.com/office/drawing/2014/main" id="{4AD6070F-9E70-4BD5-985A-09DD842E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00250"/>
            <a:ext cx="38862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2 篇图表为主论文表现更差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它不是“项目失败”，而是工作流边界：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任务契约没有覆盖图表为主论文。</a:t>
            </a:r>
          </a:p>
        </p:txBody>
      </p:sp>
      <p:sp>
        <p:nvSpPr>
          <p:cNvPr id="21" name="bottom">
            <a:extLst xmlns:a="http://schemas.openxmlformats.org/drawingml/2006/main">
              <a:ext uri="{FF2B5EF4-FFF2-40B4-BE49-F238E27FC236}">
                <a16:creationId xmlns:a16="http://schemas.microsoft.com/office/drawing/2014/main" id="{6D22B4B4-1FDB-4992-BD3F-CC878574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95800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隐藏失败会同时破坏可信度与边界判断。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从验证门材料到论文段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map-h0">
            <a:extLst xmlns:a="http://schemas.openxmlformats.org/drawingml/2006/main">
              <a:ext uri="{FF2B5EF4-FFF2-40B4-BE49-F238E27FC236}">
                <a16:creationId xmlns:a16="http://schemas.microsoft.com/office/drawing/2014/main" id="{A444C870-045B-4753-B18F-EB5E8ABD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049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验证门材料</a:t>
            </a:r>
          </a:p>
        </p:txBody>
      </p:sp>
      <p:sp>
        <p:nvSpPr>
          <p:cNvPr id="7" name="map-h1">
            <a:extLst xmlns:a="http://schemas.openxmlformats.org/drawingml/2006/main">
              <a:ext uri="{FF2B5EF4-FFF2-40B4-BE49-F238E27FC236}">
                <a16:creationId xmlns:a16="http://schemas.microsoft.com/office/drawing/2014/main" id="{E91A96A3-D186-4424-9278-9F715EB0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1049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论文位置</a:t>
            </a:r>
          </a:p>
        </p:txBody>
      </p:sp>
      <p:sp>
        <p:nvSpPr>
          <p:cNvPr id="8" name="map-h2">
            <a:extLst xmlns:a="http://schemas.openxmlformats.org/drawingml/2006/main">
              <a:ext uri="{FF2B5EF4-FFF2-40B4-BE49-F238E27FC236}">
                <a16:creationId xmlns:a16="http://schemas.microsoft.com/office/drawing/2014/main" id="{08360877-9AA3-40D2-809D-31BF3816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10490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回写动作</a:t>
            </a:r>
          </a:p>
        </p:txBody>
      </p:sp>
      <p:sp>
        <p:nvSpPr>
          <p:cNvPr id="9" name="map-r0c0">
            <a:extLst xmlns:a="http://schemas.openxmlformats.org/drawingml/2006/main">
              <a:ext uri="{FF2B5EF4-FFF2-40B4-BE49-F238E27FC236}">
                <a16:creationId xmlns:a16="http://schemas.microsoft.com/office/drawing/2014/main" id="{17F06A70-7B59-40FD-A6F1-7BDFFA51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049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0" name="map-r0c1">
            <a:extLst xmlns:a="http://schemas.openxmlformats.org/drawingml/2006/main">
              <a:ext uri="{FF2B5EF4-FFF2-40B4-BE49-F238E27FC236}">
                <a16:creationId xmlns:a16="http://schemas.microsoft.com/office/drawing/2014/main" id="{D9323FBD-D1E9-4418-8275-CFB84077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结果段</a:t>
            </a:r>
          </a:p>
        </p:txBody>
      </p:sp>
      <p:sp>
        <p:nvSpPr>
          <p:cNvPr id="11" name="map-r0c2">
            <a:extLst xmlns:a="http://schemas.openxmlformats.org/drawingml/2006/main">
              <a:ext uri="{FF2B5EF4-FFF2-40B4-BE49-F238E27FC236}">
                <a16:creationId xmlns:a16="http://schemas.microsoft.com/office/drawing/2014/main" id="{8CBA4CB7-1D00-45F9-BF26-9CD4856B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50495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写成支持/反驳/未知的叙事</a:t>
            </a:r>
          </a:p>
        </p:txBody>
      </p:sp>
      <p:sp>
        <p:nvSpPr>
          <p:cNvPr id="12" name="map-r1c0">
            <a:extLst xmlns:a="http://schemas.openxmlformats.org/drawingml/2006/main">
              <a:ext uri="{FF2B5EF4-FFF2-40B4-BE49-F238E27FC236}">
                <a16:creationId xmlns:a16="http://schemas.microsoft.com/office/drawing/2014/main" id="{F6469806-4FEA-460C-A5A4-14DA87F0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717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失败审计</a:t>
            </a:r>
          </a:p>
        </p:txBody>
      </p:sp>
      <p:sp>
        <p:nvSpPr>
          <p:cNvPr id="13" name="map-r1c1">
            <a:extLst xmlns:a="http://schemas.openxmlformats.org/drawingml/2006/main">
              <a:ext uri="{FF2B5EF4-FFF2-40B4-BE49-F238E27FC236}">
                <a16:creationId xmlns:a16="http://schemas.microsoft.com/office/drawing/2014/main" id="{6967FE55-7163-4724-83D1-DF17397A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717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讨论·局限</a:t>
            </a:r>
          </a:p>
        </p:txBody>
      </p:sp>
      <p:sp>
        <p:nvSpPr>
          <p:cNvPr id="14" name="map-r1c2">
            <a:extLst xmlns:a="http://schemas.openxmlformats.org/drawingml/2006/main">
              <a:ext uri="{FF2B5EF4-FFF2-40B4-BE49-F238E27FC236}">
                <a16:creationId xmlns:a16="http://schemas.microsoft.com/office/drawing/2014/main" id="{41AC0060-2648-4738-8FD1-BD761993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7170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把根因写成边界说明</a:t>
            </a:r>
          </a:p>
        </p:txBody>
      </p:sp>
      <p:sp>
        <p:nvSpPr>
          <p:cNvPr id="15" name="map-r2c0">
            <a:extLst xmlns:a="http://schemas.openxmlformats.org/drawingml/2006/main">
              <a:ext uri="{FF2B5EF4-FFF2-40B4-BE49-F238E27FC236}">
                <a16:creationId xmlns:a16="http://schemas.microsoft.com/office/drawing/2014/main" id="{84968EDF-D3EE-4B1E-B737-70901FC9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384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证据充分性</a:t>
            </a:r>
          </a:p>
        </p:txBody>
      </p:sp>
      <p:sp>
        <p:nvSpPr>
          <p:cNvPr id="16" name="map-r2c1">
            <a:extLst xmlns:a="http://schemas.openxmlformats.org/drawingml/2006/main">
              <a:ext uri="{FF2B5EF4-FFF2-40B4-BE49-F238E27FC236}">
                <a16:creationId xmlns:a16="http://schemas.microsoft.com/office/drawing/2014/main" id="{BB4E0D0D-0D18-434A-BD52-05A53F9D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384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讨论·证据强度</a:t>
            </a:r>
          </a:p>
        </p:txBody>
      </p:sp>
      <p:sp>
        <p:nvSpPr>
          <p:cNvPr id="17" name="map-r2c2">
            <a:extLst xmlns:a="http://schemas.openxmlformats.org/drawingml/2006/main">
              <a:ext uri="{FF2B5EF4-FFF2-40B4-BE49-F238E27FC236}">
                <a16:creationId xmlns:a16="http://schemas.microsoft.com/office/drawing/2014/main" id="{BA3650B6-7B2B-469A-859A-70A28262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3845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写清缺失、冲突与待验证</a:t>
            </a:r>
          </a:p>
        </p:txBody>
      </p:sp>
      <p:sp>
        <p:nvSpPr>
          <p:cNvPr id="18" name="map-r3c0">
            <a:extLst xmlns:a="http://schemas.openxmlformats.org/drawingml/2006/main">
              <a:ext uri="{FF2B5EF4-FFF2-40B4-BE49-F238E27FC236}">
                <a16:creationId xmlns:a16="http://schemas.microsoft.com/office/drawing/2014/main" id="{B2A6E561-9322-410F-928A-484C3E7D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052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有效性威胁</a:t>
            </a:r>
          </a:p>
        </p:txBody>
      </p:sp>
      <p:sp>
        <p:nvSpPr>
          <p:cNvPr id="19" name="map-r3c1">
            <a:extLst xmlns:a="http://schemas.openxmlformats.org/drawingml/2006/main">
              <a:ext uri="{FF2B5EF4-FFF2-40B4-BE49-F238E27FC236}">
                <a16:creationId xmlns:a16="http://schemas.microsoft.com/office/drawing/2014/main" id="{44FDA3A3-38E9-4E9D-A4A6-C80B0CDB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052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讨论·有效性</a:t>
            </a:r>
          </a:p>
        </p:txBody>
      </p:sp>
      <p:sp>
        <p:nvSpPr>
          <p:cNvPr id="20" name="map-r3c2">
            <a:extLst xmlns:a="http://schemas.openxmlformats.org/drawingml/2006/main">
              <a:ext uri="{FF2B5EF4-FFF2-40B4-BE49-F238E27FC236}">
                <a16:creationId xmlns:a16="http://schemas.microsoft.com/office/drawing/2014/main" id="{2BFC01EE-DC2F-498E-8772-33DC541B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50520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四类或等价威胁写具体</a:t>
            </a:r>
          </a:p>
        </p:txBody>
      </p:sp>
      <p:sp>
        <p:nvSpPr>
          <p:cNvPr id="21" name="map-r4c0">
            <a:extLst xmlns:a="http://schemas.openxmlformats.org/drawingml/2006/main">
              <a:ext uri="{FF2B5EF4-FFF2-40B4-BE49-F238E27FC236}">
                <a16:creationId xmlns:a16="http://schemas.microsoft.com/office/drawing/2014/main" id="{72C87465-E01C-410F-8612-C11376F4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人工审核</a:t>
            </a:r>
          </a:p>
        </p:txBody>
      </p:sp>
      <p:sp>
        <p:nvSpPr>
          <p:cNvPr id="22" name="map-r4c1">
            <a:extLst xmlns:a="http://schemas.openxmlformats.org/drawingml/2006/main">
              <a:ext uri="{FF2B5EF4-FFF2-40B4-BE49-F238E27FC236}">
                <a16:creationId xmlns:a16="http://schemas.microsoft.com/office/drawing/2014/main" id="{71420FC3-B767-4C6F-82EB-DB75BBA3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719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方法·工作流</a:t>
            </a:r>
          </a:p>
        </p:txBody>
      </p:sp>
      <p:sp>
        <p:nvSpPr>
          <p:cNvPr id="23" name="map-r4c2">
            <a:extLst xmlns:a="http://schemas.openxmlformats.org/drawingml/2006/main">
              <a:ext uri="{FF2B5EF4-FFF2-40B4-BE49-F238E27FC236}">
                <a16:creationId xmlns:a16="http://schemas.microsoft.com/office/drawing/2014/main" id="{E177EA99-B3B9-4327-B262-9068D931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7195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写明审核点、权限与失败恢复</a:t>
            </a:r>
          </a:p>
        </p:txBody>
      </p:sp>
      <p:sp>
        <p:nvSpPr>
          <p:cNvPr id="24" name="bottom">
            <a:extLst xmlns:a="http://schemas.openxmlformats.org/drawingml/2006/main">
              <a:ext uri="{FF2B5EF4-FFF2-40B4-BE49-F238E27FC236}">
                <a16:creationId xmlns:a16="http://schemas.microsoft.com/office/drawing/2014/main" id="{BB29CA35-2521-44A9-B287-7670EC4E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72050"/>
            <a:ext cx="8267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论文面向同行：表格是索引，论证才是正文。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使用披露七字段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f-0">
            <a:extLst xmlns:a="http://schemas.openxmlformats.org/drawingml/2006/main">
              <a:ext uri="{FF2B5EF4-FFF2-40B4-BE49-F238E27FC236}">
                <a16:creationId xmlns:a16="http://schemas.microsoft.com/office/drawing/2014/main" id="{8B346CBE-FB2F-45C5-BE8B-D075AA77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fh-0">
            <a:extLst xmlns:a="http://schemas.openxmlformats.org/drawingml/2006/main">
              <a:ext uri="{FF2B5EF4-FFF2-40B4-BE49-F238E27FC236}">
                <a16:creationId xmlns:a16="http://schemas.microsoft.com/office/drawing/2014/main" id="{DABECB6D-D729-42B8-A88F-62523491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8107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环节</a:t>
            </a:r>
          </a:p>
        </p:txBody>
      </p:sp>
      <p:sp>
        <p:nvSpPr>
          <p:cNvPr id="8" name="fd-0">
            <a:extLst xmlns:a="http://schemas.openxmlformats.org/drawingml/2006/main">
              <a:ext uri="{FF2B5EF4-FFF2-40B4-BE49-F238E27FC236}">
                <a16:creationId xmlns:a16="http://schemas.microsoft.com/office/drawing/2014/main" id="{C1C4E0D4-423A-4BED-917F-D0581CF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981075"/>
            <a:ext cx="8382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检索 / 阅读 / 代码 / 实验 / 写作 / 审稿模拟</a:t>
            </a:r>
          </a:p>
        </p:txBody>
      </p:sp>
      <p:sp>
        <p:nvSpPr>
          <p:cNvPr id="9" name="f-1">
            <a:extLst xmlns:a="http://schemas.openxmlformats.org/drawingml/2006/main">
              <a:ext uri="{FF2B5EF4-FFF2-40B4-BE49-F238E27FC236}">
                <a16:creationId xmlns:a16="http://schemas.microsoft.com/office/drawing/2014/main" id="{41B873D8-CA19-4C19-9952-0B589B9F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fh-1">
            <a:extLst xmlns:a="http://schemas.openxmlformats.org/drawingml/2006/main">
              <a:ext uri="{FF2B5EF4-FFF2-40B4-BE49-F238E27FC236}">
                <a16:creationId xmlns:a16="http://schemas.microsoft.com/office/drawing/2014/main" id="{6BF1204E-9D14-487C-8349-954D02B9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7162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11" name="fd-1">
            <a:extLst xmlns:a="http://schemas.openxmlformats.org/drawingml/2006/main">
              <a:ext uri="{FF2B5EF4-FFF2-40B4-BE49-F238E27FC236}">
                <a16:creationId xmlns:a16="http://schemas.microsoft.com/office/drawing/2014/main" id="{677DF2F1-2D57-47C0-8B65-3FDB5E13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71625"/>
            <a:ext cx="8382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具体科研动作，不写“辅助研究”</a:t>
            </a:r>
          </a:p>
        </p:txBody>
      </p:sp>
      <p:sp>
        <p:nvSpPr>
          <p:cNvPr id="12" name="f-2">
            <a:extLst xmlns:a="http://schemas.openxmlformats.org/drawingml/2006/main">
              <a:ext uri="{FF2B5EF4-FFF2-40B4-BE49-F238E27FC236}">
                <a16:creationId xmlns:a16="http://schemas.microsoft.com/office/drawing/2014/main" id="{563A1C82-7D53-42C6-B713-6F689ECE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fh-2">
            <a:extLst xmlns:a="http://schemas.openxmlformats.org/drawingml/2006/main">
              <a:ext uri="{FF2B5EF4-FFF2-40B4-BE49-F238E27FC236}">
                <a16:creationId xmlns:a16="http://schemas.microsoft.com/office/drawing/2014/main" id="{EA3F106E-7B50-4F59-9429-D65439B5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6217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模型/版本</a:t>
            </a:r>
          </a:p>
        </p:txBody>
      </p:sp>
      <p:sp>
        <p:nvSpPr>
          <p:cNvPr id="14" name="fd-2">
            <a:extLst xmlns:a="http://schemas.openxmlformats.org/drawingml/2006/main">
              <a:ext uri="{FF2B5EF4-FFF2-40B4-BE49-F238E27FC236}">
                <a16:creationId xmlns:a16="http://schemas.microsoft.com/office/drawing/2014/main" id="{E4E1F264-37BF-401D-8DC0-ABFD674A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62175"/>
            <a:ext cx="8382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提供方、模型名、版本、调用日期</a:t>
            </a:r>
          </a:p>
        </p:txBody>
      </p:sp>
      <p:sp>
        <p:nvSpPr>
          <p:cNvPr id="15" name="f-3">
            <a:extLst xmlns:a="http://schemas.openxmlformats.org/drawingml/2006/main">
              <a:ext uri="{FF2B5EF4-FFF2-40B4-BE49-F238E27FC236}">
                <a16:creationId xmlns:a16="http://schemas.microsoft.com/office/drawing/2014/main" id="{2E58C477-0C70-47D2-A875-BBF9DC64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fh-3">
            <a:extLst xmlns:a="http://schemas.openxmlformats.org/drawingml/2006/main">
              <a:ext uri="{FF2B5EF4-FFF2-40B4-BE49-F238E27FC236}">
                <a16:creationId xmlns:a16="http://schemas.microsoft.com/office/drawing/2014/main" id="{4458271D-531D-47DE-B106-15A96CF7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5272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提示词摘要</a:t>
            </a:r>
          </a:p>
        </p:txBody>
      </p:sp>
      <p:sp>
        <p:nvSpPr>
          <p:cNvPr id="17" name="fd-3">
            <a:extLst xmlns:a="http://schemas.openxmlformats.org/drawingml/2006/main">
              <a:ext uri="{FF2B5EF4-FFF2-40B4-BE49-F238E27FC236}">
                <a16:creationId xmlns:a16="http://schemas.microsoft.com/office/drawing/2014/main" id="{ECD34514-C0D5-4062-8896-0827991F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52725"/>
            <a:ext cx="8382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输入 / 输出 / 权限 / 不适用范围</a:t>
            </a:r>
          </a:p>
        </p:txBody>
      </p:sp>
      <p:sp>
        <p:nvSpPr>
          <p:cNvPr id="18" name="f-4">
            <a:extLst xmlns:a="http://schemas.openxmlformats.org/drawingml/2006/main">
              <a:ext uri="{FF2B5EF4-FFF2-40B4-BE49-F238E27FC236}">
                <a16:creationId xmlns:a16="http://schemas.microsoft.com/office/drawing/2014/main" id="{DF34A674-7683-43F2-A575-36045131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fh-4">
            <a:extLst xmlns:a="http://schemas.openxmlformats.org/drawingml/2006/main">
              <a:ext uri="{FF2B5EF4-FFF2-40B4-BE49-F238E27FC236}">
                <a16:creationId xmlns:a16="http://schemas.microsoft.com/office/drawing/2014/main" id="{4F0C3B76-B08F-47EA-A303-C3D2E85F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4327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核验方式</a:t>
            </a:r>
          </a:p>
        </p:txBody>
      </p:sp>
      <p:sp>
        <p:nvSpPr>
          <p:cNvPr id="20" name="fd-4">
            <a:extLst xmlns:a="http://schemas.openxmlformats.org/drawingml/2006/main">
              <a:ext uri="{FF2B5EF4-FFF2-40B4-BE49-F238E27FC236}">
                <a16:creationId xmlns:a16="http://schemas.microsoft.com/office/drawing/2014/main" id="{05C08A6C-144E-42AC-AB75-B38D103F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43275"/>
            <a:ext cx="8382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原文核验 / 复现 / 人工审核 / 偏差审计</a:t>
            </a:r>
          </a:p>
        </p:txBody>
      </p:sp>
      <p:sp>
        <p:nvSpPr>
          <p:cNvPr id="21" name="f-5">
            <a:extLst xmlns:a="http://schemas.openxmlformats.org/drawingml/2006/main">
              <a:ext uri="{FF2B5EF4-FFF2-40B4-BE49-F238E27FC236}">
                <a16:creationId xmlns:a16="http://schemas.microsoft.com/office/drawing/2014/main" id="{8A20B669-57BB-44BC-98B4-363D13CD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fh-5">
            <a:extLst xmlns:a="http://schemas.openxmlformats.org/drawingml/2006/main">
              <a:ext uri="{FF2B5EF4-FFF2-40B4-BE49-F238E27FC236}">
                <a16:creationId xmlns:a16="http://schemas.microsoft.com/office/drawing/2014/main" id="{B610E5A3-0E89-47AB-B537-D0D00EE1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3382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输出用途</a:t>
            </a:r>
          </a:p>
        </p:txBody>
      </p:sp>
      <p:sp>
        <p:nvSpPr>
          <p:cNvPr id="23" name="fd-5">
            <a:extLst xmlns:a="http://schemas.openxmlformats.org/drawingml/2006/main">
              <a:ext uri="{FF2B5EF4-FFF2-40B4-BE49-F238E27FC236}">
                <a16:creationId xmlns:a16="http://schemas.microsoft.com/office/drawing/2014/main" id="{C1134194-8D50-4419-9008-A950922B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33825"/>
            <a:ext cx="8382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直接引用 / 修改后引用 / 仅作线索 / 拒绝</a:t>
            </a:r>
          </a:p>
        </p:txBody>
      </p:sp>
      <p:sp>
        <p:nvSpPr>
          <p:cNvPr id="24" name="f-6">
            <a:extLst xmlns:a="http://schemas.openxmlformats.org/drawingml/2006/main">
              <a:ext uri="{FF2B5EF4-FFF2-40B4-BE49-F238E27FC236}">
                <a16:creationId xmlns:a16="http://schemas.microsoft.com/office/drawing/2014/main" id="{F8B3725B-EE5A-496B-8424-AFDE012D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" name="fh-6">
            <a:extLst xmlns:a="http://schemas.openxmlformats.org/drawingml/2006/main">
              <a:ext uri="{FF2B5EF4-FFF2-40B4-BE49-F238E27FC236}">
                <a16:creationId xmlns:a16="http://schemas.microsoft.com/office/drawing/2014/main" id="{ED1B0B69-A6B8-4C09-9258-5BFFC435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2437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失败或偏差</a:t>
            </a:r>
          </a:p>
        </p:txBody>
      </p:sp>
      <p:sp>
        <p:nvSpPr>
          <p:cNvPr id="26" name="fd-6">
            <a:extLst xmlns:a="http://schemas.openxmlformats.org/drawingml/2006/main">
              <a:ext uri="{FF2B5EF4-FFF2-40B4-BE49-F238E27FC236}">
                <a16:creationId xmlns:a16="http://schemas.microsoft.com/office/drawing/2014/main" id="{8075A027-CA2D-42B0-ACDC-04DB2CE5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24375"/>
            <a:ext cx="8382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至少一处错误，或已检查风险与依据</a:t>
            </a:r>
          </a:p>
        </p:txBody>
      </p:sp>
      <p:sp>
        <p:nvSpPr>
          <p:cNvPr id="27" name="bottom">
            <a:extLst xmlns:a="http://schemas.openxmlformats.org/drawingml/2006/main">
              <a:ext uri="{FF2B5EF4-FFF2-40B4-BE49-F238E27FC236}">
                <a16:creationId xmlns:a16="http://schemas.microsoft.com/office/drawing/2014/main" id="{797CA9E1-D117-427F-9B12-A04E826B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19700"/>
            <a:ext cx="830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“本研究使用了 AI 工具”只是一句声明，不能支持复核。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署名、引用证据角色与 AI 输出线索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h-0">
            <a:extLst xmlns:a="http://schemas.openxmlformats.org/drawingml/2006/main">
              <a:ext uri="{FF2B5EF4-FFF2-40B4-BE49-F238E27FC236}">
                <a16:creationId xmlns:a16="http://schemas.microsoft.com/office/drawing/2014/main" id="{9D12C0DC-86B0-4BBD-8611-738C7F4B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3638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署名与贡献</a:t>
            </a:r>
          </a:p>
        </p:txBody>
      </p:sp>
      <p:sp>
        <p:nvSpPr>
          <p:cNvPr id="7" name="n-0-0">
            <a:extLst xmlns:a="http://schemas.openxmlformats.org/drawingml/2006/main">
              <a:ext uri="{FF2B5EF4-FFF2-40B4-BE49-F238E27FC236}">
                <a16:creationId xmlns:a16="http://schemas.microsoft.com/office/drawing/2014/main" id="{DF5B2ED7-0457-419E-85BA-E3EC3D90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-0-0">
            <a:extLst xmlns:a="http://schemas.openxmlformats.org/drawingml/2006/main">
              <a:ext uri="{FF2B5EF4-FFF2-40B4-BE49-F238E27FC236}">
                <a16:creationId xmlns:a16="http://schemas.microsoft.com/office/drawing/2014/main" id="{E60C3CAE-A4C6-415D-854C-21CE608C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学生：作者</a:t>
            </a:r>
          </a:p>
        </p:txBody>
      </p:sp>
      <p:sp>
        <p:nvSpPr>
          <p:cNvPr id="9" name="n-0-1">
            <a:extLst xmlns:a="http://schemas.openxmlformats.org/drawingml/2006/main">
              <a:ext uri="{FF2B5EF4-FFF2-40B4-BE49-F238E27FC236}">
                <a16:creationId xmlns:a16="http://schemas.microsoft.com/office/drawing/2014/main" id="{7715A146-1901-40B2-B858-94AF4B7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t-0-1">
            <a:extLst xmlns:a="http://schemas.openxmlformats.org/drawingml/2006/main">
              <a:ext uri="{FF2B5EF4-FFF2-40B4-BE49-F238E27FC236}">
                <a16:creationId xmlns:a16="http://schemas.microsoft.com/office/drawing/2014/main" id="{4CEA8E1F-42F9-497D-B473-6F12CDE8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导师/同伴反馈：致谢</a:t>
            </a:r>
          </a:p>
        </p:txBody>
      </p:sp>
      <p:sp>
        <p:nvSpPr>
          <p:cNvPr id="11" name="n-0-2">
            <a:extLst xmlns:a="http://schemas.openxmlformats.org/drawingml/2006/main">
              <a:ext uri="{FF2B5EF4-FFF2-40B4-BE49-F238E27FC236}">
                <a16:creationId xmlns:a16="http://schemas.microsoft.com/office/drawing/2014/main" id="{592EF8AF-499A-4BCE-A236-CB018D22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t-0-2">
            <a:extLst xmlns:a="http://schemas.openxmlformats.org/drawingml/2006/main">
              <a:ext uri="{FF2B5EF4-FFF2-40B4-BE49-F238E27FC236}">
                <a16:creationId xmlns:a16="http://schemas.microsoft.com/office/drawing/2014/main" id="{4CCABFCD-C2E1-49BF-BFB8-0E408F63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工具：披露，不列作者</a:t>
            </a:r>
          </a:p>
        </p:txBody>
      </p:sp>
      <p:sp>
        <p:nvSpPr>
          <p:cNvPr id="13" name="n-0-3">
            <a:extLst xmlns:a="http://schemas.openxmlformats.org/drawingml/2006/main">
              <a:ext uri="{FF2B5EF4-FFF2-40B4-BE49-F238E27FC236}">
                <a16:creationId xmlns:a16="http://schemas.microsoft.com/office/drawing/2014/main" id="{1FFB9359-8669-42BA-AE3D-C748ECBA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t-0-3">
            <a:extLst xmlns:a="http://schemas.openxmlformats.org/drawingml/2006/main">
              <a:ext uri="{FF2B5EF4-FFF2-40B4-BE49-F238E27FC236}">
                <a16:creationId xmlns:a16="http://schemas.microsoft.com/office/drawing/2014/main" id="{24E6F76E-6E28-463A-AA71-7D20E9E0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代码/数据：写来源与许可</a:t>
            </a:r>
          </a:p>
        </p:txBody>
      </p:sp>
      <p:sp>
        <p:nvSpPr>
          <p:cNvPr id="15" name="h-1">
            <a:extLst xmlns:a="http://schemas.openxmlformats.org/drawingml/2006/main">
              <a:ext uri="{FF2B5EF4-FFF2-40B4-BE49-F238E27FC236}">
                <a16:creationId xmlns:a16="http://schemas.microsoft.com/office/drawing/2014/main" id="{85F6A0FE-F45B-4DEE-A59B-8DDE1A31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104900"/>
            <a:ext cx="3638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引用证据角色</a:t>
            </a:r>
          </a:p>
        </p:txBody>
      </p:sp>
      <p:sp>
        <p:nvSpPr>
          <p:cNvPr id="16" name="n-1-0">
            <a:extLst xmlns:a="http://schemas.openxmlformats.org/drawingml/2006/main">
              <a:ext uri="{FF2B5EF4-FFF2-40B4-BE49-F238E27FC236}">
                <a16:creationId xmlns:a16="http://schemas.microsoft.com/office/drawing/2014/main" id="{663D9074-FF56-481C-B884-D8CBB70C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288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t-1-0">
            <a:extLst xmlns:a="http://schemas.openxmlformats.org/drawingml/2006/main">
              <a:ext uri="{FF2B5EF4-FFF2-40B4-BE49-F238E27FC236}">
                <a16:creationId xmlns:a16="http://schemas.microsoft.com/office/drawing/2014/main" id="{FA99A515-7013-4B7E-A1C6-BAAFF800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526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直接证据</a:t>
            </a:r>
          </a:p>
        </p:txBody>
      </p:sp>
      <p:sp>
        <p:nvSpPr>
          <p:cNvPr id="18" name="n-1-1">
            <a:extLst xmlns:a="http://schemas.openxmlformats.org/drawingml/2006/main">
              <a:ext uri="{FF2B5EF4-FFF2-40B4-BE49-F238E27FC236}">
                <a16:creationId xmlns:a16="http://schemas.microsoft.com/office/drawing/2014/main" id="{CA6467C9-D868-472B-9AED-0121FEE1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t-1-1">
            <a:extLst xmlns:a="http://schemas.openxmlformats.org/drawingml/2006/main">
              <a:ext uri="{FF2B5EF4-FFF2-40B4-BE49-F238E27FC236}">
                <a16:creationId xmlns:a16="http://schemas.microsoft.com/office/drawing/2014/main" id="{7AE251A9-BC15-4BDF-8011-3A51C5E4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955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补充证据</a:t>
            </a:r>
          </a:p>
        </p:txBody>
      </p:sp>
      <p:sp>
        <p:nvSpPr>
          <p:cNvPr id="20" name="n-1-2">
            <a:extLst xmlns:a="http://schemas.openxmlformats.org/drawingml/2006/main">
              <a:ext uri="{FF2B5EF4-FFF2-40B4-BE49-F238E27FC236}">
                <a16:creationId xmlns:a16="http://schemas.microsoft.com/office/drawing/2014/main" id="{D913A8A7-0B8E-4249-9AEE-05078022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14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t-1-2">
            <a:extLst xmlns:a="http://schemas.openxmlformats.org/drawingml/2006/main">
              <a:ext uri="{FF2B5EF4-FFF2-40B4-BE49-F238E27FC236}">
                <a16:creationId xmlns:a16="http://schemas.microsoft.com/office/drawing/2014/main" id="{D2921CCD-9657-4DC4-B317-490377B2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385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反例或冲突</a:t>
            </a:r>
          </a:p>
        </p:txBody>
      </p:sp>
      <p:sp>
        <p:nvSpPr>
          <p:cNvPr id="22" name="n-1-3">
            <a:extLst xmlns:a="http://schemas.openxmlformats.org/drawingml/2006/main">
              <a:ext uri="{FF2B5EF4-FFF2-40B4-BE49-F238E27FC236}">
                <a16:creationId xmlns:a16="http://schemas.microsoft.com/office/drawing/2014/main" id="{4FABAC39-8516-4F7A-8521-41CF8B9C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57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t-1-3">
            <a:extLst xmlns:a="http://schemas.openxmlformats.org/drawingml/2006/main">
              <a:ext uri="{FF2B5EF4-FFF2-40B4-BE49-F238E27FC236}">
                <a16:creationId xmlns:a16="http://schemas.microsoft.com/office/drawing/2014/main" id="{F05F12B3-F750-4548-8A92-3B2782EB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814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方法参考</a:t>
            </a:r>
          </a:p>
        </p:txBody>
      </p:sp>
      <p:sp>
        <p:nvSpPr>
          <p:cNvPr id="24" name="h-2">
            <a:extLst xmlns:a="http://schemas.openxmlformats.org/drawingml/2006/main">
              <a:ext uri="{FF2B5EF4-FFF2-40B4-BE49-F238E27FC236}">
                <a16:creationId xmlns:a16="http://schemas.microsoft.com/office/drawing/2014/main" id="{FF808012-2AEF-410E-8FE2-6A1A752B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04900"/>
            <a:ext cx="3638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输出只作线索</a:t>
            </a:r>
          </a:p>
        </p:txBody>
      </p:sp>
      <p:sp>
        <p:nvSpPr>
          <p:cNvPr id="25" name="n-2-0">
            <a:extLst xmlns:a="http://schemas.openxmlformats.org/drawingml/2006/main">
              <a:ext uri="{FF2B5EF4-FFF2-40B4-BE49-F238E27FC236}">
                <a16:creationId xmlns:a16="http://schemas.microsoft.com/office/drawing/2014/main" id="{9B72B4FA-79D5-45B3-97D9-56F0F80F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288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t-2-0">
            <a:extLst xmlns:a="http://schemas.openxmlformats.org/drawingml/2006/main">
              <a:ext uri="{FF2B5EF4-FFF2-40B4-BE49-F238E27FC236}">
                <a16:creationId xmlns:a16="http://schemas.microsoft.com/office/drawing/2014/main" id="{3E459262-589F-4082-B92F-CEFD87B3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题名/DOI 回正式来源核验</a:t>
            </a:r>
          </a:p>
        </p:txBody>
      </p:sp>
      <p:sp>
        <p:nvSpPr>
          <p:cNvPr id="27" name="n-2-1">
            <a:extLst xmlns:a="http://schemas.openxmlformats.org/drawingml/2006/main">
              <a:ext uri="{FF2B5EF4-FFF2-40B4-BE49-F238E27FC236}">
                <a16:creationId xmlns:a16="http://schemas.microsoft.com/office/drawing/2014/main" id="{86C7AE31-EC42-4302-848A-3E5915AA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t-2-1">
            <a:extLst xmlns:a="http://schemas.openxmlformats.org/drawingml/2006/main">
              <a:ext uri="{FF2B5EF4-FFF2-40B4-BE49-F238E27FC236}">
                <a16:creationId xmlns:a16="http://schemas.microsoft.com/office/drawing/2014/main" id="{075FB767-7E0E-4B1A-ADDA-9FCF5CCB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限定词不得被改强</a:t>
            </a:r>
          </a:p>
        </p:txBody>
      </p:sp>
      <p:sp>
        <p:nvSpPr>
          <p:cNvPr id="29" name="n-2-2">
            <a:extLst xmlns:a="http://schemas.openxmlformats.org/drawingml/2006/main">
              <a:ext uri="{FF2B5EF4-FFF2-40B4-BE49-F238E27FC236}">
                <a16:creationId xmlns:a16="http://schemas.microsoft.com/office/drawing/2014/main" id="{FFCEF859-882B-4C0D-8936-1D9473C3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t-2-2">
            <a:extLst xmlns:a="http://schemas.openxmlformats.org/drawingml/2006/main">
              <a:ext uri="{FF2B5EF4-FFF2-40B4-BE49-F238E27FC236}">
                <a16:creationId xmlns:a16="http://schemas.microsoft.com/office/drawing/2014/main" id="{F9D2742D-335E-460E-AC29-084A900B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不能写“AI 总结认为”</a:t>
            </a:r>
          </a:p>
        </p:txBody>
      </p:sp>
      <p:sp>
        <p:nvSpPr>
          <p:cNvPr id="31" name="n-2-3">
            <a:extLst xmlns:a="http://schemas.openxmlformats.org/drawingml/2006/main">
              <a:ext uri="{FF2B5EF4-FFF2-40B4-BE49-F238E27FC236}">
                <a16:creationId xmlns:a16="http://schemas.microsoft.com/office/drawing/2014/main" id="{B0483942-80A3-4275-AD4A-0CDDB8CF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t-2-3">
            <a:extLst xmlns:a="http://schemas.openxmlformats.org/drawingml/2006/main">
              <a:ext uri="{FF2B5EF4-FFF2-40B4-BE49-F238E27FC236}">
                <a16:creationId xmlns:a16="http://schemas.microsoft.com/office/drawing/2014/main" id="{08FFD6FB-1D54-4A4F-9921-18F9579C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814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核验前不进入论文</a:t>
            </a:r>
          </a:p>
        </p:txBody>
      </p:sp>
      <p:sp>
        <p:nvSpPr>
          <p:cNvPr id="33" name="bottom">
            <a:extLst xmlns:a="http://schemas.openxmlformats.org/drawingml/2006/main">
              <a:ext uri="{FF2B5EF4-FFF2-40B4-BE49-F238E27FC236}">
                <a16:creationId xmlns:a16="http://schemas.microsoft.com/office/drawing/2014/main" id="{2C6A41B9-1103-4A14-A5FD-F6F7D11D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引用不是越多越好：每条都要说明它在论证中扮演什么角色。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贯穿案例：从验证门材料到论文式短文初版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teaching-label">
            <a:extLst xmlns:a="http://schemas.openxmlformats.org/drawingml/2006/main">
              <a:ext uri="{FF2B5EF4-FFF2-40B4-BE49-F238E27FC236}">
                <a16:creationId xmlns:a16="http://schemas.microsoft.com/office/drawing/2014/main" id="{DBA5AA7E-F16C-45C6-B444-61C839EA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838200"/>
            <a:ext cx="3105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虚构教学示例 · 仅演示追踪动作</a:t>
            </a:r>
          </a:p>
        </p:txBody>
      </p:sp>
      <p:sp>
        <p:nvSpPr>
          <p:cNvPr id="7" name="num-0">
            <a:extLst xmlns:a="http://schemas.openxmlformats.org/drawingml/2006/main">
              <a:ext uri="{FF2B5EF4-FFF2-40B4-BE49-F238E27FC236}">
                <a16:creationId xmlns:a16="http://schemas.microsoft.com/office/drawing/2014/main" id="{D4A0FF64-1017-4362-AB1F-4CE27BA1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h-0">
            <a:extLst xmlns:a="http://schemas.openxmlformats.org/drawingml/2006/main">
              <a:ext uri="{FF2B5EF4-FFF2-40B4-BE49-F238E27FC236}">
                <a16:creationId xmlns:a16="http://schemas.microsoft.com/office/drawing/2014/main" id="{1E15F1C5-B71D-4E33-A79A-8EDC5B07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2152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贡献列表</a:t>
            </a:r>
          </a:p>
        </p:txBody>
      </p:sp>
      <p:sp>
        <p:nvSpPr>
          <p:cNvPr id="9" name="d-0">
            <a:extLst xmlns:a="http://schemas.openxmlformats.org/drawingml/2006/main">
              <a:ext uri="{FF2B5EF4-FFF2-40B4-BE49-F238E27FC236}">
                <a16:creationId xmlns:a16="http://schemas.microsoft.com/office/drawing/2014/main" id="{F4E4D14E-6BED-4D98-BFC4-1AF7F3E2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2647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C1/C2/C3</a:t>
            </a:r>
          </a:p>
        </p:txBody>
      </p:sp>
      <p:sp>
        <p:nvSpPr>
          <p:cNvPr id="10" name="line-0">
            <a:extLst xmlns:a="http://schemas.openxmlformats.org/drawingml/2006/main">
              <a:ext uri="{FF2B5EF4-FFF2-40B4-BE49-F238E27FC236}">
                <a16:creationId xmlns:a16="http://schemas.microsoft.com/office/drawing/2014/main" id="{F795A3AD-C73C-4B83-B5DE-8095028E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2043113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um-1">
            <a:extLst xmlns:a="http://schemas.openxmlformats.org/drawingml/2006/main">
              <a:ext uri="{FF2B5EF4-FFF2-40B4-BE49-F238E27FC236}">
                <a16:creationId xmlns:a16="http://schemas.microsoft.com/office/drawing/2014/main" id="{631BBC81-7A47-4632-AEE9-8C4F6166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28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h-1">
            <a:extLst xmlns:a="http://schemas.openxmlformats.org/drawingml/2006/main">
              <a:ext uri="{FF2B5EF4-FFF2-40B4-BE49-F238E27FC236}">
                <a16:creationId xmlns:a16="http://schemas.microsoft.com/office/drawing/2014/main" id="{3B9FEB81-3B26-4652-8DF6-16C2B421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381125"/>
            <a:ext cx="2152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IMRaD 回写</a:t>
            </a:r>
          </a:p>
        </p:txBody>
      </p:sp>
      <p:sp>
        <p:nvSpPr>
          <p:cNvPr id="13" name="d-1">
            <a:extLst xmlns:a="http://schemas.openxmlformats.org/drawingml/2006/main">
              <a:ext uri="{FF2B5EF4-FFF2-40B4-BE49-F238E27FC236}">
                <a16:creationId xmlns:a16="http://schemas.microsoft.com/office/drawing/2014/main" id="{78532EA8-84A0-452B-AD53-86B0F1D0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19300"/>
            <a:ext cx="2647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四段都有来源</a:t>
            </a:r>
          </a:p>
        </p:txBody>
      </p:sp>
      <p:sp>
        <p:nvSpPr>
          <p:cNvPr id="14" name="line-1">
            <a:extLst xmlns:a="http://schemas.openxmlformats.org/drawingml/2006/main">
              <a:ext uri="{FF2B5EF4-FFF2-40B4-BE49-F238E27FC236}">
                <a16:creationId xmlns:a16="http://schemas.microsoft.com/office/drawing/2014/main" id="{5454A612-4B54-4361-9827-921B2FC1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2043113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um-2">
            <a:extLst xmlns:a="http://schemas.openxmlformats.org/drawingml/2006/main">
              <a:ext uri="{FF2B5EF4-FFF2-40B4-BE49-F238E27FC236}">
                <a16:creationId xmlns:a16="http://schemas.microsoft.com/office/drawing/2014/main" id="{42E13C28-2268-4E8B-A0FA-071B7691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h-2">
            <a:extLst xmlns:a="http://schemas.openxmlformats.org/drawingml/2006/main">
              <a:ext uri="{FF2B5EF4-FFF2-40B4-BE49-F238E27FC236}">
                <a16:creationId xmlns:a16="http://schemas.microsoft.com/office/drawing/2014/main" id="{DFD44363-EF4E-4035-8EBE-050C7096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81125"/>
            <a:ext cx="2152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结论追踪表</a:t>
            </a:r>
          </a:p>
        </p:txBody>
      </p:sp>
      <p:sp>
        <p:nvSpPr>
          <p:cNvPr id="17" name="d-2">
            <a:extLst xmlns:a="http://schemas.openxmlformats.org/drawingml/2006/main">
              <a:ext uri="{FF2B5EF4-FFF2-40B4-BE49-F238E27FC236}">
                <a16:creationId xmlns:a16="http://schemas.microsoft.com/office/drawing/2014/main" id="{0644F47D-45F4-46FC-AAA5-B9FED254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19300"/>
            <a:ext cx="2647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三字段齐全</a:t>
            </a:r>
          </a:p>
        </p:txBody>
      </p:sp>
      <p:sp>
        <p:nvSpPr>
          <p:cNvPr id="18" name="line-2">
            <a:extLst xmlns:a="http://schemas.openxmlformats.org/drawingml/2006/main">
              <a:ext uri="{FF2B5EF4-FFF2-40B4-BE49-F238E27FC236}">
                <a16:creationId xmlns:a16="http://schemas.microsoft.com/office/drawing/2014/main" id="{5DF19C53-8296-4390-91B7-947A4083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2043113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um-3">
            <a:extLst xmlns:a="http://schemas.openxmlformats.org/drawingml/2006/main">
              <a:ext uri="{FF2B5EF4-FFF2-40B4-BE49-F238E27FC236}">
                <a16:creationId xmlns:a16="http://schemas.microsoft.com/office/drawing/2014/main" id="{2303DC26-29B0-4C72-88E8-3C5B5276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28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h-3">
            <a:extLst xmlns:a="http://schemas.openxmlformats.org/drawingml/2006/main">
              <a:ext uri="{FF2B5EF4-FFF2-40B4-BE49-F238E27FC236}">
                <a16:creationId xmlns:a16="http://schemas.microsoft.com/office/drawing/2014/main" id="{9FCC2448-F808-4465-BC97-46C41C24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81125"/>
            <a:ext cx="2152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审计 AI 文本</a:t>
            </a:r>
          </a:p>
        </p:txBody>
      </p:sp>
      <p:sp>
        <p:nvSpPr>
          <p:cNvPr id="21" name="d-3">
            <a:extLst xmlns:a="http://schemas.openxmlformats.org/drawingml/2006/main">
              <a:ext uri="{FF2B5EF4-FFF2-40B4-BE49-F238E27FC236}">
                <a16:creationId xmlns:a16="http://schemas.microsoft.com/office/drawing/2014/main" id="{3E05842F-D2E7-4DBB-89DB-AC8648B8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19300"/>
            <a:ext cx="2647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消除→降低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证明→初步证据</a:t>
            </a:r>
          </a:p>
        </p:txBody>
      </p:sp>
      <p:sp>
        <p:nvSpPr>
          <p:cNvPr id="22" name="num-4">
            <a:extLst xmlns:a="http://schemas.openxmlformats.org/drawingml/2006/main">
              <a:ext uri="{FF2B5EF4-FFF2-40B4-BE49-F238E27FC236}">
                <a16:creationId xmlns:a16="http://schemas.microsoft.com/office/drawing/2014/main" id="{764B68C4-3078-4230-965F-2916CA25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h-4">
            <a:extLst xmlns:a="http://schemas.openxmlformats.org/drawingml/2006/main">
              <a:ext uri="{FF2B5EF4-FFF2-40B4-BE49-F238E27FC236}">
                <a16:creationId xmlns:a16="http://schemas.microsoft.com/office/drawing/2014/main" id="{D2B2B555-CD20-4250-A3A4-14973C1A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24225"/>
            <a:ext cx="3028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七字段披露</a:t>
            </a:r>
          </a:p>
        </p:txBody>
      </p:sp>
      <p:sp>
        <p:nvSpPr>
          <p:cNvPr id="24" name="d-4">
            <a:extLst xmlns:a="http://schemas.openxmlformats.org/drawingml/2006/main">
              <a:ext uri="{FF2B5EF4-FFF2-40B4-BE49-F238E27FC236}">
                <a16:creationId xmlns:a16="http://schemas.microsoft.com/office/drawing/2014/main" id="{409B4CD0-2AB6-4D5A-9AC1-E82E66B0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3524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含失败或偏差</a:t>
            </a:r>
          </a:p>
        </p:txBody>
      </p:sp>
      <p:sp>
        <p:nvSpPr>
          <p:cNvPr id="25" name="line-4">
            <a:extLst xmlns:a="http://schemas.openxmlformats.org/drawingml/2006/main">
              <a:ext uri="{FF2B5EF4-FFF2-40B4-BE49-F238E27FC236}">
                <a16:creationId xmlns:a16="http://schemas.microsoft.com/office/drawing/2014/main" id="{C9E19BD9-4C7C-4B18-BCDE-F0CA9E67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398621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num-5">
            <a:extLst xmlns:a="http://schemas.openxmlformats.org/drawingml/2006/main">
              <a:ext uri="{FF2B5EF4-FFF2-40B4-BE49-F238E27FC236}">
                <a16:creationId xmlns:a16="http://schemas.microsoft.com/office/drawing/2014/main" id="{E196C082-6793-4122-B229-3D37298F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h-5">
            <a:extLst xmlns:a="http://schemas.openxmlformats.org/drawingml/2006/main">
              <a:ext uri="{FF2B5EF4-FFF2-40B4-BE49-F238E27FC236}">
                <a16:creationId xmlns:a16="http://schemas.microsoft.com/office/drawing/2014/main" id="{2CB845D2-B54D-46DB-A2D7-86E46E8A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24225"/>
            <a:ext cx="3028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stable 检查</a:t>
            </a:r>
          </a:p>
        </p:txBody>
      </p:sp>
      <p:sp>
        <p:nvSpPr>
          <p:cNvPr id="28" name="d-5">
            <a:extLst xmlns:a="http://schemas.openxmlformats.org/drawingml/2006/main">
              <a:ext uri="{FF2B5EF4-FFF2-40B4-BE49-F238E27FC236}">
                <a16:creationId xmlns:a16="http://schemas.microsoft.com/office/drawing/2014/main" id="{CF9EF745-EF34-4C50-8820-52DD5871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62400"/>
            <a:ext cx="3524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不足两证据则降级</a:t>
            </a:r>
          </a:p>
        </p:txBody>
      </p:sp>
      <p:sp>
        <p:nvSpPr>
          <p:cNvPr id="29" name="line-5">
            <a:extLst xmlns:a="http://schemas.openxmlformats.org/drawingml/2006/main">
              <a:ext uri="{FF2B5EF4-FFF2-40B4-BE49-F238E27FC236}">
                <a16:creationId xmlns:a16="http://schemas.microsoft.com/office/drawing/2014/main" id="{D2854168-160C-4E60-8396-BE672A57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398621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num-6">
            <a:extLst xmlns:a="http://schemas.openxmlformats.org/drawingml/2006/main">
              <a:ext uri="{FF2B5EF4-FFF2-40B4-BE49-F238E27FC236}">
                <a16:creationId xmlns:a16="http://schemas.microsoft.com/office/drawing/2014/main" id="{DFE49A07-D876-4B78-B76C-7BA204C4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1" name="h-6">
            <a:extLst xmlns:a="http://schemas.openxmlformats.org/drawingml/2006/main">
              <a:ext uri="{FF2B5EF4-FFF2-40B4-BE49-F238E27FC236}">
                <a16:creationId xmlns:a16="http://schemas.microsoft.com/office/drawing/2014/main" id="{2AECF2B5-9662-401B-A063-E85B26F3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24225"/>
            <a:ext cx="3028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门条件预演</a:t>
            </a:r>
          </a:p>
        </p:txBody>
      </p:sp>
      <p:sp>
        <p:nvSpPr>
          <p:cNvPr id="32" name="d-6">
            <a:extLst xmlns:a="http://schemas.openxmlformats.org/drawingml/2006/main">
              <a:ext uri="{FF2B5EF4-FFF2-40B4-BE49-F238E27FC236}">
                <a16:creationId xmlns:a16="http://schemas.microsoft.com/office/drawing/2014/main" id="{3C79CE0C-BFD3-4FA8-A5B1-B3FAB577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62400"/>
            <a:ext cx="3524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十项逐行标注</a:t>
            </a:r>
          </a:p>
        </p:txBody>
      </p:sp>
      <p:sp>
        <p:nvSpPr>
          <p:cNvPr id="33" name="bottom">
            <a:extLst xmlns:a="http://schemas.openxmlformats.org/drawingml/2006/main">
              <a:ext uri="{FF2B5EF4-FFF2-40B4-BE49-F238E27FC236}">
                <a16:creationId xmlns:a16="http://schemas.microsoft.com/office/drawing/2014/main" id="{F81CB4CA-D088-4666-BDCF-B7F72DB6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实践目标：跑通一次链路并留下初版，不要求 25 分钟内完成论文终稿。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实践停留页：论证门条件预演清单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time">
            <a:extLst xmlns:a="http://schemas.openxmlformats.org/drawingml/2006/main">
              <a:ext uri="{FF2B5EF4-FFF2-40B4-BE49-F238E27FC236}">
                <a16:creationId xmlns:a16="http://schemas.microsoft.com/office/drawing/2014/main" id="{B8EB19A5-06D8-4C81-8230-8911490E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2857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35:00–60:00｜个人实践</a:t>
            </a:r>
          </a:p>
        </p:txBody>
      </p:sp>
      <p:sp>
        <p:nvSpPr>
          <p:cNvPr id="7" name="instruction">
            <a:extLst xmlns:a="http://schemas.openxmlformats.org/drawingml/2006/main">
              <a:ext uri="{FF2B5EF4-FFF2-40B4-BE49-F238E27FC236}">
                <a16:creationId xmlns:a16="http://schemas.microsoft.com/office/drawing/2014/main" id="{00E0941C-B7C6-4F5E-8A26-9F367520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525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逐项标注：已满足 / 待补全 / 留给哪一课</a:t>
            </a:r>
          </a:p>
        </p:txBody>
      </p:sp>
      <p:sp>
        <p:nvSpPr>
          <p:cNvPr id="8" name="n-0">
            <a:extLst xmlns:a="http://schemas.openxmlformats.org/drawingml/2006/main">
              <a:ext uri="{FF2B5EF4-FFF2-40B4-BE49-F238E27FC236}">
                <a16:creationId xmlns:a16="http://schemas.microsoft.com/office/drawing/2014/main" id="{017CE235-71BC-4791-9D63-994E927E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c-0">
            <a:extLst xmlns:a="http://schemas.openxmlformats.org/drawingml/2006/main">
              <a:ext uri="{FF2B5EF4-FFF2-40B4-BE49-F238E27FC236}">
                <a16:creationId xmlns:a16="http://schemas.microsoft.com/office/drawing/2014/main" id="{558AD2D5-AE6F-4659-BC5B-C44CA0A6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85900"/>
            <a:ext cx="50673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论文式短文含问题/方法/验证/结果/局限</a:t>
            </a:r>
          </a:p>
        </p:txBody>
      </p:sp>
      <p:sp>
        <p:nvSpPr>
          <p:cNvPr id="10" name="n-1">
            <a:extLst xmlns:a="http://schemas.openxmlformats.org/drawingml/2006/main">
              <a:ext uri="{FF2B5EF4-FFF2-40B4-BE49-F238E27FC236}">
                <a16:creationId xmlns:a16="http://schemas.microsoft.com/office/drawing/2014/main" id="{F0410FF3-1C8F-4017-AB8C-34988277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c-1">
            <a:extLst xmlns:a="http://schemas.openxmlformats.org/drawingml/2006/main">
              <a:ext uri="{FF2B5EF4-FFF2-40B4-BE49-F238E27FC236}">
                <a16:creationId xmlns:a16="http://schemas.microsoft.com/office/drawing/2014/main" id="{4DC71FCF-D087-49D9-822D-0D298237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71700"/>
            <a:ext cx="50673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表/图可追溯到证据项、实验 ID 或运行记录</a:t>
            </a:r>
          </a:p>
        </p:txBody>
      </p:sp>
      <p:sp>
        <p:nvSpPr>
          <p:cNvPr id="12" name="n-2">
            <a:extLst xmlns:a="http://schemas.openxmlformats.org/drawingml/2006/main">
              <a:ext uri="{FF2B5EF4-FFF2-40B4-BE49-F238E27FC236}">
                <a16:creationId xmlns:a16="http://schemas.microsoft.com/office/drawing/2014/main" id="{504208B0-E92E-409A-B145-E98D22BB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c-2">
            <a:extLst xmlns:a="http://schemas.openxmlformats.org/drawingml/2006/main">
              <a:ext uri="{FF2B5EF4-FFF2-40B4-BE49-F238E27FC236}">
                <a16:creationId xmlns:a16="http://schemas.microsoft.com/office/drawing/2014/main" id="{E20618A2-7C0A-4050-9474-31A432E6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50673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讨论具体有效性威胁或等价分析</a:t>
            </a:r>
          </a:p>
        </p:txBody>
      </p:sp>
      <p:sp>
        <p:nvSpPr>
          <p:cNvPr id="14" name="n-3">
            <a:extLst xmlns:a="http://schemas.openxmlformats.org/drawingml/2006/main">
              <a:ext uri="{FF2B5EF4-FFF2-40B4-BE49-F238E27FC236}">
                <a16:creationId xmlns:a16="http://schemas.microsoft.com/office/drawing/2014/main" id="{CEE765B0-7F5A-404C-A387-12C7496F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c-3">
            <a:extLst xmlns:a="http://schemas.openxmlformats.org/drawingml/2006/main">
              <a:ext uri="{FF2B5EF4-FFF2-40B4-BE49-F238E27FC236}">
                <a16:creationId xmlns:a16="http://schemas.microsoft.com/office/drawing/2014/main" id="{300F244D-E6E6-4459-9E31-B5E88AD9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43300"/>
            <a:ext cx="50673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 15 课评审意见有采纳/拒绝/理由</a:t>
            </a:r>
          </a:p>
        </p:txBody>
      </p:sp>
      <p:sp>
        <p:nvSpPr>
          <p:cNvPr id="16" name="n-4">
            <a:extLst xmlns:a="http://schemas.openxmlformats.org/drawingml/2006/main">
              <a:ext uri="{FF2B5EF4-FFF2-40B4-BE49-F238E27FC236}">
                <a16:creationId xmlns:a16="http://schemas.microsoft.com/office/drawing/2014/main" id="{1EFB384E-E78C-4D1A-ADDA-3C74E908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c-4">
            <a:extLst xmlns:a="http://schemas.openxmlformats.org/drawingml/2006/main">
              <a:ext uri="{FF2B5EF4-FFF2-40B4-BE49-F238E27FC236}">
                <a16:creationId xmlns:a16="http://schemas.microsoft.com/office/drawing/2014/main" id="{CCF0E6D7-EAEB-4666-95C8-851DBF73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50673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关键结论绑定直接证据 + 上游判断</a:t>
            </a:r>
          </a:p>
        </p:txBody>
      </p:sp>
      <p:sp>
        <p:nvSpPr>
          <p:cNvPr id="18" name="n-5">
            <a:extLst xmlns:a="http://schemas.openxmlformats.org/drawingml/2006/main">
              <a:ext uri="{FF2B5EF4-FFF2-40B4-BE49-F238E27FC236}">
                <a16:creationId xmlns:a16="http://schemas.microsoft.com/office/drawing/2014/main" id="{DD049F96-7E15-4CDB-9AE7-85B6280B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9" name="c-5">
            <a:extLst xmlns:a="http://schemas.openxmlformats.org/drawingml/2006/main">
              <a:ext uri="{FF2B5EF4-FFF2-40B4-BE49-F238E27FC236}">
                <a16:creationId xmlns:a16="http://schemas.microsoft.com/office/drawing/2014/main" id="{300605FC-8368-4247-89DB-5D716A01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85900"/>
            <a:ext cx="50673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stable 原则上有两项独立证据，否则降级</a:t>
            </a:r>
          </a:p>
        </p:txBody>
      </p:sp>
      <p:sp>
        <p:nvSpPr>
          <p:cNvPr id="20" name="n-6">
            <a:extLst xmlns:a="http://schemas.openxmlformats.org/drawingml/2006/main">
              <a:ext uri="{FF2B5EF4-FFF2-40B4-BE49-F238E27FC236}">
                <a16:creationId xmlns:a16="http://schemas.microsoft.com/office/drawing/2014/main" id="{FE4EC399-1199-4AA7-9076-AA58F7FD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1" name="c-6">
            <a:extLst xmlns:a="http://schemas.openxmlformats.org/drawingml/2006/main">
              <a:ext uri="{FF2B5EF4-FFF2-40B4-BE49-F238E27FC236}">
                <a16:creationId xmlns:a16="http://schemas.microsoft.com/office/drawing/2014/main" id="{82285257-837A-40A6-B448-1EB8AA09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71700"/>
            <a:ext cx="50673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Workflow 有运行/权限/评价/失败记录</a:t>
            </a:r>
          </a:p>
        </p:txBody>
      </p:sp>
      <p:sp>
        <p:nvSpPr>
          <p:cNvPr id="22" name="n-7">
            <a:extLst xmlns:a="http://schemas.openxmlformats.org/drawingml/2006/main">
              <a:ext uri="{FF2B5EF4-FFF2-40B4-BE49-F238E27FC236}">
                <a16:creationId xmlns:a16="http://schemas.microsoft.com/office/drawing/2014/main" id="{8D343A26-3100-40E3-9A15-EAD3CF45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337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3" name="c-7">
            <a:extLst xmlns:a="http://schemas.openxmlformats.org/drawingml/2006/main">
              <a:ext uri="{FF2B5EF4-FFF2-40B4-BE49-F238E27FC236}">
                <a16:creationId xmlns:a16="http://schemas.microsoft.com/office/drawing/2014/main" id="{5DE96E01-B7D7-4A7B-9B7D-4996FB42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50673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伦理/许可/贡献/AI 披露完整</a:t>
            </a:r>
          </a:p>
        </p:txBody>
      </p:sp>
      <p:sp>
        <p:nvSpPr>
          <p:cNvPr id="24" name="n-8">
            <a:extLst xmlns:a="http://schemas.openxmlformats.org/drawingml/2006/main">
              <a:ext uri="{FF2B5EF4-FFF2-40B4-BE49-F238E27FC236}">
                <a16:creationId xmlns:a16="http://schemas.microsoft.com/office/drawing/2014/main" id="{FBC4623E-1F56-4F24-8052-9ED02D6B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5" name="c-8">
            <a:extLst xmlns:a="http://schemas.openxmlformats.org/drawingml/2006/main">
              <a:ext uri="{FF2B5EF4-FFF2-40B4-BE49-F238E27FC236}">
                <a16:creationId xmlns:a16="http://schemas.microsoft.com/office/drawing/2014/main" id="{2D7DF585-F743-4F87-8558-60FE0F24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43300"/>
            <a:ext cx="50673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工件状态与实际门检查一致</a:t>
            </a:r>
          </a:p>
        </p:txBody>
      </p:sp>
      <p:sp>
        <p:nvSpPr>
          <p:cNvPr id="26" name="n-9">
            <a:extLst xmlns:a="http://schemas.openxmlformats.org/drawingml/2006/main">
              <a:ext uri="{FF2B5EF4-FFF2-40B4-BE49-F238E27FC236}">
                <a16:creationId xmlns:a16="http://schemas.microsoft.com/office/drawing/2014/main" id="{594FEFB7-141B-42AD-9AD4-4712DC77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053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7" name="c-9">
            <a:extLst xmlns:a="http://schemas.openxmlformats.org/drawingml/2006/main">
              <a:ext uri="{FF2B5EF4-FFF2-40B4-BE49-F238E27FC236}">
                <a16:creationId xmlns:a16="http://schemas.microsoft.com/office/drawing/2014/main" id="{5D3E0A7E-E0D1-4F12-BF8D-D94A1D7A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29100"/>
            <a:ext cx="50673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个人展示/复现抽查/课程复盘完成</a:t>
            </a:r>
          </a:p>
        </p:txBody>
      </p:sp>
      <p:sp>
        <p:nvSpPr>
          <p:cNvPr id="28" name="handoff">
            <a:extLst xmlns:a="http://schemas.openxmlformats.org/drawingml/2006/main">
              <a:ext uri="{FF2B5EF4-FFF2-40B4-BE49-F238E27FC236}">
                <a16:creationId xmlns:a16="http://schemas.microsoft.com/office/drawing/2014/main" id="{FA049E6F-77E3-4B91-BEFB-675D32FD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0210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第 4 项留给第 15 课｜第 10 项留给第 16 课｜其余本课补全或明确缺口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同伴组互查论文式短文初版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n-0">
            <a:extLst xmlns:a="http://schemas.openxmlformats.org/drawingml/2006/main">
              <a:ext uri="{FF2B5EF4-FFF2-40B4-BE49-F238E27FC236}">
                <a16:creationId xmlns:a16="http://schemas.microsoft.com/office/drawing/2014/main" id="{AC42FBB0-54C6-4F53-B858-A069CCC2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q-0">
            <a:extLst xmlns:a="http://schemas.openxmlformats.org/drawingml/2006/main">
              <a:ext uri="{FF2B5EF4-FFF2-40B4-BE49-F238E27FC236}">
                <a16:creationId xmlns:a16="http://schemas.microsoft.com/office/drawing/2014/main" id="{B913974F-8817-4BB0-B708-3FD0DFE7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4762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贡献是否绑定证据与状态？</a:t>
            </a:r>
          </a:p>
        </p:txBody>
      </p:sp>
      <p:sp>
        <p:nvSpPr>
          <p:cNvPr id="8" name="n-1">
            <a:extLst xmlns:a="http://schemas.openxmlformats.org/drawingml/2006/main">
              <a:ext uri="{FF2B5EF4-FFF2-40B4-BE49-F238E27FC236}">
                <a16:creationId xmlns:a16="http://schemas.microsoft.com/office/drawing/2014/main" id="{81F90B1F-D962-4522-860C-736DD713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q-1">
            <a:extLst xmlns:a="http://schemas.openxmlformats.org/drawingml/2006/main">
              <a:ext uri="{FF2B5EF4-FFF2-40B4-BE49-F238E27FC236}">
                <a16:creationId xmlns:a16="http://schemas.microsoft.com/office/drawing/2014/main" id="{AB1230CC-9EB0-4A74-93BD-D5C62E62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850"/>
            <a:ext cx="4762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追踪表三字段齐全？</a:t>
            </a:r>
          </a:p>
        </p:txBody>
      </p:sp>
      <p:sp>
        <p:nvSpPr>
          <p:cNvPr id="10" name="n-2">
            <a:extLst xmlns:a="http://schemas.openxmlformats.org/drawingml/2006/main">
              <a:ext uri="{FF2B5EF4-FFF2-40B4-BE49-F238E27FC236}">
                <a16:creationId xmlns:a16="http://schemas.microsoft.com/office/drawing/2014/main" id="{C4124597-A98B-4F20-BFFB-70367AE7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q-2">
            <a:extLst xmlns:a="http://schemas.openxmlformats.org/drawingml/2006/main">
              <a:ext uri="{FF2B5EF4-FFF2-40B4-BE49-F238E27FC236}">
                <a16:creationId xmlns:a16="http://schemas.microsoft.com/office/drawing/2014/main" id="{10017A97-2FD6-42C4-8DFC-04B62467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4762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负向结果是否写回论文？</a:t>
            </a:r>
          </a:p>
        </p:txBody>
      </p:sp>
      <p:sp>
        <p:nvSpPr>
          <p:cNvPr id="12" name="n-3">
            <a:extLst xmlns:a="http://schemas.openxmlformats.org/drawingml/2006/main">
              <a:ext uri="{FF2B5EF4-FFF2-40B4-BE49-F238E27FC236}">
                <a16:creationId xmlns:a16="http://schemas.microsoft.com/office/drawing/2014/main" id="{3C6C8BCB-C3B0-4F88-83F7-A84ACCF7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q-3">
            <a:extLst xmlns:a="http://schemas.openxmlformats.org/drawingml/2006/main">
              <a:ext uri="{FF2B5EF4-FFF2-40B4-BE49-F238E27FC236}">
                <a16:creationId xmlns:a16="http://schemas.microsoft.com/office/drawing/2014/main" id="{448B30B6-08E7-48A1-86BD-F997476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4762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文本是否出现过度概括？</a:t>
            </a:r>
          </a:p>
        </p:txBody>
      </p:sp>
      <p:sp>
        <p:nvSpPr>
          <p:cNvPr id="14" name="n-4">
            <a:extLst xmlns:a="http://schemas.openxmlformats.org/drawingml/2006/main">
              <a:ext uri="{FF2B5EF4-FFF2-40B4-BE49-F238E27FC236}">
                <a16:creationId xmlns:a16="http://schemas.microsoft.com/office/drawing/2014/main" id="{2844F54F-01E1-4F37-BAD7-16437C52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1430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q-4">
            <a:extLst xmlns:a="http://schemas.openxmlformats.org/drawingml/2006/main">
              <a:ext uri="{FF2B5EF4-FFF2-40B4-BE49-F238E27FC236}">
                <a16:creationId xmlns:a16="http://schemas.microsoft.com/office/drawing/2014/main" id="{91AB7C4C-73D4-4D2C-BFE2-94D01BCD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4762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七字段披露是否完整？</a:t>
            </a:r>
          </a:p>
        </p:txBody>
      </p:sp>
      <p:sp>
        <p:nvSpPr>
          <p:cNvPr id="16" name="n-5">
            <a:extLst xmlns:a="http://schemas.openxmlformats.org/drawingml/2006/main">
              <a:ext uri="{FF2B5EF4-FFF2-40B4-BE49-F238E27FC236}">
                <a16:creationId xmlns:a16="http://schemas.microsoft.com/office/drawing/2014/main" id="{189598BE-6DC1-49DD-A1A6-728CE0AA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7" name="q-5">
            <a:extLst xmlns:a="http://schemas.openxmlformats.org/drawingml/2006/main">
              <a:ext uri="{FF2B5EF4-FFF2-40B4-BE49-F238E27FC236}">
                <a16:creationId xmlns:a16="http://schemas.microsoft.com/office/drawing/2014/main" id="{54D7F7C6-8434-4A72-BB72-BB7C30B6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4762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stable 是否满足独立证据？</a:t>
            </a:r>
          </a:p>
        </p:txBody>
      </p:sp>
      <p:sp>
        <p:nvSpPr>
          <p:cNvPr id="18" name="n-6">
            <a:extLst xmlns:a="http://schemas.openxmlformats.org/drawingml/2006/main">
              <a:ext uri="{FF2B5EF4-FFF2-40B4-BE49-F238E27FC236}">
                <a16:creationId xmlns:a16="http://schemas.microsoft.com/office/drawing/2014/main" id="{E0F6D197-CC6E-498B-BE98-A3230276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051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9" name="q-6">
            <a:extLst xmlns:a="http://schemas.openxmlformats.org/drawingml/2006/main">
              <a:ext uri="{FF2B5EF4-FFF2-40B4-BE49-F238E27FC236}">
                <a16:creationId xmlns:a16="http://schemas.microsoft.com/office/drawing/2014/main" id="{C00C25DA-EF55-4F05-9151-0D51AEE5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28900"/>
            <a:ext cx="4762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引用是否回原文核验？</a:t>
            </a:r>
          </a:p>
        </p:txBody>
      </p:sp>
      <p:sp>
        <p:nvSpPr>
          <p:cNvPr id="20" name="n-7">
            <a:extLst xmlns:a="http://schemas.openxmlformats.org/drawingml/2006/main">
              <a:ext uri="{FF2B5EF4-FFF2-40B4-BE49-F238E27FC236}">
                <a16:creationId xmlns:a16="http://schemas.microsoft.com/office/drawing/2014/main" id="{BD9E3ECB-73A8-4266-919E-8092BF9C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861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1" name="q-7">
            <a:extLst xmlns:a="http://schemas.openxmlformats.org/drawingml/2006/main">
              <a:ext uri="{FF2B5EF4-FFF2-40B4-BE49-F238E27FC236}">
                <a16:creationId xmlns:a16="http://schemas.microsoft.com/office/drawing/2014/main" id="{C7E9A86B-D9A2-4A1B-A203-643DFA01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9950"/>
            <a:ext cx="4762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有效性威胁是否具体？</a:t>
            </a:r>
          </a:p>
        </p:txBody>
      </p:sp>
      <p:sp>
        <p:nvSpPr>
          <p:cNvPr id="22" name="author">
            <a:extLst xmlns:a="http://schemas.openxmlformats.org/drawingml/2006/main">
              <a:ext uri="{FF2B5EF4-FFF2-40B4-BE49-F238E27FC236}">
                <a16:creationId xmlns:a16="http://schemas.microsoft.com/office/drawing/2014/main" id="{FA97CB2E-6B40-4EA7-BE05-33770E56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作者记录反馈处理</a:t>
            </a:r>
          </a:p>
        </p:txBody>
      </p:sp>
      <p:sp>
        <p:nvSpPr>
          <p:cNvPr id="23" name="state-0">
            <a:extLst xmlns:a="http://schemas.openxmlformats.org/drawingml/2006/main">
              <a:ext uri="{FF2B5EF4-FFF2-40B4-BE49-F238E27FC236}">
                <a16:creationId xmlns:a16="http://schemas.microsoft.com/office/drawing/2014/main" id="{C32491CB-8CB1-4438-891D-D01C9DCC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38650"/>
            <a:ext cx="1866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采纳</a:t>
            </a:r>
          </a:p>
        </p:txBody>
      </p:sp>
      <p:sp>
        <p:nvSpPr>
          <p:cNvPr id="24" name="state-1">
            <a:extLst xmlns:a="http://schemas.openxmlformats.org/drawingml/2006/main">
              <a:ext uri="{FF2B5EF4-FFF2-40B4-BE49-F238E27FC236}">
                <a16:creationId xmlns:a16="http://schemas.microsoft.com/office/drawing/2014/main" id="{3E1C5D0F-1CA6-4A41-A175-288A96D8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38650"/>
            <a:ext cx="1866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暂不采纳</a:t>
            </a:r>
          </a:p>
        </p:txBody>
      </p:sp>
      <p:sp>
        <p:nvSpPr>
          <p:cNvPr id="25" name="state-2">
            <a:extLst xmlns:a="http://schemas.openxmlformats.org/drawingml/2006/main">
              <a:ext uri="{FF2B5EF4-FFF2-40B4-BE49-F238E27FC236}">
                <a16:creationId xmlns:a16="http://schemas.microsoft.com/office/drawing/2014/main" id="{CB212F8F-44EA-4055-A1F1-DCCAFEE5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38650"/>
            <a:ext cx="1866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6C12"/>
                </a:solidFill>
              </a:defRPr>
            </a:pPr>
            <a:r>
              <a:rPr sz="150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待核验</a:t>
            </a:r>
          </a:p>
        </p:txBody>
      </p:sp>
      <p:sp>
        <p:nvSpPr>
          <p:cNvPr id="26" name="bottom">
            <a:extLst xmlns:a="http://schemas.openxmlformats.org/drawingml/2006/main">
              <a:ext uri="{FF2B5EF4-FFF2-40B4-BE49-F238E27FC236}">
                <a16:creationId xmlns:a16="http://schemas.microsoft.com/office/drawing/2014/main" id="{4F357DEE-BCAF-48B9-AA6B-5ADFE251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62550"/>
            <a:ext cx="845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同伴只提问题，不替作者修改；反馈不形成共同提交。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论证门预演与第 15 课预告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arr-0">
            <a:extLst xmlns:a="http://schemas.openxmlformats.org/drawingml/2006/main">
              <a:ext uri="{FF2B5EF4-FFF2-40B4-BE49-F238E27FC236}">
                <a16:creationId xmlns:a16="http://schemas.microsoft.com/office/drawing/2014/main" id="{530272C4-5A94-4965-9E4C-9F5543E4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7150" y="20002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-0">
            <a:extLst xmlns:a="http://schemas.openxmlformats.org/drawingml/2006/main">
              <a:ext uri="{FF2B5EF4-FFF2-40B4-BE49-F238E27FC236}">
                <a16:creationId xmlns:a16="http://schemas.microsoft.com/office/drawing/2014/main" id="{8A20A5B3-E4FE-43AF-A94C-9CD25185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3276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本课</a:t>
            </a:r>
          </a:p>
        </p:txBody>
      </p:sp>
      <p:sp>
        <p:nvSpPr>
          <p:cNvPr id="8" name="d-0">
            <a:extLst xmlns:a="http://schemas.openxmlformats.org/drawingml/2006/main">
              <a:ext uri="{FF2B5EF4-FFF2-40B4-BE49-F238E27FC236}">
                <a16:creationId xmlns:a16="http://schemas.microsoft.com/office/drawing/2014/main" id="{D1A9EEB0-3897-4D92-BAE3-9221CC52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3276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论文式短文初版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+ 结论追踪表 + AI 披露</a:t>
            </a:r>
          </a:p>
        </p:txBody>
      </p:sp>
      <p:sp>
        <p:nvSpPr>
          <p:cNvPr id="9" name="arr-1">
            <a:extLst xmlns:a="http://schemas.openxmlformats.org/drawingml/2006/main">
              <a:ext uri="{FF2B5EF4-FFF2-40B4-BE49-F238E27FC236}">
                <a16:creationId xmlns:a16="http://schemas.microsoft.com/office/drawing/2014/main" id="{2A6230D5-3EB7-4332-B795-B0B3073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20002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-1">
            <a:extLst xmlns:a="http://schemas.openxmlformats.org/drawingml/2006/main">
              <a:ext uri="{FF2B5EF4-FFF2-40B4-BE49-F238E27FC236}">
                <a16:creationId xmlns:a16="http://schemas.microsoft.com/office/drawing/2014/main" id="{06020D62-41B3-4C80-BB78-2D5538EC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57300"/>
            <a:ext cx="3276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15 课</a:t>
            </a:r>
          </a:p>
        </p:txBody>
      </p:sp>
      <p:sp>
        <p:nvSpPr>
          <p:cNvPr id="11" name="d-1">
            <a:extLst xmlns:a="http://schemas.openxmlformats.org/drawingml/2006/main">
              <a:ext uri="{FF2B5EF4-FFF2-40B4-BE49-F238E27FC236}">
                <a16:creationId xmlns:a16="http://schemas.microsoft.com/office/drawing/2014/main" id="{16A88AEC-C688-481B-8127-33B58664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71650"/>
            <a:ext cx="3276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同行评审 + 论证门预检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记录采纳/拒绝/理由</a:t>
            </a:r>
          </a:p>
        </p:txBody>
      </p:sp>
      <p:sp>
        <p:nvSpPr>
          <p:cNvPr id="12" name="h-2">
            <a:extLst xmlns:a="http://schemas.openxmlformats.org/drawingml/2006/main">
              <a:ext uri="{FF2B5EF4-FFF2-40B4-BE49-F238E27FC236}">
                <a16:creationId xmlns:a16="http://schemas.microsoft.com/office/drawing/2014/main" id="{CA62B718-1325-4DE3-9E64-CC61FA95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57300"/>
            <a:ext cx="3276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16 课</a:t>
            </a:r>
          </a:p>
        </p:txBody>
      </p:sp>
      <p:sp>
        <p:nvSpPr>
          <p:cNvPr id="13" name="d-2">
            <a:extLst xmlns:a="http://schemas.openxmlformats.org/drawingml/2006/main">
              <a:ext uri="{FF2B5EF4-FFF2-40B4-BE49-F238E27FC236}">
                <a16:creationId xmlns:a16="http://schemas.microsoft.com/office/drawing/2014/main" id="{5318EBBD-52B8-4986-B038-5FE321F5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276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补齐状态、展示与复盘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合并提交论证门</a:t>
            </a:r>
          </a:p>
        </p:txBody>
      </p:sp>
      <p:sp>
        <p:nvSpPr>
          <p:cNvPr id="14" name="exit-h">
            <a:extLst xmlns:a="http://schemas.openxmlformats.org/drawingml/2006/main">
              <a:ext uri="{FF2B5EF4-FFF2-40B4-BE49-F238E27FC236}">
                <a16:creationId xmlns:a16="http://schemas.microsoft.com/office/drawing/2014/main" id="{6FA980DF-176D-4778-AEA3-D357C454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1032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退出卡｜留下可用于第 15 课调整的六个判断</a:t>
            </a:r>
          </a:p>
        </p:txBody>
      </p:sp>
      <p:sp>
        <p:nvSpPr>
          <p:cNvPr id="15" name="e-0">
            <a:extLst xmlns:a="http://schemas.openxmlformats.org/drawingml/2006/main">
              <a:ext uri="{FF2B5EF4-FFF2-40B4-BE49-F238E27FC236}">
                <a16:creationId xmlns:a16="http://schemas.microsoft.com/office/drawing/2014/main" id="{A6C9D9A4-8215-4621-A2EE-E9925F21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524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最清楚的一点</a:t>
            </a:r>
          </a:p>
        </p:txBody>
      </p:sp>
      <p:sp>
        <p:nvSpPr>
          <p:cNvPr id="16" name="e-1">
            <a:extLst xmlns:a="http://schemas.openxmlformats.org/drawingml/2006/main">
              <a:ext uri="{FF2B5EF4-FFF2-40B4-BE49-F238E27FC236}">
                <a16:creationId xmlns:a16="http://schemas.microsoft.com/office/drawing/2014/main" id="{2AF19BB9-FF7E-4933-9F9C-CAA1FAF1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43350"/>
            <a:ext cx="3524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仍困惑的一点</a:t>
            </a:r>
          </a:p>
        </p:txBody>
      </p:sp>
      <p:sp>
        <p:nvSpPr>
          <p:cNvPr id="17" name="e-2">
            <a:extLst xmlns:a="http://schemas.openxmlformats.org/drawingml/2006/main">
              <a:ext uri="{FF2B5EF4-FFF2-40B4-BE49-F238E27FC236}">
                <a16:creationId xmlns:a16="http://schemas.microsoft.com/office/drawing/2014/main" id="{D3AB9375-F476-4CD3-A933-7A560BA8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43350"/>
            <a:ext cx="3524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追踪表三字段齐全？</a:t>
            </a:r>
          </a:p>
        </p:txBody>
      </p:sp>
      <p:sp>
        <p:nvSpPr>
          <p:cNvPr id="18" name="e-3">
            <a:extLst xmlns:a="http://schemas.openxmlformats.org/drawingml/2006/main">
              <a:ext uri="{FF2B5EF4-FFF2-40B4-BE49-F238E27FC236}">
                <a16:creationId xmlns:a16="http://schemas.microsoft.com/office/drawing/2014/main" id="{9292B9DF-77D4-4E70-959E-0A3965D9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3524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负向结果已写回？</a:t>
            </a:r>
          </a:p>
        </p:txBody>
      </p:sp>
      <p:sp>
        <p:nvSpPr>
          <p:cNvPr id="19" name="e-4">
            <a:extLst xmlns:a="http://schemas.openxmlformats.org/drawingml/2006/main">
              <a:ext uri="{FF2B5EF4-FFF2-40B4-BE49-F238E27FC236}">
                <a16:creationId xmlns:a16="http://schemas.microsoft.com/office/drawing/2014/main" id="{73AD9692-5EF7-4EC1-BF38-07657E80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0100"/>
            <a:ext cx="3524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披露失败字段具体？</a:t>
            </a:r>
          </a:p>
        </p:txBody>
      </p:sp>
      <p:sp>
        <p:nvSpPr>
          <p:cNvPr id="20" name="e-5">
            <a:extLst xmlns:a="http://schemas.openxmlformats.org/drawingml/2006/main">
              <a:ext uri="{FF2B5EF4-FFF2-40B4-BE49-F238E27FC236}">
                <a16:creationId xmlns:a16="http://schemas.microsoft.com/office/drawing/2014/main" id="{F9CF2F44-67AF-41EC-B390-92F878DA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3524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最可能不通过哪一项？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课后引导阅读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6" name="tag-0">
            <a:extLst xmlns:a="http://schemas.openxmlformats.org/drawingml/2006/main">
              <a:ext uri="{FF2B5EF4-FFF2-40B4-BE49-F238E27FC236}">
                <a16:creationId xmlns:a16="http://schemas.microsoft.com/office/drawing/2014/main" id="{F1D136C3-F421-4DC8-B397-30C34F52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核心｜约 35 分钟</a:t>
            </a:r>
          </a:p>
        </p:txBody>
      </p:sp>
      <p:sp>
        <p:nvSpPr>
          <p:cNvPr id="7" name="h-0">
            <a:extLst xmlns:a="http://schemas.openxmlformats.org/drawingml/2006/main">
              <a:ext uri="{FF2B5EF4-FFF2-40B4-BE49-F238E27FC236}">
                <a16:creationId xmlns:a16="http://schemas.microsoft.com/office/drawing/2014/main" id="{65FD66D8-608B-4D97-B50D-2C45BDFF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10490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Booth et al. Ch. 5 &amp; 7</a:t>
            </a:r>
          </a:p>
        </p:txBody>
      </p:sp>
      <p:sp>
        <p:nvSpPr>
          <p:cNvPr id="8" name="d-0">
            <a:extLst xmlns:a="http://schemas.openxmlformats.org/drawingml/2006/main">
              <a:ext uri="{FF2B5EF4-FFF2-40B4-BE49-F238E27FC236}">
                <a16:creationId xmlns:a16="http://schemas.microsoft.com/office/drawing/2014/main" id="{D04BAA1F-9CC1-4275-B55A-1B7BD83B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104900"/>
            <a:ext cx="41338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claim / reason / evidence / warrant / objection</a:t>
            </a:r>
          </a:p>
        </p:txBody>
      </p:sp>
      <p:sp>
        <p:nvSpPr>
          <p:cNvPr id="9" name="tag-1">
            <a:extLst xmlns:a="http://schemas.openxmlformats.org/drawingml/2006/main">
              <a:ext uri="{FF2B5EF4-FFF2-40B4-BE49-F238E27FC236}">
                <a16:creationId xmlns:a16="http://schemas.microsoft.com/office/drawing/2014/main" id="{8A9EAF4C-BEEF-4F6C-AA57-8489B304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任选｜约 15 分钟</a:t>
            </a:r>
          </a:p>
        </p:txBody>
      </p:sp>
      <p:sp>
        <p:nvSpPr>
          <p:cNvPr id="10" name="h-1">
            <a:extLst xmlns:a="http://schemas.openxmlformats.org/drawingml/2006/main">
              <a:ext uri="{FF2B5EF4-FFF2-40B4-BE49-F238E27FC236}">
                <a16:creationId xmlns:a16="http://schemas.microsoft.com/office/drawing/2014/main" id="{8317316B-1CCE-43E1-BE85-BE9E01A5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3360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Whitesides, Writing a Paper</a:t>
            </a:r>
          </a:p>
        </p:txBody>
      </p:sp>
      <p:sp>
        <p:nvSpPr>
          <p:cNvPr id="11" name="d-1">
            <a:extLst xmlns:a="http://schemas.openxmlformats.org/drawingml/2006/main">
              <a:ext uri="{FF2B5EF4-FFF2-40B4-BE49-F238E27FC236}">
                <a16:creationId xmlns:a16="http://schemas.microsoft.com/office/drawing/2014/main" id="{99085142-241E-4569-8E14-443ED09C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33600"/>
            <a:ext cx="41338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outline 与数据组织驱动写作</a:t>
            </a:r>
          </a:p>
        </p:txBody>
      </p:sp>
      <p:sp>
        <p:nvSpPr>
          <p:cNvPr id="12" name="tag-2">
            <a:extLst xmlns:a="http://schemas.openxmlformats.org/drawingml/2006/main">
              <a:ext uri="{FF2B5EF4-FFF2-40B4-BE49-F238E27FC236}">
                <a16:creationId xmlns:a16="http://schemas.microsoft.com/office/drawing/2014/main" id="{D25EC778-F578-4369-8455-0C330850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任选｜约 25 分钟</a:t>
            </a:r>
          </a:p>
        </p:txBody>
      </p:sp>
      <p:sp>
        <p:nvSpPr>
          <p:cNvPr id="13" name="h-2">
            <a:extLst xmlns:a="http://schemas.openxmlformats.org/drawingml/2006/main">
              <a:ext uri="{FF2B5EF4-FFF2-40B4-BE49-F238E27FC236}">
                <a16:creationId xmlns:a16="http://schemas.microsoft.com/office/drawing/2014/main" id="{BD6EF079-C4D1-40E3-AD7F-53A3CEBD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6230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Gopen &amp; Swan, Scientific Writing</a:t>
            </a:r>
          </a:p>
        </p:txBody>
      </p:sp>
      <p:sp>
        <p:nvSpPr>
          <p:cNvPr id="14" name="d-2">
            <a:extLst xmlns:a="http://schemas.openxmlformats.org/drawingml/2006/main">
              <a:ext uri="{FF2B5EF4-FFF2-40B4-BE49-F238E27FC236}">
                <a16:creationId xmlns:a16="http://schemas.microsoft.com/office/drawing/2014/main" id="{38D6F0A9-94C6-4C63-BAF1-E76A0D40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62300"/>
            <a:ext cx="41338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主题位、重音位与读者预期</a:t>
            </a:r>
          </a:p>
        </p:txBody>
      </p:sp>
      <p:sp>
        <p:nvSpPr>
          <p:cNvPr id="15" name="process">
            <a:extLst xmlns:a="http://schemas.openxmlformats.org/drawingml/2006/main">
              <a:ext uri="{FF2B5EF4-FFF2-40B4-BE49-F238E27FC236}">
                <a16:creationId xmlns:a16="http://schemas.microsoft.com/office/drawing/2014/main" id="{2CDD7212-AE69-46E7-B78A-FF5E324A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5800"/>
            <a:ext cx="9944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导航 → 原文核验 → AI 质疑 → 偏差审计 → 人工定稿</a:t>
            </a:r>
          </a:p>
        </p:txBody>
      </p:sp>
      <p:sp>
        <p:nvSpPr>
          <p:cNvPr id="16" name="close">
            <a:extLst xmlns:a="http://schemas.openxmlformats.org/drawingml/2006/main">
              <a:ext uri="{FF2B5EF4-FFF2-40B4-BE49-F238E27FC236}">
                <a16:creationId xmlns:a16="http://schemas.microsoft.com/office/drawing/2014/main" id="{7C744396-9C79-437E-B59C-BB10ABA3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0"/>
            <a:ext cx="1017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带到第 15 课：report.md 初版｜结论追踪表｜AI 使用披露段｜反馈处理表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2026-08-07T11:37:49.0720000Z</dcterms:created>
  <dcterms:modified xsi:type="dcterms:W3CDTF">2026-08-07T11:37:49.0720000Z</dcterms:modified>
</coreProperties>
</file>