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261ceafc6647ce" /><Relationship Type="http://schemas.openxmlformats.org/officeDocument/2006/relationships/extended-properties" Target="/docProps/app.xml" Id="R6502fc6baf3f4f0b" /><Relationship Type="http://schemas.openxmlformats.org/officeDocument/2006/relationships/officeDocument" Target="/ppt/presentation.xml" Id="R171ec224cf804a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795c4c03134404"/>
  </p:sldMasterIdLst>
  <p:notesMasterIdLst>
    <p:notesMasterId xmlns:r="http://schemas.openxmlformats.org/officeDocument/2006/relationships" r:id="Rc289f80d5ca549c1"/>
  </p:notesMasterIdLst>
  <p:sldIdLst>
    <p:sldId xmlns:r="http://schemas.openxmlformats.org/officeDocument/2006/relationships" id="256" r:id="R22369910395f4efc"/>
    <p:sldId xmlns:r="http://schemas.openxmlformats.org/officeDocument/2006/relationships" id="257" r:id="R45ed823e92e1435c"/>
    <p:sldId xmlns:r="http://schemas.openxmlformats.org/officeDocument/2006/relationships" id="258" r:id="Rce222f6df69648a6"/>
    <p:sldId xmlns:r="http://schemas.openxmlformats.org/officeDocument/2006/relationships" id="259" r:id="R78e1135599bf49d5"/>
    <p:sldId xmlns:r="http://schemas.openxmlformats.org/officeDocument/2006/relationships" id="260" r:id="Re372c68eed774af6"/>
    <p:sldId xmlns:r="http://schemas.openxmlformats.org/officeDocument/2006/relationships" id="261" r:id="Re0ef017d789f47e0"/>
    <p:sldId xmlns:r="http://schemas.openxmlformats.org/officeDocument/2006/relationships" id="262" r:id="Rd16694f2018a4775"/>
    <p:sldId xmlns:r="http://schemas.openxmlformats.org/officeDocument/2006/relationships" id="263" r:id="R9834daa8ce474194"/>
    <p:sldId xmlns:r="http://schemas.openxmlformats.org/officeDocument/2006/relationships" id="264" r:id="Raf8f87933a624f1e"/>
    <p:sldId xmlns:r="http://schemas.openxmlformats.org/officeDocument/2006/relationships" id="265" r:id="R7b4245a7200e4e73"/>
    <p:sldId xmlns:r="http://schemas.openxmlformats.org/officeDocument/2006/relationships" id="266" r:id="Raba17d9b870d44dd"/>
    <p:sldId xmlns:r="http://schemas.openxmlformats.org/officeDocument/2006/relationships" id="267" r:id="R41a52aa1eb124811"/>
    <p:sldId xmlns:r="http://schemas.openxmlformats.org/officeDocument/2006/relationships" id="268" r:id="R4d7b8bcc9c6140f3"/>
    <p:sldId xmlns:r="http://schemas.openxmlformats.org/officeDocument/2006/relationships" id="269" r:id="R1e592c34fb5f4610"/>
    <p:sldId xmlns:r="http://schemas.openxmlformats.org/officeDocument/2006/relationships" id="270" r:id="R556c02d38b294b36"/>
    <p:sldId xmlns:r="http://schemas.openxmlformats.org/officeDocument/2006/relationships" id="271" r:id="Rada41cab0a994273"/>
    <p:sldId xmlns:r="http://schemas.openxmlformats.org/officeDocument/2006/relationships" id="272" r:id="Rf6d1d4e317564530"/>
    <p:sldId xmlns:r="http://schemas.openxmlformats.org/officeDocument/2006/relationships" id="273" r:id="R03887bf968624e1e"/>
    <p:sldId xmlns:r="http://schemas.openxmlformats.org/officeDocument/2006/relationships" id="274" r:id="R4433ffd628024fc5"/>
    <p:sldId xmlns:r="http://schemas.openxmlformats.org/officeDocument/2006/relationships" id="275" r:id="R6d692001a05f4e6a"/>
    <p:sldId xmlns:r="http://schemas.openxmlformats.org/officeDocument/2006/relationships" id="276" r:id="Rfd278f639f6947c6"/>
    <p:sldId xmlns:r="http://schemas.openxmlformats.org/officeDocument/2006/relationships" id="277" r:id="R9c65cf3b203e40a8"/>
    <p:sldId xmlns:r="http://schemas.openxmlformats.org/officeDocument/2006/relationships" id="278" r:id="R4d6ad5b7c9df41c0"/>
    <p:sldId xmlns:r="http://schemas.openxmlformats.org/officeDocument/2006/relationships" id="279" r:id="Rb5dce7c1c73b4607"/>
    <p:sldId xmlns:r="http://schemas.openxmlformats.org/officeDocument/2006/relationships" id="280" r:id="R3f327c117bf747b4"/>
    <p:sldId xmlns:r="http://schemas.openxmlformats.org/officeDocument/2006/relationships" id="281" r:id="R2e8357345ecf4769"/>
    <p:sldId xmlns:r="http://schemas.openxmlformats.org/officeDocument/2006/relationships" id="282" r:id="Re6b8441fc72f431a"/>
    <p:sldId xmlns:r="http://schemas.openxmlformats.org/officeDocument/2006/relationships" id="283" r:id="Rf796fdae1c424bbb"/>
    <p:sldId xmlns:r="http://schemas.openxmlformats.org/officeDocument/2006/relationships" id="284" r:id="R1168044c865c49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59669db1c74de5" /><Relationship Type="http://schemas.openxmlformats.org/officeDocument/2006/relationships/slideMaster" Target="/ppt/slideMasters/slideMaster1.xml" Id="R65795c4c03134404" /><Relationship Type="http://schemas.openxmlformats.org/officeDocument/2006/relationships/notesMaster" Target="/ppt/notesMasters/notesMaster1.xml" Id="Rc289f80d5ca549c1" /><Relationship Type="http://schemas.openxmlformats.org/officeDocument/2006/relationships/presProps" Target="/ppt/presProps.xml" Id="R104b091c1265436e" /><Relationship Type="http://schemas.openxmlformats.org/officeDocument/2006/relationships/viewProps" Target="/ppt/viewProps.xml" Id="Rfffd42391bdd41f2" /><Relationship Type="http://schemas.openxmlformats.org/officeDocument/2006/relationships/tableStyles" Target="/ppt/tableStyles.xml" Id="R71933a63a89342c0" /><Relationship Type="http://schemas.openxmlformats.org/officeDocument/2006/relationships/slide" Target="/ppt/slides/slide1.xml" Id="R22369910395f4efc" /><Relationship Type="http://schemas.openxmlformats.org/officeDocument/2006/relationships/slide" Target="/ppt/slides/slide2.xml" Id="R45ed823e92e1435c" /><Relationship Type="http://schemas.openxmlformats.org/officeDocument/2006/relationships/slide" Target="/ppt/slides/slide3.xml" Id="Rce222f6df69648a6" /><Relationship Type="http://schemas.openxmlformats.org/officeDocument/2006/relationships/slide" Target="/ppt/slides/slide4.xml" Id="R78e1135599bf49d5" /><Relationship Type="http://schemas.openxmlformats.org/officeDocument/2006/relationships/slide" Target="/ppt/slides/slide5.xml" Id="Re372c68eed774af6" /><Relationship Type="http://schemas.openxmlformats.org/officeDocument/2006/relationships/slide" Target="/ppt/slides/slide6.xml" Id="Re0ef017d789f47e0" /><Relationship Type="http://schemas.openxmlformats.org/officeDocument/2006/relationships/slide" Target="/ppt/slides/slide7.xml" Id="Rd16694f2018a4775" /><Relationship Type="http://schemas.openxmlformats.org/officeDocument/2006/relationships/slide" Target="/ppt/slides/slide8.xml" Id="R9834daa8ce474194" /><Relationship Type="http://schemas.openxmlformats.org/officeDocument/2006/relationships/slide" Target="/ppt/slides/slide9.xml" Id="Raf8f87933a624f1e" /><Relationship Type="http://schemas.openxmlformats.org/officeDocument/2006/relationships/slide" Target="/ppt/slides/slide10.xml" Id="R7b4245a7200e4e73" /><Relationship Type="http://schemas.openxmlformats.org/officeDocument/2006/relationships/slide" Target="/ppt/slides/slide11.xml" Id="Raba17d9b870d44dd" /><Relationship Type="http://schemas.openxmlformats.org/officeDocument/2006/relationships/slide" Target="/ppt/slides/slide12.xml" Id="R41a52aa1eb124811" /><Relationship Type="http://schemas.openxmlformats.org/officeDocument/2006/relationships/slide" Target="/ppt/slides/slide13.xml" Id="R4d7b8bcc9c6140f3" /><Relationship Type="http://schemas.openxmlformats.org/officeDocument/2006/relationships/slide" Target="/ppt/slides/slide14.xml" Id="R1e592c34fb5f4610" /><Relationship Type="http://schemas.openxmlformats.org/officeDocument/2006/relationships/slide" Target="/ppt/slides/slide15.xml" Id="R556c02d38b294b36" /><Relationship Type="http://schemas.openxmlformats.org/officeDocument/2006/relationships/slide" Target="/ppt/slides/slide16.xml" Id="Rada41cab0a994273" /><Relationship Type="http://schemas.openxmlformats.org/officeDocument/2006/relationships/slide" Target="/ppt/slides/slide17.xml" Id="Rf6d1d4e317564530" /><Relationship Type="http://schemas.openxmlformats.org/officeDocument/2006/relationships/slide" Target="/ppt/slides/slide18.xml" Id="R03887bf968624e1e" /><Relationship Type="http://schemas.openxmlformats.org/officeDocument/2006/relationships/slide" Target="/ppt/slides/slide19.xml" Id="R4433ffd628024fc5" /><Relationship Type="http://schemas.openxmlformats.org/officeDocument/2006/relationships/slide" Target="/ppt/slides/slide20.xml" Id="R6d692001a05f4e6a" /><Relationship Type="http://schemas.openxmlformats.org/officeDocument/2006/relationships/slide" Target="/ppt/slides/slide21.xml" Id="Rfd278f639f6947c6" /><Relationship Type="http://schemas.openxmlformats.org/officeDocument/2006/relationships/slide" Target="/ppt/slides/slide22.xml" Id="R9c65cf3b203e40a8" /><Relationship Type="http://schemas.openxmlformats.org/officeDocument/2006/relationships/slide" Target="/ppt/slides/slide23.xml" Id="R4d6ad5b7c9df41c0" /><Relationship Type="http://schemas.openxmlformats.org/officeDocument/2006/relationships/slide" Target="/ppt/slides/slide24.xml" Id="Rb5dce7c1c73b4607" /><Relationship Type="http://schemas.openxmlformats.org/officeDocument/2006/relationships/slide" Target="/ppt/slides/slide25.xml" Id="R3f327c117bf747b4" /><Relationship Type="http://schemas.openxmlformats.org/officeDocument/2006/relationships/slide" Target="/ppt/slides/slide26.xml" Id="R2e8357345ecf4769" /><Relationship Type="http://schemas.openxmlformats.org/officeDocument/2006/relationships/slide" Target="/ppt/slides/slide27.xml" Id="Re6b8441fc72f431a" /><Relationship Type="http://schemas.openxmlformats.org/officeDocument/2006/relationships/slide" Target="/ppt/slides/slide28.xml" Id="Rf796fdae1c424bbb" /><Relationship Type="http://schemas.openxmlformats.org/officeDocument/2006/relationships/slide" Target="/ppt/slides/slide29.xml" Id="R1168044c865c49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de4f2b5cea49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d138a694474017" /><Relationship Type="http://schemas.openxmlformats.org/officeDocument/2006/relationships/notesMaster" Target="/ppt/notesMasters/notesMaster1.xml" Id="R52675c45013441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db7d61a3614d67" /><Relationship Type="http://schemas.openxmlformats.org/officeDocument/2006/relationships/notesMaster" Target="/ppt/notesMasters/notesMaster1.xml" Id="R464bc37baa9c49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4aff774428448e" /><Relationship Type="http://schemas.openxmlformats.org/officeDocument/2006/relationships/notesMaster" Target="/ppt/notesMasters/notesMaster1.xml" Id="Rce4fc593362a40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24a8733c71415d" /><Relationship Type="http://schemas.openxmlformats.org/officeDocument/2006/relationships/notesMaster" Target="/ppt/notesMasters/notesMaster1.xml" Id="Rb2b445c75a0348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8094af043647a8" /><Relationship Type="http://schemas.openxmlformats.org/officeDocument/2006/relationships/notesMaster" Target="/ppt/notesMasters/notesMaster1.xml" Id="R5ea2344e217f40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2573f999c44720" /><Relationship Type="http://schemas.openxmlformats.org/officeDocument/2006/relationships/notesMaster" Target="/ppt/notesMasters/notesMaster1.xml" Id="R0b837204ae9843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0332487df44d91" /><Relationship Type="http://schemas.openxmlformats.org/officeDocument/2006/relationships/notesMaster" Target="/ppt/notesMasters/notesMaster1.xml" Id="R1b4e10799b374a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0b7e014901468c" /><Relationship Type="http://schemas.openxmlformats.org/officeDocument/2006/relationships/notesMaster" Target="/ppt/notesMasters/notesMaster1.xml" Id="Rcd9f8ebb26f942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c87c7cd09d4ccf" /><Relationship Type="http://schemas.openxmlformats.org/officeDocument/2006/relationships/notesMaster" Target="/ppt/notesMasters/notesMaster1.xml" Id="R46408208c04f40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01bae5b4654788" /><Relationship Type="http://schemas.openxmlformats.org/officeDocument/2006/relationships/notesMaster" Target="/ppt/notesMasters/notesMaster1.xml" Id="R5a09f8ace89741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895ff1d91441ec" /><Relationship Type="http://schemas.openxmlformats.org/officeDocument/2006/relationships/notesMaster" Target="/ppt/notesMasters/notesMaster1.xml" Id="Rb5b075c5dc7c49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382f79c8254d8c" /><Relationship Type="http://schemas.openxmlformats.org/officeDocument/2006/relationships/notesMaster" Target="/ppt/notesMasters/notesMaster1.xml" Id="Rf7b4a8e8b11d4a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a5ab1214364ee8" /><Relationship Type="http://schemas.openxmlformats.org/officeDocument/2006/relationships/notesMaster" Target="/ppt/notesMasters/notesMaster1.xml" Id="R64770c5f568e47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f19085ee9b4366" /><Relationship Type="http://schemas.openxmlformats.org/officeDocument/2006/relationships/notesMaster" Target="/ppt/notesMasters/notesMaster1.xml" Id="R3fa0b7fdcea941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32597a5a1e4e9f" /><Relationship Type="http://schemas.openxmlformats.org/officeDocument/2006/relationships/notesMaster" Target="/ppt/notesMasters/notesMaster1.xml" Id="R91ce3ee938a444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ffaec045af4d2e" /><Relationship Type="http://schemas.openxmlformats.org/officeDocument/2006/relationships/notesMaster" Target="/ppt/notesMasters/notesMaster1.xml" Id="R7e1f1b2c870349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50f1bb378f4cbb" /><Relationship Type="http://schemas.openxmlformats.org/officeDocument/2006/relationships/notesMaster" Target="/ppt/notesMasters/notesMaster1.xml" Id="Ra1da4dcb5f6a4a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1609fbf2324a9a" /><Relationship Type="http://schemas.openxmlformats.org/officeDocument/2006/relationships/notesMaster" Target="/ppt/notesMasters/notesMaster1.xml" Id="Rb1945606dd5941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7cdb7976fe494e" /><Relationship Type="http://schemas.openxmlformats.org/officeDocument/2006/relationships/notesMaster" Target="/ppt/notesMasters/notesMaster1.xml" Id="Rb69fb6b7b71742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1ca6e3162f43aa" /><Relationship Type="http://schemas.openxmlformats.org/officeDocument/2006/relationships/notesMaster" Target="/ppt/notesMasters/notesMaster1.xml" Id="Read4c264f46846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85e9198f074ace" /><Relationship Type="http://schemas.openxmlformats.org/officeDocument/2006/relationships/notesMaster" Target="/ppt/notesMasters/notesMaster1.xml" Id="Rcbad277e17bd4b0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b16910e12e949a7" /><Relationship Type="http://schemas.openxmlformats.org/officeDocument/2006/relationships/notesMaster" Target="/ppt/notesMasters/notesMaster1.xml" Id="R9c3704b0d1144f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d3db17442bc4964" /><Relationship Type="http://schemas.openxmlformats.org/officeDocument/2006/relationships/notesMaster" Target="/ppt/notesMasters/notesMaster1.xml" Id="Rc471ef323dd24a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4d9719c48942c6" /><Relationship Type="http://schemas.openxmlformats.org/officeDocument/2006/relationships/notesMaster" Target="/ppt/notesMasters/notesMaster1.xml" Id="R97d48f3653bb423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67f2cade09b4ee7" /><Relationship Type="http://schemas.openxmlformats.org/officeDocument/2006/relationships/notesMaster" Target="/ppt/notesMasters/notesMaster1.xml" Id="R85224d1f0e4741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64de3adbda74229" /><Relationship Type="http://schemas.openxmlformats.org/officeDocument/2006/relationships/notesMaster" Target="/ppt/notesMasters/notesMaster1.xml" Id="Rd271022efc0c4de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f47eb9cac3d41bb" /><Relationship Type="http://schemas.openxmlformats.org/officeDocument/2006/relationships/notesMaster" Target="/ppt/notesMasters/notesMaster1.xml" Id="Ra8e30349dbf24e6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f07a4dcd6cb4fd9" /><Relationship Type="http://schemas.openxmlformats.org/officeDocument/2006/relationships/notesMaster" Target="/ppt/notesMasters/notesMaster1.xml" Id="R40d3757f1feb4e7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c8c1b3ea2ad4603" /><Relationship Type="http://schemas.openxmlformats.org/officeDocument/2006/relationships/notesMaster" Target="/ppt/notesMasters/notesMaster1.xml" Id="Rb9b03fd7d5ad4a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本课把科研伦理原则转成 Agent 可执行、研究者可检查的边界。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请学生选出自己最不确定的一项；本课为四个问题建立可执行结构。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lessons/lesson-01/slides.md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先投票，不先给标准答案；追问材料身份、授权、平台条款和替代方案。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Fictional classroom case; not formal peer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请学生指出 P03 最直接涉及哪两项价值。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https://doi.org/10.17226/21896 — NASEM, Fostering Integrity in Research, Chapter 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用三项要求重新判断 P03；授课前复核学校规范是否修订。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https://www.cas.cn/sygz/202409/t20240910_5031186.shtml</a:t>
            </a:r>
          </a:p>
          <a:p xmlns:a="http://schemas.openxmlformats.org/drawingml/2006/main">
            <a:r>
              <a:t>- https://soo.sjtu.edu.cn/upload/file/20250217/20250217162021.pdf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让学生把‘用 AI 分析数据’改写成一个可判断的具体动作。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P03 口头填写五个字段；控制必须改变实际边界。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把‘注意隐私后可以’改成两个可检查条件。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当前信息不足以授权全文上传；个人账户设置不等于项目处理授权。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https://www.cas.cn/sygz/202409/t20240910_5031186.shtml</a:t>
            </a:r>
          </a:p>
          <a:p xmlns:a="http://schemas.openxmlformats.org/drawingml/2006/main">
            <a:r>
              <a:t>- https://www.nature.com/nature-portfolio/editorial-policies/ai</a:t>
            </a:r>
          </a:p>
          <a:p xmlns:a="http://schemas.openxmlformats.org/drawingml/2006/main">
            <a:r>
              <a:t>- https://www.icmje.org/recommendations/browse/artificial-intelligence/ai-use-by-reviewers.html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区分测试工程行为与支撑经验结论；追问可用于区分的文件名或元数据。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https://www.cas.cn/sygz/202409/t20240910_5031186.shtml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结果出现后修改指标并非一律错误，但必须保留旧协议、说明原因并处理选择性报告风险。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控制必须在动作发生前进入工作流；披露不是万能补救。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先按动作定义边界，再沿四个维度逐项检查；平台菜单只是执行载体。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让学生删去一个当前任务不需要的权限；敏感材料不得默认外发。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https://web.mit.edu/Saltzer/www/publications/protection/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自动检索或长循环在 Context、工具、域名、数据或外部动作变化时应重新检查。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https://web.mit.edu/Saltzer/www/publications/protection/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多项条件防止一个错误判断直接产生不可逆后果。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https://web.mit.edu/Saltzer/www/publications/protection/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矩阵定义长期边界；人工在环只在改变研究判断、证据状态或外部世界的地方暂停。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course/starter-template.md</a:t>
            </a:r>
          </a:p>
          <a:p xmlns:a="http://schemas.openxmlformats.org/drawingml/2006/main">
            <a:r>
              <a:t>- https://www.anthropic.com/engineering/building-effective-agents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不应把上一任务的权限自动继承到下一任务。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目标不是选正确答案，而是逐项检查输出、确认点、禁止事项和核验方法。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Fictional configurations authored for classroom comparison.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文件存在不等于主张成熟；状态描述当前可用性，不是完成百分比。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course/starter-template.md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让学生为 AI 使用记录从 draft 到 review 给出一条充分依据。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没有来源、依据和后续用途，状态容易变成装饰标签。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course/starter-template.md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的完成报告也是待检查信息；实际文件、命令结果和外部状态优先。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course/starter-template.md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现场确认没有真实材料、私人路径和密钥；演示不访问网络。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Fictional demonstration task authored for this lesson.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运行后明确采用与拒绝，不要快速跳到写入；保留原始输出。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lessons/lesson-02/teaching-plan.md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逐项检查是否只改三个目标文件、是否出现未经批准的状态迁移、日志能否复原判断。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Fictional demonstration writeback and Git inspection command.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本页停留 23 分钟。课堂最低产出包含权限矩阵、确认与禁止、风险卡、AI 使用记录和至少一个早期工件追踪；四项追踪在第 3 课前补齐。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lessons/lesson-02/classroom-pack.md</a:t>
            </a:r>
          </a:p>
          <a:p xmlns:a="http://schemas.openxmlformats.org/drawingml/2006/main">
            <a:r>
              <a:t>- course/starter-template.md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不交换真实敏感内容，不共同修改项目；高风险外发应停止并按机构流程处理。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Formative peer feedback; not separately graded and not a group submission.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明确形成性任务与正式提交的区别；第 3 课联网检索会带来新来源、新条款和新记录。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course/reading-list.md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course/syllabus.md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834fd210d4357" /><Relationship Type="http://schemas.openxmlformats.org/officeDocument/2006/relationships/image" Target="/ppt/media/image.png" Id="R64d6fad5e9914002" /><Relationship Type="http://schemas.openxmlformats.org/officeDocument/2006/relationships/image" Target="/ppt/media/image2.png" Id="R72f41fc7d9fa44ae" /><Relationship Type="http://schemas.openxmlformats.org/officeDocument/2006/relationships/image" Target="/ppt/media/image3.png" Id="R4f25eb1c36734126" /><Relationship Type="http://schemas.openxmlformats.org/officeDocument/2006/relationships/image" Target="/ppt/media/image4.png" Id="R9358b3cfbe264e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087e6c15a44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c93ff229141e7" /><Relationship Type="http://schemas.openxmlformats.org/officeDocument/2006/relationships/image" Target="/ppt/media/image2.png" Id="R714d2ed00b43488a" /><Relationship Type="http://schemas.openxmlformats.org/officeDocument/2006/relationships/image" Target="/ppt/media/image5.png" Id="R83a1e1caae6a44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ea136bac748d9" /><Relationship Type="http://schemas.openxmlformats.org/officeDocument/2006/relationships/image" Target="/ppt/media/image.png" Id="R8fb1c529db0b462f" /><Relationship Type="http://schemas.openxmlformats.org/officeDocument/2006/relationships/image" Target="/ppt/media/image3.png" Id="Rd7c89d07f6664346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6fad5e991400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f41fc7d9fa44ae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25eb1c36734126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8b3cfbe264efa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4d2ed00b43488a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1e1caae6a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1c529db0b462f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c89d07f6664346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31bc696532402c" /><Relationship Type="http://schemas.openxmlformats.org/officeDocument/2006/relationships/slideLayout" Target="/ppt/slideLayouts/slideLayout1.xml" Id="R5c27e78f0d98446b" /><Relationship Type="http://schemas.openxmlformats.org/officeDocument/2006/relationships/slideLayout" Target="/ppt/slideLayouts/slideLayout2.xml" Id="Rbbc6dec2a0d14954" /><Relationship Type="http://schemas.openxmlformats.org/officeDocument/2006/relationships/slideLayout" Target="/ppt/slideLayouts/slideLayout3.xml" Id="R99c52669d97a4011" /><Relationship Type="http://schemas.openxmlformats.org/officeDocument/2006/relationships/slideLayout" Target="/ppt/slideLayouts/slideLayout4.xml" Id="Rdead2840a444471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27e78f0d98446b"/>
    <p:sldLayoutId xmlns:r="http://schemas.openxmlformats.org/officeDocument/2006/relationships" id="2147483650" r:id="Rbbc6dec2a0d14954"/>
    <p:sldLayoutId xmlns:r="http://schemas.openxmlformats.org/officeDocument/2006/relationships" id="2147483651" r:id="R99c52669d97a4011"/>
    <p:sldLayoutId xmlns:r="http://schemas.openxmlformats.org/officeDocument/2006/relationships" id="2147483652" r:id="Rdead2840a444471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0036464224fa5" /><Relationship Type="http://schemas.openxmlformats.org/officeDocument/2006/relationships/notesSlide" Target="/ppt/notesSlides/notesSlide1.xml" Id="R2ff445b1d16d4c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186e09e8c84a6b" /><Relationship Type="http://schemas.openxmlformats.org/officeDocument/2006/relationships/notesSlide" Target="/ppt/notesSlides/notesSlide2.xml" Id="R6f31aec7ce9641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603fda6fdf48b4" /><Relationship Type="http://schemas.openxmlformats.org/officeDocument/2006/relationships/notesSlide" Target="/ppt/notesSlides/notesSlide3.xml" Id="Rcc319749e3f04c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6ce0527c044832" /><Relationship Type="http://schemas.openxmlformats.org/officeDocument/2006/relationships/notesSlide" Target="/ppt/notesSlides/notesSlide4.xml" Id="R201a77655c7343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102959a1224107" /><Relationship Type="http://schemas.openxmlformats.org/officeDocument/2006/relationships/notesSlide" Target="/ppt/notesSlides/notesSlide5.xml" Id="R1e7241e86d284c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60825d2c13498e" /><Relationship Type="http://schemas.openxmlformats.org/officeDocument/2006/relationships/notesSlide" Target="/ppt/notesSlides/notesSlide6.xml" Id="Rd4ef89e1868543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be1330cc9a43d1" /><Relationship Type="http://schemas.openxmlformats.org/officeDocument/2006/relationships/notesSlide" Target="/ppt/notesSlides/notesSlide7.xml" Id="R0b96ed88194b4f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757a52d677448a" /><Relationship Type="http://schemas.openxmlformats.org/officeDocument/2006/relationships/notesSlide" Target="/ppt/notesSlides/notesSlide8.xml" Id="R16979f61e46b44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2e095e53f240c2" /><Relationship Type="http://schemas.openxmlformats.org/officeDocument/2006/relationships/notesSlide" Target="/ppt/notesSlides/notesSlide9.xml" Id="R78c1d57164a845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dab516886547a2" /><Relationship Type="http://schemas.openxmlformats.org/officeDocument/2006/relationships/notesSlide" Target="/ppt/notesSlides/notesSlide10.xml" Id="R47932c0c1da540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867dcc1f674170" /><Relationship Type="http://schemas.openxmlformats.org/officeDocument/2006/relationships/notesSlide" Target="/ppt/notesSlides/notesSlide11.xml" Id="R437af27f72914c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cf9d183f924248" /><Relationship Type="http://schemas.openxmlformats.org/officeDocument/2006/relationships/notesSlide" Target="/ppt/notesSlides/notesSlide12.xml" Id="Rb8d4c204c39945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343413adfb462a" /><Relationship Type="http://schemas.openxmlformats.org/officeDocument/2006/relationships/notesSlide" Target="/ppt/notesSlides/notesSlide13.xml" Id="R110e821d05f742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19061fdfab4620" /><Relationship Type="http://schemas.openxmlformats.org/officeDocument/2006/relationships/notesSlide" Target="/ppt/notesSlides/notesSlide14.xml" Id="R016427951d274cb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4e01ff38b043ea" /><Relationship Type="http://schemas.openxmlformats.org/officeDocument/2006/relationships/notesSlide" Target="/ppt/notesSlides/notesSlide15.xml" Id="Rfd427af1bb9747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193fceeccc4c7d" /><Relationship Type="http://schemas.openxmlformats.org/officeDocument/2006/relationships/notesSlide" Target="/ppt/notesSlides/notesSlide16.xml" Id="R47afc0a0280447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7440613490467e" /><Relationship Type="http://schemas.openxmlformats.org/officeDocument/2006/relationships/notesSlide" Target="/ppt/notesSlides/notesSlide17.xml" Id="R9f3004bcd0a84e2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dad4357f9e49a9" /><Relationship Type="http://schemas.openxmlformats.org/officeDocument/2006/relationships/notesSlide" Target="/ppt/notesSlides/notesSlide18.xml" Id="R41b5fa8ce8bc47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e5bda2f20f44952" /><Relationship Type="http://schemas.openxmlformats.org/officeDocument/2006/relationships/notesSlide" Target="/ppt/notesSlides/notesSlide19.xml" Id="R1faf6e2d799d4a1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b24d3542e8447b" /><Relationship Type="http://schemas.openxmlformats.org/officeDocument/2006/relationships/notesSlide" Target="/ppt/notesSlides/notesSlide20.xml" Id="Rea2b1277b4fa41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0c8f71a9428412d" /><Relationship Type="http://schemas.openxmlformats.org/officeDocument/2006/relationships/notesSlide" Target="/ppt/notesSlides/notesSlide21.xml" Id="R3b4fbe5220f046d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17f96f7f6cc4689" /><Relationship Type="http://schemas.openxmlformats.org/officeDocument/2006/relationships/notesSlide" Target="/ppt/notesSlides/notesSlide22.xml" Id="Rdb683d7c95bf40e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26baed00f04432" /><Relationship Type="http://schemas.openxmlformats.org/officeDocument/2006/relationships/notesSlide" Target="/ppt/notesSlides/notesSlide23.xml" Id="R14bc597e1c164bb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ab96c1b1c3453b" /><Relationship Type="http://schemas.openxmlformats.org/officeDocument/2006/relationships/notesSlide" Target="/ppt/notesSlides/notesSlide24.xml" Id="Ra8fbae084a5a4b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1052c563144c5d" /><Relationship Type="http://schemas.openxmlformats.org/officeDocument/2006/relationships/notesSlide" Target="/ppt/notesSlides/notesSlide25.xml" Id="R2ca6e46d41ca4e3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2ceadc125f4d2e" /><Relationship Type="http://schemas.openxmlformats.org/officeDocument/2006/relationships/notesSlide" Target="/ppt/notesSlides/notesSlide26.xml" Id="Rb023f3aff7284f3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998eb0f41f4cb3" /><Relationship Type="http://schemas.openxmlformats.org/officeDocument/2006/relationships/notesSlide" Target="/ppt/notesSlides/notesSlide27.xml" Id="R114bd1e6dee14ff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29b424d0564bd0" /><Relationship Type="http://schemas.openxmlformats.org/officeDocument/2006/relationships/notesSlide" Target="/ppt/notesSlides/notesSlide28.xml" Id="R4984fe701f46459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48f9d7ef8242a6" /><Relationship Type="http://schemas.openxmlformats.org/officeDocument/2006/relationships/notesSlide" Target="/ppt/notesSlides/notesSlide29.xml" Id="R12d97f4c7c1b49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619250" y="3790950"/>
            <a:ext cx="8953500" cy="165735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原则  →  风险判断  →  权限  →  人工确认  →  记录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效率不能替研究者决定哪些边界可以突破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8763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科研伦理、Agent 权限、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研究工件与追踪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第一课的受限交互仍留下四个问题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center">
            <a:extLst xmlns:a="http://schemas.openxmlformats.org/drawingml/2006/main">
              <a:ext uri="{FF2B5EF4-FFF2-40B4-BE49-F238E27FC236}">
                <a16:creationId xmlns:a16="http://schemas.microsoft.com/office/drawing/2014/main" id="{D7E829C3-87E8-46ED-A415-7558808D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9850"/>
            <a:ext cx="4686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 → 审核 → 写回 → 记录</a:t>
            </a:r>
          </a:p>
        </p:txBody>
      </p:sp>
      <p:sp>
        <p:nvSpPr>
          <p:cNvPr id="7" name="p02-q-0">
            <a:extLst xmlns:a="http://schemas.openxmlformats.org/drawingml/2006/main">
              <a:ext uri="{FF2B5EF4-FFF2-40B4-BE49-F238E27FC236}">
                <a16:creationId xmlns:a16="http://schemas.microsoft.com/office/drawing/2014/main" id="{C94EDA83-C5B0-4F83-8D9A-F9E1F42A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3695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什么材料可以进入 Context？</a:t>
            </a:r>
          </a:p>
        </p:txBody>
      </p:sp>
      <p:sp>
        <p:nvSpPr>
          <p:cNvPr id="8" name="p02-q-1">
            <a:extLst xmlns:a="http://schemas.openxmlformats.org/drawingml/2006/main">
              <a:ext uri="{FF2B5EF4-FFF2-40B4-BE49-F238E27FC236}">
                <a16:creationId xmlns:a16="http://schemas.microsoft.com/office/drawing/2014/main" id="{394B48BB-B499-4BA2-A42E-80D72B2D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57300"/>
            <a:ext cx="3695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哪些动作需要人工确认？</a:t>
            </a:r>
          </a:p>
        </p:txBody>
      </p:sp>
      <p:sp>
        <p:nvSpPr>
          <p:cNvPr id="9" name="p02-q-2">
            <a:extLst xmlns:a="http://schemas.openxmlformats.org/drawingml/2006/main">
              <a:ext uri="{FF2B5EF4-FFF2-40B4-BE49-F238E27FC236}">
                <a16:creationId xmlns:a16="http://schemas.microsoft.com/office/drawing/2014/main" id="{1A6FC9D2-192D-4B95-8A03-645A6567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695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谁能改变工件状态？</a:t>
            </a:r>
          </a:p>
        </p:txBody>
      </p:sp>
      <p:sp>
        <p:nvSpPr>
          <p:cNvPr id="10" name="p02-q-3">
            <a:extLst xmlns:a="http://schemas.openxmlformats.org/drawingml/2006/main">
              <a:ext uri="{FF2B5EF4-FFF2-40B4-BE49-F238E27FC236}">
                <a16:creationId xmlns:a16="http://schemas.microsoft.com/office/drawing/2014/main" id="{008916BF-EFF1-4B0E-AB2F-ABB8DC19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29100"/>
            <a:ext cx="3695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怎样证明实际发生了什么？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案例：可以把未公开合作稿交给外部模型吗？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fiction">
            <a:extLst xmlns:a="http://schemas.openxmlformats.org/drawingml/2006/main">
              <a:ext uri="{FF2B5EF4-FFF2-40B4-BE49-F238E27FC236}">
                <a16:creationId xmlns:a16="http://schemas.microsoft.com/office/drawing/2014/main" id="{E1A3973A-4D11-493F-B7BF-4A61B1F5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684"/>
                </a:solidFill>
              </a:defRPr>
            </a:pPr>
            <a:r>
              <a:rPr sz="12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虚构案例</a:t>
            </a:r>
          </a:p>
        </p:txBody>
      </p:sp>
      <p:sp>
        <p:nvSpPr>
          <p:cNvPr id="7" name="p03-case">
            <a:extLst xmlns:a="http://schemas.openxmlformats.org/drawingml/2006/main">
              <a:ext uri="{FF2B5EF4-FFF2-40B4-BE49-F238E27FC236}">
                <a16:creationId xmlns:a16="http://schemas.microsoft.com/office/drawing/2014/main" id="{782E38E6-BE28-40A2-B6F4-D4067A59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61531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100" b="1">
                <a:solidFill>
                  <a:srgbClr val="263746"/>
                </a:solidFill>
              </a:defRPr>
            </a:pPr>
            <a:r>
              <a:rPr sz="21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你是共同作者。能否把尚未投稿的合作论文上传到个人订阅的外部模型，生成内部模拟审稿意见？</a:t>
            </a:r>
          </a:p>
        </p:txBody>
      </p:sp>
      <p:sp>
        <p:nvSpPr>
          <p:cNvPr id="8" name="p03-choice-0">
            <a:extLst xmlns:a="http://schemas.openxmlformats.org/drawingml/2006/main">
              <a:ext uri="{FF2B5EF4-FFF2-40B4-BE49-F238E27FC236}">
                <a16:creationId xmlns:a16="http://schemas.microsoft.com/office/drawing/2014/main" id="{50B70191-AF28-48A8-B25F-7C421DC4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09700"/>
            <a:ext cx="3371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8745A"/>
                </a:solidFill>
              </a:defRPr>
            </a:pPr>
            <a:r>
              <a:rPr sz="21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允许</a:t>
            </a:r>
          </a:p>
        </p:txBody>
      </p:sp>
      <p:sp>
        <p:nvSpPr>
          <p:cNvPr id="9" name="p03-choice-1">
            <a:extLst xmlns:a="http://schemas.openxmlformats.org/drawingml/2006/main">
              <a:ext uri="{FF2B5EF4-FFF2-40B4-BE49-F238E27FC236}">
                <a16:creationId xmlns:a16="http://schemas.microsoft.com/office/drawing/2014/main" id="{8E7CC496-B3D5-4B8D-AF68-7DEB733C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3371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86C12"/>
                </a:solidFill>
              </a:defRPr>
            </a:pPr>
            <a:r>
              <a:rPr sz="210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有条件允许</a:t>
            </a:r>
          </a:p>
        </p:txBody>
      </p:sp>
      <p:sp>
        <p:nvSpPr>
          <p:cNvPr id="10" name="p03-choice-2">
            <a:extLst xmlns:a="http://schemas.openxmlformats.org/drawingml/2006/main">
              <a:ext uri="{FF2B5EF4-FFF2-40B4-BE49-F238E27FC236}">
                <a16:creationId xmlns:a16="http://schemas.microsoft.com/office/drawing/2014/main" id="{D1A194D5-B20A-4C2D-AFBA-A81DA984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10000"/>
            <a:ext cx="3371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11" name="p03-action">
            <a:extLst xmlns:a="http://schemas.openxmlformats.org/drawingml/2006/main">
              <a:ext uri="{FF2B5EF4-FFF2-40B4-BE49-F238E27FC236}">
                <a16:creationId xmlns:a16="http://schemas.microsoft.com/office/drawing/2014/main" id="{EFBE04C2-0CFC-4B04-97B3-79350E19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14900"/>
            <a:ext cx="925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个人投票后，两人交换一个决定性理由。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科研诚信要求的不只是“不造假”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en-0">
            <a:extLst xmlns:a="http://schemas.openxmlformats.org/drawingml/2006/main">
              <a:ext uri="{FF2B5EF4-FFF2-40B4-BE49-F238E27FC236}">
                <a16:creationId xmlns:a16="http://schemas.microsoft.com/office/drawing/2014/main" id="{DD9FE4A1-CB45-44C1-A22A-70C9F5D9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Objectivity</a:t>
            </a:r>
          </a:p>
        </p:txBody>
      </p:sp>
      <p:sp>
        <p:nvSpPr>
          <p:cNvPr id="7" name="p04-zh-0">
            <a:extLst xmlns:a="http://schemas.openxmlformats.org/drawingml/2006/main">
              <a:ext uri="{FF2B5EF4-FFF2-40B4-BE49-F238E27FC236}">
                <a16:creationId xmlns:a16="http://schemas.microsoft.com/office/drawing/2014/main" id="{7B836E36-7D17-4654-B037-4B5806C7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684"/>
                </a:solidFill>
              </a:defRPr>
            </a:pPr>
            <a:r>
              <a: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客观</a:t>
            </a:r>
          </a:p>
        </p:txBody>
      </p:sp>
      <p:sp>
        <p:nvSpPr>
          <p:cNvPr id="8" name="p04-en-1">
            <a:extLst xmlns:a="http://schemas.openxmlformats.org/drawingml/2006/main">
              <a:ext uri="{FF2B5EF4-FFF2-40B4-BE49-F238E27FC236}">
                <a16:creationId xmlns:a16="http://schemas.microsoft.com/office/drawing/2014/main" id="{821EBD08-E853-4A6E-A0F3-1353FB69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Honesty</a:t>
            </a:r>
          </a:p>
        </p:txBody>
      </p:sp>
      <p:sp>
        <p:nvSpPr>
          <p:cNvPr id="9" name="p04-zh-1">
            <a:extLst xmlns:a="http://schemas.openxmlformats.org/drawingml/2006/main">
              <a:ext uri="{FF2B5EF4-FFF2-40B4-BE49-F238E27FC236}">
                <a16:creationId xmlns:a16="http://schemas.microsoft.com/office/drawing/2014/main" id="{682E88CB-9C8C-4EB8-82D7-A22542DC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684"/>
                </a:solidFill>
              </a:defRPr>
            </a:pPr>
            <a:r>
              <a: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诚实</a:t>
            </a:r>
          </a:p>
        </p:txBody>
      </p:sp>
      <p:sp>
        <p:nvSpPr>
          <p:cNvPr id="10" name="p04-en-2">
            <a:extLst xmlns:a="http://schemas.openxmlformats.org/drawingml/2006/main">
              <a:ext uri="{FF2B5EF4-FFF2-40B4-BE49-F238E27FC236}">
                <a16:creationId xmlns:a16="http://schemas.microsoft.com/office/drawing/2014/main" id="{A0B8A388-B89A-44C3-8941-3946388B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525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Openness</a:t>
            </a:r>
          </a:p>
        </p:txBody>
      </p:sp>
      <p:sp>
        <p:nvSpPr>
          <p:cNvPr id="11" name="p04-zh-2">
            <a:extLst xmlns:a="http://schemas.openxmlformats.org/drawingml/2006/main">
              <a:ext uri="{FF2B5EF4-FFF2-40B4-BE49-F238E27FC236}">
                <a16:creationId xmlns:a16="http://schemas.microsoft.com/office/drawing/2014/main" id="{B34480CB-9EB6-48FB-9D43-0CA08540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684"/>
                </a:solidFill>
              </a:defRPr>
            </a:pPr>
            <a:r>
              <a: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开放</a:t>
            </a:r>
          </a:p>
        </p:txBody>
      </p:sp>
      <p:sp>
        <p:nvSpPr>
          <p:cNvPr id="12" name="p04-en-3">
            <a:extLst xmlns:a="http://schemas.openxmlformats.org/drawingml/2006/main">
              <a:ext uri="{FF2B5EF4-FFF2-40B4-BE49-F238E27FC236}">
                <a16:creationId xmlns:a16="http://schemas.microsoft.com/office/drawing/2014/main" id="{1B7A5F2B-FD5B-41BB-B71A-B085AB25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Fairness</a:t>
            </a:r>
          </a:p>
        </p:txBody>
      </p:sp>
      <p:sp>
        <p:nvSpPr>
          <p:cNvPr id="13" name="p04-zh-3">
            <a:extLst xmlns:a="http://schemas.openxmlformats.org/drawingml/2006/main">
              <a:ext uri="{FF2B5EF4-FFF2-40B4-BE49-F238E27FC236}">
                <a16:creationId xmlns:a16="http://schemas.microsoft.com/office/drawing/2014/main" id="{77379DD1-78F1-4305-9831-B6FDAC0E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684"/>
                </a:solidFill>
              </a:defRPr>
            </a:pPr>
            <a:r>
              <a: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公平</a:t>
            </a:r>
          </a:p>
        </p:txBody>
      </p:sp>
      <p:sp>
        <p:nvSpPr>
          <p:cNvPr id="14" name="p04-en-4">
            <a:extLst xmlns:a="http://schemas.openxmlformats.org/drawingml/2006/main">
              <a:ext uri="{FF2B5EF4-FFF2-40B4-BE49-F238E27FC236}">
                <a16:creationId xmlns:a16="http://schemas.microsoft.com/office/drawing/2014/main" id="{D2BD8792-380C-4D91-9463-85A1DDC8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5" name="p04-zh-4">
            <a:extLst xmlns:a="http://schemas.openxmlformats.org/drawingml/2006/main">
              <a:ext uri="{FF2B5EF4-FFF2-40B4-BE49-F238E27FC236}">
                <a16:creationId xmlns:a16="http://schemas.microsoft.com/office/drawing/2014/main" id="{10637977-A6C8-4D6F-9F28-33743089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684"/>
                </a:solidFill>
              </a:defRPr>
            </a:pPr>
            <a:r>
              <a: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问责</a:t>
            </a:r>
          </a:p>
        </p:txBody>
      </p:sp>
      <p:sp>
        <p:nvSpPr>
          <p:cNvPr id="16" name="p04-en-5">
            <a:extLst xmlns:a="http://schemas.openxmlformats.org/drawingml/2006/main">
              <a:ext uri="{FF2B5EF4-FFF2-40B4-BE49-F238E27FC236}">
                <a16:creationId xmlns:a16="http://schemas.microsoft.com/office/drawing/2014/main" id="{CF23D1CB-57C8-461E-8959-52DADB42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Stewardship</a:t>
            </a:r>
          </a:p>
        </p:txBody>
      </p:sp>
      <p:sp>
        <p:nvSpPr>
          <p:cNvPr id="17" name="p04-zh-5">
            <a:extLst xmlns:a="http://schemas.openxmlformats.org/drawingml/2006/main">
              <a:ext uri="{FF2B5EF4-FFF2-40B4-BE49-F238E27FC236}">
                <a16:creationId xmlns:a16="http://schemas.microsoft.com/office/drawing/2014/main" id="{C9B970EE-6031-4371-A29B-DD046ADF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684"/>
                </a:solidFill>
              </a:defRPr>
            </a:pPr>
            <a:r>
              <a: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守护责任</a:t>
            </a:r>
          </a:p>
        </p:txBody>
      </p:sp>
      <p:sp>
        <p:nvSpPr>
          <p:cNvPr id="18" name="p04-bottom">
            <a:extLst xmlns:a="http://schemas.openxmlformats.org/drawingml/2006/main">
              <a:ext uri="{FF2B5EF4-FFF2-40B4-BE49-F238E27FC236}">
                <a16:creationId xmlns:a16="http://schemas.microsoft.com/office/drawing/2014/main" id="{1119807A-9BD7-4A23-8CB1-76F88401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研究诚信贯穿每一步，而不是结果出来后的声明。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规范可以归结为核验、披露和保护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a-title">
            <a:extLst xmlns:a="http://schemas.openxmlformats.org/drawingml/2006/main">
              <a:ext uri="{FF2B5EF4-FFF2-40B4-BE49-F238E27FC236}">
                <a16:creationId xmlns:a16="http://schemas.microsoft.com/office/drawing/2014/main" id="{3027DB17-6EB7-4B82-83DF-5C2D86C9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38A"/>
                </a:solidFill>
              </a:defRPr>
            </a:pPr>
            <a:r>
              <a:rPr sz="180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核验</a:t>
            </a:r>
          </a:p>
        </p:txBody>
      </p:sp>
      <p:sp>
        <p:nvSpPr>
          <p:cNvPr id="7" name="p05-a-body">
            <a:extLst xmlns:a="http://schemas.openxmlformats.org/drawingml/2006/main">
              <a:ext uri="{FF2B5EF4-FFF2-40B4-BE49-F238E27FC236}">
                <a16:creationId xmlns:a16="http://schemas.microsoft.com/office/drawing/2014/main" id="{3A36F529-C1A9-4B9C-8290-FF8DA540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3276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生成内容不能未经核实直接使用</a:t>
            </a:r>
          </a:p>
        </p:txBody>
      </p:sp>
      <p:sp>
        <p:nvSpPr>
          <p:cNvPr id="8" name="p05-b-title">
            <a:extLst xmlns:a="http://schemas.openxmlformats.org/drawingml/2006/main">
              <a:ext uri="{FF2B5EF4-FFF2-40B4-BE49-F238E27FC236}">
                <a16:creationId xmlns:a16="http://schemas.microsoft.com/office/drawing/2014/main" id="{529A6BA4-6DE5-4973-AE69-3837D212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287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86C12"/>
                </a:solidFill>
              </a:defRPr>
            </a:pPr>
            <a:r>
              <a:rPr sz="180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披露</a:t>
            </a:r>
          </a:p>
        </p:txBody>
      </p:sp>
      <p:sp>
        <p:nvSpPr>
          <p:cNvPr id="9" name="p05-b-body">
            <a:extLst xmlns:a="http://schemas.openxmlformats.org/drawingml/2006/main">
              <a:ext uri="{FF2B5EF4-FFF2-40B4-BE49-F238E27FC236}">
                <a16:creationId xmlns:a16="http://schemas.microsoft.com/office/drawing/2014/main" id="{57EF0C8B-05BE-4A84-8D0D-6BBD5F7F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3276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工具、版本、日期和过程如实记录</a:t>
            </a:r>
          </a:p>
        </p:txBody>
      </p:sp>
      <p:sp>
        <p:nvSpPr>
          <p:cNvPr id="10" name="p05-c-title">
            <a:extLst xmlns:a="http://schemas.openxmlformats.org/drawingml/2006/main">
              <a:ext uri="{FF2B5EF4-FFF2-40B4-BE49-F238E27FC236}">
                <a16:creationId xmlns:a16="http://schemas.microsoft.com/office/drawing/2014/main" id="{2B92B883-7F08-431B-8994-FE7657B9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287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保护</a:t>
            </a:r>
          </a:p>
        </p:txBody>
      </p:sp>
      <p:sp>
        <p:nvSpPr>
          <p:cNvPr id="11" name="p05-c-body">
            <a:extLst xmlns:a="http://schemas.openxmlformats.org/drawingml/2006/main">
              <a:ext uri="{FF2B5EF4-FFF2-40B4-BE49-F238E27FC236}">
                <a16:creationId xmlns:a16="http://schemas.microsoft.com/office/drawing/2014/main" id="{ECBAA8C4-233F-4DA7-AB40-E31D44DB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3276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评审、隐私、数据和知识产权不因便利而泄露</a:t>
            </a:r>
          </a:p>
        </p:txBody>
      </p:sp>
      <p:sp>
        <p:nvSpPr>
          <p:cNvPr id="12" name="p05-map">
            <a:extLst xmlns:a="http://schemas.openxmlformats.org/drawingml/2006/main">
              <a:ext uri="{FF2B5EF4-FFF2-40B4-BE49-F238E27FC236}">
                <a16:creationId xmlns:a16="http://schemas.microsoft.com/office/drawing/2014/main" id="{D1EFDFAB-5A95-4ECC-9960-0BE3DFD1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9982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校级四分类 → 任务级三档：限制 = 有条件允许；鼓励 / 开放仍服从授权、课程要求与披露责任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风险来自“对象 × 动作 × 情境”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old">
            <a:extLst xmlns:a="http://schemas.openxmlformats.org/drawingml/2006/main">
              <a:ext uri="{FF2B5EF4-FFF2-40B4-BE49-F238E27FC236}">
                <a16:creationId xmlns:a16="http://schemas.microsoft.com/office/drawing/2014/main" id="{FD8CAE97-6367-4AED-807A-3FF16D92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428750"/>
            <a:ext cx="7886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7684"/>
                </a:solidFill>
              </a:defRPr>
            </a:pPr>
            <a:r>
              <a:rPr sz="255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“使用 AI 是否合规？”</a:t>
            </a:r>
          </a:p>
        </p:txBody>
      </p:sp>
      <p:sp>
        <p:nvSpPr>
          <p:cNvPr id="7" name="p06-strike">
            <a:extLst xmlns:a="http://schemas.openxmlformats.org/drawingml/2006/main">
              <a:ext uri="{FF2B5EF4-FFF2-40B4-BE49-F238E27FC236}">
                <a16:creationId xmlns:a16="http://schemas.microsoft.com/office/drawing/2014/main" id="{863BAD0C-5392-4643-850A-3DDAFF34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1824038"/>
            <a:ext cx="647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06-vs">
            <a:extLst xmlns:a="http://schemas.openxmlformats.org/drawingml/2006/main">
              <a:ext uri="{FF2B5EF4-FFF2-40B4-BE49-F238E27FC236}">
                <a16:creationId xmlns:a16="http://schemas.microsoft.com/office/drawing/2014/main" id="{2D754590-DB9F-4296-A711-8983BAF4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而要问</a:t>
            </a:r>
          </a:p>
        </p:txBody>
      </p:sp>
      <p:sp>
        <p:nvSpPr>
          <p:cNvPr id="9" name="p06-new">
            <a:extLst xmlns:a="http://schemas.openxmlformats.org/drawingml/2006/main">
              <a:ext uri="{FF2B5EF4-FFF2-40B4-BE49-F238E27FC236}">
                <a16:creationId xmlns:a16="http://schemas.microsoft.com/office/drawing/2014/main" id="{1D8F899F-6D2E-472D-A1F3-BD90AE1C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876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700" b="1">
                <a:solidFill>
                  <a:srgbClr val="18354E"/>
                </a:solidFill>
              </a:defRPr>
            </a:pPr>
            <a:r>
              <a:rPr sz="27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谁，对什么对象，执行什么动作，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2700" b="1">
                <a:solidFill>
                  <a:srgbClr val="18354E"/>
                </a:solidFill>
              </a:defRPr>
            </a:pPr>
            <a:r>
              <a:rPr sz="27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可能造成什么后果？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五字段把伦理担忧变成可执行判断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a-0">
            <a:extLst xmlns:a="http://schemas.openxmlformats.org/drawingml/2006/main">
              <a:ext uri="{FF2B5EF4-FFF2-40B4-BE49-F238E27FC236}">
                <a16:creationId xmlns:a16="http://schemas.microsoft.com/office/drawing/2014/main" id="{16CD707F-3643-42FC-B3A6-E44DF916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574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684"/>
                </a:solidFill>
              </a:defRPr>
            </a:pPr>
            <a:r>
              <a:rPr sz="210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07-en-0">
            <a:extLst xmlns:a="http://schemas.openxmlformats.org/drawingml/2006/main">
              <a:ext uri="{FF2B5EF4-FFF2-40B4-BE49-F238E27FC236}">
                <a16:creationId xmlns:a16="http://schemas.microsoft.com/office/drawing/2014/main" id="{7B858846-F0DC-4345-8370-33B43865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Asset</a:t>
            </a:r>
          </a:p>
        </p:txBody>
      </p:sp>
      <p:sp>
        <p:nvSpPr>
          <p:cNvPr id="8" name="p07-zh-0">
            <a:extLst xmlns:a="http://schemas.openxmlformats.org/drawingml/2006/main">
              <a:ext uri="{FF2B5EF4-FFF2-40B4-BE49-F238E27FC236}">
                <a16:creationId xmlns:a16="http://schemas.microsoft.com/office/drawing/2014/main" id="{01980BEB-F7F3-419A-BDC1-940DD0C5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63746"/>
                </a:solidFill>
              </a:defRPr>
            </a:pPr>
            <a:r>
              <a:rPr sz="21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9" name="p07-a-1">
            <a:extLst xmlns:a="http://schemas.openxmlformats.org/drawingml/2006/main">
              <a:ext uri="{FF2B5EF4-FFF2-40B4-BE49-F238E27FC236}">
                <a16:creationId xmlns:a16="http://schemas.microsoft.com/office/drawing/2014/main" id="{5E81E814-6A37-486E-8F0A-D846B38F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574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684"/>
                </a:solidFill>
              </a:defRPr>
            </a:pPr>
            <a:r>
              <a:rPr sz="210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07-en-1">
            <a:extLst xmlns:a="http://schemas.openxmlformats.org/drawingml/2006/main">
              <a:ext uri="{FF2B5EF4-FFF2-40B4-BE49-F238E27FC236}">
                <a16:creationId xmlns:a16="http://schemas.microsoft.com/office/drawing/2014/main" id="{4128296B-409E-4D96-BE33-34F7C465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28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1" name="p07-zh-1">
            <a:extLst xmlns:a="http://schemas.openxmlformats.org/drawingml/2006/main">
              <a:ext uri="{FF2B5EF4-FFF2-40B4-BE49-F238E27FC236}">
                <a16:creationId xmlns:a16="http://schemas.microsoft.com/office/drawing/2014/main" id="{2B66CD50-84F4-40C0-8687-9B03FF7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193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63746"/>
                </a:solidFill>
              </a:defRPr>
            </a:pPr>
            <a:r>
              <a:rPr sz="21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12" name="p07-a-2">
            <a:extLst xmlns:a="http://schemas.openxmlformats.org/drawingml/2006/main">
              <a:ext uri="{FF2B5EF4-FFF2-40B4-BE49-F238E27FC236}">
                <a16:creationId xmlns:a16="http://schemas.microsoft.com/office/drawing/2014/main" id="{6C1DC462-22C1-4A86-B631-A170C398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684"/>
                </a:solidFill>
              </a:defRPr>
            </a:pPr>
            <a:r>
              <a:rPr sz="210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07-en-2">
            <a:extLst xmlns:a="http://schemas.openxmlformats.org/drawingml/2006/main">
              <a:ext uri="{FF2B5EF4-FFF2-40B4-BE49-F238E27FC236}">
                <a16:creationId xmlns:a16="http://schemas.microsoft.com/office/drawing/2014/main" id="{C3AE6A02-7F82-4741-A9A8-1E7B5D67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28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4" name="p07-zh-2">
            <a:extLst xmlns:a="http://schemas.openxmlformats.org/drawingml/2006/main">
              <a:ext uri="{FF2B5EF4-FFF2-40B4-BE49-F238E27FC236}">
                <a16:creationId xmlns:a16="http://schemas.microsoft.com/office/drawing/2014/main" id="{A61560C2-2AB9-4A78-9D11-30C7376C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193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63746"/>
                </a:solidFill>
              </a:defRPr>
            </a:pPr>
            <a:r>
              <a:rPr sz="21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5" name="p07-a-3">
            <a:extLst xmlns:a="http://schemas.openxmlformats.org/drawingml/2006/main">
              <a:ext uri="{FF2B5EF4-FFF2-40B4-BE49-F238E27FC236}">
                <a16:creationId xmlns:a16="http://schemas.microsoft.com/office/drawing/2014/main" id="{21AE2B92-4288-4FB8-8335-213955B7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574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684"/>
                </a:solidFill>
              </a:defRPr>
            </a:pPr>
            <a:r>
              <a:rPr sz="210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p07-en-3">
            <a:extLst xmlns:a="http://schemas.openxmlformats.org/drawingml/2006/main">
              <a:ext uri="{FF2B5EF4-FFF2-40B4-BE49-F238E27FC236}">
                <a16:creationId xmlns:a16="http://schemas.microsoft.com/office/drawing/2014/main" id="{ED4D7636-1461-43D5-8A2D-67432C75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28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7" name="p07-zh-3">
            <a:extLst xmlns:a="http://schemas.openxmlformats.org/drawingml/2006/main">
              <a:ext uri="{FF2B5EF4-FFF2-40B4-BE49-F238E27FC236}">
                <a16:creationId xmlns:a16="http://schemas.microsoft.com/office/drawing/2014/main" id="{8E08E0C7-D65D-4AB2-B3DE-09E8F676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63746"/>
                </a:solidFill>
              </a:defRPr>
            </a:pPr>
            <a:r>
              <a:rPr sz="21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8" name="p07-en-4">
            <a:extLst xmlns:a="http://schemas.openxmlformats.org/drawingml/2006/main">
              <a:ext uri="{FF2B5EF4-FFF2-40B4-BE49-F238E27FC236}">
                <a16:creationId xmlns:a16="http://schemas.microsoft.com/office/drawing/2014/main" id="{7EAF0F07-7329-4430-80C3-BDE3ADE0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28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9" name="p07-zh-4">
            <a:extLst xmlns:a="http://schemas.openxmlformats.org/drawingml/2006/main">
              <a:ext uri="{FF2B5EF4-FFF2-40B4-BE49-F238E27FC236}">
                <a16:creationId xmlns:a16="http://schemas.microsoft.com/office/drawing/2014/main" id="{3D2FB52E-EF21-4ED2-BCE8-DD1B8A72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193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责任人</a:t>
            </a:r>
          </a:p>
        </p:txBody>
      </p:sp>
      <p:sp>
        <p:nvSpPr>
          <p:cNvPr id="20" name="p07-return">
            <a:extLst xmlns:a="http://schemas.openxmlformats.org/drawingml/2006/main">
              <a:ext uri="{FF2B5EF4-FFF2-40B4-BE49-F238E27FC236}">
                <a16:creationId xmlns:a16="http://schemas.microsoft.com/office/drawing/2014/main" id="{9EA4A7A6-A2D8-4872-B3BC-D42BA963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857500" y="3733800"/>
            <a:ext cx="767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07-return-label">
            <a:extLst xmlns:a="http://schemas.openxmlformats.org/drawingml/2006/main">
              <a:ext uri="{FF2B5EF4-FFF2-40B4-BE49-F238E27FC236}">
                <a16:creationId xmlns:a16="http://schemas.microsoft.com/office/drawing/2014/main" id="{A4735084-1316-42C2-A554-9B466485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Owner 对 Action 负责，并决定是否继续</a:t>
            </a:r>
          </a:p>
        </p:txBody>
      </p:sp>
      <p:sp>
        <p:nvSpPr>
          <p:cNvPr id="22" name="p07-bottom">
            <a:extLst xmlns:a="http://schemas.openxmlformats.org/drawingml/2006/main">
              <a:ext uri="{FF2B5EF4-FFF2-40B4-BE49-F238E27FC236}">
                <a16:creationId xmlns:a16="http://schemas.microsoft.com/office/drawing/2014/main" id="{AA880A2A-1F4D-4B74-B66A-BAD7506C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33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“注意安全”不是控制措施。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只有三种处置，但理由必须具体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t-0">
            <a:extLst xmlns:a="http://schemas.openxmlformats.org/drawingml/2006/main">
              <a:ext uri="{FF2B5EF4-FFF2-40B4-BE49-F238E27FC236}">
                <a16:creationId xmlns:a16="http://schemas.microsoft.com/office/drawing/2014/main" id="{44EA46BF-85C7-41E1-8431-A6E0B583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144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8745A"/>
                </a:solidFill>
              </a:defRPr>
            </a:pPr>
            <a:r>
              <a:rPr sz="21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允许</a:t>
            </a:r>
          </a:p>
        </p:txBody>
      </p:sp>
      <p:sp>
        <p:nvSpPr>
          <p:cNvPr id="7" name="p08-d-0">
            <a:extLst xmlns:a="http://schemas.openxmlformats.org/drawingml/2006/main">
              <a:ext uri="{FF2B5EF4-FFF2-40B4-BE49-F238E27FC236}">
                <a16:creationId xmlns:a16="http://schemas.microsoft.com/office/drawing/2014/main" id="{4AA94C2B-E7FA-4DF8-891C-0EA90306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144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当前控制足够</a:t>
            </a:r>
          </a:p>
        </p:txBody>
      </p:sp>
      <p:sp>
        <p:nvSpPr>
          <p:cNvPr id="8" name="p08-t-1">
            <a:extLst xmlns:a="http://schemas.openxmlformats.org/drawingml/2006/main">
              <a:ext uri="{FF2B5EF4-FFF2-40B4-BE49-F238E27FC236}">
                <a16:creationId xmlns:a16="http://schemas.microsoft.com/office/drawing/2014/main" id="{3F353E3A-F01A-40AF-8290-96885E21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A86C12"/>
                </a:solidFill>
              </a:defRPr>
            </a:pPr>
            <a:r>
              <a:rPr sz="21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有条件允许</a:t>
            </a:r>
          </a:p>
        </p:txBody>
      </p:sp>
      <p:sp>
        <p:nvSpPr>
          <p:cNvPr id="9" name="p08-d-1">
            <a:extLst xmlns:a="http://schemas.openxmlformats.org/drawingml/2006/main">
              <a:ext uri="{FF2B5EF4-FFF2-40B4-BE49-F238E27FC236}">
                <a16:creationId xmlns:a16="http://schemas.microsoft.com/office/drawing/2014/main" id="{D97B9872-5118-424B-82D8-03F9BB03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先满足可检查条件</a:t>
            </a:r>
          </a:p>
        </p:txBody>
      </p:sp>
      <p:sp>
        <p:nvSpPr>
          <p:cNvPr id="10" name="p08-t-2">
            <a:extLst xmlns:a="http://schemas.openxmlformats.org/drawingml/2006/main">
              <a:ext uri="{FF2B5EF4-FFF2-40B4-BE49-F238E27FC236}">
                <a16:creationId xmlns:a16="http://schemas.microsoft.com/office/drawing/2014/main" id="{EE769901-281B-4EE7-8F7E-AF2657B2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11" name="p08-d-2">
            <a:extLst xmlns:a="http://schemas.openxmlformats.org/drawingml/2006/main">
              <a:ext uri="{FF2B5EF4-FFF2-40B4-BE49-F238E27FC236}">
                <a16:creationId xmlns:a16="http://schemas.microsoft.com/office/drawing/2014/main" id="{3108B99E-9F72-4223-AC00-575B1032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风险无法合理控制，或动作破坏诚信</a:t>
            </a:r>
          </a:p>
        </p:txBody>
      </p:sp>
      <p:sp>
        <p:nvSpPr>
          <p:cNvPr id="12" name="p08-bottom">
            <a:extLst xmlns:a="http://schemas.openxmlformats.org/drawingml/2006/main">
              <a:ext uri="{FF2B5EF4-FFF2-40B4-BE49-F238E27FC236}">
                <a16:creationId xmlns:a16="http://schemas.microsoft.com/office/drawing/2014/main" id="{F9E5146B-B5C6-41C4-B9D0-C9684B48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625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条件必须能检查：路径｜授权｜脱敏｜网络｜确认点｜责任人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未公开不等于一律禁止，授权也不是唯一条件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work">
            <a:extLst xmlns:a="http://schemas.openxmlformats.org/drawingml/2006/main">
              <a:ext uri="{FF2B5EF4-FFF2-40B4-BE49-F238E27FC236}">
                <a16:creationId xmlns:a16="http://schemas.microsoft.com/office/drawing/2014/main" id="{A28FCB7C-8356-402E-ABCB-EC100EE8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作者工作稿</a:t>
            </a:r>
          </a:p>
        </p:txBody>
      </p:sp>
      <p:sp>
        <p:nvSpPr>
          <p:cNvPr id="7" name="p09-review">
            <a:extLst xmlns:a="http://schemas.openxmlformats.org/drawingml/2006/main">
              <a:ext uri="{FF2B5EF4-FFF2-40B4-BE49-F238E27FC236}">
                <a16:creationId xmlns:a16="http://schemas.microsoft.com/office/drawing/2014/main" id="{CAE76F20-B49E-40AC-B4E4-EF667AF1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239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正式评审稿</a:t>
            </a:r>
          </a:p>
        </p:txBody>
      </p:sp>
      <p:sp>
        <p:nvSpPr>
          <p:cNvPr id="8" name="p09-work-body">
            <a:extLst xmlns:a="http://schemas.openxmlformats.org/drawingml/2006/main">
              <a:ext uri="{FF2B5EF4-FFF2-40B4-BE49-F238E27FC236}">
                <a16:creationId xmlns:a16="http://schemas.microsoft.com/office/drawing/2014/main" id="{8C4CEA06-5FA2-422F-BBAD-2BC1D2F8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667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63746"/>
                </a:solidFill>
              </a:defRPr>
            </a:pPr>
            <a:r>
              <a:rPr sz="20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个人外部模型全文上传</a:t>
            </a:r>
          </a:p>
          <a:p xmlns:a="http://schemas.openxmlformats.org/drawingml/2006/main">
            <a:pPr algn="ctr">
              <a:defRPr sz="2025" b="1">
                <a:solidFill>
                  <a:srgbClr val="263746"/>
                </a:solidFill>
              </a:defRPr>
            </a:pPr>
            <a:r>
              <a:rPr sz="20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默认拒绝</a:t>
            </a:r>
          </a:p>
        </p:txBody>
      </p:sp>
      <p:sp>
        <p:nvSpPr>
          <p:cNvPr id="9" name="p09-review-body">
            <a:extLst xmlns:a="http://schemas.openxmlformats.org/drawingml/2006/main">
              <a:ext uri="{FF2B5EF4-FFF2-40B4-BE49-F238E27FC236}">
                <a16:creationId xmlns:a16="http://schemas.microsoft.com/office/drawing/2014/main" id="{FCA03FF8-31E0-46B4-8340-96F0816D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4667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遵守期刊 / 组织者</a:t>
            </a:r>
          </a:p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保密与 AI 使用规则</a:t>
            </a:r>
          </a:p>
        </p:txBody>
      </p:sp>
      <p:sp>
        <p:nvSpPr>
          <p:cNvPr id="10" name="p09-conditions">
            <a:extLst xmlns:a="http://schemas.openxmlformats.org/drawingml/2006/main">
              <a:ext uri="{FF2B5EF4-FFF2-40B4-BE49-F238E27FC236}">
                <a16:creationId xmlns:a16="http://schemas.microsoft.com/office/drawing/2014/main" id="{8FBA4E91-B0DC-4198-9B41-8B311F74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10172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工作稿转为有条件允许：共同授权  +  规则允许  +  受控环境  +  最小披露  +  人工核验</a:t>
            </a:r>
          </a:p>
        </p:txBody>
      </p:sp>
      <p:sp>
        <p:nvSpPr>
          <p:cNvPr id="11" name="p09-alt">
            <a:extLst xmlns:a="http://schemas.openxmlformats.org/drawingml/2006/main">
              <a:ext uri="{FF2B5EF4-FFF2-40B4-BE49-F238E27FC236}">
                <a16:creationId xmlns:a16="http://schemas.microsoft.com/office/drawing/2014/main" id="{C7AD418E-2277-4826-B798-8DB8F6A4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9677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替代：公开版本｜最小片段｜抽象问题｜本地 / 机构环境｜内部人工审阅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生成数据的使用边界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decision">
            <a:extLst xmlns:a="http://schemas.openxmlformats.org/drawingml/2006/main">
              <a:ext uri="{FF2B5EF4-FFF2-40B4-BE49-F238E27FC236}">
                <a16:creationId xmlns:a16="http://schemas.microsoft.com/office/drawing/2014/main" id="{032F0071-6426-4CB2-8EB9-2C7C6FDD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906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6C12"/>
                </a:solidFill>
              </a:defRPr>
            </a:pPr>
            <a:r>
              <a:rPr sz="16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有条件允许</a:t>
            </a:r>
          </a:p>
        </p:txBody>
      </p:sp>
      <p:sp>
        <p:nvSpPr>
          <p:cNvPr id="7" name="p10-sim-line">
            <a:extLst xmlns:a="http://schemas.openxmlformats.org/drawingml/2006/main">
              <a:ext uri="{FF2B5EF4-FFF2-40B4-BE49-F238E27FC236}">
                <a16:creationId xmlns:a16="http://schemas.microsoft.com/office/drawing/2014/main" id="{8FFC5FF2-798D-41D7-9FB5-8CB676E2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2133600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0-real-line">
            <a:extLst xmlns:a="http://schemas.openxmlformats.org/drawingml/2006/main">
              <a:ext uri="{FF2B5EF4-FFF2-40B4-BE49-F238E27FC236}">
                <a16:creationId xmlns:a16="http://schemas.microsoft.com/office/drawing/2014/main" id="{D47E3049-D55C-4622-83D4-E7F45E26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3790950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0-sim">
            <a:extLst xmlns:a="http://schemas.openxmlformats.org/drawingml/2006/main">
              <a:ext uri="{FF2B5EF4-FFF2-40B4-BE49-F238E27FC236}">
                <a16:creationId xmlns:a16="http://schemas.microsoft.com/office/drawing/2014/main" id="{EC4BFFCB-4077-46AB-A9DD-DA02F96A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638A"/>
                </a:solidFill>
              </a:defRPr>
            </a:pPr>
            <a:r>
              <a:rPr sz="187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0" name="p10-real">
            <a:extLst xmlns:a="http://schemas.openxmlformats.org/drawingml/2006/main">
              <a:ext uri="{FF2B5EF4-FFF2-40B4-BE49-F238E27FC236}">
                <a16:creationId xmlns:a16="http://schemas.microsoft.com/office/drawing/2014/main" id="{FF6550A7-8E79-447A-AA43-B3B7EED8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真实数据</a:t>
            </a:r>
          </a:p>
        </p:txBody>
      </p:sp>
      <p:sp>
        <p:nvSpPr>
          <p:cNvPr id="11" name="p10-test">
            <a:extLst xmlns:a="http://schemas.openxmlformats.org/drawingml/2006/main">
              <a:ext uri="{FF2B5EF4-FFF2-40B4-BE49-F238E27FC236}">
                <a16:creationId xmlns:a16="http://schemas.microsoft.com/office/drawing/2014/main" id="{D9EB4DB2-BDB6-4D65-9553-5F3C2588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495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测试脚本对缺失值 / 异常值的处理</a:t>
            </a:r>
          </a:p>
        </p:txBody>
      </p:sp>
      <p:sp>
        <p:nvSpPr>
          <p:cNvPr id="12" name="p10-evidence">
            <a:extLst xmlns:a="http://schemas.openxmlformats.org/drawingml/2006/main">
              <a:ext uri="{FF2B5EF4-FFF2-40B4-BE49-F238E27FC236}">
                <a16:creationId xmlns:a16="http://schemas.microsoft.com/office/drawing/2014/main" id="{34CE4CBD-A71F-43F0-B9E1-6A430C94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2800"/>
            <a:ext cx="495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真实观测与经验结论</a:t>
            </a:r>
          </a:p>
        </p:txBody>
      </p:sp>
      <p:sp>
        <p:nvSpPr>
          <p:cNvPr id="13" name="p10-no">
            <a:extLst xmlns:a="http://schemas.openxmlformats.org/drawingml/2006/main">
              <a:ext uri="{FF2B5EF4-FFF2-40B4-BE49-F238E27FC236}">
                <a16:creationId xmlns:a16="http://schemas.microsoft.com/office/drawing/2014/main" id="{FF05277D-EA74-402F-B890-3DFFCD62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不得合并标签</a:t>
            </a:r>
          </a:p>
        </p:txBody>
      </p:sp>
      <p:sp>
        <p:nvSpPr>
          <p:cNvPr id="14" name="p10-controls">
            <a:extLst xmlns:a="http://schemas.openxmlformats.org/drawingml/2006/main">
              <a:ext uri="{FF2B5EF4-FFF2-40B4-BE49-F238E27FC236}">
                <a16:creationId xmlns:a16="http://schemas.microsoft.com/office/drawing/2014/main" id="{92B1F7A2-2B7C-4846-AC4A-A84C87B3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95850"/>
            <a:ext cx="803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标记模拟｜分开保存｜记录生成逻辑｜不替代真实观测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评价指标变更的人工门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chain">
            <a:extLst xmlns:a="http://schemas.openxmlformats.org/drawingml/2006/main">
              <a:ext uri="{FF2B5EF4-FFF2-40B4-BE49-F238E27FC236}">
                <a16:creationId xmlns:a16="http://schemas.microsoft.com/office/drawing/2014/main" id="{74F3C553-4C3E-40D6-8857-36305CFA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251460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11-0">
            <a:extLst xmlns:a="http://schemas.openxmlformats.org/drawingml/2006/main">
              <a:ext uri="{FF2B5EF4-FFF2-40B4-BE49-F238E27FC236}">
                <a16:creationId xmlns:a16="http://schemas.microsoft.com/office/drawing/2014/main" id="{A908B719-32F1-4C7E-AC62-36A56817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186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38A"/>
                </a:solidFill>
              </a:defRPr>
            </a:pPr>
            <a:r>
              <a:rPr sz="172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Agent 建议</a:t>
            </a:r>
          </a:p>
        </p:txBody>
      </p:sp>
      <p:sp>
        <p:nvSpPr>
          <p:cNvPr id="8" name="p11-1">
            <a:extLst xmlns:a="http://schemas.openxmlformats.org/drawingml/2006/main">
              <a:ext uri="{FF2B5EF4-FFF2-40B4-BE49-F238E27FC236}">
                <a16:creationId xmlns:a16="http://schemas.microsoft.com/office/drawing/2014/main" id="{67632D41-54CF-4A06-854E-6AF5D1E1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86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暂停</a:t>
            </a:r>
          </a:p>
        </p:txBody>
      </p:sp>
      <p:sp>
        <p:nvSpPr>
          <p:cNvPr id="9" name="p11-2">
            <a:extLst xmlns:a="http://schemas.openxmlformats.org/drawingml/2006/main">
              <a:ext uri="{FF2B5EF4-FFF2-40B4-BE49-F238E27FC236}">
                <a16:creationId xmlns:a16="http://schemas.microsoft.com/office/drawing/2014/main" id="{594C2952-7076-44E9-8756-E9FBB57C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57400"/>
            <a:ext cx="186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人工说明理由</a:t>
            </a:r>
          </a:p>
        </p:txBody>
      </p:sp>
      <p:sp>
        <p:nvSpPr>
          <p:cNvPr id="10" name="p11-3">
            <a:extLst xmlns:a="http://schemas.openxmlformats.org/drawingml/2006/main">
              <a:ext uri="{FF2B5EF4-FFF2-40B4-BE49-F238E27FC236}">
                <a16:creationId xmlns:a16="http://schemas.microsoft.com/office/drawing/2014/main" id="{C2C584F3-0CFE-4371-8A1F-9608E8F4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57400"/>
            <a:ext cx="186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86C12"/>
                </a:solidFill>
              </a:defRPr>
            </a:pPr>
            <a:r>
              <a:rPr sz="17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版本化协议</a:t>
            </a:r>
          </a:p>
        </p:txBody>
      </p:sp>
      <p:sp>
        <p:nvSpPr>
          <p:cNvPr id="11" name="p11-4">
            <a:extLst xmlns:a="http://schemas.openxmlformats.org/drawingml/2006/main">
              <a:ext uri="{FF2B5EF4-FFF2-40B4-BE49-F238E27FC236}">
                <a16:creationId xmlns:a16="http://schemas.microsoft.com/office/drawing/2014/main" id="{2C1025CD-5736-459A-9947-599882C4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86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8745A"/>
                </a:solidFill>
              </a:defRPr>
            </a:pPr>
            <a:r>
              <a:rPr sz="17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再运行</a:t>
            </a:r>
          </a:p>
        </p:txBody>
      </p:sp>
      <p:sp>
        <p:nvSpPr>
          <p:cNvPr id="12" name="p11-bypass">
            <a:extLst xmlns:a="http://schemas.openxmlformats.org/drawingml/2006/main">
              <a:ext uri="{FF2B5EF4-FFF2-40B4-BE49-F238E27FC236}">
                <a16:creationId xmlns:a16="http://schemas.microsoft.com/office/drawing/2014/main" id="{F7966742-CF24-471F-BB4F-51E5BF03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3924300"/>
            <a:ext cx="619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11-bypass-text">
            <a:extLst xmlns:a="http://schemas.openxmlformats.org/drawingml/2006/main">
              <a:ext uri="{FF2B5EF4-FFF2-40B4-BE49-F238E27FC236}">
                <a16:creationId xmlns:a16="http://schemas.microsoft.com/office/drawing/2014/main" id="{91118312-4F07-453C-9D85-B0FB09A7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814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无记录地改指标并重跑到成功</a:t>
            </a:r>
          </a:p>
        </p:txBody>
      </p:sp>
      <p:sp>
        <p:nvSpPr>
          <p:cNvPr id="14" name="p11-stop">
            <a:extLst xmlns:a="http://schemas.openxmlformats.org/drawingml/2006/main">
              <a:ext uri="{FF2B5EF4-FFF2-40B4-BE49-F238E27FC236}">
                <a16:creationId xmlns:a16="http://schemas.microsoft.com/office/drawing/2014/main" id="{A90FDDC7-FE42-4C33-8675-B92A96D7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24250"/>
            <a:ext cx="85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C8161E"/>
                </a:solidFill>
              </a:defRPr>
            </a:pPr>
            <a:r>
              <a:rPr sz="40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5" name="p11-bottom">
            <a:extLst xmlns:a="http://schemas.openxmlformats.org/drawingml/2006/main">
              <a:ext uri="{FF2B5EF4-FFF2-40B4-BE49-F238E27FC236}">
                <a16:creationId xmlns:a16="http://schemas.microsoft.com/office/drawing/2014/main" id="{CF98C1FC-E698-40A4-BED6-4A138475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评价指标决定什么算“改善”——这是研究判断，不是按钮确认。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伦理控制应出现在动作发生之前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-line">
            <a:extLst xmlns:a="http://schemas.openxmlformats.org/drawingml/2006/main">
              <a:ext uri="{FF2B5EF4-FFF2-40B4-BE49-F238E27FC236}">
                <a16:creationId xmlns:a16="http://schemas.microsoft.com/office/drawing/2014/main" id="{C966C5CF-CEB3-4487-BD9F-29811342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119438"/>
            <a:ext cx="981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12-dot-0">
            <a:extLst xmlns:a="http://schemas.openxmlformats.org/drawingml/2006/main">
              <a:ext uri="{FF2B5EF4-FFF2-40B4-BE49-F238E27FC236}">
                <a16:creationId xmlns:a16="http://schemas.microsoft.com/office/drawing/2014/main" id="{9F613275-946F-474D-B179-525C5336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2-t-0">
            <a:extLst xmlns:a="http://schemas.openxmlformats.org/drawingml/2006/main">
              <a:ext uri="{FF2B5EF4-FFF2-40B4-BE49-F238E27FC236}">
                <a16:creationId xmlns:a16="http://schemas.microsoft.com/office/drawing/2014/main" id="{BF7CBE59-208C-4CE7-85A5-1C4938C3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Context 进入前</a:t>
            </a:r>
          </a:p>
        </p:txBody>
      </p:sp>
      <p:sp>
        <p:nvSpPr>
          <p:cNvPr id="9" name="p12-before-0">
            <a:extLst xmlns:a="http://schemas.openxmlformats.org/drawingml/2006/main">
              <a:ext uri="{FF2B5EF4-FFF2-40B4-BE49-F238E27FC236}">
                <a16:creationId xmlns:a16="http://schemas.microsoft.com/office/drawing/2014/main" id="{8F1A1F03-78AE-43E3-A050-DFE4EDC4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576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先检查</a:t>
            </a:r>
          </a:p>
        </p:txBody>
      </p:sp>
      <p:sp>
        <p:nvSpPr>
          <p:cNvPr id="10" name="p12-dot-1">
            <a:extLst xmlns:a="http://schemas.openxmlformats.org/drawingml/2006/main">
              <a:ext uri="{FF2B5EF4-FFF2-40B4-BE49-F238E27FC236}">
                <a16:creationId xmlns:a16="http://schemas.microsoft.com/office/drawing/2014/main" id="{6895016F-D5BD-4C77-A56E-8381B764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2-t-1">
            <a:extLst xmlns:a="http://schemas.openxmlformats.org/drawingml/2006/main">
              <a:ext uri="{FF2B5EF4-FFF2-40B4-BE49-F238E27FC236}">
                <a16:creationId xmlns:a16="http://schemas.microsoft.com/office/drawing/2014/main" id="{12C56C25-3003-4BCE-890A-BEDD127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526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工具调用前</a:t>
            </a:r>
          </a:p>
        </p:txBody>
      </p:sp>
      <p:sp>
        <p:nvSpPr>
          <p:cNvPr id="12" name="p12-before-1">
            <a:extLst xmlns:a="http://schemas.openxmlformats.org/drawingml/2006/main">
              <a:ext uri="{FF2B5EF4-FFF2-40B4-BE49-F238E27FC236}">
                <a16:creationId xmlns:a16="http://schemas.microsoft.com/office/drawing/2014/main" id="{B90EAB68-9F43-405D-ACF0-0BFD8E0C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576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先检查</a:t>
            </a:r>
          </a:p>
        </p:txBody>
      </p:sp>
      <p:sp>
        <p:nvSpPr>
          <p:cNvPr id="13" name="p12-dot-2">
            <a:extLst xmlns:a="http://schemas.openxmlformats.org/drawingml/2006/main">
              <a:ext uri="{FF2B5EF4-FFF2-40B4-BE49-F238E27FC236}">
                <a16:creationId xmlns:a16="http://schemas.microsoft.com/office/drawing/2014/main" id="{EAC05E13-A18B-456E-BDCF-3C292D34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2-t-2">
            <a:extLst xmlns:a="http://schemas.openxmlformats.org/drawingml/2006/main">
              <a:ext uri="{FF2B5EF4-FFF2-40B4-BE49-F238E27FC236}">
                <a16:creationId xmlns:a16="http://schemas.microsoft.com/office/drawing/2014/main" id="{08589374-16D9-45CD-B364-416A20E4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526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权限扩大前</a:t>
            </a:r>
          </a:p>
        </p:txBody>
      </p:sp>
      <p:sp>
        <p:nvSpPr>
          <p:cNvPr id="15" name="p12-before-2">
            <a:extLst xmlns:a="http://schemas.openxmlformats.org/drawingml/2006/main">
              <a:ext uri="{FF2B5EF4-FFF2-40B4-BE49-F238E27FC236}">
                <a16:creationId xmlns:a16="http://schemas.microsoft.com/office/drawing/2014/main" id="{4F763456-E6F1-4ED7-AD30-CCC5E638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6576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先检查</a:t>
            </a:r>
          </a:p>
        </p:txBody>
      </p:sp>
      <p:sp>
        <p:nvSpPr>
          <p:cNvPr id="16" name="p12-dot-3">
            <a:extLst xmlns:a="http://schemas.openxmlformats.org/drawingml/2006/main">
              <a:ext uri="{FF2B5EF4-FFF2-40B4-BE49-F238E27FC236}">
                <a16:creationId xmlns:a16="http://schemas.microsoft.com/office/drawing/2014/main" id="{83F5F467-3489-4089-A39E-94BA5D6C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12-t-3">
            <a:extLst xmlns:a="http://schemas.openxmlformats.org/drawingml/2006/main">
              <a:ext uri="{FF2B5EF4-FFF2-40B4-BE49-F238E27FC236}">
                <a16:creationId xmlns:a16="http://schemas.microsoft.com/office/drawing/2014/main" id="{0AC811B8-BF4C-4773-899B-60AF3404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526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外部写入前</a:t>
            </a:r>
          </a:p>
        </p:txBody>
      </p:sp>
      <p:sp>
        <p:nvSpPr>
          <p:cNvPr id="18" name="p12-before-3">
            <a:extLst xmlns:a="http://schemas.openxmlformats.org/drawingml/2006/main">
              <a:ext uri="{FF2B5EF4-FFF2-40B4-BE49-F238E27FC236}">
                <a16:creationId xmlns:a16="http://schemas.microsoft.com/office/drawing/2014/main" id="{0379152A-11F3-4518-9572-408BB329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576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先检查</a:t>
            </a:r>
          </a:p>
        </p:txBody>
      </p:sp>
      <p:sp>
        <p:nvSpPr>
          <p:cNvPr id="19" name="p12-dot-4">
            <a:extLst xmlns:a="http://schemas.openxmlformats.org/drawingml/2006/main">
              <a:ext uri="{FF2B5EF4-FFF2-40B4-BE49-F238E27FC236}">
                <a16:creationId xmlns:a16="http://schemas.microsoft.com/office/drawing/2014/main" id="{38385407-9A72-4229-B210-F3C7BE09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2-t-4">
            <a:extLst xmlns:a="http://schemas.openxmlformats.org/drawingml/2006/main">
              <a:ext uri="{FF2B5EF4-FFF2-40B4-BE49-F238E27FC236}">
                <a16:creationId xmlns:a16="http://schemas.microsoft.com/office/drawing/2014/main" id="{B94C4296-ED4A-4A0B-BAC2-5B717CB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526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状态迁移前</a:t>
            </a:r>
          </a:p>
        </p:txBody>
      </p:sp>
      <p:sp>
        <p:nvSpPr>
          <p:cNvPr id="21" name="p12-before-4">
            <a:extLst xmlns:a="http://schemas.openxmlformats.org/drawingml/2006/main">
              <a:ext uri="{FF2B5EF4-FFF2-40B4-BE49-F238E27FC236}">
                <a16:creationId xmlns:a16="http://schemas.microsoft.com/office/drawing/2014/main" id="{4CD966C7-BE7E-4EFF-8E66-5660C926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6576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先检查</a:t>
            </a:r>
          </a:p>
        </p:txBody>
      </p:sp>
      <p:sp>
        <p:nvSpPr>
          <p:cNvPr id="22" name="p12-bottom">
            <a:extLst xmlns:a="http://schemas.openxmlformats.org/drawingml/2006/main">
              <a:ext uri="{FF2B5EF4-FFF2-40B4-BE49-F238E27FC236}">
                <a16:creationId xmlns:a16="http://schemas.microsoft.com/office/drawing/2014/main" id="{D3AE6250-4920-4250-BF62-5CA20983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事后披露不能恢复已经泄露、覆盖或删除的状态。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权限要按动作和维度拆开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-project">
            <a:extLst xmlns:a="http://schemas.openxmlformats.org/drawingml/2006/main">
              <a:ext uri="{FF2B5EF4-FFF2-40B4-BE49-F238E27FC236}">
                <a16:creationId xmlns:a16="http://schemas.microsoft.com/office/drawing/2014/main" id="{C9E537C2-D33D-4B25-A594-A8770399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研究项目</a:t>
            </a:r>
          </a:p>
        </p:txBody>
      </p:sp>
      <p:sp>
        <p:nvSpPr>
          <p:cNvPr id="7" name="p13-action-0">
            <a:extLst xmlns:a="http://schemas.openxmlformats.org/drawingml/2006/main">
              <a:ext uri="{FF2B5EF4-FFF2-40B4-BE49-F238E27FC236}">
                <a16:creationId xmlns:a16="http://schemas.microsoft.com/office/drawing/2014/main" id="{B2E85FCF-A1E8-491A-BB0A-B412F509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676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sp>
        <p:nvSpPr>
          <p:cNvPr id="8" name="p13-action-1">
            <a:extLst xmlns:a="http://schemas.openxmlformats.org/drawingml/2006/main">
              <a:ext uri="{FF2B5EF4-FFF2-40B4-BE49-F238E27FC236}">
                <a16:creationId xmlns:a16="http://schemas.microsoft.com/office/drawing/2014/main" id="{A3C45FCA-9BED-4CDA-9BC7-562869BB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219200"/>
            <a:ext cx="1676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写入</a:t>
            </a:r>
          </a:p>
        </p:txBody>
      </p:sp>
      <p:sp>
        <p:nvSpPr>
          <p:cNvPr id="9" name="p13-action-2">
            <a:extLst xmlns:a="http://schemas.openxmlformats.org/drawingml/2006/main">
              <a:ext uri="{FF2B5EF4-FFF2-40B4-BE49-F238E27FC236}">
                <a16:creationId xmlns:a16="http://schemas.microsoft.com/office/drawing/2014/main" id="{EFBBCA94-8DE1-4000-8B72-42BD2FCE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19200"/>
            <a:ext cx="1676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0" name="p13-action-3">
            <a:extLst xmlns:a="http://schemas.openxmlformats.org/drawingml/2006/main">
              <a:ext uri="{FF2B5EF4-FFF2-40B4-BE49-F238E27FC236}">
                <a16:creationId xmlns:a16="http://schemas.microsoft.com/office/drawing/2014/main" id="{933F1931-BB73-45F9-84F3-34DC5C43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19200"/>
            <a:ext cx="1676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联网</a:t>
            </a:r>
          </a:p>
        </p:txBody>
      </p:sp>
      <p:sp>
        <p:nvSpPr>
          <p:cNvPr id="11" name="p13-action-4">
            <a:extLst xmlns:a="http://schemas.openxmlformats.org/drawingml/2006/main">
              <a:ext uri="{FF2B5EF4-FFF2-40B4-BE49-F238E27FC236}">
                <a16:creationId xmlns:a16="http://schemas.microsoft.com/office/drawing/2014/main" id="{3EDE2E22-D40E-421D-80F2-046C9695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676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外部系统</a:t>
            </a:r>
          </a:p>
        </p:txBody>
      </p:sp>
      <p:sp>
        <p:nvSpPr>
          <p:cNvPr id="12" name="p13-action-5">
            <a:extLst xmlns:a="http://schemas.openxmlformats.org/drawingml/2006/main">
              <a:ext uri="{FF2B5EF4-FFF2-40B4-BE49-F238E27FC236}">
                <a16:creationId xmlns:a16="http://schemas.microsoft.com/office/drawing/2014/main" id="{AF90C666-E849-4A25-BBDB-75D24FB5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71850"/>
            <a:ext cx="1676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不可逆动作</a:t>
            </a:r>
          </a:p>
        </p:txBody>
      </p:sp>
      <p:sp>
        <p:nvSpPr>
          <p:cNvPr id="13" name="p13-d-0">
            <a:extLst xmlns:a="http://schemas.openxmlformats.org/drawingml/2006/main">
              <a:ext uri="{FF2B5EF4-FFF2-40B4-BE49-F238E27FC236}">
                <a16:creationId xmlns:a16="http://schemas.microsoft.com/office/drawing/2014/main" id="{06B59B3A-724D-4D65-83A3-CD5B7F90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514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Path</a:t>
            </a:r>
          </a:p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哪些文件和目录</a:t>
            </a:r>
          </a:p>
        </p:txBody>
      </p:sp>
      <p:sp>
        <p:nvSpPr>
          <p:cNvPr id="14" name="p13-d-1">
            <a:extLst xmlns:a="http://schemas.openxmlformats.org/drawingml/2006/main">
              <a:ext uri="{FF2B5EF4-FFF2-40B4-BE49-F238E27FC236}">
                <a16:creationId xmlns:a16="http://schemas.microsoft.com/office/drawing/2014/main" id="{645EDEA4-58BB-4B07-B137-485DF817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43400"/>
            <a:ext cx="2514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Command</a:t>
            </a:r>
          </a:p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哪些命令和预算</a:t>
            </a:r>
          </a:p>
        </p:txBody>
      </p:sp>
      <p:sp>
        <p:nvSpPr>
          <p:cNvPr id="15" name="p13-d-2">
            <a:extLst xmlns:a="http://schemas.openxmlformats.org/drawingml/2006/main">
              <a:ext uri="{FF2B5EF4-FFF2-40B4-BE49-F238E27FC236}">
                <a16:creationId xmlns:a16="http://schemas.microsoft.com/office/drawing/2014/main" id="{2F8BE302-030D-40FC-B51E-C07A0E1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2514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Network</a:t>
            </a:r>
          </a:p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是否联网、到哪些来源</a:t>
            </a:r>
          </a:p>
        </p:txBody>
      </p:sp>
      <p:sp>
        <p:nvSpPr>
          <p:cNvPr id="16" name="p13-d-3">
            <a:extLst xmlns:a="http://schemas.openxmlformats.org/drawingml/2006/main">
              <a:ext uri="{FF2B5EF4-FFF2-40B4-BE49-F238E27FC236}">
                <a16:creationId xmlns:a16="http://schemas.microsoft.com/office/drawing/2014/main" id="{BB6E6E01-9C97-4E56-8600-F617DDB9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43400"/>
            <a:ext cx="2514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External write</a:t>
            </a:r>
          </a:p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是否发送、发布、导入或改账户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默认拒绝与最小权限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14-no">
            <a:extLst xmlns:a="http://schemas.openxmlformats.org/drawingml/2006/main">
              <a:ext uri="{FF2B5EF4-FFF2-40B4-BE49-F238E27FC236}">
                <a16:creationId xmlns:a16="http://schemas.microsoft.com/office/drawing/2014/main" id="{5DFCD258-EEA4-4171-A31C-9188576F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5730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684"/>
                </a:solidFill>
              </a:defRPr>
            </a:pPr>
            <a:r>
              <a:rPr sz="21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没写禁止，所以可以</a:t>
            </a:r>
          </a:p>
        </p:txBody>
      </p:sp>
      <p:sp>
        <p:nvSpPr>
          <p:cNvPr id="7" name="p14-yes">
            <a:extLst xmlns:a="http://schemas.openxmlformats.org/drawingml/2006/main">
              <a:ext uri="{FF2B5EF4-FFF2-40B4-BE49-F238E27FC236}">
                <a16:creationId xmlns:a16="http://schemas.microsoft.com/office/drawing/2014/main" id="{D33B8AB7-46F9-4637-B7AE-32A1698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没有明确允许，所以暂停</a:t>
            </a:r>
          </a:p>
        </p:txBody>
      </p:sp>
      <p:sp>
        <p:nvSpPr>
          <p:cNvPr id="8" name="p14-cross">
            <a:extLst xmlns:a="http://schemas.openxmlformats.org/drawingml/2006/main">
              <a:ext uri="{FF2B5EF4-FFF2-40B4-BE49-F238E27FC236}">
                <a16:creationId xmlns:a16="http://schemas.microsoft.com/office/drawing/2014/main" id="{1C3126B3-FD63-4ACB-A8FC-AFB89FEC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990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C8161E"/>
                </a:solidFill>
              </a:defRPr>
            </a:pPr>
            <a:r>
              <a:rPr sz="39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" name="p14-task">
            <a:extLst xmlns:a="http://schemas.openxmlformats.org/drawingml/2006/main">
              <a:ext uri="{FF2B5EF4-FFF2-40B4-BE49-F238E27FC236}">
                <a16:creationId xmlns:a16="http://schemas.microsoft.com/office/drawing/2014/main" id="{11B37DD5-B2C4-4B03-B904-E0D5D222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任务：只更新 problem-definition.md 的指定段落</a:t>
            </a:r>
          </a:p>
        </p:txBody>
      </p:sp>
      <p:sp>
        <p:nvSpPr>
          <p:cNvPr id="10" name="p14-need">
            <a:extLst xmlns:a="http://schemas.openxmlformats.org/drawingml/2006/main">
              <a:ext uri="{FF2B5EF4-FFF2-40B4-BE49-F238E27FC236}">
                <a16:creationId xmlns:a16="http://schemas.microsoft.com/office/drawing/2014/main" id="{25A2C4E6-D4ED-4F1F-8D00-1BF750AE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004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45A"/>
                </a:solidFill>
              </a:defRPr>
            </a:pPr>
            <a:r>
              <a:rPr sz="18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需要</a:t>
            </a:r>
          </a:p>
          <a:p xmlns:a="http://schemas.openxmlformats.org/drawingml/2006/main">
            <a:pPr algn="ctr">
              <a:defRPr sz="1875" b="1">
                <a:solidFill>
                  <a:srgbClr val="28745A"/>
                </a:solidFill>
              </a:defRPr>
            </a:pPr>
            <a:r>
              <a:rPr sz="18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指定段落可写</a:t>
            </a:r>
          </a:p>
        </p:txBody>
      </p:sp>
      <p:sp>
        <p:nvSpPr>
          <p:cNvPr id="11" name="p14-unneed">
            <a:extLst xmlns:a="http://schemas.openxmlformats.org/drawingml/2006/main">
              <a:ext uri="{FF2B5EF4-FFF2-40B4-BE49-F238E27FC236}">
                <a16:creationId xmlns:a16="http://schemas.microsoft.com/office/drawing/2014/main" id="{6C9B00E9-5E0A-4D81-9A2F-749A2D67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00450"/>
            <a:ext cx="5200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不需要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整个项目可写｜个人目录可读｜任意命令｜自由联网</a:t>
            </a:r>
          </a:p>
        </p:txBody>
      </p:sp>
      <p:sp>
        <p:nvSpPr>
          <p:cNvPr id="12" name="p14-bottom">
            <a:extLst xmlns:a="http://schemas.openxmlformats.org/drawingml/2006/main">
              <a:ext uri="{FF2B5EF4-FFF2-40B4-BE49-F238E27FC236}">
                <a16:creationId xmlns:a16="http://schemas.microsoft.com/office/drawing/2014/main" id="{5C6C2D7C-1B70-44C4-924F-A1F823A7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任务变化可以重新评估，但不能由 Agent 自行扩大。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长循环中的重要访问必须逐次检查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15-loop">
            <a:extLst xmlns:a="http://schemas.openxmlformats.org/drawingml/2006/main">
              <a:ext uri="{FF2B5EF4-FFF2-40B4-BE49-F238E27FC236}">
                <a16:creationId xmlns:a16="http://schemas.microsoft.com/office/drawing/2014/main" id="{7A15AC34-C9DD-4634-9A5D-A6D8538F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76400"/>
            <a:ext cx="48768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354E"/>
            </a:solidFill>
            <a:prstDash val="solid"/>
          </a:ln>
        </p:spPr>
      </p:sp>
      <p:sp>
        <p:nvSpPr>
          <p:cNvPr id="7" name="p15-center">
            <a:extLst xmlns:a="http://schemas.openxmlformats.org/drawingml/2006/main">
              <a:ext uri="{FF2B5EF4-FFF2-40B4-BE49-F238E27FC236}">
                <a16:creationId xmlns:a16="http://schemas.microsoft.com/office/drawing/2014/main" id="{32D30E60-7A5B-43BE-B828-FAC7641D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第一次允许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后续全部允许</a:t>
            </a:r>
          </a:p>
        </p:txBody>
      </p:sp>
      <p:sp>
        <p:nvSpPr>
          <p:cNvPr id="8" name="p15-0">
            <a:extLst xmlns:a="http://schemas.openxmlformats.org/drawingml/2006/main">
              <a:ext uri="{FF2B5EF4-FFF2-40B4-BE49-F238E27FC236}">
                <a16:creationId xmlns:a16="http://schemas.microsoft.com/office/drawing/2014/main" id="{ED70AAF2-7179-4E31-A836-B55789F2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02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文件变化</a:t>
            </a:r>
          </a:p>
        </p:txBody>
      </p:sp>
      <p:sp>
        <p:nvSpPr>
          <p:cNvPr id="9" name="p15-1">
            <a:extLst xmlns:a="http://schemas.openxmlformats.org/drawingml/2006/main">
              <a:ext uri="{FF2B5EF4-FFF2-40B4-BE49-F238E27FC236}">
                <a16:creationId xmlns:a16="http://schemas.microsoft.com/office/drawing/2014/main" id="{908D1096-3349-4CBA-AFBD-90796E57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002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新工具</a:t>
            </a:r>
          </a:p>
        </p:txBody>
      </p:sp>
      <p:sp>
        <p:nvSpPr>
          <p:cNvPr id="10" name="p15-2">
            <a:extLst xmlns:a="http://schemas.openxmlformats.org/drawingml/2006/main">
              <a:ext uri="{FF2B5EF4-FFF2-40B4-BE49-F238E27FC236}">
                <a16:creationId xmlns:a16="http://schemas.microsoft.com/office/drawing/2014/main" id="{8FF48F3E-331C-4C9D-95E2-A8039A60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新域名</a:t>
            </a:r>
          </a:p>
        </p:txBody>
      </p:sp>
      <p:sp>
        <p:nvSpPr>
          <p:cNvPr id="11" name="p15-3">
            <a:extLst xmlns:a="http://schemas.openxmlformats.org/drawingml/2006/main">
              <a:ext uri="{FF2B5EF4-FFF2-40B4-BE49-F238E27FC236}">
                <a16:creationId xmlns:a16="http://schemas.microsoft.com/office/drawing/2014/main" id="{094B9A93-6F5D-45A2-8754-262F8B82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148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新数据</a:t>
            </a:r>
          </a:p>
        </p:txBody>
      </p:sp>
      <p:sp>
        <p:nvSpPr>
          <p:cNvPr id="12" name="p15-4">
            <a:extLst xmlns:a="http://schemas.openxmlformats.org/drawingml/2006/main">
              <a:ext uri="{FF2B5EF4-FFF2-40B4-BE49-F238E27FC236}">
                <a16:creationId xmlns:a16="http://schemas.microsoft.com/office/drawing/2014/main" id="{1B608299-390C-4B85-B975-CCC57263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新外部动作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高风险动作必须同时满足多项条件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p16-k-0">
            <a:extLst xmlns:a="http://schemas.openxmlformats.org/drawingml/2006/main">
              <a:ext uri="{FF2B5EF4-FFF2-40B4-BE49-F238E27FC236}">
                <a16:creationId xmlns:a16="http://schemas.microsoft.com/office/drawing/2014/main" id="{2E89F1F3-066B-4170-B9B0-C725518A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354E"/>
                </a:solidFill>
              </a:defRPr>
            </a:pPr>
            <a:r>
              <a:rPr sz="210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16-t-0">
            <a:extLst xmlns:a="http://schemas.openxmlformats.org/drawingml/2006/main">
              <a:ext uri="{FF2B5EF4-FFF2-40B4-BE49-F238E27FC236}">
                <a16:creationId xmlns:a16="http://schemas.microsoft.com/office/drawing/2014/main" id="{F551E83B-CC68-4453-B4B1-D0B6A14F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指定文件</a:t>
            </a:r>
          </a:p>
        </p:txBody>
      </p:sp>
      <p:sp>
        <p:nvSpPr>
          <p:cNvPr id="8" name="p16-k-1">
            <a:extLst xmlns:a="http://schemas.openxmlformats.org/drawingml/2006/main">
              <a:ext uri="{FF2B5EF4-FFF2-40B4-BE49-F238E27FC236}">
                <a16:creationId xmlns:a16="http://schemas.microsoft.com/office/drawing/2014/main" id="{AA0ED429-7C41-4F08-8427-CA5338D1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859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8745A"/>
                </a:solidFill>
              </a:defRPr>
            </a:pPr>
            <a:r>
              <a:rPr sz="2100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p16-t-1">
            <a:extLst xmlns:a="http://schemas.openxmlformats.org/drawingml/2006/main">
              <a:ext uri="{FF2B5EF4-FFF2-40B4-BE49-F238E27FC236}">
                <a16:creationId xmlns:a16="http://schemas.microsoft.com/office/drawing/2014/main" id="{9A5A0553-B893-4CEB-8707-5A129670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人工复核通过</a:t>
            </a:r>
          </a:p>
        </p:txBody>
      </p:sp>
      <p:sp>
        <p:nvSpPr>
          <p:cNvPr id="10" name="p16-k-2">
            <a:extLst xmlns:a="http://schemas.openxmlformats.org/drawingml/2006/main">
              <a:ext uri="{FF2B5EF4-FFF2-40B4-BE49-F238E27FC236}">
                <a16:creationId xmlns:a16="http://schemas.microsoft.com/office/drawing/2014/main" id="{8B0DCE77-6425-4E29-B8AC-D68D14D1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859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86C12"/>
                </a:solidFill>
              </a:defRPr>
            </a:pPr>
            <a:r>
              <a:rPr sz="2100" b="1">
                <a:solidFill>
                  <a:srgbClr val="A86C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p16-t-2">
            <a:extLst xmlns:a="http://schemas.openxmlformats.org/drawingml/2006/main">
              <a:ext uri="{FF2B5EF4-FFF2-40B4-BE49-F238E27FC236}">
                <a16:creationId xmlns:a16="http://schemas.microsoft.com/office/drawing/2014/main" id="{473FA448-09A2-42AF-89C5-86A50A8B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无敏感信息</a:t>
            </a:r>
          </a:p>
        </p:txBody>
      </p:sp>
      <p:sp>
        <p:nvSpPr>
          <p:cNvPr id="12" name="p16-k-3">
            <a:extLst xmlns:a="http://schemas.openxmlformats.org/drawingml/2006/main">
              <a:ext uri="{FF2B5EF4-FFF2-40B4-BE49-F238E27FC236}">
                <a16:creationId xmlns:a16="http://schemas.microsoft.com/office/drawing/2014/main" id="{24FEA847-4575-4B1A-8701-37BB0FDB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859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p16-t-3">
            <a:extLst xmlns:a="http://schemas.openxmlformats.org/drawingml/2006/main">
              <a:ext uri="{FF2B5EF4-FFF2-40B4-BE49-F238E27FC236}">
                <a16:creationId xmlns:a16="http://schemas.microsoft.com/office/drawing/2014/main" id="{1C03B3A5-320F-4CE9-BD64-4AE7AACE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400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明确发布目标</a:t>
            </a:r>
          </a:p>
        </p:txBody>
      </p:sp>
      <p:sp>
        <p:nvSpPr>
          <p:cNvPr id="14" name="p16-line">
            <a:extLst xmlns:a="http://schemas.openxmlformats.org/drawingml/2006/main">
              <a:ext uri="{FF2B5EF4-FFF2-40B4-BE49-F238E27FC236}">
                <a16:creationId xmlns:a16="http://schemas.microsoft.com/office/drawing/2014/main" id="{9B664451-7307-444B-B6D2-930A8815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767138"/>
            <a:ext cx="895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6-gate">
            <a:extLst xmlns:a="http://schemas.openxmlformats.org/drawingml/2006/main">
              <a:ext uri="{FF2B5EF4-FFF2-40B4-BE49-F238E27FC236}">
                <a16:creationId xmlns:a16="http://schemas.microsoft.com/office/drawing/2014/main" id="{53646DEC-6B81-444D-B87A-F5E4EA33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71950"/>
            <a:ext cx="3467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外部发布</a:t>
            </a:r>
          </a:p>
        </p:txBody>
      </p:sp>
      <p:sp>
        <p:nvSpPr>
          <p:cNvPr id="16" name="p16-bottom">
            <a:extLst xmlns:a="http://schemas.openxmlformats.org/drawingml/2006/main">
              <a:ext uri="{FF2B5EF4-FFF2-40B4-BE49-F238E27FC236}">
                <a16:creationId xmlns:a16="http://schemas.microsoft.com/office/drawing/2014/main" id="{F1D1D269-59BA-46E7-BF52-10AC31ED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一个信号不能直接触发高风险动作。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权限矩阵：字段与人工确认点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p17-h-0">
            <a:extLst xmlns:a="http://schemas.openxmlformats.org/drawingml/2006/main">
              <a:ext uri="{FF2B5EF4-FFF2-40B4-BE49-F238E27FC236}">
                <a16:creationId xmlns:a16="http://schemas.microsoft.com/office/drawing/2014/main" id="{E8371B01-374F-4B2A-BA8B-C0FDDDC1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7" name="p17-h-1">
            <a:extLst xmlns:a="http://schemas.openxmlformats.org/drawingml/2006/main">
              <a:ext uri="{FF2B5EF4-FFF2-40B4-BE49-F238E27FC236}">
                <a16:creationId xmlns:a16="http://schemas.microsoft.com/office/drawing/2014/main" id="{B7D261AA-FE6B-4382-BF83-68B16296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1620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</a:t>
            </a:r>
          </a:p>
        </p:txBody>
      </p:sp>
      <p:sp>
        <p:nvSpPr>
          <p:cNvPr id="8" name="p17-h-2">
            <a:extLst xmlns:a="http://schemas.openxmlformats.org/drawingml/2006/main">
              <a:ext uri="{FF2B5EF4-FFF2-40B4-BE49-F238E27FC236}">
                <a16:creationId xmlns:a16="http://schemas.microsoft.com/office/drawing/2014/main" id="{1D887519-2BE2-4B6F-8CCD-55DEEECD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1620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可写</a:t>
            </a:r>
          </a:p>
        </p:txBody>
      </p:sp>
      <p:sp>
        <p:nvSpPr>
          <p:cNvPr id="9" name="p17-h-3">
            <a:extLst xmlns:a="http://schemas.openxmlformats.org/drawingml/2006/main">
              <a:ext uri="{FF2B5EF4-FFF2-40B4-BE49-F238E27FC236}">
                <a16:creationId xmlns:a16="http://schemas.microsoft.com/office/drawing/2014/main" id="{29D6A85B-1938-41AB-B8DC-688F1A3B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620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0" name="p17-h-4">
            <a:extLst xmlns:a="http://schemas.openxmlformats.org/drawingml/2006/main">
              <a:ext uri="{FF2B5EF4-FFF2-40B4-BE49-F238E27FC236}">
                <a16:creationId xmlns:a16="http://schemas.microsoft.com/office/drawing/2014/main" id="{F7E34986-D83A-4AA2-A0B2-636BB56B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1620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确认点</a:t>
            </a:r>
          </a:p>
        </p:txBody>
      </p:sp>
      <p:sp>
        <p:nvSpPr>
          <p:cNvPr id="11" name="p17-h-5">
            <a:extLst xmlns:a="http://schemas.openxmlformats.org/drawingml/2006/main">
              <a:ext uri="{FF2B5EF4-FFF2-40B4-BE49-F238E27FC236}">
                <a16:creationId xmlns:a16="http://schemas.microsoft.com/office/drawing/2014/main" id="{78FD2BC1-3A44-46D3-AAA7-D10D241C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162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12" name="p17-r0-0">
            <a:extLst xmlns:a="http://schemas.openxmlformats.org/drawingml/2006/main">
              <a:ext uri="{FF2B5EF4-FFF2-40B4-BE49-F238E27FC236}">
                <a16:creationId xmlns:a16="http://schemas.microsoft.com/office/drawing/2014/main" id="{DF7CFCBD-DD86-4995-9560-1F7D5828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123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文献</a:t>
            </a:r>
          </a:p>
        </p:txBody>
      </p:sp>
      <p:sp>
        <p:nvSpPr>
          <p:cNvPr id="13" name="p17-r0-1">
            <a:extLst xmlns:a="http://schemas.openxmlformats.org/drawingml/2006/main">
              <a:ext uri="{FF2B5EF4-FFF2-40B4-BE49-F238E27FC236}">
                <a16:creationId xmlns:a16="http://schemas.microsoft.com/office/drawing/2014/main" id="{14D20C9F-DF41-4641-BFC3-EDAFC3D9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7165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公开摘要</a:t>
            </a:r>
          </a:p>
        </p:txBody>
      </p:sp>
      <p:sp>
        <p:nvSpPr>
          <p:cNvPr id="14" name="p17-r0-2">
            <a:extLst xmlns:a="http://schemas.openxmlformats.org/drawingml/2006/main">
              <a:ext uri="{FF2B5EF4-FFF2-40B4-BE49-F238E27FC236}">
                <a16:creationId xmlns:a16="http://schemas.microsoft.com/office/drawing/2014/main" id="{E24926A0-E65B-4774-B082-DCFCA999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检索记录</a:t>
            </a:r>
          </a:p>
        </p:txBody>
      </p:sp>
      <p:sp>
        <p:nvSpPr>
          <p:cNvPr id="15" name="p17-r0-3">
            <a:extLst xmlns:a="http://schemas.openxmlformats.org/drawingml/2006/main">
              <a:ext uri="{FF2B5EF4-FFF2-40B4-BE49-F238E27FC236}">
                <a16:creationId xmlns:a16="http://schemas.microsoft.com/office/drawing/2014/main" id="{17EFC89E-37FD-4A27-B6B6-DE01C28C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71650"/>
            <a:ext cx="152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限定检索</a:t>
            </a:r>
          </a:p>
        </p:txBody>
      </p:sp>
      <p:sp>
        <p:nvSpPr>
          <p:cNvPr id="16" name="p17-r0-4">
            <a:extLst xmlns:a="http://schemas.openxmlformats.org/drawingml/2006/main">
              <a:ext uri="{FF2B5EF4-FFF2-40B4-BE49-F238E27FC236}">
                <a16:creationId xmlns:a16="http://schemas.microsoft.com/office/drawing/2014/main" id="{25C8FB09-091E-4F76-A4AF-CC9CA206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71650"/>
            <a:ext cx="2247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下载 / 发送全文前</a:t>
            </a:r>
          </a:p>
        </p:txBody>
      </p:sp>
      <p:sp>
        <p:nvSpPr>
          <p:cNvPr id="17" name="p17-r0-5">
            <a:extLst xmlns:a="http://schemas.openxmlformats.org/drawingml/2006/main">
              <a:ext uri="{FF2B5EF4-FFF2-40B4-BE49-F238E27FC236}">
                <a16:creationId xmlns:a16="http://schemas.microsoft.com/office/drawing/2014/main" id="{C1001DAC-C163-4A01-A5B8-8AE122FB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7165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上传正式评审稿或未授权材料</a:t>
            </a:r>
          </a:p>
        </p:txBody>
      </p:sp>
      <p:sp>
        <p:nvSpPr>
          <p:cNvPr id="18" name="p17-r1-0">
            <a:extLst xmlns:a="http://schemas.openxmlformats.org/drawingml/2006/main">
              <a:ext uri="{FF2B5EF4-FFF2-40B4-BE49-F238E27FC236}">
                <a16:creationId xmlns:a16="http://schemas.microsoft.com/office/drawing/2014/main" id="{34EF6FD7-9CCE-476E-8275-2824B19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123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项目文件</a:t>
            </a:r>
          </a:p>
        </p:txBody>
      </p:sp>
      <p:sp>
        <p:nvSpPr>
          <p:cNvPr id="19" name="p17-r1-1">
            <a:extLst xmlns:a="http://schemas.openxmlformats.org/drawingml/2006/main">
              <a:ext uri="{FF2B5EF4-FFF2-40B4-BE49-F238E27FC236}">
                <a16:creationId xmlns:a16="http://schemas.microsoft.com/office/drawing/2014/main" id="{3E681488-311E-420B-9208-B94AFC7E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4795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指定工件</a:t>
            </a:r>
          </a:p>
        </p:txBody>
      </p:sp>
      <p:sp>
        <p:nvSpPr>
          <p:cNvPr id="20" name="p17-r1-2">
            <a:extLst xmlns:a="http://schemas.openxmlformats.org/drawingml/2006/main">
              <a:ext uri="{FF2B5EF4-FFF2-40B4-BE49-F238E27FC236}">
                <a16:creationId xmlns:a16="http://schemas.microsoft.com/office/drawing/2014/main" id="{404FC623-5F4A-4555-936D-0404FB53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479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指定文件</a:t>
            </a:r>
          </a:p>
        </p:txBody>
      </p:sp>
      <p:sp>
        <p:nvSpPr>
          <p:cNvPr id="21" name="p17-r1-3">
            <a:extLst xmlns:a="http://schemas.openxmlformats.org/drawingml/2006/main">
              <a:ext uri="{FF2B5EF4-FFF2-40B4-BE49-F238E27FC236}">
                <a16:creationId xmlns:a16="http://schemas.microsoft.com/office/drawing/2014/main" id="{C29A499B-482D-4937-B239-2804E6D5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47950"/>
            <a:ext cx="152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白名单命令</a:t>
            </a:r>
          </a:p>
        </p:txBody>
      </p:sp>
      <p:sp>
        <p:nvSpPr>
          <p:cNvPr id="22" name="p17-r1-4">
            <a:extLst xmlns:a="http://schemas.openxmlformats.org/drawingml/2006/main">
              <a:ext uri="{FF2B5EF4-FFF2-40B4-BE49-F238E27FC236}">
                <a16:creationId xmlns:a16="http://schemas.microsoft.com/office/drawing/2014/main" id="{AFDA2A2B-08FD-43E1-BD84-1D38525F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2247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扩大写入前</a:t>
            </a:r>
          </a:p>
        </p:txBody>
      </p:sp>
      <p:sp>
        <p:nvSpPr>
          <p:cNvPr id="23" name="p17-r1-5">
            <a:extLst xmlns:a="http://schemas.openxmlformats.org/drawingml/2006/main">
              <a:ext uri="{FF2B5EF4-FFF2-40B4-BE49-F238E27FC236}">
                <a16:creationId xmlns:a16="http://schemas.microsoft.com/office/drawing/2014/main" id="{0FBD62CD-E230-402E-A05B-29CA900D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删除失败</a:t>
            </a:r>
          </a:p>
        </p:txBody>
      </p:sp>
      <p:sp>
        <p:nvSpPr>
          <p:cNvPr id="24" name="p17-pauses">
            <a:extLst xmlns:a="http://schemas.openxmlformats.org/drawingml/2006/main">
              <a:ext uri="{FF2B5EF4-FFF2-40B4-BE49-F238E27FC236}">
                <a16:creationId xmlns:a16="http://schemas.microsoft.com/office/drawing/2014/main" id="{D5EE424D-F449-4CAC-8D58-A47FA6C8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904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首次写入｜扩大 Context｜安装依赖 / 长时运行｜修改问题、指标或停止条件｜发送、删除或公开｜迁移为 approved / stable</a:t>
            </a:r>
          </a:p>
        </p:txBody>
      </p:sp>
      <p:sp>
        <p:nvSpPr>
          <p:cNvPr id="25" name="p17-pause">
            <a:extLst xmlns:a="http://schemas.openxmlformats.org/drawingml/2006/main">
              <a:ext uri="{FF2B5EF4-FFF2-40B4-BE49-F238E27FC236}">
                <a16:creationId xmlns:a16="http://schemas.microsoft.com/office/drawing/2014/main" id="{08AE616D-4E5D-4DCA-B748-685748DC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4335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PAUSE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REVIEW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长期权限矩阵还需要本次任务契约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p18-project">
            <a:extLst xmlns:a="http://schemas.openxmlformats.org/drawingml/2006/main">
              <a:ext uri="{FF2B5EF4-FFF2-40B4-BE49-F238E27FC236}">
                <a16:creationId xmlns:a16="http://schemas.microsoft.com/office/drawing/2014/main" id="{566286F9-9193-4C3E-9BD7-EDD873BF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71600"/>
            <a:ext cx="941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354E"/>
                </a:solidFill>
              </a:defRPr>
            </a:pPr>
            <a:r>
              <a:rPr sz="23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项目权限矩阵</a:t>
            </a:r>
          </a:p>
        </p:txBody>
      </p:sp>
      <p:sp>
        <p:nvSpPr>
          <p:cNvPr id="7" name="p18-down">
            <a:extLst xmlns:a="http://schemas.openxmlformats.org/drawingml/2006/main">
              <a:ext uri="{FF2B5EF4-FFF2-40B4-BE49-F238E27FC236}">
                <a16:creationId xmlns:a16="http://schemas.microsoft.com/office/drawing/2014/main" id="{92B6CCAE-A268-4735-A6CA-3C44B51E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86450" y="2667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684"/>
                </a:solidFill>
              </a:defRPr>
            </a:pPr>
            <a:r>
              <a:rPr sz="210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18-task">
            <a:extLst xmlns:a="http://schemas.openxmlformats.org/drawingml/2006/main">
              <a:ext uri="{FF2B5EF4-FFF2-40B4-BE49-F238E27FC236}">
                <a16:creationId xmlns:a16="http://schemas.microsoft.com/office/drawing/2014/main" id="{293742C5-3D9F-448D-BDE1-60366B24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41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8161E"/>
                </a:solidFill>
              </a:defRPr>
            </a:pPr>
            <a:r>
              <a:rPr sz="23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本次任务契约</a:t>
            </a:r>
          </a:p>
        </p:txBody>
      </p:sp>
      <p:sp>
        <p:nvSpPr>
          <p:cNvPr id="9" name="p18-fields">
            <a:extLst xmlns:a="http://schemas.openxmlformats.org/drawingml/2006/main">
              <a:ext uri="{FF2B5EF4-FFF2-40B4-BE49-F238E27FC236}">
                <a16:creationId xmlns:a16="http://schemas.microsoft.com/office/drawing/2014/main" id="{AC33B3D7-7C9F-4FCB-AE43-5DC7F9ED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91050"/>
            <a:ext cx="902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Task｜Context｜Output｜Permission｜Non-goal｜Review</a:t>
            </a:r>
          </a:p>
        </p:txBody>
      </p:sp>
      <p:sp>
        <p:nvSpPr>
          <p:cNvPr id="10" name="p18-bottom">
            <a:extLst xmlns:a="http://schemas.openxmlformats.org/drawingml/2006/main">
              <a:ext uri="{FF2B5EF4-FFF2-40B4-BE49-F238E27FC236}">
                <a16:creationId xmlns:a16="http://schemas.microsoft.com/office/drawing/2014/main" id="{089B8132-10FD-4BAA-8627-FD6F792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冲突时执行更窄授权。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比较两个配置：哪个更接近研究需要？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p19-a-title">
            <a:extLst xmlns:a="http://schemas.openxmlformats.org/drawingml/2006/main">
              <a:ext uri="{FF2B5EF4-FFF2-40B4-BE49-F238E27FC236}">
                <a16:creationId xmlns:a16="http://schemas.microsoft.com/office/drawing/2014/main" id="{3EE1A0DE-C485-41C5-8369-9220FA63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配置 A</a:t>
            </a:r>
          </a:p>
        </p:txBody>
      </p:sp>
      <p:sp>
        <p:nvSpPr>
          <p:cNvPr id="7" name="p19-b-title">
            <a:extLst xmlns:a="http://schemas.openxmlformats.org/drawingml/2006/main">
              <a:ext uri="{FF2B5EF4-FFF2-40B4-BE49-F238E27FC236}">
                <a16:creationId xmlns:a16="http://schemas.microsoft.com/office/drawing/2014/main" id="{965B05BC-851B-4813-8A33-6EE04B53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2001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8745A"/>
                </a:solidFill>
              </a:defRPr>
            </a:pPr>
            <a:r>
              <a:rPr sz="21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配置 B</a:t>
            </a:r>
          </a:p>
        </p:txBody>
      </p:sp>
      <p:sp>
        <p:nvSpPr>
          <p:cNvPr id="8" name="p19-a">
            <a:extLst xmlns:a="http://schemas.openxmlformats.org/drawingml/2006/main">
              <a:ext uri="{FF2B5EF4-FFF2-40B4-BE49-F238E27FC236}">
                <a16:creationId xmlns:a16="http://schemas.microsoft.com/office/drawing/2014/main" id="{9B93F2BD-E1D7-496F-A33E-0AB73BE8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762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025" b="1">
                <a:solidFill>
                  <a:srgbClr val="263746"/>
                </a:solidFill>
              </a:defRPr>
            </a:pPr>
            <a:r>
              <a:rPr sz="20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读取所有文件，自由联网，必要时修改任何内容，完成后汇报。</a:t>
            </a:r>
          </a:p>
        </p:txBody>
      </p:sp>
      <p:sp>
        <p:nvSpPr>
          <p:cNvPr id="9" name="p19-b">
            <a:extLst xmlns:a="http://schemas.openxmlformats.org/drawingml/2006/main">
              <a:ext uri="{FF2B5EF4-FFF2-40B4-BE49-F238E27FC236}">
                <a16:creationId xmlns:a16="http://schemas.microsoft.com/office/drawing/2014/main" id="{00FDB434-B5F2-4934-AACC-18D92962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85950"/>
            <a:ext cx="4762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950" b="1">
                <a:solidFill>
                  <a:srgbClr val="263746"/>
                </a:solidFill>
              </a:defRPr>
            </a:pPr>
            <a:r>
              <a:rPr sz="19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只读三个指定文件；不联网；先提交风险卡和修改建议；人工批准后只写两个目标文件。</a:t>
            </a:r>
          </a:p>
        </p:txBody>
      </p:sp>
      <p:sp>
        <p:nvSpPr>
          <p:cNvPr id="10" name="p19-question">
            <a:extLst xmlns:a="http://schemas.openxmlformats.org/drawingml/2006/main">
              <a:ext uri="{FF2B5EF4-FFF2-40B4-BE49-F238E27FC236}">
                <a16:creationId xmlns:a16="http://schemas.microsoft.com/office/drawing/2014/main" id="{9CBA4F75-29D9-4ECF-A736-6AE94D4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291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配置 B 还缺什么？补一项限制和一项核验。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文件与工件成熟度的区别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p20-file">
            <a:extLst xmlns:a="http://schemas.openxmlformats.org/drawingml/2006/main">
              <a:ext uri="{FF2B5EF4-FFF2-40B4-BE49-F238E27FC236}">
                <a16:creationId xmlns:a16="http://schemas.microsoft.com/office/drawing/2014/main" id="{85469722-CF50-4EEC-AFC9-34FBC41C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8354E"/>
                </a:solidFill>
              </a:defRPr>
            </a:pPr>
            <a:r>
              <a:rPr sz="27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7" name="p20-file-q">
            <a:extLst xmlns:a="http://schemas.openxmlformats.org/drawingml/2006/main">
              <a:ext uri="{FF2B5EF4-FFF2-40B4-BE49-F238E27FC236}">
                <a16:creationId xmlns:a16="http://schemas.microsoft.com/office/drawing/2014/main" id="{89DA8B08-0172-4ACE-BA2D-6B618DEC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684"/>
                </a:solidFill>
              </a:defRPr>
            </a:pPr>
            <a:r>
              <a: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内容存在哪里？</a:t>
            </a:r>
          </a:p>
        </p:txBody>
      </p:sp>
      <p:sp>
        <p:nvSpPr>
          <p:cNvPr id="8" name="p20-divider">
            <a:extLst xmlns:a="http://schemas.openxmlformats.org/drawingml/2006/main">
              <a:ext uri="{FF2B5EF4-FFF2-40B4-BE49-F238E27FC236}">
                <a16:creationId xmlns:a16="http://schemas.microsoft.com/office/drawing/2014/main" id="{CC70AE4D-4F34-46FD-982E-2E157D5C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57350" y="3114675"/>
            <a:ext cx="403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20-a-0">
            <a:extLst xmlns:a="http://schemas.openxmlformats.org/drawingml/2006/main">
              <a:ext uri="{FF2B5EF4-FFF2-40B4-BE49-F238E27FC236}">
                <a16:creationId xmlns:a16="http://schemas.microsoft.com/office/drawing/2014/main" id="{0F403EC8-321B-4C62-9F2D-67254710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860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684"/>
                </a:solidFill>
              </a:defRPr>
            </a:pPr>
            <a:r>
              <a:rPr sz="210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20-s-0">
            <a:extLst xmlns:a="http://schemas.openxmlformats.org/drawingml/2006/main">
              <a:ext uri="{FF2B5EF4-FFF2-40B4-BE49-F238E27FC236}">
                <a16:creationId xmlns:a16="http://schemas.microsoft.com/office/drawing/2014/main" id="{7F059620-77B9-4928-9151-70691966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812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684"/>
                </a:solidFill>
              </a:defRPr>
            </a:pPr>
            <a:r>
              <a:rPr sz="15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11" name="p20-b-0">
            <a:extLst xmlns:a="http://schemas.openxmlformats.org/drawingml/2006/main">
              <a:ext uri="{FF2B5EF4-FFF2-40B4-BE49-F238E27FC236}">
                <a16:creationId xmlns:a16="http://schemas.microsoft.com/office/drawing/2014/main" id="{EF88878B-539E-4B64-B336-52853D02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1466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初步内容</a:t>
            </a:r>
          </a:p>
        </p:txBody>
      </p:sp>
      <p:sp>
        <p:nvSpPr>
          <p:cNvPr id="12" name="p20-a-1">
            <a:extLst xmlns:a="http://schemas.openxmlformats.org/drawingml/2006/main">
              <a:ext uri="{FF2B5EF4-FFF2-40B4-BE49-F238E27FC236}">
                <a16:creationId xmlns:a16="http://schemas.microsoft.com/office/drawing/2014/main" id="{1207B5F8-E728-4CA5-B40B-CB77A4E8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684"/>
                </a:solidFill>
              </a:defRPr>
            </a:pPr>
            <a:r>
              <a:rPr sz="210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20-s-1">
            <a:extLst xmlns:a="http://schemas.openxmlformats.org/drawingml/2006/main">
              <a:ext uri="{FF2B5EF4-FFF2-40B4-BE49-F238E27FC236}">
                <a16:creationId xmlns:a16="http://schemas.microsoft.com/office/drawing/2014/main" id="{FD8F2EE7-C713-4DF3-8B7B-F305E5C2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812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638A"/>
                </a:solidFill>
              </a:defRPr>
            </a:pPr>
            <a:r>
              <a:rPr sz="1575" b="1">
                <a:solidFill>
                  <a:srgbClr val="2F638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4" name="p20-b-1">
            <a:extLst xmlns:a="http://schemas.openxmlformats.org/drawingml/2006/main">
              <a:ext uri="{FF2B5EF4-FFF2-40B4-BE49-F238E27FC236}">
                <a16:creationId xmlns:a16="http://schemas.microsoft.com/office/drawing/2014/main" id="{BB2301B0-9D77-435E-AB8F-6312FCC5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28900"/>
            <a:ext cx="1466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等待审查</a:t>
            </a:r>
          </a:p>
        </p:txBody>
      </p:sp>
      <p:sp>
        <p:nvSpPr>
          <p:cNvPr id="15" name="p20-a-2">
            <a:extLst xmlns:a="http://schemas.openxmlformats.org/drawingml/2006/main">
              <a:ext uri="{FF2B5EF4-FFF2-40B4-BE49-F238E27FC236}">
                <a16:creationId xmlns:a16="http://schemas.microsoft.com/office/drawing/2014/main" id="{243962B0-1F27-427B-BF6E-78A4E190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860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684"/>
                </a:solidFill>
              </a:defRPr>
            </a:pPr>
            <a:r>
              <a:rPr sz="210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p20-s-2">
            <a:extLst xmlns:a="http://schemas.openxmlformats.org/drawingml/2006/main">
              <a:ext uri="{FF2B5EF4-FFF2-40B4-BE49-F238E27FC236}">
                <a16:creationId xmlns:a16="http://schemas.microsoft.com/office/drawing/2014/main" id="{528306A8-FC72-4AD1-9306-2E5577F0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17" name="p20-b-2">
            <a:extLst xmlns:a="http://schemas.openxmlformats.org/drawingml/2006/main">
              <a:ext uri="{FF2B5EF4-FFF2-40B4-BE49-F238E27FC236}">
                <a16:creationId xmlns:a16="http://schemas.microsoft.com/office/drawing/2014/main" id="{F2A5F669-7622-4EE7-9F1F-F819D52C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28900"/>
            <a:ext cx="1466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通过人工门</a:t>
            </a:r>
          </a:p>
        </p:txBody>
      </p:sp>
      <p:sp>
        <p:nvSpPr>
          <p:cNvPr id="18" name="p20-s-3">
            <a:extLst xmlns:a="http://schemas.openxmlformats.org/drawingml/2006/main">
              <a:ext uri="{FF2B5EF4-FFF2-40B4-BE49-F238E27FC236}">
                <a16:creationId xmlns:a16="http://schemas.microsoft.com/office/drawing/2014/main" id="{B2D05D1F-7935-4004-8750-E821E2E5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812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stable</a:t>
            </a:r>
          </a:p>
        </p:txBody>
      </p:sp>
      <p:sp>
        <p:nvSpPr>
          <p:cNvPr id="19" name="p20-b-3">
            <a:extLst xmlns:a="http://schemas.openxmlformats.org/drawingml/2006/main">
              <a:ext uri="{FF2B5EF4-FFF2-40B4-BE49-F238E27FC236}">
                <a16:creationId xmlns:a16="http://schemas.microsoft.com/office/drawing/2014/main" id="{C3A26FFF-334E-43F0-A2AD-A2250799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28900"/>
            <a:ext cx="1466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证据与边界足以引用</a:t>
            </a:r>
          </a:p>
        </p:txBody>
      </p:sp>
      <p:sp>
        <p:nvSpPr>
          <p:cNvPr id="20" name="p20-return">
            <a:extLst xmlns:a="http://schemas.openxmlformats.org/drawingml/2006/main">
              <a:ext uri="{FF2B5EF4-FFF2-40B4-BE49-F238E27FC236}">
                <a16:creationId xmlns:a16="http://schemas.microsoft.com/office/drawing/2014/main" id="{B7DDEEDC-0C58-407A-9653-16E1D461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238750" y="422910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20-return-label">
            <a:extLst xmlns:a="http://schemas.openxmlformats.org/drawingml/2006/main">
              <a:ext uri="{FF2B5EF4-FFF2-40B4-BE49-F238E27FC236}">
                <a16:creationId xmlns:a16="http://schemas.microsoft.com/office/drawing/2014/main" id="{D8E4F04C-FDE5-4604-A6A9-5AAE67D8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62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新证据可以让 stable 回到 review</a:t>
            </a:r>
          </a:p>
        </p:txBody>
      </p:sp>
      <p:sp>
        <p:nvSpPr>
          <p:cNvPr id="22" name="p20-bottom">
            <a:extLst xmlns:a="http://schemas.openxmlformats.org/drawingml/2006/main">
              <a:ext uri="{FF2B5EF4-FFF2-40B4-BE49-F238E27FC236}">
                <a16:creationId xmlns:a16="http://schemas.microsoft.com/office/drawing/2014/main" id="{A7B68640-5D07-44A7-99F4-A8A0C622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stable 不是“写完了”；原则上需要两项相互独立的证据。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状态迁移的依据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  <a:endParaRPr/>
          </a:p>
        </p:txBody>
      </p:sp>
      <p:sp>
        <p:nvSpPr>
          <p:cNvPr id="6" name="p21-transition">
            <a:extLst xmlns:a="http://schemas.openxmlformats.org/drawingml/2006/main">
              <a:ext uri="{FF2B5EF4-FFF2-40B4-BE49-F238E27FC236}">
                <a16:creationId xmlns:a16="http://schemas.microsoft.com/office/drawing/2014/main" id="{1E412E75-D78A-493D-A917-D60D4252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3081338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21-from">
            <a:extLst xmlns:a="http://schemas.openxmlformats.org/drawingml/2006/main">
              <a:ext uri="{FF2B5EF4-FFF2-40B4-BE49-F238E27FC236}">
                <a16:creationId xmlns:a16="http://schemas.microsoft.com/office/drawing/2014/main" id="{C6EC6AC7-104C-4858-950F-550A94DA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2890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638A"/>
                </a:solidFill>
              </a:defRPr>
            </a:pPr>
            <a:r>
              <a:rPr sz="2325" b="1">
                <a:solidFill>
                  <a:srgbClr val="2F638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8" name="p21-to">
            <a:extLst xmlns:a="http://schemas.openxmlformats.org/drawingml/2006/main">
              <a:ext uri="{FF2B5EF4-FFF2-40B4-BE49-F238E27FC236}">
                <a16:creationId xmlns:a16="http://schemas.microsoft.com/office/drawing/2014/main" id="{D7E74113-CAB3-43E1-9121-642C2114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2890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8745A"/>
                </a:solidFill>
              </a:defRPr>
            </a:pPr>
            <a:r>
              <a:rPr sz="2325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9" name="p21-q-0">
            <a:extLst xmlns:a="http://schemas.openxmlformats.org/drawingml/2006/main">
              <a:ext uri="{FF2B5EF4-FFF2-40B4-BE49-F238E27FC236}">
                <a16:creationId xmlns:a16="http://schemas.microsoft.com/office/drawing/2014/main" id="{5C5EA0BC-1312-44D9-8651-B230673E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谁发起？</a:t>
            </a:r>
          </a:p>
        </p:txBody>
      </p:sp>
      <p:sp>
        <p:nvSpPr>
          <p:cNvPr id="10" name="p21-q-1">
            <a:extLst xmlns:a="http://schemas.openxmlformats.org/drawingml/2006/main">
              <a:ext uri="{FF2B5EF4-FFF2-40B4-BE49-F238E27FC236}">
                <a16:creationId xmlns:a16="http://schemas.microsoft.com/office/drawing/2014/main" id="{40FDFADB-7824-4902-9509-9DEA6EA3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001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谁复核？</a:t>
            </a:r>
          </a:p>
        </p:txBody>
      </p:sp>
      <p:sp>
        <p:nvSpPr>
          <p:cNvPr id="11" name="p21-q-2">
            <a:extLst xmlns:a="http://schemas.openxmlformats.org/drawingml/2006/main">
              <a:ext uri="{FF2B5EF4-FFF2-40B4-BE49-F238E27FC236}">
                <a16:creationId xmlns:a16="http://schemas.microsoft.com/office/drawing/2014/main" id="{9F700F78-C086-4BBF-A91A-ED1FE3EC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新增了什么证据？</a:t>
            </a:r>
          </a:p>
        </p:txBody>
      </p:sp>
      <p:sp>
        <p:nvSpPr>
          <p:cNvPr id="12" name="p21-q-3">
            <a:extLst xmlns:a="http://schemas.openxmlformats.org/drawingml/2006/main">
              <a:ext uri="{FF2B5EF4-FFF2-40B4-BE49-F238E27FC236}">
                <a16:creationId xmlns:a16="http://schemas.microsoft.com/office/drawing/2014/main" id="{3996E1DC-AB0A-459B-9338-7957722B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434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解决了什么问题？</a:t>
            </a:r>
          </a:p>
        </p:txBody>
      </p:sp>
      <p:sp>
        <p:nvSpPr>
          <p:cNvPr id="13" name="p21-q-4">
            <a:extLst xmlns:a="http://schemas.openxmlformats.org/drawingml/2006/main">
              <a:ext uri="{FF2B5EF4-FFF2-40B4-BE49-F238E27FC236}">
                <a16:creationId xmlns:a16="http://schemas.microsoft.com/office/drawing/2014/main" id="{7F58385B-7F6C-47FC-AAF0-93460507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434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仍有什么边界？</a:t>
            </a:r>
          </a:p>
        </p:txBody>
      </p:sp>
      <p:sp>
        <p:nvSpPr>
          <p:cNvPr id="14" name="p21-q-5">
            <a:extLst xmlns:a="http://schemas.openxmlformats.org/drawingml/2006/main">
              <a:ext uri="{FF2B5EF4-FFF2-40B4-BE49-F238E27FC236}">
                <a16:creationId xmlns:a16="http://schemas.microsoft.com/office/drawing/2014/main" id="{F5FC4EBA-C62E-4401-AFD7-6A0F725A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053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下一步用于什么？</a:t>
            </a:r>
          </a:p>
        </p:txBody>
      </p:sp>
      <p:sp>
        <p:nvSpPr>
          <p:cNvPr id="15" name="p21-bottom">
            <a:extLst xmlns:a="http://schemas.openxmlformats.org/drawingml/2006/main">
              <a:ext uri="{FF2B5EF4-FFF2-40B4-BE49-F238E27FC236}">
                <a16:creationId xmlns:a16="http://schemas.microsoft.com/office/drawing/2014/main" id="{8D8733D9-7F10-440F-9E38-7160666F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72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Agent 可以建议迁移，不能把“任务完成”直接等同于“工件获批”。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追踪表的三个关键字段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B18BA8-60F4-C50D-CD9B-1BB87D3E8506}" type="slidenum">
              <a:t>22</a:t>
            </a:fld>
            <a:endParaRPr/>
          </a:p>
        </p:txBody>
      </p:sp>
      <p:sp>
        <p:nvSpPr>
          <p:cNvPr id="6" name="p22-h-0">
            <a:extLst xmlns:a="http://schemas.openxmlformats.org/drawingml/2006/main">
              <a:ext uri="{FF2B5EF4-FFF2-40B4-BE49-F238E27FC236}">
                <a16:creationId xmlns:a16="http://schemas.microsoft.com/office/drawing/2014/main" id="{0E10D796-A011-48F9-9B59-2E9C2EF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335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工件</a:t>
            </a:r>
          </a:p>
        </p:txBody>
      </p:sp>
      <p:sp>
        <p:nvSpPr>
          <p:cNvPr id="7" name="p22-h-1">
            <a:extLst xmlns:a="http://schemas.openxmlformats.org/drawingml/2006/main">
              <a:ext uri="{FF2B5EF4-FFF2-40B4-BE49-F238E27FC236}">
                <a16:creationId xmlns:a16="http://schemas.microsoft.com/office/drawing/2014/main" id="{57727FDD-8A35-4552-BD6D-3FF71742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335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8" name="p22-h-2">
            <a:extLst xmlns:a="http://schemas.openxmlformats.org/drawingml/2006/main">
              <a:ext uri="{FF2B5EF4-FFF2-40B4-BE49-F238E27FC236}">
                <a16:creationId xmlns:a16="http://schemas.microsoft.com/office/drawing/2014/main" id="{79116B50-F6B8-4DD4-840C-F4F7F591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335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9" name="p22-h-3">
            <a:extLst xmlns:a="http://schemas.openxmlformats.org/drawingml/2006/main">
              <a:ext uri="{FF2B5EF4-FFF2-40B4-BE49-F238E27FC236}">
                <a16:creationId xmlns:a16="http://schemas.microsoft.com/office/drawing/2014/main" id="{24BB98CE-F1CC-4A40-BF77-F1A78E41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335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10" name="p22-h-4">
            <a:extLst xmlns:a="http://schemas.openxmlformats.org/drawingml/2006/main">
              <a:ext uri="{FF2B5EF4-FFF2-40B4-BE49-F238E27FC236}">
                <a16:creationId xmlns:a16="http://schemas.microsoft.com/office/drawing/2014/main" id="{8955C156-2251-408A-BED8-171E8E4B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后续用途</a:t>
            </a:r>
          </a:p>
        </p:txBody>
      </p:sp>
      <p:sp>
        <p:nvSpPr>
          <p:cNvPr id="11" name="p22-r0-0">
            <a:extLst xmlns:a="http://schemas.openxmlformats.org/drawingml/2006/main">
              <a:ext uri="{FF2B5EF4-FFF2-40B4-BE49-F238E27FC236}">
                <a16:creationId xmlns:a16="http://schemas.microsoft.com/office/drawing/2014/main" id="{A4640055-882B-4DA9-82E5-CC4E338F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383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权限矩阵</a:t>
            </a:r>
          </a:p>
        </p:txBody>
      </p:sp>
      <p:sp>
        <p:nvSpPr>
          <p:cNvPr id="12" name="p22-r0-1">
            <a:extLst xmlns:a="http://schemas.openxmlformats.org/drawingml/2006/main">
              <a:ext uri="{FF2B5EF4-FFF2-40B4-BE49-F238E27FC236}">
                <a16:creationId xmlns:a16="http://schemas.microsoft.com/office/drawing/2014/main" id="{CB2BE2D0-6FAA-4C3A-AB57-899D4928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3835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3" name="p22-r0-2">
            <a:extLst xmlns:a="http://schemas.openxmlformats.org/drawingml/2006/main">
              <a:ext uri="{FF2B5EF4-FFF2-40B4-BE49-F238E27FC236}">
                <a16:creationId xmlns:a16="http://schemas.microsoft.com/office/drawing/2014/main" id="{D57FA75D-3258-4613-827D-43E5B091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当前任务</a:t>
            </a:r>
          </a:p>
        </p:txBody>
      </p:sp>
      <p:sp>
        <p:nvSpPr>
          <p:cNvPr id="14" name="p22-r0-3">
            <a:extLst xmlns:a="http://schemas.openxmlformats.org/drawingml/2006/main">
              <a:ext uri="{FF2B5EF4-FFF2-40B4-BE49-F238E27FC236}">
                <a16:creationId xmlns:a16="http://schemas.microsoft.com/office/drawing/2014/main" id="{562B53B5-D1F8-42D5-B82C-6BB5F0EB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38350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风险卡与确认点</a:t>
            </a:r>
          </a:p>
        </p:txBody>
      </p:sp>
      <p:sp>
        <p:nvSpPr>
          <p:cNvPr id="15" name="p22-r0-4">
            <a:extLst xmlns:a="http://schemas.openxmlformats.org/drawingml/2006/main">
              <a:ext uri="{FF2B5EF4-FFF2-40B4-BE49-F238E27FC236}">
                <a16:creationId xmlns:a16="http://schemas.microsoft.com/office/drawing/2014/main" id="{C9542A44-D392-4EB8-9490-FFC5E223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后续 Agent 任务</a:t>
            </a:r>
          </a:p>
        </p:txBody>
      </p:sp>
      <p:sp>
        <p:nvSpPr>
          <p:cNvPr id="16" name="p22-r1-0">
            <a:extLst xmlns:a="http://schemas.openxmlformats.org/drawingml/2006/main">
              <a:ext uri="{FF2B5EF4-FFF2-40B4-BE49-F238E27FC236}">
                <a16:creationId xmlns:a16="http://schemas.microsoft.com/office/drawing/2014/main" id="{51866DCE-5EA4-430F-B75E-71B898C6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6230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伦理清单</a:t>
            </a:r>
          </a:p>
        </p:txBody>
      </p:sp>
      <p:sp>
        <p:nvSpPr>
          <p:cNvPr id="17" name="p22-r1-1">
            <a:extLst xmlns:a="http://schemas.openxmlformats.org/drawingml/2006/main">
              <a:ext uri="{FF2B5EF4-FFF2-40B4-BE49-F238E27FC236}">
                <a16:creationId xmlns:a16="http://schemas.microsoft.com/office/drawing/2014/main" id="{02F63020-A276-4AAE-B6FE-F6A0B01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623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18" name="p22-r1-2">
            <a:extLst xmlns:a="http://schemas.openxmlformats.org/drawingml/2006/main">
              <a:ext uri="{FF2B5EF4-FFF2-40B4-BE49-F238E27FC236}">
                <a16:creationId xmlns:a16="http://schemas.microsoft.com/office/drawing/2014/main" id="{B021872C-4670-4085-A7CB-3F314988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62300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数据与情境</a:t>
            </a:r>
          </a:p>
        </p:txBody>
      </p:sp>
      <p:sp>
        <p:nvSpPr>
          <p:cNvPr id="19" name="p22-r1-3">
            <a:extLst xmlns:a="http://schemas.openxmlformats.org/drawingml/2006/main">
              <a:ext uri="{FF2B5EF4-FFF2-40B4-BE49-F238E27FC236}">
                <a16:creationId xmlns:a16="http://schemas.microsoft.com/office/drawing/2014/main" id="{AF42D027-9BDF-4210-8D75-9DA997BA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许可与风险判断</a:t>
            </a:r>
          </a:p>
        </p:txBody>
      </p:sp>
      <p:sp>
        <p:nvSpPr>
          <p:cNvPr id="20" name="p22-r1-4">
            <a:extLst xmlns:a="http://schemas.openxmlformats.org/drawingml/2006/main">
              <a:ext uri="{FF2B5EF4-FFF2-40B4-BE49-F238E27FC236}">
                <a16:creationId xmlns:a16="http://schemas.microsoft.com/office/drawing/2014/main" id="{7906E5C6-C416-4FCC-9765-39C5A6FE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调整项目范围</a:t>
            </a:r>
          </a:p>
        </p:txBody>
      </p:sp>
      <p:sp>
        <p:nvSpPr>
          <p:cNvPr id="21" name="p22-bottom">
            <a:extLst xmlns:a="http://schemas.openxmlformats.org/drawingml/2006/main">
              <a:ext uri="{FF2B5EF4-FFF2-40B4-BE49-F238E27FC236}">
                <a16:creationId xmlns:a16="http://schemas.microsoft.com/office/drawing/2014/main" id="{ADAD0092-3DB4-4500-9C85-0EFEE54C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24400"/>
            <a:ext cx="941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来源：从哪里来　　依据：为什么相信　　后续用途：为什么维护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日志的信息量标准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E99CEF-AF55-BA3C-ADF8-4E52E186DD8F}" type="slidenum">
              <a:t>23</a:t>
            </a:fld>
            <a:endParaRPr/>
          </a:p>
        </p:txBody>
      </p:sp>
      <p:sp>
        <p:nvSpPr>
          <p:cNvPr id="6" name="p23-good-label">
            <a:extLst xmlns:a="http://schemas.openxmlformats.org/drawingml/2006/main">
              <a:ext uri="{FF2B5EF4-FFF2-40B4-BE49-F238E27FC236}">
                <a16:creationId xmlns:a16="http://schemas.microsoft.com/office/drawing/2014/main" id="{582D41BD-9C80-4C74-904B-2F6F97DC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745A"/>
                </a:solidFill>
              </a:defRPr>
            </a:pPr>
            <a:r>
              <a:rPr sz="18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有用</a:t>
            </a:r>
          </a:p>
        </p:txBody>
      </p:sp>
      <p:sp>
        <p:nvSpPr>
          <p:cNvPr id="7" name="p23-good">
            <a:extLst xmlns:a="http://schemas.openxmlformats.org/drawingml/2006/main">
              <a:ext uri="{FF2B5EF4-FFF2-40B4-BE49-F238E27FC236}">
                <a16:creationId xmlns:a16="http://schemas.microsoft.com/office/drawing/2014/main" id="{EA768B79-5C55-4122-A54E-FD8D2688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09550" tIns="152400" rIns="209550" bIns="15240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Context：指定三份公开材料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实际输出：五字段风险卡 + 两项修改建议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采用 / 拒绝：采纳第 2 项，拒绝第 1 项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核验：对照原文件与 git diff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问题：授权范围仍待确认</a:t>
            </a:r>
          </a:p>
        </p:txBody>
      </p:sp>
      <p:sp>
        <p:nvSpPr>
          <p:cNvPr id="8" name="p23-bad-label">
            <a:extLst xmlns:a="http://schemas.openxmlformats.org/drawingml/2006/main">
              <a:ext uri="{FF2B5EF4-FFF2-40B4-BE49-F238E27FC236}">
                <a16:creationId xmlns:a16="http://schemas.microsoft.com/office/drawing/2014/main" id="{0A556418-13FF-45DD-A7F5-88B0B275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无用</a:t>
            </a:r>
          </a:p>
        </p:txBody>
      </p:sp>
      <p:sp>
        <p:nvSpPr>
          <p:cNvPr id="9" name="p23-bad">
            <a:extLst xmlns:a="http://schemas.openxmlformats.org/drawingml/2006/main">
              <a:ext uri="{FF2B5EF4-FFF2-40B4-BE49-F238E27FC236}">
                <a16:creationId xmlns:a16="http://schemas.microsoft.com/office/drawing/2014/main" id="{EE1C1A27-1AE8-4104-9C64-34055AC6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10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Consolas"/>
                <a:ea typeface="Consolas"/>
                <a:cs typeface="Consolas"/>
              </a:rPr>
              <a:t>“用 AI 修改，已人工核验。”</a:t>
            </a:r>
          </a:p>
        </p:txBody>
      </p:sp>
      <p:sp>
        <p:nvSpPr>
          <p:cNvPr id="10" name="p23-bottom">
            <a:extLst xmlns:a="http://schemas.openxmlformats.org/drawingml/2006/main">
              <a:ext uri="{FF2B5EF4-FFF2-40B4-BE49-F238E27FC236}">
                <a16:creationId xmlns:a16="http://schemas.microsoft.com/office/drawing/2014/main" id="{0C1BEC2B-D95B-4EF6-96D6-DD3AE3F4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人工核验必须说明：核验什么，用什么方法。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演示目标：把风险判断写入三个工件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59AF09-D197-0193-A7DE-FAAF0B691058}" type="slidenum">
              <a:t>24</a:t>
            </a:fld>
            <a:endParaRPr/>
          </a:p>
        </p:txBody>
      </p:sp>
      <p:sp>
        <p:nvSpPr>
          <p:cNvPr id="6" name="p24-fiction">
            <a:extLst xmlns:a="http://schemas.openxmlformats.org/drawingml/2006/main">
              <a:ext uri="{FF2B5EF4-FFF2-40B4-BE49-F238E27FC236}">
                <a16:creationId xmlns:a16="http://schemas.microsoft.com/office/drawing/2014/main" id="{8A1791D5-34CF-43D0-9F57-579B9361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公开虚构任务</a:t>
            </a:r>
          </a:p>
        </p:txBody>
      </p:sp>
      <p:sp>
        <p:nvSpPr>
          <p:cNvPr id="7" name="p24-task">
            <a:extLst xmlns:a="http://schemas.openxmlformats.org/drawingml/2006/main">
              <a:ext uri="{FF2B5EF4-FFF2-40B4-BE49-F238E27FC236}">
                <a16:creationId xmlns:a16="http://schemas.microsoft.com/office/drawing/2014/main" id="{BB4E48F5-B493-4521-B9B1-F1435009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667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625" b="1">
                <a:solidFill>
                  <a:srgbClr val="18354E"/>
                </a:solidFill>
              </a:defRPr>
            </a:pPr>
            <a:r>
              <a:rPr sz="26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使用公开论文摘要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2625" b="1">
                <a:solidFill>
                  <a:srgbClr val="18354E"/>
                </a:solidFill>
              </a:defRPr>
            </a:pPr>
            <a:r>
              <a:rPr sz="26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生成候选关键词</a:t>
            </a:r>
          </a:p>
        </p:txBody>
      </p:sp>
      <p:sp>
        <p:nvSpPr>
          <p:cNvPr id="8" name="p24-arrow">
            <a:extLst xmlns:a="http://schemas.openxmlformats.org/drawingml/2006/main">
              <a:ext uri="{FF2B5EF4-FFF2-40B4-BE49-F238E27FC236}">
                <a16:creationId xmlns:a16="http://schemas.microsoft.com/office/drawing/2014/main" id="{8109C160-A489-4ED7-8A9B-36EA1BC7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C8161E"/>
                </a:solidFill>
              </a:defRPr>
            </a:pPr>
            <a:r>
              <a:rPr sz="36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24-f-0">
            <a:extLst xmlns:a="http://schemas.openxmlformats.org/drawingml/2006/main">
              <a:ext uri="{FF2B5EF4-FFF2-40B4-BE49-F238E27FC236}">
                <a16:creationId xmlns:a16="http://schemas.microsoft.com/office/drawing/2014/main" id="{3686D67F-50FA-4ED0-AAE0-A831C0A3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09700"/>
            <a:ext cx="4629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agent-permissions.md</a:t>
            </a:r>
          </a:p>
        </p:txBody>
      </p:sp>
      <p:sp>
        <p:nvSpPr>
          <p:cNvPr id="10" name="p24-f-1">
            <a:extLst xmlns:a="http://schemas.openxmlformats.org/drawingml/2006/main">
              <a:ext uri="{FF2B5EF4-FFF2-40B4-BE49-F238E27FC236}">
                <a16:creationId xmlns:a16="http://schemas.microsoft.com/office/drawing/2014/main" id="{BE1DAFB2-0EFE-49DF-8CE0-9C79A448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629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Consolas"/>
                <a:ea typeface="Consolas"/>
                <a:cs typeface="Consolas"/>
              </a:rPr>
              <a:t>ethics-and-compliance.md</a:t>
            </a:r>
          </a:p>
        </p:txBody>
      </p:sp>
      <p:sp>
        <p:nvSpPr>
          <p:cNvPr id="11" name="p24-f-2">
            <a:extLst xmlns:a="http://schemas.openxmlformats.org/drawingml/2006/main">
              <a:ext uri="{FF2B5EF4-FFF2-40B4-BE49-F238E27FC236}">
                <a16:creationId xmlns:a16="http://schemas.microsoft.com/office/drawing/2014/main" id="{19C320FE-09A0-43F2-8174-5522D0BE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5700"/>
            <a:ext cx="4629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ai-usage-log.md</a:t>
            </a:r>
          </a:p>
        </p:txBody>
      </p:sp>
      <p:sp>
        <p:nvSpPr>
          <p:cNvPr id="12" name="p24-bottom">
            <a:extLst xmlns:a="http://schemas.openxmlformats.org/drawingml/2006/main">
              <a:ext uri="{FF2B5EF4-FFF2-40B4-BE49-F238E27FC236}">
                <a16:creationId xmlns:a16="http://schemas.microsoft.com/office/drawing/2014/main" id="{DD04E53D-EF23-4D67-80EC-050DA08E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观察 Context、权限、人工判断、写回和实际 diff；不评价关键词是否漂亮。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第一轮只读：先找风险和过宽权限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AE1AE4-D79E-94D6-E825-3FC6C21A77D2}" type="slidenum">
              <a:t>25</a:t>
            </a:fld>
            <a:endParaRPr/>
          </a:p>
        </p:txBody>
      </p:sp>
      <p:sp>
        <p:nvSpPr>
          <p:cNvPr id="6" name="p25-contract">
            <a:extLst xmlns:a="http://schemas.openxmlformats.org/drawingml/2006/main">
              <a:ext uri="{FF2B5EF4-FFF2-40B4-BE49-F238E27FC236}">
                <a16:creationId xmlns:a16="http://schemas.microsoft.com/office/drawing/2014/main" id="{3D39BA46-769E-4AA2-B661-871860F7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READ-ONLY RISK CONTRACT</a:t>
            </a:r>
          </a:p>
        </p:txBody>
      </p:sp>
      <p:sp>
        <p:nvSpPr>
          <p:cNvPr id="7" name="p25-code">
            <a:extLst xmlns:a="http://schemas.openxmlformats.org/drawingml/2006/main">
              <a:ext uri="{FF2B5EF4-FFF2-40B4-BE49-F238E27FC236}">
                <a16:creationId xmlns:a16="http://schemas.microsoft.com/office/drawing/2014/main" id="{F080D457-D80F-4407-8404-66378467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7533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190500" tIns="152400" rIns="190500" bIns="1524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读取 AGENTS.md、problem-definition.md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和 agent-permissions.md。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生成：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1. 五字段风险卡；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2. 过宽或缺失权限；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3. 最小修改建议。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限制：不修改文件；不联网；不假设额外授权；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不把建议写成已批准决定。</a:t>
            </a:r>
          </a:p>
        </p:txBody>
      </p:sp>
      <p:sp>
        <p:nvSpPr>
          <p:cNvPr id="8" name="p25-tag-0">
            <a:extLst xmlns:a="http://schemas.openxmlformats.org/drawingml/2006/main">
              <a:ext uri="{FF2B5EF4-FFF2-40B4-BE49-F238E27FC236}">
                <a16:creationId xmlns:a16="http://schemas.microsoft.com/office/drawing/2014/main" id="{9791CCE6-7C40-4FB6-804D-559D51F0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097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Asset</a:t>
            </a:r>
          </a:p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指定三份文件</a:t>
            </a:r>
          </a:p>
        </p:txBody>
      </p:sp>
      <p:sp>
        <p:nvSpPr>
          <p:cNvPr id="9" name="p25-tag-1">
            <a:extLst xmlns:a="http://schemas.openxmlformats.org/drawingml/2006/main">
              <a:ext uri="{FF2B5EF4-FFF2-40B4-BE49-F238E27FC236}">
                <a16:creationId xmlns:a16="http://schemas.microsoft.com/office/drawing/2014/main" id="{5A2B7FAC-659D-4819-999D-ADCCAD35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只读分析</a:t>
            </a:r>
          </a:p>
        </p:txBody>
      </p:sp>
      <p:sp>
        <p:nvSpPr>
          <p:cNvPr id="10" name="p25-tag-2">
            <a:extLst xmlns:a="http://schemas.openxmlformats.org/drawingml/2006/main">
              <a:ext uri="{FF2B5EF4-FFF2-40B4-BE49-F238E27FC236}">
                <a16:creationId xmlns:a16="http://schemas.microsoft.com/office/drawing/2014/main" id="{34EBE295-5171-4AA9-8564-E31B8223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528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Control</a:t>
            </a:r>
          </a:p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不写入 / 不联网</a:t>
            </a:r>
          </a:p>
        </p:txBody>
      </p:sp>
      <p:sp>
        <p:nvSpPr>
          <p:cNvPr id="11" name="p25-tag-3">
            <a:extLst xmlns:a="http://schemas.openxmlformats.org/drawingml/2006/main">
              <a:ext uri="{FF2B5EF4-FFF2-40B4-BE49-F238E27FC236}">
                <a16:creationId xmlns:a16="http://schemas.microsoft.com/office/drawing/2014/main" id="{58E84CCD-9F8A-4B06-9880-160BDB00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建议不得自动获批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人工批准后，只写目标文件并检查实际变化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B55966-FA28-BC73-EA9E-53DF014DF033}" type="slidenum">
              <a:t>26</a:t>
            </a:fld>
            <a:endParaRPr/>
          </a:p>
        </p:txBody>
      </p:sp>
      <p:sp>
        <p:nvSpPr>
          <p:cNvPr id="6" name="p26-prompt-title">
            <a:extLst xmlns:a="http://schemas.openxmlformats.org/drawingml/2006/main">
              <a:ext uri="{FF2B5EF4-FFF2-40B4-BE49-F238E27FC236}">
                <a16:creationId xmlns:a16="http://schemas.microsoft.com/office/drawing/2014/main" id="{7ABD42AC-FC57-4EDE-80B5-865889A3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限定写回</a:t>
            </a:r>
          </a:p>
        </p:txBody>
      </p:sp>
      <p:sp>
        <p:nvSpPr>
          <p:cNvPr id="7" name="p26-prompt">
            <a:extLst xmlns:a="http://schemas.openxmlformats.org/drawingml/2006/main">
              <a:ext uri="{FF2B5EF4-FFF2-40B4-BE49-F238E27FC236}">
                <a16:creationId xmlns:a16="http://schemas.microsoft.com/office/drawing/2014/main" id="{A4CD9FD6-F9C6-48DC-927D-18843575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48958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190500" tIns="152400" rIns="190500" bIns="15240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仅执行已批准修改：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1. 更新权限矩阵“文献与网络”一行；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2. 增加五字段风险卡；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3. 记录本次 AI 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只写三个目标文件。</a:t>
            </a:r>
          </a:p>
        </p:txBody>
      </p:sp>
      <p:sp>
        <p:nvSpPr>
          <p:cNvPr id="8" name="p26-diff-title">
            <a:extLst xmlns:a="http://schemas.openxmlformats.org/drawingml/2006/main">
              <a:ext uri="{FF2B5EF4-FFF2-40B4-BE49-F238E27FC236}">
                <a16:creationId xmlns:a16="http://schemas.microsoft.com/office/drawing/2014/main" id="{2018969A-2AE2-4D9A-B868-E5BC6666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287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实际检查</a:t>
            </a:r>
          </a:p>
        </p:txBody>
      </p:sp>
      <p:sp>
        <p:nvSpPr>
          <p:cNvPr id="9" name="p26-diff">
            <a:extLst xmlns:a="http://schemas.openxmlformats.org/drawingml/2006/main">
              <a:ext uri="{FF2B5EF4-FFF2-40B4-BE49-F238E27FC236}">
                <a16:creationId xmlns:a16="http://schemas.microsoft.com/office/drawing/2014/main" id="{CCFE4CB0-6480-4E3F-B9B9-43CA5DC2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53149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190500" tIns="152400" rIns="190500" bIns="15240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git diff --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  agent-permissions.md \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  ethics-and-compliance.md \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  ai-usage-log.md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检查：目标文件｜状态迁移｜Context｜采用与拒绝｜核验方法</a:t>
            </a:r>
          </a:p>
        </p:txBody>
      </p:sp>
      <p:sp>
        <p:nvSpPr>
          <p:cNvPr id="10" name="p26-bottom">
            <a:extLst xmlns:a="http://schemas.openxmlformats.org/drawingml/2006/main">
              <a:ext uri="{FF2B5EF4-FFF2-40B4-BE49-F238E27FC236}">
                <a16:creationId xmlns:a16="http://schemas.microsoft.com/office/drawing/2014/main" id="{17FDD28E-19AD-4479-9500-0C253ABC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72050"/>
            <a:ext cx="662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命令只能证明文件变化，不能证明内容正确。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个人实践：完成最小可审计闭环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F15020-66A7-620A-7B7A-C05C4312DEAE}" type="slidenum">
              <a:t>27</a:t>
            </a:fld>
            <a:endParaRPr/>
          </a:p>
        </p:txBody>
      </p:sp>
      <p:sp>
        <p:nvSpPr>
          <p:cNvPr id="6" name="p27-time">
            <a:extLst xmlns:a="http://schemas.openxmlformats.org/drawingml/2006/main">
              <a:ext uri="{FF2B5EF4-FFF2-40B4-BE49-F238E27FC236}">
                <a16:creationId xmlns:a16="http://schemas.microsoft.com/office/drawing/2014/main" id="{FA891C97-DA62-48A3-BBB9-2D5314FE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95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55:00–78:00 个人实践</a:t>
            </a:r>
          </a:p>
        </p:txBody>
      </p:sp>
      <p:sp>
        <p:nvSpPr>
          <p:cNvPr id="7" name="p27-n-0">
            <a:extLst xmlns:a="http://schemas.openxmlformats.org/drawingml/2006/main">
              <a:ext uri="{FF2B5EF4-FFF2-40B4-BE49-F238E27FC236}">
                <a16:creationId xmlns:a16="http://schemas.microsoft.com/office/drawing/2014/main" id="{812940F5-2239-4E2D-B814-BC2999CA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27-t-0">
            <a:extLst xmlns:a="http://schemas.openxmlformats.org/drawingml/2006/main">
              <a:ext uri="{FF2B5EF4-FFF2-40B4-BE49-F238E27FC236}">
                <a16:creationId xmlns:a16="http://schemas.microsoft.com/office/drawing/2014/main" id="{91B66EEF-B8CD-44D5-B508-F8E5E3ED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20015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权限矩阵一行</a:t>
            </a:r>
          </a:p>
        </p:txBody>
      </p:sp>
      <p:sp>
        <p:nvSpPr>
          <p:cNvPr id="9" name="p27-n-1">
            <a:extLst xmlns:a="http://schemas.openxmlformats.org/drawingml/2006/main">
              <a:ext uri="{FF2B5EF4-FFF2-40B4-BE49-F238E27FC236}">
                <a16:creationId xmlns:a16="http://schemas.microsoft.com/office/drawing/2014/main" id="{6C6ACAB2-2F1A-4D04-BA1F-3305E457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27-t-1">
            <a:extLst xmlns:a="http://schemas.openxmlformats.org/drawingml/2006/main">
              <a:ext uri="{FF2B5EF4-FFF2-40B4-BE49-F238E27FC236}">
                <a16:creationId xmlns:a16="http://schemas.microsoft.com/office/drawing/2014/main" id="{972793B8-3E37-4E59-9F80-F90CB9E2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812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一个确认点 + 一个禁止事项</a:t>
            </a:r>
          </a:p>
        </p:txBody>
      </p:sp>
      <p:sp>
        <p:nvSpPr>
          <p:cNvPr id="11" name="p27-n-2">
            <a:extLst xmlns:a="http://schemas.openxmlformats.org/drawingml/2006/main">
              <a:ext uri="{FF2B5EF4-FFF2-40B4-BE49-F238E27FC236}">
                <a16:creationId xmlns:a16="http://schemas.microsoft.com/office/drawing/2014/main" id="{65B10913-B93B-46DD-98ED-E82B24BC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p27-t-2">
            <a:extLst xmlns:a="http://schemas.openxmlformats.org/drawingml/2006/main">
              <a:ext uri="{FF2B5EF4-FFF2-40B4-BE49-F238E27FC236}">
                <a16:creationId xmlns:a16="http://schemas.microsoft.com/office/drawing/2014/main" id="{30746B6D-17B4-4CE6-AC70-5CBD2308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6225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一张五字段风险卡</a:t>
            </a:r>
          </a:p>
        </p:txBody>
      </p:sp>
      <p:sp>
        <p:nvSpPr>
          <p:cNvPr id="13" name="p27-n-3">
            <a:extLst xmlns:a="http://schemas.openxmlformats.org/drawingml/2006/main">
              <a:ext uri="{FF2B5EF4-FFF2-40B4-BE49-F238E27FC236}">
                <a16:creationId xmlns:a16="http://schemas.microsoft.com/office/drawing/2014/main" id="{50069AA4-6177-4751-A1B8-ED6FF2E2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p27-t-3">
            <a:extLst xmlns:a="http://schemas.openxmlformats.org/drawingml/2006/main">
              <a:ext uri="{FF2B5EF4-FFF2-40B4-BE49-F238E27FC236}">
                <a16:creationId xmlns:a16="http://schemas.microsoft.com/office/drawing/2014/main" id="{42D0EAEE-F9EA-414C-A98B-6676F842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5433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至少追踪 1 个早期工件</a:t>
            </a:r>
          </a:p>
        </p:txBody>
      </p:sp>
      <p:sp>
        <p:nvSpPr>
          <p:cNvPr id="15" name="p27-n-4">
            <a:extLst xmlns:a="http://schemas.openxmlformats.org/drawingml/2006/main">
              <a:ext uri="{FF2B5EF4-FFF2-40B4-BE49-F238E27FC236}">
                <a16:creationId xmlns:a16="http://schemas.microsoft.com/office/drawing/2014/main" id="{1DE5A392-9F1C-4952-8511-6630E9E5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p27-t-4">
            <a:extLst xmlns:a="http://schemas.openxmlformats.org/drawingml/2006/main">
              <a:ext uri="{FF2B5EF4-FFF2-40B4-BE49-F238E27FC236}">
                <a16:creationId xmlns:a16="http://schemas.microsoft.com/office/drawing/2014/main" id="{06E4CB9D-08C0-46F1-9FA8-8C7EED0D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2435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更新 AI 使用记录</a:t>
            </a:r>
          </a:p>
        </p:txBody>
      </p:sp>
      <p:sp>
        <p:nvSpPr>
          <p:cNvPr id="17" name="p27-guard">
            <a:extLst xmlns:a="http://schemas.openxmlformats.org/drawingml/2006/main">
              <a:ext uri="{FF2B5EF4-FFF2-40B4-BE49-F238E27FC236}">
                <a16:creationId xmlns:a16="http://schemas.microsoft.com/office/drawing/2014/main" id="{5470C6CE-97E5-440B-BF26-D351A9FB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81150"/>
            <a:ext cx="2724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不要使用真实保密或敏感材料</a:t>
            </a:r>
          </a:p>
        </p:txBody>
      </p:sp>
      <p:sp>
        <p:nvSpPr>
          <p:cNvPr id="18" name="p27-fallback">
            <a:extLst xmlns:a="http://schemas.openxmlformats.org/drawingml/2006/main">
              <a:ext uri="{FF2B5EF4-FFF2-40B4-BE49-F238E27FC236}">
                <a16:creationId xmlns:a16="http://schemas.microsoft.com/office/drawing/2014/main" id="{581B7CF0-CB22-48C3-82BB-3353F495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724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>
                <a:solidFill>
                  <a:srgbClr val="A86C12"/>
                </a:solidFill>
              </a:defRPr>
            </a:pPr>
            <a:r>
              <a:rPr sz="150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模型不可用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1">
                <a:solidFill>
                  <a:srgbClr val="A86C12"/>
                </a:solidFill>
              </a:defRPr>
            </a:pPr>
            <a:r>
              <a:rPr sz="150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直接编辑 Markdown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1">
                <a:solidFill>
                  <a:srgbClr val="A86C12"/>
                </a:solidFill>
              </a:defRPr>
            </a:pPr>
            <a:r>
              <a:rPr sz="150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写出预期权限与风险判断</a:t>
            </a:r>
          </a:p>
        </p:txBody>
      </p:sp>
      <p:sp>
        <p:nvSpPr>
          <p:cNvPr id="19" name="p27-done">
            <a:extLst xmlns:a="http://schemas.openxmlformats.org/drawingml/2006/main">
              <a:ext uri="{FF2B5EF4-FFF2-40B4-BE49-F238E27FC236}">
                <a16:creationId xmlns:a16="http://schemas.microsoft.com/office/drawing/2014/main" id="{9395DCE9-A00C-4A60-81E1-3F95B49B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课堂最低闭环完成；第 3 课前再补齐问题 / 证据地图 / 实验记录 / AI 使用记录四项追踪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同伴互查只检查边界是否清楚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AD4375-9F50-F53A-6F9F-DD8473067C05}" type="slidenum">
              <a:t>28</a:t>
            </a:fld>
            <a:endParaRPr/>
          </a:p>
        </p:txBody>
      </p:sp>
      <p:sp>
        <p:nvSpPr>
          <p:cNvPr id="6" name="p28-mode">
            <a:extLst xmlns:a="http://schemas.openxmlformats.org/drawingml/2006/main">
              <a:ext uri="{FF2B5EF4-FFF2-40B4-BE49-F238E27FC236}">
                <a16:creationId xmlns:a16="http://schemas.microsoft.com/office/drawing/2014/main" id="{B0AF8FE9-ED9C-4439-8ED6-7D709F67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两人互查 · 8 分钟</a:t>
            </a:r>
          </a:p>
        </p:txBody>
      </p:sp>
      <p:sp>
        <p:nvSpPr>
          <p:cNvPr id="7" name="p28-qn-0">
            <a:extLst xmlns:a="http://schemas.openxmlformats.org/drawingml/2006/main">
              <a:ext uri="{FF2B5EF4-FFF2-40B4-BE49-F238E27FC236}">
                <a16:creationId xmlns:a16="http://schemas.microsoft.com/office/drawing/2014/main" id="{AE94436A-4721-4D85-958F-B3FD6935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8354E"/>
                </a:solidFill>
              </a:defRPr>
            </a:pPr>
            <a:r>
              <a:rPr sz="22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8" name="p28-q-0">
            <a:extLst xmlns:a="http://schemas.openxmlformats.org/drawingml/2006/main">
              <a:ext uri="{FF2B5EF4-FFF2-40B4-BE49-F238E27FC236}">
                <a16:creationId xmlns:a16="http://schemas.microsoft.com/office/drawing/2014/main" id="{715A021E-AE8A-4CB9-87B2-19ADCF38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52600"/>
            <a:ext cx="781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746"/>
                </a:solidFill>
              </a:defRPr>
            </a:pPr>
            <a:r>
              <a:rPr sz="20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只读范围是否已经最小？</a:t>
            </a:r>
          </a:p>
        </p:txBody>
      </p:sp>
      <p:sp>
        <p:nvSpPr>
          <p:cNvPr id="9" name="p28-qn-1">
            <a:extLst xmlns:a="http://schemas.openxmlformats.org/drawingml/2006/main">
              <a:ext uri="{FF2B5EF4-FFF2-40B4-BE49-F238E27FC236}">
                <a16:creationId xmlns:a16="http://schemas.microsoft.com/office/drawing/2014/main" id="{9541A99B-F8AE-4C1C-8545-4AC25FE2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8354E"/>
                </a:solidFill>
              </a:defRPr>
            </a:pPr>
            <a:r>
              <a:rPr sz="22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0" name="p28-q-1">
            <a:extLst xmlns:a="http://schemas.openxmlformats.org/drawingml/2006/main">
              <a:ext uri="{FF2B5EF4-FFF2-40B4-BE49-F238E27FC236}">
                <a16:creationId xmlns:a16="http://schemas.microsoft.com/office/drawing/2014/main" id="{A7BCC3AC-52AB-4D87-A39F-AA93FCEE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781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746"/>
                </a:solidFill>
              </a:defRPr>
            </a:pPr>
            <a:r>
              <a:rPr sz="20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哪一项动作最需要人工确认？</a:t>
            </a:r>
          </a:p>
        </p:txBody>
      </p:sp>
      <p:sp>
        <p:nvSpPr>
          <p:cNvPr id="11" name="p28-qn-2">
            <a:extLst xmlns:a="http://schemas.openxmlformats.org/drawingml/2006/main">
              <a:ext uri="{FF2B5EF4-FFF2-40B4-BE49-F238E27FC236}">
                <a16:creationId xmlns:a16="http://schemas.microsoft.com/office/drawing/2014/main" id="{6DD3D835-A321-47AC-AF7B-AE844390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2" name="p28-q-2">
            <a:extLst xmlns:a="http://schemas.openxmlformats.org/drawingml/2006/main">
              <a:ext uri="{FF2B5EF4-FFF2-40B4-BE49-F238E27FC236}">
                <a16:creationId xmlns:a16="http://schemas.microsoft.com/office/drawing/2014/main" id="{1DBE5CE3-953C-4FD8-92B8-B98843B6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62400"/>
            <a:ext cx="781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746"/>
                </a:solidFill>
              </a:defRPr>
            </a:pPr>
            <a:r>
              <a:rPr sz="20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能否看出工件为何改变状态？</a:t>
            </a:r>
          </a:p>
        </p:txBody>
      </p:sp>
      <p:sp>
        <p:nvSpPr>
          <p:cNvPr id="13" name="p28-bottom">
            <a:extLst xmlns:a="http://schemas.openxmlformats.org/drawingml/2006/main">
              <a:ext uri="{FF2B5EF4-FFF2-40B4-BE49-F238E27FC236}">
                <a16:creationId xmlns:a16="http://schemas.microsoft.com/office/drawing/2014/main" id="{59CDC607-BB4F-4BD2-B236-C4B24D1D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反馈只提出问题；作者自己决定是否修改。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课后继续推进，第 3 课带着边界开始检索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680313-6E64-04FF-399A-57B7CADE95A9}" type="slidenum">
              <a:t>29</a:t>
            </a:fld>
            <a:endParaRPr/>
          </a:p>
        </p:txBody>
      </p:sp>
      <p:sp>
        <p:nvSpPr>
          <p:cNvPr id="6" name="p29-t-0">
            <a:extLst xmlns:a="http://schemas.openxmlformats.org/drawingml/2006/main">
              <a:ext uri="{FF2B5EF4-FFF2-40B4-BE49-F238E27FC236}">
                <a16:creationId xmlns:a16="http://schemas.microsoft.com/office/drawing/2014/main" id="{CB834982-0E3C-4464-AB3E-632423A7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38A"/>
                </a:solidFill>
              </a:defRPr>
            </a:pPr>
            <a:r>
              <a:rPr sz="16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必读｜约 15 分钟</a:t>
            </a:r>
          </a:p>
        </p:txBody>
      </p:sp>
      <p:sp>
        <p:nvSpPr>
          <p:cNvPr id="7" name="p29-b-0">
            <a:extLst xmlns:a="http://schemas.openxmlformats.org/drawingml/2006/main">
              <a:ext uri="{FF2B5EF4-FFF2-40B4-BE49-F238E27FC236}">
                <a16:creationId xmlns:a16="http://schemas.microsoft.com/office/drawing/2014/main" id="{49F23FBB-F6B7-492D-ABD7-96FE6F83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43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中科院《诚信提醒》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记录一条与本人项目相关的底线</a:t>
            </a:r>
          </a:p>
        </p:txBody>
      </p:sp>
      <p:sp>
        <p:nvSpPr>
          <p:cNvPr id="8" name="p29-t-1">
            <a:extLst xmlns:a="http://schemas.openxmlformats.org/drawingml/2006/main">
              <a:ext uri="{FF2B5EF4-FFF2-40B4-BE49-F238E27FC236}">
                <a16:creationId xmlns:a16="http://schemas.microsoft.com/office/drawing/2014/main" id="{8F1B5EFA-17E4-4A2E-9AAC-2513A1C8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192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项目更新｜约 20 分钟</a:t>
            </a:r>
          </a:p>
        </p:txBody>
      </p:sp>
      <p:sp>
        <p:nvSpPr>
          <p:cNvPr id="9" name="p29-b-1">
            <a:extLst xmlns:a="http://schemas.openxmlformats.org/drawingml/2006/main">
              <a:ext uri="{FF2B5EF4-FFF2-40B4-BE49-F238E27FC236}">
                <a16:creationId xmlns:a16="http://schemas.microsoft.com/office/drawing/2014/main" id="{AD439CFE-5B30-4765-800D-849EB085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5143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权限矩阵 + 风险卡 + 四项工件追踪 + AI 使用记录</a:t>
            </a:r>
          </a:p>
        </p:txBody>
      </p:sp>
      <p:sp>
        <p:nvSpPr>
          <p:cNvPr id="10" name="p29-t-2">
            <a:extLst xmlns:a="http://schemas.openxmlformats.org/drawingml/2006/main">
              <a:ext uri="{FF2B5EF4-FFF2-40B4-BE49-F238E27FC236}">
                <a16:creationId xmlns:a16="http://schemas.microsoft.com/office/drawing/2014/main" id="{5DD311C0-A28B-49B9-A2E3-71F5DE9E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3 课准备｜约 10 分钟</a:t>
            </a:r>
          </a:p>
        </p:txBody>
      </p:sp>
      <p:sp>
        <p:nvSpPr>
          <p:cNvPr id="11" name="p29-b-2">
            <a:extLst xmlns:a="http://schemas.openxmlformats.org/drawingml/2006/main">
              <a:ext uri="{FF2B5EF4-FFF2-40B4-BE49-F238E27FC236}">
                <a16:creationId xmlns:a16="http://schemas.microsoft.com/office/drawing/2014/main" id="{879F465F-A348-4BE3-A6B9-86593F6C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143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一个公开研究问题 + 3–5 个关键词 + 一项来源 / 网络边界</a:t>
            </a:r>
          </a:p>
        </p:txBody>
      </p:sp>
      <p:sp>
        <p:nvSpPr>
          <p:cNvPr id="12" name="p29-t-3">
            <a:extLst xmlns:a="http://schemas.openxmlformats.org/drawingml/2006/main">
              <a:ext uri="{FF2B5EF4-FFF2-40B4-BE49-F238E27FC236}">
                <a16:creationId xmlns:a16="http://schemas.microsoft.com/office/drawing/2014/main" id="{BD825422-24D9-4B1A-8494-0E7EE3FF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6C12"/>
                </a:solidFill>
              </a:defRPr>
            </a:pPr>
            <a:r>
              <a:rPr sz="16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任选阅读</a:t>
            </a:r>
          </a:p>
        </p:txBody>
      </p:sp>
      <p:sp>
        <p:nvSpPr>
          <p:cNvPr id="13" name="p29-b-3">
            <a:extLst xmlns:a="http://schemas.openxmlformats.org/drawingml/2006/main">
              <a:ext uri="{FF2B5EF4-FFF2-40B4-BE49-F238E27FC236}">
                <a16:creationId xmlns:a16="http://schemas.microsoft.com/office/drawing/2014/main" id="{1AEE394E-E563-4997-B72F-C562241B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19500"/>
            <a:ext cx="5143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NASEM Chapter 2 或 Saltzer &amp; Schroeder 权限原则选段</a:t>
            </a:r>
          </a:p>
        </p:txBody>
      </p:sp>
      <p:sp>
        <p:nvSpPr>
          <p:cNvPr id="14" name="p29-bottom">
            <a:extLst xmlns:a="http://schemas.openxmlformats.org/drawingml/2006/main">
              <a:ext uri="{FF2B5EF4-FFF2-40B4-BE49-F238E27FC236}">
                <a16:creationId xmlns:a16="http://schemas.microsoft.com/office/drawing/2014/main" id="{B21DCF2A-2EFD-4B0A-9166-9840237A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803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持续回写个人项目，不单独提交、不计周作业分。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2026-08-07T15:15:28.1930000Z</dcterms:created>
  <dcterms:modified xsi:type="dcterms:W3CDTF">2026-08-07T15:15:28.1930000Z</dcterms:modified>
</coreProperties>
</file>