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c07bc223aa4301" /><Relationship Type="http://schemas.openxmlformats.org/officeDocument/2006/relationships/extended-properties" Target="/docProps/app.xml" Id="Re301b918176b4cd2" /><Relationship Type="http://schemas.openxmlformats.org/officeDocument/2006/relationships/officeDocument" Target="/ppt/presentation.xml" Id="Rd3319b57bb704b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be68e1c71d40b6"/>
  </p:sldMasterIdLst>
  <p:notesMasterIdLst>
    <p:notesMasterId xmlns:r="http://schemas.openxmlformats.org/officeDocument/2006/relationships" r:id="R45f1f1c3f2a844f6"/>
  </p:notesMasterIdLst>
  <p:sldIdLst>
    <p:sldId xmlns:r="http://schemas.openxmlformats.org/officeDocument/2006/relationships" id="256" r:id="Ra158b5032ce44562"/>
    <p:sldId xmlns:r="http://schemas.openxmlformats.org/officeDocument/2006/relationships" id="257" r:id="R309c6616c999469c"/>
    <p:sldId xmlns:r="http://schemas.openxmlformats.org/officeDocument/2006/relationships" id="258" r:id="R72779cfe153f449d"/>
    <p:sldId xmlns:r="http://schemas.openxmlformats.org/officeDocument/2006/relationships" id="259" r:id="R4a4f50501bff4635"/>
    <p:sldId xmlns:r="http://schemas.openxmlformats.org/officeDocument/2006/relationships" id="260" r:id="Rdc0fb38de47346f8"/>
    <p:sldId xmlns:r="http://schemas.openxmlformats.org/officeDocument/2006/relationships" id="261" r:id="R1f19288332eb4616"/>
    <p:sldId xmlns:r="http://schemas.openxmlformats.org/officeDocument/2006/relationships" id="262" r:id="Reb1af25ac30f4355"/>
    <p:sldId xmlns:r="http://schemas.openxmlformats.org/officeDocument/2006/relationships" id="263" r:id="R966acc0315474c07"/>
    <p:sldId xmlns:r="http://schemas.openxmlformats.org/officeDocument/2006/relationships" id="264" r:id="R1f0dcf8dcf4747a2"/>
    <p:sldId xmlns:r="http://schemas.openxmlformats.org/officeDocument/2006/relationships" id="265" r:id="Radb7ef45e56c4cde"/>
    <p:sldId xmlns:r="http://schemas.openxmlformats.org/officeDocument/2006/relationships" id="266" r:id="Ra76d1138b1f24476"/>
    <p:sldId xmlns:r="http://schemas.openxmlformats.org/officeDocument/2006/relationships" id="267" r:id="Rb23e74ae74da4feb"/>
    <p:sldId xmlns:r="http://schemas.openxmlformats.org/officeDocument/2006/relationships" id="268" r:id="R11f1493284ea4929"/>
    <p:sldId xmlns:r="http://schemas.openxmlformats.org/officeDocument/2006/relationships" id="269" r:id="Rc8cea9f2311e4759"/>
    <p:sldId xmlns:r="http://schemas.openxmlformats.org/officeDocument/2006/relationships" id="270" r:id="Rd4b9787552344ea1"/>
    <p:sldId xmlns:r="http://schemas.openxmlformats.org/officeDocument/2006/relationships" id="271" r:id="Rbcc8b1a23ba24361"/>
    <p:sldId xmlns:r="http://schemas.openxmlformats.org/officeDocument/2006/relationships" id="272" r:id="R63e9eb57a8ad40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91efdb33aa44a0" /><Relationship Type="http://schemas.openxmlformats.org/officeDocument/2006/relationships/slideMaster" Target="/ppt/slideMasters/slideMaster1.xml" Id="Rc3be68e1c71d40b6" /><Relationship Type="http://schemas.openxmlformats.org/officeDocument/2006/relationships/notesMaster" Target="/ppt/notesMasters/notesMaster1.xml" Id="R45f1f1c3f2a844f6" /><Relationship Type="http://schemas.openxmlformats.org/officeDocument/2006/relationships/presProps" Target="/ppt/presProps.xml" Id="Rfa408ca7f6db48e7" /><Relationship Type="http://schemas.openxmlformats.org/officeDocument/2006/relationships/viewProps" Target="/ppt/viewProps.xml" Id="R448052a31b354060" /><Relationship Type="http://schemas.openxmlformats.org/officeDocument/2006/relationships/tableStyles" Target="/ppt/tableStyles.xml" Id="R89b19c1409fd4603" /><Relationship Type="http://schemas.openxmlformats.org/officeDocument/2006/relationships/slide" Target="/ppt/slides/slide1.xml" Id="Ra158b5032ce44562" /><Relationship Type="http://schemas.openxmlformats.org/officeDocument/2006/relationships/slide" Target="/ppt/slides/slide2.xml" Id="R309c6616c999469c" /><Relationship Type="http://schemas.openxmlformats.org/officeDocument/2006/relationships/slide" Target="/ppt/slides/slide3.xml" Id="R72779cfe153f449d" /><Relationship Type="http://schemas.openxmlformats.org/officeDocument/2006/relationships/slide" Target="/ppt/slides/slide4.xml" Id="R4a4f50501bff4635" /><Relationship Type="http://schemas.openxmlformats.org/officeDocument/2006/relationships/slide" Target="/ppt/slides/slide5.xml" Id="Rdc0fb38de47346f8" /><Relationship Type="http://schemas.openxmlformats.org/officeDocument/2006/relationships/slide" Target="/ppt/slides/slide6.xml" Id="R1f19288332eb4616" /><Relationship Type="http://schemas.openxmlformats.org/officeDocument/2006/relationships/slide" Target="/ppt/slides/slide7.xml" Id="Reb1af25ac30f4355" /><Relationship Type="http://schemas.openxmlformats.org/officeDocument/2006/relationships/slide" Target="/ppt/slides/slide8.xml" Id="R966acc0315474c07" /><Relationship Type="http://schemas.openxmlformats.org/officeDocument/2006/relationships/slide" Target="/ppt/slides/slide9.xml" Id="R1f0dcf8dcf4747a2" /><Relationship Type="http://schemas.openxmlformats.org/officeDocument/2006/relationships/slide" Target="/ppt/slides/slide10.xml" Id="Radb7ef45e56c4cde" /><Relationship Type="http://schemas.openxmlformats.org/officeDocument/2006/relationships/slide" Target="/ppt/slides/slide11.xml" Id="Ra76d1138b1f24476" /><Relationship Type="http://schemas.openxmlformats.org/officeDocument/2006/relationships/slide" Target="/ppt/slides/slide12.xml" Id="Rb23e74ae74da4feb" /><Relationship Type="http://schemas.openxmlformats.org/officeDocument/2006/relationships/slide" Target="/ppt/slides/slide13.xml" Id="R11f1493284ea4929" /><Relationship Type="http://schemas.openxmlformats.org/officeDocument/2006/relationships/slide" Target="/ppt/slides/slide14.xml" Id="Rc8cea9f2311e4759" /><Relationship Type="http://schemas.openxmlformats.org/officeDocument/2006/relationships/slide" Target="/ppt/slides/slide15.xml" Id="Rd4b9787552344ea1" /><Relationship Type="http://schemas.openxmlformats.org/officeDocument/2006/relationships/slide" Target="/ppt/slides/slide16.xml" Id="Rbcc8b1a23ba24361" /><Relationship Type="http://schemas.openxmlformats.org/officeDocument/2006/relationships/slide" Target="/ppt/slides/slide17.xml" Id="R63e9eb57a8ad40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47be65d31c49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ae635ae11e42d5" /><Relationship Type="http://schemas.openxmlformats.org/officeDocument/2006/relationships/notesMaster" Target="/ppt/notesMasters/notesMaster1.xml" Id="R8f6adc5d97684b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a19208ff754d9f" /><Relationship Type="http://schemas.openxmlformats.org/officeDocument/2006/relationships/notesMaster" Target="/ppt/notesMasters/notesMaster1.xml" Id="R63130946a4d34f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55ae6a377c4b04" /><Relationship Type="http://schemas.openxmlformats.org/officeDocument/2006/relationships/notesMaster" Target="/ppt/notesMasters/notesMaster1.xml" Id="Racfd3673acaa42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6fab4bcd7c4498" /><Relationship Type="http://schemas.openxmlformats.org/officeDocument/2006/relationships/notesMaster" Target="/ppt/notesMasters/notesMaster1.xml" Id="Rab89b94aa73b41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acc978515042f7" /><Relationship Type="http://schemas.openxmlformats.org/officeDocument/2006/relationships/notesMaster" Target="/ppt/notesMasters/notesMaster1.xml" Id="R41c7eca9465e42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2ea2aa866d4a7d" /><Relationship Type="http://schemas.openxmlformats.org/officeDocument/2006/relationships/notesMaster" Target="/ppt/notesMasters/notesMaster1.xml" Id="Rfa0780dc79bc42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cb5d7849af41f3" /><Relationship Type="http://schemas.openxmlformats.org/officeDocument/2006/relationships/notesMaster" Target="/ppt/notesMasters/notesMaster1.xml" Id="R61507c95c3e74d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f4aac4a0b043fa" /><Relationship Type="http://schemas.openxmlformats.org/officeDocument/2006/relationships/notesMaster" Target="/ppt/notesMasters/notesMaster1.xml" Id="R0a4bb87ccb874e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565074394442a3" /><Relationship Type="http://schemas.openxmlformats.org/officeDocument/2006/relationships/notesMaster" Target="/ppt/notesMasters/notesMaster1.xml" Id="Rf1d934d794d540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56e59491ba4b78" /><Relationship Type="http://schemas.openxmlformats.org/officeDocument/2006/relationships/notesMaster" Target="/ppt/notesMasters/notesMaster1.xml" Id="R4b85ddf59cd94a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d9c414097947e3" /><Relationship Type="http://schemas.openxmlformats.org/officeDocument/2006/relationships/notesMaster" Target="/ppt/notesMasters/notesMaster1.xml" Id="R9bfd26245ddf41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10cc00dd7448c9" /><Relationship Type="http://schemas.openxmlformats.org/officeDocument/2006/relationships/notesMaster" Target="/ppt/notesMasters/notesMaster1.xml" Id="Raf5fa32b25ec42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8fa076334440b4" /><Relationship Type="http://schemas.openxmlformats.org/officeDocument/2006/relationships/notesMaster" Target="/ppt/notesMasters/notesMaster1.xml" Id="Rd465f55fc4b04a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8c43b1d61d45d9" /><Relationship Type="http://schemas.openxmlformats.org/officeDocument/2006/relationships/notesMaster" Target="/ppt/notesMasters/notesMaster1.xml" Id="R2964b01d36954d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f2916d5fe7460c" /><Relationship Type="http://schemas.openxmlformats.org/officeDocument/2006/relationships/notesMaster" Target="/ppt/notesMasters/notesMaster1.xml" Id="R2f50e75f1d5148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a02807b2d94641" /><Relationship Type="http://schemas.openxmlformats.org/officeDocument/2006/relationships/notesMaster" Target="/ppt/notesMasters/notesMaster1.xml" Id="R63208383be664d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311db60d1434bb2" /><Relationship Type="http://schemas.openxmlformats.org/officeDocument/2006/relationships/notesMaster" Target="/ppt/notesMasters/notesMaster1.xml" Id="Raa6dd33d57ad48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本课不以读完论文为目标，而是建立原文位置、作者主张和人工判断之间可复查的追踪关系。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course/syllabus.md</a:t>
            </a:r>
          </a:p>
          <a:p xmlns:a="http://schemas.openxmlformats.org/drawingml/2006/main">
            <a:r>
              <a:t>- lessons/备课规划.md</a:t>
            </a:r>
          </a:p>
          <a:p xmlns:a="http://schemas.openxmlformats.org/drawingml/2006/main">
            <a:r>
              <a:t>- lessons/lesson-04/slides.md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快问：你是否曾把 AI 摘要直接搬进阅读卡？第 3 课的 verified 只说明文献身份，不说明 AI 对贡献和局限的复述已经正确。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lessons/lesson-03/handout.md</a:t>
            </a:r>
          </a:p>
          <a:p xmlns:a="http://schemas.openxmlformats.org/drawingml/2006/main">
            <a:r>
              <a:t>- lessons/lesson-04/handout.md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课堂只要求跑通一篇论文的完整流程；第 6 课问题门统一检查至少三篇核心材料的完整精读卡。本课不新增逐周正式提交。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lessons/备课规划.md</a:t>
            </a:r>
          </a:p>
          <a:p xmlns:a="http://schemas.openxmlformats.org/drawingml/2006/main">
            <a:r>
              <a:t>- lessons/lesson-04/teaching-plan.md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本页示例是课程构造的失败摘要，不对应真实论文。让学生先识别：无位置、措辞增强、限定遗漏和人工判断缺席。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lessons/lesson-04/handout.md</a:t>
            </a:r>
          </a:p>
          <a:p xmlns:a="http://schemas.openxmlformats.org/drawingml/2006/main">
            <a:r>
              <a:t>- course/reading-list.md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导航用于决定哪些段落值得重点读。预期证据位置可能出错，因此全部标记未核验，不得直接进入作者主张栏。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lessons/lesson-04/handout.md</a:t>
            </a:r>
          </a:p>
          <a:p xmlns:a="http://schemas.openxmlformats.org/drawingml/2006/main">
            <a:r>
              <a:t>- course/reading-list.md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让学生用自己的论文先记录一个可复查位置，再从五项中选择最容易忽略的一项。这里是方法检查，不要求读完整篇论文。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lessons/lesson-04/handout.md</a:t>
            </a:r>
          </a:p>
          <a:p xmlns:a="http://schemas.openxmlformats.org/drawingml/2006/main">
            <a:r>
              <a:t>- Keshav, S. How to Read a Paper. ACM SIGCOMM CCR 37(3), 2007. DOI: 10.1145/1273445.1273458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质疑用于暴露研究者盲点，但它仍只是候选问题。不能把模型提出的担忧直接写成原文局限或研究结论。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lessons/lesson-04/handout.md</a:t>
            </a:r>
          </a:p>
          <a:p xmlns:a="http://schemas.openxmlformats.org/drawingml/2006/main">
            <a:r>
              <a:t>- course/reading-list.md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课审计文献是否真实，本课审计 AI 复述是否与原文一致。未发现错误时，如实记录检查过的风险与依据。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lessons/lesson-04/handout.md</a:t>
            </a:r>
          </a:p>
          <a:p xmlns:a="http://schemas.openxmlformats.org/drawingml/2006/main">
            <a:r>
              <a:t>- lessons/lesson-03/handout.md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人工定稿不是润色，而是把不同来源的内容放回正确栏位。只有能回到原文位置的内容才能写入作者主张。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lessons/lesson-04/handout.md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阅读卡是第 5 课证据地图的输入。核验状态区分 pending、verified、verified-with-caveat 与 rejected。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lessons/lesson-04/handout.md</a:t>
            </a:r>
          </a:p>
          <a:p xmlns:a="http://schemas.openxmlformats.org/drawingml/2006/main">
            <a:r>
              <a:t>- course/starter-template.md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左侧是实际 PDF 第一页；右侧两句是课程构造的待核验 AI 输出，不是论文结论。让学生直接在原文中查找四个断言。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lessons/lesson-04/reading-card-demo.md</a:t>
            </a:r>
          </a:p>
          <a:p xmlns:a="http://schemas.openxmlformats.org/drawingml/2006/main">
            <a:r>
              <a:t>- https://www.eecs.harvard.edu/~michaelm/postscripts/ReadPaper.pdf</a:t>
            </a:r>
          </a:p>
          <a:p xmlns:a="http://schemas.openxmlformats.org/drawingml/2006/main">
            <a:r>
              <a:t>- Constructed AI outputs; not claims made by Keshav (2007).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待核验 AI 输出为课程构造，但原文实际内容与位置来自 Keshav 2007。逐条让学生完成输出、偏差、原文、位置、处理决定。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lessons/lesson-04/reading-card-demo.md</a:t>
            </a:r>
          </a:p>
          <a:p xmlns:a="http://schemas.openxmlformats.org/drawingml/2006/main">
            <a:r>
              <a:t>- https://www.eecs.harvard.edu/~michaelm/postscripts/ReadPaper.pdf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Keshav 2007 的压缩真实阅读卡；完整版本在 lesson-04/reading-card-demo.md。四问要求学生解释证据边界。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lessons/lesson-04/reading-card-demo.md</a:t>
            </a:r>
          </a:p>
          <a:p xmlns:a="http://schemas.openxmlformats.org/drawingml/2006/main">
            <a:r>
              <a:t>- references/material-contracts.md</a:t>
            </a:r>
          </a:p>
          <a:p xmlns:a="http://schemas.openxmlformats.org/drawingml/2006/main">
            <a:r>
              <a:t>- https://doi.org/10.1145/1273445.1273458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43-48 分钟说明任务。选择顺序为本人 verified / caveat 论文、导师组公开材料、课程真实 Keshav 演示包。模型不可用时照样完成原文核验与卡片。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lessons/lesson-04/teaching-plan.md</a:t>
            </a:r>
          </a:p>
          <a:p xmlns:a="http://schemas.openxmlformats.org/drawingml/2006/main">
            <a:r>
              <a:t>- lessons/lesson-04/reading-card-demo.md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本页停留 27 分钟。教师巡视只处理共同卡点；课堂至少完成一张完整阅读卡、一条偏差审计和一条 AI 使用记录。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lessons/lesson-04/teaching-plan.md</a:t>
            </a:r>
          </a:p>
          <a:p xmlns:a="http://schemas.openxmlformats.org/drawingml/2006/main">
            <a:r>
              <a:t>- course/starter-template.md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两人互查，每人约三到五分钟。反馈者只提问题，作者记录采纳、暂不采纳或待核验及理由。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lessons/lesson-04/teaching-plan.md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课把多张阅读卡按研究问题重组为证据地图；第 6 课问题门检查至少三篇核心材料的完整精读卡。本课不新增正式提交。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lessons/备课规划.md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e8a821ca649bd" /><Relationship Type="http://schemas.openxmlformats.org/officeDocument/2006/relationships/image" Target="/ppt/media/image.png" Id="R38beda9d10954e2b" /><Relationship Type="http://schemas.openxmlformats.org/officeDocument/2006/relationships/image" Target="/ppt/media/image2.png" Id="Rd8b035229999477b" /><Relationship Type="http://schemas.openxmlformats.org/officeDocument/2006/relationships/image" Target="/ppt/media/image3.png" Id="R1f6a15db415e4d22" /><Relationship Type="http://schemas.openxmlformats.org/officeDocument/2006/relationships/image" Target="/ppt/media/image4.png" Id="R3c826c1fe22246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8eca4e5074b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65166495140c9" /><Relationship Type="http://schemas.openxmlformats.org/officeDocument/2006/relationships/image" Target="/ppt/media/image2.png" Id="Rc8bd58d63cc74404" /><Relationship Type="http://schemas.openxmlformats.org/officeDocument/2006/relationships/image" Target="/ppt/media/image5.png" Id="R5529f6e490714c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8db492c2c54bcd" /><Relationship Type="http://schemas.openxmlformats.org/officeDocument/2006/relationships/image" Target="/ppt/media/image.png" Id="R8c580b4b6d4d42b8" /><Relationship Type="http://schemas.openxmlformats.org/officeDocument/2006/relationships/image" Target="/ppt/media/image3.png" Id="R1d952ff2de1a4927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eda9d10954e2b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b035229999477b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6a15db415e4d22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26c1fe22246e0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bd58d63cc74404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9f6e490714c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80b4b6d4d42b8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952ff2de1a4927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497b72f5984d2d" /><Relationship Type="http://schemas.openxmlformats.org/officeDocument/2006/relationships/slideLayout" Target="/ppt/slideLayouts/slideLayout1.xml" Id="R31a3edeeb8a6491e" /><Relationship Type="http://schemas.openxmlformats.org/officeDocument/2006/relationships/slideLayout" Target="/ppt/slideLayouts/slideLayout2.xml" Id="R70ffa92a9b1e4326" /><Relationship Type="http://schemas.openxmlformats.org/officeDocument/2006/relationships/slideLayout" Target="/ppt/slideLayouts/slideLayout3.xml" Id="R8809711a31ad4061" /><Relationship Type="http://schemas.openxmlformats.org/officeDocument/2006/relationships/slideLayout" Target="/ppt/slideLayouts/slideLayout4.xml" Id="R405ffb07b9c94e3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a3edeeb8a6491e"/>
    <p:sldLayoutId xmlns:r="http://schemas.openxmlformats.org/officeDocument/2006/relationships" id="2147483650" r:id="R70ffa92a9b1e4326"/>
    <p:sldLayoutId xmlns:r="http://schemas.openxmlformats.org/officeDocument/2006/relationships" id="2147483651" r:id="R8809711a31ad4061"/>
    <p:sldLayoutId xmlns:r="http://schemas.openxmlformats.org/officeDocument/2006/relationships" id="2147483652" r:id="R405ffb07b9c94e3f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45115058d4c5c" /><Relationship Type="http://schemas.openxmlformats.org/officeDocument/2006/relationships/notesSlide" Target="/ppt/notesSlides/notesSlide1.xml" Id="R050bc816bf9f43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da10e2d43345bd" /><Relationship Type="http://schemas.openxmlformats.org/officeDocument/2006/relationships/notesSlide" Target="/ppt/notesSlides/notesSlide2.xml" Id="R5ed6a293142444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e28eec5d8d450a" /><Relationship Type="http://schemas.openxmlformats.org/officeDocument/2006/relationships/notesSlide" Target="/ppt/notesSlides/notesSlide3.xml" Id="R1e2da011e17645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5bb9a96286e4ab4" /><Relationship Type="http://schemas.openxmlformats.org/officeDocument/2006/relationships/notesSlide" Target="/ppt/notesSlides/notesSlide4.xml" Id="R5b7e7cedd9134e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8907aea6dc45d6" /><Relationship Type="http://schemas.openxmlformats.org/officeDocument/2006/relationships/notesSlide" Target="/ppt/notesSlides/notesSlide5.xml" Id="R54bd58ecf76742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a801672e89428c" /><Relationship Type="http://schemas.openxmlformats.org/officeDocument/2006/relationships/notesSlide" Target="/ppt/notesSlides/notesSlide6.xml" Id="R6bd435dfc06647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ac333be7eb4fe9" /><Relationship Type="http://schemas.openxmlformats.org/officeDocument/2006/relationships/notesSlide" Target="/ppt/notesSlides/notesSlide7.xml" Id="R82a424805ed344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7a83640498f43cc" /><Relationship Type="http://schemas.openxmlformats.org/officeDocument/2006/relationships/notesSlide" Target="/ppt/notesSlides/notesSlide8.xml" Id="R0daf9001f8344c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8dc8c8f362403d" /><Relationship Type="http://schemas.openxmlformats.org/officeDocument/2006/relationships/notesSlide" Target="/ppt/notesSlides/notesSlide9.xml" Id="R880146fc51b247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604c7fa0ba40f2" /><Relationship Type="http://schemas.openxmlformats.org/officeDocument/2006/relationships/notesSlide" Target="/ppt/notesSlides/notesSlide10.xml" Id="Rf8b7f65996c546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f0007408e614512" /><Relationship Type="http://schemas.openxmlformats.org/officeDocument/2006/relationships/image" Target="/ppt/media/image6.png" Id="Rc41293ef44444c63" /><Relationship Type="http://schemas.openxmlformats.org/officeDocument/2006/relationships/notesSlide" Target="/ppt/notesSlides/notesSlide11.xml" Id="R60ac0b4a0ba940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9e97f4ba904bf9" /><Relationship Type="http://schemas.openxmlformats.org/officeDocument/2006/relationships/notesSlide" Target="/ppt/notesSlides/notesSlide12.xml" Id="R572b2186c4f74e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ae4e7a085d4c41" /><Relationship Type="http://schemas.openxmlformats.org/officeDocument/2006/relationships/notesSlide" Target="/ppt/notesSlides/notesSlide13.xml" Id="R22d60b553f0643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ea1f0a30e74864" /><Relationship Type="http://schemas.openxmlformats.org/officeDocument/2006/relationships/notesSlide" Target="/ppt/notesSlides/notesSlide14.xml" Id="R68a24f0b1aa549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f7fe3975f44053" /><Relationship Type="http://schemas.openxmlformats.org/officeDocument/2006/relationships/notesSlide" Target="/ppt/notesSlides/notesSlide15.xml" Id="Rf769e410747344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9f51b971ef4de7" /><Relationship Type="http://schemas.openxmlformats.org/officeDocument/2006/relationships/notesSlide" Target="/ppt/notesSlides/notesSlide16.xml" Id="R4eaa878fcdb645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9a6ec0e674040c6" /><Relationship Type="http://schemas.openxmlformats.org/officeDocument/2006/relationships/notesSlide" Target="/ppt/notesSlides/notesSlide17.xml" Id="Re056452ade01410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D30E0E-D2D5-4C08-A919-2A1C2D5A8D0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143000" y="2971800"/>
            <a:ext cx="9906000" cy="238125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AI 导航 → 原文核验 → AI 质疑 → 偏差审计 → 人工定稿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/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每条关键主张，必须能回到原文位置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第四讲｜阶段四：外部输入摄取 → 阶段五：证据整理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57300"/>
            <a:ext cx="971550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30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AI 辅助精读与主张核验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 课之后，“已读”仍未核验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p02-left-title">
            <a:extLst xmlns:a="http://schemas.openxmlformats.org/drawingml/2006/main">
              <a:ext uri="{FF2B5EF4-FFF2-40B4-BE49-F238E27FC236}">
                <a16:creationId xmlns:a16="http://schemas.microsoft.com/office/drawing/2014/main" id="{1F4D2722-484B-4129-8D7D-EC52B496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45A"/>
                </a:solidFill>
              </a:defRPr>
            </a:pPr>
            <a:r>
              <a:rPr sz="18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第 3 课已经建立</a:t>
            </a:r>
          </a:p>
        </p:txBody>
      </p:sp>
      <p:sp>
        <p:nvSpPr>
          <p:cNvPr id="7" name="p02-left">
            <a:extLst xmlns:a="http://schemas.openxmlformats.org/drawingml/2006/main">
              <a:ext uri="{FF2B5EF4-FFF2-40B4-BE49-F238E27FC236}">
                <a16:creationId xmlns:a16="http://schemas.microsoft.com/office/drawing/2014/main" id="{40FC861C-DB1B-4FFD-9A8B-6D2C7B96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286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263746"/>
                </a:solidFill>
              </a:defRPr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✓ 候选文献表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263746"/>
                </a:solidFill>
              </a:defRPr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✓ 证据角色初标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263746"/>
                </a:solidFill>
              </a:defRPr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✓ 来源审计：题名 / 作者 / DOI</a:t>
            </a:r>
          </a:p>
        </p:txBody>
      </p:sp>
      <p:sp>
        <p:nvSpPr>
          <p:cNvPr id="8" name="p02-right-title">
            <a:extLst xmlns:a="http://schemas.openxmlformats.org/drawingml/2006/main">
              <a:ext uri="{FF2B5EF4-FFF2-40B4-BE49-F238E27FC236}">
                <a16:creationId xmlns:a16="http://schemas.microsoft.com/office/drawing/2014/main" id="{67C23FF1-F6CF-4252-A082-AB6987F9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0096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仍然没有回答</a:t>
            </a:r>
          </a:p>
        </p:txBody>
      </p:sp>
      <p:sp>
        <p:nvSpPr>
          <p:cNvPr id="9" name="p02-right">
            <a:extLst xmlns:a="http://schemas.openxmlformats.org/drawingml/2006/main">
              <a:ext uri="{FF2B5EF4-FFF2-40B4-BE49-F238E27FC236}">
                <a16:creationId xmlns:a16="http://schemas.microsoft.com/office/drawing/2014/main" id="{AA640B62-10A0-49EB-8800-F21B33A0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57350"/>
            <a:ext cx="4286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263746"/>
                </a:solidFill>
              </a:defRPr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? 原文任务与设置是什么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263746"/>
                </a:solidFill>
              </a:defRPr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? AI 措辞与原文一致吗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263746"/>
                </a:solidFill>
              </a:defRPr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? 图表位置真的对应吗</a:t>
            </a:r>
          </a:p>
        </p:txBody>
      </p:sp>
      <p:sp>
        <p:nvSpPr>
          <p:cNvPr id="10" name="p02-neq">
            <a:extLst xmlns:a="http://schemas.openxmlformats.org/drawingml/2006/main">
              <a:ext uri="{FF2B5EF4-FFF2-40B4-BE49-F238E27FC236}">
                <a16:creationId xmlns:a16="http://schemas.microsoft.com/office/drawing/2014/main" id="{267C3AE5-52FC-4415-954B-D5D61401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38350"/>
            <a:ext cx="142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C8161E"/>
                </a:solidFill>
              </a:defRPr>
            </a:pPr>
            <a:r>
              <a:rPr sz="46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11" name="p02-thesis">
            <a:extLst xmlns:a="http://schemas.openxmlformats.org/drawingml/2006/main">
              <a:ext uri="{FF2B5EF4-FFF2-40B4-BE49-F238E27FC236}">
                <a16:creationId xmlns:a16="http://schemas.microsoft.com/office/drawing/2014/main" id="{14A8781F-C27A-4400-871D-884E0167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9867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354E"/>
                </a:solidFill>
              </a:defRPr>
            </a:pPr>
            <a:r>
              <a:rPr sz="21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来源核验回答“论文是真的”，不回答“复述是对的”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本课目标与课堂产出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p03-n-0">
            <a:extLst xmlns:a="http://schemas.openxmlformats.org/drawingml/2006/main">
              <a:ext uri="{FF2B5EF4-FFF2-40B4-BE49-F238E27FC236}">
                <a16:creationId xmlns:a16="http://schemas.microsoft.com/office/drawing/2014/main" id="{343FD71E-E974-41D7-8A6D-7B3FEA50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03-goal-0">
            <a:extLst xmlns:a="http://schemas.openxmlformats.org/drawingml/2006/main">
              <a:ext uri="{FF2B5EF4-FFF2-40B4-BE49-F238E27FC236}">
                <a16:creationId xmlns:a16="http://schemas.microsoft.com/office/drawing/2014/main" id="{3A93FD77-9618-4FAF-8F6F-B4DABC21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90600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用五步流程完成一篇论文的结构化精读</a:t>
            </a:r>
          </a:p>
        </p:txBody>
      </p:sp>
      <p:sp>
        <p:nvSpPr>
          <p:cNvPr id="8" name="p03-n-1">
            <a:extLst xmlns:a="http://schemas.openxmlformats.org/drawingml/2006/main">
              <a:ext uri="{FF2B5EF4-FFF2-40B4-BE49-F238E27FC236}">
                <a16:creationId xmlns:a16="http://schemas.microsoft.com/office/drawing/2014/main" id="{143679E6-6DB1-4D42-B79F-6F50FB19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p03-goal-1">
            <a:extLst xmlns:a="http://schemas.openxmlformats.org/drawingml/2006/main">
              <a:ext uri="{FF2B5EF4-FFF2-40B4-BE49-F238E27FC236}">
                <a16:creationId xmlns:a16="http://schemas.microsoft.com/office/drawing/2014/main" id="{F596F6CB-A991-4ACC-9D03-02BC98D3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66900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回到原文检查任务、设置、指标、对照与限定</a:t>
            </a:r>
          </a:p>
        </p:txBody>
      </p:sp>
      <p:sp>
        <p:nvSpPr>
          <p:cNvPr id="10" name="p03-n-2">
            <a:extLst xmlns:a="http://schemas.openxmlformats.org/drawingml/2006/main">
              <a:ext uri="{FF2B5EF4-FFF2-40B4-BE49-F238E27FC236}">
                <a16:creationId xmlns:a16="http://schemas.microsoft.com/office/drawing/2014/main" id="{5DDF578B-DC24-4637-AFC0-5267D03E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p03-goal-2">
            <a:extLst xmlns:a="http://schemas.openxmlformats.org/drawingml/2006/main">
              <a:ext uri="{FF2B5EF4-FFF2-40B4-BE49-F238E27FC236}">
                <a16:creationId xmlns:a16="http://schemas.microsoft.com/office/drawing/2014/main" id="{420CFB33-EC51-4141-862F-5797C1B6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记录 AI 错误/遗漏，或已检查风险与依据</a:t>
            </a:r>
          </a:p>
        </p:txBody>
      </p:sp>
      <p:sp>
        <p:nvSpPr>
          <p:cNvPr id="12" name="p03-n-3">
            <a:extLst xmlns:a="http://schemas.openxmlformats.org/drawingml/2006/main">
              <a:ext uri="{FF2B5EF4-FFF2-40B4-BE49-F238E27FC236}">
                <a16:creationId xmlns:a16="http://schemas.microsoft.com/office/drawing/2014/main" id="{A3C41243-3A6F-4B3B-80F0-1F498539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p03-goal-3">
            <a:extLst xmlns:a="http://schemas.openxmlformats.org/drawingml/2006/main">
              <a:ext uri="{FF2B5EF4-FFF2-40B4-BE49-F238E27FC236}">
                <a16:creationId xmlns:a16="http://schemas.microsoft.com/office/drawing/2014/main" id="{745F5A63-6301-46C6-B51C-EC56BB06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建立带页码、图表或章节位置的阅读卡</a:t>
            </a:r>
          </a:p>
        </p:txBody>
      </p:sp>
      <p:sp>
        <p:nvSpPr>
          <p:cNvPr id="14" name="p03-output-title">
            <a:extLst xmlns:a="http://schemas.openxmlformats.org/drawingml/2006/main">
              <a:ext uri="{FF2B5EF4-FFF2-40B4-BE49-F238E27FC236}">
                <a16:creationId xmlns:a16="http://schemas.microsoft.com/office/drawing/2014/main" id="{1AA3235E-F145-4373-90CB-C5F74E91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09650"/>
            <a:ext cx="3676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课堂最低产出</a:t>
            </a:r>
          </a:p>
        </p:txBody>
      </p:sp>
      <p:sp>
        <p:nvSpPr>
          <p:cNvPr id="15" name="p03-output">
            <a:extLst xmlns:a="http://schemas.openxmlformats.org/drawingml/2006/main">
              <a:ext uri="{FF2B5EF4-FFF2-40B4-BE49-F238E27FC236}">
                <a16:creationId xmlns:a16="http://schemas.microsoft.com/office/drawing/2014/main" id="{51CE9AF6-4F6A-4600-B5DC-2894693B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19250"/>
            <a:ext cx="3676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1 张完整阅读卡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+ 1 条偏差审计记录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+ 1 条 AI 使用记录</a:t>
            </a:r>
          </a:p>
        </p:txBody>
      </p:sp>
      <p:sp>
        <p:nvSpPr>
          <p:cNvPr id="16" name="p03-gate">
            <a:extLst xmlns:a="http://schemas.openxmlformats.org/drawingml/2006/main">
              <a:ext uri="{FF2B5EF4-FFF2-40B4-BE49-F238E27FC236}">
                <a16:creationId xmlns:a16="http://schemas.microsoft.com/office/drawing/2014/main" id="{4CCF5D3E-9380-4F80-B02C-EF8D7B3F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00450"/>
            <a:ext cx="3676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725" b="1">
                <a:solidFill>
                  <a:srgbClr val="28745A"/>
                </a:solidFill>
              </a:defRPr>
            </a:pPr>
            <a:r>
              <a:rPr sz="17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第 6 课问题门前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1">
                <a:solidFill>
                  <a:srgbClr val="28745A"/>
                </a:solidFill>
              </a:defRPr>
            </a:pPr>
            <a:r>
              <a:rPr sz="17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累计至少 3 张完整精读卡</a:t>
            </a:r>
          </a:p>
        </p:txBody>
      </p:sp>
      <p:sp>
        <p:nvSpPr>
          <p:cNvPr id="17" name="p03-no-submit">
            <a:extLst xmlns:a="http://schemas.openxmlformats.org/drawingml/2006/main">
              <a:ext uri="{FF2B5EF4-FFF2-40B4-BE49-F238E27FC236}">
                <a16:creationId xmlns:a16="http://schemas.microsoft.com/office/drawing/2014/main" id="{3E0F7A61-DD76-4369-884D-66F7C7B3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91100"/>
            <a:ext cx="459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684"/>
                </a:solidFill>
              </a:defRPr>
            </a:pPr>
            <a:r>
              <a:rPr sz="14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本课不正式提交｜持续回写个人项目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读懂摘要不等于理解贡献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p04-fail-label">
            <a:extLst xmlns:a="http://schemas.openxmlformats.org/drawingml/2006/main">
              <a:ext uri="{FF2B5EF4-FFF2-40B4-BE49-F238E27FC236}">
                <a16:creationId xmlns:a16="http://schemas.microsoft.com/office/drawing/2014/main" id="{A4AA2A2A-CD0C-41F7-B357-EACFFD4A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看起来完整</a:t>
            </a:r>
          </a:p>
        </p:txBody>
      </p:sp>
      <p:sp>
        <p:nvSpPr>
          <p:cNvPr id="7" name="p04-fail">
            <a:extLst xmlns:a="http://schemas.openxmlformats.org/drawingml/2006/main">
              <a:ext uri="{FF2B5EF4-FFF2-40B4-BE49-F238E27FC236}">
                <a16:creationId xmlns:a16="http://schemas.microsoft.com/office/drawing/2014/main" id="{E27220C6-8810-44B3-B052-AA8E759B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000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19050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“该方法消除了遗漏，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见图 2 的对照实验。”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无原文位置｜无限定｜无人工判断</a:t>
            </a:r>
          </a:p>
        </p:txBody>
      </p:sp>
      <p:sp>
        <p:nvSpPr>
          <p:cNvPr id="8" name="p04-neq">
            <a:extLst xmlns:a="http://schemas.openxmlformats.org/drawingml/2006/main">
              <a:ext uri="{FF2B5EF4-FFF2-40B4-BE49-F238E27FC236}">
                <a16:creationId xmlns:a16="http://schemas.microsoft.com/office/drawing/2014/main" id="{C78B122C-765A-432D-9997-3E1187CA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62200"/>
            <a:ext cx="133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C8161E"/>
                </a:solidFill>
              </a:defRPr>
            </a:pPr>
            <a:r>
              <a:rPr sz="43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9" name="p04-pass-label">
            <a:extLst xmlns:a="http://schemas.openxmlformats.org/drawingml/2006/main">
              <a:ext uri="{FF2B5EF4-FFF2-40B4-BE49-F238E27FC236}">
                <a16:creationId xmlns:a16="http://schemas.microsoft.com/office/drawing/2014/main" id="{055605AE-F959-4E49-9B20-C48F2F6D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096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可以复查</a:t>
            </a:r>
          </a:p>
        </p:txBody>
      </p:sp>
      <p:sp>
        <p:nvSpPr>
          <p:cNvPr id="10" name="p04-pass">
            <a:extLst xmlns:a="http://schemas.openxmlformats.org/drawingml/2006/main">
              <a:ext uri="{FF2B5EF4-FFF2-40B4-BE49-F238E27FC236}">
                <a16:creationId xmlns:a16="http://schemas.microsoft.com/office/drawing/2014/main" id="{DC73DD12-261D-4753-A940-FBD7F691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62100"/>
            <a:ext cx="4476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19050">
            <a:solidFill>
              <a:srgbClr val="28745A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阅读卡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作者主张 + 原文位置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指标 / 对照 / 样本 / 限定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个人判断 + 偏差审计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pending → verified-with-caveat</a:t>
            </a:r>
          </a:p>
        </p:txBody>
      </p:sp>
      <p:sp>
        <p:nvSpPr>
          <p:cNvPr id="11" name="p04-thesis">
            <a:extLst xmlns:a="http://schemas.openxmlformats.org/drawingml/2006/main">
              <a:ext uri="{FF2B5EF4-FFF2-40B4-BE49-F238E27FC236}">
                <a16:creationId xmlns:a16="http://schemas.microsoft.com/office/drawing/2014/main" id="{ABFAA45E-0D57-4115-B39B-1CB5EB61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14900"/>
            <a:ext cx="811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354E"/>
                </a:solidFill>
              </a:defRPr>
            </a:pPr>
            <a:r>
              <a:rPr sz="21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流畅 ≠ 一致；结构完整 ≠ 贡献清晰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第一步：AI 导航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p05-map-title">
            <a:extLst xmlns:a="http://schemas.openxmlformats.org/drawingml/2006/main">
              <a:ext uri="{FF2B5EF4-FFF2-40B4-BE49-F238E27FC236}">
                <a16:creationId xmlns:a16="http://schemas.microsoft.com/office/drawing/2014/main" id="{B553B9BE-7327-4384-9ED0-EBF0784E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54E"/>
                </a:solidFill>
              </a:defRPr>
            </a:pPr>
            <a:r>
              <a:rPr sz="20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先建立阅读地图</a:t>
            </a:r>
          </a:p>
        </p:txBody>
      </p:sp>
      <p:sp>
        <p:nvSpPr>
          <p:cNvPr id="7" name="p05-item-0">
            <a:extLst xmlns:a="http://schemas.openxmlformats.org/drawingml/2006/main">
              <a:ext uri="{FF2B5EF4-FFF2-40B4-BE49-F238E27FC236}">
                <a16:creationId xmlns:a16="http://schemas.microsoft.com/office/drawing/2014/main" id="{D4368D0D-973E-4D05-8CFB-755D3B83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3524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中心问题</a:t>
            </a:r>
          </a:p>
        </p:txBody>
      </p:sp>
      <p:sp>
        <p:nvSpPr>
          <p:cNvPr id="8" name="p05-item-1">
            <a:extLst xmlns:a="http://schemas.openxmlformats.org/drawingml/2006/main">
              <a:ext uri="{FF2B5EF4-FFF2-40B4-BE49-F238E27FC236}">
                <a16:creationId xmlns:a16="http://schemas.microsoft.com/office/drawing/2014/main" id="{6B254B42-98E6-4290-928B-3364CCB7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524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论证结构</a:t>
            </a:r>
          </a:p>
        </p:txBody>
      </p:sp>
      <p:sp>
        <p:nvSpPr>
          <p:cNvPr id="9" name="p05-item-2">
            <a:extLst xmlns:a="http://schemas.openxmlformats.org/drawingml/2006/main">
              <a:ext uri="{FF2B5EF4-FFF2-40B4-BE49-F238E27FC236}">
                <a16:creationId xmlns:a16="http://schemas.microsoft.com/office/drawing/2014/main" id="{205B6FC3-AF76-42B4-A405-629320B4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524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关键术语</a:t>
            </a:r>
          </a:p>
        </p:txBody>
      </p:sp>
      <p:sp>
        <p:nvSpPr>
          <p:cNvPr id="10" name="p05-item-3">
            <a:extLst xmlns:a="http://schemas.openxmlformats.org/drawingml/2006/main">
              <a:ext uri="{FF2B5EF4-FFF2-40B4-BE49-F238E27FC236}">
                <a16:creationId xmlns:a16="http://schemas.microsoft.com/office/drawing/2014/main" id="{1A32D447-7866-40C9-B8EA-61623829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3524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预期证据位置</a:t>
            </a:r>
          </a:p>
        </p:txBody>
      </p:sp>
      <p:sp>
        <p:nvSpPr>
          <p:cNvPr id="11" name="p05-item-4">
            <a:extLst xmlns:a="http://schemas.openxmlformats.org/drawingml/2006/main">
              <a:ext uri="{FF2B5EF4-FFF2-40B4-BE49-F238E27FC236}">
                <a16:creationId xmlns:a16="http://schemas.microsoft.com/office/drawing/2014/main" id="{FAF560D9-5062-42DB-AA46-99DF3C43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3524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待追问问题</a:t>
            </a:r>
          </a:p>
        </p:txBody>
      </p:sp>
      <p:sp>
        <p:nvSpPr>
          <p:cNvPr id="12" name="p05-arrow">
            <a:extLst xmlns:a="http://schemas.openxmlformats.org/drawingml/2006/main">
              <a:ext uri="{FF2B5EF4-FFF2-40B4-BE49-F238E27FC236}">
                <a16:creationId xmlns:a16="http://schemas.microsoft.com/office/drawing/2014/main" id="{1F4F18CE-89FF-459A-8B3E-53322D5B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684"/>
                </a:solidFill>
              </a:defRPr>
            </a:pPr>
            <a:r>
              <a:rPr sz="22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05-output">
            <a:extLst xmlns:a="http://schemas.openxmlformats.org/drawingml/2006/main">
              <a:ext uri="{FF2B5EF4-FFF2-40B4-BE49-F238E27FC236}">
                <a16:creationId xmlns:a16="http://schemas.microsoft.com/office/drawing/2014/main" id="{3496277D-5D72-4D5E-8DE7-7624F19C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383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3746"/>
                </a:solidFill>
              </a:defRPr>
            </a:pPr>
            <a:r>
              <a:rPr sz="22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导航输出</a:t>
            </a:r>
          </a:p>
        </p:txBody>
      </p:sp>
      <p:sp>
        <p:nvSpPr>
          <p:cNvPr id="14" name="p05-unverified">
            <a:extLst xmlns:a="http://schemas.openxmlformats.org/drawingml/2006/main">
              <a:ext uri="{FF2B5EF4-FFF2-40B4-BE49-F238E27FC236}">
                <a16:creationId xmlns:a16="http://schemas.microsoft.com/office/drawing/2014/main" id="{D194DD11-7F8F-4DEB-AB3B-2DE949ED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33650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19050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8161E"/>
                </a:solidFill>
              </a:defRPr>
            </a:pPr>
            <a:r>
              <a:rPr sz="31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未核验</a:t>
            </a:r>
          </a:p>
        </p:txBody>
      </p:sp>
      <p:sp>
        <p:nvSpPr>
          <p:cNvPr id="15" name="p05-next">
            <a:extLst xmlns:a="http://schemas.openxmlformats.org/drawingml/2006/main">
              <a:ext uri="{FF2B5EF4-FFF2-40B4-BE49-F238E27FC236}">
                <a16:creationId xmlns:a16="http://schemas.microsoft.com/office/drawing/2014/main" id="{0103B1FE-0E78-4778-80D5-E7B5B5C5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它只决定你先读哪里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下一步必须回到原文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第二步：原文核验与检查五项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p06-locator">
            <a:extLst xmlns:a="http://schemas.openxmlformats.org/drawingml/2006/main">
              <a:ext uri="{FF2B5EF4-FFF2-40B4-BE49-F238E27FC236}">
                <a16:creationId xmlns:a16="http://schemas.microsoft.com/office/drawing/2014/main" id="{0785D2B2-25C9-40EB-9BAD-A3693F0A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078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先留下两个可复查位置：§3.2, p.5 ｜ Fig.2 / Table 1</a:t>
            </a:r>
          </a:p>
        </p:txBody>
      </p:sp>
      <p:sp>
        <p:nvSpPr>
          <p:cNvPr id="7" name="p06-table-h-0">
            <a:extLst xmlns:a="http://schemas.openxmlformats.org/drawingml/2006/main">
              <a:ext uri="{FF2B5EF4-FFF2-40B4-BE49-F238E27FC236}">
                <a16:creationId xmlns:a16="http://schemas.microsoft.com/office/drawing/2014/main" id="{13BFAEE7-F0F2-4817-8273-D0F83C45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8" name="p06-table-h-1">
            <a:extLst xmlns:a="http://schemas.openxmlformats.org/drawingml/2006/main">
              <a:ext uri="{FF2B5EF4-FFF2-40B4-BE49-F238E27FC236}">
                <a16:creationId xmlns:a16="http://schemas.microsoft.com/office/drawing/2014/main" id="{A26052FB-A5D4-405D-BDFE-809C6C3C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6210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检查问题</a:t>
            </a:r>
          </a:p>
        </p:txBody>
      </p:sp>
      <p:sp>
        <p:nvSpPr>
          <p:cNvPr id="9" name="p06-table-r0-0">
            <a:extLst xmlns:a="http://schemas.openxmlformats.org/drawingml/2006/main">
              <a:ext uri="{FF2B5EF4-FFF2-40B4-BE49-F238E27FC236}">
                <a16:creationId xmlns:a16="http://schemas.microsoft.com/office/drawing/2014/main" id="{8729CA4A-70F6-4B70-BD3F-676A3284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0" name="p06-table-r0-1">
            <a:extLst xmlns:a="http://schemas.openxmlformats.org/drawingml/2006/main">
              <a:ext uri="{FF2B5EF4-FFF2-40B4-BE49-F238E27FC236}">
                <a16:creationId xmlns:a16="http://schemas.microsoft.com/office/drawing/2014/main" id="{A66504CF-9825-4F99-9D43-2A273346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62150"/>
            <a:ext cx="8858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原文任务和当前项目一样吗？</a:t>
            </a:r>
          </a:p>
        </p:txBody>
      </p:sp>
      <p:sp>
        <p:nvSpPr>
          <p:cNvPr id="11" name="p06-table-r1-0">
            <a:extLst xmlns:a="http://schemas.openxmlformats.org/drawingml/2006/main">
              <a:ext uri="{FF2B5EF4-FFF2-40B4-BE49-F238E27FC236}">
                <a16:creationId xmlns:a16="http://schemas.microsoft.com/office/drawing/2014/main" id="{DA2752BC-49FE-422C-AB41-766638B0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设置</a:t>
            </a:r>
          </a:p>
        </p:txBody>
      </p:sp>
      <p:sp>
        <p:nvSpPr>
          <p:cNvPr id="12" name="p06-table-r1-1">
            <a:extLst xmlns:a="http://schemas.openxmlformats.org/drawingml/2006/main">
              <a:ext uri="{FF2B5EF4-FFF2-40B4-BE49-F238E27FC236}">
                <a16:creationId xmlns:a16="http://schemas.microsoft.com/office/drawing/2014/main" id="{724480B7-6DAE-42C5-A87E-5B1D75B1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05075"/>
            <a:ext cx="8858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输入、规模与条件是什么？</a:t>
            </a:r>
          </a:p>
        </p:txBody>
      </p:sp>
      <p:sp>
        <p:nvSpPr>
          <p:cNvPr id="13" name="p06-table-r2-0">
            <a:extLst xmlns:a="http://schemas.openxmlformats.org/drawingml/2006/main">
              <a:ext uri="{FF2B5EF4-FFF2-40B4-BE49-F238E27FC236}">
                <a16:creationId xmlns:a16="http://schemas.microsoft.com/office/drawing/2014/main" id="{C08B4DD6-9F65-4A6B-9312-5BC531BF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4" name="p06-table-r2-1">
            <a:extLst xmlns:a="http://schemas.openxmlformats.org/drawingml/2006/main">
              <a:ext uri="{FF2B5EF4-FFF2-40B4-BE49-F238E27FC236}">
                <a16:creationId xmlns:a16="http://schemas.microsoft.com/office/drawing/2014/main" id="{025F6A9B-D3E5-422F-86B9-3491F632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0"/>
            <a:ext cx="8858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度量如何定义？与你的指标一致吗？</a:t>
            </a:r>
          </a:p>
        </p:txBody>
      </p:sp>
      <p:sp>
        <p:nvSpPr>
          <p:cNvPr id="15" name="p06-table-r3-0">
            <a:extLst xmlns:a="http://schemas.openxmlformats.org/drawingml/2006/main">
              <a:ext uri="{FF2B5EF4-FFF2-40B4-BE49-F238E27FC236}">
                <a16:creationId xmlns:a16="http://schemas.microsoft.com/office/drawing/2014/main" id="{E7C07255-5E62-41BB-8192-6089FF7D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6" name="p06-table-r3-1">
            <a:extLst xmlns:a="http://schemas.openxmlformats.org/drawingml/2006/main">
              <a:ext uri="{FF2B5EF4-FFF2-40B4-BE49-F238E27FC236}">
                <a16:creationId xmlns:a16="http://schemas.microsoft.com/office/drawing/2014/main" id="{E2ECC8A2-C6F4-4981-95BD-631D4A5A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90925"/>
            <a:ext cx="8858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baseline 是什么？比较公平吗？</a:t>
            </a:r>
          </a:p>
        </p:txBody>
      </p:sp>
      <p:sp>
        <p:nvSpPr>
          <p:cNvPr id="17" name="p06-table-r4-0">
            <a:extLst xmlns:a="http://schemas.openxmlformats.org/drawingml/2006/main">
              <a:ext uri="{FF2B5EF4-FFF2-40B4-BE49-F238E27FC236}">
                <a16:creationId xmlns:a16="http://schemas.microsoft.com/office/drawing/2014/main" id="{3225C453-26DE-4472-AAD9-42AFF91C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限定</a:t>
            </a:r>
          </a:p>
        </p:txBody>
      </p:sp>
      <p:sp>
        <p:nvSpPr>
          <p:cNvPr id="18" name="p06-table-r4-1">
            <a:extLst xmlns:a="http://schemas.openxmlformats.org/drawingml/2006/main">
              <a:ext uri="{FF2B5EF4-FFF2-40B4-BE49-F238E27FC236}">
                <a16:creationId xmlns:a16="http://schemas.microsoft.com/office/drawing/2014/main" id="{3B5AA632-05CD-49E4-9A65-271A3CC4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33850"/>
            <a:ext cx="8858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结论只在什么范围内成立？</a:t>
            </a:r>
          </a:p>
        </p:txBody>
      </p:sp>
      <p:sp>
        <p:nvSpPr>
          <p:cNvPr id="19" name="p06-rule">
            <a:extLst xmlns:a="http://schemas.openxmlformats.org/drawingml/2006/main">
              <a:ext uri="{FF2B5EF4-FFF2-40B4-BE49-F238E27FC236}">
                <a16:creationId xmlns:a16="http://schemas.microsoft.com/office/drawing/2014/main" id="{DB167608-C0AA-45D2-B2BD-1F911936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0058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没有原文位置的主张，不能进入阅读卡的“作者主张”栏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第三步：AI 质疑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p07-question">
            <a:extLst xmlns:a="http://schemas.openxmlformats.org/drawingml/2006/main">
              <a:ext uri="{FF2B5EF4-FFF2-40B4-BE49-F238E27FC236}">
                <a16:creationId xmlns:a16="http://schemas.microsoft.com/office/drawing/2014/main" id="{EF6790B6-A85E-4B5E-A062-A79EE17E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54E"/>
                </a:solidFill>
              </a:defRPr>
            </a:pPr>
            <a:r>
              <a:rPr sz="20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让 AI 根据已核验内容提出候选问题</a:t>
            </a:r>
          </a:p>
        </p:txBody>
      </p:sp>
      <p:sp>
        <p:nvSpPr>
          <p:cNvPr id="7" name="p07-q-0">
            <a:extLst xmlns:a="http://schemas.openxmlformats.org/drawingml/2006/main">
              <a:ext uri="{FF2B5EF4-FFF2-40B4-BE49-F238E27FC236}">
                <a16:creationId xmlns:a16="http://schemas.microsoft.com/office/drawing/2014/main" id="{247325A3-95BE-4EC7-A479-3808C666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?  什么条件会推翻这个结果？</a:t>
            </a:r>
          </a:p>
        </p:txBody>
      </p:sp>
      <p:sp>
        <p:nvSpPr>
          <p:cNvPr id="8" name="p07-q-1">
            <a:extLst xmlns:a="http://schemas.openxmlformats.org/drawingml/2006/main">
              <a:ext uri="{FF2B5EF4-FFF2-40B4-BE49-F238E27FC236}">
                <a16:creationId xmlns:a16="http://schemas.microsoft.com/office/drawing/2014/main" id="{D7C869B2-A841-4478-9321-C44A23A7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?  对照公平吗，baseline 是否被低估？</a:t>
            </a:r>
          </a:p>
        </p:txBody>
      </p:sp>
      <p:sp>
        <p:nvSpPr>
          <p:cNvPr id="9" name="p07-q-2">
            <a:extLst xmlns:a="http://schemas.openxmlformats.org/drawingml/2006/main">
              <a:ext uri="{FF2B5EF4-FFF2-40B4-BE49-F238E27FC236}">
                <a16:creationId xmlns:a16="http://schemas.microsoft.com/office/drawing/2014/main" id="{05B1BAAF-5039-475F-ABCA-6F4F300B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?  样本规模支撑当前结论强度吗？</a:t>
            </a:r>
          </a:p>
        </p:txBody>
      </p:sp>
      <p:sp>
        <p:nvSpPr>
          <p:cNvPr id="10" name="p07-q-3">
            <a:extLst xmlns:a="http://schemas.openxmlformats.org/drawingml/2006/main">
              <a:ext uri="{FF2B5EF4-FFF2-40B4-BE49-F238E27FC236}">
                <a16:creationId xmlns:a16="http://schemas.microsoft.com/office/drawing/2014/main" id="{5FE0ADD7-B0A0-4FD7-8AF2-D58F0ED2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?  笔记是否遗漏原文限定条件？</a:t>
            </a:r>
          </a:p>
        </p:txBody>
      </p:sp>
      <p:sp>
        <p:nvSpPr>
          <p:cNvPr id="11" name="p07-q-4">
            <a:extLst xmlns:a="http://schemas.openxmlformats.org/drawingml/2006/main">
              <a:ext uri="{FF2B5EF4-FFF2-40B4-BE49-F238E27FC236}">
                <a16:creationId xmlns:a16="http://schemas.microsoft.com/office/drawing/2014/main" id="{47326015-1559-4EDA-A8B2-BF531C34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?  是否存在原文未讨论的替代解释？</a:t>
            </a:r>
          </a:p>
        </p:txBody>
      </p:sp>
      <p:sp>
        <p:nvSpPr>
          <p:cNvPr id="12" name="p07-side">
            <a:extLst xmlns:a="http://schemas.openxmlformats.org/drawingml/2006/main">
              <a:ext uri="{FF2B5EF4-FFF2-40B4-BE49-F238E27FC236}">
                <a16:creationId xmlns:a16="http://schemas.microsoft.com/office/drawing/2014/main" id="{99FE098A-84E6-4A31-8CC0-D7AA6A5E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6670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C8161E"/>
                </a:solidFill>
              </a:defRPr>
            </a:pPr>
            <a:r>
              <a:rPr sz="23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候选问题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C8161E"/>
                </a:solidFill>
              </a:defRPr>
            </a:pPr>
            <a:r>
              <a:rPr sz="23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C8161E"/>
                </a:solidFill>
              </a:defRPr>
            </a:pPr>
            <a:r>
              <a:rPr sz="23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13" name="p07-return">
            <a:extLst xmlns:a="http://schemas.openxmlformats.org/drawingml/2006/main">
              <a:ext uri="{FF2B5EF4-FFF2-40B4-BE49-F238E27FC236}">
                <a16:creationId xmlns:a16="http://schemas.microsoft.com/office/drawing/2014/main" id="{4888935C-1899-4C9F-AFC8-2AEBF991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8745A"/>
                </a:solidFill>
              </a:defRPr>
            </a:pPr>
            <a:r>
              <a:rPr sz="17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每个问题都要回到原文检查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第四步：偏差审计与错读类型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p08-b-0">
            <a:extLst xmlns:a="http://schemas.openxmlformats.org/drawingml/2006/main">
              <a:ext uri="{FF2B5EF4-FFF2-40B4-BE49-F238E27FC236}">
                <a16:creationId xmlns:a16="http://schemas.microsoft.com/office/drawing/2014/main" id="{32322171-BE76-430F-BEE0-529FEB5D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过度概括</a:t>
            </a:r>
          </a:p>
        </p:txBody>
      </p:sp>
      <p:sp>
        <p:nvSpPr>
          <p:cNvPr id="7" name="p08-e-0">
            <a:extLst xmlns:a="http://schemas.openxmlformats.org/drawingml/2006/main">
              <a:ext uri="{FF2B5EF4-FFF2-40B4-BE49-F238E27FC236}">
                <a16:creationId xmlns:a16="http://schemas.microsoft.com/office/drawing/2014/main" id="{78DCA151-9586-4B2F-8F0A-456C9368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096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降低 → 消除</a:t>
            </a:r>
          </a:p>
        </p:txBody>
      </p:sp>
      <p:sp>
        <p:nvSpPr>
          <p:cNvPr id="8" name="p08-b-1">
            <a:extLst xmlns:a="http://schemas.openxmlformats.org/drawingml/2006/main">
              <a:ext uri="{FF2B5EF4-FFF2-40B4-BE49-F238E27FC236}">
                <a16:creationId xmlns:a16="http://schemas.microsoft.com/office/drawing/2014/main" id="{24EFFA0B-A8C1-45F4-A5E4-9A5EC2BA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位置错指</a:t>
            </a:r>
          </a:p>
        </p:txBody>
      </p:sp>
      <p:sp>
        <p:nvSpPr>
          <p:cNvPr id="9" name="p08-e-1">
            <a:extLst xmlns:a="http://schemas.openxmlformats.org/drawingml/2006/main">
              <a:ext uri="{FF2B5EF4-FFF2-40B4-BE49-F238E27FC236}">
                <a16:creationId xmlns:a16="http://schemas.microsoft.com/office/drawing/2014/main" id="{03FD4EA8-7EBB-4000-91B1-D50A57F9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24025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Fig.2 → Table 1</a:t>
            </a:r>
          </a:p>
        </p:txBody>
      </p:sp>
      <p:sp>
        <p:nvSpPr>
          <p:cNvPr id="10" name="p08-b-2">
            <a:extLst xmlns:a="http://schemas.openxmlformats.org/drawingml/2006/main">
              <a:ext uri="{FF2B5EF4-FFF2-40B4-BE49-F238E27FC236}">
                <a16:creationId xmlns:a16="http://schemas.microsoft.com/office/drawing/2014/main" id="{F759946F-1134-4739-B709-1C1C1A0B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限定遗漏</a:t>
            </a:r>
          </a:p>
        </p:txBody>
      </p:sp>
      <p:sp>
        <p:nvSpPr>
          <p:cNvPr id="11" name="p08-e-2">
            <a:extLst xmlns:a="http://schemas.openxmlformats.org/drawingml/2006/main">
              <a:ext uri="{FF2B5EF4-FFF2-40B4-BE49-F238E27FC236}">
                <a16:creationId xmlns:a16="http://schemas.microsoft.com/office/drawing/2014/main" id="{337BBE75-ADE6-4A0C-B542-A301F63D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384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计算机领域 → 全部领域</a:t>
            </a:r>
          </a:p>
        </p:txBody>
      </p:sp>
      <p:sp>
        <p:nvSpPr>
          <p:cNvPr id="12" name="p08-b-3">
            <a:extLst xmlns:a="http://schemas.openxmlformats.org/drawingml/2006/main">
              <a:ext uri="{FF2B5EF4-FFF2-40B4-BE49-F238E27FC236}">
                <a16:creationId xmlns:a16="http://schemas.microsoft.com/office/drawing/2014/main" id="{0D0973AD-52CB-4083-A26F-4CE57828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张冠李戴</a:t>
            </a:r>
          </a:p>
        </p:txBody>
      </p:sp>
      <p:sp>
        <p:nvSpPr>
          <p:cNvPr id="13" name="p08-e-3">
            <a:extLst xmlns:a="http://schemas.openxmlformats.org/drawingml/2006/main">
              <a:ext uri="{FF2B5EF4-FFF2-40B4-BE49-F238E27FC236}">
                <a16:creationId xmlns:a16="http://schemas.microsoft.com/office/drawing/2014/main" id="{BCEA08F2-E1D1-4EC9-BB08-8344AF98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52775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参考文献方法 → 本文方法</a:t>
            </a:r>
          </a:p>
        </p:txBody>
      </p:sp>
      <p:sp>
        <p:nvSpPr>
          <p:cNvPr id="14" name="p08-b-4">
            <a:extLst xmlns:a="http://schemas.openxmlformats.org/drawingml/2006/main">
              <a:ext uri="{FF2B5EF4-FFF2-40B4-BE49-F238E27FC236}">
                <a16:creationId xmlns:a16="http://schemas.microsoft.com/office/drawing/2014/main" id="{BF009EBD-24B6-433D-AA65-71AA122A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伪造引用</a:t>
            </a:r>
          </a:p>
        </p:txBody>
      </p:sp>
      <p:sp>
        <p:nvSpPr>
          <p:cNvPr id="15" name="p08-e-4">
            <a:extLst xmlns:a="http://schemas.openxmlformats.org/drawingml/2006/main">
              <a:ext uri="{FF2B5EF4-FFF2-40B4-BE49-F238E27FC236}">
                <a16:creationId xmlns:a16="http://schemas.microsoft.com/office/drawing/2014/main" id="{15941529-5CB1-4DCC-976E-5909F50F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题名 / 作者 / 页码不符</a:t>
            </a:r>
          </a:p>
        </p:txBody>
      </p:sp>
      <p:sp>
        <p:nvSpPr>
          <p:cNvPr id="16" name="p08-record-title">
            <a:extLst xmlns:a="http://schemas.openxmlformats.org/drawingml/2006/main">
              <a:ext uri="{FF2B5EF4-FFF2-40B4-BE49-F238E27FC236}">
                <a16:creationId xmlns:a16="http://schemas.microsoft.com/office/drawing/2014/main" id="{E8B2A6FE-C0E5-43FB-952A-A9DF7A25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009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最小偏差记录</a:t>
            </a:r>
          </a:p>
        </p:txBody>
      </p:sp>
      <p:sp>
        <p:nvSpPr>
          <p:cNvPr id="17" name="p08-record">
            <a:extLst xmlns:a="http://schemas.openxmlformats.org/drawingml/2006/main">
              <a:ext uri="{FF2B5EF4-FFF2-40B4-BE49-F238E27FC236}">
                <a16:creationId xmlns:a16="http://schemas.microsoft.com/office/drawing/2014/main" id="{929A1259-588F-4B6F-8D72-442C6F9D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00200"/>
            <a:ext cx="37719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2F638A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输出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原文实际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核验位置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处理决定</a:t>
            </a:r>
          </a:p>
        </p:txBody>
      </p:sp>
      <p:sp>
        <p:nvSpPr>
          <p:cNvPr id="18" name="p08-honesty">
            <a:extLst xmlns:a="http://schemas.openxmlformats.org/drawingml/2006/main">
              <a:ext uri="{FF2B5EF4-FFF2-40B4-BE49-F238E27FC236}">
                <a16:creationId xmlns:a16="http://schemas.microsoft.com/office/drawing/2014/main" id="{8C9966A7-ED1F-4F7E-ACB5-E886FFC2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958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未发现明显错误？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记录已检查风险与核验依据，不虚构错误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第五步：人工定稿与主张区分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p09-source-title">
            <a:extLst xmlns:a="http://schemas.openxmlformats.org/drawingml/2006/main">
              <a:ext uri="{FF2B5EF4-FFF2-40B4-BE49-F238E27FC236}">
                <a16:creationId xmlns:a16="http://schemas.microsoft.com/office/drawing/2014/main" id="{3FA7F6C4-5204-44EA-A3A3-F927ADEB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AI 复述可能来自</a:t>
            </a:r>
          </a:p>
        </p:txBody>
      </p:sp>
      <p:sp>
        <p:nvSpPr>
          <p:cNvPr id="7" name="p09-source-0">
            <a:extLst xmlns:a="http://schemas.openxmlformats.org/drawingml/2006/main">
              <a:ext uri="{FF2B5EF4-FFF2-40B4-BE49-F238E27FC236}">
                <a16:creationId xmlns:a16="http://schemas.microsoft.com/office/drawing/2014/main" id="{4D412193-BC8A-450F-A368-48A31319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原文确实写了</a:t>
            </a:r>
          </a:p>
        </p:txBody>
      </p:sp>
      <p:sp>
        <p:nvSpPr>
          <p:cNvPr id="8" name="p09-source-1">
            <a:extLst xmlns:a="http://schemas.openxmlformats.org/drawingml/2006/main">
              <a:ext uri="{FF2B5EF4-FFF2-40B4-BE49-F238E27FC236}">
                <a16:creationId xmlns:a16="http://schemas.microsoft.com/office/drawing/2014/main" id="{D4260052-E473-40ED-8794-24FAEF7D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?  AI 推断得更具体</a:t>
            </a:r>
          </a:p>
        </p:txBody>
      </p:sp>
      <p:sp>
        <p:nvSpPr>
          <p:cNvPr id="9" name="p09-source-2">
            <a:extLst xmlns:a="http://schemas.openxmlformats.org/drawingml/2006/main">
              <a:ext uri="{FF2B5EF4-FFF2-40B4-BE49-F238E27FC236}">
                <a16:creationId xmlns:a16="http://schemas.microsoft.com/office/drawing/2014/main" id="{EF85E465-DB3A-49D8-BC4E-C5011809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?  AI 根据常识新增</a:t>
            </a:r>
          </a:p>
        </p:txBody>
      </p:sp>
      <p:sp>
        <p:nvSpPr>
          <p:cNvPr id="10" name="p09-source-3">
            <a:extLst xmlns:a="http://schemas.openxmlformats.org/drawingml/2006/main">
              <a:ext uri="{FF2B5EF4-FFF2-40B4-BE49-F238E27FC236}">
                <a16:creationId xmlns:a16="http://schemas.microsoft.com/office/drawing/2014/main" id="{F7758D1C-21BA-413B-A69C-CEF2416B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不同论文内容拼装</a:t>
            </a:r>
          </a:p>
        </p:txBody>
      </p:sp>
      <p:sp>
        <p:nvSpPr>
          <p:cNvPr id="11" name="p09-source-4">
            <a:extLst xmlns:a="http://schemas.openxmlformats.org/drawingml/2006/main">
              <a:ext uri="{FF2B5EF4-FFF2-40B4-BE49-F238E27FC236}">
                <a16:creationId xmlns:a16="http://schemas.microsoft.com/office/drawing/2014/main" id="{57344FCA-5C15-462F-9CA7-2B6613C0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措辞强度被改写</a:t>
            </a:r>
          </a:p>
        </p:txBody>
      </p:sp>
      <p:sp>
        <p:nvSpPr>
          <p:cNvPr id="12" name="p09-arrow">
            <a:extLst xmlns:a="http://schemas.openxmlformats.org/drawingml/2006/main">
              <a:ext uri="{FF2B5EF4-FFF2-40B4-BE49-F238E27FC236}">
                <a16:creationId xmlns:a16="http://schemas.microsoft.com/office/drawing/2014/main" id="{212FC8BC-36AC-489A-A028-9D6A18CE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684"/>
                </a:solidFill>
              </a:defRPr>
            </a:pPr>
            <a:r>
              <a:rPr sz="22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09-only">
            <a:extLst xmlns:a="http://schemas.openxmlformats.org/drawingml/2006/main">
              <a:ext uri="{FF2B5EF4-FFF2-40B4-BE49-F238E27FC236}">
                <a16:creationId xmlns:a16="http://schemas.microsoft.com/office/drawing/2014/main" id="{D871670E-DA22-4DDF-A6AB-01775F37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334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45A"/>
                </a:solidFill>
              </a:defRPr>
            </a:pPr>
            <a:r>
              <a:rPr sz="18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只有第一种</a:t>
            </a:r>
          </a:p>
        </p:txBody>
      </p:sp>
      <p:sp>
        <p:nvSpPr>
          <p:cNvPr id="14" name="p09-d-0">
            <a:extLst xmlns:a="http://schemas.openxmlformats.org/drawingml/2006/main">
              <a:ext uri="{FF2B5EF4-FFF2-40B4-BE49-F238E27FC236}">
                <a16:creationId xmlns:a16="http://schemas.microsoft.com/office/drawing/2014/main" id="{3A163191-14CA-4FF3-9AF7-3E5680BB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4572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28745A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作者主张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带原文位置</a:t>
            </a:r>
          </a:p>
        </p:txBody>
      </p:sp>
      <p:sp>
        <p:nvSpPr>
          <p:cNvPr id="15" name="p09-d-1">
            <a:extLst xmlns:a="http://schemas.openxmlformats.org/drawingml/2006/main">
              <a:ext uri="{FF2B5EF4-FFF2-40B4-BE49-F238E27FC236}">
                <a16:creationId xmlns:a16="http://schemas.microsoft.com/office/drawing/2014/main" id="{2B44F876-9140-44E9-B0D5-7393E576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4572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18354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原文证据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指标 / 对照 / 样本 / 限定</a:t>
            </a:r>
          </a:p>
        </p:txBody>
      </p:sp>
      <p:sp>
        <p:nvSpPr>
          <p:cNvPr id="16" name="p09-d-2">
            <a:extLst xmlns:a="http://schemas.openxmlformats.org/drawingml/2006/main">
              <a:ext uri="{FF2B5EF4-FFF2-40B4-BE49-F238E27FC236}">
                <a16:creationId xmlns:a16="http://schemas.microsoft.com/office/drawing/2014/main" id="{72797DCF-6404-4422-B636-5AE505DC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572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个人判断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适用性 / 待验证 / 项目关系</a:t>
            </a:r>
          </a:p>
        </p:txBody>
      </p:sp>
      <p:sp>
        <p:nvSpPr>
          <p:cNvPr id="17" name="p09-d-3">
            <a:extLst xmlns:a="http://schemas.openxmlformats.org/drawingml/2006/main">
              <a:ext uri="{FF2B5EF4-FFF2-40B4-BE49-F238E27FC236}">
                <a16:creationId xmlns:a16="http://schemas.microsoft.com/office/drawing/2014/main" id="{DDCB7483-B912-4C68-A77B-C3840FD1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572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A86C1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AI 建议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导航 / 质疑 / 偏差记录</a:t>
            </a:r>
          </a:p>
        </p:txBody>
      </p:sp>
      <p:sp>
        <p:nvSpPr>
          <p:cNvPr id="18" name="p09-responsibility">
            <a:extLst xmlns:a="http://schemas.openxmlformats.org/drawingml/2006/main">
              <a:ext uri="{FF2B5EF4-FFF2-40B4-BE49-F238E27FC236}">
                <a16:creationId xmlns:a16="http://schemas.microsoft.com/office/drawing/2014/main" id="{49F9CD7E-06FB-4CB8-BF7C-334CC42F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10150"/>
            <a:ext cx="807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判断责任在学生：AI 可以建议，不能定稿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阅读卡字段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p10-card-h-0">
            <a:extLst xmlns:a="http://schemas.openxmlformats.org/drawingml/2006/main">
              <a:ext uri="{FF2B5EF4-FFF2-40B4-BE49-F238E27FC236}">
                <a16:creationId xmlns:a16="http://schemas.microsoft.com/office/drawing/2014/main" id="{9FF0BC11-C55B-434A-A50D-22DE632E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阅读卡字段</a:t>
            </a:r>
          </a:p>
        </p:txBody>
      </p:sp>
      <p:sp>
        <p:nvSpPr>
          <p:cNvPr id="7" name="p10-card-h-1">
            <a:extLst xmlns:a="http://schemas.openxmlformats.org/drawingml/2006/main">
              <a:ext uri="{FF2B5EF4-FFF2-40B4-BE49-F238E27FC236}">
                <a16:creationId xmlns:a16="http://schemas.microsoft.com/office/drawing/2014/main" id="{2D1DFD39-9D9B-4438-9959-86C28EB2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763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最低记录</a:t>
            </a:r>
          </a:p>
        </p:txBody>
      </p:sp>
      <p:sp>
        <p:nvSpPr>
          <p:cNvPr id="8" name="p10-card-r0-0">
            <a:extLst xmlns:a="http://schemas.openxmlformats.org/drawingml/2006/main">
              <a:ext uri="{FF2B5EF4-FFF2-40B4-BE49-F238E27FC236}">
                <a16:creationId xmlns:a16="http://schemas.microsoft.com/office/drawing/2014/main" id="{28C7A0C8-8027-4C7E-BEB9-60761A11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论文身份</a:t>
            </a:r>
          </a:p>
        </p:txBody>
      </p:sp>
      <p:sp>
        <p:nvSpPr>
          <p:cNvPr id="9" name="p10-card-r0-1">
            <a:extLst xmlns:a="http://schemas.openxmlformats.org/drawingml/2006/main">
              <a:ext uri="{FF2B5EF4-FFF2-40B4-BE49-F238E27FC236}">
                <a16:creationId xmlns:a16="http://schemas.microsoft.com/office/drawing/2014/main" id="{AEAD1F8A-DA87-4DE2-B950-B5632E1F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573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题名 / 作者 / 年份 / 正式来源 / DOI</a:t>
            </a:r>
          </a:p>
        </p:txBody>
      </p:sp>
      <p:sp>
        <p:nvSpPr>
          <p:cNvPr id="10" name="p10-card-r1-0">
            <a:extLst xmlns:a="http://schemas.openxmlformats.org/drawingml/2006/main">
              <a:ext uri="{FF2B5EF4-FFF2-40B4-BE49-F238E27FC236}">
                <a16:creationId xmlns:a16="http://schemas.microsoft.com/office/drawing/2014/main" id="{9EB66EFD-D21C-49D7-A4ED-28FB659C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来源核验 + 证据角色</a:t>
            </a:r>
          </a:p>
        </p:txBody>
      </p:sp>
      <p:sp>
        <p:nvSpPr>
          <p:cNvPr id="11" name="p10-card-r1-1">
            <a:extLst xmlns:a="http://schemas.openxmlformats.org/drawingml/2006/main">
              <a:ext uri="{FF2B5EF4-FFF2-40B4-BE49-F238E27FC236}">
                <a16:creationId xmlns:a16="http://schemas.microsoft.com/office/drawing/2014/main" id="{C817F8F3-ECB8-4249-9944-2C21C14F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383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四态；主 / 补充 / 对比 / 线索</a:t>
            </a:r>
          </a:p>
        </p:txBody>
      </p:sp>
      <p:sp>
        <p:nvSpPr>
          <p:cNvPr id="12" name="p10-card-r2-0">
            <a:extLst xmlns:a="http://schemas.openxmlformats.org/drawingml/2006/main">
              <a:ext uri="{FF2B5EF4-FFF2-40B4-BE49-F238E27FC236}">
                <a16:creationId xmlns:a16="http://schemas.microsoft.com/office/drawing/2014/main" id="{DDAF301D-4359-4FB7-94D3-408879B6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中心问题</a:t>
            </a:r>
          </a:p>
        </p:txBody>
      </p:sp>
      <p:sp>
        <p:nvSpPr>
          <p:cNvPr id="13" name="p10-card-r2-1">
            <a:extLst xmlns:a="http://schemas.openxmlformats.org/drawingml/2006/main">
              <a:ext uri="{FF2B5EF4-FFF2-40B4-BE49-F238E27FC236}">
                <a16:creationId xmlns:a16="http://schemas.microsoft.com/office/drawing/2014/main" id="{D97704F2-69B8-4562-B80E-B1A1212B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193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本次阅读要回答的一句话</a:t>
            </a:r>
          </a:p>
        </p:txBody>
      </p:sp>
      <p:sp>
        <p:nvSpPr>
          <p:cNvPr id="14" name="p10-card-r3-0">
            <a:extLst xmlns:a="http://schemas.openxmlformats.org/drawingml/2006/main">
              <a:ext uri="{FF2B5EF4-FFF2-40B4-BE49-F238E27FC236}">
                <a16:creationId xmlns:a16="http://schemas.microsoft.com/office/drawing/2014/main" id="{3C21DEA1-B950-4403-872B-F9C3539D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作者主张 + 位置</a:t>
            </a:r>
          </a:p>
        </p:txBody>
      </p:sp>
      <p:sp>
        <p:nvSpPr>
          <p:cNvPr id="15" name="p10-card-r3-1">
            <a:extLst xmlns:a="http://schemas.openxmlformats.org/drawingml/2006/main">
              <a:ext uri="{FF2B5EF4-FFF2-40B4-BE49-F238E27FC236}">
                <a16:creationId xmlns:a16="http://schemas.microsoft.com/office/drawing/2014/main" id="{D4C2D975-0F16-4A4B-817E-EA5CEBAF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003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章节 / 页码 / 图表；与个人判断分栏</a:t>
            </a:r>
          </a:p>
        </p:txBody>
      </p:sp>
      <p:sp>
        <p:nvSpPr>
          <p:cNvPr id="16" name="p10-card-r4-0">
            <a:extLst xmlns:a="http://schemas.openxmlformats.org/drawingml/2006/main">
              <a:ext uri="{FF2B5EF4-FFF2-40B4-BE49-F238E27FC236}">
                <a16:creationId xmlns:a16="http://schemas.microsoft.com/office/drawing/2014/main" id="{142693D8-05D8-4572-9F7C-E294A23B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原文证据</a:t>
            </a:r>
          </a:p>
        </p:txBody>
      </p:sp>
      <p:sp>
        <p:nvSpPr>
          <p:cNvPr id="17" name="p10-card-r4-1">
            <a:extLst xmlns:a="http://schemas.openxmlformats.org/drawingml/2006/main">
              <a:ext uri="{FF2B5EF4-FFF2-40B4-BE49-F238E27FC236}">
                <a16:creationId xmlns:a16="http://schemas.microsoft.com/office/drawing/2014/main" id="{240AE06B-3D1C-4231-A05F-E68B795D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指标 / 对照 / 样本 / 限定；N/A + 理由可接受</a:t>
            </a:r>
          </a:p>
        </p:txBody>
      </p:sp>
      <p:sp>
        <p:nvSpPr>
          <p:cNvPr id="18" name="p10-card-r5-0">
            <a:extLst xmlns:a="http://schemas.openxmlformats.org/drawingml/2006/main">
              <a:ext uri="{FF2B5EF4-FFF2-40B4-BE49-F238E27FC236}">
                <a16:creationId xmlns:a16="http://schemas.microsoft.com/office/drawing/2014/main" id="{C9DAFBC3-7C12-414E-B2EF-D210C548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局限与边界</a:t>
            </a:r>
          </a:p>
        </p:txBody>
      </p:sp>
      <p:sp>
        <p:nvSpPr>
          <p:cNvPr id="19" name="p10-card-r5-1">
            <a:extLst xmlns:a="http://schemas.openxmlformats.org/drawingml/2006/main">
              <a:ext uri="{FF2B5EF4-FFF2-40B4-BE49-F238E27FC236}">
                <a16:creationId xmlns:a16="http://schemas.microsoft.com/office/drawing/2014/main" id="{688BB33A-EC5E-457A-A6AA-F6735EE9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623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作者自述 + 适用条件</a:t>
            </a:r>
          </a:p>
        </p:txBody>
      </p:sp>
      <p:sp>
        <p:nvSpPr>
          <p:cNvPr id="20" name="p10-card-r6-0">
            <a:extLst xmlns:a="http://schemas.openxmlformats.org/drawingml/2006/main">
              <a:ext uri="{FF2B5EF4-FFF2-40B4-BE49-F238E27FC236}">
                <a16:creationId xmlns:a16="http://schemas.microsoft.com/office/drawing/2014/main" id="{C53BBC7C-42E0-46B2-85DC-6D82459C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个人判断</a:t>
            </a:r>
          </a:p>
        </p:txBody>
      </p:sp>
      <p:sp>
        <p:nvSpPr>
          <p:cNvPr id="21" name="p10-card-r6-1">
            <a:extLst xmlns:a="http://schemas.openxmlformats.org/drawingml/2006/main">
              <a:ext uri="{FF2B5EF4-FFF2-40B4-BE49-F238E27FC236}">
                <a16:creationId xmlns:a16="http://schemas.microsoft.com/office/drawing/2014/main" id="{4EFA7C90-8919-4095-947E-00DA0F7F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适用性 / 待验证 / 与项目关系</a:t>
            </a:r>
          </a:p>
        </p:txBody>
      </p:sp>
      <p:sp>
        <p:nvSpPr>
          <p:cNvPr id="22" name="p10-card-r7-0">
            <a:extLst xmlns:a="http://schemas.openxmlformats.org/drawingml/2006/main">
              <a:ext uri="{FF2B5EF4-FFF2-40B4-BE49-F238E27FC236}">
                <a16:creationId xmlns:a16="http://schemas.microsoft.com/office/drawing/2014/main" id="{08CCA6BF-9AFF-4FEE-AD0E-BE845D1F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建议（待核验）</a:t>
            </a:r>
          </a:p>
        </p:txBody>
      </p:sp>
      <p:sp>
        <p:nvSpPr>
          <p:cNvPr id="23" name="p10-card-r7-1">
            <a:extLst xmlns:a="http://schemas.openxmlformats.org/drawingml/2006/main">
              <a:ext uri="{FF2B5EF4-FFF2-40B4-BE49-F238E27FC236}">
                <a16:creationId xmlns:a16="http://schemas.microsoft.com/office/drawing/2014/main" id="{AEAF61E5-01F6-4009-96CD-2CC9E2B4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243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只作导航、质疑或候选解释</a:t>
            </a:r>
          </a:p>
        </p:txBody>
      </p:sp>
      <p:sp>
        <p:nvSpPr>
          <p:cNvPr id="24" name="p10-card-r8-0">
            <a:extLst xmlns:a="http://schemas.openxmlformats.org/drawingml/2006/main">
              <a:ext uri="{FF2B5EF4-FFF2-40B4-BE49-F238E27FC236}">
                <a16:creationId xmlns:a16="http://schemas.microsoft.com/office/drawing/2014/main" id="{2CE8BF67-0CA2-400E-AEF3-B56E8442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偏差审计</a:t>
            </a:r>
          </a:p>
        </p:txBody>
      </p:sp>
      <p:sp>
        <p:nvSpPr>
          <p:cNvPr id="25" name="p10-card-r8-1">
            <a:extLst xmlns:a="http://schemas.openxmlformats.org/drawingml/2006/main">
              <a:ext uri="{FF2B5EF4-FFF2-40B4-BE49-F238E27FC236}">
                <a16:creationId xmlns:a16="http://schemas.microsoft.com/office/drawing/2014/main" id="{B49FCAD7-AD6C-4BB6-B0BD-AE44D338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053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输出 / 原文实际 / 位置 / 处理</a:t>
            </a:r>
          </a:p>
        </p:txBody>
      </p:sp>
      <p:sp>
        <p:nvSpPr>
          <p:cNvPr id="26" name="p10-card-r9-0">
            <a:extLst xmlns:a="http://schemas.openxmlformats.org/drawingml/2006/main">
              <a:ext uri="{FF2B5EF4-FFF2-40B4-BE49-F238E27FC236}">
                <a16:creationId xmlns:a16="http://schemas.microsoft.com/office/drawing/2014/main" id="{F705188E-818C-40DD-B013-AA3CA332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内容状态</a:t>
            </a:r>
          </a:p>
        </p:txBody>
      </p:sp>
      <p:sp>
        <p:nvSpPr>
          <p:cNvPr id="27" name="p10-card-r9-1">
            <a:extLst xmlns:a="http://schemas.openxmlformats.org/drawingml/2006/main">
              <a:ext uri="{FF2B5EF4-FFF2-40B4-BE49-F238E27FC236}">
                <a16:creationId xmlns:a16="http://schemas.microsoft.com/office/drawing/2014/main" id="{EB4B22E3-194D-4E92-B96E-E6F5E770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863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pending / verified / verified-with-caveat / rejected</a:t>
            </a:r>
          </a:p>
        </p:txBody>
      </p:sp>
      <p:sp>
        <p:nvSpPr>
          <p:cNvPr id="28" name="p10-save">
            <a:extLst xmlns:a="http://schemas.openxmlformats.org/drawingml/2006/main">
              <a:ext uri="{FF2B5EF4-FFF2-40B4-BE49-F238E27FC236}">
                <a16:creationId xmlns:a16="http://schemas.microsoft.com/office/drawing/2014/main" id="{E307B2D0-7E0D-472F-AA22-3D764350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24450"/>
            <a:ext cx="994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完整 = 每一字段有内容，或明确 N/A + 理由；verified-with-caveat 进入主格时必须保留限定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演示：真实原文 vs 待核验 AI 输出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p11-real">
            <a:extLst xmlns:a="http://schemas.openxmlformats.org/drawingml/2006/main">
              <a:ext uri="{FF2B5EF4-FFF2-40B4-BE49-F238E27FC236}">
                <a16:creationId xmlns:a16="http://schemas.microsoft.com/office/drawing/2014/main" id="{D31864A4-91D3-4F8C-BCC1-2C6CDBD3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048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真实原文｜Keshav 2007</a:t>
            </a:r>
          </a:p>
        </p:txBody>
      </p:sp>
      <p:pic>
        <p:nvPicPr>
          <p:cNvPr id="14" name="p11-pap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293ef44444c63"/>
          <a:stretch xmlns:a="http://schemas.openxmlformats.org/drawingml/2006/main"/>
        </p:blipFill>
        <p:spPr>
          <a:xfrm xmlns:a="http://schemas.openxmlformats.org/drawingml/2006/main">
            <a:off x="997960" y="12192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p11-right-title">
            <a:extLst xmlns:a="http://schemas.openxmlformats.org/drawingml/2006/main">
              <a:ext uri="{FF2B5EF4-FFF2-40B4-BE49-F238E27FC236}">
                <a16:creationId xmlns:a16="http://schemas.microsoft.com/office/drawing/2014/main" id="{8D30163B-CA6E-45A4-BDAC-2EF59FEE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0477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待核验 AI 输出｜课程构造</a:t>
            </a:r>
          </a:p>
        </p:txBody>
      </p:sp>
      <p:sp>
        <p:nvSpPr>
          <p:cNvPr id="9" name="p11-right">
            <a:extLst xmlns:a="http://schemas.openxmlformats.org/drawingml/2006/main">
              <a:ext uri="{FF2B5EF4-FFF2-40B4-BE49-F238E27FC236}">
                <a16:creationId xmlns:a16="http://schemas.microsoft.com/office/drawing/2014/main" id="{49D7AB34-987C-4128-959E-DA4FDF5B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28800"/>
            <a:ext cx="590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875" b="0">
                <a:solidFill>
                  <a:srgbClr val="263746"/>
                </a:solidFill>
              </a:defRPr>
            </a:pPr>
            <a:r>
              <a:rPr sz="18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“这篇论文通过受控实验证明三遍阅读法可将阅读时间降低 50%。”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875" b="0">
                <a:solidFill>
                  <a:srgbClr val="263746"/>
                </a:solidFill>
              </a:defRPr>
            </a:pPr>
            <a:r>
              <a:rPr sz="18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“第一遍固定只需 5 分钟，适用于所有学科。”</a:t>
            </a:r>
          </a:p>
        </p:txBody>
      </p:sp>
      <p:sp>
        <p:nvSpPr>
          <p:cNvPr id="10" name="p11-loc">
            <a:extLst xmlns:a="http://schemas.openxmlformats.org/drawingml/2006/main">
              <a:ext uri="{FF2B5EF4-FFF2-40B4-BE49-F238E27FC236}">
                <a16:creationId xmlns:a16="http://schemas.microsoft.com/office/drawing/2014/main" id="{B0AEA908-24D6-4641-AED5-EE2B3E0D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62450"/>
            <a:ext cx="609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核验任务：在 p.83–84 找实验、50%、固定 5 分钟与“所有学科”是否出现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演示：偏差审计表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p12-boundary">
            <a:extLst xmlns:a="http://schemas.openxmlformats.org/drawingml/2006/main">
              <a:ext uri="{FF2B5EF4-FFF2-40B4-BE49-F238E27FC236}">
                <a16:creationId xmlns:a16="http://schemas.microsoft.com/office/drawing/2014/main" id="{5B11667D-3314-410E-BE6C-4384D22E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4095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真实原文核验｜AI 输出为课程构造</a:t>
            </a:r>
          </a:p>
        </p:txBody>
      </p:sp>
      <p:sp>
        <p:nvSpPr>
          <p:cNvPr id="7" name="p12-audit-h-0">
            <a:extLst xmlns:a="http://schemas.openxmlformats.org/drawingml/2006/main">
              <a:ext uri="{FF2B5EF4-FFF2-40B4-BE49-F238E27FC236}">
                <a16:creationId xmlns:a16="http://schemas.microsoft.com/office/drawing/2014/main" id="{DC22C723-8A04-486F-9D34-674127EB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待核验 AI 输出</a:t>
            </a:r>
          </a:p>
        </p:txBody>
      </p:sp>
      <p:sp>
        <p:nvSpPr>
          <p:cNvPr id="8" name="p12-audit-h-1">
            <a:extLst xmlns:a="http://schemas.openxmlformats.org/drawingml/2006/main">
              <a:ext uri="{FF2B5EF4-FFF2-40B4-BE49-F238E27FC236}">
                <a16:creationId xmlns:a16="http://schemas.microsoft.com/office/drawing/2014/main" id="{9D1B68B3-7647-4353-BC56-06289B6B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偏差类型</a:t>
            </a:r>
          </a:p>
        </p:txBody>
      </p:sp>
      <p:sp>
        <p:nvSpPr>
          <p:cNvPr id="9" name="p12-audit-h-2">
            <a:extLst xmlns:a="http://schemas.openxmlformats.org/drawingml/2006/main">
              <a:ext uri="{FF2B5EF4-FFF2-40B4-BE49-F238E27FC236}">
                <a16:creationId xmlns:a16="http://schemas.microsoft.com/office/drawing/2014/main" id="{401A5C37-0FE5-4774-8DFB-9DEF070B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287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原文实际</a:t>
            </a:r>
          </a:p>
        </p:txBody>
      </p:sp>
      <p:sp>
        <p:nvSpPr>
          <p:cNvPr id="10" name="p12-audit-h-3">
            <a:extLst xmlns:a="http://schemas.openxmlformats.org/drawingml/2006/main">
              <a:ext uri="{FF2B5EF4-FFF2-40B4-BE49-F238E27FC236}">
                <a16:creationId xmlns:a16="http://schemas.microsoft.com/office/drawing/2014/main" id="{8BCE16FA-FC86-4BC9-A5DD-0FA626FD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核验位置</a:t>
            </a:r>
          </a:p>
        </p:txBody>
      </p:sp>
      <p:sp>
        <p:nvSpPr>
          <p:cNvPr id="11" name="p12-audit-h-4">
            <a:extLst xmlns:a="http://schemas.openxmlformats.org/drawingml/2006/main">
              <a:ext uri="{FF2B5EF4-FFF2-40B4-BE49-F238E27FC236}">
                <a16:creationId xmlns:a16="http://schemas.microsoft.com/office/drawing/2014/main" id="{9DCCFDBB-BCC0-4633-93CC-AFB27AFD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287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12" name="p12-audit-r0-0">
            <a:extLst xmlns:a="http://schemas.openxmlformats.org/drawingml/2006/main">
              <a:ext uri="{FF2B5EF4-FFF2-40B4-BE49-F238E27FC236}">
                <a16:creationId xmlns:a16="http://schemas.microsoft.com/office/drawing/2014/main" id="{2AC64597-811B-420B-BC2E-95C368E0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478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受控实验降低 50%</a:t>
            </a:r>
          </a:p>
        </p:txBody>
      </p:sp>
      <p:sp>
        <p:nvSpPr>
          <p:cNvPr id="13" name="p12-audit-r0-1">
            <a:extLst xmlns:a="http://schemas.openxmlformats.org/drawingml/2006/main">
              <a:ext uri="{FF2B5EF4-FFF2-40B4-BE49-F238E27FC236}">
                <a16:creationId xmlns:a16="http://schemas.microsoft.com/office/drawing/2014/main" id="{E2174422-DB69-42C0-BF5B-BF487B97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4785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虚构证据</a:t>
            </a:r>
          </a:p>
        </p:txBody>
      </p:sp>
      <p:sp>
        <p:nvSpPr>
          <p:cNvPr id="14" name="p12-audit-r0-2">
            <a:extLst xmlns:a="http://schemas.openxmlformats.org/drawingml/2006/main">
              <a:ext uri="{FF2B5EF4-FFF2-40B4-BE49-F238E27FC236}">
                <a16:creationId xmlns:a16="http://schemas.microsoft.com/office/drawing/2014/main" id="{97270347-EBAE-4390-9489-38F7A9CD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478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没有实验或效果量</a:t>
            </a:r>
          </a:p>
        </p:txBody>
      </p:sp>
      <p:sp>
        <p:nvSpPr>
          <p:cNvPr id="15" name="p12-audit-r0-3">
            <a:extLst xmlns:a="http://schemas.openxmlformats.org/drawingml/2006/main">
              <a:ext uri="{FF2B5EF4-FFF2-40B4-BE49-F238E27FC236}">
                <a16:creationId xmlns:a16="http://schemas.microsoft.com/office/drawing/2014/main" id="{A2CFD79B-1EA8-40CB-B838-40BCB359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478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p.83–84 全文</a:t>
            </a:r>
          </a:p>
        </p:txBody>
      </p:sp>
      <p:sp>
        <p:nvSpPr>
          <p:cNvPr id="16" name="p12-audit-r0-4">
            <a:extLst xmlns:a="http://schemas.openxmlformats.org/drawingml/2006/main">
              <a:ext uri="{FF2B5EF4-FFF2-40B4-BE49-F238E27FC236}">
                <a16:creationId xmlns:a16="http://schemas.microsoft.com/office/drawing/2014/main" id="{4FD94689-D25E-47F4-8606-8AC537B4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478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rejected</a:t>
            </a:r>
          </a:p>
        </p:txBody>
      </p:sp>
      <p:sp>
        <p:nvSpPr>
          <p:cNvPr id="17" name="p12-audit-r1-0">
            <a:extLst xmlns:a="http://schemas.openxmlformats.org/drawingml/2006/main">
              <a:ext uri="{FF2B5EF4-FFF2-40B4-BE49-F238E27FC236}">
                <a16:creationId xmlns:a16="http://schemas.microsoft.com/office/drawing/2014/main" id="{4526C94D-19CB-4FD0-9C3D-83E66C8D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第一遍固定 5 分钟</a:t>
            </a:r>
          </a:p>
        </p:txBody>
      </p:sp>
      <p:sp>
        <p:nvSpPr>
          <p:cNvPr id="18" name="p12-audit-r1-1">
            <a:extLst xmlns:a="http://schemas.openxmlformats.org/drawingml/2006/main">
              <a:ext uri="{FF2B5EF4-FFF2-40B4-BE49-F238E27FC236}">
                <a16:creationId xmlns:a16="http://schemas.microsoft.com/office/drawing/2014/main" id="{8D5684C9-130C-4259-928D-9975D90B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0510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限定遗漏</a:t>
            </a:r>
          </a:p>
        </p:txBody>
      </p:sp>
      <p:sp>
        <p:nvSpPr>
          <p:cNvPr id="19" name="p12-audit-r1-2">
            <a:extLst xmlns:a="http://schemas.openxmlformats.org/drawingml/2006/main">
              <a:ext uri="{FF2B5EF4-FFF2-40B4-BE49-F238E27FC236}">
                <a16:creationId xmlns:a16="http://schemas.microsoft.com/office/drawing/2014/main" id="{7DEAAD42-B407-4F7D-9C37-5AF49966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051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first pass 约 5–10 分钟</a:t>
            </a:r>
          </a:p>
        </p:txBody>
      </p:sp>
      <p:sp>
        <p:nvSpPr>
          <p:cNvPr id="20" name="p12-audit-r1-3">
            <a:extLst xmlns:a="http://schemas.openxmlformats.org/drawingml/2006/main">
              <a:ext uri="{FF2B5EF4-FFF2-40B4-BE49-F238E27FC236}">
                <a16:creationId xmlns:a16="http://schemas.microsoft.com/office/drawing/2014/main" id="{0705A831-5E87-4068-969E-BEC5286E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510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§2.1, p.83</a:t>
            </a:r>
          </a:p>
        </p:txBody>
      </p:sp>
      <p:sp>
        <p:nvSpPr>
          <p:cNvPr id="21" name="p12-audit-r1-4">
            <a:extLst xmlns:a="http://schemas.openxmlformats.org/drawingml/2006/main">
              <a:ext uri="{FF2B5EF4-FFF2-40B4-BE49-F238E27FC236}">
                <a16:creationId xmlns:a16="http://schemas.microsoft.com/office/drawing/2014/main" id="{1DE53E12-185B-4796-8F2B-CA9E3D19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0510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补回范围</a:t>
            </a:r>
          </a:p>
        </p:txBody>
      </p:sp>
      <p:sp>
        <p:nvSpPr>
          <p:cNvPr id="22" name="p12-audit-r2-0">
            <a:extLst xmlns:a="http://schemas.openxmlformats.org/drawingml/2006/main">
              <a:ext uri="{FF2B5EF4-FFF2-40B4-BE49-F238E27FC236}">
                <a16:creationId xmlns:a16="http://schemas.microsoft.com/office/drawing/2014/main" id="{2EAED583-BC25-488F-A815-848C44E3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适用于所有学科</a:t>
            </a:r>
          </a:p>
        </p:txBody>
      </p:sp>
      <p:sp>
        <p:nvSpPr>
          <p:cNvPr id="23" name="p12-audit-r2-1">
            <a:extLst xmlns:a="http://schemas.openxmlformats.org/drawingml/2006/main">
              <a:ext uri="{FF2B5EF4-FFF2-40B4-BE49-F238E27FC236}">
                <a16:creationId xmlns:a16="http://schemas.microsoft.com/office/drawing/2014/main" id="{3C72F5C8-6243-4DB2-91B2-E6E0CA2A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过度外推</a:t>
            </a:r>
          </a:p>
        </p:txBody>
      </p:sp>
      <p:sp>
        <p:nvSpPr>
          <p:cNvPr id="24" name="p12-audit-r2-2">
            <a:extLst xmlns:a="http://schemas.openxmlformats.org/drawingml/2006/main">
              <a:ext uri="{FF2B5EF4-FFF2-40B4-BE49-F238E27FC236}">
                <a16:creationId xmlns:a16="http://schemas.microsoft.com/office/drawing/2014/main" id="{09284884-FF11-496F-8E07-28815099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623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文章面向论文阅读；无跨学科验证</a:t>
            </a:r>
          </a:p>
        </p:txBody>
      </p:sp>
      <p:sp>
        <p:nvSpPr>
          <p:cNvPr id="25" name="p12-audit-r2-3">
            <a:extLst xmlns:a="http://schemas.openxmlformats.org/drawingml/2006/main">
              <a:ext uri="{FF2B5EF4-FFF2-40B4-BE49-F238E27FC236}">
                <a16:creationId xmlns:a16="http://schemas.microsoft.com/office/drawing/2014/main" id="{EABF9A34-AD3D-4B64-8592-6A9246CF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摘要 / 全文</a:t>
            </a:r>
          </a:p>
        </p:txBody>
      </p:sp>
      <p:sp>
        <p:nvSpPr>
          <p:cNvPr id="26" name="p12-audit-r2-4">
            <a:extLst xmlns:a="http://schemas.openxmlformats.org/drawingml/2006/main">
              <a:ext uri="{FF2B5EF4-FFF2-40B4-BE49-F238E27FC236}">
                <a16:creationId xmlns:a16="http://schemas.microsoft.com/office/drawing/2014/main" id="{381A79DD-207F-461B-AC92-A90A04F0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623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保留 caveat</a:t>
            </a:r>
          </a:p>
        </p:txBody>
      </p:sp>
      <p:sp>
        <p:nvSpPr>
          <p:cNvPr id="27" name="p12-rule">
            <a:extLst xmlns:a="http://schemas.openxmlformats.org/drawingml/2006/main">
              <a:ext uri="{FF2B5EF4-FFF2-40B4-BE49-F238E27FC236}">
                <a16:creationId xmlns:a16="http://schemas.microsoft.com/office/drawing/2014/main" id="{247D403E-0C86-4796-8D09-C0E5ABD0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1005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审计的不是“AI 有没有犯错”，而是差异能否被复查并形成处理决定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演示：阅读卡第一版与判断点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p13-real">
            <a:extLst xmlns:a="http://schemas.openxmlformats.org/drawingml/2006/main">
              <a:ext uri="{FF2B5EF4-FFF2-40B4-BE49-F238E27FC236}">
                <a16:creationId xmlns:a16="http://schemas.microsoft.com/office/drawing/2014/main" id="{A76582AD-CEEA-48E9-8425-002E7DDB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619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真实来源阅读卡｜Keshav 2007</a:t>
            </a:r>
          </a:p>
        </p:txBody>
      </p:sp>
      <p:sp>
        <p:nvSpPr>
          <p:cNvPr id="7" name="p13-card-title">
            <a:extLst xmlns:a="http://schemas.openxmlformats.org/drawingml/2006/main">
              <a:ext uri="{FF2B5EF4-FFF2-40B4-BE49-F238E27FC236}">
                <a16:creationId xmlns:a16="http://schemas.microsoft.com/office/drawing/2014/main" id="{960760E4-6925-4AFA-99B1-39E50D31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完整阅读卡（压缩展示）</a:t>
            </a:r>
          </a:p>
        </p:txBody>
      </p:sp>
      <p:sp>
        <p:nvSpPr>
          <p:cNvPr id="8" name="p13-card">
            <a:extLst xmlns:a="http://schemas.openxmlformats.org/drawingml/2006/main">
              <a:ext uri="{FF2B5EF4-FFF2-40B4-BE49-F238E27FC236}">
                <a16:creationId xmlns:a16="http://schemas.microsoft.com/office/drawing/2014/main" id="{E9B00E9A-0849-46E5-977F-3C60CCA2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身份　Keshav｜2007｜CCR｜DOI 10.1145/1273445.1273458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来源状态　verified-with-caveat｜方法依据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中心问题　如何高效阅读论文？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作者主张　three-pass approach（摘要；§2）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原文证据　步骤与时间建议；无对照/样本/效果量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边界　实践性文章，缺少受控验证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个人判断　可作流程框架，不作效果量主证据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AI 建议　“降低 50%”待核验 → rejected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偏差审计　虚构证据 / 固定值 / 过度外推</a:t>
            </a:r>
          </a:p>
        </p:txBody>
      </p:sp>
      <p:sp>
        <p:nvSpPr>
          <p:cNvPr id="9" name="p13-q-title">
            <a:extLst xmlns:a="http://schemas.openxmlformats.org/drawingml/2006/main">
              <a:ext uri="{FF2B5EF4-FFF2-40B4-BE49-F238E27FC236}">
                <a16:creationId xmlns:a16="http://schemas.microsoft.com/office/drawing/2014/main" id="{9105352E-BC5D-4331-A385-A2BF6AE5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5255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四个判断点</a:t>
            </a:r>
          </a:p>
        </p:txBody>
      </p:sp>
      <p:sp>
        <p:nvSpPr>
          <p:cNvPr id="10" name="p13-q-0">
            <a:extLst xmlns:a="http://schemas.openxmlformats.org/drawingml/2006/main">
              <a:ext uri="{FF2B5EF4-FFF2-40B4-BE49-F238E27FC236}">
                <a16:creationId xmlns:a16="http://schemas.microsoft.com/office/drawing/2014/main" id="{34D4380D-70BE-4D0C-AB4B-6A3B13D7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1. 为什么状态是 caveat？</a:t>
            </a:r>
          </a:p>
        </p:txBody>
      </p:sp>
      <p:sp>
        <p:nvSpPr>
          <p:cNvPr id="11" name="p13-q-1">
            <a:extLst xmlns:a="http://schemas.openxmlformats.org/drawingml/2006/main">
              <a:ext uri="{FF2B5EF4-FFF2-40B4-BE49-F238E27FC236}">
                <a16:creationId xmlns:a16="http://schemas.microsoft.com/office/drawing/2014/main" id="{1CE91FB3-3012-4A11-9897-451DD474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19375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2. 原文没有实验时如何记录？</a:t>
            </a:r>
          </a:p>
        </p:txBody>
      </p:sp>
      <p:sp>
        <p:nvSpPr>
          <p:cNvPr id="12" name="p13-q-2">
            <a:extLst xmlns:a="http://schemas.openxmlformats.org/drawingml/2006/main">
              <a:ext uri="{FF2B5EF4-FFF2-40B4-BE49-F238E27FC236}">
                <a16:creationId xmlns:a16="http://schemas.microsoft.com/office/drawing/2014/main" id="{49F290E3-FA91-4784-9FFF-022B95F9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9565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3. AI 的 50% 断言进哪一栏？</a:t>
            </a:r>
          </a:p>
        </p:txBody>
      </p:sp>
      <p:sp>
        <p:nvSpPr>
          <p:cNvPr id="13" name="p13-q-3">
            <a:extLst xmlns:a="http://schemas.openxmlformats.org/drawingml/2006/main">
              <a:ext uri="{FF2B5EF4-FFF2-40B4-BE49-F238E27FC236}">
                <a16:creationId xmlns:a16="http://schemas.microsoft.com/office/drawing/2014/main" id="{6D772204-E55B-41A7-A656-5DA3F08D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71925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4. 为什么不能单独支撑 stable？</a:t>
            </a:r>
          </a:p>
        </p:txBody>
      </p:sp>
      <p:sp>
        <p:nvSpPr>
          <p:cNvPr id="14" name="p13-fail">
            <a:extLst xmlns:a="http://schemas.openxmlformats.org/drawingml/2006/main">
              <a:ext uri="{FF2B5EF4-FFF2-40B4-BE49-F238E27FC236}">
                <a16:creationId xmlns:a16="http://schemas.microsoft.com/office/drawing/2014/main" id="{DD076709-BE5E-4FFD-86EA-0E9141BE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3870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失败演示：AI 摘要直接进入“作者主张”栏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个人实践：跑通一次五步精读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p14-n-0">
            <a:extLst xmlns:a="http://schemas.openxmlformats.org/drawingml/2006/main">
              <a:ext uri="{FF2B5EF4-FFF2-40B4-BE49-F238E27FC236}">
                <a16:creationId xmlns:a16="http://schemas.microsoft.com/office/drawing/2014/main" id="{BD2EC784-6E87-416C-82CD-34368501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14-label-0">
            <a:extLst xmlns:a="http://schemas.openxmlformats.org/drawingml/2006/main">
              <a:ext uri="{FF2B5EF4-FFF2-40B4-BE49-F238E27FC236}">
                <a16:creationId xmlns:a16="http://schemas.microsoft.com/office/drawing/2014/main" id="{2CEC4043-0D71-4851-9840-30E9AB39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14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选论文</a:t>
            </a:r>
          </a:p>
        </p:txBody>
      </p:sp>
      <p:sp>
        <p:nvSpPr>
          <p:cNvPr id="8" name="p14-detail-0">
            <a:extLst xmlns:a="http://schemas.openxmlformats.org/drawingml/2006/main">
              <a:ext uri="{FF2B5EF4-FFF2-40B4-BE49-F238E27FC236}">
                <a16:creationId xmlns:a16="http://schemas.microsoft.com/office/drawing/2014/main" id="{7035203E-C9BB-4537-9165-25AFEA91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914400"/>
            <a:ext cx="803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本人 verified / caveat 条目；没有者使用真实 Keshav 演示包</a:t>
            </a:r>
          </a:p>
        </p:txBody>
      </p:sp>
      <p:sp>
        <p:nvSpPr>
          <p:cNvPr id="9" name="p14-n-1">
            <a:extLst xmlns:a="http://schemas.openxmlformats.org/drawingml/2006/main">
              <a:ext uri="{FF2B5EF4-FFF2-40B4-BE49-F238E27FC236}">
                <a16:creationId xmlns:a16="http://schemas.microsoft.com/office/drawing/2014/main" id="{4CB368F4-C792-4048-80A6-67919E11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335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14-label-1">
            <a:extLst xmlns:a="http://schemas.openxmlformats.org/drawingml/2006/main">
              <a:ext uri="{FF2B5EF4-FFF2-40B4-BE49-F238E27FC236}">
                <a16:creationId xmlns:a16="http://schemas.microsoft.com/office/drawing/2014/main" id="{2746D1BE-A449-494D-A58F-B7684FD4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335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AI 导航</a:t>
            </a:r>
          </a:p>
        </p:txBody>
      </p:sp>
      <p:sp>
        <p:nvSpPr>
          <p:cNvPr id="11" name="p14-detail-1">
            <a:extLst xmlns:a="http://schemas.openxmlformats.org/drawingml/2006/main">
              <a:ext uri="{FF2B5EF4-FFF2-40B4-BE49-F238E27FC236}">
                <a16:creationId xmlns:a16="http://schemas.microsoft.com/office/drawing/2014/main" id="{73C57751-5129-4B7C-A28F-7BFD8DC6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33525"/>
            <a:ext cx="803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中心问题 / 结构 / 术语 / 预期位置 / 待追问</a:t>
            </a:r>
          </a:p>
        </p:txBody>
      </p:sp>
      <p:sp>
        <p:nvSpPr>
          <p:cNvPr id="12" name="p14-n-2">
            <a:extLst xmlns:a="http://schemas.openxmlformats.org/drawingml/2006/main">
              <a:ext uri="{FF2B5EF4-FFF2-40B4-BE49-F238E27FC236}">
                <a16:creationId xmlns:a16="http://schemas.microsoft.com/office/drawing/2014/main" id="{ECBCD729-2106-4E28-A18E-42EF0A5C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p14-label-2">
            <a:extLst xmlns:a="http://schemas.openxmlformats.org/drawingml/2006/main">
              <a:ext uri="{FF2B5EF4-FFF2-40B4-BE49-F238E27FC236}">
                <a16:creationId xmlns:a16="http://schemas.microsoft.com/office/drawing/2014/main" id="{4AA444D4-CD22-433D-8E16-32C4A689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原文核验</a:t>
            </a:r>
          </a:p>
        </p:txBody>
      </p:sp>
      <p:sp>
        <p:nvSpPr>
          <p:cNvPr id="14" name="p14-detail-2">
            <a:extLst xmlns:a="http://schemas.openxmlformats.org/drawingml/2006/main">
              <a:ext uri="{FF2B5EF4-FFF2-40B4-BE49-F238E27FC236}">
                <a16:creationId xmlns:a16="http://schemas.microsoft.com/office/drawing/2014/main" id="{C10BD4D7-FC8F-4A5B-8206-78A777B2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52650"/>
            <a:ext cx="803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至少两个可复查位置</a:t>
            </a:r>
          </a:p>
        </p:txBody>
      </p:sp>
      <p:sp>
        <p:nvSpPr>
          <p:cNvPr id="15" name="p14-n-3">
            <a:extLst xmlns:a="http://schemas.openxmlformats.org/drawingml/2006/main">
              <a:ext uri="{FF2B5EF4-FFF2-40B4-BE49-F238E27FC236}">
                <a16:creationId xmlns:a16="http://schemas.microsoft.com/office/drawing/2014/main" id="{7FD9CFD5-8C13-4707-8D19-666E9E1A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717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p14-label-3">
            <a:extLst xmlns:a="http://schemas.openxmlformats.org/drawingml/2006/main">
              <a:ext uri="{FF2B5EF4-FFF2-40B4-BE49-F238E27FC236}">
                <a16:creationId xmlns:a16="http://schemas.microsoft.com/office/drawing/2014/main" id="{73E7366A-E3FE-4FA2-9541-D10117CB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71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AI 质疑</a:t>
            </a:r>
          </a:p>
        </p:txBody>
      </p:sp>
      <p:sp>
        <p:nvSpPr>
          <p:cNvPr id="17" name="p14-detail-3">
            <a:extLst xmlns:a="http://schemas.openxmlformats.org/drawingml/2006/main">
              <a:ext uri="{FF2B5EF4-FFF2-40B4-BE49-F238E27FC236}">
                <a16:creationId xmlns:a16="http://schemas.microsoft.com/office/drawing/2014/main" id="{78D9F7C3-0637-471C-9601-3CBCACA9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71775"/>
            <a:ext cx="803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基于已核验内容提出反例</a:t>
            </a:r>
          </a:p>
        </p:txBody>
      </p:sp>
      <p:sp>
        <p:nvSpPr>
          <p:cNvPr id="18" name="p14-n-4">
            <a:extLst xmlns:a="http://schemas.openxmlformats.org/drawingml/2006/main">
              <a:ext uri="{FF2B5EF4-FFF2-40B4-BE49-F238E27FC236}">
                <a16:creationId xmlns:a16="http://schemas.microsoft.com/office/drawing/2014/main" id="{9D578A8B-C867-4A3C-98DC-6721BD56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p14-label-4">
            <a:extLst xmlns:a="http://schemas.openxmlformats.org/drawingml/2006/main">
              <a:ext uri="{FF2B5EF4-FFF2-40B4-BE49-F238E27FC236}">
                <a16:creationId xmlns:a16="http://schemas.microsoft.com/office/drawing/2014/main" id="{EEB59D09-8DB5-4146-9B93-A964895B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偏差审计</a:t>
            </a:r>
          </a:p>
        </p:txBody>
      </p:sp>
      <p:sp>
        <p:nvSpPr>
          <p:cNvPr id="20" name="p14-detail-4">
            <a:extLst xmlns:a="http://schemas.openxmlformats.org/drawingml/2006/main">
              <a:ext uri="{FF2B5EF4-FFF2-40B4-BE49-F238E27FC236}">
                <a16:creationId xmlns:a16="http://schemas.microsoft.com/office/drawing/2014/main" id="{4305F5A2-7B39-4042-98AE-28F0A731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90900"/>
            <a:ext cx="803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错误/遗漏，或已检查风险与依据</a:t>
            </a:r>
          </a:p>
        </p:txBody>
      </p:sp>
      <p:sp>
        <p:nvSpPr>
          <p:cNvPr id="21" name="p14-n-5">
            <a:extLst xmlns:a="http://schemas.openxmlformats.org/drawingml/2006/main">
              <a:ext uri="{FF2B5EF4-FFF2-40B4-BE49-F238E27FC236}">
                <a16:creationId xmlns:a16="http://schemas.microsoft.com/office/drawing/2014/main" id="{D65530F5-D7CA-44AF-AAB8-871734B8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00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p14-label-5">
            <a:extLst xmlns:a="http://schemas.openxmlformats.org/drawingml/2006/main">
              <a:ext uri="{FF2B5EF4-FFF2-40B4-BE49-F238E27FC236}">
                <a16:creationId xmlns:a16="http://schemas.microsoft.com/office/drawing/2014/main" id="{572277C1-AACE-4CFE-9DD8-03198411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00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完整阅读卡</a:t>
            </a:r>
          </a:p>
        </p:txBody>
      </p:sp>
      <p:sp>
        <p:nvSpPr>
          <p:cNvPr id="23" name="p14-detail-5">
            <a:extLst xmlns:a="http://schemas.openxmlformats.org/drawingml/2006/main">
              <a:ext uri="{FF2B5EF4-FFF2-40B4-BE49-F238E27FC236}">
                <a16:creationId xmlns:a16="http://schemas.microsoft.com/office/drawing/2014/main" id="{94393A4F-99BB-46D1-8610-6CFCCB8D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10025"/>
            <a:ext cx="803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带位置主张 + 证据 + 边界 + 判断</a:t>
            </a:r>
          </a:p>
        </p:txBody>
      </p:sp>
      <p:sp>
        <p:nvSpPr>
          <p:cNvPr id="24" name="p14-n-6">
            <a:extLst xmlns:a="http://schemas.openxmlformats.org/drawingml/2006/main">
              <a:ext uri="{FF2B5EF4-FFF2-40B4-BE49-F238E27FC236}">
                <a16:creationId xmlns:a16="http://schemas.microsoft.com/office/drawing/2014/main" id="{C466FAD1-9EB7-4C2C-9C4B-0C3292E5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p14-label-6">
            <a:extLst xmlns:a="http://schemas.openxmlformats.org/drawingml/2006/main">
              <a:ext uri="{FF2B5EF4-FFF2-40B4-BE49-F238E27FC236}">
                <a16:creationId xmlns:a16="http://schemas.microsoft.com/office/drawing/2014/main" id="{ED6D24E6-C91E-4E57-8CE4-3EDB1738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使用记录</a:t>
            </a:r>
          </a:p>
        </p:txBody>
      </p:sp>
      <p:sp>
        <p:nvSpPr>
          <p:cNvPr id="26" name="p14-detail-6">
            <a:extLst xmlns:a="http://schemas.openxmlformats.org/drawingml/2006/main">
              <a:ext uri="{FF2B5EF4-FFF2-40B4-BE49-F238E27FC236}">
                <a16:creationId xmlns:a16="http://schemas.microsoft.com/office/drawing/2014/main" id="{1540806D-A9EF-46C5-8E84-28767A82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29150"/>
            <a:ext cx="803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用途 / Context / 核验方式 / 问题</a:t>
            </a:r>
          </a:p>
        </p:txBody>
      </p:sp>
      <p:sp>
        <p:nvSpPr>
          <p:cNvPr id="27" name="p14-backup">
            <a:extLst xmlns:a="http://schemas.openxmlformats.org/drawingml/2006/main">
              <a:ext uri="{FF2B5EF4-FFF2-40B4-BE49-F238E27FC236}">
                <a16:creationId xmlns:a16="http://schemas.microsoft.com/office/drawing/2014/main" id="{F3A94861-9F42-44E1-9053-49E8035F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网络/模型不可用：切换预录材料，在 Markdown 或纸面完成；不把课堂时间用于逐台排障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实践停留页：模板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p15-time">
            <a:extLst xmlns:a="http://schemas.openxmlformats.org/drawingml/2006/main">
              <a:ext uri="{FF2B5EF4-FFF2-40B4-BE49-F238E27FC236}">
                <a16:creationId xmlns:a16="http://schemas.microsoft.com/office/drawing/2014/main" id="{E13FFC06-8692-4D32-BC05-FC002F0B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419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48–75 min｜个人实践</a:t>
            </a:r>
          </a:p>
        </p:txBody>
      </p:sp>
      <p:sp>
        <p:nvSpPr>
          <p:cNvPr id="7" name="p15-card-title">
            <a:extLst xmlns:a="http://schemas.openxmlformats.org/drawingml/2006/main">
              <a:ext uri="{FF2B5EF4-FFF2-40B4-BE49-F238E27FC236}">
                <a16:creationId xmlns:a16="http://schemas.microsoft.com/office/drawing/2014/main" id="{E3D65D85-710C-4E1D-85DF-A9E706FE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完整阅读卡｜至少 1 张</a:t>
            </a:r>
          </a:p>
        </p:txBody>
      </p:sp>
      <p:sp>
        <p:nvSpPr>
          <p:cNvPr id="8" name="p15-card">
            <a:extLst xmlns:a="http://schemas.openxmlformats.org/drawingml/2006/main">
              <a:ext uri="{FF2B5EF4-FFF2-40B4-BE49-F238E27FC236}">
                <a16:creationId xmlns:a16="http://schemas.microsoft.com/office/drawing/2014/main" id="{B2303229-03E1-4055-8850-06C465E9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3817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论文身份 / 正式来源 / DOI：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来源状态 / 证据角色：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中心问题：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作者主张 + 原文位置：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原文证据（指标 / 对照 / 样本 / 限定；N/A + 理由）：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局限与边界：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个人判断：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AI 建议（待核验）：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内容状态：</a:t>
            </a:r>
          </a:p>
        </p:txBody>
      </p:sp>
      <p:sp>
        <p:nvSpPr>
          <p:cNvPr id="9" name="p15-audit-title">
            <a:extLst xmlns:a="http://schemas.openxmlformats.org/drawingml/2006/main">
              <a:ext uri="{FF2B5EF4-FFF2-40B4-BE49-F238E27FC236}">
                <a16:creationId xmlns:a16="http://schemas.microsoft.com/office/drawing/2014/main" id="{3592B157-E474-4046-BBC0-809ACE28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71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偏差审计｜至少 1 条</a:t>
            </a:r>
          </a:p>
        </p:txBody>
      </p:sp>
      <p:sp>
        <p:nvSpPr>
          <p:cNvPr id="10" name="p15-audit">
            <a:extLst xmlns:a="http://schemas.openxmlformats.org/drawingml/2006/main">
              <a:ext uri="{FF2B5EF4-FFF2-40B4-BE49-F238E27FC236}">
                <a16:creationId xmlns:a16="http://schemas.microsoft.com/office/drawing/2014/main" id="{A51093BA-657C-4F40-89C8-9EB3945E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85950"/>
            <a:ext cx="4000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AI 输出：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偏差 / 已检查风险：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原文实际：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核验位置：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处理决定：</a:t>
            </a:r>
          </a:p>
        </p:txBody>
      </p:sp>
      <p:sp>
        <p:nvSpPr>
          <p:cNvPr id="11" name="p15-min">
            <a:extLst xmlns:a="http://schemas.openxmlformats.org/drawingml/2006/main">
              <a:ext uri="{FF2B5EF4-FFF2-40B4-BE49-F238E27FC236}">
                <a16:creationId xmlns:a16="http://schemas.microsoft.com/office/drawing/2014/main" id="{70526058-FD60-4B18-8991-47E2EBCF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57750"/>
            <a:ext cx="4267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最低闭环：阅读卡 + 偏差审计 + AI 使用记录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同伴互查三问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p16-n-0">
            <a:extLst xmlns:a="http://schemas.openxmlformats.org/drawingml/2006/main">
              <a:ext uri="{FF2B5EF4-FFF2-40B4-BE49-F238E27FC236}">
                <a16:creationId xmlns:a16="http://schemas.microsoft.com/office/drawing/2014/main" id="{0CA8F851-E8F9-4BCA-A7A1-A2CE4F5D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16-q-0">
            <a:extLst xmlns:a="http://schemas.openxmlformats.org/drawingml/2006/main">
              <a:ext uri="{FF2B5EF4-FFF2-40B4-BE49-F238E27FC236}">
                <a16:creationId xmlns:a16="http://schemas.microsoft.com/office/drawing/2014/main" id="{DAE282F5-24ED-4934-87EC-C31DF623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906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主张有位置吗？</a:t>
            </a:r>
          </a:p>
        </p:txBody>
      </p:sp>
      <p:sp>
        <p:nvSpPr>
          <p:cNvPr id="8" name="p16-d-0">
            <a:extLst xmlns:a="http://schemas.openxmlformats.org/drawingml/2006/main">
              <a:ext uri="{FF2B5EF4-FFF2-40B4-BE49-F238E27FC236}">
                <a16:creationId xmlns:a16="http://schemas.microsoft.com/office/drawing/2014/main" id="{DA38064C-F4DB-46CE-BB2E-20629D6C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859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每条作者主张能否回到章节 / 页码 / 图表</a:t>
            </a:r>
          </a:p>
        </p:txBody>
      </p:sp>
      <p:sp>
        <p:nvSpPr>
          <p:cNvPr id="9" name="p16-n-1">
            <a:extLst xmlns:a="http://schemas.openxmlformats.org/drawingml/2006/main">
              <a:ext uri="{FF2B5EF4-FFF2-40B4-BE49-F238E27FC236}">
                <a16:creationId xmlns:a16="http://schemas.microsoft.com/office/drawing/2014/main" id="{9CE812F9-FB1F-49B2-A075-12D2526D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16-q-1">
            <a:extLst xmlns:a="http://schemas.openxmlformats.org/drawingml/2006/main">
              <a:ext uri="{FF2B5EF4-FFF2-40B4-BE49-F238E27FC236}">
                <a16:creationId xmlns:a16="http://schemas.microsoft.com/office/drawing/2014/main" id="{063460CC-8632-4F27-9628-650ABF42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AI 与原文分栏了吗？</a:t>
            </a:r>
          </a:p>
        </p:txBody>
      </p:sp>
      <p:sp>
        <p:nvSpPr>
          <p:cNvPr id="11" name="p16-d-1">
            <a:extLst xmlns:a="http://schemas.openxmlformats.org/drawingml/2006/main">
              <a:ext uri="{FF2B5EF4-FFF2-40B4-BE49-F238E27FC236}">
                <a16:creationId xmlns:a16="http://schemas.microsoft.com/office/drawing/2014/main" id="{C9633EB9-454A-40D2-8023-E3708A3E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860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作者主张、个人判断和 AI 建议是否混写</a:t>
            </a:r>
          </a:p>
        </p:txBody>
      </p:sp>
      <p:sp>
        <p:nvSpPr>
          <p:cNvPr id="12" name="p16-n-2">
            <a:extLst xmlns:a="http://schemas.openxmlformats.org/drawingml/2006/main">
              <a:ext uri="{FF2B5EF4-FFF2-40B4-BE49-F238E27FC236}">
                <a16:creationId xmlns:a16="http://schemas.microsoft.com/office/drawing/2014/main" id="{F0CE84E3-8F8D-4709-9C2F-EACEE8C7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p16-q-2">
            <a:extLst xmlns:a="http://schemas.openxmlformats.org/drawingml/2006/main">
              <a:ext uri="{FF2B5EF4-FFF2-40B4-BE49-F238E27FC236}">
                <a16:creationId xmlns:a16="http://schemas.microsoft.com/office/drawing/2014/main" id="{D43ADD45-C5B2-4EA8-9B54-319198C5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偏差审计可复查吗？</a:t>
            </a:r>
          </a:p>
        </p:txBody>
      </p:sp>
      <p:sp>
        <p:nvSpPr>
          <p:cNvPr id="14" name="p16-d-2">
            <a:extLst xmlns:a="http://schemas.openxmlformats.org/drawingml/2006/main">
              <a:ext uri="{FF2B5EF4-FFF2-40B4-BE49-F238E27FC236}">
                <a16:creationId xmlns:a16="http://schemas.microsoft.com/office/drawing/2014/main" id="{EF4671D7-7F99-493C-927A-7141FCCB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862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有错误/遗漏，或已检查风险与核验依据</a:t>
            </a:r>
          </a:p>
        </p:txBody>
      </p:sp>
      <p:sp>
        <p:nvSpPr>
          <p:cNvPr id="15" name="p16-author">
            <a:extLst xmlns:a="http://schemas.openxmlformats.org/drawingml/2006/main">
              <a:ext uri="{FF2B5EF4-FFF2-40B4-BE49-F238E27FC236}">
                <a16:creationId xmlns:a16="http://schemas.microsoft.com/office/drawing/2014/main" id="{75385372-6DBD-43BE-9950-BF3F2CBB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1430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作者记录处理决定</a:t>
            </a:r>
          </a:p>
        </p:txBody>
      </p:sp>
      <p:sp>
        <p:nvSpPr>
          <p:cNvPr id="16" name="p16-state-0">
            <a:extLst xmlns:a="http://schemas.openxmlformats.org/drawingml/2006/main">
              <a:ext uri="{FF2B5EF4-FFF2-40B4-BE49-F238E27FC236}">
                <a16:creationId xmlns:a16="http://schemas.microsoft.com/office/drawing/2014/main" id="{293F6FBB-6419-420B-A118-FD16D2C2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533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采纳</a:t>
            </a:r>
          </a:p>
        </p:txBody>
      </p:sp>
      <p:sp>
        <p:nvSpPr>
          <p:cNvPr id="17" name="p16-state-1">
            <a:extLst xmlns:a="http://schemas.openxmlformats.org/drawingml/2006/main">
              <a:ext uri="{FF2B5EF4-FFF2-40B4-BE49-F238E27FC236}">
                <a16:creationId xmlns:a16="http://schemas.microsoft.com/office/drawing/2014/main" id="{9B3B4C62-EC1A-47E6-852C-47570B60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533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A86C12"/>
                </a:solidFill>
              </a:defRPr>
            </a:pPr>
            <a:r>
              <a:rPr sz="16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暂不采纳</a:t>
            </a:r>
          </a:p>
        </p:txBody>
      </p:sp>
      <p:sp>
        <p:nvSpPr>
          <p:cNvPr id="18" name="p16-state-2">
            <a:extLst xmlns:a="http://schemas.openxmlformats.org/drawingml/2006/main">
              <a:ext uri="{FF2B5EF4-FFF2-40B4-BE49-F238E27FC236}">
                <a16:creationId xmlns:a16="http://schemas.microsoft.com/office/drawing/2014/main" id="{7F62803D-1B9D-4FA0-AE16-EDA44A87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2533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638A"/>
                </a:solidFill>
              </a:defRPr>
            </a:pPr>
            <a:r>
              <a:rPr sz="165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待核验</a:t>
            </a:r>
          </a:p>
        </p:txBody>
      </p:sp>
      <p:sp>
        <p:nvSpPr>
          <p:cNvPr id="19" name="p16-boundary">
            <a:extLst xmlns:a="http://schemas.openxmlformats.org/drawingml/2006/main">
              <a:ext uri="{FF2B5EF4-FFF2-40B4-BE49-F238E27FC236}">
                <a16:creationId xmlns:a16="http://schemas.microsoft.com/office/drawing/2014/main" id="{79395D21-57AD-4D6A-B20F-9F5D5271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95850"/>
            <a:ext cx="8991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只提问题｜不替作者决定｜不形成共同提交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退出卡与第 5 课预告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6" name="p17-exit-title">
            <a:extLst xmlns:a="http://schemas.openxmlformats.org/drawingml/2006/main">
              <a:ext uri="{FF2B5EF4-FFF2-40B4-BE49-F238E27FC236}">
                <a16:creationId xmlns:a16="http://schemas.microsoft.com/office/drawing/2014/main" id="{83791532-BA1A-4057-B31D-CAF9D6A5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退出卡</a:t>
            </a:r>
          </a:p>
        </p:txBody>
      </p:sp>
      <p:sp>
        <p:nvSpPr>
          <p:cNvPr id="7" name="p17-exit">
            <a:extLst xmlns:a="http://schemas.openxmlformats.org/drawingml/2006/main">
              <a:ext uri="{FF2B5EF4-FFF2-40B4-BE49-F238E27FC236}">
                <a16:creationId xmlns:a16="http://schemas.microsoft.com/office/drawing/2014/main" id="{A0A8CDD9-6616-4DDA-9D3C-16E36F94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4476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今天最清楚的一点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仍然困惑的一点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阅读卡当前缺失的字段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偏差审计记录了什么</a:t>
            </a:r>
          </a:p>
        </p:txBody>
      </p:sp>
      <p:sp>
        <p:nvSpPr>
          <p:cNvPr id="8" name="p17-next-title">
            <a:extLst xmlns:a="http://schemas.openxmlformats.org/drawingml/2006/main">
              <a:ext uri="{FF2B5EF4-FFF2-40B4-BE49-F238E27FC236}">
                <a16:creationId xmlns:a16="http://schemas.microsoft.com/office/drawing/2014/main" id="{D07859E5-5758-4839-9BBD-4E846EEE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9060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下一步不是继续摘要，而是重组证据</a:t>
            </a:r>
          </a:p>
        </p:txBody>
      </p:sp>
      <p:sp>
        <p:nvSpPr>
          <p:cNvPr id="9" name="p17-a">
            <a:extLst xmlns:a="http://schemas.openxmlformats.org/drawingml/2006/main">
              <a:ext uri="{FF2B5EF4-FFF2-40B4-BE49-F238E27FC236}">
                <a16:creationId xmlns:a16="http://schemas.microsoft.com/office/drawing/2014/main" id="{F3F11CE8-800A-446F-92A2-8C0E240B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带位置阅读卡</a:t>
            </a:r>
          </a:p>
        </p:txBody>
      </p:sp>
      <p:sp>
        <p:nvSpPr>
          <p:cNvPr id="10" name="p17-a1">
            <a:extLst xmlns:a="http://schemas.openxmlformats.org/drawingml/2006/main">
              <a:ext uri="{FF2B5EF4-FFF2-40B4-BE49-F238E27FC236}">
                <a16:creationId xmlns:a16="http://schemas.microsoft.com/office/drawing/2014/main" id="{EC9DDF79-EF22-4743-822E-7E6CF4D4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684"/>
                </a:solidFill>
              </a:defRPr>
            </a:pPr>
            <a:r>
              <a:rPr sz="22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p17-b">
            <a:extLst xmlns:a="http://schemas.openxmlformats.org/drawingml/2006/main">
              <a:ext uri="{FF2B5EF4-FFF2-40B4-BE49-F238E27FC236}">
                <a16:creationId xmlns:a16="http://schemas.microsoft.com/office/drawing/2014/main" id="{D90E8804-E0C8-445E-B90A-AA223A47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526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第 5 课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证据地图</a:t>
            </a:r>
          </a:p>
        </p:txBody>
      </p:sp>
      <p:sp>
        <p:nvSpPr>
          <p:cNvPr id="12" name="p17-a2">
            <a:extLst xmlns:a="http://schemas.openxmlformats.org/drawingml/2006/main">
              <a:ext uri="{FF2B5EF4-FFF2-40B4-BE49-F238E27FC236}">
                <a16:creationId xmlns:a16="http://schemas.microsoft.com/office/drawing/2014/main" id="{89AFF5A7-0BE9-4B24-9FD8-416F4020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28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684"/>
                </a:solidFill>
              </a:defRPr>
            </a:pPr>
            <a:r>
              <a:rPr sz="22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p17-c">
            <a:extLst xmlns:a="http://schemas.openxmlformats.org/drawingml/2006/main">
              <a:ext uri="{FF2B5EF4-FFF2-40B4-BE49-F238E27FC236}">
                <a16:creationId xmlns:a16="http://schemas.microsoft.com/office/drawing/2014/main" id="{639CBDBD-3AC3-4EEB-9B6D-10D5FE10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第 6 课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问题门</a:t>
            </a:r>
          </a:p>
        </p:txBody>
      </p:sp>
      <p:sp>
        <p:nvSpPr>
          <p:cNvPr id="14" name="p17-three">
            <a:extLst xmlns:a="http://schemas.openxmlformats.org/drawingml/2006/main">
              <a:ext uri="{FF2B5EF4-FFF2-40B4-BE49-F238E27FC236}">
                <a16:creationId xmlns:a16="http://schemas.microsoft.com/office/drawing/2014/main" id="{0C0069A6-45B6-4FFA-AD51-B5FEB0ED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338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745A"/>
                </a:solidFill>
              </a:defRPr>
            </a:pPr>
            <a:r>
              <a:rPr sz="18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问题门前累计至少 3 张完整精读卡</a:t>
            </a:r>
          </a:p>
        </p:txBody>
      </p:sp>
      <p:sp>
        <p:nvSpPr>
          <p:cNvPr id="15" name="p17-no-weekly">
            <a:extLst xmlns:a="http://schemas.openxmlformats.org/drawingml/2006/main">
              <a:ext uri="{FF2B5EF4-FFF2-40B4-BE49-F238E27FC236}">
                <a16:creationId xmlns:a16="http://schemas.microsoft.com/office/drawing/2014/main" id="{6EF356B9-CECF-486A-982D-81B6FA18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14900"/>
            <a:ext cx="586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持续写回个人项目｜不逐周正式提交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2026-08-07T15:15:27.6280000Z</dcterms:created>
  <dcterms:modified xsi:type="dcterms:W3CDTF">2026-08-07T15:15:27.6280000Z</dcterms:modified>
</coreProperties>
</file>