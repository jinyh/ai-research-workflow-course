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761f44685d4019" /><Relationship Type="http://schemas.openxmlformats.org/officeDocument/2006/relationships/extended-properties" Target="/docProps/app.xml" Id="R00066b5a2f8b4783" /><Relationship Type="http://schemas.openxmlformats.org/officeDocument/2006/relationships/officeDocument" Target="/ppt/presentation.xml" Id="R3a035df9adbb40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78b7f134ae4508"/>
  </p:sldMasterIdLst>
  <p:notesMasterIdLst>
    <p:notesMasterId xmlns:r="http://schemas.openxmlformats.org/officeDocument/2006/relationships" r:id="R05ab8307368a48f8"/>
  </p:notesMasterIdLst>
  <p:sldIdLst>
    <p:sldId xmlns:r="http://schemas.openxmlformats.org/officeDocument/2006/relationships" id="256" r:id="R24c84240fc404a66"/>
    <p:sldId xmlns:r="http://schemas.openxmlformats.org/officeDocument/2006/relationships" id="257" r:id="Ree1c908a4491440d"/>
    <p:sldId xmlns:r="http://schemas.openxmlformats.org/officeDocument/2006/relationships" id="258" r:id="Rddf7f46fc03741a4"/>
    <p:sldId xmlns:r="http://schemas.openxmlformats.org/officeDocument/2006/relationships" id="259" r:id="Rd2723e11e0874e8d"/>
    <p:sldId xmlns:r="http://schemas.openxmlformats.org/officeDocument/2006/relationships" id="260" r:id="R33a7b6cf31c14c07"/>
    <p:sldId xmlns:r="http://schemas.openxmlformats.org/officeDocument/2006/relationships" id="261" r:id="R35ea0e2e2663425a"/>
    <p:sldId xmlns:r="http://schemas.openxmlformats.org/officeDocument/2006/relationships" id="262" r:id="Rf719780477b342c1"/>
    <p:sldId xmlns:r="http://schemas.openxmlformats.org/officeDocument/2006/relationships" id="263" r:id="Rad2b75beee834256"/>
    <p:sldId xmlns:r="http://schemas.openxmlformats.org/officeDocument/2006/relationships" id="264" r:id="Rdaac28179a524c1c"/>
    <p:sldId xmlns:r="http://schemas.openxmlformats.org/officeDocument/2006/relationships" id="265" r:id="Rc8ce05faf3684b5a"/>
    <p:sldId xmlns:r="http://schemas.openxmlformats.org/officeDocument/2006/relationships" id="266" r:id="R674fd7a81a5e42dd"/>
    <p:sldId xmlns:r="http://schemas.openxmlformats.org/officeDocument/2006/relationships" id="267" r:id="Rfc37a4f4d89d46c1"/>
    <p:sldId xmlns:r="http://schemas.openxmlformats.org/officeDocument/2006/relationships" id="268" r:id="R8c9449f478954e09"/>
    <p:sldId xmlns:r="http://schemas.openxmlformats.org/officeDocument/2006/relationships" id="269" r:id="Ra041a8bbe5894f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d5a2f390364f77" /><Relationship Type="http://schemas.openxmlformats.org/officeDocument/2006/relationships/slideMaster" Target="/ppt/slideMasters/slideMaster1.xml" Id="R8578b7f134ae4508" /><Relationship Type="http://schemas.openxmlformats.org/officeDocument/2006/relationships/notesMaster" Target="/ppt/notesMasters/notesMaster1.xml" Id="R05ab8307368a48f8" /><Relationship Type="http://schemas.openxmlformats.org/officeDocument/2006/relationships/presProps" Target="/ppt/presProps.xml" Id="Re975aa25c0ce4deb" /><Relationship Type="http://schemas.openxmlformats.org/officeDocument/2006/relationships/viewProps" Target="/ppt/viewProps.xml" Id="R48ce323b80eb4ba7" /><Relationship Type="http://schemas.openxmlformats.org/officeDocument/2006/relationships/tableStyles" Target="/ppt/tableStyles.xml" Id="R50435e76d5394eea" /><Relationship Type="http://schemas.openxmlformats.org/officeDocument/2006/relationships/slide" Target="/ppt/slides/slide1.xml" Id="R24c84240fc404a66" /><Relationship Type="http://schemas.openxmlformats.org/officeDocument/2006/relationships/slide" Target="/ppt/slides/slide2.xml" Id="Ree1c908a4491440d" /><Relationship Type="http://schemas.openxmlformats.org/officeDocument/2006/relationships/slide" Target="/ppt/slides/slide3.xml" Id="Rddf7f46fc03741a4" /><Relationship Type="http://schemas.openxmlformats.org/officeDocument/2006/relationships/slide" Target="/ppt/slides/slide4.xml" Id="Rd2723e11e0874e8d" /><Relationship Type="http://schemas.openxmlformats.org/officeDocument/2006/relationships/slide" Target="/ppt/slides/slide5.xml" Id="R33a7b6cf31c14c07" /><Relationship Type="http://schemas.openxmlformats.org/officeDocument/2006/relationships/slide" Target="/ppt/slides/slide6.xml" Id="R35ea0e2e2663425a" /><Relationship Type="http://schemas.openxmlformats.org/officeDocument/2006/relationships/slide" Target="/ppt/slides/slide7.xml" Id="Rf719780477b342c1" /><Relationship Type="http://schemas.openxmlformats.org/officeDocument/2006/relationships/slide" Target="/ppt/slides/slide8.xml" Id="Rad2b75beee834256" /><Relationship Type="http://schemas.openxmlformats.org/officeDocument/2006/relationships/slide" Target="/ppt/slides/slide9.xml" Id="Rdaac28179a524c1c" /><Relationship Type="http://schemas.openxmlformats.org/officeDocument/2006/relationships/slide" Target="/ppt/slides/slide10.xml" Id="Rc8ce05faf3684b5a" /><Relationship Type="http://schemas.openxmlformats.org/officeDocument/2006/relationships/slide" Target="/ppt/slides/slide11.xml" Id="R674fd7a81a5e42dd" /><Relationship Type="http://schemas.openxmlformats.org/officeDocument/2006/relationships/slide" Target="/ppt/slides/slide12.xml" Id="Rfc37a4f4d89d46c1" /><Relationship Type="http://schemas.openxmlformats.org/officeDocument/2006/relationships/slide" Target="/ppt/slides/slide13.xml" Id="R8c9449f478954e09" /><Relationship Type="http://schemas.openxmlformats.org/officeDocument/2006/relationships/slide" Target="/ppt/slides/slide14.xml" Id="Ra041a8bbe5894f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0b8a5f739f48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068fdad1774498" /><Relationship Type="http://schemas.openxmlformats.org/officeDocument/2006/relationships/notesMaster" Target="/ppt/notesMasters/notesMaster1.xml" Id="R5f03f8ace19248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1c5384b6574970" /><Relationship Type="http://schemas.openxmlformats.org/officeDocument/2006/relationships/notesMaster" Target="/ppt/notesMasters/notesMaster1.xml" Id="R59fecc19ad2e41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fe6d5d7d2a4d62" /><Relationship Type="http://schemas.openxmlformats.org/officeDocument/2006/relationships/notesMaster" Target="/ppt/notesMasters/notesMaster1.xml" Id="R8c7016c875cb44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393166e1cc47ba" /><Relationship Type="http://schemas.openxmlformats.org/officeDocument/2006/relationships/notesMaster" Target="/ppt/notesMasters/notesMaster1.xml" Id="R5e80e0291d8441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fc28ca073944aa" /><Relationship Type="http://schemas.openxmlformats.org/officeDocument/2006/relationships/notesMaster" Target="/ppt/notesMasters/notesMaster1.xml" Id="R6b4d77b0ef7444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b642a015d645c6" /><Relationship Type="http://schemas.openxmlformats.org/officeDocument/2006/relationships/notesMaster" Target="/ppt/notesMasters/notesMaster1.xml" Id="R50190bed9faa4b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2ae1b97f364153" /><Relationship Type="http://schemas.openxmlformats.org/officeDocument/2006/relationships/notesMaster" Target="/ppt/notesMasters/notesMaster1.xml" Id="R6ecacc1cabcc47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c1e7369fe44654" /><Relationship Type="http://schemas.openxmlformats.org/officeDocument/2006/relationships/notesMaster" Target="/ppt/notesMasters/notesMaster1.xml" Id="R35b66107206343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0955fb73274fce" /><Relationship Type="http://schemas.openxmlformats.org/officeDocument/2006/relationships/notesMaster" Target="/ppt/notesMasters/notesMaster1.xml" Id="R9db4f8e1895e43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cc844188a664fc6" /><Relationship Type="http://schemas.openxmlformats.org/officeDocument/2006/relationships/notesMaster" Target="/ppt/notesMasters/notesMaster1.xml" Id="R6a01da70e3294b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bb8d75e6254596" /><Relationship Type="http://schemas.openxmlformats.org/officeDocument/2006/relationships/notesMaster" Target="/ppt/notesMasters/notesMaster1.xml" Id="R9526f0a3ee9f41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14e106c316415b" /><Relationship Type="http://schemas.openxmlformats.org/officeDocument/2006/relationships/notesMaster" Target="/ppt/notesMasters/notesMaster1.xml" Id="Rff4d7d152e2949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036a52a9ff4cda" /><Relationship Type="http://schemas.openxmlformats.org/officeDocument/2006/relationships/notesMaster" Target="/ppt/notesMasters/notesMaster1.xml" Id="Rabf2047fd27e4d0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4b265c52e3842e8" /><Relationship Type="http://schemas.openxmlformats.org/officeDocument/2006/relationships/notesMaster" Target="/ppt/notesMasters/notesMaster1.xml" Id="Rbe571b2a426941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开场直接回扣第 7 课：机制假设、研究判断初版和实验规格草图仍是内部工件。本课让这些工件经受一次外部质询，并把反馈转成作者本人承担的研究判断。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快问学生：你的实验规格草图中，baseline 的控制变量清单列全了吗？只听回答，不在此页展开评价。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本页只建立目标共识。强调采纳决策在课堂写，不是课后补；AI 若参与反馈线索生成，另留一条 AI 使用记录。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让学生先用自己的方案口头填第 1 段和第 3 段各一句。完整贯穿案例在 P10 展开。五段时长合计 180 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Booth et al., The Craft of Research, 5th ed. (2024), sections 5.5 and 10.2.</a:t>
            </a:r>
          </a:p>
          <a:p xmlns:a="http://schemas.openxmlformats.org/drawingml/2006/main">
            <a:r>
              <a:t>- Simon Peyton Jones, Writing a Great Research Proposal (teaching handout).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本页严格区分四个诊断维度、一个独立行动性检查和边界横切字段。同伴不给分数、不排名，只指出看到了什么、缺了什么。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请学生现场写一条最大风险，必须标注属于四维诊断中的哪一维。建议必须对应最大风险，而不是另起一个泛泛建议。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 人组完成一轮约 20 分钟，3 人组约 15 分钟。作者在反馈阶段不反驳，先完整记录，随后再作采纳决策。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本课要求至少写两条完整决策，含至少一条采纳和一条拒绝或暂缓。暂缓不是搁置，必须进入待验证状态。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可以帮助整理，但它不了解方案证据、机制与约束的整体状态。研究判断的责任不可外包。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本案例为课程教学案例，不是已发表实证结果。演示时口头完成完整三分钟陈述，并请学生指出自己还缺哪一段上游工件。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/Users/bright/Projects/courses/graduate/lessons/lesson-08/slides.md</a:t>
            </a:r>
          </a:p>
          <a:p xmlns:a="http://schemas.openxmlformats.org/drawingml/2006/main">
            <a:r>
              <a:t>- Teaching case; not empirical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请学生指出三条反馈分别为何可采纳、可拒绝或需暂缓。三条反馈和决策均为课程教学案例。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Teaching feedback example; not empirical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让学生标记自己的已满足、部分满足与未覆盖项。本课不把未覆盖条件包装成已经完成。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 人组一轮约 20 分钟；人数或节奏超时时，缩为 2 分钟陈述 + 1 分钟反馈，或只跑一轮。巡视只处理共同卡点。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收束到开场：同伴质询只有转成具体工件修改才有价值。提醒从轻量脚手架迁移到完整项目模板时保留 AI 使用记录和伦理说明。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/Users/bright/Projects/courses/graduate/lessons/lesson-08/handout.md</a:t>
            </a:r>
          </a:p>
          <a:p xmlns:a="http://schemas.openxmlformats.org/drawingml/2006/main">
            <a:r>
              <a:t>- /Users/bright/Projects/courses/graduate/lessons/lesson-08/teaching-plan.md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900d63305545fd" /><Relationship Type="http://schemas.openxmlformats.org/officeDocument/2006/relationships/image" Target="/ppt/media/image.png" Id="R041eaa2fc3024331" /><Relationship Type="http://schemas.openxmlformats.org/officeDocument/2006/relationships/image" Target="/ppt/media/image2.png" Id="Rcfccfa3734274f0c" /><Relationship Type="http://schemas.openxmlformats.org/officeDocument/2006/relationships/image" Target="/ppt/media/image3.png" Id="R64686ebfee2f42d6" /><Relationship Type="http://schemas.openxmlformats.org/officeDocument/2006/relationships/image" Target="/ppt/media/image4.png" Id="R161803e6f9544d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ab9258b5f46f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808237dac14671" /><Relationship Type="http://schemas.openxmlformats.org/officeDocument/2006/relationships/image" Target="/ppt/media/image2.png" Id="R6081718ddaa844e5" /><Relationship Type="http://schemas.openxmlformats.org/officeDocument/2006/relationships/image" Target="/ppt/media/image5.png" Id="Rdf9c616efeb945b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db85830ed1458a" /><Relationship Type="http://schemas.openxmlformats.org/officeDocument/2006/relationships/image" Target="/ppt/media/image.png" Id="R79df5b0749dc4359" /><Relationship Type="http://schemas.openxmlformats.org/officeDocument/2006/relationships/image" Target="/ppt/media/image3.png" Id="Rfdc143b1c3324c4c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eaa2fc302433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ccfa3734274f0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686ebfee2f42d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803e6f9544dba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81718ddaa844e5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9c616efeb9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f5b0749dc4359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c143b1c3324c4c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9970bb9a744a83" /><Relationship Type="http://schemas.openxmlformats.org/officeDocument/2006/relationships/slideLayout" Target="/ppt/slideLayouts/slideLayout1.xml" Id="Ra23b6a790eb24476" /><Relationship Type="http://schemas.openxmlformats.org/officeDocument/2006/relationships/slideLayout" Target="/ppt/slideLayouts/slideLayout2.xml" Id="Rf3c9044d4b9e42ec" /><Relationship Type="http://schemas.openxmlformats.org/officeDocument/2006/relationships/slideLayout" Target="/ppt/slideLayouts/slideLayout3.xml" Id="Rbb473e1bf442401b" /><Relationship Type="http://schemas.openxmlformats.org/officeDocument/2006/relationships/slideLayout" Target="/ppt/slideLayouts/slideLayout4.xml" Id="R25a67d77b73649d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3b6a790eb24476"/>
    <p:sldLayoutId xmlns:r="http://schemas.openxmlformats.org/officeDocument/2006/relationships" id="2147483650" r:id="Rf3c9044d4b9e42ec"/>
    <p:sldLayoutId xmlns:r="http://schemas.openxmlformats.org/officeDocument/2006/relationships" id="2147483651" r:id="Rbb473e1bf442401b"/>
    <p:sldLayoutId xmlns:r="http://schemas.openxmlformats.org/officeDocument/2006/relationships" id="2147483652" r:id="R25a67d77b73649d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390ee9ec44bd1" /><Relationship Type="http://schemas.openxmlformats.org/officeDocument/2006/relationships/notesSlide" Target="/ppt/notesSlides/notesSlide1.xml" Id="Refecfba274e84e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6c9ef115d34b2d" /><Relationship Type="http://schemas.openxmlformats.org/officeDocument/2006/relationships/notesSlide" Target="/ppt/notesSlides/notesSlide2.xml" Id="Race85d68584c40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33d27df5194903" /><Relationship Type="http://schemas.openxmlformats.org/officeDocument/2006/relationships/notesSlide" Target="/ppt/notesSlides/notesSlide3.xml" Id="R426ebbf33fd347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6c2cbbe8be4b16" /><Relationship Type="http://schemas.openxmlformats.org/officeDocument/2006/relationships/notesSlide" Target="/ppt/notesSlides/notesSlide4.xml" Id="Ra24d51c76c154b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05d95276194ec3" /><Relationship Type="http://schemas.openxmlformats.org/officeDocument/2006/relationships/notesSlide" Target="/ppt/notesSlides/notesSlide5.xml" Id="R91cd57efaa3542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d8c19944b7429e" /><Relationship Type="http://schemas.openxmlformats.org/officeDocument/2006/relationships/notesSlide" Target="/ppt/notesSlides/notesSlide6.xml" Id="R52b5bdd140ac43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9c99a1c20a400d" /><Relationship Type="http://schemas.openxmlformats.org/officeDocument/2006/relationships/notesSlide" Target="/ppt/notesSlides/notesSlide7.xml" Id="Rcf2e8a67b18c45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50b8b8e1f614511" /><Relationship Type="http://schemas.openxmlformats.org/officeDocument/2006/relationships/notesSlide" Target="/ppt/notesSlides/notesSlide8.xml" Id="Rb20a08ff395e45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e9ffdd83824234" /><Relationship Type="http://schemas.openxmlformats.org/officeDocument/2006/relationships/notesSlide" Target="/ppt/notesSlides/notesSlide9.xml" Id="Rc8d1d7ad034f4a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ad5ca36ce545a9" /><Relationship Type="http://schemas.openxmlformats.org/officeDocument/2006/relationships/notesSlide" Target="/ppt/notesSlides/notesSlide10.xml" Id="Re5f0d765993840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d7f27c67324e44" /><Relationship Type="http://schemas.openxmlformats.org/officeDocument/2006/relationships/notesSlide" Target="/ppt/notesSlides/notesSlide11.xml" Id="Rbb6fd42c2fd6442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57a58845d843c8" /><Relationship Type="http://schemas.openxmlformats.org/officeDocument/2006/relationships/notesSlide" Target="/ppt/notesSlides/notesSlide12.xml" Id="Rae9bb88aee9749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95e06e9c6b4970" /><Relationship Type="http://schemas.openxmlformats.org/officeDocument/2006/relationships/notesSlide" Target="/ppt/notesSlides/notesSlide13.xml" Id="Rd83c2a933ecf46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37a860cd9af43aa" /><Relationship Type="http://schemas.openxmlformats.org/officeDocument/2006/relationships/notesSlide" Target="/ppt/notesSlides/notesSlide14.xml" Id="Rdcf15665e412417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238250" y="3028950"/>
            <a:ext cx="9715500" cy="232410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内部工件 → 同伴质询 → 采纳决策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把第 7 课方案暴露给同伴，当场记录取舍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5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第八讲｜形成性活动 · 不正式提交 → 第 9 课判断门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95400"/>
            <a:ext cx="9525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学生研究方案分享与设计诊所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7 课之后，内部工件还没有经受外部质询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35ADB708-22A0-453B-B1C3-50E6EBF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7 课已建立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17BF821-29AB-4FA9-91F1-49178B80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机制假设列表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含淘汰理由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DA361815-55B6-4AE3-9F30-265E8631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研究判断记录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已有初版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17B2C71E-B5BA-418C-B5BD-3336D13A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实验规格草图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变量·baseline·停止·失败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8ED4E436-5BAA-4E08-87DB-27E8FC1B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0" y="2990850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e">
            <a:extLst xmlns:a="http://schemas.openxmlformats.org/drawingml/2006/main">
              <a:ext uri="{FF2B5EF4-FFF2-40B4-BE49-F238E27FC236}">
                <a16:creationId xmlns:a16="http://schemas.microsoft.com/office/drawing/2014/main" id="{9B1414F8-24C2-4ACD-AFFC-ECF21BE4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90800"/>
            <a:ext cx="85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13083CA5-E228-4413-BECD-EC4F31F4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仍未完成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E3E6FAD6-E212-42C6-9A83-EC460842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383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让方案经受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外部质询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4E212E88-56AB-4015-888F-D01FB1CF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051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把反馈转成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可追溯决策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2AE4BBC0-C0AC-4363-AF1D-1AFB3583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71900"/>
            <a:ext cx="38100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对照判断门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预检缺口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D5EA236D-9C72-476E-97B9-F1B0D67C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2197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内部工件完整，不等于经外部质询后仍成立。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本课跑通陈述—反馈—决策—预检链路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link-0">
            <a:extLst xmlns:a="http://schemas.openxmlformats.org/drawingml/2006/main">
              <a:ext uri="{FF2B5EF4-FFF2-40B4-BE49-F238E27FC236}">
                <a16:creationId xmlns:a16="http://schemas.microsoft.com/office/drawing/2014/main" id="{D857C583-81FF-4194-A78A-2AD94104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18859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3-link-1">
            <a:extLst xmlns:a="http://schemas.openxmlformats.org/drawingml/2006/main">
              <a:ext uri="{FF2B5EF4-FFF2-40B4-BE49-F238E27FC236}">
                <a16:creationId xmlns:a16="http://schemas.microsoft.com/office/drawing/2014/main" id="{459E989D-D456-4BD8-B697-4BED9BE1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0" y="18859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3-link-2">
            <a:extLst xmlns:a="http://schemas.openxmlformats.org/drawingml/2006/main">
              <a:ext uri="{FF2B5EF4-FFF2-40B4-BE49-F238E27FC236}">
                <a16:creationId xmlns:a16="http://schemas.microsoft.com/office/drawing/2014/main" id="{884EC9FF-8D08-4ED0-81CD-39053DE3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4750" y="18859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3-n-0">
            <a:extLst xmlns:a="http://schemas.openxmlformats.org/drawingml/2006/main">
              <a:ext uri="{FF2B5EF4-FFF2-40B4-BE49-F238E27FC236}">
                <a16:creationId xmlns:a16="http://schemas.microsoft.com/office/drawing/2014/main" id="{0047299E-225B-4979-9BB2-72E13E05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p03-chain-0">
            <a:extLst xmlns:a="http://schemas.openxmlformats.org/drawingml/2006/main">
              <a:ext uri="{FF2B5EF4-FFF2-40B4-BE49-F238E27FC236}">
                <a16:creationId xmlns:a16="http://schemas.microsoft.com/office/drawing/2014/main" id="{19DF00D7-6CF8-424B-BD79-3ABEA956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3 分钟陈述</a:t>
            </a:r>
          </a:p>
        </p:txBody>
      </p:sp>
      <p:sp>
        <p:nvSpPr>
          <p:cNvPr id="11" name="p03-n-1">
            <a:extLst xmlns:a="http://schemas.openxmlformats.org/drawingml/2006/main">
              <a:ext uri="{FF2B5EF4-FFF2-40B4-BE49-F238E27FC236}">
                <a16:creationId xmlns:a16="http://schemas.microsoft.com/office/drawing/2014/main" id="{193AD5ED-71BC-46EB-A9C8-9F10A257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p03-chain-1">
            <a:extLst xmlns:a="http://schemas.openxmlformats.org/drawingml/2006/main">
              <a:ext uri="{FF2B5EF4-FFF2-40B4-BE49-F238E27FC236}">
                <a16:creationId xmlns:a16="http://schemas.microsoft.com/office/drawing/2014/main" id="{91B0A1A6-FF4A-4D66-88C8-32F6C8E8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结构化反馈</a:t>
            </a:r>
          </a:p>
        </p:txBody>
      </p:sp>
      <p:sp>
        <p:nvSpPr>
          <p:cNvPr id="13" name="p03-n-2">
            <a:extLst xmlns:a="http://schemas.openxmlformats.org/drawingml/2006/main">
              <a:ext uri="{FF2B5EF4-FFF2-40B4-BE49-F238E27FC236}">
                <a16:creationId xmlns:a16="http://schemas.microsoft.com/office/drawing/2014/main" id="{56A58191-18C9-4351-A8B0-AF21E31A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p03-chain-2">
            <a:extLst xmlns:a="http://schemas.openxmlformats.org/drawingml/2006/main">
              <a:ext uri="{FF2B5EF4-FFF2-40B4-BE49-F238E27FC236}">
                <a16:creationId xmlns:a16="http://schemas.microsoft.com/office/drawing/2014/main" id="{88F0EB7A-8EEF-4FA1-A2D9-A4A94DB3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采纳决策</a:t>
            </a:r>
          </a:p>
        </p:txBody>
      </p:sp>
      <p:sp>
        <p:nvSpPr>
          <p:cNvPr id="15" name="p03-n-3">
            <a:extLst xmlns:a="http://schemas.openxmlformats.org/drawingml/2006/main">
              <a:ext uri="{FF2B5EF4-FFF2-40B4-BE49-F238E27FC236}">
                <a16:creationId xmlns:a16="http://schemas.microsoft.com/office/drawing/2014/main" id="{BDD1EB9D-0ADF-48FA-BC1D-02A3B5A5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466850"/>
            <a:ext cx="5143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3-chain-3">
            <a:extLst xmlns:a="http://schemas.openxmlformats.org/drawingml/2006/main">
              <a:ext uri="{FF2B5EF4-FFF2-40B4-BE49-F238E27FC236}">
                <a16:creationId xmlns:a16="http://schemas.microsoft.com/office/drawing/2014/main" id="{44B0FD53-18AC-4692-90E4-5B7C800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66850"/>
            <a:ext cx="1809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判断门预检</a:t>
            </a:r>
          </a:p>
        </p:txBody>
      </p:sp>
      <p:sp>
        <p:nvSpPr>
          <p:cNvPr id="17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DCE97737-7B0A-41C9-A116-1299389B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782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课堂可检查产出</a:t>
            </a:r>
          </a:p>
        </p:txBody>
      </p:sp>
      <p:sp>
        <p:nvSpPr>
          <p:cNvPr id="18" name="p03-out-label-0">
            <a:extLst xmlns:a="http://schemas.openxmlformats.org/drawingml/2006/main">
              <a:ext uri="{FF2B5EF4-FFF2-40B4-BE49-F238E27FC236}">
                <a16:creationId xmlns:a16="http://schemas.microsoft.com/office/drawing/2014/main" id="{5A467506-80DA-4CC3-AA6F-F1AB90B4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分享页</a:t>
            </a:r>
          </a:p>
        </p:txBody>
      </p:sp>
      <p:sp>
        <p:nvSpPr>
          <p:cNvPr id="19" name="p03-out-detail-0">
            <a:extLst xmlns:a="http://schemas.openxmlformats.org/drawingml/2006/main">
              <a:ext uri="{FF2B5EF4-FFF2-40B4-BE49-F238E27FC236}">
                <a16:creationId xmlns:a16="http://schemas.microsoft.com/office/drawing/2014/main" id="{547FE88F-7BD3-4DDE-9351-F80484C5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五段结构</a:t>
            </a:r>
          </a:p>
        </p:txBody>
      </p:sp>
      <p:sp>
        <p:nvSpPr>
          <p:cNvPr id="20" name="p03-out-label-1">
            <a:extLst xmlns:a="http://schemas.openxmlformats.org/drawingml/2006/main">
              <a:ext uri="{FF2B5EF4-FFF2-40B4-BE49-F238E27FC236}">
                <a16:creationId xmlns:a16="http://schemas.microsoft.com/office/drawing/2014/main" id="{4DDFA4BD-5EDA-4839-ACB6-159C1532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反馈记录</a:t>
            </a:r>
          </a:p>
        </p:txBody>
      </p:sp>
      <p:sp>
        <p:nvSpPr>
          <p:cNvPr id="21" name="p03-out-detail-1">
            <a:extLst xmlns:a="http://schemas.openxmlformats.org/drawingml/2006/main">
              <a:ext uri="{FF2B5EF4-FFF2-40B4-BE49-F238E27FC236}">
                <a16:creationId xmlns:a16="http://schemas.microsoft.com/office/drawing/2014/main" id="{178F2275-F3A2-4C57-B6A4-B1170B8D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2 位同伴</a:t>
            </a:r>
          </a:p>
        </p:txBody>
      </p:sp>
      <p:sp>
        <p:nvSpPr>
          <p:cNvPr id="22" name="p03-out-label-2">
            <a:extLst xmlns:a="http://schemas.openxmlformats.org/drawingml/2006/main">
              <a:ext uri="{FF2B5EF4-FFF2-40B4-BE49-F238E27FC236}">
                <a16:creationId xmlns:a16="http://schemas.microsoft.com/office/drawing/2014/main" id="{8C159EFB-12E3-450C-B055-1CBE4704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决策表</a:t>
            </a:r>
          </a:p>
        </p:txBody>
      </p:sp>
      <p:sp>
        <p:nvSpPr>
          <p:cNvPr id="23" name="p03-out-detail-2">
            <a:extLst xmlns:a="http://schemas.openxmlformats.org/drawingml/2006/main">
              <a:ext uri="{FF2B5EF4-FFF2-40B4-BE49-F238E27FC236}">
                <a16:creationId xmlns:a16="http://schemas.microsoft.com/office/drawing/2014/main" id="{F0FBD6F7-4841-4825-BC18-F54E0775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2 条：1 采纳 + 1 拒绝/暂缓</a:t>
            </a:r>
          </a:p>
        </p:txBody>
      </p:sp>
      <p:sp>
        <p:nvSpPr>
          <p:cNvPr id="24" name="p03-out-label-3">
            <a:extLst xmlns:a="http://schemas.openxmlformats.org/drawingml/2006/main">
              <a:ext uri="{FF2B5EF4-FFF2-40B4-BE49-F238E27FC236}">
                <a16:creationId xmlns:a16="http://schemas.microsoft.com/office/drawing/2014/main" id="{86A851A5-06A4-41F7-92DD-33B71D1B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514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缺口清单</a:t>
            </a:r>
          </a:p>
        </p:txBody>
      </p:sp>
      <p:sp>
        <p:nvSpPr>
          <p:cNvPr id="25" name="p03-out-detail-3">
            <a:extLst xmlns:a="http://schemas.openxmlformats.org/drawingml/2006/main">
              <a:ext uri="{FF2B5EF4-FFF2-40B4-BE49-F238E27FC236}">
                <a16:creationId xmlns:a16="http://schemas.microsoft.com/office/drawing/2014/main" id="{332636EA-A886-4DF7-9848-F1F6C27E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95700"/>
            <a:ext cx="2514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判断门已满足 / 部分 / 未覆盖</a:t>
            </a:r>
          </a:p>
        </p:txBody>
      </p:sp>
      <p:sp>
        <p:nvSpPr>
          <p:cNvPr id="26" name="p03-bottom">
            <a:extLst xmlns:a="http://schemas.openxmlformats.org/drawingml/2006/main">
              <a:ext uri="{FF2B5EF4-FFF2-40B4-BE49-F238E27FC236}">
                <a16:creationId xmlns:a16="http://schemas.microsoft.com/office/drawing/2014/main" id="{DA007C45-D3AA-4AF6-877F-D87EF150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形成性活动：不新增正式提交；全部产出直接进入第 9 课判断门准备。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分钟陈述要暴露一个可被质询的最小方案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art-0">
            <a:extLst xmlns:a="http://schemas.openxmlformats.org/drawingml/2006/main">
              <a:ext uri="{FF2B5EF4-FFF2-40B4-BE49-F238E27FC236}">
                <a16:creationId xmlns:a16="http://schemas.microsoft.com/office/drawing/2014/main" id="{A6FDA0C3-D3DD-4D37-BA97-02D23F54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2000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19050">
            <a:solidFill>
              <a:srgbClr val="18354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 研究问题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范围·非例·可证伪</a:t>
            </a:r>
          </a:p>
        </p:txBody>
      </p:sp>
      <p:sp>
        <p:nvSpPr>
          <p:cNvPr id="7" name="p04-time-0">
            <a:extLst xmlns:a="http://schemas.openxmlformats.org/drawingml/2006/main">
              <a:ext uri="{FF2B5EF4-FFF2-40B4-BE49-F238E27FC236}">
                <a16:creationId xmlns:a16="http://schemas.microsoft.com/office/drawing/2014/main" id="{0A205811-7102-467F-A193-04908A55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4325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35s</a:t>
            </a:r>
          </a:p>
        </p:txBody>
      </p:sp>
      <p:sp>
        <p:nvSpPr>
          <p:cNvPr id="8" name="p04-part-1">
            <a:extLst xmlns:a="http://schemas.openxmlformats.org/drawingml/2006/main">
              <a:ext uri="{FF2B5EF4-FFF2-40B4-BE49-F238E27FC236}">
                <a16:creationId xmlns:a16="http://schemas.microsoft.com/office/drawing/2014/main" id="{3841B482-12A4-4FE3-948B-97180502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28750"/>
            <a:ext cx="21336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2  关键证据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支持什么 / 不支持什么</a:t>
            </a:r>
          </a:p>
        </p:txBody>
      </p:sp>
      <p:sp>
        <p:nvSpPr>
          <p:cNvPr id="9" name="p04-time-1">
            <a:extLst xmlns:a="http://schemas.openxmlformats.org/drawingml/2006/main">
              <a:ext uri="{FF2B5EF4-FFF2-40B4-BE49-F238E27FC236}">
                <a16:creationId xmlns:a16="http://schemas.microsoft.com/office/drawing/2014/main" id="{6A179E7E-3130-4FA5-9B64-C6282E99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40s</a:t>
            </a:r>
          </a:p>
        </p:txBody>
      </p:sp>
      <p:sp>
        <p:nvSpPr>
          <p:cNvPr id="10" name="p04-part-2">
            <a:extLst xmlns:a="http://schemas.openxmlformats.org/drawingml/2006/main">
              <a:ext uri="{FF2B5EF4-FFF2-40B4-BE49-F238E27FC236}">
                <a16:creationId xmlns:a16="http://schemas.microsoft.com/office/drawing/2014/main" id="{188D3BC8-BCB9-4765-9FB7-91F46DE2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28750"/>
            <a:ext cx="2571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  机制假设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中间过程 + 替代假设</a:t>
            </a:r>
          </a:p>
        </p:txBody>
      </p:sp>
      <p:sp>
        <p:nvSpPr>
          <p:cNvPr id="11" name="p04-time-2">
            <a:extLst xmlns:a="http://schemas.openxmlformats.org/drawingml/2006/main">
              <a:ext uri="{FF2B5EF4-FFF2-40B4-BE49-F238E27FC236}">
                <a16:creationId xmlns:a16="http://schemas.microsoft.com/office/drawing/2014/main" id="{B0A71B54-4051-4A60-A177-698DE670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432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50s</a:t>
            </a:r>
          </a:p>
        </p:txBody>
      </p:sp>
      <p:sp>
        <p:nvSpPr>
          <p:cNvPr id="12" name="p04-part-3">
            <a:extLst xmlns:a="http://schemas.openxmlformats.org/drawingml/2006/main">
              <a:ext uri="{FF2B5EF4-FFF2-40B4-BE49-F238E27FC236}">
                <a16:creationId xmlns:a16="http://schemas.microsoft.com/office/drawing/2014/main" id="{46C88F4E-CC84-4A9D-B9A0-88C38237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428750"/>
            <a:ext cx="21336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19050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4  最小验证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变量·基线·停止·预案</a:t>
            </a:r>
          </a:p>
        </p:txBody>
      </p:sp>
      <p:sp>
        <p:nvSpPr>
          <p:cNvPr id="13" name="p04-time-3">
            <a:extLst xmlns:a="http://schemas.openxmlformats.org/drawingml/2006/main">
              <a:ext uri="{FF2B5EF4-FFF2-40B4-BE49-F238E27FC236}">
                <a16:creationId xmlns:a16="http://schemas.microsoft.com/office/drawing/2014/main" id="{39A7455A-B019-4EAE-B7D5-853821D6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43250"/>
            <a:ext cx="213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40s</a:t>
            </a:r>
          </a:p>
        </p:txBody>
      </p:sp>
      <p:sp>
        <p:nvSpPr>
          <p:cNvPr id="14" name="p04-part-4">
            <a:extLst xmlns:a="http://schemas.openxmlformats.org/drawingml/2006/main">
              <a:ext uri="{FF2B5EF4-FFF2-40B4-BE49-F238E27FC236}">
                <a16:creationId xmlns:a16="http://schemas.microsoft.com/office/drawing/2014/main" id="{A7E05687-18FF-4FBC-BF30-59C68F06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28750"/>
            <a:ext cx="1390650" cy="16573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  最大风险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最可能使方案不成立</a:t>
            </a:r>
          </a:p>
        </p:txBody>
      </p:sp>
      <p:sp>
        <p:nvSpPr>
          <p:cNvPr id="15" name="p04-time-4">
            <a:extLst xmlns:a="http://schemas.openxmlformats.org/drawingml/2006/main">
              <a:ext uri="{FF2B5EF4-FFF2-40B4-BE49-F238E27FC236}">
                <a16:creationId xmlns:a16="http://schemas.microsoft.com/office/drawing/2014/main" id="{DAC54D27-141C-4B30-A7B7-8851F5D7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43250"/>
            <a:ext cx="1390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15s</a:t>
            </a:r>
          </a:p>
        </p:txBody>
      </p:sp>
      <p:sp>
        <p:nvSpPr>
          <p:cNvPr id="16" name="p04-example-label">
            <a:extLst xmlns:a="http://schemas.openxmlformats.org/drawingml/2006/main">
              <a:ext uri="{FF2B5EF4-FFF2-40B4-BE49-F238E27FC236}">
                <a16:creationId xmlns:a16="http://schemas.microsoft.com/office/drawing/2014/main" id="{0DC77F64-8EF6-4F79-9435-EAF69D8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433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贯穿案例的机制句</a:t>
            </a:r>
          </a:p>
        </p:txBody>
      </p:sp>
      <p:sp>
        <p:nvSpPr>
          <p:cNvPr id="17" name="p04-example">
            <a:extLst xmlns:a="http://schemas.openxmlformats.org/drawingml/2006/main">
              <a:ext uri="{FF2B5EF4-FFF2-40B4-BE49-F238E27FC236}">
                <a16:creationId xmlns:a16="http://schemas.microsoft.com/office/drawing/2014/main" id="{D6377058-2F3B-4E41-9290-B2871EA2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433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字段约束 → 生成时强制标注限定条件 → 错读更易在核验阶段暴露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12BBFB8E-A984-4EC3-8BF5-B57B758C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911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只说“会更好”不是机制假设：同伴无法检查中间过程。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同伴先做四维诊断，再检查实验能否改变判断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abel-0">
            <a:extLst xmlns:a="http://schemas.openxmlformats.org/drawingml/2006/main">
              <a:ext uri="{FF2B5EF4-FFF2-40B4-BE49-F238E27FC236}">
                <a16:creationId xmlns:a16="http://schemas.microsoft.com/office/drawing/2014/main" id="{228AEA61-F26B-4C0E-96F2-8E0E39B0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2870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问题重要性</a:t>
            </a:r>
          </a:p>
        </p:txBody>
      </p:sp>
      <p:sp>
        <p:nvSpPr>
          <p:cNvPr id="7" name="p05-q-0">
            <a:extLst xmlns:a="http://schemas.openxmlformats.org/drawingml/2006/main">
              <a:ext uri="{FF2B5EF4-FFF2-40B4-BE49-F238E27FC236}">
                <a16:creationId xmlns:a16="http://schemas.microsoft.com/office/drawing/2014/main" id="{50CC6005-BCD9-4352-BE3C-2C955016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02870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结果会改变什么研究判断或实验行动？</a:t>
            </a:r>
          </a:p>
        </p:txBody>
      </p:sp>
      <p:sp>
        <p:nvSpPr>
          <p:cNvPr id="8" name="p05-label-1">
            <a:extLst xmlns:a="http://schemas.openxmlformats.org/drawingml/2006/main">
              <a:ext uri="{FF2B5EF4-FFF2-40B4-BE49-F238E27FC236}">
                <a16:creationId xmlns:a16="http://schemas.microsoft.com/office/drawing/2014/main" id="{6CC604BA-E22D-44FC-B5A7-0E2026D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4785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证据充分性</a:t>
            </a:r>
          </a:p>
        </p:txBody>
      </p:sp>
      <p:sp>
        <p:nvSpPr>
          <p:cNvPr id="9" name="p05-q-1">
            <a:extLst xmlns:a="http://schemas.openxmlformats.org/drawingml/2006/main">
              <a:ext uri="{FF2B5EF4-FFF2-40B4-BE49-F238E27FC236}">
                <a16:creationId xmlns:a16="http://schemas.microsoft.com/office/drawing/2014/main" id="{744C1552-C0D7-4239-8C82-7D25B935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4785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证据可核验吗？支持强度、冲突与缺口清楚吗？</a:t>
            </a:r>
          </a:p>
        </p:txBody>
      </p:sp>
      <p:sp>
        <p:nvSpPr>
          <p:cNvPr id="10" name="p05-label-2">
            <a:extLst xmlns:a="http://schemas.openxmlformats.org/drawingml/2006/main">
              <a:ext uri="{FF2B5EF4-FFF2-40B4-BE49-F238E27FC236}">
                <a16:creationId xmlns:a16="http://schemas.microsoft.com/office/drawing/2014/main" id="{73F8D1DC-257E-416F-ACDF-CD3BFD32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可检验性</a:t>
            </a:r>
          </a:p>
        </p:txBody>
      </p:sp>
      <p:sp>
        <p:nvSpPr>
          <p:cNvPr id="11" name="p05-q-2">
            <a:extLst xmlns:a="http://schemas.openxmlformats.org/drawingml/2006/main">
              <a:ext uri="{FF2B5EF4-FFF2-40B4-BE49-F238E27FC236}">
                <a16:creationId xmlns:a16="http://schemas.microsoft.com/office/drawing/2014/main" id="{40AD9AF4-68E8-414B-954E-50D2501C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6700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什么结果能推翻？主假设与替代假设可区分吗？</a:t>
            </a:r>
          </a:p>
        </p:txBody>
      </p:sp>
      <p:sp>
        <p:nvSpPr>
          <p:cNvPr id="12" name="p05-label-3">
            <a:extLst xmlns:a="http://schemas.openxmlformats.org/drawingml/2006/main">
              <a:ext uri="{FF2B5EF4-FFF2-40B4-BE49-F238E27FC236}">
                <a16:creationId xmlns:a16="http://schemas.microsoft.com/office/drawing/2014/main" id="{FB1658EA-19C8-45CA-BBDF-3285E7B5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2190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课程周期可行性</a:t>
            </a:r>
          </a:p>
        </p:txBody>
      </p:sp>
      <p:sp>
        <p:nvSpPr>
          <p:cNvPr id="13" name="p05-q-3">
            <a:extLst xmlns:a="http://schemas.openxmlformats.org/drawingml/2006/main">
              <a:ext uri="{FF2B5EF4-FFF2-40B4-BE49-F238E27FC236}">
                <a16:creationId xmlns:a16="http://schemas.microsoft.com/office/drawing/2014/main" id="{EC245C05-CD05-4C5A-8B5A-918645B6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86150"/>
            <a:ext cx="8248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公平吗？停止条件显式吗？周期内做得完吗？</a:t>
            </a:r>
          </a:p>
        </p:txBody>
      </p:sp>
      <p:sp>
        <p:nvSpPr>
          <p:cNvPr id="14" name="p05-action">
            <a:extLst xmlns:a="http://schemas.openxmlformats.org/drawingml/2006/main">
              <a:ext uri="{FF2B5EF4-FFF2-40B4-BE49-F238E27FC236}">
                <a16:creationId xmlns:a16="http://schemas.microsoft.com/office/drawing/2014/main" id="{5450E21D-9EE9-4AF0-BD5B-67148CB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38650"/>
            <a:ext cx="88011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行动性检查｜下一步实验是否能改变当前研究判断？</a:t>
            </a:r>
          </a:p>
        </p:txBody>
      </p:sp>
      <p:sp>
        <p:nvSpPr>
          <p:cNvPr id="15" name="p05-boundary">
            <a:extLst xmlns:a="http://schemas.openxmlformats.org/drawingml/2006/main">
              <a:ext uri="{FF2B5EF4-FFF2-40B4-BE49-F238E27FC236}">
                <a16:creationId xmlns:a16="http://schemas.microsoft.com/office/drawing/2014/main" id="{27BA922A-7731-45A7-A760-7A1A1D58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006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边界不替代重要性：范围、非例和外推限制仍写入陈述与研究判断。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三问把分散意见压缩成可行动反馈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n-0">
            <a:extLst xmlns:a="http://schemas.openxmlformats.org/drawingml/2006/main">
              <a:ext uri="{FF2B5EF4-FFF2-40B4-BE49-F238E27FC236}">
                <a16:creationId xmlns:a16="http://schemas.microsoft.com/office/drawing/2014/main" id="{2078782B-0E15-4322-8900-47973146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6-label-0">
            <a:extLst xmlns:a="http://schemas.openxmlformats.org/drawingml/2006/main">
              <a:ext uri="{FF2B5EF4-FFF2-40B4-BE49-F238E27FC236}">
                <a16:creationId xmlns:a16="http://schemas.microsoft.com/office/drawing/2014/main" id="{E860C223-272A-4F09-981A-E389F2B6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2192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一项最强处</a:t>
            </a:r>
          </a:p>
        </p:txBody>
      </p:sp>
      <p:sp>
        <p:nvSpPr>
          <p:cNvPr id="8" name="p06-q-0">
            <a:extLst xmlns:a="http://schemas.openxmlformats.org/drawingml/2006/main">
              <a:ext uri="{FF2B5EF4-FFF2-40B4-BE49-F238E27FC236}">
                <a16:creationId xmlns:a16="http://schemas.microsoft.com/office/drawing/2014/main" id="{E2B28A8E-BA62-4B22-AF7F-E234759E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21920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四维诊断中，当前最扎实的一点是什么？</a:t>
            </a:r>
          </a:p>
        </p:txBody>
      </p:sp>
      <p:sp>
        <p:nvSpPr>
          <p:cNvPr id="9" name="p06-n-1">
            <a:extLst xmlns:a="http://schemas.openxmlformats.org/drawingml/2006/main">
              <a:ext uri="{FF2B5EF4-FFF2-40B4-BE49-F238E27FC236}">
                <a16:creationId xmlns:a16="http://schemas.microsoft.com/office/drawing/2014/main" id="{4CE1C2C2-224F-4FCD-9536-51339CB8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6220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6-label-1">
            <a:extLst xmlns:a="http://schemas.openxmlformats.org/drawingml/2006/main">
              <a:ext uri="{FF2B5EF4-FFF2-40B4-BE49-F238E27FC236}">
                <a16:creationId xmlns:a16="http://schemas.microsoft.com/office/drawing/2014/main" id="{EECB0BC2-BABD-40E1-B209-D194DA6D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622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一项最大风险</a:t>
            </a:r>
          </a:p>
        </p:txBody>
      </p:sp>
      <p:sp>
        <p:nvSpPr>
          <p:cNvPr id="11" name="p06-q-1">
            <a:extLst xmlns:a="http://schemas.openxmlformats.org/drawingml/2006/main">
              <a:ext uri="{FF2B5EF4-FFF2-40B4-BE49-F238E27FC236}">
                <a16:creationId xmlns:a16="http://schemas.microsoft.com/office/drawing/2014/main" id="{3CE1972C-5F57-4AB8-BD2B-38DFDBEF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6220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哪一点最可能让方案在判断门前失败？</a:t>
            </a:r>
          </a:p>
        </p:txBody>
      </p:sp>
      <p:sp>
        <p:nvSpPr>
          <p:cNvPr id="12" name="p06-n-2">
            <a:extLst xmlns:a="http://schemas.openxmlformats.org/drawingml/2006/main">
              <a:ext uri="{FF2B5EF4-FFF2-40B4-BE49-F238E27FC236}">
                <a16:creationId xmlns:a16="http://schemas.microsoft.com/office/drawing/2014/main" id="{DEF024D0-45EC-44C1-BC66-8D112A34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0520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6-label-2">
            <a:extLst xmlns:a="http://schemas.openxmlformats.org/drawingml/2006/main">
              <a:ext uri="{FF2B5EF4-FFF2-40B4-BE49-F238E27FC236}">
                <a16:creationId xmlns:a16="http://schemas.microsoft.com/office/drawing/2014/main" id="{4857A638-8F48-468F-BE5D-2445FC7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052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一条可执行建议</a:t>
            </a:r>
          </a:p>
        </p:txBody>
      </p:sp>
      <p:sp>
        <p:nvSpPr>
          <p:cNvPr id="14" name="p06-q-2">
            <a:extLst xmlns:a="http://schemas.openxmlformats.org/drawingml/2006/main">
              <a:ext uri="{FF2B5EF4-FFF2-40B4-BE49-F238E27FC236}">
                <a16:creationId xmlns:a16="http://schemas.microsoft.com/office/drawing/2014/main" id="{C30C534C-7F22-4F92-B68C-DA380BA6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0520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下周最小改什么？它可能改变哪条研究判断？</a:t>
            </a:r>
          </a:p>
        </p:txBody>
      </p:sp>
      <p:sp>
        <p:nvSpPr>
          <p:cNvPr id="15" name="p06-bottom">
            <a:extLst xmlns:a="http://schemas.openxmlformats.org/drawingml/2006/main">
              <a:ext uri="{FF2B5EF4-FFF2-40B4-BE49-F238E27FC236}">
                <a16:creationId xmlns:a16="http://schemas.microsoft.com/office/drawing/2014/main" id="{905D1413-FFED-4832-8943-E5443105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53000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“题目很有趣”“听起来挺好”都没有指出方案的可检查部分。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设计诊所诊断方案，不评价人、不替作者决定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left-title">
            <a:extLst xmlns:a="http://schemas.openxmlformats.org/drawingml/2006/main">
              <a:ext uri="{FF2B5EF4-FFF2-40B4-BE49-F238E27FC236}">
                <a16:creationId xmlns:a16="http://schemas.microsoft.com/office/drawing/2014/main" id="{BBA3519D-31BB-4AB8-9316-99DA4B1B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反馈者责任</a:t>
            </a:r>
          </a:p>
        </p:txBody>
      </p:sp>
      <p:sp>
        <p:nvSpPr>
          <p:cNvPr id="7" name="p07-ln-0">
            <a:extLst xmlns:a="http://schemas.openxmlformats.org/drawingml/2006/main">
              <a:ext uri="{FF2B5EF4-FFF2-40B4-BE49-F238E27FC236}">
                <a16:creationId xmlns:a16="http://schemas.microsoft.com/office/drawing/2014/main" id="{87A663AA-6CEC-4C62-B726-52F0661E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7-l-0">
            <a:extLst xmlns:a="http://schemas.openxmlformats.org/drawingml/2006/main">
              <a:ext uri="{FF2B5EF4-FFF2-40B4-BE49-F238E27FC236}">
                <a16:creationId xmlns:a16="http://schemas.microsoft.com/office/drawing/2014/main" id="{3AC4CDF4-0BFE-44C0-A943-A14C6B8D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54305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指向方案，不指向人</a:t>
            </a:r>
          </a:p>
        </p:txBody>
      </p:sp>
      <p:sp>
        <p:nvSpPr>
          <p:cNvPr id="9" name="p07-ln-1">
            <a:extLst xmlns:a="http://schemas.openxmlformats.org/drawingml/2006/main">
              <a:ext uri="{FF2B5EF4-FFF2-40B4-BE49-F238E27FC236}">
                <a16:creationId xmlns:a16="http://schemas.microsoft.com/office/drawing/2014/main" id="{1D0D2A07-2D03-408D-A2C3-4EC55C27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7-l-1">
            <a:extLst xmlns:a="http://schemas.openxmlformats.org/drawingml/2006/main">
              <a:ext uri="{FF2B5EF4-FFF2-40B4-BE49-F238E27FC236}">
                <a16:creationId xmlns:a16="http://schemas.microsoft.com/office/drawing/2014/main" id="{1A0C2F03-B35E-4B9B-8E94-2CFCF884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引用陈述的具体条目</a:t>
            </a:r>
          </a:p>
        </p:txBody>
      </p:sp>
      <p:sp>
        <p:nvSpPr>
          <p:cNvPr id="11" name="p07-ln-2">
            <a:extLst xmlns:a="http://schemas.openxmlformats.org/drawingml/2006/main">
              <a:ext uri="{FF2B5EF4-FFF2-40B4-BE49-F238E27FC236}">
                <a16:creationId xmlns:a16="http://schemas.microsoft.com/office/drawing/2014/main" id="{203F8B47-E091-4EBC-8C1A-C52F95FA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07-l-2">
            <a:extLst xmlns:a="http://schemas.openxmlformats.org/drawingml/2006/main">
              <a:ext uri="{FF2B5EF4-FFF2-40B4-BE49-F238E27FC236}">
                <a16:creationId xmlns:a16="http://schemas.microsoft.com/office/drawing/2014/main" id="{F3299B47-015B-4029-9127-C9B12AA5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7655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区分缺陷与修改建议</a:t>
            </a:r>
          </a:p>
        </p:txBody>
      </p:sp>
      <p:sp>
        <p:nvSpPr>
          <p:cNvPr id="13" name="p07-ln-3">
            <a:extLst xmlns:a="http://schemas.openxmlformats.org/drawingml/2006/main">
              <a:ext uri="{FF2B5EF4-FFF2-40B4-BE49-F238E27FC236}">
                <a16:creationId xmlns:a16="http://schemas.microsoft.com/office/drawing/2014/main" id="{ECCC167D-C782-4E7E-AE5F-93CFCF23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07-l-3">
            <a:extLst xmlns:a="http://schemas.openxmlformats.org/drawingml/2006/main">
              <a:ext uri="{FF2B5EF4-FFF2-40B4-BE49-F238E27FC236}">
                <a16:creationId xmlns:a16="http://schemas.microsoft.com/office/drawing/2014/main" id="{5E2CE380-A284-4B90-8471-2F994C94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不替作者决定采纳什么</a:t>
            </a:r>
          </a:p>
        </p:txBody>
      </p:sp>
      <p:sp>
        <p:nvSpPr>
          <p:cNvPr id="15" name="p07-divider">
            <a:extLst xmlns:a="http://schemas.openxmlformats.org/drawingml/2006/main">
              <a:ext uri="{FF2B5EF4-FFF2-40B4-BE49-F238E27FC236}">
                <a16:creationId xmlns:a16="http://schemas.microsoft.com/office/drawing/2014/main" id="{B37AB772-D3F3-494D-9CFA-3B5124CA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476750" y="2633663"/>
            <a:ext cx="323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7-right-title">
            <a:extLst xmlns:a="http://schemas.openxmlformats.org/drawingml/2006/main">
              <a:ext uri="{FF2B5EF4-FFF2-40B4-BE49-F238E27FC236}">
                <a16:creationId xmlns:a16="http://schemas.microsoft.com/office/drawing/2014/main" id="{B071B7E6-D4A0-4C24-8928-A06D432A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952500"/>
            <a:ext cx="491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设计诊所纪律</a:t>
            </a:r>
          </a:p>
        </p:txBody>
      </p:sp>
      <p:sp>
        <p:nvSpPr>
          <p:cNvPr id="17" name="p07-rn-0">
            <a:extLst xmlns:a="http://schemas.openxmlformats.org/drawingml/2006/main">
              <a:ext uri="{FF2B5EF4-FFF2-40B4-BE49-F238E27FC236}">
                <a16:creationId xmlns:a16="http://schemas.microsoft.com/office/drawing/2014/main" id="{FAFDB5EA-600B-45B6-8968-59740034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43050"/>
            <a:ext cx="476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" name="p07-r-0">
            <a:extLst xmlns:a="http://schemas.openxmlformats.org/drawingml/2006/main">
              <a:ext uri="{FF2B5EF4-FFF2-40B4-BE49-F238E27FC236}">
                <a16:creationId xmlns:a16="http://schemas.microsoft.com/office/drawing/2014/main" id="{3DD7ADE8-2B6A-4D52-9024-64020B0A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543050"/>
            <a:ext cx="396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诊断方案，不评价陈述者</a:t>
            </a:r>
          </a:p>
        </p:txBody>
      </p:sp>
      <p:sp>
        <p:nvSpPr>
          <p:cNvPr id="19" name="p07-rn-1">
            <a:extLst xmlns:a="http://schemas.openxmlformats.org/drawingml/2006/main">
              <a:ext uri="{FF2B5EF4-FFF2-40B4-BE49-F238E27FC236}">
                <a16:creationId xmlns:a16="http://schemas.microsoft.com/office/drawing/2014/main" id="{2F997D90-EC14-46D6-9DBA-ED93F94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24100"/>
            <a:ext cx="476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0" name="p07-r-1">
            <a:extLst xmlns:a="http://schemas.openxmlformats.org/drawingml/2006/main">
              <a:ext uri="{FF2B5EF4-FFF2-40B4-BE49-F238E27FC236}">
                <a16:creationId xmlns:a16="http://schemas.microsoft.com/office/drawing/2014/main" id="{A774AB81-451B-4915-A357-029583E3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24100"/>
            <a:ext cx="396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不作共同决策</a:t>
            </a:r>
          </a:p>
        </p:txBody>
      </p:sp>
      <p:sp>
        <p:nvSpPr>
          <p:cNvPr id="21" name="p07-rn-2">
            <a:extLst xmlns:a="http://schemas.openxmlformats.org/drawingml/2006/main">
              <a:ext uri="{FF2B5EF4-FFF2-40B4-BE49-F238E27FC236}">
                <a16:creationId xmlns:a16="http://schemas.microsoft.com/office/drawing/2014/main" id="{F1095100-5C4B-445E-985E-A960B150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05150"/>
            <a:ext cx="476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p07-r-2">
            <a:extLst xmlns:a="http://schemas.openxmlformats.org/drawingml/2006/main">
              <a:ext uri="{FF2B5EF4-FFF2-40B4-BE49-F238E27FC236}">
                <a16:creationId xmlns:a16="http://schemas.microsoft.com/office/drawing/2014/main" id="{A16A47B0-A86C-43DD-A83C-7D6F4DB5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05150"/>
            <a:ext cx="3962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失败暴露优先</a:t>
            </a:r>
          </a:p>
        </p:txBody>
      </p:sp>
      <p:sp>
        <p:nvSpPr>
          <p:cNvPr id="23" name="p07-round">
            <a:extLst xmlns:a="http://schemas.openxmlformats.org/drawingml/2006/main">
              <a:ext uri="{FF2B5EF4-FFF2-40B4-BE49-F238E27FC236}">
                <a16:creationId xmlns:a16="http://schemas.microsoft.com/office/drawing/2014/main" id="{1DBA1D56-E6DA-4E3B-81C4-7F930E01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一次轮次｜3 分钟陈述（同伴只听） + 2 分钟反馈（作者只记录）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BFE0A9FA-F1BE-49FE-B55C-E13CC8DC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“baseline 不公平”若不指明模型、温度、数据或长度哪一项不同，就不可执行。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每条反馈都必须落到采纳、拒绝或暂缓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left-title">
            <a:extLst xmlns:a="http://schemas.openxmlformats.org/drawingml/2006/main">
              <a:ext uri="{FF2B5EF4-FFF2-40B4-BE49-F238E27FC236}">
                <a16:creationId xmlns:a16="http://schemas.microsoft.com/office/drawing/2014/main" id="{9E7D4521-5DBE-471E-A577-A65AD104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三类决策</a:t>
            </a:r>
          </a:p>
        </p:txBody>
      </p:sp>
      <p:sp>
        <p:nvSpPr>
          <p:cNvPr id="7" name="p08-d-0">
            <a:extLst xmlns:a="http://schemas.openxmlformats.org/drawingml/2006/main">
              <a:ext uri="{FF2B5EF4-FFF2-40B4-BE49-F238E27FC236}">
                <a16:creationId xmlns:a16="http://schemas.microsoft.com/office/drawing/2014/main" id="{A38572B1-B75D-4B93-8CF5-1E3D4BE1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43050"/>
            <a:ext cx="1104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8" name="p08-detail-0">
            <a:extLst xmlns:a="http://schemas.openxmlformats.org/drawingml/2006/main">
              <a:ext uri="{FF2B5EF4-FFF2-40B4-BE49-F238E27FC236}">
                <a16:creationId xmlns:a16="http://schemas.microsoft.com/office/drawing/2014/main" id="{6B804EE8-8AB3-442A-920C-72EC9F0A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430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缺陷成立且周内可改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修改影响工件</a:t>
            </a:r>
          </a:p>
        </p:txBody>
      </p:sp>
      <p:sp>
        <p:nvSpPr>
          <p:cNvPr id="9" name="p08-d-1">
            <a:extLst xmlns:a="http://schemas.openxmlformats.org/drawingml/2006/main">
              <a:ext uri="{FF2B5EF4-FFF2-40B4-BE49-F238E27FC236}">
                <a16:creationId xmlns:a16="http://schemas.microsoft.com/office/drawing/2014/main" id="{BECBA77B-4042-4D96-BAA1-EE9D7A1A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104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0" name="p08-detail-1">
            <a:extLst xmlns:a="http://schemas.openxmlformats.org/drawingml/2006/main">
              <a:ext uri="{FF2B5EF4-FFF2-40B4-BE49-F238E27FC236}">
                <a16:creationId xmlns:a16="http://schemas.microsoft.com/office/drawing/2014/main" id="{2BB8C1B5-702C-40FA-BB6D-D795C689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860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缺陷不成立或与约束冲突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写具体理由</a:t>
            </a:r>
          </a:p>
        </p:txBody>
      </p:sp>
      <p:sp>
        <p:nvSpPr>
          <p:cNvPr id="11" name="p08-d-2">
            <a:extLst xmlns:a="http://schemas.openxmlformats.org/drawingml/2006/main">
              <a:ext uri="{FF2B5EF4-FFF2-40B4-BE49-F238E27FC236}">
                <a16:creationId xmlns:a16="http://schemas.microsoft.com/office/drawing/2014/main" id="{DA9E50E5-D653-4EFF-B11E-7763979A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1104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暂缓</a:t>
            </a:r>
          </a:p>
        </p:txBody>
      </p:sp>
      <p:sp>
        <p:nvSpPr>
          <p:cNvPr id="12" name="p08-detail-2">
            <a:extLst xmlns:a="http://schemas.openxmlformats.org/drawingml/2006/main">
              <a:ext uri="{FF2B5EF4-FFF2-40B4-BE49-F238E27FC236}">
                <a16:creationId xmlns:a16="http://schemas.microsoft.com/office/drawing/2014/main" id="{0F45F0C0-C7EC-40C4-9BFC-ADE21D28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290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当前无法判断或周内不可改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→ 标为待验证</a:t>
            </a:r>
          </a:p>
        </p:txBody>
      </p:sp>
      <p:sp>
        <p:nvSpPr>
          <p:cNvPr id="13" name="p08-divider">
            <a:extLst xmlns:a="http://schemas.openxmlformats.org/drawingml/2006/main">
              <a:ext uri="{FF2B5EF4-FFF2-40B4-BE49-F238E27FC236}">
                <a16:creationId xmlns:a16="http://schemas.microsoft.com/office/drawing/2014/main" id="{04B890AD-DA30-4229-8E96-5B99F2EC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371850" y="2976563"/>
            <a:ext cx="392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8-right-title">
            <a:extLst xmlns:a="http://schemas.openxmlformats.org/drawingml/2006/main">
              <a:ext uri="{FF2B5EF4-FFF2-40B4-BE49-F238E27FC236}">
                <a16:creationId xmlns:a16="http://schemas.microsoft.com/office/drawing/2014/main" id="{1CDCE253-4265-42C6-AFF6-FE357E47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52500"/>
            <a:ext cx="552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研究判断六字段</a:t>
            </a:r>
          </a:p>
        </p:txBody>
      </p:sp>
      <p:sp>
        <p:nvSpPr>
          <p:cNvPr id="15" name="p08-fl-0">
            <a:extLst xmlns:a="http://schemas.openxmlformats.org/drawingml/2006/main">
              <a:ext uri="{FF2B5EF4-FFF2-40B4-BE49-F238E27FC236}">
                <a16:creationId xmlns:a16="http://schemas.microsoft.com/office/drawing/2014/main" id="{DE16B7A1-9DFC-491F-A000-895D9887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485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决策内容</a:t>
            </a:r>
          </a:p>
        </p:txBody>
      </p:sp>
      <p:sp>
        <p:nvSpPr>
          <p:cNvPr id="16" name="p08-fd-0">
            <a:extLst xmlns:a="http://schemas.openxmlformats.org/drawingml/2006/main">
              <a:ext uri="{FF2B5EF4-FFF2-40B4-BE49-F238E27FC236}">
                <a16:creationId xmlns:a16="http://schemas.microsoft.com/office/drawing/2014/main" id="{0AA74CAA-3EED-476D-AC2D-27A84130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859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 / 拒绝 / 暂缓什么</a:t>
            </a:r>
          </a:p>
        </p:txBody>
      </p:sp>
      <p:sp>
        <p:nvSpPr>
          <p:cNvPr id="17" name="p08-fl-1">
            <a:extLst xmlns:a="http://schemas.openxmlformats.org/drawingml/2006/main">
              <a:ext uri="{FF2B5EF4-FFF2-40B4-BE49-F238E27FC236}">
                <a16:creationId xmlns:a16="http://schemas.microsoft.com/office/drawing/2014/main" id="{FA293940-8B5F-4ACF-9B92-0435E190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859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取舍理由</a:t>
            </a:r>
          </a:p>
        </p:txBody>
      </p:sp>
      <p:sp>
        <p:nvSpPr>
          <p:cNvPr id="18" name="p08-fd-1">
            <a:extLst xmlns:a="http://schemas.openxmlformats.org/drawingml/2006/main">
              <a:ext uri="{FF2B5EF4-FFF2-40B4-BE49-F238E27FC236}">
                <a16:creationId xmlns:a16="http://schemas.microsoft.com/office/drawing/2014/main" id="{1D62BE9A-37E5-4FB7-A084-6ACC0DC9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85975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为什么这样取</a:t>
            </a:r>
          </a:p>
        </p:txBody>
      </p:sp>
      <p:sp>
        <p:nvSpPr>
          <p:cNvPr id="19" name="p08-fl-2">
            <a:extLst xmlns:a="http://schemas.openxmlformats.org/drawingml/2006/main">
              <a:ext uri="{FF2B5EF4-FFF2-40B4-BE49-F238E27FC236}">
                <a16:creationId xmlns:a16="http://schemas.microsoft.com/office/drawing/2014/main" id="{52F3AB34-A863-4D7D-A4B8-05B56BD2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860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20" name="p08-fd-2">
            <a:extLst xmlns:a="http://schemas.openxmlformats.org/drawingml/2006/main">
              <a:ext uri="{FF2B5EF4-FFF2-40B4-BE49-F238E27FC236}">
                <a16:creationId xmlns:a16="http://schemas.microsoft.com/office/drawing/2014/main" id="{23F209B5-4F7F-4583-AFAE-93B917D7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860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在什么条件下成立</a:t>
            </a:r>
          </a:p>
        </p:txBody>
      </p:sp>
      <p:sp>
        <p:nvSpPr>
          <p:cNvPr id="21" name="p08-fl-3">
            <a:extLst xmlns:a="http://schemas.openxmlformats.org/drawingml/2006/main">
              <a:ext uri="{FF2B5EF4-FFF2-40B4-BE49-F238E27FC236}">
                <a16:creationId xmlns:a16="http://schemas.microsoft.com/office/drawing/2014/main" id="{FD4F896A-2AFE-43E1-AB48-A03E8D65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28612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22" name="p08-fd-3">
            <a:extLst xmlns:a="http://schemas.openxmlformats.org/drawingml/2006/main">
              <a:ext uri="{FF2B5EF4-FFF2-40B4-BE49-F238E27FC236}">
                <a16:creationId xmlns:a16="http://schemas.microsoft.com/office/drawing/2014/main" id="{2E18443F-D470-444E-8BAF-DD2DFB34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86125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反馈来源 + 方案条目</a:t>
            </a:r>
          </a:p>
        </p:txBody>
      </p:sp>
      <p:sp>
        <p:nvSpPr>
          <p:cNvPr id="23" name="p08-fl-4">
            <a:extLst xmlns:a="http://schemas.openxmlformats.org/drawingml/2006/main">
              <a:ext uri="{FF2B5EF4-FFF2-40B4-BE49-F238E27FC236}">
                <a16:creationId xmlns:a16="http://schemas.microsoft.com/office/drawing/2014/main" id="{E1EBDAF5-08F3-46BD-8914-A8920B49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862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待验证状态</a:t>
            </a:r>
          </a:p>
        </p:txBody>
      </p:sp>
      <p:sp>
        <p:nvSpPr>
          <p:cNvPr id="24" name="p08-fd-4">
            <a:extLst xmlns:a="http://schemas.openxmlformats.org/drawingml/2006/main">
              <a:ext uri="{FF2B5EF4-FFF2-40B4-BE49-F238E27FC236}">
                <a16:creationId xmlns:a16="http://schemas.microsoft.com/office/drawing/2014/main" id="{0E53A6AE-D065-4505-BFB2-077F001E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862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哪些仍未确认</a:t>
            </a:r>
          </a:p>
        </p:txBody>
      </p:sp>
      <p:sp>
        <p:nvSpPr>
          <p:cNvPr id="25" name="p08-fl-5">
            <a:extLst xmlns:a="http://schemas.openxmlformats.org/drawingml/2006/main">
              <a:ext uri="{FF2B5EF4-FFF2-40B4-BE49-F238E27FC236}">
                <a16:creationId xmlns:a16="http://schemas.microsoft.com/office/drawing/2014/main" id="{1C9986AA-64AB-4BE1-86E1-568443EE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86275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</p:txBody>
      </p:sp>
      <p:sp>
        <p:nvSpPr>
          <p:cNvPr id="26" name="p08-fd-5">
            <a:extLst xmlns:a="http://schemas.openxmlformats.org/drawingml/2006/main">
              <a:ext uri="{FF2B5EF4-FFF2-40B4-BE49-F238E27FC236}">
                <a16:creationId xmlns:a16="http://schemas.microsoft.com/office/drawing/2014/main" id="{4DCB032D-48B8-4343-B9D1-99DBD7D3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86275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具体改哪一段</a:t>
            </a:r>
          </a:p>
        </p:txBody>
      </p:sp>
      <p:sp>
        <p:nvSpPr>
          <p:cNvPr id="27" name="p08-bottom">
            <a:extLst xmlns:a="http://schemas.openxmlformats.org/drawingml/2006/main">
              <a:ext uri="{FF2B5EF4-FFF2-40B4-BE49-F238E27FC236}">
                <a16:creationId xmlns:a16="http://schemas.microsoft.com/office/drawing/2014/main" id="{EA1BD43D-9FEB-46B5-8C32-6AE26418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578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拒绝不是“我不同意”：理由必须对应到方案中的具体条目。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可以整理线索，但不能替你作研究判断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can-title">
            <a:extLst xmlns:a="http://schemas.openxmlformats.org/drawingml/2006/main">
              <a:ext uri="{FF2B5EF4-FFF2-40B4-BE49-F238E27FC236}">
                <a16:creationId xmlns:a16="http://schemas.microsoft.com/office/drawing/2014/main" id="{0C66A0A4-6BEC-4239-A5FF-F49C5925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0965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可以</a:t>
            </a:r>
          </a:p>
        </p:txBody>
      </p:sp>
      <p:sp>
        <p:nvSpPr>
          <p:cNvPr id="7" name="p09-can-0">
            <a:extLst xmlns:a="http://schemas.openxmlformats.org/drawingml/2006/main">
              <a:ext uri="{FF2B5EF4-FFF2-40B4-BE49-F238E27FC236}">
                <a16:creationId xmlns:a16="http://schemas.microsoft.com/office/drawing/2014/main" id="{0C328B32-72CE-49E9-805D-3360B79A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转写同伴口述反馈</a:t>
            </a:r>
          </a:p>
        </p:txBody>
      </p:sp>
      <p:sp>
        <p:nvSpPr>
          <p:cNvPr id="8" name="p09-can-1">
            <a:extLst xmlns:a="http://schemas.openxmlformats.org/drawingml/2006/main">
              <a:ext uri="{FF2B5EF4-FFF2-40B4-BE49-F238E27FC236}">
                <a16:creationId xmlns:a16="http://schemas.microsoft.com/office/drawing/2014/main" id="{8B9BF61C-1DA0-4F2B-921A-162DB070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提示可能对应的 rubric 维度</a:t>
            </a:r>
          </a:p>
        </p:txBody>
      </p:sp>
      <p:sp>
        <p:nvSpPr>
          <p:cNvPr id="9" name="p09-can-2">
            <a:extLst xmlns:a="http://schemas.openxmlformats.org/drawingml/2006/main">
              <a:ext uri="{FF2B5EF4-FFF2-40B4-BE49-F238E27FC236}">
                <a16:creationId xmlns:a16="http://schemas.microsoft.com/office/drawing/2014/main" id="{95AA2C15-D374-4D91-8B8A-7F96CBC5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草拟拒绝理由或修改方向</a:t>
            </a:r>
          </a:p>
        </p:txBody>
      </p:sp>
      <p:sp>
        <p:nvSpPr>
          <p:cNvPr id="10" name="p09-no-title">
            <a:extLst xmlns:a="http://schemas.openxmlformats.org/drawingml/2006/main">
              <a:ext uri="{FF2B5EF4-FFF2-40B4-BE49-F238E27FC236}">
                <a16:creationId xmlns:a16="http://schemas.microsoft.com/office/drawing/2014/main" id="{062C02B8-5519-4124-96BD-C67D142A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00965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不可以</a:t>
            </a:r>
          </a:p>
        </p:txBody>
      </p:sp>
      <p:sp>
        <p:nvSpPr>
          <p:cNvPr id="11" name="p09-no-0">
            <a:extLst xmlns:a="http://schemas.openxmlformats.org/drawingml/2006/main">
              <a:ext uri="{FF2B5EF4-FFF2-40B4-BE49-F238E27FC236}">
                <a16:creationId xmlns:a16="http://schemas.microsoft.com/office/drawing/2014/main" id="{E59ED220-775A-4CD6-BEA1-C9E41B26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7526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判断反馈是否成立</a:t>
            </a:r>
          </a:p>
        </p:txBody>
      </p:sp>
      <p:sp>
        <p:nvSpPr>
          <p:cNvPr id="12" name="p09-no-1">
            <a:extLst xmlns:a="http://schemas.openxmlformats.org/drawingml/2006/main">
              <a:ext uri="{FF2B5EF4-FFF2-40B4-BE49-F238E27FC236}">
                <a16:creationId xmlns:a16="http://schemas.microsoft.com/office/drawing/2014/main" id="{BF1B0B92-0511-4951-9D99-30D35054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098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决定采纳、拒绝或暂缓</a:t>
            </a:r>
          </a:p>
        </p:txBody>
      </p:sp>
      <p:sp>
        <p:nvSpPr>
          <p:cNvPr id="13" name="p09-no-2">
            <a:extLst xmlns:a="http://schemas.openxmlformats.org/drawingml/2006/main">
              <a:ext uri="{FF2B5EF4-FFF2-40B4-BE49-F238E27FC236}">
                <a16:creationId xmlns:a16="http://schemas.microsoft.com/office/drawing/2014/main" id="{DC12E3C8-9D6F-4BD7-B74D-B39A555B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671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 代写理由、边界和影响工件</a:t>
            </a:r>
          </a:p>
        </p:txBody>
      </p:sp>
      <p:sp>
        <p:nvSpPr>
          <p:cNvPr id="14" name="p09-bottom">
            <a:extLst xmlns:a="http://schemas.openxmlformats.org/drawingml/2006/main">
              <a:ext uri="{FF2B5EF4-FFF2-40B4-BE49-F238E27FC236}">
                <a16:creationId xmlns:a16="http://schemas.microsoft.com/office/drawing/2014/main" id="{0C88AA03-CCF9-4E9F-82F5-5AD53B7F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57750"/>
            <a:ext cx="7239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人工核验前，AI 草拟决策表只能留在探索线索区。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演示上半程：第 7 课输出如何压缩成 3 分钟陈述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ase">
            <a:extLst xmlns:a="http://schemas.openxmlformats.org/drawingml/2006/main">
              <a:ext uri="{FF2B5EF4-FFF2-40B4-BE49-F238E27FC236}">
                <a16:creationId xmlns:a16="http://schemas.microsoft.com/office/drawing/2014/main" id="{3B0DEFAF-C88D-4249-8C1B-05CE1F39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课程教学案例｜结构化阅读卡与 AI 摘要限定条件遗漏率</a:t>
            </a:r>
          </a:p>
        </p:txBody>
      </p:sp>
      <p:sp>
        <p:nvSpPr>
          <p:cNvPr id="7" name="p10-left-title">
            <a:extLst xmlns:a="http://schemas.openxmlformats.org/drawingml/2006/main">
              <a:ext uri="{FF2B5EF4-FFF2-40B4-BE49-F238E27FC236}">
                <a16:creationId xmlns:a16="http://schemas.microsoft.com/office/drawing/2014/main" id="{A7DFC869-11C7-4B02-8FEA-FA03D04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7 课四项输入</a:t>
            </a:r>
          </a:p>
        </p:txBody>
      </p:sp>
      <p:sp>
        <p:nvSpPr>
          <p:cNvPr id="8" name="p10-il-0">
            <a:extLst xmlns:a="http://schemas.openxmlformats.org/drawingml/2006/main">
              <a:ext uri="{FF2B5EF4-FFF2-40B4-BE49-F238E27FC236}">
                <a16:creationId xmlns:a16="http://schemas.microsoft.com/office/drawing/2014/main" id="{ABFB8218-04E4-475C-91DC-EF505460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主机制</a:t>
            </a:r>
          </a:p>
        </p:txBody>
      </p:sp>
      <p:sp>
        <p:nvSpPr>
          <p:cNvPr id="9" name="p10-id-0">
            <a:extLst xmlns:a="http://schemas.openxmlformats.org/drawingml/2006/main">
              <a:ext uri="{FF2B5EF4-FFF2-40B4-BE49-F238E27FC236}">
                <a16:creationId xmlns:a16="http://schemas.microsoft.com/office/drawing/2014/main" id="{379A7C8D-39CE-4855-9CE8-6EEAE6D2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0002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字段约束 → 强制标注 → 错读更易暴露</a:t>
            </a:r>
          </a:p>
        </p:txBody>
      </p:sp>
      <p:sp>
        <p:nvSpPr>
          <p:cNvPr id="10" name="p10-il-1">
            <a:extLst xmlns:a="http://schemas.openxmlformats.org/drawingml/2006/main">
              <a:ext uri="{FF2B5EF4-FFF2-40B4-BE49-F238E27FC236}">
                <a16:creationId xmlns:a16="http://schemas.microsoft.com/office/drawing/2014/main" id="{1B97C646-F972-4F7D-A81D-024C8747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替代假设</a:t>
            </a:r>
          </a:p>
        </p:txBody>
      </p:sp>
      <p:sp>
        <p:nvSpPr>
          <p:cNvPr id="11" name="p10-id-1">
            <a:extLst xmlns:a="http://schemas.openxmlformats.org/drawingml/2006/main">
              <a:ext uri="{FF2B5EF4-FFF2-40B4-BE49-F238E27FC236}">
                <a16:creationId xmlns:a16="http://schemas.microsoft.com/office/drawing/2014/main" id="{D1A55143-936E-427B-831C-4BC52218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7241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A1 任务转移 / A2 标注假象 / A3 选择效应</a:t>
            </a:r>
          </a:p>
        </p:txBody>
      </p:sp>
      <p:sp>
        <p:nvSpPr>
          <p:cNvPr id="12" name="p10-il-2">
            <a:extLst xmlns:a="http://schemas.openxmlformats.org/drawingml/2006/main">
              <a:ext uri="{FF2B5EF4-FFF2-40B4-BE49-F238E27FC236}">
                <a16:creationId xmlns:a16="http://schemas.microsoft.com/office/drawing/2014/main" id="{B17DD8E2-771F-40F1-B32A-1A957286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实验草图</a:t>
            </a:r>
          </a:p>
        </p:txBody>
      </p:sp>
      <p:sp>
        <p:nvSpPr>
          <p:cNvPr id="13" name="p10-id-2">
            <a:extLst xmlns:a="http://schemas.openxmlformats.org/drawingml/2006/main">
              <a:ext uri="{FF2B5EF4-FFF2-40B4-BE49-F238E27FC236}">
                <a16:creationId xmlns:a16="http://schemas.microsoft.com/office/drawing/2014/main" id="{95DF9AA8-40B5-44F6-BE21-F8A24D67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4480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变量、baseline、停止条件、失败预案</a:t>
            </a:r>
          </a:p>
        </p:txBody>
      </p:sp>
      <p:sp>
        <p:nvSpPr>
          <p:cNvPr id="14" name="p10-il-3">
            <a:extLst xmlns:a="http://schemas.openxmlformats.org/drawingml/2006/main">
              <a:ext uri="{FF2B5EF4-FFF2-40B4-BE49-F238E27FC236}">
                <a16:creationId xmlns:a16="http://schemas.microsoft.com/office/drawing/2014/main" id="{CD2EF745-5A62-4FC3-AF8D-A68DC460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143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5" name="p10-id-3">
            <a:extLst xmlns:a="http://schemas.openxmlformats.org/drawingml/2006/main">
              <a:ext uri="{FF2B5EF4-FFF2-40B4-BE49-F238E27FC236}">
                <a16:creationId xmlns:a16="http://schemas.microsoft.com/office/drawing/2014/main" id="{1FB811C0-2E30-43E9-A351-B88F9197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171950"/>
            <a:ext cx="3333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用遗漏率，不用通用语言质量</a:t>
            </a:r>
          </a:p>
        </p:txBody>
      </p:sp>
      <p:sp>
        <p:nvSpPr>
          <p:cNvPr id="16" name="p10-arrow">
            <a:extLst xmlns:a="http://schemas.openxmlformats.org/drawingml/2006/main">
              <a:ext uri="{FF2B5EF4-FFF2-40B4-BE49-F238E27FC236}">
                <a16:creationId xmlns:a16="http://schemas.microsoft.com/office/drawing/2014/main" id="{9FFF4235-CD53-4731-A226-F738AA68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48000"/>
            <a:ext cx="723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0-right-title">
            <a:extLst xmlns:a="http://schemas.openxmlformats.org/drawingml/2006/main">
              <a:ext uri="{FF2B5EF4-FFF2-40B4-BE49-F238E27FC236}">
                <a16:creationId xmlns:a16="http://schemas.microsoft.com/office/drawing/2014/main" id="{5CEF2A88-7D77-4D73-8AF5-0133126D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2875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 分钟五段陈述</a:t>
            </a:r>
          </a:p>
        </p:txBody>
      </p:sp>
      <p:sp>
        <p:nvSpPr>
          <p:cNvPr id="18" name="p10-pn-0">
            <a:extLst xmlns:a="http://schemas.openxmlformats.org/drawingml/2006/main">
              <a:ext uri="{FF2B5EF4-FFF2-40B4-BE49-F238E27FC236}">
                <a16:creationId xmlns:a16="http://schemas.microsoft.com/office/drawing/2014/main" id="{EC12F104-5865-4887-849D-DE23E0B2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621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10-p-0">
            <a:extLst xmlns:a="http://schemas.openxmlformats.org/drawingml/2006/main">
              <a:ext uri="{FF2B5EF4-FFF2-40B4-BE49-F238E27FC236}">
                <a16:creationId xmlns:a16="http://schemas.microsoft.com/office/drawing/2014/main" id="{FD04D90A-9E25-4FD4-9C93-76CD2027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621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问题｜20 篇 CS 论文；不外推到长篇综述</a:t>
            </a:r>
          </a:p>
        </p:txBody>
      </p:sp>
      <p:sp>
        <p:nvSpPr>
          <p:cNvPr id="20" name="p10-pn-1">
            <a:extLst xmlns:a="http://schemas.openxmlformats.org/drawingml/2006/main">
              <a:ext uri="{FF2B5EF4-FFF2-40B4-BE49-F238E27FC236}">
                <a16:creationId xmlns:a16="http://schemas.microsoft.com/office/drawing/2014/main" id="{2394E5CF-75C4-4303-8F1C-FED8718C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19375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10-p-1">
            <a:extLst xmlns:a="http://schemas.openxmlformats.org/drawingml/2006/main">
              <a:ext uri="{FF2B5EF4-FFF2-40B4-BE49-F238E27FC236}">
                <a16:creationId xmlns:a16="http://schemas.microsoft.com/office/drawing/2014/main" id="{FBF55A2F-8DCA-4CAF-8D14-3FEECD7C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19375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证据｜E1 verified；E3 review 且样本小</a:t>
            </a:r>
          </a:p>
        </p:txBody>
      </p:sp>
      <p:sp>
        <p:nvSpPr>
          <p:cNvPr id="22" name="p10-pn-2">
            <a:extLst xmlns:a="http://schemas.openxmlformats.org/drawingml/2006/main">
              <a:ext uri="{FF2B5EF4-FFF2-40B4-BE49-F238E27FC236}">
                <a16:creationId xmlns:a16="http://schemas.microsoft.com/office/drawing/2014/main" id="{4D75DFF7-21D9-44EB-9596-1BC91248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660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10-p-2">
            <a:extLst xmlns:a="http://schemas.openxmlformats.org/drawingml/2006/main">
              <a:ext uri="{FF2B5EF4-FFF2-40B4-BE49-F238E27FC236}">
                <a16:creationId xmlns:a16="http://schemas.microsoft.com/office/drawing/2014/main" id="{72B703A7-878B-4CE8-A1EE-53823E8E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7660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机制｜主机制 + A1 任务转移</a:t>
            </a:r>
          </a:p>
        </p:txBody>
      </p:sp>
      <p:sp>
        <p:nvSpPr>
          <p:cNvPr id="24" name="p10-pn-3">
            <a:extLst xmlns:a="http://schemas.openxmlformats.org/drawingml/2006/main">
              <a:ext uri="{FF2B5EF4-FFF2-40B4-BE49-F238E27FC236}">
                <a16:creationId xmlns:a16="http://schemas.microsoft.com/office/drawing/2014/main" id="{1EB17033-F402-4460-9D9F-4696BAB9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10-p-3">
            <a:extLst xmlns:a="http://schemas.openxmlformats.org/drawingml/2006/main">
              <a:ext uri="{FF2B5EF4-FFF2-40B4-BE49-F238E27FC236}">
                <a16:creationId xmlns:a16="http://schemas.microsoft.com/office/drawing/2014/main" id="{C779B284-A877-4376-9228-3123144B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33825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验证｜同模型/论文/温度/长度；20×2×3</a:t>
            </a:r>
          </a:p>
        </p:txBody>
      </p:sp>
      <p:sp>
        <p:nvSpPr>
          <p:cNvPr id="26" name="p10-pn-4">
            <a:extLst xmlns:a="http://schemas.openxmlformats.org/drawingml/2006/main">
              <a:ext uri="{FF2B5EF4-FFF2-40B4-BE49-F238E27FC236}">
                <a16:creationId xmlns:a16="http://schemas.microsoft.com/office/drawing/2014/main" id="{8252DDF8-0980-4A77-9E54-463590AF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91050"/>
            <a:ext cx="4381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10-p-4">
            <a:extLst xmlns:a="http://schemas.openxmlformats.org/drawingml/2006/main">
              <a:ext uri="{FF2B5EF4-FFF2-40B4-BE49-F238E27FC236}">
                <a16:creationId xmlns:a16="http://schemas.microsoft.com/office/drawing/2014/main" id="{09FDFCBF-F1CC-4244-8CCF-20D7F798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10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风险｜A2 标注假象</a:t>
            </a:r>
          </a:p>
        </p:txBody>
      </p:sp>
      <p:sp>
        <p:nvSpPr>
          <p:cNvPr id="28" name="p10-bottom">
            <a:extLst xmlns:a="http://schemas.openxmlformats.org/drawingml/2006/main">
              <a:ext uri="{FF2B5EF4-FFF2-40B4-BE49-F238E27FC236}">
                <a16:creationId xmlns:a16="http://schemas.microsoft.com/office/drawing/2014/main" id="{293B021A-3A4F-492A-84E0-30F318E2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353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压缩不是删来源：每一段仍能回到上游工件。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演示下半程：三条反馈如何转成三种决策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feedback-title">
            <a:extLst xmlns:a="http://schemas.openxmlformats.org/drawingml/2006/main">
              <a:ext uri="{FF2B5EF4-FFF2-40B4-BE49-F238E27FC236}">
                <a16:creationId xmlns:a16="http://schemas.microsoft.com/office/drawing/2014/main" id="{256438CC-A33E-45D4-92BE-F56C92C6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同伴反馈</a:t>
            </a:r>
          </a:p>
        </p:txBody>
      </p:sp>
      <p:sp>
        <p:nvSpPr>
          <p:cNvPr id="7" name="p11-decision-title">
            <a:extLst xmlns:a="http://schemas.openxmlformats.org/drawingml/2006/main">
              <a:ext uri="{FF2B5EF4-FFF2-40B4-BE49-F238E27FC236}">
                <a16:creationId xmlns:a16="http://schemas.microsoft.com/office/drawing/2014/main" id="{0B953EF7-6FF8-46AA-A763-E2601103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9906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作者决策</a:t>
            </a:r>
          </a:p>
        </p:txBody>
      </p:sp>
      <p:sp>
        <p:nvSpPr>
          <p:cNvPr id="8" name="p11-dim-0">
            <a:extLst xmlns:a="http://schemas.openxmlformats.org/drawingml/2006/main">
              <a:ext uri="{FF2B5EF4-FFF2-40B4-BE49-F238E27FC236}">
                <a16:creationId xmlns:a16="http://schemas.microsoft.com/office/drawing/2014/main" id="{CA5F188A-97FE-46B3-8B9D-93DC737A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447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可检验性</a:t>
            </a:r>
          </a:p>
        </p:txBody>
      </p:sp>
      <p:sp>
        <p:nvSpPr>
          <p:cNvPr id="9" name="p11-fb-0">
            <a:extLst xmlns:a="http://schemas.openxmlformats.org/drawingml/2006/main">
              <a:ext uri="{FF2B5EF4-FFF2-40B4-BE49-F238E27FC236}">
                <a16:creationId xmlns:a16="http://schemas.microsoft.com/office/drawing/2014/main" id="{94F8B158-6DF1-4D4B-98AF-D48D3F3F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657350"/>
            <a:ext cx="3371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与主假设的区分实验未写清</a:t>
            </a:r>
          </a:p>
        </p:txBody>
      </p:sp>
      <p:sp>
        <p:nvSpPr>
          <p:cNvPr id="10" name="p11-arrow-0">
            <a:extLst xmlns:a="http://schemas.openxmlformats.org/drawingml/2006/main">
              <a:ext uri="{FF2B5EF4-FFF2-40B4-BE49-F238E27FC236}">
                <a16:creationId xmlns:a16="http://schemas.microsoft.com/office/drawing/2014/main" id="{503958AC-C06D-4BB1-AAD9-52127A1E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526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8745A"/>
                </a:solidFill>
              </a:defRPr>
            </a:pPr>
            <a:r>
              <a:rPr sz="2250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1-decision-0">
            <a:extLst xmlns:a="http://schemas.openxmlformats.org/drawingml/2006/main">
              <a:ext uri="{FF2B5EF4-FFF2-40B4-BE49-F238E27FC236}">
                <a16:creationId xmlns:a16="http://schemas.microsoft.com/office/drawing/2014/main" id="{61997539-B800-45C1-8990-127B9EE1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57350"/>
            <a:ext cx="1066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2" name="p11-reason-0">
            <a:extLst xmlns:a="http://schemas.openxmlformats.org/drawingml/2006/main">
              <a:ext uri="{FF2B5EF4-FFF2-40B4-BE49-F238E27FC236}">
                <a16:creationId xmlns:a16="http://schemas.microsoft.com/office/drawing/2014/main" id="{E0849412-1F0F-4E39-9A90-46894CE4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57350"/>
            <a:ext cx="3562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补实验规格 §假设对应</a:t>
            </a:r>
          </a:p>
        </p:txBody>
      </p:sp>
      <p:sp>
        <p:nvSpPr>
          <p:cNvPr id="13" name="p11-dim-1">
            <a:extLst xmlns:a="http://schemas.openxmlformats.org/drawingml/2006/main">
              <a:ext uri="{FF2B5EF4-FFF2-40B4-BE49-F238E27FC236}">
                <a16:creationId xmlns:a16="http://schemas.microsoft.com/office/drawing/2014/main" id="{A447E68A-B28B-4AAB-B5C0-EFE5E4DD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1447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泛化判断</a:t>
            </a:r>
          </a:p>
        </p:txBody>
      </p:sp>
      <p:sp>
        <p:nvSpPr>
          <p:cNvPr id="14" name="p11-fb-1">
            <a:extLst xmlns:a="http://schemas.openxmlformats.org/drawingml/2006/main">
              <a:ext uri="{FF2B5EF4-FFF2-40B4-BE49-F238E27FC236}">
                <a16:creationId xmlns:a16="http://schemas.microsoft.com/office/drawing/2014/main" id="{57D1F397-D158-4427-A0A4-D118C977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838450"/>
            <a:ext cx="3371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不公平（未指明哪一项）</a:t>
            </a:r>
          </a:p>
        </p:txBody>
      </p:sp>
      <p:sp>
        <p:nvSpPr>
          <p:cNvPr id="15" name="p11-arrow-1">
            <a:extLst xmlns:a="http://schemas.openxmlformats.org/drawingml/2006/main">
              <a:ext uri="{FF2B5EF4-FFF2-40B4-BE49-F238E27FC236}">
                <a16:creationId xmlns:a16="http://schemas.microsoft.com/office/drawing/2014/main" id="{49656CA5-FDD1-4BD4-8A72-4ACADEF6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337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11-decision-1">
            <a:extLst xmlns:a="http://schemas.openxmlformats.org/drawingml/2006/main">
              <a:ext uri="{FF2B5EF4-FFF2-40B4-BE49-F238E27FC236}">
                <a16:creationId xmlns:a16="http://schemas.microsoft.com/office/drawing/2014/main" id="{C2B9D0AD-81F6-4267-8BEC-3BED2E5B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066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7" name="p11-reason-1">
            <a:extLst xmlns:a="http://schemas.openxmlformats.org/drawingml/2006/main">
              <a:ext uri="{FF2B5EF4-FFF2-40B4-BE49-F238E27FC236}">
                <a16:creationId xmlns:a16="http://schemas.microsoft.com/office/drawing/2014/main" id="{5170B198-808C-4C70-82A6-59032268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562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未指向模型/温度/材料/长度</a:t>
            </a:r>
          </a:p>
        </p:txBody>
      </p:sp>
      <p:sp>
        <p:nvSpPr>
          <p:cNvPr id="18" name="p11-dim-2">
            <a:extLst xmlns:a="http://schemas.openxmlformats.org/drawingml/2006/main">
              <a:ext uri="{FF2B5EF4-FFF2-40B4-BE49-F238E27FC236}">
                <a16:creationId xmlns:a16="http://schemas.microsoft.com/office/drawing/2014/main" id="{43D4207C-467A-41E3-839B-532B9461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1447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问题重要性</a:t>
            </a:r>
          </a:p>
        </p:txBody>
      </p:sp>
      <p:sp>
        <p:nvSpPr>
          <p:cNvPr id="19" name="p11-fb-2">
            <a:extLst xmlns:a="http://schemas.openxmlformats.org/drawingml/2006/main">
              <a:ext uri="{FF2B5EF4-FFF2-40B4-BE49-F238E27FC236}">
                <a16:creationId xmlns:a16="http://schemas.microsoft.com/office/drawing/2014/main" id="{5668C631-DC52-45F4-8324-0A6ACED4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019550"/>
            <a:ext cx="3371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没说降低遗漏率会改变哪项阅读决策</a:t>
            </a:r>
          </a:p>
        </p:txBody>
      </p:sp>
      <p:sp>
        <p:nvSpPr>
          <p:cNvPr id="20" name="p11-arrow-2">
            <a:extLst xmlns:a="http://schemas.openxmlformats.org/drawingml/2006/main">
              <a:ext uri="{FF2B5EF4-FFF2-40B4-BE49-F238E27FC236}">
                <a16:creationId xmlns:a16="http://schemas.microsoft.com/office/drawing/2014/main" id="{971CC939-1419-445B-8B77-DE914F02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1480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A86C12"/>
                </a:solidFill>
              </a:defRPr>
            </a:pPr>
            <a:r>
              <a:rPr sz="2250" b="1">
                <a:solidFill>
                  <a:srgbClr val="A86C1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p11-decision-2">
            <a:extLst xmlns:a="http://schemas.openxmlformats.org/drawingml/2006/main">
              <a:ext uri="{FF2B5EF4-FFF2-40B4-BE49-F238E27FC236}">
                <a16:creationId xmlns:a16="http://schemas.microsoft.com/office/drawing/2014/main" id="{FB76C948-E5E9-4292-BE38-94CE3E1D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9550"/>
            <a:ext cx="1066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暂缓</a:t>
            </a:r>
          </a:p>
        </p:txBody>
      </p:sp>
      <p:sp>
        <p:nvSpPr>
          <p:cNvPr id="22" name="p11-reason-2">
            <a:extLst xmlns:a="http://schemas.openxmlformats.org/drawingml/2006/main">
              <a:ext uri="{FF2B5EF4-FFF2-40B4-BE49-F238E27FC236}">
                <a16:creationId xmlns:a16="http://schemas.microsoft.com/office/drawing/2014/main" id="{A0F4DEC9-4019-4FA8-BCF9-2BE627DF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19550"/>
            <a:ext cx="3562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先补结果将触发的行动</a:t>
            </a:r>
          </a:p>
        </p:txBody>
      </p:sp>
      <p:sp>
        <p:nvSpPr>
          <p:cNvPr id="23" name="p11-bottom">
            <a:extLst xmlns:a="http://schemas.openxmlformats.org/drawingml/2006/main">
              <a:ext uri="{FF2B5EF4-FFF2-40B4-BE49-F238E27FC236}">
                <a16:creationId xmlns:a16="http://schemas.microsoft.com/office/drawing/2014/main" id="{78BD0069-27CD-4D7E-8B07-50CD488D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340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拒绝要有具体依据；暂缓要进入待验证状态；采纳要写影响工件。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8 课只补两项判断门材料，其余缺口留到第 9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table-h-0">
            <a:extLst xmlns:a="http://schemas.openxmlformats.org/drawingml/2006/main">
              <a:ext uri="{FF2B5EF4-FFF2-40B4-BE49-F238E27FC236}">
                <a16:creationId xmlns:a16="http://schemas.microsoft.com/office/drawing/2014/main" id="{E6B8FEF5-5133-4054-BB72-50F9377F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523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判断门条件</a:t>
            </a:r>
          </a:p>
        </p:txBody>
      </p:sp>
      <p:sp>
        <p:nvSpPr>
          <p:cNvPr id="7" name="p12-table-h-1">
            <a:extLst xmlns:a="http://schemas.openxmlformats.org/drawingml/2006/main">
              <a:ext uri="{FF2B5EF4-FFF2-40B4-BE49-F238E27FC236}">
                <a16:creationId xmlns:a16="http://schemas.microsoft.com/office/drawing/2014/main" id="{F33868FA-E118-4618-A144-A738C5DD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990600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8 课状态</a:t>
            </a:r>
          </a:p>
        </p:txBody>
      </p:sp>
      <p:sp>
        <p:nvSpPr>
          <p:cNvPr id="8" name="p12-table-h-2">
            <a:extLst xmlns:a="http://schemas.openxmlformats.org/drawingml/2006/main">
              <a:ext uri="{FF2B5EF4-FFF2-40B4-BE49-F238E27FC236}">
                <a16:creationId xmlns:a16="http://schemas.microsoft.com/office/drawing/2014/main" id="{9DEF3E94-2164-4523-A42B-8098C121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99060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最小缺口</a:t>
            </a:r>
          </a:p>
        </p:txBody>
      </p:sp>
      <p:sp>
        <p:nvSpPr>
          <p:cNvPr id="9" name="p12-table-r0-0">
            <a:extLst xmlns:a="http://schemas.openxmlformats.org/drawingml/2006/main">
              <a:ext uri="{FF2B5EF4-FFF2-40B4-BE49-F238E27FC236}">
                <a16:creationId xmlns:a16="http://schemas.microsoft.com/office/drawing/2014/main" id="{D1F6B55F-2B58-42E4-B472-CEABB7B0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可执行 baseline</a:t>
            </a:r>
          </a:p>
        </p:txBody>
      </p:sp>
      <p:sp>
        <p:nvSpPr>
          <p:cNvPr id="10" name="p12-table-r0-1">
            <a:extLst xmlns:a="http://schemas.openxmlformats.org/drawingml/2006/main">
              <a:ext uri="{FF2B5EF4-FFF2-40B4-BE49-F238E27FC236}">
                <a16:creationId xmlns:a16="http://schemas.microsoft.com/office/drawing/2014/main" id="{7EF6F931-9D17-47DC-82C7-287D84E7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9065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1" name="p12-table-r0-2">
            <a:extLst xmlns:a="http://schemas.openxmlformats.org/drawingml/2006/main">
              <a:ext uri="{FF2B5EF4-FFF2-40B4-BE49-F238E27FC236}">
                <a16:creationId xmlns:a16="http://schemas.microsoft.com/office/drawing/2014/main" id="{B1B653BA-9F0F-4DA1-8865-5D719F9E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9065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课跑通</a:t>
            </a:r>
          </a:p>
        </p:txBody>
      </p:sp>
      <p:sp>
        <p:nvSpPr>
          <p:cNvPr id="12" name="p12-table-r1-0">
            <a:extLst xmlns:a="http://schemas.openxmlformats.org/drawingml/2006/main">
              <a:ext uri="{FF2B5EF4-FFF2-40B4-BE49-F238E27FC236}">
                <a16:creationId xmlns:a16="http://schemas.microsoft.com/office/drawing/2014/main" id="{9D286DB5-2773-4CB7-9AB5-92A0D91A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7642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 / 材料 / 指标 / 限制</a:t>
            </a:r>
          </a:p>
        </p:txBody>
      </p:sp>
      <p:sp>
        <p:nvSpPr>
          <p:cNvPr id="13" name="p12-table-r1-1">
            <a:extLst xmlns:a="http://schemas.openxmlformats.org/drawingml/2006/main">
              <a:ext uri="{FF2B5EF4-FFF2-40B4-BE49-F238E27FC236}">
                <a16:creationId xmlns:a16="http://schemas.microsoft.com/office/drawing/2014/main" id="{772BB523-39B3-4136-BCA0-A5EE8A47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7642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4" name="p12-table-r1-2">
            <a:extLst xmlns:a="http://schemas.openxmlformats.org/drawingml/2006/main">
              <a:ext uri="{FF2B5EF4-FFF2-40B4-BE49-F238E27FC236}">
                <a16:creationId xmlns:a16="http://schemas.microsoft.com/office/drawing/2014/main" id="{FB5692A4-5079-45D8-8471-84CA0F36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7642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课补齐</a:t>
            </a:r>
          </a:p>
        </p:txBody>
      </p:sp>
      <p:sp>
        <p:nvSpPr>
          <p:cNvPr id="15" name="p12-table-r2-0">
            <a:extLst xmlns:a="http://schemas.openxmlformats.org/drawingml/2006/main">
              <a:ext uri="{FF2B5EF4-FFF2-40B4-BE49-F238E27FC236}">
                <a16:creationId xmlns:a16="http://schemas.microsoft.com/office/drawing/2014/main" id="{63887940-5E3E-48C6-B0F7-E844CCEE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 / 配置 / 随机种子</a:t>
            </a:r>
          </a:p>
        </p:txBody>
      </p:sp>
      <p:sp>
        <p:nvSpPr>
          <p:cNvPr id="16" name="p12-table-r2-1">
            <a:extLst xmlns:a="http://schemas.openxmlformats.org/drawingml/2006/main">
              <a:ext uri="{FF2B5EF4-FFF2-40B4-BE49-F238E27FC236}">
                <a16:creationId xmlns:a16="http://schemas.microsoft.com/office/drawing/2014/main" id="{9CAB6DD9-82B7-4F3A-936C-AAD08D2D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6220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未覆盖</a:t>
            </a:r>
          </a:p>
        </p:txBody>
      </p:sp>
      <p:sp>
        <p:nvSpPr>
          <p:cNvPr id="17" name="p12-table-r2-2">
            <a:extLst xmlns:a="http://schemas.openxmlformats.org/drawingml/2006/main">
              <a:ext uri="{FF2B5EF4-FFF2-40B4-BE49-F238E27FC236}">
                <a16:creationId xmlns:a16="http://schemas.microsoft.com/office/drawing/2014/main" id="{F6724537-6597-410B-A267-425C03BD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6220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课记录</a:t>
            </a:r>
          </a:p>
        </p:txBody>
      </p:sp>
      <p:sp>
        <p:nvSpPr>
          <p:cNvPr id="18" name="p12-table-r3-0">
            <a:extLst xmlns:a="http://schemas.openxmlformats.org/drawingml/2006/main">
              <a:ext uri="{FF2B5EF4-FFF2-40B4-BE49-F238E27FC236}">
                <a16:creationId xmlns:a16="http://schemas.microsoft.com/office/drawing/2014/main" id="{D81C4543-8EA9-41F3-B515-E88458E9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4797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2 条研究判断</a:t>
            </a:r>
          </a:p>
        </p:txBody>
      </p:sp>
      <p:sp>
        <p:nvSpPr>
          <p:cNvPr id="19" name="p12-table-r3-1">
            <a:extLst xmlns:a="http://schemas.openxmlformats.org/drawingml/2006/main">
              <a:ext uri="{FF2B5EF4-FFF2-40B4-BE49-F238E27FC236}">
                <a16:creationId xmlns:a16="http://schemas.microsoft.com/office/drawing/2014/main" id="{1336ED1B-8250-4B36-9792-4E792F72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4797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本课补入</a:t>
            </a:r>
          </a:p>
        </p:txBody>
      </p:sp>
      <p:sp>
        <p:nvSpPr>
          <p:cNvPr id="20" name="p12-table-r3-2">
            <a:extLst xmlns:a="http://schemas.openxmlformats.org/drawingml/2006/main">
              <a:ext uri="{FF2B5EF4-FFF2-40B4-BE49-F238E27FC236}">
                <a16:creationId xmlns:a16="http://schemas.microsoft.com/office/drawing/2014/main" id="{81A3BD01-411F-425D-A283-BB32F8FF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4797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合并决策表</a:t>
            </a:r>
          </a:p>
        </p:txBody>
      </p:sp>
      <p:sp>
        <p:nvSpPr>
          <p:cNvPr id="21" name="p12-table-r4-0">
            <a:extLst xmlns:a="http://schemas.openxmlformats.org/drawingml/2006/main">
              <a:ext uri="{FF2B5EF4-FFF2-40B4-BE49-F238E27FC236}">
                <a16:creationId xmlns:a16="http://schemas.microsoft.com/office/drawing/2014/main" id="{1F964A16-EFBE-47CF-9ACC-CA317899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实验规格完整</a:t>
            </a:r>
          </a:p>
        </p:txBody>
      </p:sp>
      <p:sp>
        <p:nvSpPr>
          <p:cNvPr id="22" name="p12-table-r4-1">
            <a:extLst xmlns:a="http://schemas.openxmlformats.org/drawingml/2006/main">
              <a:ext uri="{FF2B5EF4-FFF2-40B4-BE49-F238E27FC236}">
                <a16:creationId xmlns:a16="http://schemas.microsoft.com/office/drawing/2014/main" id="{1276F2EC-F696-4423-911E-02FCFB0D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7 课草图 + 本课反馈</a:t>
            </a:r>
          </a:p>
        </p:txBody>
      </p:sp>
      <p:sp>
        <p:nvSpPr>
          <p:cNvPr id="23" name="p12-table-r4-2">
            <a:extLst xmlns:a="http://schemas.openxmlformats.org/drawingml/2006/main">
              <a:ext uri="{FF2B5EF4-FFF2-40B4-BE49-F238E27FC236}">
                <a16:creationId xmlns:a16="http://schemas.microsoft.com/office/drawing/2014/main" id="{FEE6C866-1A61-4E8A-AA3D-CF5D99B0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按反馈修订</a:t>
            </a:r>
          </a:p>
        </p:txBody>
      </p:sp>
      <p:sp>
        <p:nvSpPr>
          <p:cNvPr id="24" name="p12-table-r5-0">
            <a:extLst xmlns:a="http://schemas.openxmlformats.org/drawingml/2006/main">
              <a:ext uri="{FF2B5EF4-FFF2-40B4-BE49-F238E27FC236}">
                <a16:creationId xmlns:a16="http://schemas.microsoft.com/office/drawing/2014/main" id="{A4863F5B-7092-477C-8E27-D033D7D4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952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同伴反馈处理记录</a:t>
            </a:r>
          </a:p>
        </p:txBody>
      </p:sp>
      <p:sp>
        <p:nvSpPr>
          <p:cNvPr id="25" name="p12-table-r5-1">
            <a:extLst xmlns:a="http://schemas.openxmlformats.org/drawingml/2006/main">
              <a:ext uri="{FF2B5EF4-FFF2-40B4-BE49-F238E27FC236}">
                <a16:creationId xmlns:a16="http://schemas.microsoft.com/office/drawing/2014/main" id="{AD3DCBBF-6A9A-4066-9376-03AEEC72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81952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本课产出</a:t>
            </a:r>
          </a:p>
        </p:txBody>
      </p:sp>
      <p:sp>
        <p:nvSpPr>
          <p:cNvPr id="26" name="p12-table-r5-2">
            <a:extLst xmlns:a="http://schemas.openxmlformats.org/drawingml/2006/main">
              <a:ext uri="{FF2B5EF4-FFF2-40B4-BE49-F238E27FC236}">
                <a16:creationId xmlns:a16="http://schemas.microsoft.com/office/drawing/2014/main" id="{20DAD266-348B-402D-BECA-CE7D5E69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952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27" name="p12-table-r6-0">
            <a:extLst xmlns:a="http://schemas.openxmlformats.org/drawingml/2006/main">
              <a:ext uri="{FF2B5EF4-FFF2-40B4-BE49-F238E27FC236}">
                <a16:creationId xmlns:a16="http://schemas.microsoft.com/office/drawing/2014/main" id="{B45BBEA8-8600-46D2-908C-8C92E677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最大风险与失败预案</a:t>
            </a:r>
          </a:p>
        </p:txBody>
      </p:sp>
      <p:sp>
        <p:nvSpPr>
          <p:cNvPr id="28" name="p12-table-r6-1">
            <a:extLst xmlns:a="http://schemas.openxmlformats.org/drawingml/2006/main">
              <a:ext uri="{FF2B5EF4-FFF2-40B4-BE49-F238E27FC236}">
                <a16:creationId xmlns:a16="http://schemas.microsoft.com/office/drawing/2014/main" id="{76BA42FB-F05A-46B8-923E-C1B98F63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本课产出</a:t>
            </a:r>
          </a:p>
        </p:txBody>
      </p:sp>
      <p:sp>
        <p:nvSpPr>
          <p:cNvPr id="29" name="p12-table-r6-2">
            <a:extLst xmlns:a="http://schemas.openxmlformats.org/drawingml/2006/main">
              <a:ext uri="{FF2B5EF4-FFF2-40B4-BE49-F238E27FC236}">
                <a16:creationId xmlns:a16="http://schemas.microsoft.com/office/drawing/2014/main" id="{4263C81F-F2C1-4657-9A84-7CB19826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05300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30" name="p12-table-r7-0">
            <a:extLst xmlns:a="http://schemas.openxmlformats.org/drawingml/2006/main">
              <a:ext uri="{FF2B5EF4-FFF2-40B4-BE49-F238E27FC236}">
                <a16:creationId xmlns:a16="http://schemas.microsoft.com/office/drawing/2014/main" id="{344DC2EA-4906-4654-8653-97D88F0E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5238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迁移完整项目模板</a:t>
            </a:r>
          </a:p>
        </p:txBody>
      </p:sp>
      <p:sp>
        <p:nvSpPr>
          <p:cNvPr id="31" name="p12-table-r7-1">
            <a:extLst xmlns:a="http://schemas.openxmlformats.org/drawingml/2006/main">
              <a:ext uri="{FF2B5EF4-FFF2-40B4-BE49-F238E27FC236}">
                <a16:creationId xmlns:a16="http://schemas.microsoft.com/office/drawing/2014/main" id="{37E30345-23A0-4CE3-AB5E-CBB9878D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91075"/>
            <a:ext cx="26670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未覆盖</a:t>
            </a:r>
          </a:p>
        </p:txBody>
      </p:sp>
      <p:sp>
        <p:nvSpPr>
          <p:cNvPr id="32" name="p12-table-r7-2">
            <a:extLst xmlns:a="http://schemas.openxmlformats.org/drawingml/2006/main">
              <a:ext uri="{FF2B5EF4-FFF2-40B4-BE49-F238E27FC236}">
                <a16:creationId xmlns:a16="http://schemas.microsoft.com/office/drawing/2014/main" id="{B9908454-87AF-4644-8D20-2E732848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91075"/>
            <a:ext cx="295275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9 课迁移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1150208F-DA81-45FE-9964-4A2000E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102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本课直接补：同伴反馈处理记录 + 至少 2 条研究判断。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实践：完成陈述、互查、决策与判断门预检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time">
            <a:extLst xmlns:a="http://schemas.openxmlformats.org/drawingml/2006/main">
              <a:ext uri="{FF2B5EF4-FFF2-40B4-BE49-F238E27FC236}">
                <a16:creationId xmlns:a16="http://schemas.microsoft.com/office/drawing/2014/main" id="{D863F1FF-305B-4184-AEFA-484396F4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87630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42:30–85:00｜停留本页</a:t>
            </a:r>
          </a:p>
        </p:txBody>
      </p:sp>
      <p:sp>
        <p:nvSpPr>
          <p:cNvPr id="7" name="p13-left-title">
            <a:extLst xmlns:a="http://schemas.openxmlformats.org/drawingml/2006/main">
              <a:ext uri="{FF2B5EF4-FFF2-40B4-BE49-F238E27FC236}">
                <a16:creationId xmlns:a16="http://schemas.microsoft.com/office/drawing/2014/main" id="{39723C7C-A528-4AC2-9EE5-545ABF65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四项任务</a:t>
            </a:r>
          </a:p>
        </p:txBody>
      </p:sp>
      <p:sp>
        <p:nvSpPr>
          <p:cNvPr id="8" name="p13-line-0">
            <a:extLst xmlns:a="http://schemas.openxmlformats.org/drawingml/2006/main">
              <a:ext uri="{FF2B5EF4-FFF2-40B4-BE49-F238E27FC236}">
                <a16:creationId xmlns:a16="http://schemas.microsoft.com/office/drawing/2014/main" id="{9CAC97D2-1F41-4D87-B7B4-00A8442B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9150" y="2195513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3-n-0">
            <a:extLst xmlns:a="http://schemas.openxmlformats.org/drawingml/2006/main">
              <a:ext uri="{FF2B5EF4-FFF2-40B4-BE49-F238E27FC236}">
                <a16:creationId xmlns:a16="http://schemas.microsoft.com/office/drawing/2014/main" id="{B545FDBA-1C4D-43C0-9406-71551FC3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p13-task-0">
            <a:extLst xmlns:a="http://schemas.openxmlformats.org/drawingml/2006/main">
              <a:ext uri="{FF2B5EF4-FFF2-40B4-BE49-F238E27FC236}">
                <a16:creationId xmlns:a16="http://schemas.microsoft.com/office/drawing/2014/main" id="{DD2C1EE4-D7D5-4D05-A0E6-6148FDB6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8115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补全 3 分钟五段陈述稿</a:t>
            </a:r>
          </a:p>
        </p:txBody>
      </p:sp>
      <p:sp>
        <p:nvSpPr>
          <p:cNvPr id="11" name="p13-line-1">
            <a:extLst xmlns:a="http://schemas.openxmlformats.org/drawingml/2006/main">
              <a:ext uri="{FF2B5EF4-FFF2-40B4-BE49-F238E27FC236}">
                <a16:creationId xmlns:a16="http://schemas.microsoft.com/office/drawing/2014/main" id="{9AB920D7-1730-439C-9C4C-461B092A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9150" y="3014663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3-n-1">
            <a:extLst xmlns:a="http://schemas.openxmlformats.org/drawingml/2006/main">
              <a:ext uri="{FF2B5EF4-FFF2-40B4-BE49-F238E27FC236}">
                <a16:creationId xmlns:a16="http://schemas.microsoft.com/office/drawing/2014/main" id="{DD87D80E-BD91-4EE6-8D01-BA9F7C8C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3-task-1">
            <a:extLst xmlns:a="http://schemas.openxmlformats.org/drawingml/2006/main">
              <a:ext uri="{FF2B5EF4-FFF2-40B4-BE49-F238E27FC236}">
                <a16:creationId xmlns:a16="http://schemas.microsoft.com/office/drawing/2014/main" id="{2575BB4F-B39F-4157-A3A4-1BADA18D4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每人 3 分钟陈述 + 2 分钟反馈</a:t>
            </a:r>
          </a:p>
        </p:txBody>
      </p:sp>
      <p:sp>
        <p:nvSpPr>
          <p:cNvPr id="14" name="p13-line-2">
            <a:extLst xmlns:a="http://schemas.openxmlformats.org/drawingml/2006/main">
              <a:ext uri="{FF2B5EF4-FFF2-40B4-BE49-F238E27FC236}">
                <a16:creationId xmlns:a16="http://schemas.microsoft.com/office/drawing/2014/main" id="{872BC48B-61EB-46E6-A9E9-C7A7C49E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9150" y="3833813"/>
            <a:ext cx="304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13-n-2">
            <a:extLst xmlns:a="http://schemas.openxmlformats.org/drawingml/2006/main">
              <a:ext uri="{FF2B5EF4-FFF2-40B4-BE49-F238E27FC236}">
                <a16:creationId xmlns:a16="http://schemas.microsoft.com/office/drawing/2014/main" id="{B7A8A350-2231-4D43-BB99-AA5492A5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3-task-2">
            <a:extLst xmlns:a="http://schemas.openxmlformats.org/drawingml/2006/main">
              <a:ext uri="{FF2B5EF4-FFF2-40B4-BE49-F238E27FC236}">
                <a16:creationId xmlns:a16="http://schemas.microsoft.com/office/drawing/2014/main" id="{F60E6896-1CCC-4B32-BEE2-097DA5C5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1945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2 条六字段决策：1 采纳 + 1 拒绝/暂缓</a:t>
            </a:r>
          </a:p>
        </p:txBody>
      </p:sp>
      <p:sp>
        <p:nvSpPr>
          <p:cNvPr id="17" name="p13-n-3">
            <a:extLst xmlns:a="http://schemas.openxmlformats.org/drawingml/2006/main">
              <a:ext uri="{FF2B5EF4-FFF2-40B4-BE49-F238E27FC236}">
                <a16:creationId xmlns:a16="http://schemas.microsoft.com/office/drawing/2014/main" id="{EBE35CF5-CE82-44B7-AB99-1C60598F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495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3-task-3">
            <a:extLst xmlns:a="http://schemas.openxmlformats.org/drawingml/2006/main">
              <a:ext uri="{FF2B5EF4-FFF2-40B4-BE49-F238E27FC236}">
                <a16:creationId xmlns:a16="http://schemas.microsoft.com/office/drawing/2014/main" id="{15C25A38-E2AF-45F3-93E6-A14F5EAD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38600"/>
            <a:ext cx="561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列出判断门已满足 / 部分 / 未覆盖项</a:t>
            </a:r>
          </a:p>
        </p:txBody>
      </p:sp>
      <p:sp>
        <p:nvSpPr>
          <p:cNvPr id="19" name="p13-divider">
            <a:extLst xmlns:a="http://schemas.openxmlformats.org/drawingml/2006/main">
              <a:ext uri="{FF2B5EF4-FFF2-40B4-BE49-F238E27FC236}">
                <a16:creationId xmlns:a16="http://schemas.microsoft.com/office/drawing/2014/main" id="{B49550F9-BFC0-4BD8-BD43-EEAB4A0E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91150" y="3128963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3-right-title">
            <a:extLst xmlns:a="http://schemas.openxmlformats.org/drawingml/2006/main">
              <a:ext uri="{FF2B5EF4-FFF2-40B4-BE49-F238E27FC236}">
                <a16:creationId xmlns:a16="http://schemas.microsoft.com/office/drawing/2014/main" id="{A34AE997-4B34-4704-8968-B3AF578E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33500"/>
            <a:ext cx="3543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时间切换</a:t>
            </a:r>
          </a:p>
        </p:txBody>
      </p:sp>
      <p:sp>
        <p:nvSpPr>
          <p:cNvPr id="21" name="p13-time-0">
            <a:extLst xmlns:a="http://schemas.openxmlformats.org/drawingml/2006/main">
              <a:ext uri="{FF2B5EF4-FFF2-40B4-BE49-F238E27FC236}">
                <a16:creationId xmlns:a16="http://schemas.microsoft.com/office/drawing/2014/main" id="{47841AD5-5F3F-4AD8-84F9-CE6D5E62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9431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42:30–45:00</a:t>
            </a:r>
          </a:p>
        </p:txBody>
      </p:sp>
      <p:sp>
        <p:nvSpPr>
          <p:cNvPr id="22" name="p13-phase-0">
            <a:extLst xmlns:a="http://schemas.openxmlformats.org/drawingml/2006/main">
              <a:ext uri="{FF2B5EF4-FFF2-40B4-BE49-F238E27FC236}">
                <a16:creationId xmlns:a16="http://schemas.microsoft.com/office/drawing/2014/main" id="{2F4C7E73-A61C-4E30-A436-64985DB1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43100"/>
            <a:ext cx="1885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陈述准备 + 分组确认</a:t>
            </a:r>
          </a:p>
        </p:txBody>
      </p:sp>
      <p:sp>
        <p:nvSpPr>
          <p:cNvPr id="23" name="p13-time-1">
            <a:extLst xmlns:a="http://schemas.openxmlformats.org/drawingml/2006/main">
              <a:ext uri="{FF2B5EF4-FFF2-40B4-BE49-F238E27FC236}">
                <a16:creationId xmlns:a16="http://schemas.microsoft.com/office/drawing/2014/main" id="{85CFDD4B-8D47-4027-9BA8-7E5B6E4B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575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45:00–70:00</a:t>
            </a:r>
          </a:p>
        </p:txBody>
      </p:sp>
      <p:sp>
        <p:nvSpPr>
          <p:cNvPr id="24" name="p13-phase-1">
            <a:extLst xmlns:a="http://schemas.openxmlformats.org/drawingml/2006/main">
              <a:ext uri="{FF2B5EF4-FFF2-40B4-BE49-F238E27FC236}">
                <a16:creationId xmlns:a16="http://schemas.microsoft.com/office/drawing/2014/main" id="{E7D227BF-CC32-4DCB-8FBB-396940C5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857500"/>
            <a:ext cx="1885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同伴互查</a:t>
            </a:r>
          </a:p>
        </p:txBody>
      </p:sp>
      <p:sp>
        <p:nvSpPr>
          <p:cNvPr id="25" name="p13-time-2">
            <a:extLst xmlns:a="http://schemas.openxmlformats.org/drawingml/2006/main">
              <a:ext uri="{FF2B5EF4-FFF2-40B4-BE49-F238E27FC236}">
                <a16:creationId xmlns:a16="http://schemas.microsoft.com/office/drawing/2014/main" id="{E429A585-23D1-4DE3-8AA0-A8455019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719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70:00–85:00</a:t>
            </a:r>
          </a:p>
        </p:txBody>
      </p:sp>
      <p:sp>
        <p:nvSpPr>
          <p:cNvPr id="26" name="p13-phase-2">
            <a:extLst xmlns:a="http://schemas.openxmlformats.org/drawingml/2006/main">
              <a:ext uri="{FF2B5EF4-FFF2-40B4-BE49-F238E27FC236}">
                <a16:creationId xmlns:a16="http://schemas.microsoft.com/office/drawing/2014/main" id="{571B609D-4FC8-4D8E-8A63-80AECB7C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771900"/>
            <a:ext cx="18859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采纳决策 + 预检</a:t>
            </a:r>
          </a:p>
        </p:txBody>
      </p:sp>
      <p:sp>
        <p:nvSpPr>
          <p:cNvPr id="27" name="p13-fallback">
            <a:extLst xmlns:a="http://schemas.openxmlformats.org/drawingml/2006/main">
              <a:ext uri="{FF2B5EF4-FFF2-40B4-BE49-F238E27FC236}">
                <a16:creationId xmlns:a16="http://schemas.microsoft.com/office/drawing/2014/main" id="{254F1080-94B9-4090-B2D7-8F183E81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762500"/>
            <a:ext cx="3600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无网络：用 Markdown 或纸面完成同一链路；不逐台排障。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退出卡：把今天的反馈变成第 9 课的最小行动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left-title">
            <a:extLst xmlns:a="http://schemas.openxmlformats.org/drawingml/2006/main">
              <a:ext uri="{FF2B5EF4-FFF2-40B4-BE49-F238E27FC236}">
                <a16:creationId xmlns:a16="http://schemas.microsoft.com/office/drawing/2014/main" id="{BBB8BF0C-9BA3-4BA2-B50C-9C5C0F8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715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4-n-0">
            <a:extLst xmlns:a="http://schemas.openxmlformats.org/drawingml/2006/main">
              <a:ext uri="{FF2B5EF4-FFF2-40B4-BE49-F238E27FC236}">
                <a16:creationId xmlns:a16="http://schemas.microsoft.com/office/drawing/2014/main" id="{36072E5B-59AE-4D20-85B3-5912442A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4-q-0">
            <a:extLst xmlns:a="http://schemas.openxmlformats.org/drawingml/2006/main">
              <a:ext uri="{FF2B5EF4-FFF2-40B4-BE49-F238E27FC236}">
                <a16:creationId xmlns:a16="http://schemas.microsoft.com/office/drawing/2014/main" id="{59A69AF3-9CE9-4E93-A95B-B0BDF989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811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四维诊断中，哪一维最薄弱？边界是否清楚？</a:t>
            </a:r>
          </a:p>
        </p:txBody>
      </p:sp>
      <p:sp>
        <p:nvSpPr>
          <p:cNvPr id="9" name="p14-n-1">
            <a:extLst xmlns:a="http://schemas.openxmlformats.org/drawingml/2006/main">
              <a:ext uri="{FF2B5EF4-FFF2-40B4-BE49-F238E27FC236}">
                <a16:creationId xmlns:a16="http://schemas.microsoft.com/office/drawing/2014/main" id="{5E8C0A6C-C65F-4B13-9D88-7DE11903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4-q-1">
            <a:extLst xmlns:a="http://schemas.openxmlformats.org/drawingml/2006/main">
              <a:ext uri="{FF2B5EF4-FFF2-40B4-BE49-F238E27FC236}">
                <a16:creationId xmlns:a16="http://schemas.microsoft.com/office/drawing/2014/main" id="{2D9E24BC-2837-49FA-AFC3-6156B5D2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收到的哪条反馈最可执行？</a:t>
            </a:r>
          </a:p>
        </p:txBody>
      </p:sp>
      <p:sp>
        <p:nvSpPr>
          <p:cNvPr id="11" name="p14-n-2">
            <a:extLst xmlns:a="http://schemas.openxmlformats.org/drawingml/2006/main">
              <a:ext uri="{FF2B5EF4-FFF2-40B4-BE49-F238E27FC236}">
                <a16:creationId xmlns:a16="http://schemas.microsoft.com/office/drawing/2014/main" id="{5B461BCE-7AD0-4F34-9B01-D7E2252B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4-q-2">
            <a:extLst xmlns:a="http://schemas.openxmlformats.org/drawingml/2006/main">
              <a:ext uri="{FF2B5EF4-FFF2-40B4-BE49-F238E27FC236}">
                <a16:creationId xmlns:a16="http://schemas.microsoft.com/office/drawing/2014/main" id="{18907D16-BF3B-4F1C-95E3-F35177D2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1945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你采纳 / 拒绝 / 暂缓了什么？理由指向哪里？</a:t>
            </a:r>
          </a:p>
        </p:txBody>
      </p:sp>
      <p:sp>
        <p:nvSpPr>
          <p:cNvPr id="13" name="p14-n-3">
            <a:extLst xmlns:a="http://schemas.openxmlformats.org/drawingml/2006/main">
              <a:ext uri="{FF2B5EF4-FFF2-40B4-BE49-F238E27FC236}">
                <a16:creationId xmlns:a16="http://schemas.microsoft.com/office/drawing/2014/main" id="{65DE90D9-E234-460A-8521-8DE04E02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4-q-3">
            <a:extLst xmlns:a="http://schemas.openxmlformats.org/drawingml/2006/main">
              <a:ext uri="{FF2B5EF4-FFF2-40B4-BE49-F238E27FC236}">
                <a16:creationId xmlns:a16="http://schemas.microsoft.com/office/drawing/2014/main" id="{CA1EB2FC-9321-495F-8664-1D285B88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4762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判断门前要补的最小集合是什么？</a:t>
            </a:r>
          </a:p>
        </p:txBody>
      </p:sp>
      <p:sp>
        <p:nvSpPr>
          <p:cNvPr id="15" name="p14-divider">
            <a:extLst xmlns:a="http://schemas.openxmlformats.org/drawingml/2006/main">
              <a:ext uri="{FF2B5EF4-FFF2-40B4-BE49-F238E27FC236}">
                <a16:creationId xmlns:a16="http://schemas.microsoft.com/office/drawing/2014/main" id="{259E21D7-03BC-4D23-89E2-21D1F622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72000" y="2938463"/>
            <a:ext cx="3810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14-right-title">
            <a:extLst xmlns:a="http://schemas.openxmlformats.org/drawingml/2006/main">
              <a:ext uri="{FF2B5EF4-FFF2-40B4-BE49-F238E27FC236}">
                <a16:creationId xmlns:a16="http://schemas.microsoft.com/office/drawing/2014/main" id="{7EC5D460-1827-4844-B93A-A49E87B9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9715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9 课行动</a:t>
            </a:r>
          </a:p>
        </p:txBody>
      </p:sp>
      <p:sp>
        <p:nvSpPr>
          <p:cNvPr id="17" name="p14-next-label-0">
            <a:extLst xmlns:a="http://schemas.openxmlformats.org/drawingml/2006/main">
              <a:ext uri="{FF2B5EF4-FFF2-40B4-BE49-F238E27FC236}">
                <a16:creationId xmlns:a16="http://schemas.microsoft.com/office/drawing/2014/main" id="{0250C493-2D5B-4E67-9740-3CA65006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621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 baseline</a:t>
            </a:r>
          </a:p>
        </p:txBody>
      </p:sp>
      <p:sp>
        <p:nvSpPr>
          <p:cNvPr id="18" name="p14-next-detail-0">
            <a:extLst xmlns:a="http://schemas.openxmlformats.org/drawingml/2006/main">
              <a:ext uri="{FF2B5EF4-FFF2-40B4-BE49-F238E27FC236}">
                <a16:creationId xmlns:a16="http://schemas.microsoft.com/office/drawing/2014/main" id="{A377AA2A-1709-46AF-87BE-97C4A882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621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建立可执行基线</a:t>
            </a:r>
          </a:p>
        </p:txBody>
      </p:sp>
      <p:sp>
        <p:nvSpPr>
          <p:cNvPr id="19" name="p14-next-label-1">
            <a:extLst xmlns:a="http://schemas.openxmlformats.org/drawingml/2006/main">
              <a:ext uri="{FF2B5EF4-FFF2-40B4-BE49-F238E27FC236}">
                <a16:creationId xmlns:a16="http://schemas.microsoft.com/office/drawing/2014/main" id="{D0BF5EC3-3F29-408F-9E50-CA502894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完善实验规格</a:t>
            </a:r>
          </a:p>
        </p:txBody>
      </p:sp>
      <p:sp>
        <p:nvSpPr>
          <p:cNvPr id="20" name="p14-next-detail-1">
            <a:extLst xmlns:a="http://schemas.openxmlformats.org/drawingml/2006/main">
              <a:ext uri="{FF2B5EF4-FFF2-40B4-BE49-F238E27FC236}">
                <a16:creationId xmlns:a16="http://schemas.microsoft.com/office/drawing/2014/main" id="{E397EB2F-26CB-4115-BBC5-5BF3D931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假设·变量·度量·对照·停止</a:t>
            </a:r>
          </a:p>
        </p:txBody>
      </p:sp>
      <p:sp>
        <p:nvSpPr>
          <p:cNvPr id="21" name="p14-next-label-2">
            <a:extLst xmlns:a="http://schemas.openxmlformats.org/drawingml/2006/main">
              <a:ext uri="{FF2B5EF4-FFF2-40B4-BE49-F238E27FC236}">
                <a16:creationId xmlns:a16="http://schemas.microsoft.com/office/drawing/2014/main" id="{BD6BBBC3-F895-4021-A67A-4D4CEBE7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385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补复现说明</a:t>
            </a:r>
          </a:p>
        </p:txBody>
      </p:sp>
      <p:sp>
        <p:nvSpPr>
          <p:cNvPr id="22" name="p14-next-detail-2">
            <a:extLst xmlns:a="http://schemas.openxmlformats.org/drawingml/2006/main">
              <a:ext uri="{FF2B5EF4-FFF2-40B4-BE49-F238E27FC236}">
                <a16:creationId xmlns:a16="http://schemas.microsoft.com/office/drawing/2014/main" id="{331E247E-C74F-43BA-9AFD-26763262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385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环境·配置·随机种子</a:t>
            </a:r>
          </a:p>
        </p:txBody>
      </p:sp>
      <p:sp>
        <p:nvSpPr>
          <p:cNvPr id="23" name="p14-next-label-3">
            <a:extLst xmlns:a="http://schemas.openxmlformats.org/drawingml/2006/main">
              <a:ext uri="{FF2B5EF4-FFF2-40B4-BE49-F238E27FC236}">
                <a16:creationId xmlns:a16="http://schemas.microsoft.com/office/drawing/2014/main" id="{A8E67205-74DC-4B4F-A545-BCEF4B6A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76700"/>
            <a:ext cx="1714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提交判断门</a:t>
            </a:r>
          </a:p>
        </p:txBody>
      </p:sp>
      <p:sp>
        <p:nvSpPr>
          <p:cNvPr id="24" name="p14-next-detail-3">
            <a:extLst xmlns:a="http://schemas.openxmlformats.org/drawingml/2006/main">
              <a:ext uri="{FF2B5EF4-FFF2-40B4-BE49-F238E27FC236}">
                <a16:creationId xmlns:a16="http://schemas.microsoft.com/office/drawing/2014/main" id="{24C28E73-3055-4566-8DBF-02D3A44A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76700"/>
            <a:ext cx="2400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证据与决策可追溯</a:t>
            </a:r>
          </a:p>
        </p:txBody>
      </p:sp>
      <p:sp>
        <p:nvSpPr>
          <p:cNvPr id="25" name="p14-bottom">
            <a:extLst xmlns:a="http://schemas.openxmlformats.org/drawingml/2006/main">
              <a:ext uri="{FF2B5EF4-FFF2-40B4-BE49-F238E27FC236}">
                <a16:creationId xmlns:a16="http://schemas.microsoft.com/office/drawing/2014/main" id="{88F40B5C-5D0E-4F1B-BAD0-8F439735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本课不新增正式作业；今天的产出随第 9 课判断门统一检查。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2026-08-07T10:30:15.1160000Z</dcterms:created>
  <dcterms:modified xsi:type="dcterms:W3CDTF">2026-08-07T10:30:15.1160000Z</dcterms:modified>
</coreProperties>
</file>