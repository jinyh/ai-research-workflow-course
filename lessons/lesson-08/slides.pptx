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989c564e36e4a46" /><Relationship Type="http://schemas.openxmlformats.org/officeDocument/2006/relationships/extended-properties" Target="/docProps/app.xml" Id="Reb76f669e669420f" /><Relationship Type="http://schemas.openxmlformats.org/officeDocument/2006/relationships/officeDocument" Target="/ppt/presentation.xml" Id="R2be5b73d33a149a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d3679314fb34a5a"/>
  </p:sldMasterIdLst>
  <p:notesMasterIdLst>
    <p:notesMasterId xmlns:r="http://schemas.openxmlformats.org/officeDocument/2006/relationships" r:id="Rcaa2fafb29774d7b"/>
  </p:notesMasterIdLst>
  <p:sldIdLst>
    <p:sldId xmlns:r="http://schemas.openxmlformats.org/officeDocument/2006/relationships" id="256" r:id="R1d650e49b70b4b07"/>
    <p:sldId xmlns:r="http://schemas.openxmlformats.org/officeDocument/2006/relationships" id="257" r:id="Rd3ef2e8469a94242"/>
    <p:sldId xmlns:r="http://schemas.openxmlformats.org/officeDocument/2006/relationships" id="258" r:id="R03c0be2b2f02471c"/>
    <p:sldId xmlns:r="http://schemas.openxmlformats.org/officeDocument/2006/relationships" id="259" r:id="R7f226b48c49a45ad"/>
    <p:sldId xmlns:r="http://schemas.openxmlformats.org/officeDocument/2006/relationships" id="260" r:id="R7a2bb1f646734f06"/>
    <p:sldId xmlns:r="http://schemas.openxmlformats.org/officeDocument/2006/relationships" id="261" r:id="R8f78dbf6af434a9d"/>
    <p:sldId xmlns:r="http://schemas.openxmlformats.org/officeDocument/2006/relationships" id="262" r:id="R037d76cd2e3242b4"/>
    <p:sldId xmlns:r="http://schemas.openxmlformats.org/officeDocument/2006/relationships" id="263" r:id="R92cee00affd64262"/>
    <p:sldId xmlns:r="http://schemas.openxmlformats.org/officeDocument/2006/relationships" id="264" r:id="R99964785fa27460e"/>
    <p:sldId xmlns:r="http://schemas.openxmlformats.org/officeDocument/2006/relationships" id="265" r:id="R880386096d7841b4"/>
    <p:sldId xmlns:r="http://schemas.openxmlformats.org/officeDocument/2006/relationships" id="266" r:id="R55e10143111447f2"/>
    <p:sldId xmlns:r="http://schemas.openxmlformats.org/officeDocument/2006/relationships" id="267" r:id="R6f64d385008a4c68"/>
    <p:sldId xmlns:r="http://schemas.openxmlformats.org/officeDocument/2006/relationships" id="268" r:id="Rfc58d907cc0c4ea7"/>
    <p:sldId xmlns:r="http://schemas.openxmlformats.org/officeDocument/2006/relationships" id="269" r:id="R9c80481aa9c04bd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9012ECD-51FC-41F1-AA8D-1B2483CD663E}" styleName="浅色样式 2 - 强调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6E25E649-3F16-4E02-A733-19D2CDBF48F0}" styleName="中度样式 3 - 强调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浅色样式 3 - 强调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 showGuides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79125f5ef004946" /><Relationship Type="http://schemas.openxmlformats.org/officeDocument/2006/relationships/slideMaster" Target="/ppt/slideMasters/slideMaster1.xml" Id="R5d3679314fb34a5a" /><Relationship Type="http://schemas.openxmlformats.org/officeDocument/2006/relationships/notesMaster" Target="/ppt/notesMasters/notesMaster1.xml" Id="Rcaa2fafb29774d7b" /><Relationship Type="http://schemas.openxmlformats.org/officeDocument/2006/relationships/presProps" Target="/ppt/presProps.xml" Id="R1d5172ea00524d46" /><Relationship Type="http://schemas.openxmlformats.org/officeDocument/2006/relationships/viewProps" Target="/ppt/viewProps.xml" Id="R7af451370ad441ae" /><Relationship Type="http://schemas.openxmlformats.org/officeDocument/2006/relationships/tableStyles" Target="/ppt/tableStyles.xml" Id="Rb9a828494ceb4654" /><Relationship Type="http://schemas.openxmlformats.org/officeDocument/2006/relationships/slide" Target="/ppt/slides/slide1.xml" Id="R1d650e49b70b4b07" /><Relationship Type="http://schemas.openxmlformats.org/officeDocument/2006/relationships/slide" Target="/ppt/slides/slide2.xml" Id="Rd3ef2e8469a94242" /><Relationship Type="http://schemas.openxmlformats.org/officeDocument/2006/relationships/slide" Target="/ppt/slides/slide3.xml" Id="R03c0be2b2f02471c" /><Relationship Type="http://schemas.openxmlformats.org/officeDocument/2006/relationships/slide" Target="/ppt/slides/slide4.xml" Id="R7f226b48c49a45ad" /><Relationship Type="http://schemas.openxmlformats.org/officeDocument/2006/relationships/slide" Target="/ppt/slides/slide5.xml" Id="R7a2bb1f646734f06" /><Relationship Type="http://schemas.openxmlformats.org/officeDocument/2006/relationships/slide" Target="/ppt/slides/slide6.xml" Id="R8f78dbf6af434a9d" /><Relationship Type="http://schemas.openxmlformats.org/officeDocument/2006/relationships/slide" Target="/ppt/slides/slide7.xml" Id="R037d76cd2e3242b4" /><Relationship Type="http://schemas.openxmlformats.org/officeDocument/2006/relationships/slide" Target="/ppt/slides/slide8.xml" Id="R92cee00affd64262" /><Relationship Type="http://schemas.openxmlformats.org/officeDocument/2006/relationships/slide" Target="/ppt/slides/slide9.xml" Id="R99964785fa27460e" /><Relationship Type="http://schemas.openxmlformats.org/officeDocument/2006/relationships/slide" Target="/ppt/slides/slide10.xml" Id="R880386096d7841b4" /><Relationship Type="http://schemas.openxmlformats.org/officeDocument/2006/relationships/slide" Target="/ppt/slides/slide11.xml" Id="R55e10143111447f2" /><Relationship Type="http://schemas.openxmlformats.org/officeDocument/2006/relationships/slide" Target="/ppt/slides/slide12.xml" Id="R6f64d385008a4c68" /><Relationship Type="http://schemas.openxmlformats.org/officeDocument/2006/relationships/slide" Target="/ppt/slides/slide13.xml" Id="Rfc58d907cc0c4ea7" /><Relationship Type="http://schemas.openxmlformats.org/officeDocument/2006/relationships/slide" Target="/ppt/slides/slide14.xml" Id="R9c80481aa9c04bd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095c426e7ff42f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主题​​">
  <a:themeElements>
    <a:clrScheme name="SJTU-2019">
      <a:dk1>
        <a:srgbClr val="000000"/>
      </a:dk1>
      <a:lt1>
        <a:srgbClr val="FFFFFF"/>
      </a:lt1>
      <a:dk2>
        <a:srgbClr val="1B1C21"/>
      </a:dk2>
      <a:lt2>
        <a:srgbClr val="DBDBDB"/>
      </a:lt2>
      <a:accent1>
        <a:srgbClr val="C8161E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外宣普适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SJTU-2019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c575b4e8c114f31" /><Relationship Type="http://schemas.openxmlformats.org/officeDocument/2006/relationships/notesMaster" Target="/ppt/notesMasters/notesMaster1.xml" Id="R1ecd4c16adc145d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8decf741c644b47" /><Relationship Type="http://schemas.openxmlformats.org/officeDocument/2006/relationships/notesMaster" Target="/ppt/notesMasters/notesMaster1.xml" Id="R76a412cffc6f454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70b857795194e1f" /><Relationship Type="http://schemas.openxmlformats.org/officeDocument/2006/relationships/notesMaster" Target="/ppt/notesMasters/notesMaster1.xml" Id="Rc54ce56e149149b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88bc277f420486a" /><Relationship Type="http://schemas.openxmlformats.org/officeDocument/2006/relationships/notesMaster" Target="/ppt/notesMasters/notesMaster1.xml" Id="R737b68b25ba0427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8fbbbef2c754585" /><Relationship Type="http://schemas.openxmlformats.org/officeDocument/2006/relationships/notesMaster" Target="/ppt/notesMasters/notesMaster1.xml" Id="Ra53ddee65a174fd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fa9dfdd0c0d4f38" /><Relationship Type="http://schemas.openxmlformats.org/officeDocument/2006/relationships/notesMaster" Target="/ppt/notesMasters/notesMaster1.xml" Id="R14c2bac8e6a9460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1cc55e65119415f" /><Relationship Type="http://schemas.openxmlformats.org/officeDocument/2006/relationships/notesMaster" Target="/ppt/notesMasters/notesMaster1.xml" Id="Rc17db4a9b22f4b9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81b54e0c88a4c8a" /><Relationship Type="http://schemas.openxmlformats.org/officeDocument/2006/relationships/notesMaster" Target="/ppt/notesMasters/notesMaster1.xml" Id="R9b9cc53c9b5947c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4e4cc7baca64fcc" /><Relationship Type="http://schemas.openxmlformats.org/officeDocument/2006/relationships/notesMaster" Target="/ppt/notesMasters/notesMaster1.xml" Id="R50a354a24a3145f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6d7bb7f1bbf485e" /><Relationship Type="http://schemas.openxmlformats.org/officeDocument/2006/relationships/notesMaster" Target="/ppt/notesMasters/notesMaster1.xml" Id="R9d79330c7f1449f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c14fd2c055a4e21" /><Relationship Type="http://schemas.openxmlformats.org/officeDocument/2006/relationships/notesMaster" Target="/ppt/notesMasters/notesMaster1.xml" Id="R992343c95b58449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cc8712bdd3342e2" /><Relationship Type="http://schemas.openxmlformats.org/officeDocument/2006/relationships/notesMaster" Target="/ppt/notesMasters/notesMaster1.xml" Id="Rb20d9d65d45044b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e0280bbaceb49c8" /><Relationship Type="http://schemas.openxmlformats.org/officeDocument/2006/relationships/notesMaster" Target="/ppt/notesMasters/notesMaster1.xml" Id="Rae55fd8a3c944c5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3698593dd70464e" /><Relationship Type="http://schemas.openxmlformats.org/officeDocument/2006/relationships/notesMaster" Target="/ppt/notesMasters/notesMaster1.xml" Id="Re6cbec1060e240d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开场直接回扣第 7 课：机制假设、研究判断初版和实验规格草图仍是内部工件。本课让这些工件经受一次外部质询，并把反馈转成作者本人承担的研究判断。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/Users/bright/Projects/courses/graduate/course/syllabus.md</a:t>
            </a:r>
          </a:p>
          <a:p xmlns:a="http://schemas.openxmlformats.org/drawingml/2006/main">
            <a:r>
              <a:t>- /Users/bright/Projects/courses/graduate/course/assignments.md</a:t>
            </a:r>
          </a:p>
          <a:p xmlns:a="http://schemas.openxmlformats.org/drawingml/2006/main">
            <a:r>
              <a:t>- /Users/bright/Projects/courses/graduate/lessons/lesson-08/handout.md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快问学生：你的实验规格草图中，baseline 的控制变量清单列全了吗？只听回答，不在此页展开评价。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/Users/bright/Projects/courses/graduate/lessons/lesson-07/handout.md</a:t>
            </a:r>
          </a:p>
          <a:p xmlns:a="http://schemas.openxmlformats.org/drawingml/2006/main">
            <a:r>
              <a:t>- /Users/bright/Projects/courses/graduate/lessons/lesson-08/handout.md</a:t>
            </a:r>
          </a:p>
          <a:p xmlns:a="http://schemas.openxmlformats.org/drawingml/2006/main">
            <a:r>
              <a:t>- /Users/bright/Projects/courses/graduate/course/assignments.md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本页只建立目标共识。强调采纳决策在课堂写，不是课后补；AI 若参与反馈线索生成，另留一条 AI 使用记录。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/Users/bright/Projects/courses/graduate/lessons/lesson-08/teaching-plan.md</a:t>
            </a:r>
          </a:p>
          <a:p xmlns:a="http://schemas.openxmlformats.org/drawingml/2006/main">
            <a:r>
              <a:t>- /Users/bright/Projects/courses/graduate/course/assignments.md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让学生先用自己的方案口头填第 1 段和第 3 段各一句。完整贯穿案例在 P10 展开。五段时长合计 180 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/Users/bright/Projects/courses/graduate/lessons/lesson-08/handout.md</a:t>
            </a:r>
          </a:p>
          <a:p xmlns:a="http://schemas.openxmlformats.org/drawingml/2006/main">
            <a:r>
              <a:t>- Booth et al., The Craft of Research, 5th ed. (2024), sections 5.5 and 10.2.</a:t>
            </a:r>
          </a:p>
          <a:p xmlns:a="http://schemas.openxmlformats.org/drawingml/2006/main">
            <a:r>
              <a:t>- Simon Peyton Jones, Writing a Great Research Proposal (teaching handout).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本页严格区分四个诊断维度、一个独立行动性检查和边界横切字段。同伴不给分数、不排名，只指出看到了什么、缺了什么。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/Users/bright/Projects/courses/graduate/course/assignments.md</a:t>
            </a:r>
          </a:p>
          <a:p xmlns:a="http://schemas.openxmlformats.org/drawingml/2006/main">
            <a:r>
              <a:t>- /Users/bright/Projects/courses/graduate/course/syllabus.md</a:t>
            </a:r>
          </a:p>
          <a:p xmlns:a="http://schemas.openxmlformats.org/drawingml/2006/main">
            <a:r>
              <a:t>- /Users/bright/Projects/courses/graduate/lessons/lesson-08/handout.md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请学生现场写一条最大风险，必须标注属于四维诊断中的哪一维。建议必须对应最大风险，而不是另起一个泛泛建议。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/Users/bright/Projects/courses/graduate/lessons/lesson-08/handout.md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 人组完成一轮约 20 分钟，3 人组约 15 分钟。作者在反馈阶段不反驳，先完整记录，随后再作采纳决策。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/Users/bright/Projects/courses/graduate/lessons/lesson-08/handout.md</a:t>
            </a:r>
          </a:p>
          <a:p xmlns:a="http://schemas.openxmlformats.org/drawingml/2006/main">
            <a:r>
              <a:t>- /Users/bright/Projects/courses/graduate/lessons/lesson-08/teaching-plan.md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本课要求至少写两条完整决策，含至少一条采纳和一条拒绝或暂缓。暂缓不是搁置，必须进入待验证状态。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/Users/bright/Projects/courses/graduate/lessons/lesson-08/handout.md</a:t>
            </a:r>
          </a:p>
          <a:p xmlns:a="http://schemas.openxmlformats.org/drawingml/2006/main">
            <a:r>
              <a:t>- /Users/bright/Projects/courses/graduate/course/assignments.md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AI 可以帮助整理，但它不了解方案证据、机制与约束的整体状态。研究判断的责任不可外包。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/Users/bright/Projects/courses/graduate/AGENTS.md</a:t>
            </a:r>
          </a:p>
          <a:p xmlns:a="http://schemas.openxmlformats.org/drawingml/2006/main">
            <a:r>
              <a:t>- /Users/bright/Projects/courses/graduate/lessons/lesson-08/handout.md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本页只用公开论文可核验内容重构五段，不自造实验数字，也不表示课程已复现论文结果。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Bouthillier, X. et al. Accounting for Variance in Machine Learning Benchmarks. MLSys 2021. https://proceedings.mlsys.org/paper_files/paper/2021/hash/0184b0cd3cfb185989f858a1d9f5c1eb-Abstract.html</a:t>
            </a:r>
          </a:p>
          <a:p xmlns:a="http://schemas.openxmlformats.org/drawingml/2006/main">
            <a:r>
              <a:t>- /Users/bright/Projects/courses/graduate/lessons/lesson-08/slides.md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三条反馈和决策均为虚构教学内容，不是 Bouthillier et al. 的真实评审意见。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/Users/bright/Projects/courses/graduate/lessons/lesson-08/handout.md</a:t>
            </a:r>
          </a:p>
          <a:p xmlns:a="http://schemas.openxmlformats.org/drawingml/2006/main">
            <a:r>
              <a:t>- /Users/bright/Projects/courses/graduate/course/assignments.md</a:t>
            </a:r>
          </a:p>
          <a:p xmlns:a="http://schemas.openxmlformats.org/drawingml/2006/main">
            <a:r>
              <a:t>- Teaching feedback example; not empirical evidence.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让学生标记自己的已满足、部分满足与未覆盖项。本课不把未覆盖条件包装成已经完成。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/Users/bright/Projects/courses/graduate/course/assignments.md</a:t>
            </a:r>
          </a:p>
          <a:p xmlns:a="http://schemas.openxmlformats.org/drawingml/2006/main">
            <a:r>
              <a:t>- /Users/bright/Projects/courses/graduate/lessons/lesson-08/handout.md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 人组一轮约 20 分钟；人数或节奏超时时，缩为 2 分钟陈述 + 1 分钟反馈，或只跑一轮。巡视只处理共同卡点。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/Users/bright/Projects/courses/graduate/lessons/lesson-08/teaching-plan.md</a:t>
            </a:r>
          </a:p>
          <a:p xmlns:a="http://schemas.openxmlformats.org/drawingml/2006/main">
            <a:r>
              <a:t>- /Users/bright/Projects/courses/graduate/course/assignments.md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收束到开场：同伴质询只有转成具体工件修改才有价值。提醒从轻量脚手架迁移到完整项目模板时保留 AI 使用记录和伦理说明。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/Users/bright/Projects/courses/graduate/course/assignments.md</a:t>
            </a:r>
          </a:p>
          <a:p xmlns:a="http://schemas.openxmlformats.org/drawingml/2006/main">
            <a:r>
              <a:t>- /Users/bright/Projects/courses/graduate/lessons/lesson-08/handout.md</a:t>
            </a:r>
          </a:p>
          <a:p xmlns:a="http://schemas.openxmlformats.org/drawingml/2006/main">
            <a:r>
              <a:t>- /Users/bright/Projects/courses/graduate/lessons/lesson-08/teaching-plan.md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3f8961885d34c12" /><Relationship Type="http://schemas.openxmlformats.org/officeDocument/2006/relationships/image" Target="/ppt/media/image.png" Id="Re82d2a6ec7574eb5" /><Relationship Type="http://schemas.openxmlformats.org/officeDocument/2006/relationships/image" Target="/ppt/media/image2.png" Id="R13b3fdcf60504505" /><Relationship Type="http://schemas.openxmlformats.org/officeDocument/2006/relationships/image" Target="/ppt/media/image3.png" Id="R5000e6182bf34af4" /><Relationship Type="http://schemas.openxmlformats.org/officeDocument/2006/relationships/image" Target="/ppt/media/image4.png" Id="R2f5ed67b288347d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f9e75ad59d04df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3ef613b707a4a53" /><Relationship Type="http://schemas.openxmlformats.org/officeDocument/2006/relationships/image" Target="/ppt/media/image2.png" Id="R30f1ea24202641c8" /><Relationship Type="http://schemas.openxmlformats.org/officeDocument/2006/relationships/image" Target="/ppt/media/image5.png" Id="R6df72e01799542f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d4b5031c9e94b54" /><Relationship Type="http://schemas.openxmlformats.org/officeDocument/2006/relationships/image" Target="/ppt/media/image.png" Id="R08366a2887ba4dfa" /><Relationship Type="http://schemas.openxmlformats.org/officeDocument/2006/relationships/image" Target="/ppt/media/image3.png" Id="Ra5b99b6110184f1c" /></Relationships>
</file>

<file path=ppt/slideLayouts/slideLayout1.xml><?xml version="1.0" encoding="utf-8"?>
<p:sldLayout xmlns:p="http://schemas.openxmlformats.org/presentationml/2006/main" preserve="1" userDrawn="1">
  <p:cSld name="封面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6" name="图片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2d2a6ec7574eb5">
            <a:duotone>
              <a:prstClr val="black"/>
              <a:schemeClr val="accent1">
                <a:tint val="45000"/>
                <a:satMod val="400000"/>
              </a:schemeClr>
            </a:duotone>
            <a:alphaModFix amt="5000"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50417" y="2900149"/>
            <a:ext cx="12292835" cy="3957851"/>
          </a:xfrm>
          <a:prstGeom xmlns:a="http://schemas.openxmlformats.org/drawingml/2006/main" prst="rect">
            <a:avLst/>
          </a:prstGeom>
        </p:spPr>
      </p:pic>
      <p:sp>
        <p:nvSpPr>
          <p:cNvPr id="22" name="标题 1">
            <a:extLst xmlns:a="http://schemas.openxmlformats.org/drawingml/2006/main">
              <a:ext uri="{FF2B5EF4-FFF2-40B4-BE49-F238E27FC236}">
                <a16:creationId xmlns:a16="http://schemas.microsoft.com/office/drawing/2014/main" id="{9AF74CDA-19DD-45C1-88FF-2379736830CB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1069561" y="2016174"/>
            <a:ext cx="10052879" cy="106085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>
              <a:buNone/>
              <a:defRPr sz="5400" b="1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r>
              <a:t>单击此处编辑标题样式</a:t>
            </a:r>
          </a:p>
        </p:txBody>
      </p:sp>
      <p:sp>
        <p:nvSpPr>
          <p:cNvPr id="26" name="内容占位符 25">
            <a:extLst xmlns:a="http://schemas.openxmlformats.org/drawingml/2006/main">
              <a:ext uri="{FF2B5EF4-FFF2-40B4-BE49-F238E27FC236}">
                <a16:creationId xmlns:a16="http://schemas.microsoft.com/office/drawing/2014/main" id="{981273AB-3D30-4A7E-951D-B80D3185213B}"/>
              </a:ext>
            </a:extLst>
          </p:cNvPr>
          <p:cNvSpPr>
            <a:spLocks xmlns:a="http://schemas.openxmlformats.org/drawingml/2006/main" noGrp="1"/>
          </p:cNvSpPr>
          <p:nvPr>
            <p:ph idx="10" hasCustomPrompt="1"/>
          </p:nvPr>
        </p:nvSpPr>
        <p:spPr>
          <a:xfrm xmlns:a="http://schemas.openxmlformats.org/drawingml/2006/main">
            <a:off x="4644345" y="5196924"/>
            <a:ext cx="2903311" cy="454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 marL="0" indent="0" algn="ctr">
              <a:lnSpc>
                <a:spcPct val="100000"/>
              </a:lnSpc>
              <a:buNone/>
              <a:defRPr sz="2400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fld id="{DE506FFD-8B27-444A-964F-E64D0BB3DAF0}" type="datetime2">
              <a:t>2019年1月28日</a:t>
            </a:fld>
            <a:endParaRPr/>
          </a:p>
        </p:txBody>
      </p:sp>
      <p:sp>
        <p:nvSpPr>
          <p:cNvPr id="32" name="文本占位符 31">
            <a:extLst xmlns:a="http://schemas.openxmlformats.org/drawingml/2006/main">
              <a:ext uri="{FF2B5EF4-FFF2-40B4-BE49-F238E27FC236}">
                <a16:creationId xmlns:a16="http://schemas.microsoft.com/office/drawing/2014/main" id="{F905EEBF-8ACE-4D30-A4F5-C5796F8343A2}"/>
              </a:ext>
            </a:extLst>
          </p:cNvPr>
          <p:cNvSpPr>
            <a:spLocks xmlns:a="http://schemas.openxmlformats.org/drawingml/2006/main" noGrp="1"/>
          </p:cNvSpPr>
          <p:nvPr>
            <p:ph type="body" idx="11"/>
          </p:nvPr>
        </p:nvSpPr>
        <p:spPr>
          <a:xfrm xmlns:a="http://schemas.openxmlformats.org/drawingml/2006/main">
            <a:off x="4034910" y="4407403"/>
            <a:ext cx="4122181" cy="5984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 marL="0" indent="0" algn="ctr">
              <a:lnSpc>
                <a:spcPct val="100000"/>
              </a:lnSpc>
              <a:buNone/>
              <a:defRPr sz="32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endParaRPr/>
          </a:p>
        </p:txBody>
      </p:sp>
      <p:pic>
        <p:nvPicPr>
          <p:cNvPr id="50" name="图片 3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3b3fdcf60504505"/>
          <a:srcRect xmlns:a="http://schemas.openxmlformats.org/drawingml/2006/main" l="74359" t="0" r="1346" b="0"/>
          <a:stretch xmlns:a="http://schemas.openxmlformats.org/drawingml/2006/main"/>
        </p:blipFill>
        <p:spPr>
          <a:xfrm xmlns:a="http://schemas.openxmlformats.org/drawingml/2006/main">
            <a:off x="8870172" y="274183"/>
            <a:ext cx="3002280" cy="411617"/>
          </a:xfrm>
          <a:prstGeom xmlns:a="http://schemas.openxmlformats.org/drawingml/2006/main" prst="rect">
            <a:avLst/>
          </a:prstGeom>
        </p:spPr>
      </p:pic>
      <p:pic>
        <p:nvPicPr>
          <p:cNvPr id="51" name="图片 17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000e6182bf34af4">
            <a:alphaModFix amt="35000"/>
          </a:blip>
          <a:srcRect xmlns:a="http://schemas.openxmlformats.org/drawingml/2006/main" l="0" t="9831" r="0" b="36385"/>
          <a:stretch xmlns:a="http://schemas.openxmlformats.org/drawingml/2006/main"/>
        </p:blipFill>
        <p:spPr>
          <a:xfrm xmlns:a="http://schemas.openxmlformats.org/drawingml/2006/main" rot="0" flipH="0" flipV="0">
            <a:off x="3352562" y="6244170"/>
            <a:ext cx="5486876" cy="406590"/>
          </a:xfrm>
          <a:prstGeom xmlns:a="http://schemas.openxmlformats.org/drawingml/2006/main" prst="rect">
            <a:avLst/>
          </a:prstGeom>
        </p:spPr>
      </p:pic>
      <p:sp>
        <p:nvSpPr>
          <p:cNvPr id="37" name="椭圆 36">
            <a:extLst xmlns:a="http://schemas.openxmlformats.org/drawingml/2006/main">
              <a:ext uri="{FF2B5EF4-FFF2-40B4-BE49-F238E27FC236}">
                <a16:creationId xmlns:a16="http://schemas.microsoft.com/office/drawing/2014/main" id="{53D809C0-A4EF-44AF-AECA-4A85E4BA2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51000" y="6430138"/>
            <a:ext cx="90000" cy="90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6">
              <a:lumMod val="60000"/>
              <a:lumOff val="4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9" name="直接连接符 38">
            <a:extLst xmlns:a="http://schemas.openxmlformats.org/drawingml/2006/main">
              <a:ext uri="{FF2B5EF4-FFF2-40B4-BE49-F238E27FC236}">
                <a16:creationId xmlns:a16="http://schemas.microsoft.com/office/drawing/2014/main" id="{31F7CAE3-0209-4DA4-9A92-731CC272B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28587" y="6487838"/>
            <a:ext cx="900000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1" name="直接连接符 40">
            <a:extLst xmlns:a="http://schemas.openxmlformats.org/drawingml/2006/main">
              <a:ext uri="{FF2B5EF4-FFF2-40B4-BE49-F238E27FC236}">
                <a16:creationId xmlns:a16="http://schemas.microsoft.com/office/drawing/2014/main" id="{B3FF25BF-0A81-4E7C-A868-79A201F0D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983387" y="6487838"/>
            <a:ext cx="900000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2" name="直接连接符 11">
            <a:extLst xmlns:a="http://schemas.openxmlformats.org/drawingml/2006/main">
              <a:ext uri="{FF2B5EF4-FFF2-40B4-BE49-F238E27FC236}">
                <a16:creationId xmlns:a16="http://schemas.microsoft.com/office/drawing/2014/main" id="{84931B68-BEBE-4F6A-A7A3-EB2B855A6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6000" y="1712549"/>
            <a:ext cx="810000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accent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" name="直接连接符 12">
            <a:extLst xmlns:a="http://schemas.openxmlformats.org/drawingml/2006/main">
              <a:ext uri="{FF2B5EF4-FFF2-40B4-BE49-F238E27FC236}">
                <a16:creationId xmlns:a16="http://schemas.microsoft.com/office/drawing/2014/main" id="{26218CD3-8CA7-49E2-A133-F31724416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6000" y="3428810"/>
            <a:ext cx="810000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accent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pic>
        <p:nvPicPr>
          <p:cNvPr id="57" name="图片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5ed67b288347d7"/>
          <a:srcRect xmlns:a="http://schemas.openxmlformats.org/drawingml/2006/main" l="0" t="0" r="54251" b="0"/>
          <a:stretch xmlns:a="http://schemas.openxmlformats.org/drawingml/2006/main"/>
        </p:blipFill>
        <p:spPr>
          <a:xfrm xmlns:a="http://schemas.openxmlformats.org/drawingml/2006/main">
            <a:off x="332010" y="251357"/>
            <a:ext cx="1934780" cy="482598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.xml><?xml version="1.0" encoding="utf-8"?>
<p:sldLayout xmlns:p="http://schemas.openxmlformats.org/presentationml/2006/main" preserve="1" userDrawn="1">
  <p:cSld name="目录-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CD1F02EB-A5F5-4A25-8E13-33D76C399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1" y="2455636"/>
            <a:ext cx="2960913" cy="143872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  <a:effectLst xmlns:a="http://schemas.openxmlformats.org/drawingml/2006/main"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9DBDFDE5-938B-46BA-BF04-52626678C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1736542" y="2389144"/>
            <a:ext cx="97430" cy="296091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DE1AFFB6-310A-466D-BAD1-F84A11C9C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478991" y="0"/>
            <a:ext cx="90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1_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灯片编号占位符 2">
            <a:extLst xmlns:a="http://schemas.openxmlformats.org/drawingml/2006/main">
              <a:ext uri="{FF2B5EF4-FFF2-40B4-BE49-F238E27FC236}">
                <a16:creationId xmlns:a16="http://schemas.microsoft.com/office/drawing/2014/main" id="{C1D5E491-4859-47A4-8F29-DAACA1914DBE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C53781C-E1F6-4315-A39D-61273F2E0596}" type="slidenum">
              <a:t>‹#›</a:t>
            </a:fld>
            <a:endParaRPr/>
          </a:p>
        </p:txBody>
      </p:sp>
      <p:pic>
        <p:nvPicPr>
          <p:cNvPr id="25" name="图片 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30f1ea24202641c8"/>
          <a:srcRect xmlns:a="http://schemas.openxmlformats.org/drawingml/2006/main" l="0" t="0" r="1346" b="0"/>
          <a:stretch xmlns:a="http://schemas.openxmlformats.org/drawingml/2006/main"/>
        </p:blipFill>
        <p:spPr>
          <a:xfrm xmlns:a="http://schemas.openxmlformats.org/drawingml/2006/main">
            <a:off x="516" y="6041797"/>
            <a:ext cx="12166903" cy="411617"/>
          </a:xfrm>
          <a:prstGeom xmlns:a="http://schemas.openxmlformats.org/drawingml/2006/main" prst="rect">
            <a:avLst/>
          </a:prstGeom>
        </p:spPr>
      </p:pic>
      <p:sp>
        <p:nvSpPr>
          <p:cNvPr id="9" name="文本占位符 31">
            <a:extLst xmlns:a="http://schemas.openxmlformats.org/drawingml/2006/main">
              <a:ext uri="{FF2B5EF4-FFF2-40B4-BE49-F238E27FC236}">
                <a16:creationId xmlns:a16="http://schemas.microsoft.com/office/drawing/2014/main" id="{56FC8349-67FC-4E3B-B988-7A27FDAE9D24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319056" y="6438900"/>
            <a:ext cx="4151344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 algn="l">
              <a:lnSpc>
                <a:spcPct val="100000"/>
              </a:lnSpc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 xmlns:a="http://schemas.openxmlformats.org/drawingml/2006/main">
            <a:pPr lvl="0">
              <a:buNone/>
            </a:pPr>
            <a:endParaRPr/>
          </a:p>
        </p:txBody>
      </p:sp>
      <p:sp>
        <p:nvSpPr>
          <p:cNvPr id="10" name="文本占位符 31">
            <a:extLst xmlns:a="http://schemas.openxmlformats.org/drawingml/2006/main">
              <a:ext uri="{FF2B5EF4-FFF2-40B4-BE49-F238E27FC236}">
                <a16:creationId xmlns:a16="http://schemas.microsoft.com/office/drawing/2014/main" id="{85368C87-925C-44AC-B001-5C4EE6F00645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4788940" y="6438900"/>
            <a:ext cx="4151344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 algn="l">
              <a:lnSpc>
                <a:spcPct val="100000"/>
              </a:lnSpc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 xmlns:a="http://schemas.openxmlformats.org/drawingml/2006/main">
            <a:pPr lvl="0">
              <a:buNone/>
            </a:pPr>
            <a:endParaRPr/>
          </a:p>
        </p:txBody>
      </p:sp>
      <p:sp>
        <p:nvSpPr>
          <p:cNvPr id="19" name="平行四边形 18">
            <a:extLst xmlns:a="http://schemas.openxmlformats.org/drawingml/2006/main">
              <a:ext uri="{FF2B5EF4-FFF2-40B4-BE49-F238E27FC236}">
                <a16:creationId xmlns:a16="http://schemas.microsoft.com/office/drawing/2014/main" id="{9AE407FD-1006-4AC4-B10B-CB7686E66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"/>
            <a:ext cx="12191483" cy="685800"/>
          </a:xfrm>
          <a:prstGeom xmlns:a="http://schemas.openxmlformats.org/drawingml/2006/main" prst="parallelogram">
            <a:avLst>
              <a:gd name="adj" fmla="val 43056"/>
            </a:avLst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9" name="图片 1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f72e01799542f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9056" y="73482"/>
            <a:ext cx="538838" cy="538838"/>
          </a:xfrm>
          <a:prstGeom xmlns:a="http://schemas.openxmlformats.org/drawingml/2006/main" prst="rect">
            <a:avLst/>
          </a:prstGeom>
        </p:spPr>
      </p:pic>
      <p:sp>
        <p:nvSpPr>
          <p:cNvPr id="21" name="文本占位符 31">
            <a:extLst xmlns:a="http://schemas.openxmlformats.org/drawingml/2006/main">
              <a:ext uri="{FF2B5EF4-FFF2-40B4-BE49-F238E27FC236}">
                <a16:creationId xmlns:a16="http://schemas.microsoft.com/office/drawing/2014/main" id="{C2D49473-9331-4572-8AFC-3A905D765CF9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75351" y="43657"/>
            <a:ext cx="7081677" cy="5984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 marL="0" indent="0" algn="l">
              <a:lnSpc>
                <a:spcPct val="100000"/>
              </a:lnSpc>
              <a:buNone/>
              <a:defRPr sz="3200" b="1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封底">
    <p:bg>
      <p:bgPr>
        <a:solidFill xmlns:a="http://schemas.openxmlformats.org/drawingml/2006/main">
          <a:schemeClr val="accen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366a2887ba4dfa">
            <a:duotone>
              <a:prstClr val="black"/>
              <a:schemeClr val="accent1">
                <a:tint val="45000"/>
                <a:satMod val="400000"/>
              </a:schemeClr>
            </a:duotone>
            <a:alphaModFix amt="20000"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50417" y="2900149"/>
            <a:ext cx="12292835" cy="3957851"/>
          </a:xfrm>
          <a:prstGeom xmlns:a="http://schemas.openxmlformats.org/drawingml/2006/main" prst="rect">
            <a:avLst/>
          </a:prstGeom>
        </p:spPr>
      </p:pic>
      <p:sp>
        <p:nvSpPr>
          <p:cNvPr id="13" name="直接连接符 12">
            <a:extLst xmlns:a="http://schemas.openxmlformats.org/drawingml/2006/main">
              <a:ext uri="{FF2B5EF4-FFF2-40B4-BE49-F238E27FC236}">
                <a16:creationId xmlns:a16="http://schemas.microsoft.com/office/drawing/2014/main" id="{0F60F5A8-3022-49D5-A1B7-18CDA62C7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3429000"/>
            <a:ext cx="219751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4" name="直接连接符 13">
            <a:extLst xmlns:a="http://schemas.openxmlformats.org/drawingml/2006/main">
              <a:ext uri="{FF2B5EF4-FFF2-40B4-BE49-F238E27FC236}">
                <a16:creationId xmlns:a16="http://schemas.microsoft.com/office/drawing/2014/main" id="{2989B7D2-D2DE-4D77-870B-585E51853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9690" y="3429000"/>
            <a:ext cx="219751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0" name="文本占位符 31">
            <a:extLst xmlns:a="http://schemas.openxmlformats.org/drawingml/2006/main">
              <a:ext uri="{FF2B5EF4-FFF2-40B4-BE49-F238E27FC236}">
                <a16:creationId xmlns:a16="http://schemas.microsoft.com/office/drawing/2014/main" id="{4EB0A957-E3E4-47EE-9713-82509E17FD51}"/>
              </a:ext>
            </a:extLst>
          </p:cNvPr>
          <p:cNvSpPr>
            <a:spLocks xmlns:a="http://schemas.openxmlformats.org/drawingml/2006/main" noGrp="1"/>
          </p:cNvSpPr>
          <p:nvPr>
            <p:ph type="body" idx="11"/>
          </p:nvPr>
        </p:nvSpPr>
        <p:spPr>
          <a:xfrm xmlns:a="http://schemas.openxmlformats.org/drawingml/2006/main">
            <a:off x="2555162" y="3129756"/>
            <a:ext cx="7081677" cy="5984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 marL="0" indent="0" algn="ctr">
              <a:lnSpc>
                <a:spcPct val="100000"/>
              </a:lnSpc>
              <a:buNone/>
              <a:defRPr sz="6000" b="1" spc="600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endParaRPr/>
          </a:p>
        </p:txBody>
      </p:sp>
      <p:pic>
        <p:nvPicPr>
          <p:cNvPr id="27" name="图片 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5b99b6110184f1c">
            <a:alphaModFix amt="20000"/>
            <a:duotone>
              <a:schemeClr val="accent4">
                <a:shade val="45000"/>
                <a:satMod val="135000"/>
              </a:schemeClr>
              <a:prstClr val="white"/>
            </a:duotone>
          </a:blip>
          <a:srcRect xmlns:a="http://schemas.openxmlformats.org/drawingml/2006/main" l="0" t="9831" r="0" b="36385"/>
          <a:stretch xmlns:a="http://schemas.openxmlformats.org/drawingml/2006/main"/>
        </p:blipFill>
        <p:spPr>
          <a:xfrm xmlns:a="http://schemas.openxmlformats.org/drawingml/2006/main">
            <a:off x="3352562" y="6146610"/>
            <a:ext cx="5486876" cy="406590"/>
          </a:xfrm>
          <a:prstGeom xmlns:a="http://schemas.openxmlformats.org/drawingml/2006/main" prst="rect">
            <a:avLst/>
          </a:prstGeom>
        </p:spPr>
      </p:pic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8ae2569f63043f1" /><Relationship Type="http://schemas.openxmlformats.org/officeDocument/2006/relationships/slideLayout" Target="/ppt/slideLayouts/slideLayout1.xml" Id="R0fa7f2e08e7e47ba" /><Relationship Type="http://schemas.openxmlformats.org/officeDocument/2006/relationships/slideLayout" Target="/ppt/slideLayouts/slideLayout2.xml" Id="R80c28b717efa47fc" /><Relationship Type="http://schemas.openxmlformats.org/officeDocument/2006/relationships/slideLayout" Target="/ppt/slideLayouts/slideLayout3.xml" Id="R68b1272001124e5d" /><Relationship Type="http://schemas.openxmlformats.org/officeDocument/2006/relationships/slideLayout" Target="/ppt/slideLayouts/slideLayout4.xml" Id="R65a99b39e8e94eaf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F26411B-55E1-4CE5-B9CA-4734B17AE0E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0849970" y="6515101"/>
            <a:ext cx="103723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548644C6-89F0-466C-949F-E70AD72679A8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fa7f2e08e7e47ba"/>
    <p:sldLayoutId xmlns:r="http://schemas.openxmlformats.org/officeDocument/2006/relationships" id="2147483650" r:id="R80c28b717efa47fc"/>
    <p:sldLayoutId xmlns:r="http://schemas.openxmlformats.org/officeDocument/2006/relationships" id="2147483651" r:id="R68b1272001124e5d"/>
    <p:sldLayoutId xmlns:r="http://schemas.openxmlformats.org/officeDocument/2006/relationships" id="2147483652" r:id="R65a99b39e8e94eaf"/>
  </p:sldLayoutIdLst>
  <p:hf hdr="0" ft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pos="192">
          <p15:clr>
            <a:srgbClr xmlns:a="http://schemas.openxmlformats.org/drawingml/2006/main" val="F26B43"/>
          </p15:clr>
        </p15:guide>
        <p15:guide id="2" pos="7488">
          <p15:clr>
            <a:srgbClr xmlns:a="http://schemas.openxmlformats.org/drawingml/2006/main" val="F26B43"/>
          </p15:clr>
        </p15:guide>
        <p15:guide id="3" orient="horz" pos="432">
          <p15:clr>
            <a:srgbClr xmlns:a="http://schemas.openxmlformats.org/drawingml/2006/main" val="F26B43"/>
          </p15:clr>
        </p15:guide>
        <p15:guide id="4" orient="horz" pos="472">
          <p15:clr>
            <a:srgbClr xmlns:a="http://schemas.openxmlformats.org/drawingml/2006/main" val="F26B43"/>
          </p15:clr>
        </p15:guide>
        <p15:guide id="5" orient="horz" pos="4104">
          <p15:clr>
            <a:srgbClr xmlns:a="http://schemas.openxmlformats.org/drawingml/2006/main" val="F26B43"/>
          </p15:clr>
        </p15:guide>
        <p15:guide id="6" orient="horz" pos="4056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Office 主题​​">
  <a:themeElements>
    <a:clrScheme name="SJTU-2019">
      <a:dk1>
        <a:srgbClr val="000000"/>
      </a:dk1>
      <a:lt1>
        <a:srgbClr val="FFFFFF"/>
      </a:lt1>
      <a:dk2>
        <a:srgbClr val="1B1C21"/>
      </a:dk2>
      <a:lt2>
        <a:srgbClr val="DBDBDB"/>
      </a:lt2>
      <a:accent1>
        <a:srgbClr val="C8161E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外宣普适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SJTU-2019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fcd0aaf4494927" /><Relationship Type="http://schemas.openxmlformats.org/officeDocument/2006/relationships/notesSlide" Target="/ppt/notesSlides/notesSlide1.xml" Id="R435beaaa492c437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9ea0f98b67ba49c8" /><Relationship Type="http://schemas.openxmlformats.org/officeDocument/2006/relationships/notesSlide" Target="/ppt/notesSlides/notesSlide2.xml" Id="R421a2ae283c6487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3c4cdbd4912a49a6" /><Relationship Type="http://schemas.openxmlformats.org/officeDocument/2006/relationships/notesSlide" Target="/ppt/notesSlides/notesSlide3.xml" Id="Ra30560cf2d734a0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05723aaaa7c04b24" /><Relationship Type="http://schemas.openxmlformats.org/officeDocument/2006/relationships/notesSlide" Target="/ppt/notesSlides/notesSlide4.xml" Id="Ra17cf510e1ec498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0dfe166d5be34f84" /><Relationship Type="http://schemas.openxmlformats.org/officeDocument/2006/relationships/notesSlide" Target="/ppt/notesSlides/notesSlide5.xml" Id="R6c20e51a99b54b9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da084c6274c14db9" /><Relationship Type="http://schemas.openxmlformats.org/officeDocument/2006/relationships/notesSlide" Target="/ppt/notesSlides/notesSlide6.xml" Id="R4a4cce8de6de453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b560c57da53c44e8" /><Relationship Type="http://schemas.openxmlformats.org/officeDocument/2006/relationships/notesSlide" Target="/ppt/notesSlides/notesSlide7.xml" Id="Rcb19ffb3e1a0491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04b7d5e47ebf49e6" /><Relationship Type="http://schemas.openxmlformats.org/officeDocument/2006/relationships/notesSlide" Target="/ppt/notesSlides/notesSlide8.xml" Id="R708023ea2e844c3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81e8b64868be4edc" /><Relationship Type="http://schemas.openxmlformats.org/officeDocument/2006/relationships/notesSlide" Target="/ppt/notesSlides/notesSlide9.xml" Id="R32096e02002c458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d6f03e3e51f64865" /><Relationship Type="http://schemas.openxmlformats.org/officeDocument/2006/relationships/notesSlide" Target="/ppt/notesSlides/notesSlide10.xml" Id="R010533078dbf419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37b7ecfb031e47d6" /><Relationship Type="http://schemas.openxmlformats.org/officeDocument/2006/relationships/notesSlide" Target="/ppt/notesSlides/notesSlide11.xml" Id="R77ac9456041446e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2d31a38e6f5f4b57" /><Relationship Type="http://schemas.openxmlformats.org/officeDocument/2006/relationships/notesSlide" Target="/ppt/notesSlides/notesSlide12.xml" Id="R9933a5318da14b1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775e3219f6ed4fae" /><Relationship Type="http://schemas.openxmlformats.org/officeDocument/2006/relationships/notesSlide" Target="/ppt/notesSlides/notesSlide13.xml" Id="R90bd636b1371408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96213644f2774952" /><Relationship Type="http://schemas.openxmlformats.org/officeDocument/2006/relationships/notesSlide" Target="/ppt/notesSlides/notesSlide14.xml" Id="Re281f663c5ab485f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D1D30E0E-D2D5-4C08-A919-2A1C2D5A8D02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1238250" y="3028950"/>
            <a:ext cx="9715500" cy="2324100"/>
          </a:xfrm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</a:pPr>
            <a:r>
              <a:rPr sz="180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内部工件 → 同伴质询 → 采纳决策</a:t>
            </a:r>
            <a:endParaRPr>
              <a:latin typeface="+mn-ea"/>
              <a:ea typeface="+mn-ea"/>
              <a:cs typeface="+mn-ea"/>
            </a:endParaRPr>
          </a:p>
          <a:p xmlns:a="http://schemas.openxmlformats.org/drawingml/2006/main">
            <a:r>
              <a:rPr>
                <a:latin typeface="+mn-ea"/>
                <a:ea typeface="+mn-ea"/>
                <a:cs typeface="+mn-ea"/>
              </a:rPr>
              <a:t/>
            </a:r>
            <a:endParaRPr>
              <a:latin typeface="+mn-ea"/>
              <a:ea typeface="+mn-ea"/>
              <a:cs typeface="+mn-ea"/>
            </a:endParaRPr>
          </a:p>
          <a:p xmlns:a="http://schemas.openxmlformats.org/drawingml/2006/main">
            <a:pPr algn="ctr">
              <a:lnSpc>
                <a:spcPct val="125000"/>
              </a:lnSpc>
              <a:buNone/>
            </a:pPr>
            <a:r>
              <a:rPr sz="180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把第 7 课方案暴露给同伴，当场记录取舍</a:t>
            </a:r>
            <a:endParaRPr>
              <a:latin typeface="+mn-ea"/>
              <a:ea typeface="+mn-ea"/>
              <a:cs typeface="+mn-ea"/>
            </a:endParaRPr>
          </a:p>
          <a:p xmlns:a="http://schemas.openxmlformats.org/drawingml/2006/main">
            <a:pPr algn="ctr">
              <a:lnSpc>
                <a:spcPct val="125000"/>
              </a:lnSpc>
              <a:buNone/>
            </a:pPr>
            <a:r>
              <a:rPr sz="180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第八讲｜形成性活动 · 不正式提交 → 第 9 课判断门</a:t>
            </a:r>
            <a:endParaRPr>
              <a:latin typeface="+mn-ea"/>
              <a:ea typeface="+mn-ea"/>
              <a:cs typeface="+mn-ea"/>
            </a:endParaRPr>
          </a:p>
        </p:txBody>
      </p:sp>
      <p:sp>
        <p:nvSpPr>
          <p:cNvPr id="2" name="矩形 11">
            <a:extLst xmlns:a="http://schemas.openxmlformats.org/drawingml/2006/main">
              <a:ext uri="{FF2B5EF4-FFF2-40B4-BE49-F238E27FC236}">
                <a16:creationId xmlns:a16="http://schemas.microsoft.com/office/drawing/2014/main" id="{27DE90CC-93E2-C662-C202-C5C6993D7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295400"/>
            <a:ext cx="9525000" cy="16459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76200" tIns="38100" rIns="76200" bIns="3810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</a:pPr>
            <a:r>
              <a:rPr sz="315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学生研究方案分享与设计诊所</a:t>
            </a:r>
            <a:endParaRPr sz="4000" b="1" kern="0" spc="20">
              <a:solidFill>
                <a:srgbClr val="C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5004539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28575"/>
            <a:ext cx="10668000" cy="628650"/>
          </a:xfrm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 7 课之后，内部工件还没有经受外部质询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598689-54C9-18A7-3A19-ED76AA08988F}" type="slidenum">
              <a:t>2</a:t>
            </a:fld>
            <a:endParaRPr/>
          </a:p>
        </p:txBody>
      </p:sp>
      <p:sp>
        <p:nvSpPr>
          <p:cNvPr id="6" name="p02-left-title">
            <a:extLst xmlns:a="http://schemas.openxmlformats.org/drawingml/2006/main">
              <a:ext uri="{FF2B5EF4-FFF2-40B4-BE49-F238E27FC236}">
                <a16:creationId xmlns:a16="http://schemas.microsoft.com/office/drawing/2014/main" id="{FB070E25-D17E-41D5-A977-2FCE50037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400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8745A"/>
                </a:solidFill>
              </a:defRPr>
            </a:pPr>
            <a:r>
              <a:rPr sz="1875" b="1">
                <a:solidFill>
                  <a:srgbClr val="28745A"/>
                </a:solidFill>
                <a:latin typeface="Microsoft YaHei"/>
                <a:ea typeface="Microsoft YaHei"/>
                <a:cs typeface="Microsoft YaHei"/>
              </a:rPr>
              <a:t>第 7 课已建立</a:t>
            </a:r>
          </a:p>
        </p:txBody>
      </p:sp>
      <p:sp>
        <p:nvSpPr>
          <p:cNvPr id="7" name="p02-left-0">
            <a:extLst xmlns:a="http://schemas.openxmlformats.org/drawingml/2006/main">
              <a:ext uri="{FF2B5EF4-FFF2-40B4-BE49-F238E27FC236}">
                <a16:creationId xmlns:a16="http://schemas.microsoft.com/office/drawing/2014/main" id="{CEBB491D-0DDD-40D8-8266-1096D10CF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38300"/>
            <a:ext cx="38100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E7F2E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500" b="1">
                <a:solidFill>
                  <a:srgbClr val="28745A"/>
                </a:solidFill>
              </a:defRPr>
            </a:pPr>
            <a:r>
              <a:rPr sz="1500" b="1">
                <a:solidFill>
                  <a:srgbClr val="28745A"/>
                </a:solidFill>
                <a:latin typeface="Microsoft YaHei"/>
                <a:ea typeface="Microsoft YaHei"/>
                <a:cs typeface="Microsoft YaHei"/>
              </a:rPr>
              <a:t>✓  机制假设列表</a:t>
            </a:r>
          </a:p>
          <a:p xmlns:a="http://schemas.openxmlformats.org/drawingml/2006/main">
            <a:pPr algn="ctr">
              <a:lnSpc>
                <a:spcPct val="115000"/>
              </a:lnSpc>
              <a:buNone/>
              <a:defRPr sz="1500" b="1">
                <a:solidFill>
                  <a:srgbClr val="28745A"/>
                </a:solidFill>
              </a:defRPr>
            </a:pPr>
            <a:r>
              <a:rPr sz="1500" b="1">
                <a:solidFill>
                  <a:srgbClr val="28745A"/>
                </a:solidFill>
                <a:latin typeface="Microsoft YaHei"/>
                <a:ea typeface="Microsoft YaHei"/>
                <a:cs typeface="Microsoft YaHei"/>
              </a:rPr>
              <a:t>含淘汰理由</a:t>
            </a:r>
          </a:p>
        </p:txBody>
      </p:sp>
      <p:sp>
        <p:nvSpPr>
          <p:cNvPr id="8" name="p02-left-1">
            <a:extLst xmlns:a="http://schemas.openxmlformats.org/drawingml/2006/main">
              <a:ext uri="{FF2B5EF4-FFF2-40B4-BE49-F238E27FC236}">
                <a16:creationId xmlns:a16="http://schemas.microsoft.com/office/drawing/2014/main" id="{1C4C1EED-0A87-4E41-8800-EA8DC3A8F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05100"/>
            <a:ext cx="38100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E7F2E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500" b="1">
                <a:solidFill>
                  <a:srgbClr val="28745A"/>
                </a:solidFill>
              </a:defRPr>
            </a:pPr>
            <a:r>
              <a:rPr sz="1500" b="1">
                <a:solidFill>
                  <a:srgbClr val="28745A"/>
                </a:solidFill>
                <a:latin typeface="Microsoft YaHei"/>
                <a:ea typeface="Microsoft YaHei"/>
                <a:cs typeface="Microsoft YaHei"/>
              </a:rPr>
              <a:t>✓  研究判断记录</a:t>
            </a:r>
          </a:p>
          <a:p xmlns:a="http://schemas.openxmlformats.org/drawingml/2006/main">
            <a:pPr algn="ctr">
              <a:lnSpc>
                <a:spcPct val="115000"/>
              </a:lnSpc>
              <a:buNone/>
              <a:defRPr sz="1500" b="1">
                <a:solidFill>
                  <a:srgbClr val="28745A"/>
                </a:solidFill>
              </a:defRPr>
            </a:pPr>
            <a:r>
              <a:rPr sz="1500" b="1">
                <a:solidFill>
                  <a:srgbClr val="28745A"/>
                </a:solidFill>
                <a:latin typeface="Microsoft YaHei"/>
                <a:ea typeface="Microsoft YaHei"/>
                <a:cs typeface="Microsoft YaHei"/>
              </a:rPr>
              <a:t>已有初版</a:t>
            </a:r>
          </a:p>
        </p:txBody>
      </p:sp>
      <p:sp>
        <p:nvSpPr>
          <p:cNvPr id="9" name="p02-left-2">
            <a:extLst xmlns:a="http://schemas.openxmlformats.org/drawingml/2006/main">
              <a:ext uri="{FF2B5EF4-FFF2-40B4-BE49-F238E27FC236}">
                <a16:creationId xmlns:a16="http://schemas.microsoft.com/office/drawing/2014/main" id="{24EA5068-1C10-46A7-9917-F2E777665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71900"/>
            <a:ext cx="38100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E7F2E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500" b="1">
                <a:solidFill>
                  <a:srgbClr val="28745A"/>
                </a:solidFill>
              </a:defRPr>
            </a:pPr>
            <a:r>
              <a:rPr sz="1500" b="1">
                <a:solidFill>
                  <a:srgbClr val="28745A"/>
                </a:solidFill>
                <a:latin typeface="Microsoft YaHei"/>
                <a:ea typeface="Microsoft YaHei"/>
                <a:cs typeface="Microsoft YaHei"/>
              </a:rPr>
              <a:t>✓  实验规格草图</a:t>
            </a:r>
          </a:p>
          <a:p xmlns:a="http://schemas.openxmlformats.org/drawingml/2006/main">
            <a:pPr algn="ctr">
              <a:lnSpc>
                <a:spcPct val="115000"/>
              </a:lnSpc>
              <a:buNone/>
              <a:defRPr sz="1500" b="1">
                <a:solidFill>
                  <a:srgbClr val="28745A"/>
                </a:solidFill>
              </a:defRPr>
            </a:pPr>
            <a:r>
              <a:rPr sz="1500" b="1">
                <a:solidFill>
                  <a:srgbClr val="28745A"/>
                </a:solidFill>
                <a:latin typeface="Microsoft YaHei"/>
                <a:ea typeface="Microsoft YaHei"/>
                <a:cs typeface="Microsoft YaHei"/>
              </a:rPr>
              <a:t>变量·baseline·停止·失败</a:t>
            </a:r>
          </a:p>
        </p:txBody>
      </p:sp>
      <p:sp>
        <p:nvSpPr>
          <p:cNvPr id="10" name="p02-separator">
            <a:extLst xmlns:a="http://schemas.openxmlformats.org/drawingml/2006/main">
              <a:ext uri="{FF2B5EF4-FFF2-40B4-BE49-F238E27FC236}">
                <a16:creationId xmlns:a16="http://schemas.microsoft.com/office/drawing/2014/main" id="{F7E9E459-E912-4340-9051-6B1D2874B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91000" y="2990850"/>
            <a:ext cx="3714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D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02-ne">
            <a:extLst xmlns:a="http://schemas.openxmlformats.org/drawingml/2006/main">
              <a:ext uri="{FF2B5EF4-FFF2-40B4-BE49-F238E27FC236}">
                <a16:creationId xmlns:a16="http://schemas.microsoft.com/office/drawing/2014/main" id="{E3154551-0300-4A1F-95C9-F4DEE077E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590800"/>
            <a:ext cx="857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C8161E"/>
                </a:solidFill>
              </a:defRPr>
            </a:pPr>
            <a:r>
              <a:rPr sz="330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≠</a:t>
            </a:r>
          </a:p>
        </p:txBody>
      </p:sp>
      <p:sp>
        <p:nvSpPr>
          <p:cNvPr id="12" name="p02-right-title">
            <a:extLst xmlns:a="http://schemas.openxmlformats.org/drawingml/2006/main">
              <a:ext uri="{FF2B5EF4-FFF2-40B4-BE49-F238E27FC236}">
                <a16:creationId xmlns:a16="http://schemas.microsoft.com/office/drawing/2014/main" id="{4E486997-DDCC-4730-AA3A-14917207D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990600"/>
            <a:ext cx="400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C8161E"/>
                </a:solidFill>
              </a:defRPr>
            </a:pPr>
            <a:r>
              <a:rPr sz="187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仍未完成</a:t>
            </a:r>
          </a:p>
        </p:txBody>
      </p:sp>
      <p:sp>
        <p:nvSpPr>
          <p:cNvPr id="13" name="p02-right-0">
            <a:extLst xmlns:a="http://schemas.openxmlformats.org/drawingml/2006/main">
              <a:ext uri="{FF2B5EF4-FFF2-40B4-BE49-F238E27FC236}">
                <a16:creationId xmlns:a16="http://schemas.microsoft.com/office/drawing/2014/main" id="{45C027F7-51E6-4B91-B91F-C39D4DE0F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638300"/>
            <a:ext cx="38100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500" b="1">
                <a:solidFill>
                  <a:srgbClr val="C8161E"/>
                </a:solidFill>
              </a:defRPr>
            </a:pPr>
            <a:r>
              <a:rPr sz="150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?  让方案经受</a:t>
            </a:r>
          </a:p>
          <a:p xmlns:a="http://schemas.openxmlformats.org/drawingml/2006/main">
            <a:pPr algn="ctr">
              <a:lnSpc>
                <a:spcPct val="115000"/>
              </a:lnSpc>
              <a:buNone/>
              <a:defRPr sz="1500" b="1">
                <a:solidFill>
                  <a:srgbClr val="C8161E"/>
                </a:solidFill>
              </a:defRPr>
            </a:pPr>
            <a:r>
              <a:rPr sz="150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外部质询</a:t>
            </a:r>
          </a:p>
        </p:txBody>
      </p:sp>
      <p:sp>
        <p:nvSpPr>
          <p:cNvPr id="14" name="p02-right-1">
            <a:extLst xmlns:a="http://schemas.openxmlformats.org/drawingml/2006/main">
              <a:ext uri="{FF2B5EF4-FFF2-40B4-BE49-F238E27FC236}">
                <a16:creationId xmlns:a16="http://schemas.microsoft.com/office/drawing/2014/main" id="{FA0654CD-7626-4F3C-AD63-083299F97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705100"/>
            <a:ext cx="38100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500" b="1">
                <a:solidFill>
                  <a:srgbClr val="C8161E"/>
                </a:solidFill>
              </a:defRPr>
            </a:pPr>
            <a:r>
              <a:rPr sz="150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?  把反馈转成</a:t>
            </a:r>
          </a:p>
          <a:p xmlns:a="http://schemas.openxmlformats.org/drawingml/2006/main">
            <a:pPr algn="ctr">
              <a:lnSpc>
                <a:spcPct val="115000"/>
              </a:lnSpc>
              <a:buNone/>
              <a:defRPr sz="1500" b="1">
                <a:solidFill>
                  <a:srgbClr val="C8161E"/>
                </a:solidFill>
              </a:defRPr>
            </a:pPr>
            <a:r>
              <a:rPr sz="150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可追溯决策</a:t>
            </a:r>
          </a:p>
        </p:txBody>
      </p:sp>
      <p:sp>
        <p:nvSpPr>
          <p:cNvPr id="15" name="p02-right-2">
            <a:extLst xmlns:a="http://schemas.openxmlformats.org/drawingml/2006/main">
              <a:ext uri="{FF2B5EF4-FFF2-40B4-BE49-F238E27FC236}">
                <a16:creationId xmlns:a16="http://schemas.microsoft.com/office/drawing/2014/main" id="{B5118396-53F0-4D6A-9717-EBC37ACDE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771900"/>
            <a:ext cx="38100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500" b="1">
                <a:solidFill>
                  <a:srgbClr val="C8161E"/>
                </a:solidFill>
              </a:defRPr>
            </a:pPr>
            <a:r>
              <a:rPr sz="150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?  对照判断门</a:t>
            </a:r>
          </a:p>
          <a:p xmlns:a="http://schemas.openxmlformats.org/drawingml/2006/main">
            <a:pPr algn="ctr">
              <a:lnSpc>
                <a:spcPct val="115000"/>
              </a:lnSpc>
              <a:buNone/>
              <a:defRPr sz="1500" b="1">
                <a:solidFill>
                  <a:srgbClr val="C8161E"/>
                </a:solidFill>
              </a:defRPr>
            </a:pPr>
            <a:r>
              <a:rPr sz="150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预检缺口</a:t>
            </a:r>
          </a:p>
        </p:txBody>
      </p:sp>
      <p:sp>
        <p:nvSpPr>
          <p:cNvPr id="16" name="p02-bottom">
            <a:extLst xmlns:a="http://schemas.openxmlformats.org/drawingml/2006/main">
              <a:ext uri="{FF2B5EF4-FFF2-40B4-BE49-F238E27FC236}">
                <a16:creationId xmlns:a16="http://schemas.microsoft.com/office/drawing/2014/main" id="{0446E276-CF31-473B-97A8-8CEA96445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21970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C8161E"/>
                </a:solidFill>
              </a:defRPr>
            </a:pPr>
            <a:r>
              <a:rPr sz="180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内部工件完整，不等于经外部质询后仍成立。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28575"/>
            <a:ext cx="10668000" cy="628650"/>
          </a:xfrm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本课跑通陈述—反馈—决策—预检链路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02359C0-8A7A-196E-DD58-8E6569619F09}" type="slidenum">
              <a:t>3</a:t>
            </a:fld>
            <a:endParaRPr/>
          </a:p>
        </p:txBody>
      </p:sp>
      <p:sp>
        <p:nvSpPr>
          <p:cNvPr id="6" name="p03-link-0">
            <a:extLst xmlns:a="http://schemas.openxmlformats.org/drawingml/2006/main">
              <a:ext uri="{FF2B5EF4-FFF2-40B4-BE49-F238E27FC236}">
                <a16:creationId xmlns:a16="http://schemas.microsoft.com/office/drawing/2014/main" id="{651EF755-7DE7-4116-8511-4422211AB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81250" y="1885950"/>
            <a:ext cx="666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D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p03-link-1">
            <a:extLst xmlns:a="http://schemas.openxmlformats.org/drawingml/2006/main">
              <a:ext uri="{FF2B5EF4-FFF2-40B4-BE49-F238E27FC236}">
                <a16:creationId xmlns:a16="http://schemas.microsoft.com/office/drawing/2014/main" id="{0807AF16-B910-42F1-9E32-95F4FDA8A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53000" y="1885950"/>
            <a:ext cx="666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D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p03-link-2">
            <a:extLst xmlns:a="http://schemas.openxmlformats.org/drawingml/2006/main">
              <a:ext uri="{FF2B5EF4-FFF2-40B4-BE49-F238E27FC236}">
                <a16:creationId xmlns:a16="http://schemas.microsoft.com/office/drawing/2014/main" id="{55775009-A0C9-4308-8832-5799AC26A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24750" y="1885950"/>
            <a:ext cx="666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D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p03-n-0">
            <a:extLst xmlns:a="http://schemas.openxmlformats.org/drawingml/2006/main">
              <a:ext uri="{FF2B5EF4-FFF2-40B4-BE49-F238E27FC236}">
                <a16:creationId xmlns:a16="http://schemas.microsoft.com/office/drawing/2014/main" id="{74295398-71F4-4DA7-AE7B-B48CE800D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0" name="p03-chain-0">
            <a:extLst xmlns:a="http://schemas.openxmlformats.org/drawingml/2006/main">
              <a:ext uri="{FF2B5EF4-FFF2-40B4-BE49-F238E27FC236}">
                <a16:creationId xmlns:a16="http://schemas.microsoft.com/office/drawing/2014/main" id="{96BA0947-0E49-4808-AF9F-C89E230B4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466850"/>
            <a:ext cx="18097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8F0F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425" b="1">
                <a:solidFill>
                  <a:srgbClr val="18354E"/>
                </a:solidFill>
              </a:defRPr>
            </a:pPr>
            <a:r>
              <a:rPr sz="1425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3 分钟陈述</a:t>
            </a:r>
          </a:p>
        </p:txBody>
      </p:sp>
      <p:sp>
        <p:nvSpPr>
          <p:cNvPr id="11" name="p03-n-1">
            <a:extLst xmlns:a="http://schemas.openxmlformats.org/drawingml/2006/main">
              <a:ext uri="{FF2B5EF4-FFF2-40B4-BE49-F238E27FC236}">
                <a16:creationId xmlns:a16="http://schemas.microsoft.com/office/drawing/2014/main" id="{E2009BE8-989A-4D6B-9A9B-F2EBD3E91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466850"/>
            <a:ext cx="5143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2" name="p03-chain-1">
            <a:extLst xmlns:a="http://schemas.openxmlformats.org/drawingml/2006/main">
              <a:ext uri="{FF2B5EF4-FFF2-40B4-BE49-F238E27FC236}">
                <a16:creationId xmlns:a16="http://schemas.microsoft.com/office/drawing/2014/main" id="{641442AB-E137-419A-BA50-5D1D40893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1466850"/>
            <a:ext cx="18097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8F0F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425" b="1">
                <a:solidFill>
                  <a:srgbClr val="18354E"/>
                </a:solidFill>
              </a:defRPr>
            </a:pPr>
            <a:r>
              <a:rPr sz="1425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结构化反馈</a:t>
            </a:r>
          </a:p>
        </p:txBody>
      </p:sp>
      <p:sp>
        <p:nvSpPr>
          <p:cNvPr id="13" name="p03-n-2">
            <a:extLst xmlns:a="http://schemas.openxmlformats.org/drawingml/2006/main">
              <a:ext uri="{FF2B5EF4-FFF2-40B4-BE49-F238E27FC236}">
                <a16:creationId xmlns:a16="http://schemas.microsoft.com/office/drawing/2014/main" id="{96E1F713-9527-40AC-AFB5-96145610F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466850"/>
            <a:ext cx="5143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4" name="p03-chain-2">
            <a:extLst xmlns:a="http://schemas.openxmlformats.org/drawingml/2006/main">
              <a:ext uri="{FF2B5EF4-FFF2-40B4-BE49-F238E27FC236}">
                <a16:creationId xmlns:a16="http://schemas.microsoft.com/office/drawing/2014/main" id="{163728A0-E340-42AF-8741-298C45952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466850"/>
            <a:ext cx="18097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425" b="1">
                <a:solidFill>
                  <a:srgbClr val="C8161E"/>
                </a:solidFill>
              </a:defRPr>
            </a:pPr>
            <a:r>
              <a:rPr sz="142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采纳决策</a:t>
            </a:r>
          </a:p>
        </p:txBody>
      </p:sp>
      <p:sp>
        <p:nvSpPr>
          <p:cNvPr id="15" name="p03-n-3">
            <a:extLst xmlns:a="http://schemas.openxmlformats.org/drawingml/2006/main">
              <a:ext uri="{FF2B5EF4-FFF2-40B4-BE49-F238E27FC236}">
                <a16:creationId xmlns:a16="http://schemas.microsoft.com/office/drawing/2014/main" id="{C5B5E15E-710B-4E67-A789-CC8803BD6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466850"/>
            <a:ext cx="5143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6" name="p03-chain-3">
            <a:extLst xmlns:a="http://schemas.openxmlformats.org/drawingml/2006/main">
              <a:ext uri="{FF2B5EF4-FFF2-40B4-BE49-F238E27FC236}">
                <a16:creationId xmlns:a16="http://schemas.microsoft.com/office/drawing/2014/main" id="{FD8FFCB0-4FB7-449E-94E9-1E0FD2E5A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1466850"/>
            <a:ext cx="18097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8F0F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425" b="1">
                <a:solidFill>
                  <a:srgbClr val="18354E"/>
                </a:solidFill>
              </a:defRPr>
            </a:pPr>
            <a:r>
              <a:rPr sz="1425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判断门预检</a:t>
            </a:r>
          </a:p>
        </p:txBody>
      </p:sp>
      <p:sp>
        <p:nvSpPr>
          <p:cNvPr id="17" name="p03-output-title">
            <a:extLst xmlns:a="http://schemas.openxmlformats.org/drawingml/2006/main">
              <a:ext uri="{FF2B5EF4-FFF2-40B4-BE49-F238E27FC236}">
                <a16:creationId xmlns:a16="http://schemas.microsoft.com/office/drawing/2014/main" id="{C5B1024D-F6C0-4D4D-B644-90581E350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71750"/>
            <a:ext cx="10782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C8161E"/>
                </a:solidFill>
              </a:defRPr>
            </a:pPr>
            <a:r>
              <a:rPr sz="187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课堂可检查产出</a:t>
            </a:r>
          </a:p>
        </p:txBody>
      </p:sp>
      <p:sp>
        <p:nvSpPr>
          <p:cNvPr id="18" name="p03-out-label-0">
            <a:extLst xmlns:a="http://schemas.openxmlformats.org/drawingml/2006/main">
              <a:ext uri="{FF2B5EF4-FFF2-40B4-BE49-F238E27FC236}">
                <a16:creationId xmlns:a16="http://schemas.microsoft.com/office/drawing/2014/main" id="{C3247617-A5AA-4496-A94A-CDE9325C5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81350"/>
            <a:ext cx="25146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分享页</a:t>
            </a:r>
          </a:p>
        </p:txBody>
      </p:sp>
      <p:sp>
        <p:nvSpPr>
          <p:cNvPr id="19" name="p03-out-detail-0">
            <a:extLst xmlns:a="http://schemas.openxmlformats.org/drawingml/2006/main">
              <a:ext uri="{FF2B5EF4-FFF2-40B4-BE49-F238E27FC236}">
                <a16:creationId xmlns:a16="http://schemas.microsoft.com/office/drawing/2014/main" id="{BB37BE63-F7B9-4EF1-A353-A3D65BCF8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95700"/>
            <a:ext cx="25146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425" b="1">
                <a:solidFill>
                  <a:srgbClr val="263746"/>
                </a:solidFill>
              </a:defRPr>
            </a:pPr>
            <a:r>
              <a:rPr sz="142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五段结构</a:t>
            </a:r>
          </a:p>
        </p:txBody>
      </p:sp>
      <p:sp>
        <p:nvSpPr>
          <p:cNvPr id="20" name="p03-out-label-1">
            <a:extLst xmlns:a="http://schemas.openxmlformats.org/drawingml/2006/main">
              <a:ext uri="{FF2B5EF4-FFF2-40B4-BE49-F238E27FC236}">
                <a16:creationId xmlns:a16="http://schemas.microsoft.com/office/drawing/2014/main" id="{C32F9EB4-B0A8-4B4D-9D11-BC9A2DFC9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181350"/>
            <a:ext cx="25146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反馈记录</a:t>
            </a:r>
          </a:p>
        </p:txBody>
      </p:sp>
      <p:sp>
        <p:nvSpPr>
          <p:cNvPr id="21" name="p03-out-detail-1">
            <a:extLst xmlns:a="http://schemas.openxmlformats.org/drawingml/2006/main">
              <a:ext uri="{FF2B5EF4-FFF2-40B4-BE49-F238E27FC236}">
                <a16:creationId xmlns:a16="http://schemas.microsoft.com/office/drawing/2014/main" id="{AAE87C8B-121C-4D04-995A-B71B2E85D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695700"/>
            <a:ext cx="25146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425" b="1">
                <a:solidFill>
                  <a:srgbClr val="263746"/>
                </a:solidFill>
              </a:defRPr>
            </a:pPr>
            <a:r>
              <a:rPr sz="142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至少 2 位同伴</a:t>
            </a:r>
          </a:p>
        </p:txBody>
      </p:sp>
      <p:sp>
        <p:nvSpPr>
          <p:cNvPr id="22" name="p03-out-label-2">
            <a:extLst xmlns:a="http://schemas.openxmlformats.org/drawingml/2006/main">
              <a:ext uri="{FF2B5EF4-FFF2-40B4-BE49-F238E27FC236}">
                <a16:creationId xmlns:a16="http://schemas.microsoft.com/office/drawing/2014/main" id="{444B94A7-7DFF-421D-B09E-5F9FA3C68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181350"/>
            <a:ext cx="25146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决策表</a:t>
            </a:r>
          </a:p>
        </p:txBody>
      </p:sp>
      <p:sp>
        <p:nvSpPr>
          <p:cNvPr id="23" name="p03-out-detail-2">
            <a:extLst xmlns:a="http://schemas.openxmlformats.org/drawingml/2006/main">
              <a:ext uri="{FF2B5EF4-FFF2-40B4-BE49-F238E27FC236}">
                <a16:creationId xmlns:a16="http://schemas.microsoft.com/office/drawing/2014/main" id="{D28BEC7E-5070-45BC-ABE6-445F891AA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695700"/>
            <a:ext cx="25146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425" b="1">
                <a:solidFill>
                  <a:srgbClr val="263746"/>
                </a:solidFill>
              </a:defRPr>
            </a:pPr>
            <a:r>
              <a:rPr sz="142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至少 2 条：1 采纳 + 1 拒绝/暂缓</a:t>
            </a:r>
          </a:p>
        </p:txBody>
      </p:sp>
      <p:sp>
        <p:nvSpPr>
          <p:cNvPr id="24" name="p03-out-label-3">
            <a:extLst xmlns:a="http://schemas.openxmlformats.org/drawingml/2006/main">
              <a:ext uri="{FF2B5EF4-FFF2-40B4-BE49-F238E27FC236}">
                <a16:creationId xmlns:a16="http://schemas.microsoft.com/office/drawing/2014/main" id="{8543D8E8-2BE7-4C13-9826-501C34FAE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181350"/>
            <a:ext cx="25146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缺口清单</a:t>
            </a:r>
          </a:p>
        </p:txBody>
      </p:sp>
      <p:sp>
        <p:nvSpPr>
          <p:cNvPr id="25" name="p03-out-detail-3">
            <a:extLst xmlns:a="http://schemas.openxmlformats.org/drawingml/2006/main">
              <a:ext uri="{FF2B5EF4-FFF2-40B4-BE49-F238E27FC236}">
                <a16:creationId xmlns:a16="http://schemas.microsoft.com/office/drawing/2014/main" id="{97AFAEC4-DA7F-4D66-A663-2D3BE9A97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695700"/>
            <a:ext cx="25146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425" b="1">
                <a:solidFill>
                  <a:srgbClr val="263746"/>
                </a:solidFill>
              </a:defRPr>
            </a:pPr>
            <a:r>
              <a:rPr sz="142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判断门已满足 / 部分 / 未覆盖</a:t>
            </a:r>
          </a:p>
        </p:txBody>
      </p:sp>
      <p:sp>
        <p:nvSpPr>
          <p:cNvPr id="26" name="p03-bottom">
            <a:extLst xmlns:a="http://schemas.openxmlformats.org/drawingml/2006/main">
              <a:ext uri="{FF2B5EF4-FFF2-40B4-BE49-F238E27FC236}">
                <a16:creationId xmlns:a16="http://schemas.microsoft.com/office/drawing/2014/main" id="{25AC0FAC-5F79-4A1E-B3DF-8492B6887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219700"/>
            <a:ext cx="857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C8161E"/>
                </a:solidFill>
              </a:defRPr>
            </a:pPr>
            <a:r>
              <a:rPr sz="157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形成性活动：不新增正式提交；全部产出直接进入第 9 课判断门准备。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28575"/>
            <a:ext cx="10668000" cy="628650"/>
          </a:xfrm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 分钟陈述要暴露一个可被质询的最小方案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FD6AB9A-5F9E-5F59-51AB-3C8734130965}" type="slidenum">
              <a:t>4</a:t>
            </a:fld>
            <a:endParaRPr/>
          </a:p>
        </p:txBody>
      </p:sp>
      <p:sp>
        <p:nvSpPr>
          <p:cNvPr id="6" name="p04-part-0">
            <a:extLst xmlns:a="http://schemas.openxmlformats.org/drawingml/2006/main">
              <a:ext uri="{FF2B5EF4-FFF2-40B4-BE49-F238E27FC236}">
                <a16:creationId xmlns:a16="http://schemas.microsoft.com/office/drawing/2014/main" id="{A296C42E-62F2-4028-84B7-5421B27CA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428750"/>
            <a:ext cx="20002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E8F0F6"/>
          </a:solidFill>
          <a:ln xmlns:a="http://schemas.openxmlformats.org/drawingml/2006/main" w="19050">
            <a:solidFill>
              <a:srgbClr val="18354E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425" b="1">
                <a:solidFill>
                  <a:srgbClr val="18354E"/>
                </a:solidFill>
              </a:defRPr>
            </a:pPr>
            <a:r>
              <a:rPr sz="1425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1  研究问题</a:t>
            </a:r>
          </a:p>
          <a:p xmlns:a="http://schemas.openxmlformats.org/drawingml/2006/main">
            <a:pPr algn="ctr">
              <a:lnSpc>
                <a:spcPct val="125000"/>
              </a:lnSpc>
              <a:buNone/>
              <a:defRPr sz="1425" b="1">
                <a:solidFill>
                  <a:srgbClr val="18354E"/>
                </a:solidFill>
              </a:defRPr>
            </a:pPr>
            <a:r>
              <a:rPr sz="1425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范围·非例·可证伪</a:t>
            </a:r>
          </a:p>
        </p:txBody>
      </p:sp>
      <p:sp>
        <p:nvSpPr>
          <p:cNvPr id="7" name="p04-time-0">
            <a:extLst xmlns:a="http://schemas.openxmlformats.org/drawingml/2006/main">
              <a:ext uri="{FF2B5EF4-FFF2-40B4-BE49-F238E27FC236}">
                <a16:creationId xmlns:a16="http://schemas.microsoft.com/office/drawing/2014/main" id="{43019E4A-3E38-4887-892C-9A85FC45E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143250"/>
            <a:ext cx="200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667684"/>
                </a:solidFill>
              </a:defRPr>
            </a:pPr>
            <a:r>
              <a:rPr sz="1350" b="1">
                <a:solidFill>
                  <a:srgbClr val="667684"/>
                </a:solidFill>
                <a:latin typeface="Arial"/>
                <a:ea typeface="Arial"/>
                <a:cs typeface="Arial"/>
              </a:rPr>
              <a:t>35s</a:t>
            </a:r>
          </a:p>
        </p:txBody>
      </p:sp>
      <p:sp>
        <p:nvSpPr>
          <p:cNvPr id="8" name="p04-part-1">
            <a:extLst xmlns:a="http://schemas.openxmlformats.org/drawingml/2006/main">
              <a:ext uri="{FF2B5EF4-FFF2-40B4-BE49-F238E27FC236}">
                <a16:creationId xmlns:a16="http://schemas.microsoft.com/office/drawing/2014/main" id="{BB4C9A24-E58D-4E0F-8865-8336BDF4F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428750"/>
            <a:ext cx="213360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E7F2ED"/>
          </a:solidFill>
          <a:ln xmlns:a="http://schemas.openxmlformats.org/drawingml/2006/main" w="19050">
            <a:solidFill>
              <a:srgbClr val="28745A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425" b="1">
                <a:solidFill>
                  <a:srgbClr val="28745A"/>
                </a:solidFill>
              </a:defRPr>
            </a:pPr>
            <a:r>
              <a:rPr sz="1425" b="1">
                <a:solidFill>
                  <a:srgbClr val="28745A"/>
                </a:solidFill>
                <a:latin typeface="Microsoft YaHei"/>
                <a:ea typeface="Microsoft YaHei"/>
                <a:cs typeface="Microsoft YaHei"/>
              </a:rPr>
              <a:t>2  关键证据</a:t>
            </a:r>
          </a:p>
          <a:p xmlns:a="http://schemas.openxmlformats.org/drawingml/2006/main">
            <a:pPr algn="ctr">
              <a:lnSpc>
                <a:spcPct val="125000"/>
              </a:lnSpc>
              <a:buNone/>
              <a:defRPr sz="1425" b="1">
                <a:solidFill>
                  <a:srgbClr val="28745A"/>
                </a:solidFill>
              </a:defRPr>
            </a:pPr>
            <a:r>
              <a:rPr sz="1425" b="1">
                <a:solidFill>
                  <a:srgbClr val="28745A"/>
                </a:solidFill>
                <a:latin typeface="Microsoft YaHei"/>
                <a:ea typeface="Microsoft YaHei"/>
                <a:cs typeface="Microsoft YaHei"/>
              </a:rPr>
              <a:t>支持什么 / 不支持什么</a:t>
            </a:r>
          </a:p>
        </p:txBody>
      </p:sp>
      <p:sp>
        <p:nvSpPr>
          <p:cNvPr id="9" name="p04-time-1">
            <a:extLst xmlns:a="http://schemas.openxmlformats.org/drawingml/2006/main">
              <a:ext uri="{FF2B5EF4-FFF2-40B4-BE49-F238E27FC236}">
                <a16:creationId xmlns:a16="http://schemas.microsoft.com/office/drawing/2014/main" id="{EEA02290-2A03-4141-BA1C-471433E5B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143250"/>
            <a:ext cx="2133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667684"/>
                </a:solidFill>
              </a:defRPr>
            </a:pPr>
            <a:r>
              <a:rPr sz="1350" b="1">
                <a:solidFill>
                  <a:srgbClr val="667684"/>
                </a:solidFill>
                <a:latin typeface="Arial"/>
                <a:ea typeface="Arial"/>
                <a:cs typeface="Arial"/>
              </a:rPr>
              <a:t>40s</a:t>
            </a:r>
          </a:p>
        </p:txBody>
      </p:sp>
      <p:sp>
        <p:nvSpPr>
          <p:cNvPr id="10" name="p04-part-2">
            <a:extLst xmlns:a="http://schemas.openxmlformats.org/drawingml/2006/main">
              <a:ext uri="{FF2B5EF4-FFF2-40B4-BE49-F238E27FC236}">
                <a16:creationId xmlns:a16="http://schemas.microsoft.com/office/drawing/2014/main" id="{59B9681C-A0E9-4EBF-91A7-7A6AFB3C5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1428750"/>
            <a:ext cx="25717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8E9EA"/>
          </a:solidFill>
          <a:ln xmlns:a="http://schemas.openxmlformats.org/drawingml/2006/main" w="19050">
            <a:solidFill>
              <a:srgbClr val="C8161E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425" b="1">
                <a:solidFill>
                  <a:srgbClr val="C8161E"/>
                </a:solidFill>
              </a:defRPr>
            </a:pPr>
            <a:r>
              <a:rPr sz="142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3  机制假设</a:t>
            </a:r>
          </a:p>
          <a:p xmlns:a="http://schemas.openxmlformats.org/drawingml/2006/main">
            <a:pPr algn="ctr">
              <a:lnSpc>
                <a:spcPct val="125000"/>
              </a:lnSpc>
              <a:buNone/>
              <a:defRPr sz="1425" b="1">
                <a:solidFill>
                  <a:srgbClr val="C8161E"/>
                </a:solidFill>
              </a:defRPr>
            </a:pPr>
            <a:r>
              <a:rPr sz="142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中间过程 + 替代假设</a:t>
            </a:r>
          </a:p>
        </p:txBody>
      </p:sp>
      <p:sp>
        <p:nvSpPr>
          <p:cNvPr id="11" name="p04-time-2">
            <a:extLst xmlns:a="http://schemas.openxmlformats.org/drawingml/2006/main">
              <a:ext uri="{FF2B5EF4-FFF2-40B4-BE49-F238E27FC236}">
                <a16:creationId xmlns:a16="http://schemas.microsoft.com/office/drawing/2014/main" id="{B429DB71-0DE0-4B5C-A417-739575EA7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143250"/>
            <a:ext cx="257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667684"/>
                </a:solidFill>
              </a:defRPr>
            </a:pPr>
            <a:r>
              <a:rPr sz="1350" b="1">
                <a:solidFill>
                  <a:srgbClr val="667684"/>
                </a:solidFill>
                <a:latin typeface="Arial"/>
                <a:ea typeface="Arial"/>
                <a:cs typeface="Arial"/>
              </a:rPr>
              <a:t>50s</a:t>
            </a:r>
          </a:p>
        </p:txBody>
      </p:sp>
      <p:sp>
        <p:nvSpPr>
          <p:cNvPr id="12" name="p04-part-3">
            <a:extLst xmlns:a="http://schemas.openxmlformats.org/drawingml/2006/main">
              <a:ext uri="{FF2B5EF4-FFF2-40B4-BE49-F238E27FC236}">
                <a16:creationId xmlns:a16="http://schemas.microsoft.com/office/drawing/2014/main" id="{D8D828FA-1E35-4BEB-AFF8-E9503C4BF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1428750"/>
            <a:ext cx="213360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AF0DD"/>
          </a:solidFill>
          <a:ln xmlns:a="http://schemas.openxmlformats.org/drawingml/2006/main" w="19050">
            <a:solidFill>
              <a:srgbClr val="A86C1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425" b="1">
                <a:solidFill>
                  <a:srgbClr val="A86C12"/>
                </a:solidFill>
              </a:defRPr>
            </a:pPr>
            <a:r>
              <a:rPr sz="1425" b="1">
                <a:solidFill>
                  <a:srgbClr val="A86C12"/>
                </a:solidFill>
                <a:latin typeface="Microsoft YaHei"/>
                <a:ea typeface="Microsoft YaHei"/>
                <a:cs typeface="Microsoft YaHei"/>
              </a:rPr>
              <a:t>4  最小验证</a:t>
            </a:r>
          </a:p>
          <a:p xmlns:a="http://schemas.openxmlformats.org/drawingml/2006/main">
            <a:pPr algn="ctr">
              <a:lnSpc>
                <a:spcPct val="125000"/>
              </a:lnSpc>
              <a:buNone/>
              <a:defRPr sz="1425" b="1">
                <a:solidFill>
                  <a:srgbClr val="A86C12"/>
                </a:solidFill>
              </a:defRPr>
            </a:pPr>
            <a:r>
              <a:rPr sz="1425" b="1">
                <a:solidFill>
                  <a:srgbClr val="A86C12"/>
                </a:solidFill>
                <a:latin typeface="Microsoft YaHei"/>
                <a:ea typeface="Microsoft YaHei"/>
                <a:cs typeface="Microsoft YaHei"/>
              </a:rPr>
              <a:t>变量·基线·停止·预案</a:t>
            </a:r>
          </a:p>
        </p:txBody>
      </p:sp>
      <p:sp>
        <p:nvSpPr>
          <p:cNvPr id="13" name="p04-time-3">
            <a:extLst xmlns:a="http://schemas.openxmlformats.org/drawingml/2006/main">
              <a:ext uri="{FF2B5EF4-FFF2-40B4-BE49-F238E27FC236}">
                <a16:creationId xmlns:a16="http://schemas.microsoft.com/office/drawing/2014/main" id="{316826FF-1B88-4F70-BC59-4EA7EED66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143250"/>
            <a:ext cx="2133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667684"/>
                </a:solidFill>
              </a:defRPr>
            </a:pPr>
            <a:r>
              <a:rPr sz="1350" b="1">
                <a:solidFill>
                  <a:srgbClr val="667684"/>
                </a:solidFill>
                <a:latin typeface="Arial"/>
                <a:ea typeface="Arial"/>
                <a:cs typeface="Arial"/>
              </a:rPr>
              <a:t>40s</a:t>
            </a:r>
          </a:p>
        </p:txBody>
      </p:sp>
      <p:sp>
        <p:nvSpPr>
          <p:cNvPr id="14" name="p04-part-4">
            <a:extLst xmlns:a="http://schemas.openxmlformats.org/drawingml/2006/main">
              <a:ext uri="{FF2B5EF4-FFF2-40B4-BE49-F238E27FC236}">
                <a16:creationId xmlns:a16="http://schemas.microsoft.com/office/drawing/2014/main" id="{1C3CEACD-BBC4-4E11-B969-739B7B5DC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1428750"/>
            <a:ext cx="1390650" cy="165735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F8E9EA"/>
          </a:solidFill>
          <a:ln xmlns:a="http://schemas.openxmlformats.org/drawingml/2006/main" w="19050">
            <a:solidFill>
              <a:srgbClr val="C8161E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350" b="1">
                <a:solidFill>
                  <a:srgbClr val="C8161E"/>
                </a:solidFill>
              </a:defRPr>
            </a:pPr>
            <a:r>
              <a:rPr sz="135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5  最大风险</a:t>
            </a:r>
          </a:p>
          <a:p xmlns:a="http://schemas.openxmlformats.org/drawingml/2006/main">
            <a:pPr algn="ctr">
              <a:lnSpc>
                <a:spcPct val="125000"/>
              </a:lnSpc>
              <a:buNone/>
              <a:defRPr sz="1350" b="1">
                <a:solidFill>
                  <a:srgbClr val="C8161E"/>
                </a:solidFill>
              </a:defRPr>
            </a:pPr>
            <a:r>
              <a:rPr sz="135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最可能使方案不成立</a:t>
            </a:r>
          </a:p>
        </p:txBody>
      </p:sp>
      <p:sp>
        <p:nvSpPr>
          <p:cNvPr id="15" name="p04-time-4">
            <a:extLst xmlns:a="http://schemas.openxmlformats.org/drawingml/2006/main">
              <a:ext uri="{FF2B5EF4-FFF2-40B4-BE49-F238E27FC236}">
                <a16:creationId xmlns:a16="http://schemas.microsoft.com/office/drawing/2014/main" id="{6FFAA392-A319-45B5-A0F6-D0CE73085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143250"/>
            <a:ext cx="1390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667684"/>
                </a:solidFill>
              </a:defRPr>
            </a:pPr>
            <a:r>
              <a:rPr sz="1350" b="1">
                <a:solidFill>
                  <a:srgbClr val="667684"/>
                </a:solidFill>
                <a:latin typeface="Arial"/>
                <a:ea typeface="Arial"/>
                <a:cs typeface="Arial"/>
              </a:rPr>
              <a:t>15s</a:t>
            </a:r>
          </a:p>
        </p:txBody>
      </p:sp>
      <p:sp>
        <p:nvSpPr>
          <p:cNvPr id="16" name="p04-example-label">
            <a:extLst xmlns:a="http://schemas.openxmlformats.org/drawingml/2006/main">
              <a:ext uri="{FF2B5EF4-FFF2-40B4-BE49-F238E27FC236}">
                <a16:creationId xmlns:a16="http://schemas.microsoft.com/office/drawing/2014/main" id="{3D581988-D2E2-4AF2-A259-0B29B3C99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43350"/>
            <a:ext cx="2476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贯穿案例的机制句</a:t>
            </a:r>
          </a:p>
        </p:txBody>
      </p:sp>
      <p:sp>
        <p:nvSpPr>
          <p:cNvPr id="17" name="p04-example">
            <a:extLst xmlns:a="http://schemas.openxmlformats.org/drawingml/2006/main">
              <a:ext uri="{FF2B5EF4-FFF2-40B4-BE49-F238E27FC236}">
                <a16:creationId xmlns:a16="http://schemas.microsoft.com/office/drawing/2014/main" id="{734FA1FE-BEB3-44D2-BD17-EA03758A8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943350"/>
            <a:ext cx="8001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8354E"/>
                </a:solidFill>
              </a:defRPr>
            </a:pPr>
            <a:r>
              <a:rPr sz="1575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字段约束 → 生成时强制标注限定条件 → 错读更易在核验阶段暴露</a:t>
            </a:r>
          </a:p>
        </p:txBody>
      </p:sp>
      <p:sp>
        <p:nvSpPr>
          <p:cNvPr id="18" name="p04-bottom">
            <a:extLst xmlns:a="http://schemas.openxmlformats.org/drawingml/2006/main">
              <a:ext uri="{FF2B5EF4-FFF2-40B4-BE49-F238E27FC236}">
                <a16:creationId xmlns:a16="http://schemas.microsoft.com/office/drawing/2014/main" id="{81604BEC-8BFA-4416-B3AF-DA42BE6B7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991100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C8161E"/>
                </a:solidFill>
              </a:defRPr>
            </a:pPr>
            <a:r>
              <a:rPr sz="172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只说“会更好”不是机制假设：同伴无法检查中间过程。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28575"/>
            <a:ext cx="10668000" cy="628650"/>
          </a:xfrm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同伴先做四维诊断，再检查实验能否改变判断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E5B3003-2C54-13C6-9832-7637201064DE}" type="slidenum">
              <a:t>5</a:t>
            </a:fld>
            <a:endParaRPr/>
          </a:p>
        </p:txBody>
      </p:sp>
      <p:sp>
        <p:nvSpPr>
          <p:cNvPr id="6" name="p05-label-0">
            <a:extLst xmlns:a="http://schemas.openxmlformats.org/drawingml/2006/main">
              <a:ext uri="{FF2B5EF4-FFF2-40B4-BE49-F238E27FC236}">
                <a16:creationId xmlns:a16="http://schemas.microsoft.com/office/drawing/2014/main" id="{BE18CFB8-D68C-4B54-BBFD-420C6C31A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28700"/>
            <a:ext cx="2190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问题重要性</a:t>
            </a:r>
          </a:p>
        </p:txBody>
      </p:sp>
      <p:sp>
        <p:nvSpPr>
          <p:cNvPr id="7" name="p05-q-0">
            <a:extLst xmlns:a="http://schemas.openxmlformats.org/drawingml/2006/main">
              <a:ext uri="{FF2B5EF4-FFF2-40B4-BE49-F238E27FC236}">
                <a16:creationId xmlns:a16="http://schemas.microsoft.com/office/drawing/2014/main" id="{623D1A34-0DBB-4F6B-8D83-28A41E684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1028700"/>
            <a:ext cx="82486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63746"/>
                </a:solidFill>
              </a:defRPr>
            </a:pPr>
            <a:r>
              <a:rPr sz="150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结果会改变什么研究判断或实验行动？</a:t>
            </a:r>
          </a:p>
        </p:txBody>
      </p:sp>
      <p:sp>
        <p:nvSpPr>
          <p:cNvPr id="8" name="p05-label-1">
            <a:extLst xmlns:a="http://schemas.openxmlformats.org/drawingml/2006/main">
              <a:ext uri="{FF2B5EF4-FFF2-40B4-BE49-F238E27FC236}">
                <a16:creationId xmlns:a16="http://schemas.microsoft.com/office/drawing/2014/main" id="{5327CEDD-3559-422B-B8B6-BE32B036B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47850"/>
            <a:ext cx="2190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证据充分性</a:t>
            </a:r>
          </a:p>
        </p:txBody>
      </p:sp>
      <p:sp>
        <p:nvSpPr>
          <p:cNvPr id="9" name="p05-q-1">
            <a:extLst xmlns:a="http://schemas.openxmlformats.org/drawingml/2006/main">
              <a:ext uri="{FF2B5EF4-FFF2-40B4-BE49-F238E27FC236}">
                <a16:creationId xmlns:a16="http://schemas.microsoft.com/office/drawing/2014/main" id="{BC7FDC89-0AE2-45F5-81E5-C7F2BF3A1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1847850"/>
            <a:ext cx="82486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63746"/>
                </a:solidFill>
              </a:defRPr>
            </a:pPr>
            <a:r>
              <a:rPr sz="150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证据可核验吗？支持强度、冲突与缺口清楚吗？</a:t>
            </a:r>
          </a:p>
        </p:txBody>
      </p:sp>
      <p:sp>
        <p:nvSpPr>
          <p:cNvPr id="10" name="p05-label-2">
            <a:extLst xmlns:a="http://schemas.openxmlformats.org/drawingml/2006/main">
              <a:ext uri="{FF2B5EF4-FFF2-40B4-BE49-F238E27FC236}">
                <a16:creationId xmlns:a16="http://schemas.microsoft.com/office/drawing/2014/main" id="{B0F162BF-FDAA-43A0-9586-1D8CA52DF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67000"/>
            <a:ext cx="2190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28745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可检验性</a:t>
            </a:r>
          </a:p>
        </p:txBody>
      </p:sp>
      <p:sp>
        <p:nvSpPr>
          <p:cNvPr id="11" name="p05-q-2">
            <a:extLst xmlns:a="http://schemas.openxmlformats.org/drawingml/2006/main">
              <a:ext uri="{FF2B5EF4-FFF2-40B4-BE49-F238E27FC236}">
                <a16:creationId xmlns:a16="http://schemas.microsoft.com/office/drawing/2014/main" id="{5D8421D6-85D5-4994-8BE1-B9C6125BB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667000"/>
            <a:ext cx="82486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63746"/>
                </a:solidFill>
              </a:defRPr>
            </a:pPr>
            <a:r>
              <a:rPr sz="150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什么结果能推翻？主假设与替代假设可区分吗？</a:t>
            </a:r>
          </a:p>
        </p:txBody>
      </p:sp>
      <p:sp>
        <p:nvSpPr>
          <p:cNvPr id="12" name="p05-label-3">
            <a:extLst xmlns:a="http://schemas.openxmlformats.org/drawingml/2006/main">
              <a:ext uri="{FF2B5EF4-FFF2-40B4-BE49-F238E27FC236}">
                <a16:creationId xmlns:a16="http://schemas.microsoft.com/office/drawing/2014/main" id="{DF89AE2F-1F6A-4E2F-9DE4-639E40AB7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86150"/>
            <a:ext cx="2190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A86C1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课程周期可行性</a:t>
            </a:r>
          </a:p>
        </p:txBody>
      </p:sp>
      <p:sp>
        <p:nvSpPr>
          <p:cNvPr id="13" name="p05-q-3">
            <a:extLst xmlns:a="http://schemas.openxmlformats.org/drawingml/2006/main">
              <a:ext uri="{FF2B5EF4-FFF2-40B4-BE49-F238E27FC236}">
                <a16:creationId xmlns:a16="http://schemas.microsoft.com/office/drawing/2014/main" id="{C30F2D89-31B9-44DC-87F2-379348209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486150"/>
            <a:ext cx="82486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0D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63746"/>
                </a:solidFill>
              </a:defRPr>
            </a:pPr>
            <a:r>
              <a:rPr sz="150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baseline 公平吗？停止条件显式吗？周期内做得完吗？</a:t>
            </a:r>
          </a:p>
        </p:txBody>
      </p:sp>
      <p:sp>
        <p:nvSpPr>
          <p:cNvPr id="14" name="p05-action">
            <a:extLst xmlns:a="http://schemas.openxmlformats.org/drawingml/2006/main">
              <a:ext uri="{FF2B5EF4-FFF2-40B4-BE49-F238E27FC236}">
                <a16:creationId xmlns:a16="http://schemas.microsoft.com/office/drawing/2014/main" id="{4B32538E-71E0-4301-BFBF-4AFA0E7D1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438650"/>
            <a:ext cx="88011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行动性检查｜下一步实验是否能改变当前研究判断？</a:t>
            </a:r>
          </a:p>
        </p:txBody>
      </p:sp>
      <p:sp>
        <p:nvSpPr>
          <p:cNvPr id="15" name="p05-boundary">
            <a:extLst xmlns:a="http://schemas.openxmlformats.org/drawingml/2006/main">
              <a:ext uri="{FF2B5EF4-FFF2-40B4-BE49-F238E27FC236}">
                <a16:creationId xmlns:a16="http://schemas.microsoft.com/office/drawing/2014/main" id="{C9238A1F-E686-4D6B-8865-B3141F2BC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2006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667684"/>
                </a:solidFill>
              </a:defRPr>
            </a:pPr>
            <a:r>
              <a:rPr sz="1425" b="1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rPr>
              <a:t>边界不替代重要性：范围、非例和外推限制仍写入陈述与研究判断。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28575"/>
            <a:ext cx="10668000" cy="628650"/>
          </a:xfrm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三问把分散意见压缩成可行动反馈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C630A04-5A25-9E0C-9436-126091DB86B3}" type="slidenum">
              <a:t>6</a:t>
            </a:fld>
            <a:endParaRPr/>
          </a:p>
        </p:txBody>
      </p:sp>
      <p:sp>
        <p:nvSpPr>
          <p:cNvPr id="6" name="p06-n-0">
            <a:extLst xmlns:a="http://schemas.openxmlformats.org/drawingml/2006/main">
              <a:ext uri="{FF2B5EF4-FFF2-40B4-BE49-F238E27FC236}">
                <a16:creationId xmlns:a16="http://schemas.microsoft.com/office/drawing/2014/main" id="{607AEB36-6F77-4E72-A0AD-2131223A3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219200"/>
            <a:ext cx="5524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28745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p06-label-0">
            <a:extLst xmlns:a="http://schemas.openxmlformats.org/drawingml/2006/main">
              <a:ext uri="{FF2B5EF4-FFF2-40B4-BE49-F238E27FC236}">
                <a16:creationId xmlns:a16="http://schemas.microsoft.com/office/drawing/2014/main" id="{8804BE2F-D0EC-4AE0-B7C3-EB1407EE3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21920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45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一项最强处</a:t>
            </a:r>
          </a:p>
        </p:txBody>
      </p:sp>
      <p:sp>
        <p:nvSpPr>
          <p:cNvPr id="8" name="p06-q-0">
            <a:extLst xmlns:a="http://schemas.openxmlformats.org/drawingml/2006/main">
              <a:ext uri="{FF2B5EF4-FFF2-40B4-BE49-F238E27FC236}">
                <a16:creationId xmlns:a16="http://schemas.microsoft.com/office/drawing/2014/main" id="{8B45ECFA-AAD8-490F-B83E-D33F527D3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219200"/>
            <a:ext cx="7124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63746"/>
                </a:solidFill>
              </a:defRPr>
            </a:pPr>
            <a:r>
              <a:rPr sz="157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四维诊断中，当前最扎实的一点是什么？</a:t>
            </a:r>
          </a:p>
        </p:txBody>
      </p:sp>
      <p:sp>
        <p:nvSpPr>
          <p:cNvPr id="9" name="p06-n-1">
            <a:extLst xmlns:a="http://schemas.openxmlformats.org/drawingml/2006/main">
              <a:ext uri="{FF2B5EF4-FFF2-40B4-BE49-F238E27FC236}">
                <a16:creationId xmlns:a16="http://schemas.microsoft.com/office/drawing/2014/main" id="{E4FED3CF-301A-4409-B362-A4CBBBC4D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62200"/>
            <a:ext cx="5524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p06-label-1">
            <a:extLst xmlns:a="http://schemas.openxmlformats.org/drawingml/2006/main">
              <a:ext uri="{FF2B5EF4-FFF2-40B4-BE49-F238E27FC236}">
                <a16:creationId xmlns:a16="http://schemas.microsoft.com/office/drawing/2014/main" id="{08C4B869-754D-4283-9C1E-45FF7907E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36220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一项最大风险</a:t>
            </a:r>
          </a:p>
        </p:txBody>
      </p:sp>
      <p:sp>
        <p:nvSpPr>
          <p:cNvPr id="11" name="p06-q-1">
            <a:extLst xmlns:a="http://schemas.openxmlformats.org/drawingml/2006/main">
              <a:ext uri="{FF2B5EF4-FFF2-40B4-BE49-F238E27FC236}">
                <a16:creationId xmlns:a16="http://schemas.microsoft.com/office/drawing/2014/main" id="{F1E2B3A6-020F-465E-B46F-4D6FFA15B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362200"/>
            <a:ext cx="7124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63746"/>
                </a:solidFill>
              </a:defRPr>
            </a:pPr>
            <a:r>
              <a:rPr sz="157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哪一点最可能让方案在判断门前失败？</a:t>
            </a:r>
          </a:p>
        </p:txBody>
      </p:sp>
      <p:sp>
        <p:nvSpPr>
          <p:cNvPr id="12" name="p06-n-2">
            <a:extLst xmlns:a="http://schemas.openxmlformats.org/drawingml/2006/main">
              <a:ext uri="{FF2B5EF4-FFF2-40B4-BE49-F238E27FC236}">
                <a16:creationId xmlns:a16="http://schemas.microsoft.com/office/drawing/2014/main" id="{2B6BB146-81B5-4C7F-A353-450B4C664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05200"/>
            <a:ext cx="5524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3" name="p06-label-2">
            <a:extLst xmlns:a="http://schemas.openxmlformats.org/drawingml/2006/main">
              <a:ext uri="{FF2B5EF4-FFF2-40B4-BE49-F238E27FC236}">
                <a16:creationId xmlns:a16="http://schemas.microsoft.com/office/drawing/2014/main" id="{A10A4336-B958-4C97-9229-A699203D4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50520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一条可执行建议</a:t>
            </a:r>
          </a:p>
        </p:txBody>
      </p:sp>
      <p:sp>
        <p:nvSpPr>
          <p:cNvPr id="14" name="p06-q-2">
            <a:extLst xmlns:a="http://schemas.openxmlformats.org/drawingml/2006/main">
              <a:ext uri="{FF2B5EF4-FFF2-40B4-BE49-F238E27FC236}">
                <a16:creationId xmlns:a16="http://schemas.microsoft.com/office/drawing/2014/main" id="{422EB807-22DB-418C-A53A-463D2101D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505200"/>
            <a:ext cx="7124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63746"/>
                </a:solidFill>
              </a:defRPr>
            </a:pPr>
            <a:r>
              <a:rPr sz="157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下周最小改什么？它可能改变哪条研究判断？</a:t>
            </a:r>
          </a:p>
        </p:txBody>
      </p:sp>
      <p:sp>
        <p:nvSpPr>
          <p:cNvPr id="15" name="p06-bottom">
            <a:extLst xmlns:a="http://schemas.openxmlformats.org/drawingml/2006/main">
              <a:ext uri="{FF2B5EF4-FFF2-40B4-BE49-F238E27FC236}">
                <a16:creationId xmlns:a16="http://schemas.microsoft.com/office/drawing/2014/main" id="{DB4B7F3B-17AB-471C-8F81-A1B470D7A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953000"/>
            <a:ext cx="7620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C8161E"/>
                </a:solidFill>
              </a:defRPr>
            </a:pPr>
            <a:r>
              <a:rPr sz="172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“题目很有趣”“听起来挺好”都没有指出方案的可检查部分。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28575"/>
            <a:ext cx="10668000" cy="628650"/>
          </a:xfrm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设计诊所诊断方案，不评价人、不替作者决定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3D7D1C8-AE23-AA48-DF65-C742588DBE47}" type="slidenum">
              <a:t>7</a:t>
            </a:fld>
            <a:endParaRPr/>
          </a:p>
        </p:txBody>
      </p:sp>
      <p:sp>
        <p:nvSpPr>
          <p:cNvPr id="6" name="p07-left-title">
            <a:extLst xmlns:a="http://schemas.openxmlformats.org/drawingml/2006/main">
              <a:ext uri="{FF2B5EF4-FFF2-40B4-BE49-F238E27FC236}">
                <a16:creationId xmlns:a16="http://schemas.microsoft.com/office/drawing/2014/main" id="{22391924-CE14-4286-AA4D-2B4B5A01D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5048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8354E"/>
                </a:solidFill>
              </a:defRPr>
            </a:pPr>
            <a:r>
              <a:rPr sz="1875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反馈者责任</a:t>
            </a:r>
          </a:p>
        </p:txBody>
      </p:sp>
      <p:sp>
        <p:nvSpPr>
          <p:cNvPr id="7" name="p07-ln-0">
            <a:extLst xmlns:a="http://schemas.openxmlformats.org/drawingml/2006/main">
              <a:ext uri="{FF2B5EF4-FFF2-40B4-BE49-F238E27FC236}">
                <a16:creationId xmlns:a16="http://schemas.microsoft.com/office/drawing/2014/main" id="{87028D9F-D351-4977-8CCD-6996ABA2A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43050"/>
            <a:ext cx="4381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p07-l-0">
            <a:extLst xmlns:a="http://schemas.openxmlformats.org/drawingml/2006/main">
              <a:ext uri="{FF2B5EF4-FFF2-40B4-BE49-F238E27FC236}">
                <a16:creationId xmlns:a16="http://schemas.microsoft.com/office/drawing/2014/main" id="{B9DCC3D1-3F57-4990-BD79-29F34E841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543050"/>
            <a:ext cx="4286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63746"/>
                </a:solidFill>
              </a:defRPr>
            </a:pPr>
            <a:r>
              <a:rPr sz="142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指向方案，不指向人</a:t>
            </a:r>
          </a:p>
        </p:txBody>
      </p:sp>
      <p:sp>
        <p:nvSpPr>
          <p:cNvPr id="9" name="p07-ln-1">
            <a:extLst xmlns:a="http://schemas.openxmlformats.org/drawingml/2006/main">
              <a:ext uri="{FF2B5EF4-FFF2-40B4-BE49-F238E27FC236}">
                <a16:creationId xmlns:a16="http://schemas.microsoft.com/office/drawing/2014/main" id="{1C7CD8E0-BB2F-4CB7-8277-75A137B1F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09800"/>
            <a:ext cx="4381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p07-l-1">
            <a:extLst xmlns:a="http://schemas.openxmlformats.org/drawingml/2006/main">
              <a:ext uri="{FF2B5EF4-FFF2-40B4-BE49-F238E27FC236}">
                <a16:creationId xmlns:a16="http://schemas.microsoft.com/office/drawing/2014/main" id="{8F087986-8B9A-4B40-BEF4-926A5F6C0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209800"/>
            <a:ext cx="4286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63746"/>
                </a:solidFill>
              </a:defRPr>
            </a:pPr>
            <a:r>
              <a:rPr sz="142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引用陈述的具体条目</a:t>
            </a:r>
          </a:p>
        </p:txBody>
      </p:sp>
      <p:sp>
        <p:nvSpPr>
          <p:cNvPr id="11" name="p07-ln-2">
            <a:extLst xmlns:a="http://schemas.openxmlformats.org/drawingml/2006/main">
              <a:ext uri="{FF2B5EF4-FFF2-40B4-BE49-F238E27FC236}">
                <a16:creationId xmlns:a16="http://schemas.microsoft.com/office/drawing/2014/main" id="{B9C20113-3FE4-4ACB-84A1-79C58DB51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76550"/>
            <a:ext cx="4381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2" name="p07-l-2">
            <a:extLst xmlns:a="http://schemas.openxmlformats.org/drawingml/2006/main">
              <a:ext uri="{FF2B5EF4-FFF2-40B4-BE49-F238E27FC236}">
                <a16:creationId xmlns:a16="http://schemas.microsoft.com/office/drawing/2014/main" id="{7FD839FC-B33A-4416-ACBD-EC7B2B6A9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876550"/>
            <a:ext cx="4286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63746"/>
                </a:solidFill>
              </a:defRPr>
            </a:pPr>
            <a:r>
              <a:rPr sz="142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区分缺陷与修改建议</a:t>
            </a:r>
          </a:p>
        </p:txBody>
      </p:sp>
      <p:sp>
        <p:nvSpPr>
          <p:cNvPr id="13" name="p07-ln-3">
            <a:extLst xmlns:a="http://schemas.openxmlformats.org/drawingml/2006/main">
              <a:ext uri="{FF2B5EF4-FFF2-40B4-BE49-F238E27FC236}">
                <a16:creationId xmlns:a16="http://schemas.microsoft.com/office/drawing/2014/main" id="{C11112F8-F575-41B3-8558-BB788CEAB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43300"/>
            <a:ext cx="4381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4" name="p07-l-3">
            <a:extLst xmlns:a="http://schemas.openxmlformats.org/drawingml/2006/main">
              <a:ext uri="{FF2B5EF4-FFF2-40B4-BE49-F238E27FC236}">
                <a16:creationId xmlns:a16="http://schemas.microsoft.com/office/drawing/2014/main" id="{46ACB6D5-108C-4D7A-9830-286A7679C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543300"/>
            <a:ext cx="4286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63746"/>
                </a:solidFill>
              </a:defRPr>
            </a:pPr>
            <a:r>
              <a:rPr sz="142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不替作者决定采纳什么</a:t>
            </a:r>
          </a:p>
        </p:txBody>
      </p:sp>
      <p:sp>
        <p:nvSpPr>
          <p:cNvPr id="15" name="p07-divider">
            <a:extLst xmlns:a="http://schemas.openxmlformats.org/drawingml/2006/main">
              <a:ext uri="{FF2B5EF4-FFF2-40B4-BE49-F238E27FC236}">
                <a16:creationId xmlns:a16="http://schemas.microsoft.com/office/drawing/2014/main" id="{B5D0E4D6-5A13-43BE-971B-9CC18E978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4476750" y="2633663"/>
            <a:ext cx="323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D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p07-right-title">
            <a:extLst xmlns:a="http://schemas.openxmlformats.org/drawingml/2006/main">
              <a:ext uri="{FF2B5EF4-FFF2-40B4-BE49-F238E27FC236}">
                <a16:creationId xmlns:a16="http://schemas.microsoft.com/office/drawing/2014/main" id="{3309B318-6054-455C-B1D6-19805D6C8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952500"/>
            <a:ext cx="4914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C8161E"/>
                </a:solidFill>
              </a:defRPr>
            </a:pPr>
            <a:r>
              <a:rPr sz="187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设计诊所纪律</a:t>
            </a:r>
          </a:p>
        </p:txBody>
      </p:sp>
      <p:sp>
        <p:nvSpPr>
          <p:cNvPr id="17" name="p07-rn-0">
            <a:extLst xmlns:a="http://schemas.openxmlformats.org/drawingml/2006/main">
              <a:ext uri="{FF2B5EF4-FFF2-40B4-BE49-F238E27FC236}">
                <a16:creationId xmlns:a16="http://schemas.microsoft.com/office/drawing/2014/main" id="{8AA78B86-F559-400D-BFE9-4A35F70AD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543050"/>
            <a:ext cx="4762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8" name="p07-r-0">
            <a:extLst xmlns:a="http://schemas.openxmlformats.org/drawingml/2006/main">
              <a:ext uri="{FF2B5EF4-FFF2-40B4-BE49-F238E27FC236}">
                <a16:creationId xmlns:a16="http://schemas.microsoft.com/office/drawing/2014/main" id="{32CFFF54-E9EF-4944-9F54-732C206AB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543050"/>
            <a:ext cx="3962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63746"/>
                </a:solidFill>
              </a:defRPr>
            </a:pPr>
            <a:r>
              <a:rPr sz="150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诊断方案，不评价陈述者</a:t>
            </a:r>
          </a:p>
        </p:txBody>
      </p:sp>
      <p:sp>
        <p:nvSpPr>
          <p:cNvPr id="19" name="p07-rn-1">
            <a:extLst xmlns:a="http://schemas.openxmlformats.org/drawingml/2006/main">
              <a:ext uri="{FF2B5EF4-FFF2-40B4-BE49-F238E27FC236}">
                <a16:creationId xmlns:a16="http://schemas.microsoft.com/office/drawing/2014/main" id="{97502602-CD04-4E46-BB2C-4CD0C8920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324100"/>
            <a:ext cx="4762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0" name="p07-r-1">
            <a:extLst xmlns:a="http://schemas.openxmlformats.org/drawingml/2006/main">
              <a:ext uri="{FF2B5EF4-FFF2-40B4-BE49-F238E27FC236}">
                <a16:creationId xmlns:a16="http://schemas.microsoft.com/office/drawing/2014/main" id="{04CD1A90-5E8E-42B0-B272-FB8F2DF7E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324100"/>
            <a:ext cx="3962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63746"/>
                </a:solidFill>
              </a:defRPr>
            </a:pPr>
            <a:r>
              <a:rPr sz="150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不作共同决策</a:t>
            </a:r>
          </a:p>
        </p:txBody>
      </p:sp>
      <p:sp>
        <p:nvSpPr>
          <p:cNvPr id="21" name="p07-rn-2">
            <a:extLst xmlns:a="http://schemas.openxmlformats.org/drawingml/2006/main">
              <a:ext uri="{FF2B5EF4-FFF2-40B4-BE49-F238E27FC236}">
                <a16:creationId xmlns:a16="http://schemas.microsoft.com/office/drawing/2014/main" id="{13076C74-866A-4669-8240-59848E17D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05150"/>
            <a:ext cx="4762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2" name="p07-r-2">
            <a:extLst xmlns:a="http://schemas.openxmlformats.org/drawingml/2006/main">
              <a:ext uri="{FF2B5EF4-FFF2-40B4-BE49-F238E27FC236}">
                <a16:creationId xmlns:a16="http://schemas.microsoft.com/office/drawing/2014/main" id="{C5DF614C-E890-4339-8C49-A5B50D6AA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105150"/>
            <a:ext cx="3962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63746"/>
                </a:solidFill>
              </a:defRPr>
            </a:pPr>
            <a:r>
              <a:rPr sz="150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失败暴露优先</a:t>
            </a:r>
          </a:p>
        </p:txBody>
      </p:sp>
      <p:sp>
        <p:nvSpPr>
          <p:cNvPr id="23" name="p07-round">
            <a:extLst xmlns:a="http://schemas.openxmlformats.org/drawingml/2006/main">
              <a:ext uri="{FF2B5EF4-FFF2-40B4-BE49-F238E27FC236}">
                <a16:creationId xmlns:a16="http://schemas.microsoft.com/office/drawing/2014/main" id="{5028815D-A386-4422-B2F9-E65519801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76750"/>
            <a:ext cx="10096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一次轮次｜3 分钟陈述（同伴只听） + 2 分钟反馈（作者只记录）</a:t>
            </a:r>
          </a:p>
        </p:txBody>
      </p:sp>
      <p:sp>
        <p:nvSpPr>
          <p:cNvPr id="24" name="p07-bottom">
            <a:extLst xmlns:a="http://schemas.openxmlformats.org/drawingml/2006/main">
              <a:ext uri="{FF2B5EF4-FFF2-40B4-BE49-F238E27FC236}">
                <a16:creationId xmlns:a16="http://schemas.microsoft.com/office/drawing/2014/main" id="{2D917DE8-7AFD-450F-BCAE-F1AC95DE6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181600"/>
            <a:ext cx="933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C8161E"/>
                </a:solidFill>
              </a:defRPr>
            </a:pPr>
            <a:r>
              <a:rPr sz="142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“baseline 不公平”若不指明模型、温度、数据或长度哪一项不同，就不可执行。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28575"/>
            <a:ext cx="10668000" cy="628650"/>
          </a:xfrm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每条反馈都必须落到采纳、拒绝或暂缓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A58DA2A-B818-18A9-29C1-B697728D5BCE}" type="slidenum">
              <a:t>8</a:t>
            </a:fld>
            <a:endParaRPr/>
          </a:p>
        </p:txBody>
      </p:sp>
      <p:sp>
        <p:nvSpPr>
          <p:cNvPr id="6" name="p08-left-title">
            <a:extLst xmlns:a="http://schemas.openxmlformats.org/drawingml/2006/main">
              <a:ext uri="{FF2B5EF4-FFF2-40B4-BE49-F238E27FC236}">
                <a16:creationId xmlns:a16="http://schemas.microsoft.com/office/drawing/2014/main" id="{2786C235-E609-4403-A08D-86329DF2F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52500"/>
            <a:ext cx="3714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C8161E"/>
                </a:solidFill>
              </a:defRPr>
            </a:pPr>
            <a:r>
              <a:rPr sz="187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三类决策</a:t>
            </a:r>
          </a:p>
        </p:txBody>
      </p:sp>
      <p:sp>
        <p:nvSpPr>
          <p:cNvPr id="7" name="p08-d-0">
            <a:extLst xmlns:a="http://schemas.openxmlformats.org/drawingml/2006/main">
              <a:ext uri="{FF2B5EF4-FFF2-40B4-BE49-F238E27FC236}">
                <a16:creationId xmlns:a16="http://schemas.microsoft.com/office/drawing/2014/main" id="{78D4690C-3BB6-4270-AAB0-ED697A038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43050"/>
            <a:ext cx="11049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28745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采纳</a:t>
            </a:r>
          </a:p>
        </p:txBody>
      </p:sp>
      <p:sp>
        <p:nvSpPr>
          <p:cNvPr id="8" name="p08-detail-0">
            <a:extLst xmlns:a="http://schemas.openxmlformats.org/drawingml/2006/main">
              <a:ext uri="{FF2B5EF4-FFF2-40B4-BE49-F238E27FC236}">
                <a16:creationId xmlns:a16="http://schemas.microsoft.com/office/drawing/2014/main" id="{05DBF44F-B376-43E7-9373-F7B5FC1BE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1543050"/>
            <a:ext cx="2857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缺陷成立且周内可改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→ 修改影响工件</a:t>
            </a:r>
          </a:p>
        </p:txBody>
      </p:sp>
      <p:sp>
        <p:nvSpPr>
          <p:cNvPr id="9" name="p08-d-1">
            <a:extLst xmlns:a="http://schemas.openxmlformats.org/drawingml/2006/main">
              <a:ext uri="{FF2B5EF4-FFF2-40B4-BE49-F238E27FC236}">
                <a16:creationId xmlns:a16="http://schemas.microsoft.com/office/drawing/2014/main" id="{FD3C09F9-5263-4027-B18E-3F12AFB09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86050"/>
            <a:ext cx="11049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拒绝</a:t>
            </a:r>
          </a:p>
        </p:txBody>
      </p:sp>
      <p:sp>
        <p:nvSpPr>
          <p:cNvPr id="10" name="p08-detail-1">
            <a:extLst xmlns:a="http://schemas.openxmlformats.org/drawingml/2006/main">
              <a:ext uri="{FF2B5EF4-FFF2-40B4-BE49-F238E27FC236}">
                <a16:creationId xmlns:a16="http://schemas.microsoft.com/office/drawing/2014/main" id="{F5DDE5A7-9033-4DFF-AD9F-5E0E5E1D0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2686050"/>
            <a:ext cx="2857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缺陷不成立或与约束冲突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→ 写具体理由</a:t>
            </a:r>
          </a:p>
        </p:txBody>
      </p:sp>
      <p:sp>
        <p:nvSpPr>
          <p:cNvPr id="11" name="p08-d-2">
            <a:extLst xmlns:a="http://schemas.openxmlformats.org/drawingml/2006/main">
              <a:ext uri="{FF2B5EF4-FFF2-40B4-BE49-F238E27FC236}">
                <a16:creationId xmlns:a16="http://schemas.microsoft.com/office/drawing/2014/main" id="{72751181-C888-4839-9E9D-D10AC6D3A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29050"/>
            <a:ext cx="11049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A86C1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暂缓</a:t>
            </a:r>
          </a:p>
        </p:txBody>
      </p:sp>
      <p:sp>
        <p:nvSpPr>
          <p:cNvPr id="12" name="p08-detail-2">
            <a:extLst xmlns:a="http://schemas.openxmlformats.org/drawingml/2006/main">
              <a:ext uri="{FF2B5EF4-FFF2-40B4-BE49-F238E27FC236}">
                <a16:creationId xmlns:a16="http://schemas.microsoft.com/office/drawing/2014/main" id="{059146EE-91DB-42A9-97D8-8369746DD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3829050"/>
            <a:ext cx="2857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0D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当前无法判断或周内不可改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→ 标为待验证</a:t>
            </a:r>
          </a:p>
        </p:txBody>
      </p:sp>
      <p:sp>
        <p:nvSpPr>
          <p:cNvPr id="13" name="p08-divider">
            <a:extLst xmlns:a="http://schemas.openxmlformats.org/drawingml/2006/main">
              <a:ext uri="{FF2B5EF4-FFF2-40B4-BE49-F238E27FC236}">
                <a16:creationId xmlns:a16="http://schemas.microsoft.com/office/drawing/2014/main" id="{42C4D3D9-0F0A-4E9C-9897-47D87C1B0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3371850" y="2976563"/>
            <a:ext cx="3924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D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p08-right-title">
            <a:extLst xmlns:a="http://schemas.openxmlformats.org/drawingml/2006/main">
              <a:ext uri="{FF2B5EF4-FFF2-40B4-BE49-F238E27FC236}">
                <a16:creationId xmlns:a16="http://schemas.microsoft.com/office/drawing/2014/main" id="{C02118CE-678E-48E5-ACA4-5BFC9964C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952500"/>
            <a:ext cx="552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8354E"/>
                </a:solidFill>
              </a:defRPr>
            </a:pPr>
            <a:r>
              <a:rPr sz="1875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研究判断六字段</a:t>
            </a:r>
          </a:p>
        </p:txBody>
      </p:sp>
      <p:sp>
        <p:nvSpPr>
          <p:cNvPr id="15" name="p08-fl-0">
            <a:extLst xmlns:a="http://schemas.openxmlformats.org/drawingml/2006/main">
              <a:ext uri="{FF2B5EF4-FFF2-40B4-BE49-F238E27FC236}">
                <a16:creationId xmlns:a16="http://schemas.microsoft.com/office/drawing/2014/main" id="{ADB926A0-D4FD-458F-9869-D67886C21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1485900"/>
            <a:ext cx="1714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决策内容</a:t>
            </a:r>
          </a:p>
        </p:txBody>
      </p:sp>
      <p:sp>
        <p:nvSpPr>
          <p:cNvPr id="16" name="p08-fd-0">
            <a:extLst xmlns:a="http://schemas.openxmlformats.org/drawingml/2006/main">
              <a:ext uri="{FF2B5EF4-FFF2-40B4-BE49-F238E27FC236}">
                <a16:creationId xmlns:a16="http://schemas.microsoft.com/office/drawing/2014/main" id="{E8D31DD1-E10D-4B7B-BE37-A22EFEB97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1485900"/>
            <a:ext cx="3429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采纳 / 拒绝 / 暂缓什么</a:t>
            </a:r>
          </a:p>
        </p:txBody>
      </p:sp>
      <p:sp>
        <p:nvSpPr>
          <p:cNvPr id="17" name="p08-fl-1">
            <a:extLst xmlns:a="http://schemas.openxmlformats.org/drawingml/2006/main">
              <a:ext uri="{FF2B5EF4-FFF2-40B4-BE49-F238E27FC236}">
                <a16:creationId xmlns:a16="http://schemas.microsoft.com/office/drawing/2014/main" id="{FAA8B50D-B95F-491C-8FDC-FD71D8FFA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085975"/>
            <a:ext cx="1714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取舍理由</a:t>
            </a:r>
          </a:p>
        </p:txBody>
      </p:sp>
      <p:sp>
        <p:nvSpPr>
          <p:cNvPr id="18" name="p08-fd-1">
            <a:extLst xmlns:a="http://schemas.openxmlformats.org/drawingml/2006/main">
              <a:ext uri="{FF2B5EF4-FFF2-40B4-BE49-F238E27FC236}">
                <a16:creationId xmlns:a16="http://schemas.microsoft.com/office/drawing/2014/main" id="{87012FEC-B49A-46B1-B925-586E5C94E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085975"/>
            <a:ext cx="3429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为什么这样取</a:t>
            </a:r>
          </a:p>
        </p:txBody>
      </p:sp>
      <p:sp>
        <p:nvSpPr>
          <p:cNvPr id="19" name="p08-fl-2">
            <a:extLst xmlns:a="http://schemas.openxmlformats.org/drawingml/2006/main">
              <a:ext uri="{FF2B5EF4-FFF2-40B4-BE49-F238E27FC236}">
                <a16:creationId xmlns:a16="http://schemas.microsoft.com/office/drawing/2014/main" id="{5E3A3064-33D9-4916-9E6F-0D4D6D64B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686050"/>
            <a:ext cx="1714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适用边界</a:t>
            </a:r>
          </a:p>
        </p:txBody>
      </p:sp>
      <p:sp>
        <p:nvSpPr>
          <p:cNvPr id="20" name="p08-fd-2">
            <a:extLst xmlns:a="http://schemas.openxmlformats.org/drawingml/2006/main">
              <a:ext uri="{FF2B5EF4-FFF2-40B4-BE49-F238E27FC236}">
                <a16:creationId xmlns:a16="http://schemas.microsoft.com/office/drawing/2014/main" id="{C8D289A2-1752-4CFF-A53A-C605B7C7A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686050"/>
            <a:ext cx="3429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在什么条件下成立</a:t>
            </a:r>
          </a:p>
        </p:txBody>
      </p:sp>
      <p:sp>
        <p:nvSpPr>
          <p:cNvPr id="21" name="p08-fl-3">
            <a:extLst xmlns:a="http://schemas.openxmlformats.org/drawingml/2006/main">
              <a:ext uri="{FF2B5EF4-FFF2-40B4-BE49-F238E27FC236}">
                <a16:creationId xmlns:a16="http://schemas.microsoft.com/office/drawing/2014/main" id="{3DDC441A-1812-4585-A048-69C12395A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286125"/>
            <a:ext cx="1714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依据</a:t>
            </a:r>
          </a:p>
        </p:txBody>
      </p:sp>
      <p:sp>
        <p:nvSpPr>
          <p:cNvPr id="22" name="p08-fd-3">
            <a:extLst xmlns:a="http://schemas.openxmlformats.org/drawingml/2006/main">
              <a:ext uri="{FF2B5EF4-FFF2-40B4-BE49-F238E27FC236}">
                <a16:creationId xmlns:a16="http://schemas.microsoft.com/office/drawing/2014/main" id="{D00E8DDE-8650-4FD9-88F2-5203A9AB6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286125"/>
            <a:ext cx="3429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反馈来源 + 方案条目</a:t>
            </a:r>
          </a:p>
        </p:txBody>
      </p:sp>
      <p:sp>
        <p:nvSpPr>
          <p:cNvPr id="23" name="p08-fl-4">
            <a:extLst xmlns:a="http://schemas.openxmlformats.org/drawingml/2006/main">
              <a:ext uri="{FF2B5EF4-FFF2-40B4-BE49-F238E27FC236}">
                <a16:creationId xmlns:a16="http://schemas.microsoft.com/office/drawing/2014/main" id="{69555EAC-9D79-492A-8E21-B6C85255B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886200"/>
            <a:ext cx="1714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待验证状态</a:t>
            </a:r>
          </a:p>
        </p:txBody>
      </p:sp>
      <p:sp>
        <p:nvSpPr>
          <p:cNvPr id="24" name="p08-fd-4">
            <a:extLst xmlns:a="http://schemas.openxmlformats.org/drawingml/2006/main">
              <a:ext uri="{FF2B5EF4-FFF2-40B4-BE49-F238E27FC236}">
                <a16:creationId xmlns:a16="http://schemas.microsoft.com/office/drawing/2014/main" id="{466CFFB2-C0B0-482B-9BE9-82C99F66C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886200"/>
            <a:ext cx="3429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哪些仍未确认</a:t>
            </a:r>
          </a:p>
        </p:txBody>
      </p:sp>
      <p:sp>
        <p:nvSpPr>
          <p:cNvPr id="25" name="p08-fl-5">
            <a:extLst xmlns:a="http://schemas.openxmlformats.org/drawingml/2006/main">
              <a:ext uri="{FF2B5EF4-FFF2-40B4-BE49-F238E27FC236}">
                <a16:creationId xmlns:a16="http://schemas.microsoft.com/office/drawing/2014/main" id="{8204D11E-06E0-4D76-8411-7E41FD2B4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486275"/>
            <a:ext cx="1714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影响工件</a:t>
            </a:r>
          </a:p>
        </p:txBody>
      </p:sp>
      <p:sp>
        <p:nvSpPr>
          <p:cNvPr id="26" name="p08-fd-5">
            <a:extLst xmlns:a="http://schemas.openxmlformats.org/drawingml/2006/main">
              <a:ext uri="{FF2B5EF4-FFF2-40B4-BE49-F238E27FC236}">
                <a16:creationId xmlns:a16="http://schemas.microsoft.com/office/drawing/2014/main" id="{984CF2EF-EA10-4F06-B8C4-33B1D414C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486275"/>
            <a:ext cx="3429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具体改哪一段</a:t>
            </a:r>
          </a:p>
        </p:txBody>
      </p:sp>
      <p:sp>
        <p:nvSpPr>
          <p:cNvPr id="27" name="p08-bottom">
            <a:extLst xmlns:a="http://schemas.openxmlformats.org/drawingml/2006/main">
              <a:ext uri="{FF2B5EF4-FFF2-40B4-BE49-F238E27FC236}">
                <a16:creationId xmlns:a16="http://schemas.microsoft.com/office/drawing/2014/main" id="{02AA1ED8-6104-482E-8DF2-48B728825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5257800"/>
            <a:ext cx="752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C8161E"/>
                </a:solidFill>
              </a:defRPr>
            </a:pPr>
            <a:r>
              <a:rPr sz="157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拒绝不是“我不同意”：理由必须对应到方案中的具体条目。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28575"/>
            <a:ext cx="10668000" cy="628650"/>
          </a:xfrm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AI 可以整理线索，但不能替你作研究判断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88657AE-30A1-5A7A-6A7F-315D84436430}" type="slidenum">
              <a:t>9</a:t>
            </a:fld>
            <a:endParaRPr/>
          </a:p>
        </p:txBody>
      </p:sp>
      <p:sp>
        <p:nvSpPr>
          <p:cNvPr id="6" name="p09-can-title">
            <a:extLst xmlns:a="http://schemas.openxmlformats.org/drawingml/2006/main">
              <a:ext uri="{FF2B5EF4-FFF2-40B4-BE49-F238E27FC236}">
                <a16:creationId xmlns:a16="http://schemas.microsoft.com/office/drawing/2014/main" id="{98121482-2C22-4072-9E9C-D12A3B465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009650"/>
            <a:ext cx="4762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45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AI 可以</a:t>
            </a:r>
          </a:p>
        </p:txBody>
      </p:sp>
      <p:sp>
        <p:nvSpPr>
          <p:cNvPr id="7" name="p09-can-0">
            <a:extLst xmlns:a="http://schemas.openxmlformats.org/drawingml/2006/main">
              <a:ext uri="{FF2B5EF4-FFF2-40B4-BE49-F238E27FC236}">
                <a16:creationId xmlns:a16="http://schemas.microsoft.com/office/drawing/2014/main" id="{CCB2C7FF-D415-4327-8755-C94DB9B82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52600"/>
            <a:ext cx="4572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8745A"/>
                </a:solidFill>
              </a:defRPr>
            </a:pPr>
            <a:r>
              <a:rPr sz="1575" b="1">
                <a:solidFill>
                  <a:srgbClr val="28745A"/>
                </a:solidFill>
                <a:latin typeface="Microsoft YaHei"/>
                <a:ea typeface="Microsoft YaHei"/>
                <a:cs typeface="Microsoft YaHei"/>
              </a:rPr>
              <a:t>✓  转写同伴口述反馈</a:t>
            </a:r>
          </a:p>
        </p:txBody>
      </p:sp>
      <p:sp>
        <p:nvSpPr>
          <p:cNvPr id="8" name="p09-can-1">
            <a:extLst xmlns:a="http://schemas.openxmlformats.org/drawingml/2006/main">
              <a:ext uri="{FF2B5EF4-FFF2-40B4-BE49-F238E27FC236}">
                <a16:creationId xmlns:a16="http://schemas.microsoft.com/office/drawing/2014/main" id="{346E7A85-F4E8-407E-BC09-971C69EDC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09850"/>
            <a:ext cx="4572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8745A"/>
                </a:solidFill>
              </a:defRPr>
            </a:pPr>
            <a:r>
              <a:rPr sz="1575" b="1">
                <a:solidFill>
                  <a:srgbClr val="28745A"/>
                </a:solidFill>
                <a:latin typeface="Microsoft YaHei"/>
                <a:ea typeface="Microsoft YaHei"/>
                <a:cs typeface="Microsoft YaHei"/>
              </a:rPr>
              <a:t>✓  提示可能对应的 rubric 维度</a:t>
            </a:r>
          </a:p>
        </p:txBody>
      </p:sp>
      <p:sp>
        <p:nvSpPr>
          <p:cNvPr id="9" name="p09-can-2">
            <a:extLst xmlns:a="http://schemas.openxmlformats.org/drawingml/2006/main">
              <a:ext uri="{FF2B5EF4-FFF2-40B4-BE49-F238E27FC236}">
                <a16:creationId xmlns:a16="http://schemas.microsoft.com/office/drawing/2014/main" id="{C7CC4EB7-CA2A-45D1-9B8C-FD9DBDC24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67100"/>
            <a:ext cx="4572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8745A"/>
                </a:solidFill>
              </a:defRPr>
            </a:pPr>
            <a:r>
              <a:rPr sz="1575" b="1">
                <a:solidFill>
                  <a:srgbClr val="28745A"/>
                </a:solidFill>
                <a:latin typeface="Microsoft YaHei"/>
                <a:ea typeface="Microsoft YaHei"/>
                <a:cs typeface="Microsoft YaHei"/>
              </a:rPr>
              <a:t>✓  草拟拒绝理由或修改方向</a:t>
            </a:r>
          </a:p>
        </p:txBody>
      </p:sp>
      <p:sp>
        <p:nvSpPr>
          <p:cNvPr id="10" name="p09-no-title">
            <a:extLst xmlns:a="http://schemas.openxmlformats.org/drawingml/2006/main">
              <a:ext uri="{FF2B5EF4-FFF2-40B4-BE49-F238E27FC236}">
                <a16:creationId xmlns:a16="http://schemas.microsoft.com/office/drawing/2014/main" id="{366DA452-9665-416A-B95B-0043E971C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009650"/>
            <a:ext cx="4762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AI 不可以</a:t>
            </a:r>
          </a:p>
        </p:txBody>
      </p:sp>
      <p:sp>
        <p:nvSpPr>
          <p:cNvPr id="11" name="p09-no-0">
            <a:extLst xmlns:a="http://schemas.openxmlformats.org/drawingml/2006/main">
              <a:ext uri="{FF2B5EF4-FFF2-40B4-BE49-F238E27FC236}">
                <a16:creationId xmlns:a16="http://schemas.microsoft.com/office/drawing/2014/main" id="{58B36F88-66D7-4B97-9B4E-FA196C591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1752600"/>
            <a:ext cx="4572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C8161E"/>
                </a:solidFill>
              </a:defRPr>
            </a:pPr>
            <a:r>
              <a:rPr sz="157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×  判断反馈是否成立</a:t>
            </a:r>
          </a:p>
        </p:txBody>
      </p:sp>
      <p:sp>
        <p:nvSpPr>
          <p:cNvPr id="12" name="p09-no-1">
            <a:extLst xmlns:a="http://schemas.openxmlformats.org/drawingml/2006/main">
              <a:ext uri="{FF2B5EF4-FFF2-40B4-BE49-F238E27FC236}">
                <a16:creationId xmlns:a16="http://schemas.microsoft.com/office/drawing/2014/main" id="{86A33582-28F5-4F6F-ADB6-5AE9B81E7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609850"/>
            <a:ext cx="4572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C8161E"/>
                </a:solidFill>
              </a:defRPr>
            </a:pPr>
            <a:r>
              <a:rPr sz="157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×  决定采纳、拒绝或暂缓</a:t>
            </a:r>
          </a:p>
        </p:txBody>
      </p:sp>
      <p:sp>
        <p:nvSpPr>
          <p:cNvPr id="13" name="p09-no-2">
            <a:extLst xmlns:a="http://schemas.openxmlformats.org/drawingml/2006/main">
              <a:ext uri="{FF2B5EF4-FFF2-40B4-BE49-F238E27FC236}">
                <a16:creationId xmlns:a16="http://schemas.microsoft.com/office/drawing/2014/main" id="{47BE242F-D24D-4E6D-86DF-DB1522A0D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467100"/>
            <a:ext cx="4572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C8161E"/>
                </a:solidFill>
              </a:defRPr>
            </a:pPr>
            <a:r>
              <a:rPr sz="157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×  代写理由、边界和影响工件</a:t>
            </a:r>
          </a:p>
        </p:txBody>
      </p:sp>
      <p:sp>
        <p:nvSpPr>
          <p:cNvPr id="14" name="p09-bottom">
            <a:extLst xmlns:a="http://schemas.openxmlformats.org/drawingml/2006/main">
              <a:ext uri="{FF2B5EF4-FFF2-40B4-BE49-F238E27FC236}">
                <a16:creationId xmlns:a16="http://schemas.microsoft.com/office/drawing/2014/main" id="{7D3928C0-FE59-4EA9-AB90-3546A73D5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857750"/>
            <a:ext cx="72390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人工核验前，AI 草拟决策表只能留在探索线索区。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28575"/>
            <a:ext cx="10668000" cy="628650"/>
          </a:xfrm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演示上半程：第 7 课输出如何压缩成 3 分钟陈述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B7BEEEC-A170-5376-2B6E-CB54687B0CB1}" type="slidenum">
              <a:t>10</a:t>
            </a:fld>
            <a:endParaRPr/>
          </a:p>
        </p:txBody>
      </p:sp>
      <p:sp>
        <p:nvSpPr>
          <p:cNvPr id="6" name="p10-case">
            <a:extLst xmlns:a="http://schemas.openxmlformats.org/drawingml/2006/main">
              <a:ext uri="{FF2B5EF4-FFF2-40B4-BE49-F238E27FC236}">
                <a16:creationId xmlns:a16="http://schemas.microsoft.com/office/drawing/2014/main" id="{270FDE85-784C-478B-86EF-C90B4AEAF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820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C8161E"/>
                </a:solidFill>
              </a:defRPr>
            </a:pPr>
            <a:r>
              <a:rPr sz="142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真实公开方案对象｜Bouthillier et al. 2021 benchmark 方差</a:t>
            </a:r>
          </a:p>
        </p:txBody>
      </p:sp>
      <p:sp>
        <p:nvSpPr>
          <p:cNvPr id="7" name="p10-left-title">
            <a:extLst xmlns:a="http://schemas.openxmlformats.org/drawingml/2006/main">
              <a:ext uri="{FF2B5EF4-FFF2-40B4-BE49-F238E27FC236}">
                <a16:creationId xmlns:a16="http://schemas.microsoft.com/office/drawing/2014/main" id="{4F30FA66-A580-4E88-AE73-655B544B6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8354E"/>
                </a:solidFill>
              </a:defRPr>
            </a:pPr>
            <a:r>
              <a:rPr sz="1800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公开论文可核验内容</a:t>
            </a:r>
          </a:p>
        </p:txBody>
      </p:sp>
      <p:sp>
        <p:nvSpPr>
          <p:cNvPr id="8" name="p10-il-0">
            <a:extLst xmlns:a="http://schemas.openxmlformats.org/drawingml/2006/main">
              <a:ext uri="{FF2B5EF4-FFF2-40B4-BE49-F238E27FC236}">
                <a16:creationId xmlns:a16="http://schemas.microsoft.com/office/drawing/2014/main" id="{4740E2EC-3673-4BB7-8DF9-89E27FEBF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11430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问题</a:t>
            </a:r>
          </a:p>
        </p:txBody>
      </p:sp>
      <p:sp>
        <p:nvSpPr>
          <p:cNvPr id="9" name="p10-id-0">
            <a:extLst xmlns:a="http://schemas.openxmlformats.org/drawingml/2006/main">
              <a:ext uri="{FF2B5EF4-FFF2-40B4-BE49-F238E27FC236}">
                <a16:creationId xmlns:a16="http://schemas.microsoft.com/office/drawing/2014/main" id="{6DCCFFDB-1C1E-4965-9330-C4076C61C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2000250"/>
            <a:ext cx="3333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benchmark 比较忽略多个方差来源</a:t>
            </a:r>
          </a:p>
        </p:txBody>
      </p:sp>
      <p:sp>
        <p:nvSpPr>
          <p:cNvPr id="10" name="p10-il-1">
            <a:extLst xmlns:a="http://schemas.openxmlformats.org/drawingml/2006/main">
              <a:ext uri="{FF2B5EF4-FFF2-40B4-BE49-F238E27FC236}">
                <a16:creationId xmlns:a16="http://schemas.microsoft.com/office/drawing/2014/main" id="{EB598A61-4FB7-4BBD-9F35-195D97DB6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11430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证据动作</a:t>
            </a:r>
          </a:p>
        </p:txBody>
      </p:sp>
      <p:sp>
        <p:nvSpPr>
          <p:cNvPr id="11" name="p10-id-1">
            <a:extLst xmlns:a="http://schemas.openxmlformats.org/drawingml/2006/main">
              <a:ext uri="{FF2B5EF4-FFF2-40B4-BE49-F238E27FC236}">
                <a16:creationId xmlns:a16="http://schemas.microsoft.com/office/drawing/2014/main" id="{48322CD2-D87F-459C-B8CA-625A37348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2724150"/>
            <a:ext cx="3333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建模 benchmarking 过程，评估误判改进率</a:t>
            </a:r>
          </a:p>
        </p:txBody>
      </p:sp>
      <p:sp>
        <p:nvSpPr>
          <p:cNvPr id="12" name="p10-il-2">
            <a:extLst xmlns:a="http://schemas.openxmlformats.org/drawingml/2006/main">
              <a:ext uri="{FF2B5EF4-FFF2-40B4-BE49-F238E27FC236}">
                <a16:creationId xmlns:a16="http://schemas.microsoft.com/office/drawing/2014/main" id="{23E94D95-0793-407F-8401-C52C29C90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8050"/>
            <a:ext cx="11430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机制</a:t>
            </a:r>
          </a:p>
        </p:txBody>
      </p:sp>
      <p:sp>
        <p:nvSpPr>
          <p:cNvPr id="13" name="p10-id-2">
            <a:extLst xmlns:a="http://schemas.openxmlformats.org/drawingml/2006/main">
              <a:ext uri="{FF2B5EF4-FFF2-40B4-BE49-F238E27FC236}">
                <a16:creationId xmlns:a16="http://schemas.microsoft.com/office/drawing/2014/main" id="{5B4CDA87-5C7C-46F7-84D7-E4CC5F311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448050"/>
            <a:ext cx="3333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抽样 / 初始化 / 超参数方差改变比较</a:t>
            </a:r>
          </a:p>
        </p:txBody>
      </p:sp>
      <p:sp>
        <p:nvSpPr>
          <p:cNvPr id="14" name="p10-il-3">
            <a:extLst xmlns:a="http://schemas.openxmlformats.org/drawingml/2006/main">
              <a:ext uri="{FF2B5EF4-FFF2-40B4-BE49-F238E27FC236}">
                <a16:creationId xmlns:a16="http://schemas.microsoft.com/office/drawing/2014/main" id="{B894A944-631D-46F5-8C0F-3BB7AE499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71950"/>
            <a:ext cx="11430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边界</a:t>
            </a:r>
          </a:p>
        </p:txBody>
      </p:sp>
      <p:sp>
        <p:nvSpPr>
          <p:cNvPr id="15" name="p10-id-3">
            <a:extLst xmlns:a="http://schemas.openxmlformats.org/drawingml/2006/main">
              <a:ext uri="{FF2B5EF4-FFF2-40B4-BE49-F238E27FC236}">
                <a16:creationId xmlns:a16="http://schemas.microsoft.com/office/drawing/2014/main" id="{2FFF118F-64AA-4546-B235-E374C0DF6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171950"/>
            <a:ext cx="3333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计算代价阻止全量覆盖所有来源</a:t>
            </a:r>
          </a:p>
        </p:txBody>
      </p:sp>
      <p:sp>
        <p:nvSpPr>
          <p:cNvPr id="16" name="p10-arrow">
            <a:extLst xmlns:a="http://schemas.openxmlformats.org/drawingml/2006/main">
              <a:ext uri="{FF2B5EF4-FFF2-40B4-BE49-F238E27FC236}">
                <a16:creationId xmlns:a16="http://schemas.microsoft.com/office/drawing/2014/main" id="{17F1A326-70F3-4BC3-85F8-81FD9F5E2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048000"/>
            <a:ext cx="723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C8161E"/>
                </a:solidFill>
              </a:defRPr>
            </a:pPr>
            <a:r>
              <a:rPr sz="3150" b="1">
                <a:solidFill>
                  <a:srgbClr val="C8161E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7" name="p10-right-title">
            <a:extLst xmlns:a="http://schemas.openxmlformats.org/drawingml/2006/main">
              <a:ext uri="{FF2B5EF4-FFF2-40B4-BE49-F238E27FC236}">
                <a16:creationId xmlns:a16="http://schemas.microsoft.com/office/drawing/2014/main" id="{C9A43327-FDDD-4ECE-82A9-695F29589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428750"/>
            <a:ext cx="523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C8161E"/>
                </a:solidFill>
              </a:defRPr>
            </a:pPr>
            <a:r>
              <a:rPr sz="180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3 分钟五段陈述</a:t>
            </a:r>
          </a:p>
        </p:txBody>
      </p:sp>
      <p:sp>
        <p:nvSpPr>
          <p:cNvPr id="18" name="p10-pn-0">
            <a:extLst xmlns:a="http://schemas.openxmlformats.org/drawingml/2006/main">
              <a:ext uri="{FF2B5EF4-FFF2-40B4-BE49-F238E27FC236}">
                <a16:creationId xmlns:a16="http://schemas.microsoft.com/office/drawing/2014/main" id="{D4B2C9BC-A648-4CE9-B9AB-767963914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962150"/>
            <a:ext cx="4381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9" name="p10-p-0">
            <a:extLst xmlns:a="http://schemas.openxmlformats.org/drawingml/2006/main">
              <a:ext uri="{FF2B5EF4-FFF2-40B4-BE49-F238E27FC236}">
                <a16:creationId xmlns:a16="http://schemas.microsoft.com/office/drawing/2014/main" id="{4A40C69C-0B9B-4971-8A60-D1141D96E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962150"/>
            <a:ext cx="4476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问题｜比较可能被方差来源改写</a:t>
            </a:r>
          </a:p>
        </p:txBody>
      </p:sp>
      <p:sp>
        <p:nvSpPr>
          <p:cNvPr id="20" name="p10-pn-1">
            <a:extLst xmlns:a="http://schemas.openxmlformats.org/drawingml/2006/main">
              <a:ext uri="{FF2B5EF4-FFF2-40B4-BE49-F238E27FC236}">
                <a16:creationId xmlns:a16="http://schemas.microsoft.com/office/drawing/2014/main" id="{7C6EE3E1-1DC6-4179-AF74-C675836B4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619375"/>
            <a:ext cx="4381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1" name="p10-p-1">
            <a:extLst xmlns:a="http://schemas.openxmlformats.org/drawingml/2006/main">
              <a:ext uri="{FF2B5EF4-FFF2-40B4-BE49-F238E27FC236}">
                <a16:creationId xmlns:a16="http://schemas.microsoft.com/office/drawing/2014/main" id="{4A498C7F-E8AB-4E89-9DE0-D15490145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619375"/>
            <a:ext cx="4476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证据｜建模全过程 + 检测改进误差</a:t>
            </a:r>
          </a:p>
        </p:txBody>
      </p:sp>
      <p:sp>
        <p:nvSpPr>
          <p:cNvPr id="22" name="p10-pn-2">
            <a:extLst xmlns:a="http://schemas.openxmlformats.org/drawingml/2006/main">
              <a:ext uri="{FF2B5EF4-FFF2-40B4-BE49-F238E27FC236}">
                <a16:creationId xmlns:a16="http://schemas.microsoft.com/office/drawing/2014/main" id="{0181356B-F202-404B-91C1-29DF73269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276600"/>
            <a:ext cx="4381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3" name="p10-p-2">
            <a:extLst xmlns:a="http://schemas.openxmlformats.org/drawingml/2006/main">
              <a:ext uri="{FF2B5EF4-FFF2-40B4-BE49-F238E27FC236}">
                <a16:creationId xmlns:a16="http://schemas.microsoft.com/office/drawing/2014/main" id="{67AE1BED-E462-454D-ACD3-C32545B3B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276600"/>
            <a:ext cx="4476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机制｜抽样 / 初始化 / 超参数方差</a:t>
            </a:r>
          </a:p>
        </p:txBody>
      </p:sp>
      <p:sp>
        <p:nvSpPr>
          <p:cNvPr id="24" name="p10-pn-3">
            <a:extLst xmlns:a="http://schemas.openxmlformats.org/drawingml/2006/main">
              <a:ext uri="{FF2B5EF4-FFF2-40B4-BE49-F238E27FC236}">
                <a16:creationId xmlns:a16="http://schemas.microsoft.com/office/drawing/2014/main" id="{C07B2FBF-A7D2-4C64-9225-0011C3315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933825"/>
            <a:ext cx="4381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5" name="p10-p-3">
            <a:extLst xmlns:a="http://schemas.openxmlformats.org/drawingml/2006/main">
              <a:ext uri="{FF2B5EF4-FFF2-40B4-BE49-F238E27FC236}">
                <a16:creationId xmlns:a16="http://schemas.microsoft.com/office/drawing/2014/main" id="{9AC6CCAE-6DFF-4F3B-AE95-40185D0AD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933825"/>
            <a:ext cx="4476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验证｜五个深度学习任务/架构</a:t>
            </a:r>
          </a:p>
        </p:txBody>
      </p:sp>
      <p:sp>
        <p:nvSpPr>
          <p:cNvPr id="26" name="p10-pn-4">
            <a:extLst xmlns:a="http://schemas.openxmlformats.org/drawingml/2006/main">
              <a:ext uri="{FF2B5EF4-FFF2-40B4-BE49-F238E27FC236}">
                <a16:creationId xmlns:a16="http://schemas.microsoft.com/office/drawing/2014/main" id="{33EE2654-D7BA-41B4-90F2-E7CB232EB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591050"/>
            <a:ext cx="4381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7" name="p10-p-4">
            <a:extLst xmlns:a="http://schemas.openxmlformats.org/drawingml/2006/main">
              <a:ext uri="{FF2B5EF4-FFF2-40B4-BE49-F238E27FC236}">
                <a16:creationId xmlns:a16="http://schemas.microsoft.com/office/drawing/2014/main" id="{A38E5753-46A9-4445-8BDE-6FA98B64A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591050"/>
            <a:ext cx="4476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风险｜计算代价限制方差覆盖</a:t>
            </a:r>
          </a:p>
        </p:txBody>
      </p:sp>
      <p:sp>
        <p:nvSpPr>
          <p:cNvPr id="28" name="p10-bottom">
            <a:extLst xmlns:a="http://schemas.openxmlformats.org/drawingml/2006/main">
              <a:ext uri="{FF2B5EF4-FFF2-40B4-BE49-F238E27FC236}">
                <a16:creationId xmlns:a16="http://schemas.microsoft.com/office/drawing/2014/main" id="{E4E72B68-0265-4C85-B20F-462ED7141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353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C8161E"/>
                </a:solidFill>
              </a:defRPr>
            </a:pPr>
            <a:r>
              <a:rPr sz="150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压缩不是删来源：每一段仍能回到上游工件。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28575"/>
            <a:ext cx="10668000" cy="628650"/>
          </a:xfrm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演示下半程：三条反馈如何转成三种决策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0394428-F1DC-E5F6-DB0C-7DE31F3D8A23}" type="slidenum">
              <a:t>11</a:t>
            </a:fld>
            <a:endParaRPr/>
          </a:p>
        </p:txBody>
      </p:sp>
      <p:sp>
        <p:nvSpPr>
          <p:cNvPr id="6" name="p11-boundary">
            <a:extLst xmlns:a="http://schemas.openxmlformats.org/drawingml/2006/main">
              <a:ext uri="{FF2B5EF4-FFF2-40B4-BE49-F238E27FC236}">
                <a16:creationId xmlns:a16="http://schemas.microsoft.com/office/drawing/2014/main" id="{07982AB7-4DB8-41E9-8A2F-71E6DD0D0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838200"/>
            <a:ext cx="914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C8161E"/>
                </a:solidFill>
              </a:defRPr>
            </a:pPr>
            <a:r>
              <a:rPr sz="135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虚构教学反馈｜基于 P10 公开对象，仅演示决策记录</a:t>
            </a:r>
          </a:p>
        </p:txBody>
      </p:sp>
      <p:sp>
        <p:nvSpPr>
          <p:cNvPr id="7" name="p11-feedback-title">
            <a:extLst xmlns:a="http://schemas.openxmlformats.org/drawingml/2006/main">
              <a:ext uri="{FF2B5EF4-FFF2-40B4-BE49-F238E27FC236}">
                <a16:creationId xmlns:a16="http://schemas.microsoft.com/office/drawing/2014/main" id="{56548032-305E-491A-B0B7-BD36C852B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4857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8354E"/>
                </a:solidFill>
              </a:defRPr>
            </a:pPr>
            <a:r>
              <a:rPr sz="1875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同伴反馈</a:t>
            </a:r>
          </a:p>
        </p:txBody>
      </p:sp>
      <p:sp>
        <p:nvSpPr>
          <p:cNvPr id="8" name="p11-decision-title">
            <a:extLst xmlns:a="http://schemas.openxmlformats.org/drawingml/2006/main">
              <a:ext uri="{FF2B5EF4-FFF2-40B4-BE49-F238E27FC236}">
                <a16:creationId xmlns:a16="http://schemas.microsoft.com/office/drawing/2014/main" id="{6DD4F8F6-00EE-4022-9C11-8D323C1D0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99060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C8161E"/>
                </a:solidFill>
              </a:defRPr>
            </a:pPr>
            <a:r>
              <a:rPr sz="187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作者决策</a:t>
            </a:r>
          </a:p>
        </p:txBody>
      </p:sp>
      <p:sp>
        <p:nvSpPr>
          <p:cNvPr id="9" name="p11-dim-0">
            <a:extLst xmlns:a="http://schemas.openxmlformats.org/drawingml/2006/main">
              <a:ext uri="{FF2B5EF4-FFF2-40B4-BE49-F238E27FC236}">
                <a16:creationId xmlns:a16="http://schemas.microsoft.com/office/drawing/2014/main" id="{45365ED2-6A3D-4D07-A5D3-B1953989A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57350"/>
            <a:ext cx="14478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可检验性</a:t>
            </a:r>
          </a:p>
        </p:txBody>
      </p:sp>
      <p:sp>
        <p:nvSpPr>
          <p:cNvPr id="10" name="p11-fb-0">
            <a:extLst xmlns:a="http://schemas.openxmlformats.org/drawingml/2006/main">
              <a:ext uri="{FF2B5EF4-FFF2-40B4-BE49-F238E27FC236}">
                <a16:creationId xmlns:a16="http://schemas.microsoft.com/office/drawing/2014/main" id="{1836FED6-5D0A-4704-AAEC-65F20864D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1657350"/>
            <a:ext cx="33718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抽样与初始化方差的区分设计未写清</a:t>
            </a:r>
          </a:p>
        </p:txBody>
      </p:sp>
      <p:sp>
        <p:nvSpPr>
          <p:cNvPr id="11" name="p11-arrow-0">
            <a:extLst xmlns:a="http://schemas.openxmlformats.org/drawingml/2006/main">
              <a:ext uri="{FF2B5EF4-FFF2-40B4-BE49-F238E27FC236}">
                <a16:creationId xmlns:a16="http://schemas.microsoft.com/office/drawing/2014/main" id="{5A380DF1-63A4-492C-9D3F-B1134EC4F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752600"/>
            <a:ext cx="609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8745A"/>
                </a:solidFill>
              </a:defRPr>
            </a:pPr>
            <a:r>
              <a:rPr sz="2250" b="1">
                <a:solidFill>
                  <a:srgbClr val="28745A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2" name="p11-decision-0">
            <a:extLst xmlns:a="http://schemas.openxmlformats.org/drawingml/2006/main">
              <a:ext uri="{FF2B5EF4-FFF2-40B4-BE49-F238E27FC236}">
                <a16:creationId xmlns:a16="http://schemas.microsoft.com/office/drawing/2014/main" id="{31161CD9-42FD-4214-9BF3-01B34551B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657350"/>
            <a:ext cx="10668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28745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采纳</a:t>
            </a:r>
          </a:p>
        </p:txBody>
      </p:sp>
      <p:sp>
        <p:nvSpPr>
          <p:cNvPr id="13" name="p11-reason-0">
            <a:extLst xmlns:a="http://schemas.openxmlformats.org/drawingml/2006/main">
              <a:ext uri="{FF2B5EF4-FFF2-40B4-BE49-F238E27FC236}">
                <a16:creationId xmlns:a16="http://schemas.microsoft.com/office/drawing/2014/main" id="{E4680B05-A3CC-4865-B9BE-4409874CC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657350"/>
            <a:ext cx="35623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补规格 §假设对应/变量</a:t>
            </a:r>
          </a:p>
        </p:txBody>
      </p:sp>
      <p:sp>
        <p:nvSpPr>
          <p:cNvPr id="14" name="p11-dim-1">
            <a:extLst xmlns:a="http://schemas.openxmlformats.org/drawingml/2006/main">
              <a:ext uri="{FF2B5EF4-FFF2-40B4-BE49-F238E27FC236}">
                <a16:creationId xmlns:a16="http://schemas.microsoft.com/office/drawing/2014/main" id="{F448CFE6-480B-47C1-9AA9-8CF23DDC6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38450"/>
            <a:ext cx="14478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泛化判断</a:t>
            </a:r>
          </a:p>
        </p:txBody>
      </p:sp>
      <p:sp>
        <p:nvSpPr>
          <p:cNvPr id="15" name="p11-fb-1">
            <a:extLst xmlns:a="http://schemas.openxmlformats.org/drawingml/2006/main">
              <a:ext uri="{FF2B5EF4-FFF2-40B4-BE49-F238E27FC236}">
                <a16:creationId xmlns:a16="http://schemas.microsoft.com/office/drawing/2014/main" id="{14340D57-4055-4B8F-8BDF-F45DF25CE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838450"/>
            <a:ext cx="33718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比较不公平（未指明何种差异）</a:t>
            </a:r>
          </a:p>
        </p:txBody>
      </p:sp>
      <p:sp>
        <p:nvSpPr>
          <p:cNvPr id="16" name="p11-arrow-1">
            <a:extLst xmlns:a="http://schemas.openxmlformats.org/drawingml/2006/main">
              <a:ext uri="{FF2B5EF4-FFF2-40B4-BE49-F238E27FC236}">
                <a16:creationId xmlns:a16="http://schemas.microsoft.com/office/drawing/2014/main" id="{F3EB34B4-F37E-4E4C-9257-3FAC61D83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933700"/>
            <a:ext cx="609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C8161E"/>
                </a:solidFill>
              </a:defRPr>
            </a:pPr>
            <a:r>
              <a:rPr sz="2250" b="1">
                <a:solidFill>
                  <a:srgbClr val="C8161E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7" name="p11-decision-1">
            <a:extLst xmlns:a="http://schemas.openxmlformats.org/drawingml/2006/main">
              <a:ext uri="{FF2B5EF4-FFF2-40B4-BE49-F238E27FC236}">
                <a16:creationId xmlns:a16="http://schemas.microsoft.com/office/drawing/2014/main" id="{A3D7A378-DB3E-44BE-901E-5B3AE26B3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838450"/>
            <a:ext cx="10668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拒绝</a:t>
            </a:r>
          </a:p>
        </p:txBody>
      </p:sp>
      <p:sp>
        <p:nvSpPr>
          <p:cNvPr id="18" name="p11-reason-1">
            <a:extLst xmlns:a="http://schemas.openxmlformats.org/drawingml/2006/main">
              <a:ext uri="{FF2B5EF4-FFF2-40B4-BE49-F238E27FC236}">
                <a16:creationId xmlns:a16="http://schemas.microsoft.com/office/drawing/2014/main" id="{0F61DB42-48FC-47B8-AB6F-8D5AFC1D6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838450"/>
            <a:ext cx="35623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未指向具体变量或环节</a:t>
            </a:r>
          </a:p>
        </p:txBody>
      </p:sp>
      <p:sp>
        <p:nvSpPr>
          <p:cNvPr id="19" name="p11-dim-2">
            <a:extLst xmlns:a="http://schemas.openxmlformats.org/drawingml/2006/main">
              <a:ext uri="{FF2B5EF4-FFF2-40B4-BE49-F238E27FC236}">
                <a16:creationId xmlns:a16="http://schemas.microsoft.com/office/drawing/2014/main" id="{FD6A9B92-661E-41EF-9D0A-8BBCF43D3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19550"/>
            <a:ext cx="14478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问题重要性</a:t>
            </a:r>
          </a:p>
        </p:txBody>
      </p:sp>
      <p:sp>
        <p:nvSpPr>
          <p:cNvPr id="20" name="p11-fb-2">
            <a:extLst xmlns:a="http://schemas.openxmlformats.org/drawingml/2006/main">
              <a:ext uri="{FF2B5EF4-FFF2-40B4-BE49-F238E27FC236}">
                <a16:creationId xmlns:a16="http://schemas.microsoft.com/office/drawing/2014/main" id="{8869F47B-9E51-4516-9D56-93CA4877E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019550"/>
            <a:ext cx="33718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没说误判改进会改变哪项 benchmark 决策</a:t>
            </a:r>
          </a:p>
        </p:txBody>
      </p:sp>
      <p:sp>
        <p:nvSpPr>
          <p:cNvPr id="21" name="p11-arrow-2">
            <a:extLst xmlns:a="http://schemas.openxmlformats.org/drawingml/2006/main">
              <a:ext uri="{FF2B5EF4-FFF2-40B4-BE49-F238E27FC236}">
                <a16:creationId xmlns:a16="http://schemas.microsoft.com/office/drawing/2014/main" id="{45366632-3216-437C-BF36-7012A90B9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114800"/>
            <a:ext cx="609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A86C12"/>
                </a:solidFill>
              </a:defRPr>
            </a:pPr>
            <a:r>
              <a:rPr sz="2250" b="1">
                <a:solidFill>
                  <a:srgbClr val="A86C12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2" name="p11-decision-2">
            <a:extLst xmlns:a="http://schemas.openxmlformats.org/drawingml/2006/main">
              <a:ext uri="{FF2B5EF4-FFF2-40B4-BE49-F238E27FC236}">
                <a16:creationId xmlns:a16="http://schemas.microsoft.com/office/drawing/2014/main" id="{0370978E-80C0-4362-9755-A2D2998D6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019550"/>
            <a:ext cx="10668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A86C1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暂缓</a:t>
            </a:r>
          </a:p>
        </p:txBody>
      </p:sp>
      <p:sp>
        <p:nvSpPr>
          <p:cNvPr id="23" name="p11-reason-2">
            <a:extLst xmlns:a="http://schemas.openxmlformats.org/drawingml/2006/main">
              <a:ext uri="{FF2B5EF4-FFF2-40B4-BE49-F238E27FC236}">
                <a16:creationId xmlns:a16="http://schemas.microsoft.com/office/drawing/2014/main" id="{D2649C8F-6500-4C21-A446-3E600F1D4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019550"/>
            <a:ext cx="35623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0D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先补哪种误判率触发行动</a:t>
            </a:r>
          </a:p>
        </p:txBody>
      </p:sp>
      <p:sp>
        <p:nvSpPr>
          <p:cNvPr id="24" name="p11-bottom">
            <a:extLst xmlns:a="http://schemas.openxmlformats.org/drawingml/2006/main">
              <a:ext uri="{FF2B5EF4-FFF2-40B4-BE49-F238E27FC236}">
                <a16:creationId xmlns:a16="http://schemas.microsoft.com/office/drawing/2014/main" id="{AB38F793-09D6-44C6-AD53-6BD4858C4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334000"/>
            <a:ext cx="819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C8161E"/>
                </a:solidFill>
              </a:defRPr>
            </a:pPr>
            <a:r>
              <a:rPr sz="150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拒绝要有具体依据；暂缓要进入待验证状态；采纳要写影响工件。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28575"/>
            <a:ext cx="10668000" cy="628650"/>
          </a:xfrm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 8 课只补两项判断门材料，其余缺口留到第 9 课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DB16885-0D3F-A391-B669-3211DB3B26E8}" type="slidenum">
              <a:t>12</a:t>
            </a:fld>
            <a:endParaRPr/>
          </a:p>
        </p:txBody>
      </p:sp>
      <p:sp>
        <p:nvSpPr>
          <p:cNvPr id="6" name="p12-table-h-0">
            <a:extLst xmlns:a="http://schemas.openxmlformats.org/drawingml/2006/main">
              <a:ext uri="{FF2B5EF4-FFF2-40B4-BE49-F238E27FC236}">
                <a16:creationId xmlns:a16="http://schemas.microsoft.com/office/drawing/2014/main" id="{AB972BF0-B263-4107-9B4D-5210A3402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90600"/>
            <a:ext cx="5238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判断门条件</a:t>
            </a:r>
          </a:p>
        </p:txBody>
      </p:sp>
      <p:sp>
        <p:nvSpPr>
          <p:cNvPr id="7" name="p12-table-h-1">
            <a:extLst xmlns:a="http://schemas.openxmlformats.org/drawingml/2006/main">
              <a:ext uri="{FF2B5EF4-FFF2-40B4-BE49-F238E27FC236}">
                <a16:creationId xmlns:a16="http://schemas.microsoft.com/office/drawing/2014/main" id="{C4590CEF-441A-4162-AB99-89761533C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990600"/>
            <a:ext cx="2667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 8 课状态</a:t>
            </a:r>
          </a:p>
        </p:txBody>
      </p:sp>
      <p:sp>
        <p:nvSpPr>
          <p:cNvPr id="8" name="p12-table-h-2">
            <a:extLst xmlns:a="http://schemas.openxmlformats.org/drawingml/2006/main">
              <a:ext uri="{FF2B5EF4-FFF2-40B4-BE49-F238E27FC236}">
                <a16:creationId xmlns:a16="http://schemas.microsoft.com/office/drawing/2014/main" id="{DB35D281-4C1A-4BA1-8944-6AAE58D67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990600"/>
            <a:ext cx="2952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最小缺口</a:t>
            </a:r>
          </a:p>
        </p:txBody>
      </p:sp>
      <p:sp>
        <p:nvSpPr>
          <p:cNvPr id="9" name="p12-table-r0-0">
            <a:extLst xmlns:a="http://schemas.openxmlformats.org/drawingml/2006/main">
              <a:ext uri="{FF2B5EF4-FFF2-40B4-BE49-F238E27FC236}">
                <a16:creationId xmlns:a16="http://schemas.microsoft.com/office/drawing/2014/main" id="{29B85B1B-E939-478D-86C6-FF7001975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523875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可执行 baseline</a:t>
            </a:r>
          </a:p>
        </p:txBody>
      </p:sp>
      <p:sp>
        <p:nvSpPr>
          <p:cNvPr id="10" name="p12-table-r0-1">
            <a:extLst xmlns:a="http://schemas.openxmlformats.org/drawingml/2006/main">
              <a:ext uri="{FF2B5EF4-FFF2-40B4-BE49-F238E27FC236}">
                <a16:creationId xmlns:a16="http://schemas.microsoft.com/office/drawing/2014/main" id="{63FA49B5-D8F9-4C12-8D39-769AC6D91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390650"/>
            <a:ext cx="26670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C8161E"/>
                </a:solidFill>
              </a:defRPr>
            </a:pPr>
            <a:r>
              <a:rPr sz="135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部分</a:t>
            </a:r>
          </a:p>
        </p:txBody>
      </p:sp>
      <p:sp>
        <p:nvSpPr>
          <p:cNvPr id="11" name="p12-table-r0-2">
            <a:extLst xmlns:a="http://schemas.openxmlformats.org/drawingml/2006/main">
              <a:ext uri="{FF2B5EF4-FFF2-40B4-BE49-F238E27FC236}">
                <a16:creationId xmlns:a16="http://schemas.microsoft.com/office/drawing/2014/main" id="{E58A2E2A-4CEC-4F27-A2D9-08DF8F0F5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390650"/>
            <a:ext cx="295275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0">
                <a:solidFill>
                  <a:srgbClr val="263746"/>
                </a:solidFill>
              </a:defRPr>
            </a:pPr>
            <a:r>
              <a:rPr sz="135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第 9 课跑通</a:t>
            </a:r>
          </a:p>
        </p:txBody>
      </p:sp>
      <p:sp>
        <p:nvSpPr>
          <p:cNvPr id="12" name="p12-table-r1-0">
            <a:extLst xmlns:a="http://schemas.openxmlformats.org/drawingml/2006/main">
              <a:ext uri="{FF2B5EF4-FFF2-40B4-BE49-F238E27FC236}">
                <a16:creationId xmlns:a16="http://schemas.microsoft.com/office/drawing/2014/main" id="{C51A5921-B836-4A17-A424-37DC9DEE9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76425"/>
            <a:ext cx="523875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数据 / 材料 / 指标 / 限制</a:t>
            </a:r>
          </a:p>
        </p:txBody>
      </p:sp>
      <p:sp>
        <p:nvSpPr>
          <p:cNvPr id="13" name="p12-table-r1-1">
            <a:extLst xmlns:a="http://schemas.openxmlformats.org/drawingml/2006/main">
              <a:ext uri="{FF2B5EF4-FFF2-40B4-BE49-F238E27FC236}">
                <a16:creationId xmlns:a16="http://schemas.microsoft.com/office/drawing/2014/main" id="{3E4E3935-260F-4038-A11F-34D50449F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876425"/>
            <a:ext cx="26670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C8161E"/>
                </a:solidFill>
              </a:defRPr>
            </a:pPr>
            <a:r>
              <a:rPr sz="135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部分</a:t>
            </a:r>
          </a:p>
        </p:txBody>
      </p:sp>
      <p:sp>
        <p:nvSpPr>
          <p:cNvPr id="14" name="p12-table-r1-2">
            <a:extLst xmlns:a="http://schemas.openxmlformats.org/drawingml/2006/main">
              <a:ext uri="{FF2B5EF4-FFF2-40B4-BE49-F238E27FC236}">
                <a16:creationId xmlns:a16="http://schemas.microsoft.com/office/drawing/2014/main" id="{242AB112-B461-48A7-A13B-4BB6B44A1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876425"/>
            <a:ext cx="295275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0">
                <a:solidFill>
                  <a:srgbClr val="263746"/>
                </a:solidFill>
              </a:defRPr>
            </a:pPr>
            <a:r>
              <a:rPr sz="135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第 9 课补齐</a:t>
            </a:r>
          </a:p>
        </p:txBody>
      </p:sp>
      <p:sp>
        <p:nvSpPr>
          <p:cNvPr id="15" name="p12-table-r2-0">
            <a:extLst xmlns:a="http://schemas.openxmlformats.org/drawingml/2006/main">
              <a:ext uri="{FF2B5EF4-FFF2-40B4-BE49-F238E27FC236}">
                <a16:creationId xmlns:a16="http://schemas.microsoft.com/office/drawing/2014/main" id="{973D9C0F-D13A-4C5C-9420-F3BC08B61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62200"/>
            <a:ext cx="523875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环境 / 配置 / 随机种子</a:t>
            </a:r>
          </a:p>
        </p:txBody>
      </p:sp>
      <p:sp>
        <p:nvSpPr>
          <p:cNvPr id="16" name="p12-table-r2-1">
            <a:extLst xmlns:a="http://schemas.openxmlformats.org/drawingml/2006/main">
              <a:ext uri="{FF2B5EF4-FFF2-40B4-BE49-F238E27FC236}">
                <a16:creationId xmlns:a16="http://schemas.microsoft.com/office/drawing/2014/main" id="{B64D90C8-BA5E-4595-B7ED-A5F9A05B7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362200"/>
            <a:ext cx="26670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C8161E"/>
                </a:solidFill>
              </a:defRPr>
            </a:pPr>
            <a:r>
              <a:rPr sz="135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未覆盖</a:t>
            </a:r>
          </a:p>
        </p:txBody>
      </p:sp>
      <p:sp>
        <p:nvSpPr>
          <p:cNvPr id="17" name="p12-table-r2-2">
            <a:extLst xmlns:a="http://schemas.openxmlformats.org/drawingml/2006/main">
              <a:ext uri="{FF2B5EF4-FFF2-40B4-BE49-F238E27FC236}">
                <a16:creationId xmlns:a16="http://schemas.microsoft.com/office/drawing/2014/main" id="{DC83C1DA-5F6A-4CA9-9AA1-6885C24CC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362200"/>
            <a:ext cx="295275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0">
                <a:solidFill>
                  <a:srgbClr val="263746"/>
                </a:solidFill>
              </a:defRPr>
            </a:pPr>
            <a:r>
              <a:rPr sz="135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第 9 课记录</a:t>
            </a:r>
          </a:p>
        </p:txBody>
      </p:sp>
      <p:sp>
        <p:nvSpPr>
          <p:cNvPr id="18" name="p12-table-r3-0">
            <a:extLst xmlns:a="http://schemas.openxmlformats.org/drawingml/2006/main">
              <a:ext uri="{FF2B5EF4-FFF2-40B4-BE49-F238E27FC236}">
                <a16:creationId xmlns:a16="http://schemas.microsoft.com/office/drawing/2014/main" id="{14D80618-DD2B-4C61-BFB2-61C2EFE6C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47975"/>
            <a:ext cx="523875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至少 2 条研究判断</a:t>
            </a:r>
          </a:p>
        </p:txBody>
      </p:sp>
      <p:sp>
        <p:nvSpPr>
          <p:cNvPr id="19" name="p12-table-r3-1">
            <a:extLst xmlns:a="http://schemas.openxmlformats.org/drawingml/2006/main">
              <a:ext uri="{FF2B5EF4-FFF2-40B4-BE49-F238E27FC236}">
                <a16:creationId xmlns:a16="http://schemas.microsoft.com/office/drawing/2014/main" id="{96407ADF-3C49-4535-9EFC-56553823A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847975"/>
            <a:ext cx="26670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C8161E"/>
                </a:solidFill>
              </a:defRPr>
            </a:pPr>
            <a:r>
              <a:rPr sz="135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本课补入</a:t>
            </a:r>
          </a:p>
        </p:txBody>
      </p:sp>
      <p:sp>
        <p:nvSpPr>
          <p:cNvPr id="20" name="p12-table-r3-2">
            <a:extLst xmlns:a="http://schemas.openxmlformats.org/drawingml/2006/main">
              <a:ext uri="{FF2B5EF4-FFF2-40B4-BE49-F238E27FC236}">
                <a16:creationId xmlns:a16="http://schemas.microsoft.com/office/drawing/2014/main" id="{E1B9BC00-65E0-4C50-B92F-EDCE31DEA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847975"/>
            <a:ext cx="295275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0">
                <a:solidFill>
                  <a:srgbClr val="263746"/>
                </a:solidFill>
              </a:defRPr>
            </a:pPr>
            <a:r>
              <a:rPr sz="135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合并决策表</a:t>
            </a:r>
          </a:p>
        </p:txBody>
      </p:sp>
      <p:sp>
        <p:nvSpPr>
          <p:cNvPr id="21" name="p12-table-r4-0">
            <a:extLst xmlns:a="http://schemas.openxmlformats.org/drawingml/2006/main">
              <a:ext uri="{FF2B5EF4-FFF2-40B4-BE49-F238E27FC236}">
                <a16:creationId xmlns:a16="http://schemas.microsoft.com/office/drawing/2014/main" id="{2FE45A46-4909-4613-8767-E966BC152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33750"/>
            <a:ext cx="523875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实验规格完整</a:t>
            </a:r>
          </a:p>
        </p:txBody>
      </p:sp>
      <p:sp>
        <p:nvSpPr>
          <p:cNvPr id="22" name="p12-table-r4-1">
            <a:extLst xmlns:a="http://schemas.openxmlformats.org/drawingml/2006/main">
              <a:ext uri="{FF2B5EF4-FFF2-40B4-BE49-F238E27FC236}">
                <a16:creationId xmlns:a16="http://schemas.microsoft.com/office/drawing/2014/main" id="{A56C8AEA-8CED-4195-965C-3421ADC9C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333750"/>
            <a:ext cx="26670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C8161E"/>
                </a:solidFill>
              </a:defRPr>
            </a:pPr>
            <a:r>
              <a:rPr sz="135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第 7 课草图 + 本课反馈</a:t>
            </a:r>
          </a:p>
        </p:txBody>
      </p:sp>
      <p:sp>
        <p:nvSpPr>
          <p:cNvPr id="23" name="p12-table-r4-2">
            <a:extLst xmlns:a="http://schemas.openxmlformats.org/drawingml/2006/main">
              <a:ext uri="{FF2B5EF4-FFF2-40B4-BE49-F238E27FC236}">
                <a16:creationId xmlns:a16="http://schemas.microsoft.com/office/drawing/2014/main" id="{2698BB89-E2E9-48A4-81D5-34844D478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333750"/>
            <a:ext cx="295275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0">
                <a:solidFill>
                  <a:srgbClr val="263746"/>
                </a:solidFill>
              </a:defRPr>
            </a:pPr>
            <a:r>
              <a:rPr sz="135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按反馈修订</a:t>
            </a:r>
          </a:p>
        </p:txBody>
      </p:sp>
      <p:sp>
        <p:nvSpPr>
          <p:cNvPr id="24" name="p12-table-r5-0">
            <a:extLst xmlns:a="http://schemas.openxmlformats.org/drawingml/2006/main">
              <a:ext uri="{FF2B5EF4-FFF2-40B4-BE49-F238E27FC236}">
                <a16:creationId xmlns:a16="http://schemas.microsoft.com/office/drawing/2014/main" id="{E871B3FE-2D1D-4867-9EC6-C9511BF42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9525"/>
            <a:ext cx="523875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同伴反馈处理记录</a:t>
            </a:r>
          </a:p>
        </p:txBody>
      </p:sp>
      <p:sp>
        <p:nvSpPr>
          <p:cNvPr id="25" name="p12-table-r5-1">
            <a:extLst xmlns:a="http://schemas.openxmlformats.org/drawingml/2006/main">
              <a:ext uri="{FF2B5EF4-FFF2-40B4-BE49-F238E27FC236}">
                <a16:creationId xmlns:a16="http://schemas.microsoft.com/office/drawing/2014/main" id="{414BD02C-F589-47A4-8452-3533242C9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819525"/>
            <a:ext cx="26670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C8161E"/>
                </a:solidFill>
              </a:defRPr>
            </a:pPr>
            <a:r>
              <a:rPr sz="135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本课产出</a:t>
            </a:r>
          </a:p>
        </p:txBody>
      </p:sp>
      <p:sp>
        <p:nvSpPr>
          <p:cNvPr id="26" name="p12-table-r5-2">
            <a:extLst xmlns:a="http://schemas.openxmlformats.org/drawingml/2006/main">
              <a:ext uri="{FF2B5EF4-FFF2-40B4-BE49-F238E27FC236}">
                <a16:creationId xmlns:a16="http://schemas.microsoft.com/office/drawing/2014/main" id="{558E2C4D-4EFD-4760-B1AA-C8B12C1C2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819525"/>
            <a:ext cx="295275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0">
                <a:solidFill>
                  <a:srgbClr val="263746"/>
                </a:solidFill>
              </a:defRPr>
            </a:pPr>
            <a:r>
              <a:rPr sz="135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无</a:t>
            </a:r>
          </a:p>
        </p:txBody>
      </p:sp>
      <p:sp>
        <p:nvSpPr>
          <p:cNvPr id="27" name="p12-table-r6-0">
            <a:extLst xmlns:a="http://schemas.openxmlformats.org/drawingml/2006/main">
              <a:ext uri="{FF2B5EF4-FFF2-40B4-BE49-F238E27FC236}">
                <a16:creationId xmlns:a16="http://schemas.microsoft.com/office/drawing/2014/main" id="{BC401C56-C735-49A1-85CF-F873B8626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05300"/>
            <a:ext cx="523875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最大风险与失败预案</a:t>
            </a:r>
          </a:p>
        </p:txBody>
      </p:sp>
      <p:sp>
        <p:nvSpPr>
          <p:cNvPr id="28" name="p12-table-r6-1">
            <a:extLst xmlns:a="http://schemas.openxmlformats.org/drawingml/2006/main">
              <a:ext uri="{FF2B5EF4-FFF2-40B4-BE49-F238E27FC236}">
                <a16:creationId xmlns:a16="http://schemas.microsoft.com/office/drawing/2014/main" id="{7D0EDE98-AF22-4224-B57F-BB81A6F51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305300"/>
            <a:ext cx="26670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C8161E"/>
                </a:solidFill>
              </a:defRPr>
            </a:pPr>
            <a:r>
              <a:rPr sz="135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本课产出</a:t>
            </a:r>
          </a:p>
        </p:txBody>
      </p:sp>
      <p:sp>
        <p:nvSpPr>
          <p:cNvPr id="29" name="p12-table-r6-2">
            <a:extLst xmlns:a="http://schemas.openxmlformats.org/drawingml/2006/main">
              <a:ext uri="{FF2B5EF4-FFF2-40B4-BE49-F238E27FC236}">
                <a16:creationId xmlns:a16="http://schemas.microsoft.com/office/drawing/2014/main" id="{8A876004-4F82-4752-97B3-846BA0665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305300"/>
            <a:ext cx="295275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0">
                <a:solidFill>
                  <a:srgbClr val="263746"/>
                </a:solidFill>
              </a:defRPr>
            </a:pPr>
            <a:r>
              <a:rPr sz="135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无</a:t>
            </a:r>
          </a:p>
        </p:txBody>
      </p:sp>
      <p:sp>
        <p:nvSpPr>
          <p:cNvPr id="30" name="p12-table-r7-0">
            <a:extLst xmlns:a="http://schemas.openxmlformats.org/drawingml/2006/main">
              <a:ext uri="{FF2B5EF4-FFF2-40B4-BE49-F238E27FC236}">
                <a16:creationId xmlns:a16="http://schemas.microsoft.com/office/drawing/2014/main" id="{72EA3DBF-8983-4234-9515-579E798E7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91075"/>
            <a:ext cx="523875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迁移完整项目模板</a:t>
            </a:r>
          </a:p>
        </p:txBody>
      </p:sp>
      <p:sp>
        <p:nvSpPr>
          <p:cNvPr id="31" name="p12-table-r7-1">
            <a:extLst xmlns:a="http://schemas.openxmlformats.org/drawingml/2006/main">
              <a:ext uri="{FF2B5EF4-FFF2-40B4-BE49-F238E27FC236}">
                <a16:creationId xmlns:a16="http://schemas.microsoft.com/office/drawing/2014/main" id="{501CEEB8-CC88-430D-9553-A46FF01A8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791075"/>
            <a:ext cx="26670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C8161E"/>
                </a:solidFill>
              </a:defRPr>
            </a:pPr>
            <a:r>
              <a:rPr sz="135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未覆盖</a:t>
            </a:r>
          </a:p>
        </p:txBody>
      </p:sp>
      <p:sp>
        <p:nvSpPr>
          <p:cNvPr id="32" name="p12-table-r7-2">
            <a:extLst xmlns:a="http://schemas.openxmlformats.org/drawingml/2006/main">
              <a:ext uri="{FF2B5EF4-FFF2-40B4-BE49-F238E27FC236}">
                <a16:creationId xmlns:a16="http://schemas.microsoft.com/office/drawing/2014/main" id="{08E6D6BC-ECD1-4D17-BFD4-5187E592B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791075"/>
            <a:ext cx="295275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0">
                <a:solidFill>
                  <a:srgbClr val="263746"/>
                </a:solidFill>
              </a:defRPr>
            </a:pPr>
            <a:r>
              <a:rPr sz="135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第 9 课迁移</a:t>
            </a:r>
          </a:p>
        </p:txBody>
      </p:sp>
      <p:sp>
        <p:nvSpPr>
          <p:cNvPr id="33" name="p12-bottom">
            <a:extLst xmlns:a="http://schemas.openxmlformats.org/drawingml/2006/main">
              <a:ext uri="{FF2B5EF4-FFF2-40B4-BE49-F238E27FC236}">
                <a16:creationId xmlns:a16="http://schemas.microsoft.com/office/drawing/2014/main" id="{2328DFB7-2C74-4C5C-9FC5-CD6C5A7F0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41020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C8161E"/>
                </a:solidFill>
              </a:defRPr>
            </a:pPr>
            <a:r>
              <a:rPr sz="150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本课直接补：同伴反馈处理记录 + 至少 2 条研究判断。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28575"/>
            <a:ext cx="10668000" cy="628650"/>
          </a:xfrm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实践：完成陈述、互查、决策与判断门预检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DD23107-4986-8758-3A93-3D74F35908CC}" type="slidenum">
              <a:t>13</a:t>
            </a:fld>
            <a:endParaRPr/>
          </a:p>
        </p:txBody>
      </p:sp>
      <p:sp>
        <p:nvSpPr>
          <p:cNvPr id="6" name="p13-time">
            <a:extLst xmlns:a="http://schemas.openxmlformats.org/drawingml/2006/main">
              <a:ext uri="{FF2B5EF4-FFF2-40B4-BE49-F238E27FC236}">
                <a16:creationId xmlns:a16="http://schemas.microsoft.com/office/drawing/2014/main" id="{A3CB2F06-4ACD-4167-A75C-A02686F14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876300"/>
            <a:ext cx="3009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C8161E"/>
                </a:solidFill>
              </a:defRPr>
            </a:pPr>
            <a:r>
              <a:rPr sz="135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42:30–85:00｜停留本页</a:t>
            </a:r>
          </a:p>
        </p:txBody>
      </p:sp>
      <p:sp>
        <p:nvSpPr>
          <p:cNvPr id="7" name="p13-left-title">
            <a:extLst xmlns:a="http://schemas.openxmlformats.org/drawingml/2006/main">
              <a:ext uri="{FF2B5EF4-FFF2-40B4-BE49-F238E27FC236}">
                <a16:creationId xmlns:a16="http://schemas.microsoft.com/office/drawing/2014/main" id="{0155AF0C-0C07-4044-A8DC-0E5E3DA06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619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8354E"/>
                </a:solidFill>
              </a:defRPr>
            </a:pPr>
            <a:r>
              <a:rPr sz="1875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四项任务</a:t>
            </a:r>
          </a:p>
        </p:txBody>
      </p:sp>
      <p:sp>
        <p:nvSpPr>
          <p:cNvPr id="8" name="p13-line-0">
            <a:extLst xmlns:a="http://schemas.openxmlformats.org/drawingml/2006/main">
              <a:ext uri="{FF2B5EF4-FFF2-40B4-BE49-F238E27FC236}">
                <a16:creationId xmlns:a16="http://schemas.microsoft.com/office/drawing/2014/main" id="{75757573-E8A6-435A-BE7E-89B56BBF0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819150" y="2195513"/>
            <a:ext cx="304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D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p13-n-0">
            <a:extLst xmlns:a="http://schemas.openxmlformats.org/drawingml/2006/main">
              <a:ext uri="{FF2B5EF4-FFF2-40B4-BE49-F238E27FC236}">
                <a16:creationId xmlns:a16="http://schemas.microsoft.com/office/drawing/2014/main" id="{19736FD8-C248-41E3-A53F-8385F8EE4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81150"/>
            <a:ext cx="4953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0" name="p13-task-0">
            <a:extLst xmlns:a="http://schemas.openxmlformats.org/drawingml/2006/main">
              <a:ext uri="{FF2B5EF4-FFF2-40B4-BE49-F238E27FC236}">
                <a16:creationId xmlns:a16="http://schemas.microsoft.com/office/drawing/2014/main" id="{DBE91DC3-CCB6-4FCD-BCF2-8F065DD80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581150"/>
            <a:ext cx="5619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63746"/>
                </a:solidFill>
              </a:defRPr>
            </a:pPr>
            <a:r>
              <a:rPr sz="142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补全 3 分钟五段陈述稿</a:t>
            </a:r>
          </a:p>
        </p:txBody>
      </p:sp>
      <p:sp>
        <p:nvSpPr>
          <p:cNvPr id="11" name="p13-line-1">
            <a:extLst xmlns:a="http://schemas.openxmlformats.org/drawingml/2006/main">
              <a:ext uri="{FF2B5EF4-FFF2-40B4-BE49-F238E27FC236}">
                <a16:creationId xmlns:a16="http://schemas.microsoft.com/office/drawing/2014/main" id="{4BEFE032-61FF-4E2F-A5CB-07610B261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819150" y="3014663"/>
            <a:ext cx="304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D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13-n-1">
            <a:extLst xmlns:a="http://schemas.openxmlformats.org/drawingml/2006/main">
              <a:ext uri="{FF2B5EF4-FFF2-40B4-BE49-F238E27FC236}">
                <a16:creationId xmlns:a16="http://schemas.microsoft.com/office/drawing/2014/main" id="{BF88E2BD-CE28-4380-8283-5B392C1DC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00300"/>
            <a:ext cx="4953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3" name="p13-task-1">
            <a:extLst xmlns:a="http://schemas.openxmlformats.org/drawingml/2006/main">
              <a:ext uri="{FF2B5EF4-FFF2-40B4-BE49-F238E27FC236}">
                <a16:creationId xmlns:a16="http://schemas.microsoft.com/office/drawing/2014/main" id="{47CAAB47-362A-4400-AF8A-FA543A017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400300"/>
            <a:ext cx="5619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63746"/>
                </a:solidFill>
              </a:defRPr>
            </a:pPr>
            <a:r>
              <a:rPr sz="142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每人 3 分钟陈述 + 2 分钟反馈</a:t>
            </a:r>
          </a:p>
        </p:txBody>
      </p:sp>
      <p:sp>
        <p:nvSpPr>
          <p:cNvPr id="14" name="p13-line-2">
            <a:extLst xmlns:a="http://schemas.openxmlformats.org/drawingml/2006/main">
              <a:ext uri="{FF2B5EF4-FFF2-40B4-BE49-F238E27FC236}">
                <a16:creationId xmlns:a16="http://schemas.microsoft.com/office/drawing/2014/main" id="{99518F30-258C-4E9E-A2C1-F7BD84467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819150" y="3833813"/>
            <a:ext cx="304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D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p13-n-2">
            <a:extLst xmlns:a="http://schemas.openxmlformats.org/drawingml/2006/main">
              <a:ext uri="{FF2B5EF4-FFF2-40B4-BE49-F238E27FC236}">
                <a16:creationId xmlns:a16="http://schemas.microsoft.com/office/drawing/2014/main" id="{A8AADAA3-188D-437E-B3CA-494352E85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19450"/>
            <a:ext cx="4953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6" name="p13-task-2">
            <a:extLst xmlns:a="http://schemas.openxmlformats.org/drawingml/2006/main">
              <a:ext uri="{FF2B5EF4-FFF2-40B4-BE49-F238E27FC236}">
                <a16:creationId xmlns:a16="http://schemas.microsoft.com/office/drawing/2014/main" id="{6B2B432D-AD39-4AB3-B284-30F626C71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219450"/>
            <a:ext cx="5619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63746"/>
                </a:solidFill>
              </a:defRPr>
            </a:pPr>
            <a:r>
              <a:rPr sz="142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写 2 条六字段决策：1 采纳 + 1 拒绝/暂缓</a:t>
            </a:r>
          </a:p>
        </p:txBody>
      </p:sp>
      <p:sp>
        <p:nvSpPr>
          <p:cNvPr id="17" name="p13-n-3">
            <a:extLst xmlns:a="http://schemas.openxmlformats.org/drawingml/2006/main">
              <a:ext uri="{FF2B5EF4-FFF2-40B4-BE49-F238E27FC236}">
                <a16:creationId xmlns:a16="http://schemas.microsoft.com/office/drawing/2014/main" id="{D0935479-3BAE-4AD9-AA63-2F2F9EDDB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38600"/>
            <a:ext cx="4953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8" name="p13-task-3">
            <a:extLst xmlns:a="http://schemas.openxmlformats.org/drawingml/2006/main">
              <a:ext uri="{FF2B5EF4-FFF2-40B4-BE49-F238E27FC236}">
                <a16:creationId xmlns:a16="http://schemas.microsoft.com/office/drawing/2014/main" id="{DA492548-4D4F-4801-9EEF-2FA4DC1F4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038600"/>
            <a:ext cx="5619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63746"/>
                </a:solidFill>
              </a:defRPr>
            </a:pPr>
            <a:r>
              <a:rPr sz="142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列出判断门已满足 / 部分 / 未覆盖项</a:t>
            </a:r>
          </a:p>
        </p:txBody>
      </p:sp>
      <p:sp>
        <p:nvSpPr>
          <p:cNvPr id="19" name="p13-divider">
            <a:extLst xmlns:a="http://schemas.openxmlformats.org/drawingml/2006/main">
              <a:ext uri="{FF2B5EF4-FFF2-40B4-BE49-F238E27FC236}">
                <a16:creationId xmlns:a16="http://schemas.microsoft.com/office/drawing/2014/main" id="{DF1F7143-17CE-452C-A865-31E187B5F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391150" y="3128963"/>
            <a:ext cx="3810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D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p13-right-title">
            <a:extLst xmlns:a="http://schemas.openxmlformats.org/drawingml/2006/main">
              <a:ext uri="{FF2B5EF4-FFF2-40B4-BE49-F238E27FC236}">
                <a16:creationId xmlns:a16="http://schemas.microsoft.com/office/drawing/2014/main" id="{E2B6B068-4AA5-4362-A32F-D4B87DEE4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1333500"/>
            <a:ext cx="3543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C8161E"/>
                </a:solidFill>
              </a:defRPr>
            </a:pPr>
            <a:r>
              <a:rPr sz="187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时间切换</a:t>
            </a:r>
          </a:p>
        </p:txBody>
      </p:sp>
      <p:sp>
        <p:nvSpPr>
          <p:cNvPr id="21" name="p13-time-0">
            <a:extLst xmlns:a="http://schemas.openxmlformats.org/drawingml/2006/main">
              <a:ext uri="{FF2B5EF4-FFF2-40B4-BE49-F238E27FC236}">
                <a16:creationId xmlns:a16="http://schemas.microsoft.com/office/drawing/2014/main" id="{494C3BE7-2FB0-4966-B193-52C7A9F5B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1943100"/>
            <a:ext cx="16192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42:30–45:00</a:t>
            </a:r>
          </a:p>
        </p:txBody>
      </p:sp>
      <p:sp>
        <p:nvSpPr>
          <p:cNvPr id="22" name="p13-phase-0">
            <a:extLst xmlns:a="http://schemas.openxmlformats.org/drawingml/2006/main">
              <a:ext uri="{FF2B5EF4-FFF2-40B4-BE49-F238E27FC236}">
                <a16:creationId xmlns:a16="http://schemas.microsoft.com/office/drawing/2014/main" id="{BB19B884-4501-4413-812B-6F0343F1D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943100"/>
            <a:ext cx="18859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陈述准备 + 分组确认</a:t>
            </a:r>
          </a:p>
        </p:txBody>
      </p:sp>
      <p:sp>
        <p:nvSpPr>
          <p:cNvPr id="23" name="p13-time-1">
            <a:extLst xmlns:a="http://schemas.openxmlformats.org/drawingml/2006/main">
              <a:ext uri="{FF2B5EF4-FFF2-40B4-BE49-F238E27FC236}">
                <a16:creationId xmlns:a16="http://schemas.microsoft.com/office/drawing/2014/main" id="{B9576ED3-1A90-49A3-B3AB-2A026AA24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857500"/>
            <a:ext cx="16192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45:00–70:00</a:t>
            </a:r>
          </a:p>
        </p:txBody>
      </p:sp>
      <p:sp>
        <p:nvSpPr>
          <p:cNvPr id="24" name="p13-phase-1">
            <a:extLst xmlns:a="http://schemas.openxmlformats.org/drawingml/2006/main">
              <a:ext uri="{FF2B5EF4-FFF2-40B4-BE49-F238E27FC236}">
                <a16:creationId xmlns:a16="http://schemas.microsoft.com/office/drawing/2014/main" id="{5123BA46-7ED5-4C13-8853-B97CDA700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857500"/>
            <a:ext cx="18859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同伴互查</a:t>
            </a:r>
          </a:p>
        </p:txBody>
      </p:sp>
      <p:sp>
        <p:nvSpPr>
          <p:cNvPr id="25" name="p13-time-2">
            <a:extLst xmlns:a="http://schemas.openxmlformats.org/drawingml/2006/main">
              <a:ext uri="{FF2B5EF4-FFF2-40B4-BE49-F238E27FC236}">
                <a16:creationId xmlns:a16="http://schemas.microsoft.com/office/drawing/2014/main" id="{D9D2D863-C903-472C-AC7D-99497F1A1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771900"/>
            <a:ext cx="16192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28745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70:00–85:00</a:t>
            </a:r>
          </a:p>
        </p:txBody>
      </p:sp>
      <p:sp>
        <p:nvSpPr>
          <p:cNvPr id="26" name="p13-phase-2">
            <a:extLst xmlns:a="http://schemas.openxmlformats.org/drawingml/2006/main">
              <a:ext uri="{FF2B5EF4-FFF2-40B4-BE49-F238E27FC236}">
                <a16:creationId xmlns:a16="http://schemas.microsoft.com/office/drawing/2014/main" id="{166F0AAA-7D6B-4589-8A3B-76B00AE84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771900"/>
            <a:ext cx="18859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采纳决策 + 预检</a:t>
            </a:r>
          </a:p>
        </p:txBody>
      </p:sp>
      <p:sp>
        <p:nvSpPr>
          <p:cNvPr id="27" name="p13-fallback">
            <a:extLst xmlns:a="http://schemas.openxmlformats.org/drawingml/2006/main">
              <a:ext uri="{FF2B5EF4-FFF2-40B4-BE49-F238E27FC236}">
                <a16:creationId xmlns:a16="http://schemas.microsoft.com/office/drawing/2014/main" id="{BB9E9AB4-FEAC-42E2-8E20-E934A9CFA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762500"/>
            <a:ext cx="36004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350" b="1">
                <a:solidFill>
                  <a:srgbClr val="C8161E"/>
                </a:solidFill>
              </a:defRPr>
            </a:pPr>
            <a:r>
              <a:rPr sz="135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无网络：用 Markdown 或纸面完成同一链路；不逐台排障。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28575"/>
            <a:ext cx="10668000" cy="628650"/>
          </a:xfrm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退出卡：把今天的反馈变成第 9 课的最小行动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27921A4-25C4-3DB4-06B1-32693CEE2241}" type="slidenum">
              <a:t>14</a:t>
            </a:fld>
            <a:endParaRPr/>
          </a:p>
        </p:txBody>
      </p:sp>
      <p:sp>
        <p:nvSpPr>
          <p:cNvPr id="6" name="p14-left-title">
            <a:extLst xmlns:a="http://schemas.openxmlformats.org/drawingml/2006/main">
              <a:ext uri="{FF2B5EF4-FFF2-40B4-BE49-F238E27FC236}">
                <a16:creationId xmlns:a16="http://schemas.microsoft.com/office/drawing/2014/main" id="{E6A76E1E-C936-4A13-9906-83B199681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71550"/>
            <a:ext cx="533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C8161E"/>
                </a:solidFill>
              </a:defRPr>
            </a:pPr>
            <a:r>
              <a:rPr sz="195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退出卡</a:t>
            </a:r>
          </a:p>
        </p:txBody>
      </p:sp>
      <p:sp>
        <p:nvSpPr>
          <p:cNvPr id="7" name="p14-n-0">
            <a:extLst xmlns:a="http://schemas.openxmlformats.org/drawingml/2006/main">
              <a:ext uri="{FF2B5EF4-FFF2-40B4-BE49-F238E27FC236}">
                <a16:creationId xmlns:a16="http://schemas.microsoft.com/office/drawing/2014/main" id="{D3C7D301-2F60-4476-8FB9-5509014D2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81150"/>
            <a:ext cx="4572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p14-q-0">
            <a:extLst xmlns:a="http://schemas.openxmlformats.org/drawingml/2006/main">
              <a:ext uri="{FF2B5EF4-FFF2-40B4-BE49-F238E27FC236}">
                <a16:creationId xmlns:a16="http://schemas.microsoft.com/office/drawing/2014/main" id="{12FFBD33-05A7-48E0-B755-8453A0310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581150"/>
            <a:ext cx="4762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四维诊断中，哪一维最薄弱？边界是否清楚？</a:t>
            </a:r>
          </a:p>
        </p:txBody>
      </p:sp>
      <p:sp>
        <p:nvSpPr>
          <p:cNvPr id="9" name="p14-n-1">
            <a:extLst xmlns:a="http://schemas.openxmlformats.org/drawingml/2006/main">
              <a:ext uri="{FF2B5EF4-FFF2-40B4-BE49-F238E27FC236}">
                <a16:creationId xmlns:a16="http://schemas.microsoft.com/office/drawing/2014/main" id="{BC0C8410-5232-42BB-8423-BF4BDFD03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00300"/>
            <a:ext cx="4572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p14-q-1">
            <a:extLst xmlns:a="http://schemas.openxmlformats.org/drawingml/2006/main">
              <a:ext uri="{FF2B5EF4-FFF2-40B4-BE49-F238E27FC236}">
                <a16:creationId xmlns:a16="http://schemas.microsoft.com/office/drawing/2014/main" id="{432C1F65-77A4-4D85-8E05-6E74CCB95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400300"/>
            <a:ext cx="4762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收到的哪条反馈最可执行？</a:t>
            </a:r>
          </a:p>
        </p:txBody>
      </p:sp>
      <p:sp>
        <p:nvSpPr>
          <p:cNvPr id="11" name="p14-n-2">
            <a:extLst xmlns:a="http://schemas.openxmlformats.org/drawingml/2006/main">
              <a:ext uri="{FF2B5EF4-FFF2-40B4-BE49-F238E27FC236}">
                <a16:creationId xmlns:a16="http://schemas.microsoft.com/office/drawing/2014/main" id="{9CD6B26C-5819-462E-990D-7CDCAAC08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19450"/>
            <a:ext cx="4572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2" name="p14-q-2">
            <a:extLst xmlns:a="http://schemas.openxmlformats.org/drawingml/2006/main">
              <a:ext uri="{FF2B5EF4-FFF2-40B4-BE49-F238E27FC236}">
                <a16:creationId xmlns:a16="http://schemas.microsoft.com/office/drawing/2014/main" id="{1C2E3B14-9993-425A-9901-691F83AD8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219450"/>
            <a:ext cx="4762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你采纳 / 拒绝 / 暂缓了什么？理由指向哪里？</a:t>
            </a:r>
          </a:p>
        </p:txBody>
      </p:sp>
      <p:sp>
        <p:nvSpPr>
          <p:cNvPr id="13" name="p14-n-3">
            <a:extLst xmlns:a="http://schemas.openxmlformats.org/drawingml/2006/main">
              <a:ext uri="{FF2B5EF4-FFF2-40B4-BE49-F238E27FC236}">
                <a16:creationId xmlns:a16="http://schemas.microsoft.com/office/drawing/2014/main" id="{F28FF736-BC67-47C7-87B7-2B280A89D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38600"/>
            <a:ext cx="4572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4" name="p14-q-3">
            <a:extLst xmlns:a="http://schemas.openxmlformats.org/drawingml/2006/main">
              <a:ext uri="{FF2B5EF4-FFF2-40B4-BE49-F238E27FC236}">
                <a16:creationId xmlns:a16="http://schemas.microsoft.com/office/drawing/2014/main" id="{B26953A7-7998-43E4-A2F6-557266B1E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038600"/>
            <a:ext cx="4762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判断门前要补的最小集合是什么？</a:t>
            </a:r>
          </a:p>
        </p:txBody>
      </p:sp>
      <p:sp>
        <p:nvSpPr>
          <p:cNvPr id="15" name="p14-divider">
            <a:extLst xmlns:a="http://schemas.openxmlformats.org/drawingml/2006/main">
              <a:ext uri="{FF2B5EF4-FFF2-40B4-BE49-F238E27FC236}">
                <a16:creationId xmlns:a16="http://schemas.microsoft.com/office/drawing/2014/main" id="{A210C7B1-7A50-4EC5-8E59-95BAEC47D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4572000" y="2938463"/>
            <a:ext cx="3810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D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p14-right-title">
            <a:extLst xmlns:a="http://schemas.openxmlformats.org/drawingml/2006/main">
              <a:ext uri="{FF2B5EF4-FFF2-40B4-BE49-F238E27FC236}">
                <a16:creationId xmlns:a16="http://schemas.microsoft.com/office/drawing/2014/main" id="{3CEF255F-B85E-42CB-ACF6-25F1A2603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971550"/>
            <a:ext cx="447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8354E"/>
                </a:solidFill>
              </a:defRPr>
            </a:pPr>
            <a:r>
              <a:rPr sz="1950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第 9 课行动</a:t>
            </a:r>
          </a:p>
        </p:txBody>
      </p:sp>
      <p:sp>
        <p:nvSpPr>
          <p:cNvPr id="17" name="p14-next-label-0">
            <a:extLst xmlns:a="http://schemas.openxmlformats.org/drawingml/2006/main">
              <a:ext uri="{FF2B5EF4-FFF2-40B4-BE49-F238E27FC236}">
                <a16:creationId xmlns:a16="http://schemas.microsoft.com/office/drawing/2014/main" id="{13560647-539F-440C-AC6F-6E8250CCC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562100"/>
            <a:ext cx="17145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运行 baseline</a:t>
            </a:r>
          </a:p>
        </p:txBody>
      </p:sp>
      <p:sp>
        <p:nvSpPr>
          <p:cNvPr id="18" name="p14-next-detail-0">
            <a:extLst xmlns:a="http://schemas.openxmlformats.org/drawingml/2006/main">
              <a:ext uri="{FF2B5EF4-FFF2-40B4-BE49-F238E27FC236}">
                <a16:creationId xmlns:a16="http://schemas.microsoft.com/office/drawing/2014/main" id="{26D36770-F18E-4F43-BFE3-7DDE761F1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562100"/>
            <a:ext cx="24003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建立可执行基线</a:t>
            </a:r>
          </a:p>
        </p:txBody>
      </p:sp>
      <p:sp>
        <p:nvSpPr>
          <p:cNvPr id="19" name="p14-next-label-1">
            <a:extLst xmlns:a="http://schemas.openxmlformats.org/drawingml/2006/main">
              <a:ext uri="{FF2B5EF4-FFF2-40B4-BE49-F238E27FC236}">
                <a16:creationId xmlns:a16="http://schemas.microsoft.com/office/drawing/2014/main" id="{5E9074A9-1892-4970-B401-E484DE6FC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400300"/>
            <a:ext cx="17145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完善实验规格</a:t>
            </a:r>
          </a:p>
        </p:txBody>
      </p:sp>
      <p:sp>
        <p:nvSpPr>
          <p:cNvPr id="20" name="p14-next-detail-1">
            <a:extLst xmlns:a="http://schemas.openxmlformats.org/drawingml/2006/main">
              <a:ext uri="{FF2B5EF4-FFF2-40B4-BE49-F238E27FC236}">
                <a16:creationId xmlns:a16="http://schemas.microsoft.com/office/drawing/2014/main" id="{E4F076B3-0F1B-4DC6-9227-D411F385E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400300"/>
            <a:ext cx="24003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假设·变量·度量·对照·停止</a:t>
            </a:r>
          </a:p>
        </p:txBody>
      </p:sp>
      <p:sp>
        <p:nvSpPr>
          <p:cNvPr id="21" name="p14-next-label-2">
            <a:extLst xmlns:a="http://schemas.openxmlformats.org/drawingml/2006/main">
              <a:ext uri="{FF2B5EF4-FFF2-40B4-BE49-F238E27FC236}">
                <a16:creationId xmlns:a16="http://schemas.microsoft.com/office/drawing/2014/main" id="{8F93CD68-0716-4C7D-ABF9-ECC73A8B1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238500"/>
            <a:ext cx="17145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补复现说明</a:t>
            </a:r>
          </a:p>
        </p:txBody>
      </p:sp>
      <p:sp>
        <p:nvSpPr>
          <p:cNvPr id="22" name="p14-next-detail-2">
            <a:extLst xmlns:a="http://schemas.openxmlformats.org/drawingml/2006/main">
              <a:ext uri="{FF2B5EF4-FFF2-40B4-BE49-F238E27FC236}">
                <a16:creationId xmlns:a16="http://schemas.microsoft.com/office/drawing/2014/main" id="{D8960E9B-BFC4-4103-80E9-AA213E584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238500"/>
            <a:ext cx="24003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环境·配置·随机种子</a:t>
            </a:r>
          </a:p>
        </p:txBody>
      </p:sp>
      <p:sp>
        <p:nvSpPr>
          <p:cNvPr id="23" name="p14-next-label-3">
            <a:extLst xmlns:a="http://schemas.openxmlformats.org/drawingml/2006/main">
              <a:ext uri="{FF2B5EF4-FFF2-40B4-BE49-F238E27FC236}">
                <a16:creationId xmlns:a16="http://schemas.microsoft.com/office/drawing/2014/main" id="{1BA4D93C-54D2-431A-B22A-C18EEC12A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076700"/>
            <a:ext cx="17145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提交判断门</a:t>
            </a:r>
          </a:p>
        </p:txBody>
      </p:sp>
      <p:sp>
        <p:nvSpPr>
          <p:cNvPr id="24" name="p14-next-detail-3">
            <a:extLst xmlns:a="http://schemas.openxmlformats.org/drawingml/2006/main">
              <a:ext uri="{FF2B5EF4-FFF2-40B4-BE49-F238E27FC236}">
                <a16:creationId xmlns:a16="http://schemas.microsoft.com/office/drawing/2014/main" id="{2D631101-549B-467F-AD86-CFDD774C4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076700"/>
            <a:ext cx="24003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证据与决策可追溯</a:t>
            </a:r>
          </a:p>
        </p:txBody>
      </p:sp>
      <p:sp>
        <p:nvSpPr>
          <p:cNvPr id="25" name="p14-bottom">
            <a:extLst xmlns:a="http://schemas.openxmlformats.org/drawingml/2006/main">
              <a:ext uri="{FF2B5EF4-FFF2-40B4-BE49-F238E27FC236}">
                <a16:creationId xmlns:a16="http://schemas.microsoft.com/office/drawing/2014/main" id="{F6971FE7-E1A6-4C37-B95E-3F7CD8D2F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219700"/>
            <a:ext cx="819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C8161E"/>
                </a:solidFill>
              </a:defRPr>
            </a:pPr>
            <a:r>
              <a:rPr sz="165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本课不新增正式作业；今天的产出随第 9 课判断门统一检查。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SJTU-2019">
      <a:dk1>
        <a:srgbClr val="000000"/>
      </a:dk1>
      <a:lt1>
        <a:srgbClr val="FFFFFF"/>
      </a:lt1>
      <a:dk2>
        <a:srgbClr val="1B1C21"/>
      </a:dk2>
      <a:lt2>
        <a:srgbClr val="DBDBDB"/>
      </a:lt2>
      <a:accent1>
        <a:srgbClr val="C8161E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外宣普适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SJTU-2019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2026-08-07T15:04:50.5020000Z</dcterms:created>
  <dcterms:modified xsi:type="dcterms:W3CDTF">2026-08-07T15:04:50.5020000Z</dcterms:modified>
</coreProperties>
</file>