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43bd1866d434a" /><Relationship Type="http://schemas.openxmlformats.org/officeDocument/2006/relationships/extended-properties" Target="/docProps/app.xml" Id="Rc51d043105004cfc" /><Relationship Type="http://schemas.openxmlformats.org/officeDocument/2006/relationships/officeDocument" Target="/ppt/presentation.xml" Id="R77933d2d16ed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1876fffe94eab"/>
  </p:sldMasterIdLst>
  <p:notesMasterIdLst>
    <p:notesMasterId xmlns:r="http://schemas.openxmlformats.org/officeDocument/2006/relationships" r:id="R2f64613b190f4df7"/>
  </p:notesMasterIdLst>
  <p:sldIdLst>
    <p:sldId xmlns:r="http://schemas.openxmlformats.org/officeDocument/2006/relationships" id="256" r:id="R821cf26cc7364aae"/>
    <p:sldId xmlns:r="http://schemas.openxmlformats.org/officeDocument/2006/relationships" id="257" r:id="R12a00ad632ca4863"/>
    <p:sldId xmlns:r="http://schemas.openxmlformats.org/officeDocument/2006/relationships" id="258" r:id="Rc2c3c44adc5f4270"/>
    <p:sldId xmlns:r="http://schemas.openxmlformats.org/officeDocument/2006/relationships" id="259" r:id="R872387e122b64ac5"/>
    <p:sldId xmlns:r="http://schemas.openxmlformats.org/officeDocument/2006/relationships" id="260" r:id="R7ef03baba19144e7"/>
    <p:sldId xmlns:r="http://schemas.openxmlformats.org/officeDocument/2006/relationships" id="261" r:id="R8049516e478446a6"/>
    <p:sldId xmlns:r="http://schemas.openxmlformats.org/officeDocument/2006/relationships" id="262" r:id="R4f65483bf8e64c0c"/>
    <p:sldId xmlns:r="http://schemas.openxmlformats.org/officeDocument/2006/relationships" id="263" r:id="R6feeb7bef1934b9c"/>
    <p:sldId xmlns:r="http://schemas.openxmlformats.org/officeDocument/2006/relationships" id="264" r:id="Raf5183c3eb454d80"/>
    <p:sldId xmlns:r="http://schemas.openxmlformats.org/officeDocument/2006/relationships" id="265" r:id="R5cc08d3ac25f48e7"/>
    <p:sldId xmlns:r="http://schemas.openxmlformats.org/officeDocument/2006/relationships" id="266" r:id="Re51b9a343f804deb"/>
    <p:sldId xmlns:r="http://schemas.openxmlformats.org/officeDocument/2006/relationships" id="267" r:id="R1f382661891b430c"/>
    <p:sldId xmlns:r="http://schemas.openxmlformats.org/officeDocument/2006/relationships" id="268" r:id="R7bf33d0169884100"/>
    <p:sldId xmlns:r="http://schemas.openxmlformats.org/officeDocument/2006/relationships" id="269" r:id="R86f5173caf124e72"/>
    <p:sldId xmlns:r="http://schemas.openxmlformats.org/officeDocument/2006/relationships" id="270" r:id="R327172db26e54732"/>
    <p:sldId xmlns:r="http://schemas.openxmlformats.org/officeDocument/2006/relationships" id="271" r:id="Rd7a6a4f76dd540a7"/>
    <p:sldId xmlns:r="http://schemas.openxmlformats.org/officeDocument/2006/relationships" id="272" r:id="R29dfa2ae8322480d"/>
    <p:sldId xmlns:r="http://schemas.openxmlformats.org/officeDocument/2006/relationships" id="273" r:id="R2ecb1e9cd8be444e"/>
    <p:sldId xmlns:r="http://schemas.openxmlformats.org/officeDocument/2006/relationships" id="274" r:id="R1e53f86d43164d97"/>
    <p:sldId xmlns:r="http://schemas.openxmlformats.org/officeDocument/2006/relationships" id="275" r:id="R132d32c0a9f44f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9edc371d84d7c" /><Relationship Type="http://schemas.openxmlformats.org/officeDocument/2006/relationships/slideMaster" Target="/ppt/slideMasters/slideMaster1.xml" Id="Rd6c1876fffe94eab" /><Relationship Type="http://schemas.openxmlformats.org/officeDocument/2006/relationships/notesMaster" Target="/ppt/notesMasters/notesMaster1.xml" Id="R2f64613b190f4df7" /><Relationship Type="http://schemas.openxmlformats.org/officeDocument/2006/relationships/presProps" Target="/ppt/presProps.xml" Id="R510155c03e7c4db4" /><Relationship Type="http://schemas.openxmlformats.org/officeDocument/2006/relationships/viewProps" Target="/ppt/viewProps.xml" Id="R9842fe833a90410c" /><Relationship Type="http://schemas.openxmlformats.org/officeDocument/2006/relationships/tableStyles" Target="/ppt/tableStyles.xml" Id="R29149e84f53b4002" /><Relationship Type="http://schemas.openxmlformats.org/officeDocument/2006/relationships/slide" Target="/ppt/slides/slide1.xml" Id="R821cf26cc7364aae" /><Relationship Type="http://schemas.openxmlformats.org/officeDocument/2006/relationships/slide" Target="/ppt/slides/slide2.xml" Id="R12a00ad632ca4863" /><Relationship Type="http://schemas.openxmlformats.org/officeDocument/2006/relationships/slide" Target="/ppt/slides/slide3.xml" Id="Rc2c3c44adc5f4270" /><Relationship Type="http://schemas.openxmlformats.org/officeDocument/2006/relationships/slide" Target="/ppt/slides/slide4.xml" Id="R872387e122b64ac5" /><Relationship Type="http://schemas.openxmlformats.org/officeDocument/2006/relationships/slide" Target="/ppt/slides/slide5.xml" Id="R7ef03baba19144e7" /><Relationship Type="http://schemas.openxmlformats.org/officeDocument/2006/relationships/slide" Target="/ppt/slides/slide6.xml" Id="R8049516e478446a6" /><Relationship Type="http://schemas.openxmlformats.org/officeDocument/2006/relationships/slide" Target="/ppt/slides/slide7.xml" Id="R4f65483bf8e64c0c" /><Relationship Type="http://schemas.openxmlformats.org/officeDocument/2006/relationships/slide" Target="/ppt/slides/slide8.xml" Id="R6feeb7bef1934b9c" /><Relationship Type="http://schemas.openxmlformats.org/officeDocument/2006/relationships/slide" Target="/ppt/slides/slide9.xml" Id="Raf5183c3eb454d80" /><Relationship Type="http://schemas.openxmlformats.org/officeDocument/2006/relationships/slide" Target="/ppt/slides/slide10.xml" Id="R5cc08d3ac25f48e7" /><Relationship Type="http://schemas.openxmlformats.org/officeDocument/2006/relationships/slide" Target="/ppt/slides/slide11.xml" Id="Re51b9a343f804deb" /><Relationship Type="http://schemas.openxmlformats.org/officeDocument/2006/relationships/slide" Target="/ppt/slides/slide12.xml" Id="R1f382661891b430c" /><Relationship Type="http://schemas.openxmlformats.org/officeDocument/2006/relationships/slide" Target="/ppt/slides/slide13.xml" Id="R7bf33d0169884100" /><Relationship Type="http://schemas.openxmlformats.org/officeDocument/2006/relationships/slide" Target="/ppt/slides/slide14.xml" Id="R86f5173caf124e72" /><Relationship Type="http://schemas.openxmlformats.org/officeDocument/2006/relationships/slide" Target="/ppt/slides/slide15.xml" Id="R327172db26e54732" /><Relationship Type="http://schemas.openxmlformats.org/officeDocument/2006/relationships/slide" Target="/ppt/slides/slide16.xml" Id="Rd7a6a4f76dd540a7" /><Relationship Type="http://schemas.openxmlformats.org/officeDocument/2006/relationships/slide" Target="/ppt/slides/slide17.xml" Id="R29dfa2ae8322480d" /><Relationship Type="http://schemas.openxmlformats.org/officeDocument/2006/relationships/slide" Target="/ppt/slides/slide18.xml" Id="R2ecb1e9cd8be444e" /><Relationship Type="http://schemas.openxmlformats.org/officeDocument/2006/relationships/slide" Target="/ppt/slides/slide19.xml" Id="R1e53f86d43164d97" /><Relationship Type="http://schemas.openxmlformats.org/officeDocument/2006/relationships/slide" Target="/ppt/slides/slide20.xml" Id="R132d32c0a9f4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cfbd19bac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71a36d79e48b6" /><Relationship Type="http://schemas.openxmlformats.org/officeDocument/2006/relationships/notesMaster" Target="/ppt/notesMasters/notesMaster1.xml" Id="R018ebde9b1974c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50d9225a645f8" /><Relationship Type="http://schemas.openxmlformats.org/officeDocument/2006/relationships/notesMaster" Target="/ppt/notesMasters/notesMaster1.xml" Id="Re5c4dd4bca294e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d56d1846442de" /><Relationship Type="http://schemas.openxmlformats.org/officeDocument/2006/relationships/notesMaster" Target="/ppt/notesMasters/notesMaster1.xml" Id="R62b4e4e98347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5507a985e04cf2" /><Relationship Type="http://schemas.openxmlformats.org/officeDocument/2006/relationships/notesMaster" Target="/ppt/notesMasters/notesMaster1.xml" Id="Rfdb40c3fb5e944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977febe3d54d6b" /><Relationship Type="http://schemas.openxmlformats.org/officeDocument/2006/relationships/notesMaster" Target="/ppt/notesMasters/notesMaster1.xml" Id="Rc34cb40b6022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727c3c3ad40d3" /><Relationship Type="http://schemas.openxmlformats.org/officeDocument/2006/relationships/notesMaster" Target="/ppt/notesMasters/notesMaster1.xml" Id="R72db747eee2443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029cbd088f496c" /><Relationship Type="http://schemas.openxmlformats.org/officeDocument/2006/relationships/notesMaster" Target="/ppt/notesMasters/notesMaster1.xml" Id="Rd19164090d36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f563a9b2c147ae" /><Relationship Type="http://schemas.openxmlformats.org/officeDocument/2006/relationships/notesMaster" Target="/ppt/notesMasters/notesMaster1.xml" Id="Rd36c59913c324e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43bd519b2a41e7" /><Relationship Type="http://schemas.openxmlformats.org/officeDocument/2006/relationships/notesMaster" Target="/ppt/notesMasters/notesMaster1.xml" Id="R59bbe56a7cb541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82c3c55f284ca0" /><Relationship Type="http://schemas.openxmlformats.org/officeDocument/2006/relationships/notesMaster" Target="/ppt/notesMasters/notesMaster1.xml" Id="Raf61ac07be2849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b4e691d0fb41cc" /><Relationship Type="http://schemas.openxmlformats.org/officeDocument/2006/relationships/notesMaster" Target="/ppt/notesMasters/notesMaster1.xml" Id="Rd57f241066c14c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d893e5accb41b6" /><Relationship Type="http://schemas.openxmlformats.org/officeDocument/2006/relationships/notesMaster" Target="/ppt/notesMasters/notesMaster1.xml" Id="R392cb46d274a4f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f2af5e19194395" /><Relationship Type="http://schemas.openxmlformats.org/officeDocument/2006/relationships/notesMaster" Target="/ppt/notesMasters/notesMaster1.xml" Id="R287d84c5de4d40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17774431348c5" /><Relationship Type="http://schemas.openxmlformats.org/officeDocument/2006/relationships/notesMaster" Target="/ppt/notesMasters/notesMaster1.xml" Id="Raf3bdcbee9f448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a6f5ff4b414243" /><Relationship Type="http://schemas.openxmlformats.org/officeDocument/2006/relationships/notesMaster" Target="/ppt/notesMasters/notesMaster1.xml" Id="Rd672c8f0c01f49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5fc394dddd4ae0" /><Relationship Type="http://schemas.openxmlformats.org/officeDocument/2006/relationships/notesMaster" Target="/ppt/notesMasters/notesMaster1.xml" Id="R0be88cd07f6243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3ea62c82004e8b" /><Relationship Type="http://schemas.openxmlformats.org/officeDocument/2006/relationships/notesMaster" Target="/ppt/notesMasters/notesMaster1.xml" Id="Rbb5b2ae937a444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be2c34432e43ac" /><Relationship Type="http://schemas.openxmlformats.org/officeDocument/2006/relationships/notesMaster" Target="/ppt/notesMasters/notesMaster1.xml" Id="Rc8053701e4434e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e53ec7e8a24b21" /><Relationship Type="http://schemas.openxmlformats.org/officeDocument/2006/relationships/notesMaster" Target="/ppt/notesMasters/notesMaster1.xml" Id="R17e426c39c434e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9843b324ba4b16" /><Relationship Type="http://schemas.openxmlformats.org/officeDocument/2006/relationships/notesMaster" Target="/ppt/notesMasters/notesMaster1.xml" Id="R825b0c04fcdc45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开场回到第 1 课：AI 可以改变研究动作，但研究责任仍由人承担。本课不另造汇报文档，只检查当前个人项目版本。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快速盘点第 14 课短文和第 15 课同行评审。今天只补缺口：追溯、修改落实、最终一致性。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/Users/bright/Projects/courses/graduate/lessons/lesson-16/slides.md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六项目标对应六段课堂。强调正式提交在课后，课堂完成分享、抽查、补全、互查和复盘。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/Users/bright/Projects/courses/graduate/lessons/lesson-16/teaching-plan.md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用一条结论做现场反向追溯。不能追到运行记录的表图不能承担关键结论。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Booth et al. The Craft of Research, 4th ed., 2016.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沿五节点来回走一遍。关键结论至少绑定一项可核验直接证据或实验，并连接上游研究判断。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表图不是装饰。要求学生能从表图打开实验 ID 和运行记录；数值仅为虚构教学示例。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把泛泛免责声明改写成对具体结论的限制。至少两类与项目相关的具体威胁。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五问来自第 16 课备课规划。学生不按章节目录讲，而按问题、证据、工作流、AI 和边界讲。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用计时器练一次。压缩信息不能以删除失败、冲突或不确定性为代价。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Simon Peyton Jones. How to give a great research talk.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最终工作流是验证门材料的收口。失败不选择性删除；人工审核与工件状态必须真实。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披露不是工具清单，而是说明 AI 在哪里影响了判断、如何核验以及人如何承担责任。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逐项读十项门，语义与 assignments.md Checkpoint 4 一致。评分四维度来自 assessment.md，合计 100%。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示范九步链。案例数值为虚构教学示例，重点是如何从结论回到证据、运行、评审处理、披露和复盘。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20 分钟。教师可抽查一项复现、一个引用或一条 trace，不要求所有学生现场完整重跑。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/Users/bright/Projects/courses/graduate/lessons/lesson-16/teaching-plan.md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20 分钟。学生只修抽查和自查暴露的缺口，所有更新写回同一项目版本。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/Users/bright/Projects/courses/graduate/lessons/lesson-16/teaching-plan.md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要求每个阶段给一条具体变化，并指出 AI 何时有效、何时误导、如何被核验。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/Users/bright/Projects/courses/graduate/course/curriculum.md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65:00–78:00 同伴互查。检查口径仍是 Checkpoint 4 十项；作者记录采纳、拒绝、待核验及理由。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/Users/bright/Projects/courses/graduate/lessons/lesson-16/teaching-plan.md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这是对第 1 课‘研究责任仍由人承担’的最终回应。AI 可以帮助动作，但不能承担九类研究判断。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说明提交、回退和重检。教师可抽查复现、引用或 trace；失败选择性删除属于必须修复项。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收束全课。请学生用一句话回答：AI 改善了哪个研究动作？哪一个判断仍必须由自己承担？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/Users/bright/Projects/courses/graduate/lessons/lesson-16/handout.md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79b948b8a4878" /><Relationship Type="http://schemas.openxmlformats.org/officeDocument/2006/relationships/image" Target="/ppt/media/image.png" Id="R111de3c1bd4f464b" /><Relationship Type="http://schemas.openxmlformats.org/officeDocument/2006/relationships/image" Target="/ppt/media/image2.png" Id="R709efea8a7ff4e13" /><Relationship Type="http://schemas.openxmlformats.org/officeDocument/2006/relationships/image" Target="/ppt/media/image3.png" Id="Rfd50a0c80e13419d" /><Relationship Type="http://schemas.openxmlformats.org/officeDocument/2006/relationships/image" Target="/ppt/media/image4.png" Id="R969c27d8d54141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0ddf94ae347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5730ab8e34b5f" /><Relationship Type="http://schemas.openxmlformats.org/officeDocument/2006/relationships/image" Target="/ppt/media/image2.png" Id="R32bc769339fe467f" /><Relationship Type="http://schemas.openxmlformats.org/officeDocument/2006/relationships/image" Target="/ppt/media/image5.png" Id="Rfb1e26927b0c44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832225c33471b" /><Relationship Type="http://schemas.openxmlformats.org/officeDocument/2006/relationships/image" Target="/ppt/media/image.png" Id="R0184883b290f473e" /><Relationship Type="http://schemas.openxmlformats.org/officeDocument/2006/relationships/image" Target="/ppt/media/image3.png" Id="R91abc6264a6b4513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de3c1bd4f464b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9efea8a7ff4e1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50a0c80e13419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c27d8d541416d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bc769339fe467f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e26927b0c4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4883b290f473e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abc6264a6b451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5157e5a174e5e" /><Relationship Type="http://schemas.openxmlformats.org/officeDocument/2006/relationships/slideLayout" Target="/ppt/slideLayouts/slideLayout1.xml" Id="R524da8d29e064e03" /><Relationship Type="http://schemas.openxmlformats.org/officeDocument/2006/relationships/slideLayout" Target="/ppt/slideLayouts/slideLayout2.xml" Id="R394e822a73ba4599" /><Relationship Type="http://schemas.openxmlformats.org/officeDocument/2006/relationships/slideLayout" Target="/ppt/slideLayouts/slideLayout3.xml" Id="R5389ccd530044b0b" /><Relationship Type="http://schemas.openxmlformats.org/officeDocument/2006/relationships/slideLayout" Target="/ppt/slideLayouts/slideLayout4.xml" Id="Rc287331d0e0a4b9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4da8d29e064e03"/>
    <p:sldLayoutId xmlns:r="http://schemas.openxmlformats.org/officeDocument/2006/relationships" id="2147483650" r:id="R394e822a73ba4599"/>
    <p:sldLayoutId xmlns:r="http://schemas.openxmlformats.org/officeDocument/2006/relationships" id="2147483651" r:id="R5389ccd530044b0b"/>
    <p:sldLayoutId xmlns:r="http://schemas.openxmlformats.org/officeDocument/2006/relationships" id="2147483652" r:id="Rc287331d0e0a4b9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964f2c8243be" /><Relationship Type="http://schemas.openxmlformats.org/officeDocument/2006/relationships/notesSlide" Target="/ppt/notesSlides/notesSlide1.xml" Id="R8e366197c0cd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3e68ce09de4324" /><Relationship Type="http://schemas.openxmlformats.org/officeDocument/2006/relationships/notesSlide" Target="/ppt/notesSlides/notesSlide2.xml" Id="R04cad511bab3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ac6c94e14c4f0b" /><Relationship Type="http://schemas.openxmlformats.org/officeDocument/2006/relationships/notesSlide" Target="/ppt/notesSlides/notesSlide3.xml" Id="R2b32909e8694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03b763f98f481a" /><Relationship Type="http://schemas.openxmlformats.org/officeDocument/2006/relationships/notesSlide" Target="/ppt/notesSlides/notesSlide4.xml" Id="Rc7346c56d9d0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471a38cf414342" /><Relationship Type="http://schemas.openxmlformats.org/officeDocument/2006/relationships/notesSlide" Target="/ppt/notesSlides/notesSlide5.xml" Id="R262a5d294a1c49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57d338459048f6" /><Relationship Type="http://schemas.openxmlformats.org/officeDocument/2006/relationships/notesSlide" Target="/ppt/notesSlides/notesSlide6.xml" Id="Rb05c171f702644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63c6b8fe994ca2" /><Relationship Type="http://schemas.openxmlformats.org/officeDocument/2006/relationships/notesSlide" Target="/ppt/notesSlides/notesSlide7.xml" Id="R61f05b0a07d140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043a7963d44342" /><Relationship Type="http://schemas.openxmlformats.org/officeDocument/2006/relationships/notesSlide" Target="/ppt/notesSlides/notesSlide8.xml" Id="R62b7d720945140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0a41bd01fc4fbf" /><Relationship Type="http://schemas.openxmlformats.org/officeDocument/2006/relationships/notesSlide" Target="/ppt/notesSlides/notesSlide9.xml" Id="Rd3d6e1cec0554b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3782c16f904d1f" /><Relationship Type="http://schemas.openxmlformats.org/officeDocument/2006/relationships/notesSlide" Target="/ppt/notesSlides/notesSlide10.xml" Id="R172d78c1ca2543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48ce48db934f7b" /><Relationship Type="http://schemas.openxmlformats.org/officeDocument/2006/relationships/notesSlide" Target="/ppt/notesSlides/notesSlide11.xml" Id="R2171bd3dc89b42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5362ccf26b40f2" /><Relationship Type="http://schemas.openxmlformats.org/officeDocument/2006/relationships/notesSlide" Target="/ppt/notesSlides/notesSlide12.xml" Id="R4d0e96e03b7a40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156e0497dd4fc7" /><Relationship Type="http://schemas.openxmlformats.org/officeDocument/2006/relationships/notesSlide" Target="/ppt/notesSlides/notesSlide13.xml" Id="Rac046e12f88e4f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737e26a32844b4" /><Relationship Type="http://schemas.openxmlformats.org/officeDocument/2006/relationships/notesSlide" Target="/ppt/notesSlides/notesSlide14.xml" Id="R58abb8bde3b44e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dabacfc7394732" /><Relationship Type="http://schemas.openxmlformats.org/officeDocument/2006/relationships/notesSlide" Target="/ppt/notesSlides/notesSlide15.xml" Id="R8d2dfa0558284c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f1e348b8a346fc" /><Relationship Type="http://schemas.openxmlformats.org/officeDocument/2006/relationships/notesSlide" Target="/ppt/notesSlides/notesSlide16.xml" Id="Rff477b91849741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0da74375ec46b0" /><Relationship Type="http://schemas.openxmlformats.org/officeDocument/2006/relationships/notesSlide" Target="/ppt/notesSlides/notesSlide17.xml" Id="R84bc3a3c1c6245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91234d2b144ded" /><Relationship Type="http://schemas.openxmlformats.org/officeDocument/2006/relationships/notesSlide" Target="/ppt/notesSlides/notesSlide18.xml" Id="R03efb75262be44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4aa2926c6746cb" /><Relationship Type="http://schemas.openxmlformats.org/officeDocument/2006/relationships/notesSlide" Target="/ppt/notesSlides/notesSlide19.xml" Id="R993e72f5d5d34b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e0677977c7412c" /><Relationship Type="http://schemas.openxmlformats.org/officeDocument/2006/relationships/notesSlide" Target="/ppt/notesSlides/notesSlide20.xml" Id="Rf25922f0a7224c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38250" y="3048000"/>
            <a:ext cx="9715500" cy="23431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最终分享 → 复现抽查 → 论证门 → 期末项目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把整学期工件收口为可追溯、可复核、诚实披露的研究论证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第十六讲｜阶段八：论证收口 + 个人项目最终提交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95400"/>
            <a:ext cx="9525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9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学生最终分享、论证门与期末项目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14–15 课之后，短文和同行评审仍需最终收口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EE9107FE-F7D1-4F93-BE51-15B3F50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已经形成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66C530BD-F2E5-4426-9807-8C05156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论文式短文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结论 + 证据 + 边界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3F6E9C85-4795-4419-B219-3BAEA8C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同行评审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问题 + 修改建议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847DE9E6-69C5-4EA3-924A-8ECD64C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项目工件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实验 + 工作流 + 披露</a:t>
            </a:r>
          </a:p>
        </p:txBody>
      </p:sp>
      <p:sp>
        <p:nvSpPr>
          <p:cNvPr id="10" name="p02-separator">
            <a:extLst xmlns:a="http://schemas.openxmlformats.org/drawingml/2006/main">
              <a:ext uri="{FF2B5EF4-FFF2-40B4-BE49-F238E27FC236}">
                <a16:creationId xmlns:a16="http://schemas.microsoft.com/office/drawing/2014/main" id="{979165E0-986D-4A0E-B177-BE233DB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29622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not-equal">
            <a:extLst xmlns:a="http://schemas.openxmlformats.org/drawingml/2006/main">
              <a:ext uri="{FF2B5EF4-FFF2-40B4-BE49-F238E27FC236}">
                <a16:creationId xmlns:a16="http://schemas.microsoft.com/office/drawing/2014/main" id="{F4AF62FE-4181-447D-B08E-8C87627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895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A555259C-E2FB-4D6C-AEC4-5F3FEB8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仍要确认</a:t>
            </a:r>
          </a:p>
        </p:txBody>
      </p:sp>
      <p:sp>
        <p:nvSpPr>
          <p:cNvPr id="13" name="p02-right-0">
            <a:extLst xmlns:a="http://schemas.openxmlformats.org/drawingml/2006/main">
              <a:ext uri="{FF2B5EF4-FFF2-40B4-BE49-F238E27FC236}">
                <a16:creationId xmlns:a16="http://schemas.microsoft.com/office/drawing/2014/main" id="{E9CD1226-7146-4B2B-8114-CA8574D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论证追溯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表图能回到运行吗</a:t>
            </a:r>
          </a:p>
        </p:txBody>
      </p:sp>
      <p:sp>
        <p:nvSpPr>
          <p:cNvPr id="14" name="p02-right-1">
            <a:extLst xmlns:a="http://schemas.openxmlformats.org/drawingml/2006/main">
              <a:ext uri="{FF2B5EF4-FFF2-40B4-BE49-F238E27FC236}">
                <a16:creationId xmlns:a16="http://schemas.microsoft.com/office/drawing/2014/main" id="{D403F129-E913-412C-8D8A-FD1BD08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修改落实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采纳/拒绝有理由吗</a:t>
            </a:r>
          </a:p>
        </p:txBody>
      </p:sp>
      <p:sp>
        <p:nvSpPr>
          <p:cNvPr id="15" name="p02-right-2">
            <a:extLst xmlns:a="http://schemas.openxmlformats.org/drawingml/2006/main">
              <a:ext uri="{FF2B5EF4-FFF2-40B4-BE49-F238E27FC236}">
                <a16:creationId xmlns:a16="http://schemas.microsoft.com/office/drawing/2014/main" id="{42BE3316-0B30-4C19-85DF-F6B1A3C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最终一致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门结果与工件相符吗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AB29C84D-7416-4005-A4F4-B6DE00A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材料齐全 ≠ 论证闭环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本课完成一条可检查的最终论证闭环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b-0">
            <a:extLst xmlns:a="http://schemas.openxmlformats.org/drawingml/2006/main">
              <a:ext uri="{FF2B5EF4-FFF2-40B4-BE49-F238E27FC236}">
                <a16:creationId xmlns:a16="http://schemas.microsoft.com/office/drawing/2014/main" id="{A53BF1C4-3789-4A8D-90E6-CBA575C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C2F0CC4D-229B-4401-9AF9-CB2CF275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把表图追溯到证据与实验 ID</a:t>
            </a:r>
          </a:p>
        </p:txBody>
      </p:sp>
      <p:sp>
        <p:nvSpPr>
          <p:cNvPr id="8" name="p03-b-1">
            <a:extLst xmlns:a="http://schemas.openxmlformats.org/drawingml/2006/main">
              <a:ext uri="{FF2B5EF4-FFF2-40B4-BE49-F238E27FC236}">
                <a16:creationId xmlns:a16="http://schemas.microsoft.com/office/drawing/2014/main" id="{D01401FF-6B12-41B1-8A30-0168EA0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AC06FE97-EBE1-4B11-B817-34D69D5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用五问完成 3 分钟陈述</a:t>
            </a:r>
          </a:p>
        </p:txBody>
      </p:sp>
      <p:sp>
        <p:nvSpPr>
          <p:cNvPr id="10" name="p03-b-2">
            <a:extLst xmlns:a="http://schemas.openxmlformats.org/drawingml/2006/main">
              <a:ext uri="{FF2B5EF4-FFF2-40B4-BE49-F238E27FC236}">
                <a16:creationId xmlns:a16="http://schemas.microsoft.com/office/drawing/2014/main" id="{E96B36C5-E59A-4A26-A96D-61EDAF1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1214C1D0-672B-4496-BFF9-E408638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接受复现 / 引用 / trace 抽查</a:t>
            </a:r>
          </a:p>
        </p:txBody>
      </p:sp>
      <p:sp>
        <p:nvSpPr>
          <p:cNvPr id="12" name="p03-b-3">
            <a:extLst xmlns:a="http://schemas.openxmlformats.org/drawingml/2006/main">
              <a:ext uri="{FF2B5EF4-FFF2-40B4-BE49-F238E27FC236}">
                <a16:creationId xmlns:a16="http://schemas.microsoft.com/office/drawing/2014/main" id="{7E21DCFA-546A-4230-AC75-FDD229B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3A3BB176-899F-4A77-9402-54C7DB6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落实同行评审并记录理由</a:t>
            </a:r>
          </a:p>
        </p:txBody>
      </p:sp>
      <p:sp>
        <p:nvSpPr>
          <p:cNvPr id="14" name="p03-b-4">
            <a:extLst xmlns:a="http://schemas.openxmlformats.org/drawingml/2006/main">
              <a:ext uri="{FF2B5EF4-FFF2-40B4-BE49-F238E27FC236}">
                <a16:creationId xmlns:a16="http://schemas.microsoft.com/office/drawing/2014/main" id="{6FE613DC-C69E-4318-A53B-5B0A666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03-g-4">
            <a:extLst xmlns:a="http://schemas.openxmlformats.org/drawingml/2006/main">
              <a:ext uri="{FF2B5EF4-FFF2-40B4-BE49-F238E27FC236}">
                <a16:creationId xmlns:a16="http://schemas.microsoft.com/office/drawing/2014/main" id="{02631CAF-3955-4A29-978C-580C1B8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核对工作流、AI 与伦理说明</a:t>
            </a:r>
          </a:p>
        </p:txBody>
      </p:sp>
      <p:sp>
        <p:nvSpPr>
          <p:cNvPr id="16" name="p03-b-5">
            <a:extLst xmlns:a="http://schemas.openxmlformats.org/drawingml/2006/main">
              <a:ext uri="{FF2B5EF4-FFF2-40B4-BE49-F238E27FC236}">
                <a16:creationId xmlns:a16="http://schemas.microsoft.com/office/drawing/2014/main" id="{AC450CF2-5CBE-4DF8-8831-1A46BFB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03-g-5">
            <a:extLst xmlns:a="http://schemas.openxmlformats.org/drawingml/2006/main">
              <a:ext uri="{FF2B5EF4-FFF2-40B4-BE49-F238E27FC236}">
                <a16:creationId xmlns:a16="http://schemas.microsoft.com/office/drawing/2014/main" id="{1FBECE58-2AF3-415F-A4C3-32A5363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按十项门自查并完成课程复盘</a:t>
            </a:r>
          </a:p>
        </p:txBody>
      </p:sp>
      <p:sp>
        <p:nvSpPr>
          <p:cNvPr id="18" name="p03-separator">
            <a:extLst xmlns:a="http://schemas.openxmlformats.org/drawingml/2006/main">
              <a:ext uri="{FF2B5EF4-FFF2-40B4-BE49-F238E27FC236}">
                <a16:creationId xmlns:a16="http://schemas.microsoft.com/office/drawing/2014/main" id="{FAE759D5-478A-4854-A905-3CF6285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7622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B3D47DF6-576C-493E-A794-FDE71B8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20" name="p03-output">
            <a:extLst xmlns:a="http://schemas.openxmlformats.org/drawingml/2006/main">
              <a:ext uri="{FF2B5EF4-FFF2-40B4-BE49-F238E27FC236}">
                <a16:creationId xmlns:a16="http://schemas.microsoft.com/office/drawing/2014/main" id="{1BF29DBD-05CB-4041-8F03-81B233D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276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个人最终分享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抽查记录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评审处理记录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项目缺口清单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课程复盘</a:t>
            </a:r>
          </a:p>
        </p:txBody>
      </p:sp>
      <p:sp>
        <p:nvSpPr>
          <p:cNvPr id="21" name="p03-minimum">
            <a:extLst xmlns:a="http://schemas.openxmlformats.org/drawingml/2006/main">
              <a:ext uri="{FF2B5EF4-FFF2-40B4-BE49-F238E27FC236}">
                <a16:creationId xmlns:a16="http://schemas.microsoft.com/office/drawing/2014/main" id="{B32198E6-BF51-48B0-94E9-0FD3BBE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27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25 分钟开始分享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45 分钟进入个人补全</a:t>
            </a:r>
          </a:p>
        </p:txBody>
      </p:sp>
      <p:sp>
        <p:nvSpPr>
          <p:cNvPr id="22" name="p03-bottom">
            <a:extLst xmlns:a="http://schemas.openxmlformats.org/drawingml/2006/main">
              <a:ext uri="{FF2B5EF4-FFF2-40B4-BE49-F238E27FC236}">
                <a16:creationId xmlns:a16="http://schemas.microsoft.com/office/drawing/2014/main" id="{6385F2FE-D8B1-4793-8229-D767951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课后提交当前个人项目版本；评分四维度合计 100%。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分段汇报材料不等于可追溯的研究论证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prediction">
            <a:extLst xmlns:a="http://schemas.openxmlformats.org/drawingml/2006/main">
              <a:ext uri="{FF2B5EF4-FFF2-40B4-BE49-F238E27FC236}">
                <a16:creationId xmlns:a16="http://schemas.microsoft.com/office/drawing/2014/main" id="{C67761C8-26B9-490A-9740-023586A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分段汇报｜我做了检索、实验、写作</a:t>
            </a:r>
          </a:p>
        </p:txBody>
      </p:sp>
      <p:sp>
        <p:nvSpPr>
          <p:cNvPr id="7" name="p04-vs">
            <a:extLst xmlns:a="http://schemas.openxmlformats.org/drawingml/2006/main">
              <a:ext uri="{FF2B5EF4-FFF2-40B4-BE49-F238E27FC236}">
                <a16:creationId xmlns:a16="http://schemas.microsoft.com/office/drawing/2014/main" id="{CAA53DAC-51D9-4DD7-A651-AFE1224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14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只列过程</a:t>
            </a:r>
          </a:p>
        </p:txBody>
      </p:sp>
      <p:sp>
        <p:nvSpPr>
          <p:cNvPr id="8" name="p04-mechanism">
            <a:extLst xmlns:a="http://schemas.openxmlformats.org/drawingml/2006/main">
              <a:ext uri="{FF2B5EF4-FFF2-40B4-BE49-F238E27FC236}">
                <a16:creationId xmlns:a16="http://schemas.microsoft.com/office/drawing/2014/main" id="{8190F934-831D-4054-9793-9B10465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66800"/>
            <a:ext cx="4514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研究论证｜每个结论能反向找到依据与边界</a:t>
            </a:r>
          </a:p>
        </p:txBody>
      </p:sp>
      <p:sp>
        <p:nvSpPr>
          <p:cNvPr id="9" name="p04-chain-1">
            <a:extLst xmlns:a="http://schemas.openxmlformats.org/drawingml/2006/main">
              <a:ext uri="{FF2B5EF4-FFF2-40B4-BE49-F238E27FC236}">
                <a16:creationId xmlns:a16="http://schemas.microsoft.com/office/drawing/2014/main" id="{AADCA935-A870-475D-B7DB-EB7C00B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chain-2">
            <a:extLst xmlns:a="http://schemas.openxmlformats.org/drawingml/2006/main">
              <a:ext uri="{FF2B5EF4-FFF2-40B4-BE49-F238E27FC236}">
                <a16:creationId xmlns:a16="http://schemas.microsoft.com/office/drawing/2014/main" id="{23D919C7-9DD6-45CB-A2AE-266EC5B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4-chain-node-0">
            <a:extLst xmlns:a="http://schemas.openxmlformats.org/drawingml/2006/main">
              <a:ext uri="{FF2B5EF4-FFF2-40B4-BE49-F238E27FC236}">
                <a16:creationId xmlns:a16="http://schemas.microsoft.com/office/drawing/2014/main" id="{BBB3C465-2F5E-437E-B13E-A4905F0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12" name="p04-chain-node-1">
            <a:extLst xmlns:a="http://schemas.openxmlformats.org/drawingml/2006/main">
              <a:ext uri="{FF2B5EF4-FFF2-40B4-BE49-F238E27FC236}">
                <a16:creationId xmlns:a16="http://schemas.microsoft.com/office/drawing/2014/main" id="{0E4FA7D0-1A91-4BED-9E5D-31F475B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证据 / 实验</a:t>
            </a:r>
          </a:p>
        </p:txBody>
      </p:sp>
      <p:sp>
        <p:nvSpPr>
          <p:cNvPr id="13" name="p04-chain-node-2">
            <a:extLst xmlns:a="http://schemas.openxmlformats.org/drawingml/2006/main">
              <a:ext uri="{FF2B5EF4-FFF2-40B4-BE49-F238E27FC236}">
                <a16:creationId xmlns:a16="http://schemas.microsoft.com/office/drawing/2014/main" id="{DF99B12A-DB62-48B4-BB2A-B5F3737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14" name="p04-e-label-0">
            <a:extLst xmlns:a="http://schemas.openxmlformats.org/drawingml/2006/main">
              <a:ext uri="{FF2B5EF4-FFF2-40B4-BE49-F238E27FC236}">
                <a16:creationId xmlns:a16="http://schemas.microsoft.com/office/drawing/2014/main" id="{F3DDAA3A-81E9-4BC1-8EB7-694C9CD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5" name="p04-e-detail-0">
            <a:extLst xmlns:a="http://schemas.openxmlformats.org/drawingml/2006/main">
              <a:ext uri="{FF2B5EF4-FFF2-40B4-BE49-F238E27FC236}">
                <a16:creationId xmlns:a16="http://schemas.microsoft.com/office/drawing/2014/main" id="{CC48DD47-E89D-44F7-B83E-E6F73F2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6" name="p04-e-label-1">
            <a:extLst xmlns:a="http://schemas.openxmlformats.org/drawingml/2006/main">
              <a:ext uri="{FF2B5EF4-FFF2-40B4-BE49-F238E27FC236}">
                <a16:creationId xmlns:a16="http://schemas.microsoft.com/office/drawing/2014/main" id="{93B91202-ABD3-4679-AD9A-374B1AB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7" name="p04-e-detail-1">
            <a:extLst xmlns:a="http://schemas.openxmlformats.org/drawingml/2006/main">
              <a:ext uri="{FF2B5EF4-FFF2-40B4-BE49-F238E27FC236}">
                <a16:creationId xmlns:a16="http://schemas.microsoft.com/office/drawing/2014/main" id="{23E99FB8-4391-41BA-A586-BB368BB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来源 / 运行</a:t>
            </a:r>
          </a:p>
        </p:txBody>
      </p:sp>
      <p:sp>
        <p:nvSpPr>
          <p:cNvPr id="18" name="p04-e-label-2">
            <a:extLst xmlns:a="http://schemas.openxmlformats.org/drawingml/2006/main">
              <a:ext uri="{FF2B5EF4-FFF2-40B4-BE49-F238E27FC236}">
                <a16:creationId xmlns:a16="http://schemas.microsoft.com/office/drawing/2014/main" id="{4F9FCD2B-8A72-4728-A0BD-D12F9F5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9" name="p04-e-detail-2">
            <a:extLst xmlns:a="http://schemas.openxmlformats.org/drawingml/2006/main">
              <a:ext uri="{FF2B5EF4-FFF2-40B4-BE49-F238E27FC236}">
                <a16:creationId xmlns:a16="http://schemas.microsoft.com/office/drawing/2014/main" id="{E924B18D-DB4F-4A8E-A168-81A82BC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采纳 / 拒绝</a:t>
            </a:r>
          </a:p>
        </p:txBody>
      </p:sp>
      <p:sp>
        <p:nvSpPr>
          <p:cNvPr id="20" name="p04-e-label-3">
            <a:extLst xmlns:a="http://schemas.openxmlformats.org/drawingml/2006/main">
              <a:ext uri="{FF2B5EF4-FFF2-40B4-BE49-F238E27FC236}">
                <a16:creationId xmlns:a16="http://schemas.microsoft.com/office/drawing/2014/main" id="{34E80374-E6ED-4805-94F7-790775C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1" name="p04-e-detail-3">
            <a:extLst xmlns:a="http://schemas.openxmlformats.org/drawingml/2006/main">
              <a:ext uri="{FF2B5EF4-FFF2-40B4-BE49-F238E27FC236}">
                <a16:creationId xmlns:a16="http://schemas.microsoft.com/office/drawing/2014/main" id="{CEA41BB2-3172-4D05-B23E-EB28731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何时不成立</a:t>
            </a:r>
          </a:p>
        </p:txBody>
      </p:sp>
      <p:sp>
        <p:nvSpPr>
          <p:cNvPr id="22" name="p04-errors">
            <a:extLst xmlns:a="http://schemas.openxmlformats.org/drawingml/2006/main">
              <a:ext uri="{FF2B5EF4-FFF2-40B4-BE49-F238E27FC236}">
                <a16:creationId xmlns:a16="http://schemas.microsoft.com/office/drawing/2014/main" id="{A42C9100-C34C-4FCB-B7D1-1FD1D6F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检查句：听众能从结论追到实验，再追到上游判断吗？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最终论证链必须支持从结论反向追溯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ine-left">
            <a:extLst xmlns:a="http://schemas.openxmlformats.org/drawingml/2006/main">
              <a:ext uri="{FF2B5EF4-FFF2-40B4-BE49-F238E27FC236}">
                <a16:creationId xmlns:a16="http://schemas.microsoft.com/office/drawing/2014/main" id="{0DD1B5E0-E682-46F7-A521-95A0528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1404">
            <a:off x="2633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5-line-mid">
            <a:extLst xmlns:a="http://schemas.openxmlformats.org/drawingml/2006/main">
              <a:ext uri="{FF2B5EF4-FFF2-40B4-BE49-F238E27FC236}">
                <a16:creationId xmlns:a16="http://schemas.microsoft.com/office/drawing/2014/main" id="{ED160058-FA6B-40CA-BA2E-65EEC79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3100" y="2652713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5-line-right">
            <a:extLst xmlns:a="http://schemas.openxmlformats.org/drawingml/2006/main">
              <a:ext uri="{FF2B5EF4-FFF2-40B4-BE49-F238E27FC236}">
                <a16:creationId xmlns:a16="http://schemas.microsoft.com/office/drawing/2014/main" id="{BCE378CE-5B82-445A-9588-D48C9FD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596">
            <a:off x="6062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5-main">
            <a:extLst xmlns:a="http://schemas.openxmlformats.org/drawingml/2006/main">
              <a:ext uri="{FF2B5EF4-FFF2-40B4-BE49-F238E27FC236}">
                <a16:creationId xmlns:a16="http://schemas.microsoft.com/office/drawing/2014/main" id="{A1820B40-0FDE-4874-91C0-EB7F0A3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"/>
            <a:ext cx="548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 → 证据 → 判断 → 实验 → 结论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结论必须能沿同一路径返回</a:t>
            </a:r>
          </a:p>
        </p:txBody>
      </p:sp>
      <p:sp>
        <p:nvSpPr>
          <p:cNvPr id="10" name="p05-alt-0">
            <a:extLst xmlns:a="http://schemas.openxmlformats.org/drawingml/2006/main">
              <a:ext uri="{FF2B5EF4-FFF2-40B4-BE49-F238E27FC236}">
                <a16:creationId xmlns:a16="http://schemas.microsoft.com/office/drawing/2014/main" id="{797ACF48-5864-4C01-BFD6-366035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问题与证据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来源、适用边界、冲突</a:t>
            </a:r>
          </a:p>
        </p:txBody>
      </p:sp>
      <p:sp>
        <p:nvSpPr>
          <p:cNvPr id="11" name="p05-alt-1">
            <a:extLst xmlns:a="http://schemas.openxmlformats.org/drawingml/2006/main">
              <a:ext uri="{FF2B5EF4-FFF2-40B4-BE49-F238E27FC236}">
                <a16:creationId xmlns:a16="http://schemas.microsoft.com/office/drawing/2014/main" id="{2E24D3E3-CA90-4535-9E33-BCB071B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判断与实验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取舍理由、协议、运行 ID</a:t>
            </a:r>
          </a:p>
        </p:txBody>
      </p:sp>
      <p:sp>
        <p:nvSpPr>
          <p:cNvPr id="12" name="p05-alt-2">
            <a:extLst xmlns:a="http://schemas.openxmlformats.org/drawingml/2006/main">
              <a:ext uri="{FF2B5EF4-FFF2-40B4-BE49-F238E27FC236}">
                <a16:creationId xmlns:a16="http://schemas.microsoft.com/office/drawing/2014/main" id="{F85333A9-5640-464B-B277-06FF5CAF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结论与边界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支持强度、威胁、下一步</a:t>
            </a:r>
          </a:p>
        </p:txBody>
      </p:sp>
      <p:sp>
        <p:nvSpPr>
          <p:cNvPr id="13" name="p05-definition">
            <a:extLst xmlns:a="http://schemas.openxmlformats.org/drawingml/2006/main">
              <a:ext uri="{FF2B5EF4-FFF2-40B4-BE49-F238E27FC236}">
                <a16:creationId xmlns:a16="http://schemas.microsoft.com/office/drawing/2014/main" id="{26D0B2DD-D456-4239-BC53-53BF79FB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883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每个箭头都要落到当前项目工件，不靠口头补充。</a:t>
            </a:r>
          </a:p>
        </p:txBody>
      </p:sp>
      <p:sp>
        <p:nvSpPr>
          <p:cNvPr id="14" name="p05-eliminate">
            <a:extLst xmlns:a="http://schemas.openxmlformats.org/drawingml/2006/main">
              <a:ext uri="{FF2B5EF4-FFF2-40B4-BE49-F238E27FC236}">
                <a16:creationId xmlns:a16="http://schemas.microsoft.com/office/drawing/2014/main" id="{E9D8A878-E561-42D9-95B5-6CF02BD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62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断链处理：补证据｜降级结论｜标待验证｜删除无依据主张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结果表与图必须绑定证据项、实验 ID 与运行记录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abel-0">
            <a:extLst xmlns:a="http://schemas.openxmlformats.org/drawingml/2006/main">
              <a:ext uri="{FF2B5EF4-FFF2-40B4-BE49-F238E27FC236}">
                <a16:creationId xmlns:a16="http://schemas.microsoft.com/office/drawing/2014/main" id="{4DA5BF2D-718C-409A-B220-79B4940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7" name="p06-type-0">
            <a:extLst xmlns:a="http://schemas.openxmlformats.org/drawingml/2006/main">
              <a:ext uri="{FF2B5EF4-FFF2-40B4-BE49-F238E27FC236}">
                <a16:creationId xmlns:a16="http://schemas.microsoft.com/office/drawing/2014/main" id="{39AABC17-9EEE-48FB-8DCA-2ACDC46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遗漏率 0.18±0.03｜虚构示例</a:t>
            </a:r>
          </a:p>
        </p:txBody>
      </p:sp>
      <p:sp>
        <p:nvSpPr>
          <p:cNvPr id="8" name="p06-label-1">
            <a:extLst xmlns:a="http://schemas.openxmlformats.org/drawingml/2006/main">
              <a:ext uri="{FF2B5EF4-FFF2-40B4-BE49-F238E27FC236}">
                <a16:creationId xmlns:a16="http://schemas.microsoft.com/office/drawing/2014/main" id="{9B575EAA-1EB5-4085-8267-362EED6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9" name="p06-type-1">
            <a:extLst xmlns:a="http://schemas.openxmlformats.org/drawingml/2006/main">
              <a:ext uri="{FF2B5EF4-FFF2-40B4-BE49-F238E27FC236}">
                <a16:creationId xmlns:a16="http://schemas.microsoft.com/office/drawing/2014/main" id="{68458D5B-53C2-4226-804A-430F238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baseline 0.31±0.04｜同协议</a:t>
            </a:r>
          </a:p>
        </p:txBody>
      </p:sp>
      <p:sp>
        <p:nvSpPr>
          <p:cNvPr id="10" name="p06-label-2">
            <a:extLst xmlns:a="http://schemas.openxmlformats.org/drawingml/2006/main">
              <a:ext uri="{FF2B5EF4-FFF2-40B4-BE49-F238E27FC236}">
                <a16:creationId xmlns:a16="http://schemas.microsoft.com/office/drawing/2014/main" id="{D2F9B52A-C929-4A57-80BC-4717474A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1" name="p06-type-2">
            <a:extLst xmlns:a="http://schemas.openxmlformats.org/drawingml/2006/main">
              <a:ext uri="{FF2B5EF4-FFF2-40B4-BE49-F238E27FC236}">
                <a16:creationId xmlns:a16="http://schemas.microsoft.com/office/drawing/2014/main" id="{A75D245C-F0BD-46BB-B631-C1344DD7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支持 H1，但不标 stable</a:t>
            </a:r>
          </a:p>
        </p:txBody>
      </p:sp>
      <p:sp>
        <p:nvSpPr>
          <p:cNvPr id="12" name="p06-label-3">
            <a:extLst xmlns:a="http://schemas.openxmlformats.org/drawingml/2006/main">
              <a:ext uri="{FF2B5EF4-FFF2-40B4-BE49-F238E27FC236}">
                <a16:creationId xmlns:a16="http://schemas.microsoft.com/office/drawing/2014/main" id="{F507D663-5753-4FB3-9A8E-888A60E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3" name="p06-type-3">
            <a:extLst xmlns:a="http://schemas.openxmlformats.org/drawingml/2006/main">
              <a:ext uri="{FF2B5EF4-FFF2-40B4-BE49-F238E27FC236}">
                <a16:creationId xmlns:a16="http://schemas.microsoft.com/office/drawing/2014/main" id="{1AB5DEF4-C166-440A-BD69-B92B0D05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n=20 / CS 单一 / A2 未排除</a:t>
            </a:r>
          </a:p>
        </p:txBody>
      </p:sp>
      <p:sp>
        <p:nvSpPr>
          <p:cNvPr id="14" name="p06-record-title">
            <a:extLst xmlns:a="http://schemas.openxmlformats.org/drawingml/2006/main">
              <a:ext uri="{FF2B5EF4-FFF2-40B4-BE49-F238E27FC236}">
                <a16:creationId xmlns:a16="http://schemas.microsoft.com/office/drawing/2014/main" id="{04D2337F-7919-4EB0-A8AD-EAF4DBA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表图下方最小追溯字段</a:t>
            </a:r>
          </a:p>
        </p:txBody>
      </p:sp>
      <p:sp>
        <p:nvSpPr>
          <p:cNvPr id="15" name="p06-field-label-0">
            <a:extLst xmlns:a="http://schemas.openxmlformats.org/drawingml/2006/main">
              <a:ext uri="{FF2B5EF4-FFF2-40B4-BE49-F238E27FC236}">
                <a16:creationId xmlns:a16="http://schemas.microsoft.com/office/drawing/2014/main" id="{A5C85025-1E26-4629-BE59-CC06899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证据项</a:t>
            </a:r>
          </a:p>
        </p:txBody>
      </p:sp>
      <p:sp>
        <p:nvSpPr>
          <p:cNvPr id="16" name="p06-field-detail-0">
            <a:extLst xmlns:a="http://schemas.openxmlformats.org/drawingml/2006/main">
              <a:ext uri="{FF2B5EF4-FFF2-40B4-BE49-F238E27FC236}">
                <a16:creationId xmlns:a16="http://schemas.microsoft.com/office/drawing/2014/main" id="{87A65883-3699-497F-9C2F-953361E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E-17</a:t>
            </a:r>
          </a:p>
        </p:txBody>
      </p:sp>
      <p:sp>
        <p:nvSpPr>
          <p:cNvPr id="17" name="p06-field-label-1">
            <a:extLst xmlns:a="http://schemas.openxmlformats.org/drawingml/2006/main">
              <a:ext uri="{FF2B5EF4-FFF2-40B4-BE49-F238E27FC236}">
                <a16:creationId xmlns:a16="http://schemas.microsoft.com/office/drawing/2014/main" id="{E8E962C3-E940-4679-8AE9-0D8A188B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 ID</a:t>
            </a:r>
          </a:p>
        </p:txBody>
      </p:sp>
      <p:sp>
        <p:nvSpPr>
          <p:cNvPr id="18" name="p06-field-detail-1">
            <a:extLst xmlns:a="http://schemas.openxmlformats.org/drawingml/2006/main">
              <a:ext uri="{FF2B5EF4-FFF2-40B4-BE49-F238E27FC236}">
                <a16:creationId xmlns:a16="http://schemas.microsoft.com/office/drawing/2014/main" id="{D456CCC2-6839-4EA5-8D33-07644CA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exp-010</a:t>
            </a:r>
          </a:p>
        </p:txBody>
      </p:sp>
      <p:sp>
        <p:nvSpPr>
          <p:cNvPr id="19" name="p06-field-label-2">
            <a:extLst xmlns:a="http://schemas.openxmlformats.org/drawingml/2006/main">
              <a:ext uri="{FF2B5EF4-FFF2-40B4-BE49-F238E27FC236}">
                <a16:creationId xmlns:a16="http://schemas.microsoft.com/office/drawing/2014/main" id="{EC2B9126-56F9-4523-9452-F300835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</p:txBody>
      </p:sp>
      <p:sp>
        <p:nvSpPr>
          <p:cNvPr id="20" name="p06-field-detail-2">
            <a:extLst xmlns:a="http://schemas.openxmlformats.org/drawingml/2006/main">
              <a:ext uri="{FF2B5EF4-FFF2-40B4-BE49-F238E27FC236}">
                <a16:creationId xmlns:a16="http://schemas.microsoft.com/office/drawing/2014/main" id="{62177EBD-91C2-4509-8DE3-68840CB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runs/010</a:t>
            </a:r>
          </a:p>
        </p:txBody>
      </p:sp>
      <p:sp>
        <p:nvSpPr>
          <p:cNvPr id="21" name="p06-field-label-3">
            <a:extLst xmlns:a="http://schemas.openxmlformats.org/drawingml/2006/main">
              <a:ext uri="{FF2B5EF4-FFF2-40B4-BE49-F238E27FC236}">
                <a16:creationId xmlns:a16="http://schemas.microsoft.com/office/drawing/2014/main" id="{8E2A59B6-0F48-4AFB-A0B8-EB56D76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22" name="p06-field-detail-3">
            <a:extLst xmlns:a="http://schemas.openxmlformats.org/drawingml/2006/main">
              <a:ext uri="{FF2B5EF4-FFF2-40B4-BE49-F238E27FC236}">
                <a16:creationId xmlns:a16="http://schemas.microsoft.com/office/drawing/2014/main" id="{A1750493-A112-4E2A-8CB0-5803CAD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rubric v1.2</a:t>
            </a:r>
          </a:p>
        </p:txBody>
      </p:sp>
      <p:sp>
        <p:nvSpPr>
          <p:cNvPr id="23" name="p06-field-label-4">
            <a:extLst xmlns:a="http://schemas.openxmlformats.org/drawingml/2006/main">
              <a:ext uri="{FF2B5EF4-FFF2-40B4-BE49-F238E27FC236}">
                <a16:creationId xmlns:a16="http://schemas.microsoft.com/office/drawing/2014/main" id="{F963E2F1-9489-4965-BD24-7DCFA90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支持强度</a:t>
            </a:r>
          </a:p>
        </p:txBody>
      </p:sp>
      <p:sp>
        <p:nvSpPr>
          <p:cNvPr id="24" name="p06-field-detail-4">
            <a:extLst xmlns:a="http://schemas.openxmlformats.org/drawingml/2006/main">
              <a:ext uri="{FF2B5EF4-FFF2-40B4-BE49-F238E27FC236}">
                <a16:creationId xmlns:a16="http://schemas.microsoft.com/office/drawing/2014/main" id="{0FC90B24-3365-4225-A9BD-8DFD362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25" name="p06-field-label-5">
            <a:extLst xmlns:a="http://schemas.openxmlformats.org/drawingml/2006/main">
              <a:ext uri="{FF2B5EF4-FFF2-40B4-BE49-F238E27FC236}">
                <a16:creationId xmlns:a16="http://schemas.microsoft.com/office/drawing/2014/main" id="{3FE3378C-1C8E-483C-A710-8D0FCB4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工件</a:t>
            </a:r>
          </a:p>
        </p:txBody>
      </p:sp>
      <p:sp>
        <p:nvSpPr>
          <p:cNvPr id="26" name="p06-field-detail-5">
            <a:extLst xmlns:a="http://schemas.openxmlformats.org/drawingml/2006/main">
              <a:ext uri="{FF2B5EF4-FFF2-40B4-BE49-F238E27FC236}">
                <a16:creationId xmlns:a16="http://schemas.microsoft.com/office/drawing/2014/main" id="{5554BC7A-F5CE-4D8B-87CD-8F81A40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report §4</a:t>
            </a:r>
          </a:p>
        </p:txBody>
      </p:sp>
      <p:sp>
        <p:nvSpPr>
          <p:cNvPr id="27" name="p06-bottom">
            <a:extLst xmlns:a="http://schemas.openxmlformats.org/drawingml/2006/main">
              <a:ext uri="{FF2B5EF4-FFF2-40B4-BE49-F238E27FC236}">
                <a16:creationId xmlns:a16="http://schemas.microsoft.com/office/drawing/2014/main" id="{3D130851-12D7-484A-AA27-21C69F1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示例数值为虚构教学示例；正式提交必须替换为自己的真实记录。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有效性威胁说明结果为何可能不等于方法效应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">
            <a:extLst xmlns:a="http://schemas.openxmlformats.org/drawingml/2006/main">
              <a:ext uri="{FF2B5EF4-FFF2-40B4-BE49-F238E27FC236}">
                <a16:creationId xmlns:a16="http://schemas.microsoft.com/office/drawing/2014/main" id="{E1962C74-0CEF-4062-9E10-8798E9E6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具体威胁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不公平 / 协议漂移 / 标注泄漏</a:t>
            </a:r>
          </a:p>
        </p:txBody>
      </p:sp>
      <p:sp>
        <p:nvSpPr>
          <p:cNvPr id="7" name="p07-b">
            <a:extLst xmlns:a="http://schemas.openxmlformats.org/drawingml/2006/main">
              <a:ext uri="{FF2B5EF4-FFF2-40B4-BE49-F238E27FC236}">
                <a16:creationId xmlns:a16="http://schemas.microsoft.com/office/drawing/2014/main" id="{6B303354-6DBA-42FE-8587-F8690A0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影响判断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效应被高估 / 不能外推 / 因果不成立</a:t>
            </a:r>
          </a:p>
        </p:txBody>
      </p:sp>
      <p:sp>
        <p:nvSpPr>
          <p:cNvPr id="8" name="p07-a-risk">
            <a:extLst xmlns:a="http://schemas.openxmlformats.org/drawingml/2006/main">
              <a:ext uri="{FF2B5EF4-FFF2-40B4-BE49-F238E27FC236}">
                <a16:creationId xmlns:a16="http://schemas.microsoft.com/office/drawing/2014/main" id="{ED0A4581-AFEA-4A5D-8AB9-3A27C43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内部 / 构念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流程与指标是否测到目标动作</a:t>
            </a:r>
          </a:p>
        </p:txBody>
      </p:sp>
      <p:sp>
        <p:nvSpPr>
          <p:cNvPr id="9" name="p07-b-risk">
            <a:extLst xmlns:a="http://schemas.openxmlformats.org/drawingml/2006/main">
              <a:ext uri="{FF2B5EF4-FFF2-40B4-BE49-F238E27FC236}">
                <a16:creationId xmlns:a16="http://schemas.microsoft.com/office/drawing/2014/main" id="{2053D111-C3CE-48F9-8796-45D4FAE7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外部 / 结论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样本边界与统计不确定性</a:t>
            </a:r>
          </a:p>
        </p:txBody>
      </p:sp>
      <p:sp>
        <p:nvSpPr>
          <p:cNvPr id="10" name="p07-compare-title">
            <a:extLst xmlns:a="http://schemas.openxmlformats.org/drawingml/2006/main">
              <a:ext uri="{FF2B5EF4-FFF2-40B4-BE49-F238E27FC236}">
                <a16:creationId xmlns:a16="http://schemas.microsoft.com/office/drawing/2014/main" id="{2C3F46C9-4510-4E2B-B9F0-426B814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至少回答五点</a:t>
            </a:r>
          </a:p>
        </p:txBody>
      </p:sp>
      <p:sp>
        <p:nvSpPr>
          <p:cNvPr id="11" name="p07-dim-0">
            <a:extLst xmlns:a="http://schemas.openxmlformats.org/drawingml/2006/main">
              <a:ext uri="{FF2B5EF4-FFF2-40B4-BE49-F238E27FC236}">
                <a16:creationId xmlns:a16="http://schemas.microsoft.com/office/drawing/2014/main" id="{5BE68A9C-DEEC-4720-A729-8B3B23FF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威胁来源</a:t>
            </a:r>
          </a:p>
        </p:txBody>
      </p:sp>
      <p:sp>
        <p:nvSpPr>
          <p:cNvPr id="12" name="p07-dim-1">
            <a:extLst xmlns:a="http://schemas.openxmlformats.org/drawingml/2006/main">
              <a:ext uri="{FF2B5EF4-FFF2-40B4-BE49-F238E27FC236}">
                <a16:creationId xmlns:a16="http://schemas.microsoft.com/office/drawing/2014/main" id="{C7B80669-2F17-4206-A14E-A25212D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影响哪个结论</a:t>
            </a:r>
          </a:p>
        </p:txBody>
      </p:sp>
      <p:sp>
        <p:nvSpPr>
          <p:cNvPr id="13" name="p07-dim-2">
            <a:extLst xmlns:a="http://schemas.openxmlformats.org/drawingml/2006/main">
              <a:ext uri="{FF2B5EF4-FFF2-40B4-BE49-F238E27FC236}">
                <a16:creationId xmlns:a16="http://schemas.microsoft.com/office/drawing/2014/main" id="{B71DCA4D-0604-4315-951D-B17A000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方向与严重度</a:t>
            </a:r>
          </a:p>
        </p:txBody>
      </p:sp>
      <p:sp>
        <p:nvSpPr>
          <p:cNvPr id="14" name="p07-dim-3">
            <a:extLst xmlns:a="http://schemas.openxmlformats.org/drawingml/2006/main">
              <a:ext uri="{FF2B5EF4-FFF2-40B4-BE49-F238E27FC236}">
                <a16:creationId xmlns:a16="http://schemas.microsoft.com/office/drawing/2014/main" id="{C133F147-F482-4E6B-8F51-A7BD084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已采取缓解</a:t>
            </a:r>
          </a:p>
        </p:txBody>
      </p:sp>
      <p:sp>
        <p:nvSpPr>
          <p:cNvPr id="15" name="p07-dim-4">
            <a:extLst xmlns:a="http://schemas.openxmlformats.org/drawingml/2006/main">
              <a:ext uri="{FF2B5EF4-FFF2-40B4-BE49-F238E27FC236}">
                <a16:creationId xmlns:a16="http://schemas.microsoft.com/office/drawing/2014/main" id="{28286AC7-9771-41AE-89DF-3142F34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仍待验证什么</a:t>
            </a:r>
          </a:p>
        </p:txBody>
      </p:sp>
      <p:sp>
        <p:nvSpPr>
          <p:cNvPr id="16" name="p07-decision">
            <a:extLst xmlns:a="http://schemas.openxmlformats.org/drawingml/2006/main">
              <a:ext uri="{FF2B5EF4-FFF2-40B4-BE49-F238E27FC236}">
                <a16:creationId xmlns:a16="http://schemas.microsoft.com/office/drawing/2014/main" id="{36942D5E-2AE5-4766-AF99-66685D0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不要只写‘样本较小’；说明它限制了哪一句结论。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最终分享必须回答五个研究问题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h-0">
            <a:extLst xmlns:a="http://schemas.openxmlformats.org/drawingml/2006/main">
              <a:ext uri="{FF2B5EF4-FFF2-40B4-BE49-F238E27FC236}">
                <a16:creationId xmlns:a16="http://schemas.microsoft.com/office/drawing/2014/main" id="{38D4C9D2-0F96-4B93-A4D2-1602E97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62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问题</a:t>
            </a:r>
          </a:p>
        </p:txBody>
      </p:sp>
      <p:sp>
        <p:nvSpPr>
          <p:cNvPr id="7" name="p08-h-1">
            <a:extLst xmlns:a="http://schemas.openxmlformats.org/drawingml/2006/main">
              <a:ext uri="{FF2B5EF4-FFF2-40B4-BE49-F238E27FC236}">
                <a16:creationId xmlns:a16="http://schemas.microsoft.com/office/drawing/2014/main" id="{7F4F3AAA-FEF2-4DE9-B83F-70ACFD3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证据</a:t>
            </a:r>
          </a:p>
        </p:txBody>
      </p:sp>
      <p:sp>
        <p:nvSpPr>
          <p:cNvPr id="8" name="p08-h-2">
            <a:extLst xmlns:a="http://schemas.openxmlformats.org/drawingml/2006/main">
              <a:ext uri="{FF2B5EF4-FFF2-40B4-BE49-F238E27FC236}">
                <a16:creationId xmlns:a16="http://schemas.microsoft.com/office/drawing/2014/main" id="{044E0BEE-8EAC-4B47-8C87-AA03C4F4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工作流</a:t>
            </a:r>
          </a:p>
        </p:txBody>
      </p:sp>
      <p:sp>
        <p:nvSpPr>
          <p:cNvPr id="9" name="p08-h-3">
            <a:extLst xmlns:a="http://schemas.openxmlformats.org/drawingml/2006/main">
              <a:ext uri="{FF2B5EF4-FFF2-40B4-BE49-F238E27FC236}">
                <a16:creationId xmlns:a16="http://schemas.microsoft.com/office/drawing/2014/main" id="{8116D578-A48C-4A50-955C-DA1B551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AI</a:t>
            </a:r>
          </a:p>
        </p:txBody>
      </p:sp>
      <p:sp>
        <p:nvSpPr>
          <p:cNvPr id="10" name="p08-h-4">
            <a:extLst xmlns:a="http://schemas.openxmlformats.org/drawingml/2006/main">
              <a:ext uri="{FF2B5EF4-FFF2-40B4-BE49-F238E27FC236}">
                <a16:creationId xmlns:a16="http://schemas.microsoft.com/office/drawing/2014/main" id="{737244F8-6ACC-4316-9D0A-F19274EF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边界</a:t>
            </a:r>
          </a:p>
        </p:txBody>
      </p:sp>
      <p:sp>
        <p:nvSpPr>
          <p:cNvPr id="11" name="p08-r0-0">
            <a:extLst xmlns:a="http://schemas.openxmlformats.org/drawingml/2006/main">
              <a:ext uri="{FF2B5EF4-FFF2-40B4-BE49-F238E27FC236}">
                <a16:creationId xmlns:a16="http://schemas.microsoft.com/office/drawing/2014/main" id="{A2CE4909-80ED-4D96-86B4-E8D135A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12" name="p08-r0-1">
            <a:extLst xmlns:a="http://schemas.openxmlformats.org/drawingml/2006/main">
              <a:ext uri="{FF2B5EF4-FFF2-40B4-BE49-F238E27FC236}">
                <a16:creationId xmlns:a16="http://schemas.microsoft.com/office/drawing/2014/main" id="{8DFEDC57-FEAE-4D8B-9E29-587FDAA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192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支持</a:t>
            </a:r>
          </a:p>
        </p:txBody>
      </p:sp>
      <p:sp>
        <p:nvSpPr>
          <p:cNvPr id="13" name="p08-r0-2">
            <a:extLst xmlns:a="http://schemas.openxmlformats.org/drawingml/2006/main">
              <a:ext uri="{FF2B5EF4-FFF2-40B4-BE49-F238E27FC236}">
                <a16:creationId xmlns:a16="http://schemas.microsoft.com/office/drawing/2014/main" id="{E595DF9D-EEBC-4C1A-9F1D-38DCE7E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改善动作</a:t>
            </a:r>
          </a:p>
        </p:txBody>
      </p:sp>
      <p:sp>
        <p:nvSpPr>
          <p:cNvPr id="14" name="p08-r0-3">
            <a:extLst xmlns:a="http://schemas.openxmlformats.org/drawingml/2006/main">
              <a:ext uri="{FF2B5EF4-FFF2-40B4-BE49-F238E27FC236}">
                <a16:creationId xmlns:a16="http://schemas.microsoft.com/office/drawing/2014/main" id="{1C2760EA-DEFE-401B-8168-59284D3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有效处</a:t>
            </a:r>
          </a:p>
        </p:txBody>
      </p:sp>
      <p:sp>
        <p:nvSpPr>
          <p:cNvPr id="15" name="p08-r0-4">
            <a:extLst xmlns:a="http://schemas.openxmlformats.org/drawingml/2006/main">
              <a:ext uri="{FF2B5EF4-FFF2-40B4-BE49-F238E27FC236}">
                <a16:creationId xmlns:a16="http://schemas.microsoft.com/office/drawing/2014/main" id="{07DA84FF-A9CF-4458-A06D-0C92D8E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16" name="p08-r1-0">
            <a:extLst xmlns:a="http://schemas.openxmlformats.org/drawingml/2006/main">
              <a:ext uri="{FF2B5EF4-FFF2-40B4-BE49-F238E27FC236}">
                <a16:creationId xmlns:a16="http://schemas.microsoft.com/office/drawing/2014/main" id="{DD8DDBAF-F6F5-4979-9F6E-454F860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7" name="p08-r1-1">
            <a:extLst xmlns:a="http://schemas.openxmlformats.org/drawingml/2006/main">
              <a:ext uri="{FF2B5EF4-FFF2-40B4-BE49-F238E27FC236}">
                <a16:creationId xmlns:a16="http://schemas.microsoft.com/office/drawing/2014/main" id="{CE67C768-7AD7-498D-9376-AEFB8F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反驳</a:t>
            </a:r>
          </a:p>
        </p:txBody>
      </p:sp>
      <p:sp>
        <p:nvSpPr>
          <p:cNvPr id="18" name="p08-r1-2">
            <a:extLst xmlns:a="http://schemas.openxmlformats.org/drawingml/2006/main">
              <a:ext uri="{FF2B5EF4-FFF2-40B4-BE49-F238E27FC236}">
                <a16:creationId xmlns:a16="http://schemas.microsoft.com/office/drawing/2014/main" id="{B128B293-4250-4901-8334-25FE883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如何评价</a:t>
            </a:r>
          </a:p>
        </p:txBody>
      </p:sp>
      <p:sp>
        <p:nvSpPr>
          <p:cNvPr id="19" name="p08-r1-3">
            <a:extLst xmlns:a="http://schemas.openxmlformats.org/drawingml/2006/main">
              <a:ext uri="{FF2B5EF4-FFF2-40B4-BE49-F238E27FC236}">
                <a16:creationId xmlns:a16="http://schemas.microsoft.com/office/drawing/2014/main" id="{0A99A40B-10ED-4723-AB49-B3F813B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误导处</a:t>
            </a:r>
          </a:p>
        </p:txBody>
      </p:sp>
      <p:sp>
        <p:nvSpPr>
          <p:cNvPr id="20" name="p08-r1-4">
            <a:extLst xmlns:a="http://schemas.openxmlformats.org/drawingml/2006/main">
              <a:ext uri="{FF2B5EF4-FFF2-40B4-BE49-F238E27FC236}">
                <a16:creationId xmlns:a16="http://schemas.microsoft.com/office/drawing/2014/main" id="{AE75DFCF-7AC5-481A-85D8-5112E76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21" name="p08-r2-0">
            <a:extLst xmlns:a="http://schemas.openxmlformats.org/drawingml/2006/main">
              <a:ext uri="{FF2B5EF4-FFF2-40B4-BE49-F238E27FC236}">
                <a16:creationId xmlns:a16="http://schemas.microsoft.com/office/drawing/2014/main" id="{C9CF3E09-3C2E-4F47-AE05-138414C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2" name="p08-r2-1">
            <a:extLst xmlns:a="http://schemas.openxmlformats.org/drawingml/2006/main">
              <a:ext uri="{FF2B5EF4-FFF2-40B4-BE49-F238E27FC236}">
                <a16:creationId xmlns:a16="http://schemas.microsoft.com/office/drawing/2014/main" id="{67893BD4-FBF5-4654-AC9D-A2B5ECE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不能判断</a:t>
            </a:r>
          </a:p>
        </p:txBody>
      </p:sp>
      <p:sp>
        <p:nvSpPr>
          <p:cNvPr id="23" name="p08-r2-2">
            <a:extLst xmlns:a="http://schemas.openxmlformats.org/drawingml/2006/main">
              <a:ext uri="{FF2B5EF4-FFF2-40B4-BE49-F238E27FC236}">
                <a16:creationId xmlns:a16="http://schemas.microsoft.com/office/drawing/2014/main" id="{70CFECA6-E7D8-4647-8C3C-2826A0D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失败何在</a:t>
            </a:r>
          </a:p>
        </p:txBody>
      </p:sp>
      <p:sp>
        <p:nvSpPr>
          <p:cNvPr id="24" name="p08-r2-3">
            <a:extLst xmlns:a="http://schemas.openxmlformats.org/drawingml/2006/main">
              <a:ext uri="{FF2B5EF4-FFF2-40B4-BE49-F238E27FC236}">
                <a16:creationId xmlns:a16="http://schemas.microsoft.com/office/drawing/2014/main" id="{286AC6ED-959A-4E34-8965-75EA6CD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如何核验</a:t>
            </a:r>
          </a:p>
        </p:txBody>
      </p:sp>
      <p:sp>
        <p:nvSpPr>
          <p:cNvPr id="25" name="p08-r2-4">
            <a:extLst xmlns:a="http://schemas.openxmlformats.org/drawingml/2006/main">
              <a:ext uri="{FF2B5EF4-FFF2-40B4-BE49-F238E27FC236}">
                <a16:creationId xmlns:a16="http://schemas.microsoft.com/office/drawing/2014/main" id="{E10482D2-FC89-4354-862A-A980532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6" name="p08-bottom">
            <a:extLst xmlns:a="http://schemas.openxmlformats.org/drawingml/2006/main">
              <a:ext uri="{FF2B5EF4-FFF2-40B4-BE49-F238E27FC236}">
                <a16:creationId xmlns:a16="http://schemas.microsoft.com/office/drawing/2014/main" id="{B26AC0EF-2C2B-4744-A07A-D9D26C3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79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五问都用当前项目工件回答；没有证据时明确说‘仍不能判断’。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分钟陈述只保留能改变理解的五部分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var-title">
            <a:extLst xmlns:a="http://schemas.openxmlformats.org/drawingml/2006/main">
              <a:ext uri="{FF2B5EF4-FFF2-40B4-BE49-F238E27FC236}">
                <a16:creationId xmlns:a16="http://schemas.microsoft.com/office/drawing/2014/main" id="{4A4EB1B0-749B-4738-A3D1-9B0093C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时间结构</a:t>
            </a:r>
          </a:p>
        </p:txBody>
      </p:sp>
      <p:sp>
        <p:nvSpPr>
          <p:cNvPr id="7" name="p09-vars-h-0">
            <a:extLst xmlns:a="http://schemas.openxmlformats.org/drawingml/2006/main">
              <a:ext uri="{FF2B5EF4-FFF2-40B4-BE49-F238E27FC236}">
                <a16:creationId xmlns:a16="http://schemas.microsoft.com/office/drawing/2014/main" id="{1ED01082-F944-4A27-A32E-0C1D8A1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段落</a:t>
            </a:r>
          </a:p>
        </p:txBody>
      </p:sp>
      <p:sp>
        <p:nvSpPr>
          <p:cNvPr id="8" name="p09-vars-h-1">
            <a:extLst xmlns:a="http://schemas.openxmlformats.org/drawingml/2006/main">
              <a:ext uri="{FF2B5EF4-FFF2-40B4-BE49-F238E27FC236}">
                <a16:creationId xmlns:a16="http://schemas.microsoft.com/office/drawing/2014/main" id="{05C018E4-3CE3-402F-8C6E-8BA47FD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要回答什么</a:t>
            </a:r>
          </a:p>
        </p:txBody>
      </p:sp>
      <p:sp>
        <p:nvSpPr>
          <p:cNvPr id="9" name="p09-vars-r0-0">
            <a:extLst xmlns:a="http://schemas.openxmlformats.org/drawingml/2006/main">
              <a:ext uri="{FF2B5EF4-FFF2-40B4-BE49-F238E27FC236}">
                <a16:creationId xmlns:a16="http://schemas.microsoft.com/office/drawing/2014/main" id="{E7A03DD1-DE3F-4D21-8598-12C4BF4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0:00–0:30</a:t>
            </a:r>
          </a:p>
        </p:txBody>
      </p:sp>
      <p:sp>
        <p:nvSpPr>
          <p:cNvPr id="10" name="p09-vars-r0-1">
            <a:extLst xmlns:a="http://schemas.openxmlformats.org/drawingml/2006/main">
              <a:ext uri="{FF2B5EF4-FFF2-40B4-BE49-F238E27FC236}">
                <a16:creationId xmlns:a16="http://schemas.microsoft.com/office/drawing/2014/main" id="{288A2EAF-FD75-4C67-A646-B3139FC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 + 关键判断</a:t>
            </a:r>
          </a:p>
        </p:txBody>
      </p:sp>
      <p:sp>
        <p:nvSpPr>
          <p:cNvPr id="11" name="p09-vars-r1-0">
            <a:extLst xmlns:a="http://schemas.openxmlformats.org/drawingml/2006/main">
              <a:ext uri="{FF2B5EF4-FFF2-40B4-BE49-F238E27FC236}">
                <a16:creationId xmlns:a16="http://schemas.microsoft.com/office/drawing/2014/main" id="{224376EF-91F4-4971-B327-8219E2F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0:30–1:20</a:t>
            </a:r>
          </a:p>
        </p:txBody>
      </p:sp>
      <p:sp>
        <p:nvSpPr>
          <p:cNvPr id="12" name="p09-vars-r1-1">
            <a:extLst xmlns:a="http://schemas.openxmlformats.org/drawingml/2006/main">
              <a:ext uri="{FF2B5EF4-FFF2-40B4-BE49-F238E27FC236}">
                <a16:creationId xmlns:a16="http://schemas.microsoft.com/office/drawing/2014/main" id="{51915736-A0AB-4F13-8F92-27AF06A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最强证据 + 反证</a:t>
            </a:r>
          </a:p>
        </p:txBody>
      </p:sp>
      <p:sp>
        <p:nvSpPr>
          <p:cNvPr id="13" name="p09-vars-r2-0">
            <a:extLst xmlns:a="http://schemas.openxmlformats.org/drawingml/2006/main">
              <a:ext uri="{FF2B5EF4-FFF2-40B4-BE49-F238E27FC236}">
                <a16:creationId xmlns:a16="http://schemas.microsoft.com/office/drawing/2014/main" id="{03A7A6B0-33CA-45FD-B52F-74CBC57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1:20–2:10</a:t>
            </a:r>
          </a:p>
        </p:txBody>
      </p:sp>
      <p:sp>
        <p:nvSpPr>
          <p:cNvPr id="14" name="p09-vars-r2-1">
            <a:extLst xmlns:a="http://schemas.openxmlformats.org/drawingml/2006/main">
              <a:ext uri="{FF2B5EF4-FFF2-40B4-BE49-F238E27FC236}">
                <a16:creationId xmlns:a16="http://schemas.microsoft.com/office/drawing/2014/main" id="{64F620BA-1778-4FC5-AF71-B6D6F3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 + 工作流影响</a:t>
            </a:r>
          </a:p>
        </p:txBody>
      </p:sp>
      <p:sp>
        <p:nvSpPr>
          <p:cNvPr id="15" name="p09-vars-r3-0">
            <a:extLst xmlns:a="http://schemas.openxmlformats.org/drawingml/2006/main">
              <a:ext uri="{FF2B5EF4-FFF2-40B4-BE49-F238E27FC236}">
                <a16:creationId xmlns:a16="http://schemas.microsoft.com/office/drawing/2014/main" id="{473B6B51-8CED-4B80-AF70-27384E7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2:10–3:00</a:t>
            </a:r>
          </a:p>
        </p:txBody>
      </p:sp>
      <p:sp>
        <p:nvSpPr>
          <p:cNvPr id="16" name="p09-vars-r3-1">
            <a:extLst xmlns:a="http://schemas.openxmlformats.org/drawingml/2006/main">
              <a:ext uri="{FF2B5EF4-FFF2-40B4-BE49-F238E27FC236}">
                <a16:creationId xmlns:a16="http://schemas.microsoft.com/office/drawing/2014/main" id="{82E5DCBD-F903-4109-9E22-139A9AA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719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披露 + 边界 + 下一步</a:t>
            </a:r>
          </a:p>
        </p:txBody>
      </p:sp>
      <p:sp>
        <p:nvSpPr>
          <p:cNvPr id="17" name="p09-spec-title">
            <a:extLst xmlns:a="http://schemas.openxmlformats.org/drawingml/2006/main">
              <a:ext uri="{FF2B5EF4-FFF2-40B4-BE49-F238E27FC236}">
                <a16:creationId xmlns:a16="http://schemas.microsoft.com/office/drawing/2014/main" id="{64AE2602-784B-4FBA-B1B1-7F6D936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事实边界八项</a:t>
            </a:r>
          </a:p>
        </p:txBody>
      </p:sp>
      <p:sp>
        <p:nvSpPr>
          <p:cNvPr id="18" name="p09-n-0">
            <a:extLst xmlns:a="http://schemas.openxmlformats.org/drawingml/2006/main">
              <a:ext uri="{FF2B5EF4-FFF2-40B4-BE49-F238E27FC236}">
                <a16:creationId xmlns:a16="http://schemas.microsoft.com/office/drawing/2014/main" id="{DA010CC0-836C-45FF-8471-6C70EB5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09-s-0">
            <a:extLst xmlns:a="http://schemas.openxmlformats.org/drawingml/2006/main">
              <a:ext uri="{FF2B5EF4-FFF2-40B4-BE49-F238E27FC236}">
                <a16:creationId xmlns:a16="http://schemas.microsoft.com/office/drawing/2014/main" id="{3C6A8891-C036-4EB3-93A6-951AE77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0" name="p09-n-1">
            <a:extLst xmlns:a="http://schemas.openxmlformats.org/drawingml/2006/main">
              <a:ext uri="{FF2B5EF4-FFF2-40B4-BE49-F238E27FC236}">
                <a16:creationId xmlns:a16="http://schemas.microsoft.com/office/drawing/2014/main" id="{128B52A7-42A9-4FCF-A6F1-C47F04D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09-s-1">
            <a:extLst xmlns:a="http://schemas.openxmlformats.org/drawingml/2006/main">
              <a:ext uri="{FF2B5EF4-FFF2-40B4-BE49-F238E27FC236}">
                <a16:creationId xmlns:a16="http://schemas.microsoft.com/office/drawing/2014/main" id="{B6772FE8-923E-48BC-8C1A-D4EA2FD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 ID</a:t>
            </a:r>
          </a:p>
        </p:txBody>
      </p:sp>
      <p:sp>
        <p:nvSpPr>
          <p:cNvPr id="22" name="p09-n-2">
            <a:extLst xmlns:a="http://schemas.openxmlformats.org/drawingml/2006/main">
              <a:ext uri="{FF2B5EF4-FFF2-40B4-BE49-F238E27FC236}">
                <a16:creationId xmlns:a16="http://schemas.microsoft.com/office/drawing/2014/main" id="{51CCE020-D453-4108-9A1B-4A0EFC1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9-s-2">
            <a:extLst xmlns:a="http://schemas.openxmlformats.org/drawingml/2006/main">
              <a:ext uri="{FF2B5EF4-FFF2-40B4-BE49-F238E27FC236}">
                <a16:creationId xmlns:a16="http://schemas.microsoft.com/office/drawing/2014/main" id="{AD107FE3-98BD-416A-8D79-7368871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支持强度</a:t>
            </a:r>
          </a:p>
        </p:txBody>
      </p:sp>
      <p:sp>
        <p:nvSpPr>
          <p:cNvPr id="24" name="p09-n-3">
            <a:extLst xmlns:a="http://schemas.openxmlformats.org/drawingml/2006/main">
              <a:ext uri="{FF2B5EF4-FFF2-40B4-BE49-F238E27FC236}">
                <a16:creationId xmlns:a16="http://schemas.microsoft.com/office/drawing/2014/main" id="{FCB4217E-4660-4C0E-9570-1D16460C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09-s-3">
            <a:extLst xmlns:a="http://schemas.openxmlformats.org/drawingml/2006/main">
              <a:ext uri="{FF2B5EF4-FFF2-40B4-BE49-F238E27FC236}">
                <a16:creationId xmlns:a16="http://schemas.microsoft.com/office/drawing/2014/main" id="{095055EB-245D-4A28-9837-19C5795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26" name="p09-n-4">
            <a:extLst xmlns:a="http://schemas.openxmlformats.org/drawingml/2006/main">
              <a:ext uri="{FF2B5EF4-FFF2-40B4-BE49-F238E27FC236}">
                <a16:creationId xmlns:a16="http://schemas.microsoft.com/office/drawing/2014/main" id="{289F5A61-2E58-4F71-8DF9-2AC9ACA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09-s-4">
            <a:extLst xmlns:a="http://schemas.openxmlformats.org/drawingml/2006/main">
              <a:ext uri="{FF2B5EF4-FFF2-40B4-BE49-F238E27FC236}">
                <a16:creationId xmlns:a16="http://schemas.microsoft.com/office/drawing/2014/main" id="{5F2B8A75-0F87-467A-AE95-8BA5C94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8" name="p09-n-5">
            <a:extLst xmlns:a="http://schemas.openxmlformats.org/drawingml/2006/main">
              <a:ext uri="{FF2B5EF4-FFF2-40B4-BE49-F238E27FC236}">
                <a16:creationId xmlns:a16="http://schemas.microsoft.com/office/drawing/2014/main" id="{27D50A14-2557-4EC4-BFFF-C108B07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p09-s-5">
            <a:extLst xmlns:a="http://schemas.openxmlformats.org/drawingml/2006/main">
              <a:ext uri="{FF2B5EF4-FFF2-40B4-BE49-F238E27FC236}">
                <a16:creationId xmlns:a16="http://schemas.microsoft.com/office/drawing/2014/main" id="{981D0504-2375-4980-807C-33A175E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威胁</a:t>
            </a:r>
          </a:p>
        </p:txBody>
      </p:sp>
      <p:sp>
        <p:nvSpPr>
          <p:cNvPr id="30" name="p09-n-6">
            <a:extLst xmlns:a="http://schemas.openxmlformats.org/drawingml/2006/main">
              <a:ext uri="{FF2B5EF4-FFF2-40B4-BE49-F238E27FC236}">
                <a16:creationId xmlns:a16="http://schemas.microsoft.com/office/drawing/2014/main" id="{8F3D0B35-20D9-42DA-9CC2-2299287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p09-s-6">
            <a:extLst xmlns:a="http://schemas.openxmlformats.org/drawingml/2006/main">
              <a:ext uri="{FF2B5EF4-FFF2-40B4-BE49-F238E27FC236}">
                <a16:creationId xmlns:a16="http://schemas.microsoft.com/office/drawing/2014/main" id="{F903A4CC-56E8-48AA-9CA4-4F4DA48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参与</a:t>
            </a:r>
          </a:p>
        </p:txBody>
      </p:sp>
      <p:sp>
        <p:nvSpPr>
          <p:cNvPr id="32" name="p09-n-7">
            <a:extLst xmlns:a="http://schemas.openxmlformats.org/drawingml/2006/main">
              <a:ext uri="{FF2B5EF4-FFF2-40B4-BE49-F238E27FC236}">
                <a16:creationId xmlns:a16="http://schemas.microsoft.com/office/drawing/2014/main" id="{BFAC206D-4734-4F59-9F21-AB5BF0D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p09-s-7">
            <a:extLst xmlns:a="http://schemas.openxmlformats.org/drawingml/2006/main">
              <a:ext uri="{FF2B5EF4-FFF2-40B4-BE49-F238E27FC236}">
                <a16:creationId xmlns:a16="http://schemas.microsoft.com/office/drawing/2014/main" id="{7DF0A642-FE1F-473E-940C-A4BD71B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4" name="p09-bottom">
            <a:extLst xmlns:a="http://schemas.openxmlformats.org/drawingml/2006/main">
              <a:ext uri="{FF2B5EF4-FFF2-40B4-BE49-F238E27FC236}">
                <a16:creationId xmlns:a16="http://schemas.microsoft.com/office/drawing/2014/main" id="{96FFFC96-BD11-4AD7-981B-7BDABAE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删背景，不删边界；删过程流水账，不删失败和冲突证据。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 Agent Workflow 必须同时交付运行、权限、评价与失败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heck-title">
            <a:extLst xmlns:a="http://schemas.openxmlformats.org/drawingml/2006/main">
              <a:ext uri="{FF2B5EF4-FFF2-40B4-BE49-F238E27FC236}">
                <a16:creationId xmlns:a16="http://schemas.microsoft.com/office/drawing/2014/main" id="{629FAFB0-1C6E-4404-8002-CB3636B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六项核验</a:t>
            </a:r>
          </a:p>
        </p:txBody>
      </p:sp>
      <p:sp>
        <p:nvSpPr>
          <p:cNvPr id="7" name="p10-n-0">
            <a:extLst xmlns:a="http://schemas.openxmlformats.org/drawingml/2006/main">
              <a:ext uri="{FF2B5EF4-FFF2-40B4-BE49-F238E27FC236}">
                <a16:creationId xmlns:a16="http://schemas.microsoft.com/office/drawing/2014/main" id="{CFEEE81F-1DD2-4E61-9BB1-FDD989A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0-c-0">
            <a:extLst xmlns:a="http://schemas.openxmlformats.org/drawingml/2006/main">
              <a:ext uri="{FF2B5EF4-FFF2-40B4-BE49-F238E27FC236}">
                <a16:creationId xmlns:a16="http://schemas.microsoft.com/office/drawing/2014/main" id="{F5E1C5F7-0B34-4368-ACD8-09D80C1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运行说明可由他人复现</a:t>
            </a:r>
          </a:p>
        </p:txBody>
      </p:sp>
      <p:sp>
        <p:nvSpPr>
          <p:cNvPr id="9" name="p10-n-1">
            <a:extLst xmlns:a="http://schemas.openxmlformats.org/drawingml/2006/main">
              <a:ext uri="{FF2B5EF4-FFF2-40B4-BE49-F238E27FC236}">
                <a16:creationId xmlns:a16="http://schemas.microsoft.com/office/drawing/2014/main" id="{3326119E-76A5-47C2-934F-A5B35FB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0-c-1">
            <a:extLst xmlns:a="http://schemas.openxmlformats.org/drawingml/2006/main">
              <a:ext uri="{FF2B5EF4-FFF2-40B4-BE49-F238E27FC236}">
                <a16:creationId xmlns:a16="http://schemas.microsoft.com/office/drawing/2014/main" id="{D6018B89-67AA-4102-A203-0F4B222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工具与数据权限边界明确</a:t>
            </a:r>
          </a:p>
        </p:txBody>
      </p:sp>
      <p:sp>
        <p:nvSpPr>
          <p:cNvPr id="11" name="p10-n-2">
            <a:extLst xmlns:a="http://schemas.openxmlformats.org/drawingml/2006/main">
              <a:ext uri="{FF2B5EF4-FFF2-40B4-BE49-F238E27FC236}">
                <a16:creationId xmlns:a16="http://schemas.microsoft.com/office/drawing/2014/main" id="{8F3304DC-4F93-4E84-9652-E0BFB20C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0-c-2">
            <a:extLst xmlns:a="http://schemas.openxmlformats.org/drawingml/2006/main">
              <a:ext uri="{FF2B5EF4-FFF2-40B4-BE49-F238E27FC236}">
                <a16:creationId xmlns:a16="http://schemas.microsoft.com/office/drawing/2014/main" id="{78C37159-D673-47D4-B603-0FB0052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评价说明实际影响而非功能</a:t>
            </a:r>
          </a:p>
        </p:txBody>
      </p:sp>
      <p:sp>
        <p:nvSpPr>
          <p:cNvPr id="13" name="p10-n-3">
            <a:extLst xmlns:a="http://schemas.openxmlformats.org/drawingml/2006/main">
              <a:ext uri="{FF2B5EF4-FFF2-40B4-BE49-F238E27FC236}">
                <a16:creationId xmlns:a16="http://schemas.microsoft.com/office/drawing/2014/main" id="{3C48FF74-7980-4FDA-8F07-E59550A5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0-c-3">
            <a:extLst xmlns:a="http://schemas.openxmlformats.org/drawingml/2006/main">
              <a:ext uri="{FF2B5EF4-FFF2-40B4-BE49-F238E27FC236}">
                <a16:creationId xmlns:a16="http://schemas.microsoft.com/office/drawing/2014/main" id="{BB66591E-4102-48B0-BE44-60B8BFE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失败与冲突记录完整保留</a:t>
            </a:r>
          </a:p>
        </p:txBody>
      </p:sp>
      <p:sp>
        <p:nvSpPr>
          <p:cNvPr id="15" name="p10-n-4">
            <a:extLst xmlns:a="http://schemas.openxmlformats.org/drawingml/2006/main">
              <a:ext uri="{FF2B5EF4-FFF2-40B4-BE49-F238E27FC236}">
                <a16:creationId xmlns:a16="http://schemas.microsoft.com/office/drawing/2014/main" id="{2C5C1B2E-78E1-4D45-AB7A-BC9CA83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0-c-4">
            <a:extLst xmlns:a="http://schemas.openxmlformats.org/drawingml/2006/main">
              <a:ext uri="{FF2B5EF4-FFF2-40B4-BE49-F238E27FC236}">
                <a16:creationId xmlns:a16="http://schemas.microsoft.com/office/drawing/2014/main" id="{1740BCC9-B2E4-4CFE-934C-C18BED9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人工审核对象与理由可追溯</a:t>
            </a:r>
          </a:p>
        </p:txBody>
      </p:sp>
      <p:sp>
        <p:nvSpPr>
          <p:cNvPr id="17" name="p10-n-5">
            <a:extLst xmlns:a="http://schemas.openxmlformats.org/drawingml/2006/main">
              <a:ext uri="{FF2B5EF4-FFF2-40B4-BE49-F238E27FC236}">
                <a16:creationId xmlns:a16="http://schemas.microsoft.com/office/drawing/2014/main" id="{C7AC25DB-AA0A-4FD7-B847-47C60E2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0-c-5">
            <a:extLst xmlns:a="http://schemas.openxmlformats.org/drawingml/2006/main">
              <a:ext uri="{FF2B5EF4-FFF2-40B4-BE49-F238E27FC236}">
                <a16:creationId xmlns:a16="http://schemas.microsoft.com/office/drawing/2014/main" id="{AF83F3EE-F8AE-4D34-A3CD-B70ACD7B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证据充分性和伦理已更新</a:t>
            </a:r>
          </a:p>
        </p:txBody>
      </p:sp>
      <p:sp>
        <p:nvSpPr>
          <p:cNvPr id="19" name="p10-flow-1">
            <a:extLst xmlns:a="http://schemas.openxmlformats.org/drawingml/2006/main">
              <a:ext uri="{FF2B5EF4-FFF2-40B4-BE49-F238E27FC236}">
                <a16:creationId xmlns:a16="http://schemas.microsoft.com/office/drawing/2014/main" id="{08C1B718-309E-4887-B6B5-BE55C16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309813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0-flow-2">
            <a:extLst xmlns:a="http://schemas.openxmlformats.org/drawingml/2006/main">
              <a:ext uri="{FF2B5EF4-FFF2-40B4-BE49-F238E27FC236}">
                <a16:creationId xmlns:a16="http://schemas.microsoft.com/office/drawing/2014/main" id="{2A003779-9709-4A0F-820B-A8DD7C2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53450" y="19288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0-flow-3">
            <a:extLst xmlns:a="http://schemas.openxmlformats.org/drawingml/2006/main">
              <a:ext uri="{FF2B5EF4-FFF2-40B4-BE49-F238E27FC236}">
                <a16:creationId xmlns:a16="http://schemas.microsoft.com/office/drawing/2014/main" id="{EE52993F-DD94-4917-9AD4-2368FFF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86775" y="2757488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0-ai">
            <a:extLst xmlns:a="http://schemas.openxmlformats.org/drawingml/2006/main">
              <a:ext uri="{FF2B5EF4-FFF2-40B4-BE49-F238E27FC236}">
                <a16:creationId xmlns:a16="http://schemas.microsoft.com/office/drawing/2014/main" id="{2594A26D-3C8D-4EEB-BF33-13CE344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当前项目</a:t>
            </a:r>
          </a:p>
        </p:txBody>
      </p:sp>
      <p:sp>
        <p:nvSpPr>
          <p:cNvPr id="23" name="p10-audit">
            <a:extLst xmlns:a="http://schemas.openxmlformats.org/drawingml/2006/main">
              <a:ext uri="{FF2B5EF4-FFF2-40B4-BE49-F238E27FC236}">
                <a16:creationId xmlns:a16="http://schemas.microsoft.com/office/drawing/2014/main" id="{A0DD66B2-DE87-475D-A4F8-A5F3687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790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24" name="p10-main">
            <a:extLst xmlns:a="http://schemas.openxmlformats.org/drawingml/2006/main">
              <a:ext uri="{FF2B5EF4-FFF2-40B4-BE49-F238E27FC236}">
                <a16:creationId xmlns:a16="http://schemas.microsoft.com/office/drawing/2014/main" id="{2CC9F631-2D05-449F-946D-704C328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运行 + 权限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评价 + 失败</a:t>
            </a:r>
          </a:p>
        </p:txBody>
      </p:sp>
      <p:sp>
        <p:nvSpPr>
          <p:cNvPr id="25" name="p10-clue">
            <a:extLst xmlns:a="http://schemas.openxmlformats.org/drawingml/2006/main">
              <a:ext uri="{FF2B5EF4-FFF2-40B4-BE49-F238E27FC236}">
                <a16:creationId xmlns:a16="http://schemas.microsoft.com/office/drawing/2014/main" id="{DA6ABD10-1CA7-4F52-93C2-016BFA8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885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缺项 → 回写原工件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不另造汇报副本</a:t>
            </a:r>
          </a:p>
        </p:txBody>
      </p:sp>
      <p:sp>
        <p:nvSpPr>
          <p:cNvPr id="26" name="p10-record">
            <a:extLst xmlns:a="http://schemas.openxmlformats.org/drawingml/2006/main">
              <a:ext uri="{FF2B5EF4-FFF2-40B4-BE49-F238E27FC236}">
                <a16:creationId xmlns:a16="http://schemas.microsoft.com/office/drawing/2014/main" id="{38BBB49D-6534-42E5-84AD-4444702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红线：不得删除失败运行后只展示成功版本。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披露要覆盖研究链各阶段，并更新伦理边界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watermark">
            <a:extLst xmlns:a="http://schemas.openxmlformats.org/drawingml/2006/main">
              <a:ext uri="{FF2B5EF4-FFF2-40B4-BE49-F238E27FC236}">
                <a16:creationId xmlns:a16="http://schemas.microsoft.com/office/drawing/2014/main" id="{F8D46C40-EC53-4198-8AF5-825A9E4C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披露目的：可追溯、可复核、可承担责任</a:t>
            </a:r>
          </a:p>
        </p:txBody>
      </p:sp>
      <p:sp>
        <p:nvSpPr>
          <p:cNvPr id="7" name="p11-line-0">
            <a:extLst xmlns:a="http://schemas.openxmlformats.org/drawingml/2006/main">
              <a:ext uri="{FF2B5EF4-FFF2-40B4-BE49-F238E27FC236}">
                <a16:creationId xmlns:a16="http://schemas.microsoft.com/office/drawing/2014/main" id="{887A0D37-03FF-41D3-B768-4025210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1-line-1">
            <a:extLst xmlns:a="http://schemas.openxmlformats.org/drawingml/2006/main">
              <a:ext uri="{FF2B5EF4-FFF2-40B4-BE49-F238E27FC236}">
                <a16:creationId xmlns:a16="http://schemas.microsoft.com/office/drawing/2014/main" id="{D044FA46-381F-4743-939E-33686F8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1-line-2">
            <a:extLst xmlns:a="http://schemas.openxmlformats.org/drawingml/2006/main">
              <a:ext uri="{FF2B5EF4-FFF2-40B4-BE49-F238E27FC236}">
                <a16:creationId xmlns:a16="http://schemas.microsoft.com/office/drawing/2014/main" id="{E55D8E3E-17E2-4041-AFDF-5EE3F44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number-0">
            <a:extLst xmlns:a="http://schemas.openxmlformats.org/drawingml/2006/main">
              <a:ext uri="{FF2B5EF4-FFF2-40B4-BE49-F238E27FC236}">
                <a16:creationId xmlns:a16="http://schemas.microsoft.com/office/drawing/2014/main" id="{98B46FD8-CC01-4CA0-AC26-9CC1D96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11-step-0">
            <a:extLst xmlns:a="http://schemas.openxmlformats.org/drawingml/2006/main">
              <a:ext uri="{FF2B5EF4-FFF2-40B4-BE49-F238E27FC236}">
                <a16:creationId xmlns:a16="http://schemas.microsoft.com/office/drawing/2014/main" id="{319E71F9-2032-44A0-B2B0-761EFDF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问题与检索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做了什么？哪些来源已回核？</a:t>
            </a:r>
          </a:p>
        </p:txBody>
      </p:sp>
      <p:sp>
        <p:nvSpPr>
          <p:cNvPr id="12" name="p11-number-1">
            <a:extLst xmlns:a="http://schemas.openxmlformats.org/drawingml/2006/main">
              <a:ext uri="{FF2B5EF4-FFF2-40B4-BE49-F238E27FC236}">
                <a16:creationId xmlns:a16="http://schemas.microsoft.com/office/drawing/2014/main" id="{9586C302-2AF0-4B6A-AB93-55506DE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11-step-1">
            <a:extLst xmlns:a="http://schemas.openxmlformats.org/drawingml/2006/main">
              <a:ext uri="{FF2B5EF4-FFF2-40B4-BE49-F238E27FC236}">
                <a16:creationId xmlns:a16="http://schemas.microsoft.com/office/drawing/2014/main" id="{2247FC0D-C9FA-4765-82B8-9565F6C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证据与判断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候选如何核验？冲突如何处理？</a:t>
            </a:r>
          </a:p>
        </p:txBody>
      </p:sp>
      <p:sp>
        <p:nvSpPr>
          <p:cNvPr id="14" name="p11-number-2">
            <a:extLst xmlns:a="http://schemas.openxmlformats.org/drawingml/2006/main">
              <a:ext uri="{FF2B5EF4-FFF2-40B4-BE49-F238E27FC236}">
                <a16:creationId xmlns:a16="http://schemas.microsoft.com/office/drawing/2014/main" id="{9D37D208-27CE-45A1-91B8-ACC0CB8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11-step-2">
            <a:extLst xmlns:a="http://schemas.openxmlformats.org/drawingml/2006/main">
              <a:ext uri="{FF2B5EF4-FFF2-40B4-BE49-F238E27FC236}">
                <a16:creationId xmlns:a16="http://schemas.microsoft.com/office/drawing/2014/main" id="{3405DBE5-16A4-4609-A1F3-6AF6BCCB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实验与工作流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模型、版本、日期、权限与失败</a:t>
            </a:r>
          </a:p>
        </p:txBody>
      </p:sp>
      <p:sp>
        <p:nvSpPr>
          <p:cNvPr id="16" name="p11-number-3">
            <a:extLst xmlns:a="http://schemas.openxmlformats.org/drawingml/2006/main">
              <a:ext uri="{FF2B5EF4-FFF2-40B4-BE49-F238E27FC236}">
                <a16:creationId xmlns:a16="http://schemas.microsoft.com/office/drawing/2014/main" id="{77DC03C2-C407-4CA0-BA64-209EDED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11-step-3">
            <a:extLst xmlns:a="http://schemas.openxmlformats.org/drawingml/2006/main">
              <a:ext uri="{FF2B5EF4-FFF2-40B4-BE49-F238E27FC236}">
                <a16:creationId xmlns:a16="http://schemas.microsoft.com/office/drawing/2014/main" id="{92B3EA96-9CE0-4E1F-BDCA-F9978F1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写作与评审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哪些文本由 AI 参与？谁做最终判断？</a:t>
            </a:r>
          </a:p>
        </p:txBody>
      </p:sp>
      <p:sp>
        <p:nvSpPr>
          <p:cNvPr id="18" name="p11-predictions-title">
            <a:extLst xmlns:a="http://schemas.openxmlformats.org/drawingml/2006/main">
              <a:ext uri="{FF2B5EF4-FFF2-40B4-BE49-F238E27FC236}">
                <a16:creationId xmlns:a16="http://schemas.microsoft.com/office/drawing/2014/main" id="{2990AA63-9679-4E91-ACC3-0F04018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伦理更新至少核对三类边界</a:t>
            </a:r>
          </a:p>
        </p:txBody>
      </p:sp>
      <p:sp>
        <p:nvSpPr>
          <p:cNvPr id="19" name="p11-pred-0">
            <a:extLst xmlns:a="http://schemas.openxmlformats.org/drawingml/2006/main">
              <a:ext uri="{FF2B5EF4-FFF2-40B4-BE49-F238E27FC236}">
                <a16:creationId xmlns:a16="http://schemas.microsoft.com/office/drawing/2014/main" id="{9FDC0C13-7BD6-4966-A2B8-C0ACA29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数据访问与许可</a:t>
            </a:r>
          </a:p>
        </p:txBody>
      </p:sp>
      <p:sp>
        <p:nvSpPr>
          <p:cNvPr id="20" name="p11-pred-1">
            <a:extLst xmlns:a="http://schemas.openxmlformats.org/drawingml/2006/main">
              <a:ext uri="{FF2B5EF4-FFF2-40B4-BE49-F238E27FC236}">
                <a16:creationId xmlns:a16="http://schemas.microsoft.com/office/drawing/2014/main" id="{4243CEC4-107B-4222-86E6-C209ED3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工具权限与外部服务</a:t>
            </a:r>
          </a:p>
        </p:txBody>
      </p:sp>
      <p:sp>
        <p:nvSpPr>
          <p:cNvPr id="21" name="p11-pred-2">
            <a:extLst xmlns:a="http://schemas.openxmlformats.org/drawingml/2006/main">
              <a:ext uri="{FF2B5EF4-FFF2-40B4-BE49-F238E27FC236}">
                <a16:creationId xmlns:a16="http://schemas.microsoft.com/office/drawing/2014/main" id="{9DA8377B-3566-4DCA-ABFE-FE8AE15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贡献说明与 AI 披露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论证门 + 期末项目：按十项条件检查当前版本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Checkpoint 4 十项门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短文结构完整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表图追溯证据/实验/运行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有效性威胁具体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同行评审处理有理由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结论绑定证据与判断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证据充分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工作流四项完整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⑧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伦理/许可/贡献/AI 披露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⑨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工件状态匹配门结果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⑩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分享/抽查/复盘完成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四维评分｜100%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文献与问题 25%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实验与可复现性 30%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原型与工作流 25%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表达/伦理/反思 20%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合计 100%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只认 assignments.md Checkpoint 4；本页不新增、弱化或替换条件。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贯穿案例：九步把分散工件收口为最终论证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ED3A3EFF-84D4-4DC0-8D55-BAD0B0A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虚构教学示例｜数值不构成实证结论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C57BA47A-ACFA-4184-AED4-34147F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151A909A-69BB-4AA1-8794-983088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7319D98F-588D-4A18-A5A8-BA2C10C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C8734721-3DFE-4F4B-A56B-AFEE4F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F93F61E0-12C9-44EA-BE34-13A50C2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1C0ED6A2-14A0-4CB9-8E0A-E0D576E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锁定关键结论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A9C28DA4-5D2C-4D30-8D17-5E5067B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43524D41-A529-40EC-AE65-C746706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绑定证据项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10CF8982-FC53-48CE-B187-6C803B2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FA9D1B24-A61A-4153-86A4-30EA86E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链接实验 ID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D26289AF-1D34-4983-B5C5-F6C05E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B823A243-966B-465C-9983-FBFB733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检查失败与冲突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C3BC4CB5-FA53-424B-968B-CA4D4B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C480F172-758F-4C09-80A6-F33239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写支持强度与边界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EE1AE540-4B82-4C41-9B50-16CC010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BA5EFC10-46B3-4673-81C9-B0140ED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案例动作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8C3FF18D-32FF-41C4-BA3D-DD4CD55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工件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D6325DF4-21F5-4750-9E6F-B9FE182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6 同行评审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CFA15B04-6109-467D-A318-DD83AD3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采纳 2 / 拒绝 1，记录理由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8A2F4CF6-0757-4AF3-945D-834CBD0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response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B08CF45E-DBD9-45BD-8326-9CB4508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7 工作流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DD49AE2F-DAE8-4995-B170-06D372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运行/权限/评价/失败齐全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B1CFBFD-4244-467B-A9B7-2EBB306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D8761422-4244-4129-A00F-03E385B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8–9 披露与复盘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0D8EA989-E4E7-4733-88FC-143C47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AI/伦理更新 + 八阶段反思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123E9A35-D698-4B14-B0ED-B888E61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37C45680-A848-4FFD-AB8A-86EBBB8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示例：0.18±0.03 vs 0.31±0.04；仅演示追溯与边界写法。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最终分享 + 教师抽查：陈述必须经得起回到工件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527D6F77-DD53-4250-9A20-D47FD44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25:00–45:00｜停留本页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60C1985F-AD02-4B81-96B5-403BC2E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073C8F07-5D6C-428A-B63C-220851B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6C0D6C51-A836-487B-9C04-1F5E64A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0450A5EB-907A-40A1-967B-FEA9C9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28A509D0-BAB8-4685-9B72-27509EA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F64FFAEB-F06E-413E-A107-F31224C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0E678AC3-8198-4E9D-9A4E-29274D4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 分钟回答五问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29F7F8AD-C6BC-4756-B83D-3A3F35A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90C77512-D4D5-4813-8A7C-B8F4D4D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打开一条关键结论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38C772B7-1744-428E-9A12-3BBC123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790AF569-E73D-4703-8341-F66FD67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追到证据 / 实验 ID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E4ADEA21-CAD3-4C70-8017-1879A1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0603EB65-21BE-4FC2-A070-D3483AE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说明失败、冲突与边界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477599E5-CCD3-4BF1-A6C7-1F17D99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CB9EFE96-9EF0-4ABF-9894-8B12E8B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教师抽查一项复现/引用/trace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222FD65F-CE9E-4D66-BEA1-5345D20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6550F1B2-B815-4226-9FEE-13D0560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记录通过、缺口与下一步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F348741C-2DA1-492C-9214-0D85B7D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抽查不是临场重做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05E5BF8C-5F0D-471F-A2BE-6DEB8C6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只需证明当前工件可定位、可复核、状态真实；若失败，记录缺口并回写项目。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FD85DFC3-B277-414E-844F-694D39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环境故障：展示离线运行记录、固定输入、日志或截图；不得口头补造证据。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个人补全：只修缺口，并回写同一项目版本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527D6F77-DD53-4250-9A20-D47FD44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45:00–65:00｜停留本页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60C1985F-AD02-4B81-96B5-403BC2E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073C8F07-5D6C-428A-B63C-220851B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6C0D6C51-A836-487B-9C04-1F5E64A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0450A5EB-907A-40A1-967B-FEA9C9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28A509D0-BAB8-4685-9B72-27509EA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F64FFAEB-F06E-413E-A107-F31224C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0E678AC3-8198-4E9D-9A4E-29274D4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report.md｜结论、表图、威胁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29F7F8AD-C6BC-4756-B83D-3A3F35A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90C77512-D4D5-4813-8A7C-B8F4D4D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evidence-map.md｜证据与支持强度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38C772B7-1744-428E-9A12-3BBC123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790AF569-E73D-4703-8341-F66FD67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experiments/｜运行、失败、抽查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E4ADEA21-CAD3-4C70-8017-1879A1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0603EB65-21BE-4FC2-A070-D3483AE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workflow/｜运行、权限、评价、失败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477599E5-CCD3-4BF1-A6C7-1F17D99B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CB9EFE96-9EF0-4ABF-9894-8B12E8B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peer-review/｜采纳/拒绝/理由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222FD65F-CE9E-4D66-BEA1-5345D20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6550F1B2-B815-4226-9FEE-13D0560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ethics + ai-log + reflection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F348741C-2DA1-492C-9214-0D85B7D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最低补全结果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05E5BF8C-5F0D-471F-A2BE-6DEB8C6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一条断链修复｜一条评审处理落实｜一项 AI/伦理更新｜工件状态表同步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FD85DFC3-B277-414E-844F-694D39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不另建汇报副本；提交链接、tag 或压缩包均指向当前个人项目版本。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八阶段复盘：AI 改善了哪些动作，哪些判断仍由人承担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09-var-title">
            <a:extLst xmlns:a="http://schemas.openxmlformats.org/drawingml/2006/main">
              <a:ext uri="{FF2B5EF4-FFF2-40B4-BE49-F238E27FC236}">
                <a16:creationId xmlns:a16="http://schemas.microsoft.com/office/drawing/2014/main" id="{4A4EB1B0-749B-4738-A3D1-9B0093C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课程八阶段</a:t>
            </a:r>
          </a:p>
        </p:txBody>
      </p:sp>
      <p:sp>
        <p:nvSpPr>
          <p:cNvPr id="7" name="p09-vars-h-0">
            <a:extLst xmlns:a="http://schemas.openxmlformats.org/drawingml/2006/main">
              <a:ext uri="{FF2B5EF4-FFF2-40B4-BE49-F238E27FC236}">
                <a16:creationId xmlns:a16="http://schemas.microsoft.com/office/drawing/2014/main" id="{1ED01082-F944-4A27-A32E-0C1D8A15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p09-vars-h-1">
            <a:extLst xmlns:a="http://schemas.openxmlformats.org/drawingml/2006/main">
              <a:ext uri="{FF2B5EF4-FFF2-40B4-BE49-F238E27FC236}">
                <a16:creationId xmlns:a16="http://schemas.microsoft.com/office/drawing/2014/main" id="{05C018E4-3CE3-402F-8C6E-8BA47FD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关键变化</a:t>
            </a:r>
          </a:p>
        </p:txBody>
      </p:sp>
      <p:sp>
        <p:nvSpPr>
          <p:cNvPr id="9" name="p09-vars-r0-0">
            <a:extLst xmlns:a="http://schemas.openxmlformats.org/drawingml/2006/main">
              <a:ext uri="{FF2B5EF4-FFF2-40B4-BE49-F238E27FC236}">
                <a16:creationId xmlns:a16="http://schemas.microsoft.com/office/drawing/2014/main" id="{E7A03DD1-DE3F-4D21-8598-12C4BF4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" name="p09-vars-r0-1">
            <a:extLst xmlns:a="http://schemas.openxmlformats.org/drawingml/2006/main">
              <a:ext uri="{FF2B5EF4-FFF2-40B4-BE49-F238E27FC236}">
                <a16:creationId xmlns:a16="http://schemas.microsoft.com/office/drawing/2014/main" id="{288A2EAF-FD75-4C67-A646-B3139FC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基线与文献证据</a:t>
            </a:r>
          </a:p>
        </p:txBody>
      </p:sp>
      <p:sp>
        <p:nvSpPr>
          <p:cNvPr id="11" name="p09-vars-r1-0">
            <a:extLst xmlns:a="http://schemas.openxmlformats.org/drawingml/2006/main">
              <a:ext uri="{FF2B5EF4-FFF2-40B4-BE49-F238E27FC236}">
                <a16:creationId xmlns:a16="http://schemas.microsoft.com/office/drawing/2014/main" id="{224376EF-91F4-4971-B327-8219E2F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3–4</a:t>
            </a:r>
          </a:p>
        </p:txBody>
      </p:sp>
      <p:sp>
        <p:nvSpPr>
          <p:cNvPr id="12" name="p09-vars-r1-1">
            <a:extLst xmlns:a="http://schemas.openxmlformats.org/drawingml/2006/main">
              <a:ext uri="{FF2B5EF4-FFF2-40B4-BE49-F238E27FC236}">
                <a16:creationId xmlns:a16="http://schemas.microsoft.com/office/drawing/2014/main" id="{51915736-A0AB-4F13-8F92-27AF06A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机制假设与判断门</a:t>
            </a:r>
          </a:p>
        </p:txBody>
      </p:sp>
      <p:sp>
        <p:nvSpPr>
          <p:cNvPr id="13" name="p09-vars-r2-0">
            <a:extLst xmlns:a="http://schemas.openxmlformats.org/drawingml/2006/main">
              <a:ext uri="{FF2B5EF4-FFF2-40B4-BE49-F238E27FC236}">
                <a16:creationId xmlns:a16="http://schemas.microsoft.com/office/drawing/2014/main" id="{03A7A6B0-33CA-45FD-B52F-74CBC57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5–6</a:t>
            </a:r>
          </a:p>
        </p:txBody>
      </p:sp>
      <p:sp>
        <p:nvSpPr>
          <p:cNvPr id="14" name="p09-vars-r2-1">
            <a:extLst xmlns:a="http://schemas.openxmlformats.org/drawingml/2006/main">
              <a:ext uri="{FF2B5EF4-FFF2-40B4-BE49-F238E27FC236}">
                <a16:creationId xmlns:a16="http://schemas.microsoft.com/office/drawing/2014/main" id="{64F620BA-1778-4FC5-AF71-B6D6F3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实验设计与受限执行</a:t>
            </a:r>
          </a:p>
        </p:txBody>
      </p:sp>
      <p:sp>
        <p:nvSpPr>
          <p:cNvPr id="15" name="p09-vars-r3-0">
            <a:extLst xmlns:a="http://schemas.openxmlformats.org/drawingml/2006/main">
              <a:ext uri="{FF2B5EF4-FFF2-40B4-BE49-F238E27FC236}">
                <a16:creationId xmlns:a16="http://schemas.microsoft.com/office/drawing/2014/main" id="{473B6B51-8CED-4B80-AF70-27384E7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7–8</a:t>
            </a:r>
          </a:p>
        </p:txBody>
      </p:sp>
      <p:sp>
        <p:nvSpPr>
          <p:cNvPr id="16" name="p09-vars-r3-1">
            <a:extLst xmlns:a="http://schemas.openxmlformats.org/drawingml/2006/main">
              <a:ext uri="{FF2B5EF4-FFF2-40B4-BE49-F238E27FC236}">
                <a16:creationId xmlns:a16="http://schemas.microsoft.com/office/drawing/2014/main" id="{82E5DCBD-F903-4109-9E22-139A9AA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719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工作流验证与论证收口</a:t>
            </a:r>
          </a:p>
        </p:txBody>
      </p:sp>
      <p:sp>
        <p:nvSpPr>
          <p:cNvPr id="17" name="p09-spec-title">
            <a:extLst xmlns:a="http://schemas.openxmlformats.org/drawingml/2006/main">
              <a:ext uri="{FF2B5EF4-FFF2-40B4-BE49-F238E27FC236}">
                <a16:creationId xmlns:a16="http://schemas.microsoft.com/office/drawing/2014/main" id="{64AE2602-784B-4FBA-B1B1-7F6D936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反思八问</a:t>
            </a:r>
          </a:p>
        </p:txBody>
      </p:sp>
      <p:sp>
        <p:nvSpPr>
          <p:cNvPr id="18" name="p09-n-0">
            <a:extLst xmlns:a="http://schemas.openxmlformats.org/drawingml/2006/main">
              <a:ext uri="{FF2B5EF4-FFF2-40B4-BE49-F238E27FC236}">
                <a16:creationId xmlns:a16="http://schemas.microsoft.com/office/drawing/2014/main" id="{DA010CC0-836C-45FF-8471-6C70EB5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09-s-0">
            <a:extLst xmlns:a="http://schemas.openxmlformats.org/drawingml/2006/main">
              <a:ext uri="{FF2B5EF4-FFF2-40B4-BE49-F238E27FC236}">
                <a16:creationId xmlns:a16="http://schemas.microsoft.com/office/drawing/2014/main" id="{3C6A8891-C036-4EB3-93A6-951AE77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最初基线</a:t>
            </a:r>
          </a:p>
        </p:txBody>
      </p:sp>
      <p:sp>
        <p:nvSpPr>
          <p:cNvPr id="20" name="p09-n-1">
            <a:extLst xmlns:a="http://schemas.openxmlformats.org/drawingml/2006/main">
              <a:ext uri="{FF2B5EF4-FFF2-40B4-BE49-F238E27FC236}">
                <a16:creationId xmlns:a16="http://schemas.microsoft.com/office/drawing/2014/main" id="{128B52A7-42A9-4FCF-A6F1-C47F04D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09-s-1">
            <a:extLst xmlns:a="http://schemas.openxmlformats.org/drawingml/2006/main">
              <a:ext uri="{FF2B5EF4-FFF2-40B4-BE49-F238E27FC236}">
                <a16:creationId xmlns:a16="http://schemas.microsoft.com/office/drawing/2014/main" id="{B6772FE8-923E-48BC-8C1A-D4EA2FD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问题如何变</a:t>
            </a:r>
          </a:p>
        </p:txBody>
      </p:sp>
      <p:sp>
        <p:nvSpPr>
          <p:cNvPr id="22" name="p09-n-2">
            <a:extLst xmlns:a="http://schemas.openxmlformats.org/drawingml/2006/main">
              <a:ext uri="{FF2B5EF4-FFF2-40B4-BE49-F238E27FC236}">
                <a16:creationId xmlns:a16="http://schemas.microsoft.com/office/drawing/2014/main" id="{51CCE020-D453-4108-9A1B-4A0EFC1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9-s-2">
            <a:extLst xmlns:a="http://schemas.openxmlformats.org/drawingml/2006/main">
              <a:ext uri="{FF2B5EF4-FFF2-40B4-BE49-F238E27FC236}">
                <a16:creationId xmlns:a16="http://schemas.microsoft.com/office/drawing/2014/main" id="{AD107FE3-98BD-416A-8D79-7368871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证据如何变</a:t>
            </a:r>
          </a:p>
        </p:txBody>
      </p:sp>
      <p:sp>
        <p:nvSpPr>
          <p:cNvPr id="24" name="p09-n-3">
            <a:extLst xmlns:a="http://schemas.openxmlformats.org/drawingml/2006/main">
              <a:ext uri="{FF2B5EF4-FFF2-40B4-BE49-F238E27FC236}">
                <a16:creationId xmlns:a16="http://schemas.microsoft.com/office/drawing/2014/main" id="{FCB4217E-4660-4C0E-9570-1D16460C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09-s-3">
            <a:extLst xmlns:a="http://schemas.openxmlformats.org/drawingml/2006/main">
              <a:ext uri="{FF2B5EF4-FFF2-40B4-BE49-F238E27FC236}">
                <a16:creationId xmlns:a16="http://schemas.microsoft.com/office/drawing/2014/main" id="{095055EB-245D-4A28-9837-19C5795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判断如何变</a:t>
            </a:r>
          </a:p>
        </p:txBody>
      </p:sp>
      <p:sp>
        <p:nvSpPr>
          <p:cNvPr id="26" name="p09-n-4">
            <a:extLst xmlns:a="http://schemas.openxmlformats.org/drawingml/2006/main">
              <a:ext uri="{FF2B5EF4-FFF2-40B4-BE49-F238E27FC236}">
                <a16:creationId xmlns:a16="http://schemas.microsoft.com/office/drawing/2014/main" id="{289F5A61-2E58-4F71-8DF9-2AC9ACA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09-s-4">
            <a:extLst xmlns:a="http://schemas.openxmlformats.org/drawingml/2006/main">
              <a:ext uri="{FF2B5EF4-FFF2-40B4-BE49-F238E27FC236}">
                <a16:creationId xmlns:a16="http://schemas.microsoft.com/office/drawing/2014/main" id="{5F2B8A75-0F87-467A-AE95-8BA5C94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实验如何变</a:t>
            </a:r>
          </a:p>
        </p:txBody>
      </p:sp>
      <p:sp>
        <p:nvSpPr>
          <p:cNvPr id="28" name="p09-n-5">
            <a:extLst xmlns:a="http://schemas.openxmlformats.org/drawingml/2006/main">
              <a:ext uri="{FF2B5EF4-FFF2-40B4-BE49-F238E27FC236}">
                <a16:creationId xmlns:a16="http://schemas.microsoft.com/office/drawing/2014/main" id="{27D50A14-2557-4EC4-BFFF-C108B07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p09-s-5">
            <a:extLst xmlns:a="http://schemas.openxmlformats.org/drawingml/2006/main">
              <a:ext uri="{FF2B5EF4-FFF2-40B4-BE49-F238E27FC236}">
                <a16:creationId xmlns:a16="http://schemas.microsoft.com/office/drawing/2014/main" id="{981D0504-2375-4980-807C-33A175E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工作流影响</a:t>
            </a:r>
          </a:p>
        </p:txBody>
      </p:sp>
      <p:sp>
        <p:nvSpPr>
          <p:cNvPr id="30" name="p09-n-6">
            <a:extLst xmlns:a="http://schemas.openxmlformats.org/drawingml/2006/main">
              <a:ext uri="{FF2B5EF4-FFF2-40B4-BE49-F238E27FC236}">
                <a16:creationId xmlns:a16="http://schemas.microsoft.com/office/drawing/2014/main" id="{8F3D0B35-20D9-42DA-9CC2-2299287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p09-s-6">
            <a:extLst xmlns:a="http://schemas.openxmlformats.org/drawingml/2006/main">
              <a:ext uri="{FF2B5EF4-FFF2-40B4-BE49-F238E27FC236}">
                <a16:creationId xmlns:a16="http://schemas.microsoft.com/office/drawing/2014/main" id="{F903A4CC-56E8-48AA-9CA4-4F4DA48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误导</a:t>
            </a:r>
          </a:p>
        </p:txBody>
      </p:sp>
      <p:sp>
        <p:nvSpPr>
          <p:cNvPr id="32" name="p09-n-7">
            <a:extLst xmlns:a="http://schemas.openxmlformats.org/drawingml/2006/main">
              <a:ext uri="{FF2B5EF4-FFF2-40B4-BE49-F238E27FC236}">
                <a16:creationId xmlns:a16="http://schemas.microsoft.com/office/drawing/2014/main" id="{BFAC206D-4734-4F59-9F21-AB5BF0D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p09-s-7">
            <a:extLst xmlns:a="http://schemas.openxmlformats.org/drawingml/2006/main">
              <a:ext uri="{FF2B5EF4-FFF2-40B4-BE49-F238E27FC236}">
                <a16:creationId xmlns:a16="http://schemas.microsoft.com/office/drawing/2014/main" id="{7DF0A642-FE1F-473E-940C-A4BD71B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4" name="p09-bottom">
            <a:extLst xmlns:a="http://schemas.openxmlformats.org/drawingml/2006/main">
              <a:ext uri="{FF2B5EF4-FFF2-40B4-BE49-F238E27FC236}">
                <a16:creationId xmlns:a16="http://schemas.microsoft.com/office/drawing/2014/main" id="{96FFFC96-BD11-4AD7-981B-7BDABAE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复盘研究行动的变化，不写工具使用流水账。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同伴按同一十项门检查，不替作者选择性删改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同行十项互查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短文完整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表图可追溯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威胁具体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评审处理有理由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结论有直接依据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充分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工作流四项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⑧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伦理与 AI 完整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⑨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工件状态一致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⑩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分享/抽查/复盘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作者处理记录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采纳：改了哪里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拒绝：为何不改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待核验：缺什么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trace：工件位置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status：门状态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同伴提问题；作者负责决定、记录理由并承担研究责任。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可加速研究动作，但九类判断不能自动外包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EE4C7D34-B53E-44E5-9C18-87AFFF4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仍由研究者负责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815022BE-CD77-49F0-8F8A-9A71984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E68E2E25-B499-4768-AAC2-AE89226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研究问题是否重要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36CF7543-81E6-4594-95E5-42781D4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00E01453-4F0A-4CA8-A0A8-E3BBC3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来源是否可信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129B5344-CC12-4945-A5AF-D842833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E98E59BD-4560-4AFF-AF3E-3CAFC87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证据支持到哪里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B0A3997F-84CB-40B8-A2EC-F631A62E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1F6A043D-A8AE-4752-86B3-BAC7BD4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冲突如何取舍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9E5DBEA8-798C-4526-94F9-9A4F070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151BA0B4-FEE8-44EE-9F74-7156E54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实验是否公平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C61256D1-2788-4035-B1FE-2F29695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255FAFB0-BB24-41C3-BF55-3A6930F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失败是否应保留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AD019980-8AFC-46EC-9354-D56606D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9E22E102-87E5-478A-B39B-35D3C0EA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结论是否越界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E5FBB88C-F771-4FA9-97EF-DC51A99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⑧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A4E4223C-924D-49A9-A993-6E7D3C1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伦理是否可接受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575E9852-B4C2-4309-8394-D02D943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⑨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1208096-F7E3-47B1-8146-77992AC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何时停止与发布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AEF743C4-2D61-4E8B-B551-4B55F43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08508FCF-FFCD-4A35-88B6-5E044F2E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责任不能转移给模型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FC411C60-7AA1-4222-AC96-6C471DC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07F68B3E-4D24-4B98-8AC7-98E59B3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可以帮助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521BF812-6EBE-4AF2-B74E-A3DB303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060EB3D3-F55B-4087-89C8-2F919B4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生成候选与检索线索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4A176C52-EAAD-4BCC-B864-30F05BE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FC67B32A-CE35-4B19-8B2E-8A8D39C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结构化与重复执行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1386AD79-9776-4CFE-AABB-8D8BB12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ACE417E-7F8D-4FFA-9B73-2768D50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对比、审计与提醒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4DC6410A-C799-4406-852C-E3EC1B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3E1A1370-B524-4B75-9998-8B60C65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表达、格式与压缩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7B24AA40-CC08-481E-BD00-B2ACC1C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人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A4336E8C-2997-4CD8-BC44-14FB61B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核验、取舍、担责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449E0D47-6D62-43FB-B9E8-38061C1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记录 AI 参与和核验；效率提升不改变证据标准。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提交当前项目版本；未通过只修复缺失条件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ED3A3EFF-84D4-4DC0-8D55-BAD0B0A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正式提交节点｜论证门 + 期末项目合并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C57BA47A-ACFA-4184-AED4-34147F4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151A909A-69BB-4AA1-8794-9830883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7319D98F-588D-4A18-A5A8-BA2C10C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C8734721-3DFE-4F4B-A56B-AFEE4F9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F93F61E0-12C9-44EA-BE34-13A50C2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1C0ED6A2-14A0-4CB9-8E0A-E0D576E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链接 / tag / 压缩包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A9C28DA4-5D2C-4D30-8D17-5E5067B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43524D41-A529-40EC-AE65-C746706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工件状态与门结果一致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10CF8982-FC53-48CE-B187-6C803B2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FA9D1B24-A61A-4153-86A4-30EA86E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教师抽查一项 trace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D26289AF-1D34-4983-B5C5-F6C05E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B823A243-966B-465C-9983-FBFB733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缺项回写原工件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C3BC4CB5-FA53-424B-968B-CA4D4BA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C480F172-758F-4C09-80A6-F332392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完成后重新检查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EE1AE540-4B82-4C41-9B50-16CC010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情形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BA5EFC10-46B3-4673-81C9-B0140ED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8C3FF18D-32FF-41C4-BA3D-DD4CD55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D6325DF4-21F5-4750-9E6F-B9FE182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缺证据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CFA15B04-6109-467D-A318-DD83AD3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补直接依据或降级结论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8A2F4CF6-0757-4AF3-945D-834CBD0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待重检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B08CF45E-DBD9-45BD-8326-9CB4508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删失败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DD49AE2F-DAE8-4995-B170-06D372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恢复记录并说明原因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B1CFBFD-4244-467B-A9B7-2EBB306F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必须修复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D8761422-4244-4129-A00F-03E385B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伦理缺项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0D8EA989-E4E7-4733-88FC-143C47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补许可/贡献/AI 披露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123E9A35-D698-4B14-B0ED-B888E61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待重检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37C45680-A848-4FFD-AB8A-86EBBB8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不重复制作与项目仓库分离的汇报文档；抽查结果进入最终状态记录。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退出卡：把第 1 课的问题交回给现在的你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16-exit-title">
            <a:extLst xmlns:a="http://schemas.openxmlformats.org/drawingml/2006/main">
              <a:ext uri="{FF2B5EF4-FFF2-40B4-BE49-F238E27FC236}">
                <a16:creationId xmlns:a16="http://schemas.microsoft.com/office/drawing/2014/main" id="{E1B0F3B8-70CE-4889-AA60-AAD3005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最终五问</a:t>
            </a:r>
          </a:p>
        </p:txBody>
      </p:sp>
      <p:sp>
        <p:nvSpPr>
          <p:cNvPr id="7" name="p16-n-0">
            <a:extLst xmlns:a="http://schemas.openxmlformats.org/drawingml/2006/main">
              <a:ext uri="{FF2B5EF4-FFF2-40B4-BE49-F238E27FC236}">
                <a16:creationId xmlns:a16="http://schemas.microsoft.com/office/drawing/2014/main" id="{F52F852F-0FE8-480E-B802-08CC6EE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6-q-0">
            <a:extLst xmlns:a="http://schemas.openxmlformats.org/drawingml/2006/main">
              <a:ext uri="{FF2B5EF4-FFF2-40B4-BE49-F238E27FC236}">
                <a16:creationId xmlns:a16="http://schemas.microsoft.com/office/drawing/2014/main" id="{03E1C003-D697-4334-BCFC-00FBFD8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1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你的研究问题和关键判断是什么？</a:t>
            </a:r>
          </a:p>
        </p:txBody>
      </p:sp>
      <p:sp>
        <p:nvSpPr>
          <p:cNvPr id="9" name="p16-n-1">
            <a:extLst xmlns:a="http://schemas.openxmlformats.org/drawingml/2006/main">
              <a:ext uri="{FF2B5EF4-FFF2-40B4-BE49-F238E27FC236}">
                <a16:creationId xmlns:a16="http://schemas.microsoft.com/office/drawing/2014/main" id="{D3D5E220-48CA-4F4A-B29D-AE78E18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6-q-1">
            <a:extLst xmlns:a="http://schemas.openxmlformats.org/drawingml/2006/main">
              <a:ext uri="{FF2B5EF4-FFF2-40B4-BE49-F238E27FC236}">
                <a16:creationId xmlns:a16="http://schemas.microsoft.com/office/drawing/2014/main" id="{DF2C9FE0-2AAB-4D56-B656-4631AB3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什么证据支持、反驳或仍不能判断？</a:t>
            </a:r>
          </a:p>
        </p:txBody>
      </p:sp>
      <p:sp>
        <p:nvSpPr>
          <p:cNvPr id="11" name="p16-n-2">
            <a:extLst xmlns:a="http://schemas.openxmlformats.org/drawingml/2006/main">
              <a:ext uri="{FF2B5EF4-FFF2-40B4-BE49-F238E27FC236}">
                <a16:creationId xmlns:a16="http://schemas.microsoft.com/office/drawing/2014/main" id="{1F933B00-50A2-49A6-9621-B48634E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6-q-2">
            <a:extLst xmlns:a="http://schemas.openxmlformats.org/drawingml/2006/main">
              <a:ext uri="{FF2B5EF4-FFF2-40B4-BE49-F238E27FC236}">
                <a16:creationId xmlns:a16="http://schemas.microsoft.com/office/drawing/2014/main" id="{93694E98-4837-4B7E-9E68-B9CF5D0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工作流改善了哪个动作，如何评价？</a:t>
            </a:r>
          </a:p>
        </p:txBody>
      </p:sp>
      <p:sp>
        <p:nvSpPr>
          <p:cNvPr id="13" name="p16-n-3">
            <a:extLst xmlns:a="http://schemas.openxmlformats.org/drawingml/2006/main">
              <a:ext uri="{FF2B5EF4-FFF2-40B4-BE49-F238E27FC236}">
                <a16:creationId xmlns:a16="http://schemas.microsoft.com/office/drawing/2014/main" id="{74A6FE59-FCF3-4D28-8A0E-C186DFF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6-q-3">
            <a:extLst xmlns:a="http://schemas.openxmlformats.org/drawingml/2006/main">
              <a:ext uri="{FF2B5EF4-FFF2-40B4-BE49-F238E27FC236}">
                <a16:creationId xmlns:a16="http://schemas.microsoft.com/office/drawing/2014/main" id="{ED5B5130-7694-4EA1-97D1-8FC1CCB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何时有效、何时误导、如何核验？</a:t>
            </a:r>
          </a:p>
        </p:txBody>
      </p:sp>
      <p:sp>
        <p:nvSpPr>
          <p:cNvPr id="15" name="p16-n-4">
            <a:extLst xmlns:a="http://schemas.openxmlformats.org/drawingml/2006/main">
              <a:ext uri="{FF2B5EF4-FFF2-40B4-BE49-F238E27FC236}">
                <a16:creationId xmlns:a16="http://schemas.microsoft.com/office/drawing/2014/main" id="{EFECC883-CE44-4712-906F-37E5A81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6-q-4">
            <a:extLst xmlns:a="http://schemas.openxmlformats.org/drawingml/2006/main">
              <a:ext uri="{FF2B5EF4-FFF2-40B4-BE49-F238E27FC236}">
                <a16:creationId xmlns:a16="http://schemas.microsoft.com/office/drawing/2014/main" id="{C52CE204-CE3C-47A4-9A62-2CF9E7C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结论边界与下一步是什么？</a:t>
            </a:r>
          </a:p>
        </p:txBody>
      </p:sp>
      <p:sp>
        <p:nvSpPr>
          <p:cNvPr id="17" name="p16-next-title">
            <a:extLst xmlns:a="http://schemas.openxmlformats.org/drawingml/2006/main">
              <a:ext uri="{FF2B5EF4-FFF2-40B4-BE49-F238E27FC236}">
                <a16:creationId xmlns:a16="http://schemas.microsoft.com/office/drawing/2014/main" id="{623D9715-1C91-48DD-8204-2DC1EA8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课程收口</a:t>
            </a:r>
          </a:p>
        </p:txBody>
      </p:sp>
      <p:sp>
        <p:nvSpPr>
          <p:cNvPr id="18" name="p16-line-1">
            <a:extLst xmlns:a="http://schemas.openxmlformats.org/drawingml/2006/main">
              <a:ext uri="{FF2B5EF4-FFF2-40B4-BE49-F238E27FC236}">
                <a16:creationId xmlns:a16="http://schemas.microsoft.com/office/drawing/2014/main" id="{44AC3A78-AD3E-49A2-BD93-2EC1E9A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26193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6-line-2">
            <a:extLst xmlns:a="http://schemas.openxmlformats.org/drawingml/2006/main">
              <a:ext uri="{FF2B5EF4-FFF2-40B4-BE49-F238E27FC236}">
                <a16:creationId xmlns:a16="http://schemas.microsoft.com/office/drawing/2014/main" id="{EABD11F4-46D1-49C5-9182-6010392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39909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6-now">
            <a:extLst xmlns:a="http://schemas.openxmlformats.org/drawingml/2006/main">
              <a:ext uri="{FF2B5EF4-FFF2-40B4-BE49-F238E27FC236}">
                <a16:creationId xmlns:a16="http://schemas.microsoft.com/office/drawing/2014/main" id="{ADC4F276-98BF-4155-8142-0DBC97F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240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现在｜提交当前项目版本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论证门 + 期末项目</a:t>
            </a:r>
          </a:p>
        </p:txBody>
      </p:sp>
      <p:sp>
        <p:nvSpPr>
          <p:cNvPr id="21" name="p16-week8">
            <a:extLst xmlns:a="http://schemas.openxmlformats.org/drawingml/2006/main">
              <a:ext uri="{FF2B5EF4-FFF2-40B4-BE49-F238E27FC236}">
                <a16:creationId xmlns:a16="http://schemas.microsoft.com/office/drawing/2014/main" id="{6F07E4BD-2272-4F52-8299-020EF30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回看第 1 课｜AI 改善动作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责任仍由人承担</a:t>
            </a:r>
          </a:p>
        </p:txBody>
      </p:sp>
      <p:sp>
        <p:nvSpPr>
          <p:cNvPr id="22" name="p16-week9">
            <a:extLst xmlns:a="http://schemas.openxmlformats.org/drawingml/2006/main">
              <a:ext uri="{FF2B5EF4-FFF2-40B4-BE49-F238E27FC236}">
                <a16:creationId xmlns:a16="http://schemas.microsoft.com/office/drawing/2014/main" id="{6C0C4F82-19ED-4CF1-B1FB-AE85BD2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下一步｜保留 trace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继续验证与公开复核</a:t>
            </a:r>
          </a:p>
        </p:txBody>
      </p:sp>
      <p:sp>
        <p:nvSpPr>
          <p:cNvPr id="23" name="p16-bottom">
            <a:extLst xmlns:a="http://schemas.openxmlformats.org/drawingml/2006/main">
              <a:ext uri="{FF2B5EF4-FFF2-40B4-BE49-F238E27FC236}">
                <a16:creationId xmlns:a16="http://schemas.microsoft.com/office/drawing/2014/main" id="{2BBB237B-CE52-4E43-8D61-9243520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研究不因课程结束而停止；可追溯的判断，才是可继续的研究。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2026-08-07T11:36:57.8360000Z</dcterms:created>
  <dcterms:modified xsi:type="dcterms:W3CDTF">2026-08-07T11:36:57.8360000Z</dcterms:modified>
</coreProperties>
</file>