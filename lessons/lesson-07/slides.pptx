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897e4a07904723" /><Relationship Type="http://schemas.openxmlformats.org/officeDocument/2006/relationships/extended-properties" Target="/docProps/app.xml" Id="R399c57838391408e" /><Relationship Type="http://schemas.openxmlformats.org/officeDocument/2006/relationships/officeDocument" Target="/ppt/presentation.xml" Id="Rf2f3bc1146654b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3eeeed34af4269"/>
  </p:sldMasterIdLst>
  <p:notesMasterIdLst>
    <p:notesMasterId xmlns:r="http://schemas.openxmlformats.org/officeDocument/2006/relationships" r:id="R8b02b2b1e63e422c"/>
  </p:notesMasterIdLst>
  <p:sldIdLst>
    <p:sldId xmlns:r="http://schemas.openxmlformats.org/officeDocument/2006/relationships" id="256" r:id="R2a8f54e291c74375"/>
    <p:sldId xmlns:r="http://schemas.openxmlformats.org/officeDocument/2006/relationships" id="257" r:id="R251dd0dba95a4e67"/>
    <p:sldId xmlns:r="http://schemas.openxmlformats.org/officeDocument/2006/relationships" id="258" r:id="R742f7171c5534b12"/>
    <p:sldId xmlns:r="http://schemas.openxmlformats.org/officeDocument/2006/relationships" id="259" r:id="R54fefe5ded7e4930"/>
    <p:sldId xmlns:r="http://schemas.openxmlformats.org/officeDocument/2006/relationships" id="260" r:id="Rf31f739cd9af4c38"/>
    <p:sldId xmlns:r="http://schemas.openxmlformats.org/officeDocument/2006/relationships" id="261" r:id="R64676a9f03cc4f92"/>
    <p:sldId xmlns:r="http://schemas.openxmlformats.org/officeDocument/2006/relationships" id="262" r:id="R5f178eb95c3744fa"/>
    <p:sldId xmlns:r="http://schemas.openxmlformats.org/officeDocument/2006/relationships" id="263" r:id="Re171506ec8ba4bd9"/>
    <p:sldId xmlns:r="http://schemas.openxmlformats.org/officeDocument/2006/relationships" id="264" r:id="R1172a784841948b7"/>
    <p:sldId xmlns:r="http://schemas.openxmlformats.org/officeDocument/2006/relationships" id="265" r:id="R801443cbaf474fc5"/>
    <p:sldId xmlns:r="http://schemas.openxmlformats.org/officeDocument/2006/relationships" id="266" r:id="R58fa5db92c224b44"/>
    <p:sldId xmlns:r="http://schemas.openxmlformats.org/officeDocument/2006/relationships" id="267" r:id="Reb9e8b52f4d14169"/>
    <p:sldId xmlns:r="http://schemas.openxmlformats.org/officeDocument/2006/relationships" id="268" r:id="R946f4bba354e487d"/>
    <p:sldId xmlns:r="http://schemas.openxmlformats.org/officeDocument/2006/relationships" id="269" r:id="R46a0fde712ee4c38"/>
    <p:sldId xmlns:r="http://schemas.openxmlformats.org/officeDocument/2006/relationships" id="270" r:id="Rb98a72eeaf204017"/>
    <p:sldId xmlns:r="http://schemas.openxmlformats.org/officeDocument/2006/relationships" id="271" r:id="Rce46e4d0a61b47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9be0ba0fef44f0" /><Relationship Type="http://schemas.openxmlformats.org/officeDocument/2006/relationships/slideMaster" Target="/ppt/slideMasters/slideMaster1.xml" Id="R6d3eeeed34af4269" /><Relationship Type="http://schemas.openxmlformats.org/officeDocument/2006/relationships/notesMaster" Target="/ppt/notesMasters/notesMaster1.xml" Id="R8b02b2b1e63e422c" /><Relationship Type="http://schemas.openxmlformats.org/officeDocument/2006/relationships/presProps" Target="/ppt/presProps.xml" Id="R878f1d5d7247478d" /><Relationship Type="http://schemas.openxmlformats.org/officeDocument/2006/relationships/viewProps" Target="/ppt/viewProps.xml" Id="Rcca223c4e3aa40f5" /><Relationship Type="http://schemas.openxmlformats.org/officeDocument/2006/relationships/tableStyles" Target="/ppt/tableStyles.xml" Id="R0159c0baae3b482b" /><Relationship Type="http://schemas.openxmlformats.org/officeDocument/2006/relationships/slide" Target="/ppt/slides/slide1.xml" Id="R2a8f54e291c74375" /><Relationship Type="http://schemas.openxmlformats.org/officeDocument/2006/relationships/slide" Target="/ppt/slides/slide2.xml" Id="R251dd0dba95a4e67" /><Relationship Type="http://schemas.openxmlformats.org/officeDocument/2006/relationships/slide" Target="/ppt/slides/slide3.xml" Id="R742f7171c5534b12" /><Relationship Type="http://schemas.openxmlformats.org/officeDocument/2006/relationships/slide" Target="/ppt/slides/slide4.xml" Id="R54fefe5ded7e4930" /><Relationship Type="http://schemas.openxmlformats.org/officeDocument/2006/relationships/slide" Target="/ppt/slides/slide5.xml" Id="Rf31f739cd9af4c38" /><Relationship Type="http://schemas.openxmlformats.org/officeDocument/2006/relationships/slide" Target="/ppt/slides/slide6.xml" Id="R64676a9f03cc4f92" /><Relationship Type="http://schemas.openxmlformats.org/officeDocument/2006/relationships/slide" Target="/ppt/slides/slide7.xml" Id="R5f178eb95c3744fa" /><Relationship Type="http://schemas.openxmlformats.org/officeDocument/2006/relationships/slide" Target="/ppt/slides/slide8.xml" Id="Re171506ec8ba4bd9" /><Relationship Type="http://schemas.openxmlformats.org/officeDocument/2006/relationships/slide" Target="/ppt/slides/slide9.xml" Id="R1172a784841948b7" /><Relationship Type="http://schemas.openxmlformats.org/officeDocument/2006/relationships/slide" Target="/ppt/slides/slide10.xml" Id="R801443cbaf474fc5" /><Relationship Type="http://schemas.openxmlformats.org/officeDocument/2006/relationships/slide" Target="/ppt/slides/slide11.xml" Id="R58fa5db92c224b44" /><Relationship Type="http://schemas.openxmlformats.org/officeDocument/2006/relationships/slide" Target="/ppt/slides/slide12.xml" Id="Reb9e8b52f4d14169" /><Relationship Type="http://schemas.openxmlformats.org/officeDocument/2006/relationships/slide" Target="/ppt/slides/slide13.xml" Id="R946f4bba354e487d" /><Relationship Type="http://schemas.openxmlformats.org/officeDocument/2006/relationships/slide" Target="/ppt/slides/slide14.xml" Id="R46a0fde712ee4c38" /><Relationship Type="http://schemas.openxmlformats.org/officeDocument/2006/relationships/slide" Target="/ppt/slides/slide15.xml" Id="Rb98a72eeaf204017" /><Relationship Type="http://schemas.openxmlformats.org/officeDocument/2006/relationships/slide" Target="/ppt/slides/slide16.xml" Id="Rce46e4d0a61b47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bec47a17324c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4d3c58402c4ac4" /><Relationship Type="http://schemas.openxmlformats.org/officeDocument/2006/relationships/notesMaster" Target="/ppt/notesMasters/notesMaster1.xml" Id="R351d8a72686641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34a84fc7744a5e" /><Relationship Type="http://schemas.openxmlformats.org/officeDocument/2006/relationships/notesMaster" Target="/ppt/notesMasters/notesMaster1.xml" Id="Rf02589302a2945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4064e76f3a4cd2" /><Relationship Type="http://schemas.openxmlformats.org/officeDocument/2006/relationships/notesMaster" Target="/ppt/notesMasters/notesMaster1.xml" Id="R7a52ac991f5546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7d31e138d3486e" /><Relationship Type="http://schemas.openxmlformats.org/officeDocument/2006/relationships/notesMaster" Target="/ppt/notesMasters/notesMaster1.xml" Id="R7152f9d769c54f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8772b5beda40f0" /><Relationship Type="http://schemas.openxmlformats.org/officeDocument/2006/relationships/notesMaster" Target="/ppt/notesMasters/notesMaster1.xml" Id="Rdd647796ce334a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72ef7369f7423d" /><Relationship Type="http://schemas.openxmlformats.org/officeDocument/2006/relationships/notesMaster" Target="/ppt/notesMasters/notesMaster1.xml" Id="Re458602398b44c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c4adb4ba174ff2" /><Relationship Type="http://schemas.openxmlformats.org/officeDocument/2006/relationships/notesMaster" Target="/ppt/notesMasters/notesMaster1.xml" Id="R6e534d04bcdf4b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a32f3ba1c14247" /><Relationship Type="http://schemas.openxmlformats.org/officeDocument/2006/relationships/notesMaster" Target="/ppt/notesMasters/notesMaster1.xml" Id="Ree4300fd27be48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2f3a725c0b42f8" /><Relationship Type="http://schemas.openxmlformats.org/officeDocument/2006/relationships/notesMaster" Target="/ppt/notesMasters/notesMaster1.xml" Id="R609e412d622442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680da2f38d40b1" /><Relationship Type="http://schemas.openxmlformats.org/officeDocument/2006/relationships/notesMaster" Target="/ppt/notesMasters/notesMaster1.xml" Id="R5a25c62dd4104b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6fe8d32cff4613" /><Relationship Type="http://schemas.openxmlformats.org/officeDocument/2006/relationships/notesMaster" Target="/ppt/notesMasters/notesMaster1.xml" Id="R35822f3a493c40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0c124dcc504330" /><Relationship Type="http://schemas.openxmlformats.org/officeDocument/2006/relationships/notesMaster" Target="/ppt/notesMasters/notesMaster1.xml" Id="Rb5ff5c7459cc45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ca787fe535416b" /><Relationship Type="http://schemas.openxmlformats.org/officeDocument/2006/relationships/notesMaster" Target="/ppt/notesMasters/notesMaster1.xml" Id="R3d40f1da7f5f4a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ebd8a8f6394204" /><Relationship Type="http://schemas.openxmlformats.org/officeDocument/2006/relationships/notesMaster" Target="/ppt/notesMasters/notesMaster1.xml" Id="R88a4790001c64d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05f5fae10a34f0a" /><Relationship Type="http://schemas.openxmlformats.org/officeDocument/2006/relationships/notesMaster" Target="/ppt/notesMasters/notesMaster1.xml" Id="R55ae2fa9df8e424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27fc1323044f6a" /><Relationship Type="http://schemas.openxmlformats.org/officeDocument/2006/relationships/notesMaster" Target="/ppt/notesMasters/notesMaster1.xml" Id="Ra2e550fc917f47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问题门确认问题值得问、问得清、做得完，但没有证明机制成立。本课把问题门输出转成可区分、可停止的实验规格，并当场记录研究判断。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/Users/bright/Projects/courses/graduate/course/syllabus.md</a:t>
            </a:r>
          </a:p>
          <a:p xmlns:a="http://schemas.openxmlformats.org/drawingml/2006/main">
            <a:r>
              <a:t>- /Users/bright/Projects/courses/graduate/lessons/备课规划.md</a:t>
            </a:r>
          </a:p>
          <a:p xmlns:a="http://schemas.openxmlformats.org/drawingml/2006/main">
            <a:r>
              <a:t>- /Users/bright/Projects/courses/graduate/lessons/lesson-07/slides.md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快问学生自己的可证伪命题背后隐含了什么机制，只听回答，不展开评价。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/Users/bright/Projects/courses/graduate/lessons/lesson-06/handout.md</a:t>
            </a:r>
          </a:p>
          <a:p xmlns:a="http://schemas.openxmlformats.org/drawingml/2006/main">
            <a:r>
              <a:t>- /Users/bright/Projects/courses/graduate/lessons/lesson-07/handout.md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明确课堂最低闭环与课间补全边界：今天先跑通一主一替代，第 8 课分享前再补第二个替代。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/Users/bright/Projects/courses/graduate/lessons/lesson-07/teaching-plan.md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请学生判断自己此前写的假设更接近结果预测还是机制假设，并用自己的命题填四要素。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/Users/bright/Projects/courses/graduate/lessons/lesson-07/handout.md</a:t>
            </a:r>
          </a:p>
          <a:p xmlns:a="http://schemas.openxmlformats.org/drawingml/2006/main">
            <a:r>
              <a:t>- /Users/bright/Projects/courses/graduate/lessons/lesson-01/handout.md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引用 Platt 的强推理：竞争解释必须导向不同的可观察结果。让学生先写一个替代假设，再写什么结果支持它。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Platt, J. R. (1964). Strong Inference. Science 146(3642):347-353. DOI: 10.1126/science.146.3642.347</a:t>
            </a:r>
          </a:p>
          <a:p xmlns:a="http://schemas.openxmlformats.org/drawingml/2006/main">
            <a:r>
              <a:t>- /Users/bright/Projects/courses/graduate/course/reading-list.md</a:t>
            </a:r>
          </a:p>
          <a:p xmlns:a="http://schemas.openxmlformats.org/drawingml/2006/main">
            <a:r>
              <a:t>- /Users/bright/Projects/courses/graduate/lessons/lesson-07/handout.md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让学生指出自己第 6 课材料中的事实、假设与判断，并选择一个最需要当场记录的取舍。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/Users/bright/Projects/courses/graduate/lessons/lesson-07/handout.md</a:t>
            </a:r>
          </a:p>
          <a:p xmlns:a="http://schemas.openxmlformats.org/drawingml/2006/main">
            <a:r>
              <a:t>- /Users/bright/Projects/courses/graduate/lessons/lesson-05/handout.md</a:t>
            </a:r>
          </a:p>
          <a:p xmlns:a="http://schemas.openxmlformats.org/drawingml/2006/main">
            <a:r>
              <a:t>- /Users/bright/Projects/courses/graduate/lessons/lesson-01/handout.md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比较的目的不是宣布哪个方案永远更好，而是明确当前取舍如何依赖区分力、公平性和可执行性。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/Users/bright/Projects/courses/graduate/lessons/lesson-07/handout.md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逐行问：哪个结果支持当前行，哪个结果支持另一行。第 8 课同伴会追问实验能否改变判断。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Platt, J. R. (1964). Strong Inference. Science 146(3642):347-353.</a:t>
            </a:r>
          </a:p>
          <a:p xmlns:a="http://schemas.openxmlformats.org/drawingml/2006/main">
            <a:r>
              <a:t>- /Users/bright/Projects/courses/graduate/lessons/lesson-07/handout.md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让学生列自己的控制变量并写停止条件。强调没有预先停止规则，就可能跑到出现显著结果为止。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Box, G. E. P., Hunter, J. S., &amp; Hunter, W. G. (2005). Statistics for Experimenters, 2nd ed., Chapter 1 and Section 3.4.</a:t>
            </a:r>
          </a:p>
          <a:p xmlns:a="http://schemas.openxmlformats.org/drawingml/2006/main">
            <a:r>
              <a:t>- NIST/SEMATECH e-Handbook of Statistical Methods: Experimental Design.</a:t>
            </a:r>
          </a:p>
          <a:p xmlns:a="http://schemas.openxmlformats.org/drawingml/2006/main">
            <a:r>
              <a:t>- /Users/bright/Projects/courses/graduate/course/reading-list.md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可以生成候选，但最终机制判断由学生负责。要求每人至少淘汰一个候选并记录理由。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- /Users/bright/Projects/courses/graduate/lessons/lesson-07/handout.md</a:t>
            </a:r>
          </a:p>
          <a:p xmlns:a="http://schemas.openxmlformats.org/drawingml/2006/main">
            <a:r>
              <a:t>- /Users/bright/Projects/courses/graduate/lessons/lesson-03/handout.md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演示前四步。案例为课程虚构样例，只演示推理工件，不声称阅读卡已经造成任何真实效应。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/Users/bright/Projects/courses/graduate/lessons/lesson-07/handout.md</a:t>
            </a:r>
          </a:p>
          <a:p xmlns:a="http://schemas.openxmlformats.org/drawingml/2006/main">
            <a:r>
              <a:t>- Platt, J. R. (1964). Strong Inference.</a:t>
            </a:r>
          </a:p>
          <a:p xmlns:a="http://schemas.openxmlformats.org/drawingml/2006/main">
            <a:r>
              <a:t>- Teaching artifact; fictional example, not empirical evidence.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演示后五步。Omission Rate Paradox 与 Smith 2023 明确是故意设置的不存在文献，用于练习来源核验。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/Users/bright/Projects/courses/graduate/lessons/lesson-07/handout.md</a:t>
            </a:r>
          </a:p>
          <a:p xmlns:a="http://schemas.openxmlformats.org/drawingml/2006/main">
            <a:r>
              <a:t>- /Users/bright/Projects/courses/graduate/AGENTS.md</a:t>
            </a:r>
          </a:p>
          <a:p xmlns:a="http://schemas.openxmlformats.org/drawingml/2006/main">
            <a:r>
              <a:t>- Teaching artifact; the cited fake paper is intentionally nonexistent.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用本页收束演示，不逐条扩讲十个错误；请学生抓住共同根因：实验结果必须能够改变研究判断。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/Users/bright/Projects/courses/graduate/lessons/lesson-07/handout.md</a:t>
            </a:r>
          </a:p>
          <a:p xmlns:a="http://schemas.openxmlformats.org/drawingml/2006/main">
            <a:r>
              <a:t>- /Users/bright/Projects/courses/graduate/lessons/lesson-07/teaching-plan.md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48-50 分钟说明任务，50 分钟后停留本页。巡视只处理共同卡点；网络失败时切换预录样例，不逐台排障。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/Users/bright/Projects/courses/graduate/lessons/lesson-07/teaching-plan.md</a:t>
            </a:r>
          </a:p>
          <a:p xmlns:a="http://schemas.openxmlformats.org/drawingml/2006/main">
            <a:r>
              <a:t>- /Users/bright/Projects/courses/graduate/course/starter-template.md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本页严格对齐 assignments.md 的五个权威反馈维度。同伴只提问题，作者记录采纳、拒绝或暂缓及理由。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/Users/bright/Projects/courses/graduate/lessons/lesson-07/teaching-plan.md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收束到开场问题：下一步实验是否真的会改变判断。本课不新增作业，工件进入第 8 课分享和第 9 课判断门。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/Users/bright/Projects/courses/graduate/course/assignments.md</a:t>
            </a:r>
          </a:p>
          <a:p xmlns:a="http://schemas.openxmlformats.org/drawingml/2006/main">
            <a:r>
              <a:t>- /Users/bright/Projects/courses/graduate/lessons/lesson-07/handout.md</a:t>
            </a:r>
          </a:p>
          <a:p xmlns:a="http://schemas.openxmlformats.org/drawingml/2006/main">
            <a:r>
              <a:t>- /Users/bright/Projects/courses/graduate/lessons/lesson-07/teaching-plan.md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2ad976e9645b1" /><Relationship Type="http://schemas.openxmlformats.org/officeDocument/2006/relationships/image" Target="/ppt/media/image.png" Id="R19fcbd0fafb5459c" /><Relationship Type="http://schemas.openxmlformats.org/officeDocument/2006/relationships/image" Target="/ppt/media/image2.png" Id="Rea395c1a79cd4f5d" /><Relationship Type="http://schemas.openxmlformats.org/officeDocument/2006/relationships/image" Target="/ppt/media/image3.png" Id="R5280f4ba0ab643b9" /><Relationship Type="http://schemas.openxmlformats.org/officeDocument/2006/relationships/image" Target="/ppt/media/image4.png" Id="Raed0184705d247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d00ad58a33427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7a7ab682b24e14" /><Relationship Type="http://schemas.openxmlformats.org/officeDocument/2006/relationships/image" Target="/ppt/media/image2.png" Id="Rbff768b47b5b4dfd" /><Relationship Type="http://schemas.openxmlformats.org/officeDocument/2006/relationships/image" Target="/ppt/media/image5.png" Id="R407ed0f846b74a2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76ef06a4cb4574" /><Relationship Type="http://schemas.openxmlformats.org/officeDocument/2006/relationships/image" Target="/ppt/media/image.png" Id="R867464228a404a50" /><Relationship Type="http://schemas.openxmlformats.org/officeDocument/2006/relationships/image" Target="/ppt/media/image3.png" Id="R512f4c2931c141f7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fcbd0fafb5459c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395c1a79cd4f5d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80f4ba0ab643b9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d0184705d2477f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f768b47b5b4dfd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ed0f846b74a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464228a404a50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12f4c2931c141f7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d57dc4b2734eb5" /><Relationship Type="http://schemas.openxmlformats.org/officeDocument/2006/relationships/slideLayout" Target="/ppt/slideLayouts/slideLayout1.xml" Id="R6ecb1c9107ac4890" /><Relationship Type="http://schemas.openxmlformats.org/officeDocument/2006/relationships/slideLayout" Target="/ppt/slideLayouts/slideLayout2.xml" Id="R41bff0bb5fe54dc1" /><Relationship Type="http://schemas.openxmlformats.org/officeDocument/2006/relationships/slideLayout" Target="/ppt/slideLayouts/slideLayout3.xml" Id="R7d78781104024b33" /><Relationship Type="http://schemas.openxmlformats.org/officeDocument/2006/relationships/slideLayout" Target="/ppt/slideLayouts/slideLayout4.xml" Id="R66e17e7522b347d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cb1c9107ac4890"/>
    <p:sldLayoutId xmlns:r="http://schemas.openxmlformats.org/officeDocument/2006/relationships" id="2147483650" r:id="R41bff0bb5fe54dc1"/>
    <p:sldLayoutId xmlns:r="http://schemas.openxmlformats.org/officeDocument/2006/relationships" id="2147483651" r:id="R7d78781104024b33"/>
    <p:sldLayoutId xmlns:r="http://schemas.openxmlformats.org/officeDocument/2006/relationships" id="2147483652" r:id="R66e17e7522b347db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8d213108a842c7" /><Relationship Type="http://schemas.openxmlformats.org/officeDocument/2006/relationships/notesSlide" Target="/ppt/notesSlides/notesSlide1.xml" Id="R31dfb63629334d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ce09c6a2657450e" /><Relationship Type="http://schemas.openxmlformats.org/officeDocument/2006/relationships/notesSlide" Target="/ppt/notesSlides/notesSlide2.xml" Id="R0ab2471b842546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24ed4738aa14d25" /><Relationship Type="http://schemas.openxmlformats.org/officeDocument/2006/relationships/notesSlide" Target="/ppt/notesSlides/notesSlide3.xml" Id="R3b19b5db1a484d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9e3efaa6b5041a3" /><Relationship Type="http://schemas.openxmlformats.org/officeDocument/2006/relationships/notesSlide" Target="/ppt/notesSlides/notesSlide4.xml" Id="R0f0019e3a6f445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cc0531129314286" /><Relationship Type="http://schemas.openxmlformats.org/officeDocument/2006/relationships/notesSlide" Target="/ppt/notesSlides/notesSlide5.xml" Id="R1014ebf117e144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0297e6d552b45e2" /><Relationship Type="http://schemas.openxmlformats.org/officeDocument/2006/relationships/notesSlide" Target="/ppt/notesSlides/notesSlide6.xml" Id="Ra382875626784c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2c19a31dc5646f0" /><Relationship Type="http://schemas.openxmlformats.org/officeDocument/2006/relationships/notesSlide" Target="/ppt/notesSlides/notesSlide7.xml" Id="R9915d99301b24c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03dfc1457904849" /><Relationship Type="http://schemas.openxmlformats.org/officeDocument/2006/relationships/notesSlide" Target="/ppt/notesSlides/notesSlide8.xml" Id="Rba3193d507ff483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ba952e7c02040a9" /><Relationship Type="http://schemas.openxmlformats.org/officeDocument/2006/relationships/notesSlide" Target="/ppt/notesSlides/notesSlide9.xml" Id="R2f7023a7968c43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dd71c7d3384e1a" /><Relationship Type="http://schemas.openxmlformats.org/officeDocument/2006/relationships/notesSlide" Target="/ppt/notesSlides/notesSlide10.xml" Id="R26e596427183458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fb8767e2031442e" /><Relationship Type="http://schemas.openxmlformats.org/officeDocument/2006/relationships/notesSlide" Target="/ppt/notesSlides/notesSlide11.xml" Id="R022d6114e8824e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4ababafd7d54282" /><Relationship Type="http://schemas.openxmlformats.org/officeDocument/2006/relationships/notesSlide" Target="/ppt/notesSlides/notesSlide12.xml" Id="R80e117f2c39e4f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7dbb7971f84de4" /><Relationship Type="http://schemas.openxmlformats.org/officeDocument/2006/relationships/notesSlide" Target="/ppt/notesSlides/notesSlide13.xml" Id="R3d374cb613734e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af0e84261b443cd" /><Relationship Type="http://schemas.openxmlformats.org/officeDocument/2006/relationships/notesSlide" Target="/ppt/notesSlides/notesSlide14.xml" Id="Rcd111e792957418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b9c20936509451b" /><Relationship Type="http://schemas.openxmlformats.org/officeDocument/2006/relationships/notesSlide" Target="/ppt/notesSlides/notesSlide15.xml" Id="Rd90d16e749654cc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650864db7064d71" /><Relationship Type="http://schemas.openxmlformats.org/officeDocument/2006/relationships/notesSlide" Target="/ppt/notesSlides/notesSlide16.xml" Id="Re258ff56c9f24ca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1D30E0E-D2D5-4C08-A919-2A1C2D5A8D02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238250" y="3048000"/>
            <a:ext cx="9715500" cy="234315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问题门输出 → 机制解释 → 可区分实验 → 有记录的取舍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/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机制假设回答“为什么”，实验必须能够改变判断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第七讲｜阶段三：机制假设 + 阶段六：研究判断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95400"/>
            <a:ext cx="9525000" cy="1645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9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机制假设、研究判断与实验设计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6 课之后，问题门还没有证明机制成立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p02-left-title">
            <a:extLst xmlns:a="http://schemas.openxmlformats.org/drawingml/2006/main">
              <a:ext uri="{FF2B5EF4-FFF2-40B4-BE49-F238E27FC236}">
                <a16:creationId xmlns:a16="http://schemas.microsoft.com/office/drawing/2014/main" id="{B8549789-A1B8-464E-A1F9-E0D4BA75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8745A"/>
                </a:solidFill>
              </a:defRPr>
            </a:pPr>
            <a:r>
              <a:rPr sz="20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第 6 课已建立</a:t>
            </a:r>
          </a:p>
        </p:txBody>
      </p:sp>
      <p:sp>
        <p:nvSpPr>
          <p:cNvPr id="7" name="p02-left-0">
            <a:extLst xmlns:a="http://schemas.openxmlformats.org/drawingml/2006/main">
              <a:ext uri="{FF2B5EF4-FFF2-40B4-BE49-F238E27FC236}">
                <a16:creationId xmlns:a16="http://schemas.microsoft.com/office/drawing/2014/main" id="{0AAAD8A7-37F9-4BDB-90DE-4199B3A1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可证伪命题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含范围与非例</a:t>
            </a:r>
          </a:p>
        </p:txBody>
      </p:sp>
      <p:sp>
        <p:nvSpPr>
          <p:cNvPr id="8" name="p02-left-1">
            <a:extLst xmlns:a="http://schemas.openxmlformats.org/drawingml/2006/main">
              <a:ext uri="{FF2B5EF4-FFF2-40B4-BE49-F238E27FC236}">
                <a16:creationId xmlns:a16="http://schemas.microsoft.com/office/drawing/2014/main" id="{E44DB7DF-D632-40C5-8001-CC07E432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第一性原理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必要条件清单</a:t>
            </a:r>
          </a:p>
        </p:txBody>
      </p:sp>
      <p:sp>
        <p:nvSpPr>
          <p:cNvPr id="9" name="p02-left-2">
            <a:extLst xmlns:a="http://schemas.openxmlformats.org/drawingml/2006/main">
              <a:ext uri="{FF2B5EF4-FFF2-40B4-BE49-F238E27FC236}">
                <a16:creationId xmlns:a16="http://schemas.microsoft.com/office/drawing/2014/main" id="{88D16DBF-DEAA-4EC3-A09C-BCAF8A1B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证据地图初版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28745A"/>
                </a:solidFill>
              </a:defRPr>
            </a:pPr>
            <a:r>
              <a:rPr sz="15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研究空白候选</a:t>
            </a:r>
          </a:p>
        </p:txBody>
      </p:sp>
      <p:sp>
        <p:nvSpPr>
          <p:cNvPr id="10" name="p02-separator">
            <a:extLst xmlns:a="http://schemas.openxmlformats.org/drawingml/2006/main">
              <a:ext uri="{FF2B5EF4-FFF2-40B4-BE49-F238E27FC236}">
                <a16:creationId xmlns:a16="http://schemas.microsoft.com/office/drawing/2014/main" id="{1802A4D5-B824-4D95-827D-453A5523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91000" y="2962275"/>
            <a:ext cx="371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02-not-equal">
            <a:extLst xmlns:a="http://schemas.openxmlformats.org/drawingml/2006/main">
              <a:ext uri="{FF2B5EF4-FFF2-40B4-BE49-F238E27FC236}">
                <a16:creationId xmlns:a16="http://schemas.microsoft.com/office/drawing/2014/main" id="{A00DD4D2-6DF4-480F-AA56-5A44A5F5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76500"/>
            <a:ext cx="8953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C8161E"/>
                </a:solidFill>
              </a:defRPr>
            </a:pPr>
            <a:r>
              <a:rPr sz="33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</p:txBody>
      </p:sp>
      <p:sp>
        <p:nvSpPr>
          <p:cNvPr id="12" name="p02-right-title">
            <a:extLst xmlns:a="http://schemas.openxmlformats.org/drawingml/2006/main">
              <a:ext uri="{FF2B5EF4-FFF2-40B4-BE49-F238E27FC236}">
                <a16:creationId xmlns:a16="http://schemas.microsoft.com/office/drawing/2014/main" id="{C9EEA1DD-3779-4F00-950A-A0EC7D4F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906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仍未回答</a:t>
            </a:r>
          </a:p>
        </p:txBody>
      </p:sp>
      <p:sp>
        <p:nvSpPr>
          <p:cNvPr id="13" name="p02-right-0">
            <a:extLst xmlns:a="http://schemas.openxmlformats.org/drawingml/2006/main">
              <a:ext uri="{FF2B5EF4-FFF2-40B4-BE49-F238E27FC236}">
                <a16:creationId xmlns:a16="http://schemas.microsoft.com/office/drawing/2014/main" id="{9154CE34-83D8-4E7E-9A97-3E7964D0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764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为什么会发生？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机制假设</a:t>
            </a:r>
          </a:p>
        </p:txBody>
      </p:sp>
      <p:sp>
        <p:nvSpPr>
          <p:cNvPr id="14" name="p02-right-1">
            <a:extLst xmlns:a="http://schemas.openxmlformats.org/drawingml/2006/main">
              <a:ext uri="{FF2B5EF4-FFF2-40B4-BE49-F238E27FC236}">
                <a16:creationId xmlns:a16="http://schemas.microsoft.com/office/drawing/2014/main" id="{E9302125-A8BB-4A5E-BA78-D6C3521B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还有什么解释？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替代假设</a:t>
            </a:r>
          </a:p>
        </p:txBody>
      </p:sp>
      <p:sp>
        <p:nvSpPr>
          <p:cNvPr id="15" name="p02-right-2">
            <a:extLst xmlns:a="http://schemas.openxmlformats.org/drawingml/2006/main">
              <a:ext uri="{FF2B5EF4-FFF2-40B4-BE49-F238E27FC236}">
                <a16:creationId xmlns:a16="http://schemas.microsoft.com/office/drawing/2014/main" id="{C6DB9554-1EE0-4023-8DDB-38AAF2AB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10000"/>
            <a:ext cx="3810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什么结果能区分？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区分实验</a:t>
            </a:r>
          </a:p>
        </p:txBody>
      </p:sp>
      <p:sp>
        <p:nvSpPr>
          <p:cNvPr id="16" name="p02-bottom">
            <a:extLst xmlns:a="http://schemas.openxmlformats.org/drawingml/2006/main">
              <a:ext uri="{FF2B5EF4-FFF2-40B4-BE49-F238E27FC236}">
                <a16:creationId xmlns:a16="http://schemas.microsoft.com/office/drawing/2014/main" id="{CF402B4F-6C51-4F6F-9BF2-60A2B2C0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1970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问题成立 ≠ 假设成立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本课先跑通一条可复盘的机制—判断—规格链路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p03-b-0">
            <a:extLst xmlns:a="http://schemas.openxmlformats.org/drawingml/2006/main">
              <a:ext uri="{FF2B5EF4-FFF2-40B4-BE49-F238E27FC236}">
                <a16:creationId xmlns:a16="http://schemas.microsoft.com/office/drawing/2014/main" id="{30CBAF5C-AE3D-456C-AB54-9C24775A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03-g-0">
            <a:extLst xmlns:a="http://schemas.openxmlformats.org/drawingml/2006/main">
              <a:ext uri="{FF2B5EF4-FFF2-40B4-BE49-F238E27FC236}">
                <a16:creationId xmlns:a16="http://schemas.microsoft.com/office/drawing/2014/main" id="{F5A77D47-B210-475E-A5F6-79BCA3B0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668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写出含中间过程的因果假设</a:t>
            </a:r>
          </a:p>
        </p:txBody>
      </p:sp>
      <p:sp>
        <p:nvSpPr>
          <p:cNvPr id="8" name="p03-b-1">
            <a:extLst xmlns:a="http://schemas.openxmlformats.org/drawingml/2006/main">
              <a:ext uri="{FF2B5EF4-FFF2-40B4-BE49-F238E27FC236}">
                <a16:creationId xmlns:a16="http://schemas.microsoft.com/office/drawing/2014/main" id="{7F839DB1-4B87-4596-9430-C3BFB117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1239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p03-g-1">
            <a:extLst xmlns:a="http://schemas.openxmlformats.org/drawingml/2006/main">
              <a:ext uri="{FF2B5EF4-FFF2-40B4-BE49-F238E27FC236}">
                <a16:creationId xmlns:a16="http://schemas.microsoft.com/office/drawing/2014/main" id="{89F4AF52-98DA-47C3-B826-2000A0F6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0668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给出反证点与 1 个可区分替代</a:t>
            </a:r>
          </a:p>
        </p:txBody>
      </p:sp>
      <p:sp>
        <p:nvSpPr>
          <p:cNvPr id="10" name="p03-b-2">
            <a:extLst xmlns:a="http://schemas.openxmlformats.org/drawingml/2006/main">
              <a:ext uri="{FF2B5EF4-FFF2-40B4-BE49-F238E27FC236}">
                <a16:creationId xmlns:a16="http://schemas.microsoft.com/office/drawing/2014/main" id="{0A20DFAE-A12C-44CD-93C8-22A46FB5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p03-g-2">
            <a:extLst xmlns:a="http://schemas.openxmlformats.org/drawingml/2006/main">
              <a:ext uri="{FF2B5EF4-FFF2-40B4-BE49-F238E27FC236}">
                <a16:creationId xmlns:a16="http://schemas.microsoft.com/office/drawing/2014/main" id="{618B4E6A-E222-4C97-8EE9-8676E9E5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193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区分事实、假设、判断、待验证</a:t>
            </a:r>
          </a:p>
        </p:txBody>
      </p:sp>
      <p:sp>
        <p:nvSpPr>
          <p:cNvPr id="12" name="p03-b-3">
            <a:extLst xmlns:a="http://schemas.openxmlformats.org/drawingml/2006/main">
              <a:ext uri="{FF2B5EF4-FFF2-40B4-BE49-F238E27FC236}">
                <a16:creationId xmlns:a16="http://schemas.microsoft.com/office/drawing/2014/main" id="{5FCC9A25-CE9A-4BF4-B675-E45DCEE3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0764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p03-g-3">
            <a:extLst xmlns:a="http://schemas.openxmlformats.org/drawingml/2006/main">
              <a:ext uri="{FF2B5EF4-FFF2-40B4-BE49-F238E27FC236}">
                <a16:creationId xmlns:a16="http://schemas.microsoft.com/office/drawing/2014/main" id="{5D09AEF9-E041-4D52-8B10-9C408470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193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完成一条六字段研究判断</a:t>
            </a:r>
          </a:p>
        </p:txBody>
      </p:sp>
      <p:sp>
        <p:nvSpPr>
          <p:cNvPr id="14" name="p03-b-4">
            <a:extLst xmlns:a="http://schemas.openxmlformats.org/drawingml/2006/main">
              <a:ext uri="{FF2B5EF4-FFF2-40B4-BE49-F238E27FC236}">
                <a16:creationId xmlns:a16="http://schemas.microsoft.com/office/drawing/2014/main" id="{751F9CD9-7DC5-4D4E-9A2D-A9459137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p03-g-4">
            <a:extLst xmlns:a="http://schemas.openxmlformats.org/drawingml/2006/main">
              <a:ext uri="{FF2B5EF4-FFF2-40B4-BE49-F238E27FC236}">
                <a16:creationId xmlns:a16="http://schemas.microsoft.com/office/drawing/2014/main" id="{A561C9C9-789E-4E49-8832-1C079695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718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建立假设—指标—实验映射</a:t>
            </a:r>
          </a:p>
        </p:txBody>
      </p:sp>
      <p:sp>
        <p:nvSpPr>
          <p:cNvPr id="16" name="p03-b-5">
            <a:extLst xmlns:a="http://schemas.openxmlformats.org/drawingml/2006/main">
              <a:ext uri="{FF2B5EF4-FFF2-40B4-BE49-F238E27FC236}">
                <a16:creationId xmlns:a16="http://schemas.microsoft.com/office/drawing/2014/main" id="{4C08D363-87F2-420C-B553-567EE7F6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0289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7" name="p03-g-5">
            <a:extLst xmlns:a="http://schemas.openxmlformats.org/drawingml/2006/main">
              <a:ext uri="{FF2B5EF4-FFF2-40B4-BE49-F238E27FC236}">
                <a16:creationId xmlns:a16="http://schemas.microsoft.com/office/drawing/2014/main" id="{1573426E-A6DE-43D3-B306-232D2920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71800"/>
            <a:ext cx="2724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核验 AI 候选，不把线索当证据</a:t>
            </a:r>
          </a:p>
        </p:txBody>
      </p:sp>
      <p:sp>
        <p:nvSpPr>
          <p:cNvPr id="18" name="p03-separator">
            <a:extLst xmlns:a="http://schemas.openxmlformats.org/drawingml/2006/main">
              <a:ext uri="{FF2B5EF4-FFF2-40B4-BE49-F238E27FC236}">
                <a16:creationId xmlns:a16="http://schemas.microsoft.com/office/drawing/2014/main" id="{7B33B442-F0BD-47A3-8131-C50605F7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34075" y="2762250"/>
            <a:ext cx="344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03-output-title">
            <a:extLst xmlns:a="http://schemas.openxmlformats.org/drawingml/2006/main">
              <a:ext uri="{FF2B5EF4-FFF2-40B4-BE49-F238E27FC236}">
                <a16:creationId xmlns:a16="http://schemas.microsoft.com/office/drawing/2014/main" id="{B90583CC-F12B-4A5D-B1B6-AFCC1F2C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0668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20" name="p03-output">
            <a:extLst xmlns:a="http://schemas.openxmlformats.org/drawingml/2006/main">
              <a:ext uri="{FF2B5EF4-FFF2-40B4-BE49-F238E27FC236}">
                <a16:creationId xmlns:a16="http://schemas.microsoft.com/office/drawing/2014/main" id="{41E507B7-7667-4DE3-B520-3AB8E5B5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3276600" cy="226695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机制假设列表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研究判断记录初版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实验规格草图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一条 AI 使用记录</a:t>
            </a:r>
          </a:p>
        </p:txBody>
      </p:sp>
      <p:sp>
        <p:nvSpPr>
          <p:cNvPr id="21" name="p03-minimum">
            <a:extLst xmlns:a="http://schemas.openxmlformats.org/drawingml/2006/main">
              <a:ext uri="{FF2B5EF4-FFF2-40B4-BE49-F238E27FC236}">
                <a16:creationId xmlns:a16="http://schemas.microsoft.com/office/drawing/2014/main" id="{53842175-DB60-4F91-A5E6-A745BABD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48150"/>
            <a:ext cx="32766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课堂：1 主 + 1 替代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第 8 课前：补到 2 个替代</a:t>
            </a:r>
          </a:p>
        </p:txBody>
      </p:sp>
      <p:sp>
        <p:nvSpPr>
          <p:cNvPr id="22" name="p03-bottom">
            <a:extLst xmlns:a="http://schemas.openxmlformats.org/drawingml/2006/main">
              <a:ext uri="{FF2B5EF4-FFF2-40B4-BE49-F238E27FC236}">
                <a16:creationId xmlns:a16="http://schemas.microsoft.com/office/drawing/2014/main" id="{2AB46AA5-D47B-4CE8-BFDA-EC86A482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314950"/>
            <a:ext cx="883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本课不正式提交；产出直接进入第 8 课分享与第 9 课判断门。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结果预测说会发生什么，机制假设解释为什么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p04-prediction">
            <a:extLst xmlns:a="http://schemas.openxmlformats.org/drawingml/2006/main">
              <a:ext uri="{FF2B5EF4-FFF2-40B4-BE49-F238E27FC236}">
                <a16:creationId xmlns:a16="http://schemas.microsoft.com/office/drawing/2014/main" id="{3042F515-29C8-4D13-AC2F-89C26898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3524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结果预测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阅读卡会降低遗漏率</a:t>
            </a:r>
          </a:p>
        </p:txBody>
      </p:sp>
      <p:sp>
        <p:nvSpPr>
          <p:cNvPr id="7" name="p04-vs">
            <a:extLst xmlns:a="http://schemas.openxmlformats.org/drawingml/2006/main">
              <a:ext uri="{FF2B5EF4-FFF2-40B4-BE49-F238E27FC236}">
                <a16:creationId xmlns:a16="http://schemas.microsoft.com/office/drawing/2014/main" id="{50CFBF6D-7BBF-4630-85BC-DE69BE4B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3144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67684"/>
                </a:solidFill>
              </a:defRPr>
            </a:pPr>
            <a:r>
              <a:rPr sz="142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只说会发生什么</a:t>
            </a:r>
          </a:p>
        </p:txBody>
      </p:sp>
      <p:sp>
        <p:nvSpPr>
          <p:cNvPr id="8" name="p04-mechanism">
            <a:extLst xmlns:a="http://schemas.openxmlformats.org/drawingml/2006/main">
              <a:ext uri="{FF2B5EF4-FFF2-40B4-BE49-F238E27FC236}">
                <a16:creationId xmlns:a16="http://schemas.microsoft.com/office/drawing/2014/main" id="{2AA72191-2386-45A7-A625-5C2348B1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066800"/>
            <a:ext cx="45148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机制假设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解释中间过程，并允许被推翻</a:t>
            </a:r>
          </a:p>
        </p:txBody>
      </p:sp>
      <p:sp>
        <p:nvSpPr>
          <p:cNvPr id="9" name="p04-chain-1">
            <a:extLst xmlns:a="http://schemas.openxmlformats.org/drawingml/2006/main">
              <a:ext uri="{FF2B5EF4-FFF2-40B4-BE49-F238E27FC236}">
                <a16:creationId xmlns:a16="http://schemas.microsoft.com/office/drawing/2014/main" id="{A8830146-AADD-4F55-B958-67EE8632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28670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04-chain-2">
            <a:extLst xmlns:a="http://schemas.openxmlformats.org/drawingml/2006/main">
              <a:ext uri="{FF2B5EF4-FFF2-40B4-BE49-F238E27FC236}">
                <a16:creationId xmlns:a16="http://schemas.microsoft.com/office/drawing/2014/main" id="{24B3F661-A8FB-4234-BE22-820A8138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2867025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04-chain-node-0">
            <a:extLst xmlns:a="http://schemas.openxmlformats.org/drawingml/2006/main">
              <a:ext uri="{FF2B5EF4-FFF2-40B4-BE49-F238E27FC236}">
                <a16:creationId xmlns:a16="http://schemas.microsoft.com/office/drawing/2014/main" id="{4C7C4FA7-AD60-4925-93BF-32E2B275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字段约束</a:t>
            </a:r>
          </a:p>
        </p:txBody>
      </p:sp>
      <p:sp>
        <p:nvSpPr>
          <p:cNvPr id="12" name="p04-chain-node-1">
            <a:extLst xmlns:a="http://schemas.openxmlformats.org/drawingml/2006/main">
              <a:ext uri="{FF2B5EF4-FFF2-40B4-BE49-F238E27FC236}">
                <a16:creationId xmlns:a16="http://schemas.microsoft.com/office/drawing/2014/main" id="{4751C260-B980-4823-84F4-5A2F7347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574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生成时强制标注</a:t>
            </a:r>
          </a:p>
        </p:txBody>
      </p:sp>
      <p:sp>
        <p:nvSpPr>
          <p:cNvPr id="13" name="p04-chain-node-2">
            <a:extLst xmlns:a="http://schemas.openxmlformats.org/drawingml/2006/main">
              <a:ext uri="{FF2B5EF4-FFF2-40B4-BE49-F238E27FC236}">
                <a16:creationId xmlns:a16="http://schemas.microsoft.com/office/drawing/2014/main" id="{E213B78E-C155-4527-AD88-19BA7392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57450"/>
            <a:ext cx="2857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错读更易暴露</a:t>
            </a:r>
          </a:p>
        </p:txBody>
      </p:sp>
      <p:sp>
        <p:nvSpPr>
          <p:cNvPr id="14" name="p04-e-label-0">
            <a:extLst xmlns:a="http://schemas.openxmlformats.org/drawingml/2006/main">
              <a:ext uri="{FF2B5EF4-FFF2-40B4-BE49-F238E27FC236}">
                <a16:creationId xmlns:a16="http://schemas.microsoft.com/office/drawing/2014/main" id="{918AA731-24CB-4678-82C3-B7583F67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67150"/>
            <a:ext cx="1123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自变量</a:t>
            </a:r>
          </a:p>
        </p:txBody>
      </p:sp>
      <p:sp>
        <p:nvSpPr>
          <p:cNvPr id="15" name="p04-e-detail-0">
            <a:extLst xmlns:a="http://schemas.openxmlformats.org/drawingml/2006/main">
              <a:ext uri="{FF2B5EF4-FFF2-40B4-BE49-F238E27FC236}">
                <a16:creationId xmlns:a16="http://schemas.microsoft.com/office/drawing/2014/main" id="{590F2152-11FC-448C-92CE-6850F413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67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操作什么</a:t>
            </a:r>
          </a:p>
        </p:txBody>
      </p:sp>
      <p:sp>
        <p:nvSpPr>
          <p:cNvPr id="16" name="p04-e-label-1">
            <a:extLst xmlns:a="http://schemas.openxmlformats.org/drawingml/2006/main">
              <a:ext uri="{FF2B5EF4-FFF2-40B4-BE49-F238E27FC236}">
                <a16:creationId xmlns:a16="http://schemas.microsoft.com/office/drawing/2014/main" id="{E8B2694D-93FA-4568-9869-4DB7F6D7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867150"/>
            <a:ext cx="1123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因变量</a:t>
            </a:r>
          </a:p>
        </p:txBody>
      </p:sp>
      <p:sp>
        <p:nvSpPr>
          <p:cNvPr id="17" name="p04-e-detail-1">
            <a:extLst xmlns:a="http://schemas.openxmlformats.org/drawingml/2006/main">
              <a:ext uri="{FF2B5EF4-FFF2-40B4-BE49-F238E27FC236}">
                <a16:creationId xmlns:a16="http://schemas.microsoft.com/office/drawing/2014/main" id="{1B5970F8-32B2-4A51-8F1E-CD2D04EF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67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观察什么</a:t>
            </a:r>
          </a:p>
        </p:txBody>
      </p:sp>
      <p:sp>
        <p:nvSpPr>
          <p:cNvPr id="18" name="p04-e-label-2">
            <a:extLst xmlns:a="http://schemas.openxmlformats.org/drawingml/2006/main">
              <a:ext uri="{FF2B5EF4-FFF2-40B4-BE49-F238E27FC236}">
                <a16:creationId xmlns:a16="http://schemas.microsoft.com/office/drawing/2014/main" id="{808DFA04-7EB9-46A1-8752-E055340A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1123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机制路径</a:t>
            </a:r>
          </a:p>
        </p:txBody>
      </p:sp>
      <p:sp>
        <p:nvSpPr>
          <p:cNvPr id="19" name="p04-e-detail-2">
            <a:extLst xmlns:a="http://schemas.openxmlformats.org/drawingml/2006/main">
              <a:ext uri="{FF2B5EF4-FFF2-40B4-BE49-F238E27FC236}">
                <a16:creationId xmlns:a16="http://schemas.microsoft.com/office/drawing/2014/main" id="{E72201EA-3B88-4194-9103-E085D41C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67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如何导致</a:t>
            </a:r>
          </a:p>
        </p:txBody>
      </p:sp>
      <p:sp>
        <p:nvSpPr>
          <p:cNvPr id="20" name="p04-e-label-3">
            <a:extLst xmlns:a="http://schemas.openxmlformats.org/drawingml/2006/main">
              <a:ext uri="{FF2B5EF4-FFF2-40B4-BE49-F238E27FC236}">
                <a16:creationId xmlns:a16="http://schemas.microsoft.com/office/drawing/2014/main" id="{1208DD4D-5E20-451D-B56E-2D80F6BD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67150"/>
            <a:ext cx="1123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反证点</a:t>
            </a:r>
          </a:p>
        </p:txBody>
      </p:sp>
      <p:sp>
        <p:nvSpPr>
          <p:cNvPr id="21" name="p04-e-detail-3">
            <a:extLst xmlns:a="http://schemas.openxmlformats.org/drawingml/2006/main">
              <a:ext uri="{FF2B5EF4-FFF2-40B4-BE49-F238E27FC236}">
                <a16:creationId xmlns:a16="http://schemas.microsoft.com/office/drawing/2014/main" id="{88ED7405-B4FC-44C2-83AC-8645D663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867150"/>
            <a:ext cx="1371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何时不成立</a:t>
            </a:r>
          </a:p>
        </p:txBody>
      </p:sp>
      <p:sp>
        <p:nvSpPr>
          <p:cNvPr id="22" name="p04-errors">
            <a:extLst xmlns:a="http://schemas.openxmlformats.org/drawingml/2006/main">
              <a:ext uri="{FF2B5EF4-FFF2-40B4-BE49-F238E27FC236}">
                <a16:creationId xmlns:a16="http://schemas.microsoft.com/office/drawing/2014/main" id="{FCD54E59-C628-4006-9E7D-AB5140B9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952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非例：‘方法 X 会更好’只是预测｜‘模型理解了原文’不可观察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替代假设必须对同一结果给出可区分解释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p05-line-left">
            <a:extLst xmlns:a="http://schemas.openxmlformats.org/drawingml/2006/main">
              <a:ext uri="{FF2B5EF4-FFF2-40B4-BE49-F238E27FC236}">
                <a16:creationId xmlns:a16="http://schemas.microsoft.com/office/drawing/2014/main" id="{000E2B0F-8B2F-451F-AB2B-1FCF3710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21404">
            <a:off x="2633046" y="2652713"/>
            <a:ext cx="349690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05-line-mid">
            <a:extLst xmlns:a="http://schemas.openxmlformats.org/drawingml/2006/main">
              <a:ext uri="{FF2B5EF4-FFF2-40B4-BE49-F238E27FC236}">
                <a16:creationId xmlns:a16="http://schemas.microsoft.com/office/drawing/2014/main" id="{8C4331B7-7572-4640-AA6C-462EB0D7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53100" y="2652713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05-line-right">
            <a:extLst xmlns:a="http://schemas.openxmlformats.org/drawingml/2006/main">
              <a:ext uri="{FF2B5EF4-FFF2-40B4-BE49-F238E27FC236}">
                <a16:creationId xmlns:a16="http://schemas.microsoft.com/office/drawing/2014/main" id="{CDB32367-2FB7-4B1F-89AE-AA82670D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78596">
            <a:off x="6062046" y="2652713"/>
            <a:ext cx="349690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05-main">
            <a:extLst xmlns:a="http://schemas.openxmlformats.org/drawingml/2006/main">
              <a:ext uri="{FF2B5EF4-FFF2-40B4-BE49-F238E27FC236}">
                <a16:creationId xmlns:a16="http://schemas.microsoft.com/office/drawing/2014/main" id="{86C5AF43-B655-4CAD-A914-1B74DBAC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066800"/>
            <a:ext cx="54864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主假设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字段约束 → 强制标注 → 错读更易暴露</a:t>
            </a:r>
          </a:p>
        </p:txBody>
      </p:sp>
      <p:sp>
        <p:nvSpPr>
          <p:cNvPr id="10" name="p05-alt-0">
            <a:extLst xmlns:a="http://schemas.openxmlformats.org/drawingml/2006/main">
              <a:ext uri="{FF2B5EF4-FFF2-40B4-BE49-F238E27FC236}">
                <a16:creationId xmlns:a16="http://schemas.microsoft.com/office/drawing/2014/main" id="{15C2C6FF-19EF-4CC3-AF79-D5C6C6D7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A86C12"/>
                </a:solidFill>
              </a:defRPr>
            </a:pPr>
            <a:r>
              <a:rPr sz="157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A1 任务转移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A86C12"/>
                </a:solidFill>
              </a:defRPr>
            </a:pPr>
            <a:r>
              <a:rPr sz="157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总错读率不变</a:t>
            </a:r>
          </a:p>
        </p:txBody>
      </p:sp>
      <p:sp>
        <p:nvSpPr>
          <p:cNvPr id="11" name="p05-alt-1">
            <a:extLst xmlns:a="http://schemas.openxmlformats.org/drawingml/2006/main">
              <a:ext uri="{FF2B5EF4-FFF2-40B4-BE49-F238E27FC236}">
                <a16:creationId xmlns:a16="http://schemas.microsoft.com/office/drawing/2014/main" id="{AB012EDC-56DB-4FB1-A44F-E274E3F3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09900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A2 标注假象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换标注者后差异消失</a:t>
            </a:r>
          </a:p>
        </p:txBody>
      </p:sp>
      <p:sp>
        <p:nvSpPr>
          <p:cNvPr id="12" name="p05-alt-2">
            <a:extLst xmlns:a="http://schemas.openxmlformats.org/drawingml/2006/main">
              <a:ext uri="{FF2B5EF4-FFF2-40B4-BE49-F238E27FC236}">
                <a16:creationId xmlns:a16="http://schemas.microsoft.com/office/drawing/2014/main" id="{A3C4157B-42C5-488A-8554-DF59AB34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9900"/>
            <a:ext cx="335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2F638A"/>
                </a:solidFill>
              </a:defRPr>
            </a:pPr>
            <a:r>
              <a:rPr sz="157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A3 选择效应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2F638A"/>
                </a:solidFill>
              </a:defRPr>
            </a:pPr>
            <a:r>
              <a:rPr sz="1575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分层后效应集中</a:t>
            </a:r>
          </a:p>
        </p:txBody>
      </p:sp>
      <p:sp>
        <p:nvSpPr>
          <p:cNvPr id="13" name="p05-definition">
            <a:extLst xmlns:a="http://schemas.openxmlformats.org/drawingml/2006/main">
              <a:ext uri="{FF2B5EF4-FFF2-40B4-BE49-F238E27FC236}">
                <a16:creationId xmlns:a16="http://schemas.microsoft.com/office/drawing/2014/main" id="{2E3D1B62-9441-4D0B-B4B2-D465F7DB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29100"/>
            <a:ext cx="8839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替代假设不是另一个题目，而是对同一结果的不同解释。</a:t>
            </a:r>
          </a:p>
        </p:txBody>
      </p:sp>
      <p:sp>
        <p:nvSpPr>
          <p:cNvPr id="14" name="p05-eliminate">
            <a:extLst xmlns:a="http://schemas.openxmlformats.org/drawingml/2006/main">
              <a:ext uri="{FF2B5EF4-FFF2-40B4-BE49-F238E27FC236}">
                <a16:creationId xmlns:a16="http://schemas.microsoft.com/office/drawing/2014/main" id="{B3ECC80A-358F-4CEE-BFD4-1CEDFA37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10629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淘汰理由：违背基本约束｜不可观察｜与主证据冲突｜周期内不可验证｜与其他假设不可区分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事实、假设、研究判断与待验证项必须分开落盘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p06-label-0">
            <a:extLst xmlns:a="http://schemas.openxmlformats.org/drawingml/2006/main">
              <a:ext uri="{FF2B5EF4-FFF2-40B4-BE49-F238E27FC236}">
                <a16:creationId xmlns:a16="http://schemas.microsoft.com/office/drawing/2014/main" id="{659BA608-45B4-4963-9763-23021EA6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287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事实</a:t>
            </a:r>
          </a:p>
        </p:txBody>
      </p:sp>
      <p:sp>
        <p:nvSpPr>
          <p:cNvPr id="7" name="p06-type-0">
            <a:extLst xmlns:a="http://schemas.openxmlformats.org/drawingml/2006/main">
              <a:ext uri="{FF2B5EF4-FFF2-40B4-BE49-F238E27FC236}">
                <a16:creationId xmlns:a16="http://schemas.microsoft.com/office/drawing/2014/main" id="{EA7BE4C3-1D8A-4F99-B915-9D33EFA3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2628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8745A"/>
                </a:solidFill>
              </a:defRPr>
            </a:pPr>
            <a:r>
              <a:rPr sz="13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已被来源支持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8745A"/>
                </a:solidFill>
              </a:defRPr>
            </a:pPr>
            <a:r>
              <a:rPr sz="13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→ 阅读卡 / 证据地图</a:t>
            </a:r>
          </a:p>
        </p:txBody>
      </p:sp>
      <p:sp>
        <p:nvSpPr>
          <p:cNvPr id="8" name="p06-label-1">
            <a:extLst xmlns:a="http://schemas.openxmlformats.org/drawingml/2006/main">
              <a:ext uri="{FF2B5EF4-FFF2-40B4-BE49-F238E27FC236}">
                <a16:creationId xmlns:a16="http://schemas.microsoft.com/office/drawing/2014/main" id="{C3710B53-BA99-498D-AAE7-478EDC93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0287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F638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假设</a:t>
            </a:r>
          </a:p>
        </p:txBody>
      </p:sp>
      <p:sp>
        <p:nvSpPr>
          <p:cNvPr id="9" name="p06-type-1">
            <a:extLst xmlns:a="http://schemas.openxmlformats.org/drawingml/2006/main">
              <a:ext uri="{FF2B5EF4-FFF2-40B4-BE49-F238E27FC236}">
                <a16:creationId xmlns:a16="http://schemas.microsoft.com/office/drawing/2014/main" id="{87866E89-21AB-4E2A-ACD1-F527C07D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524000"/>
            <a:ext cx="2628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F638A"/>
                </a:solidFill>
              </a:defRPr>
            </a:pPr>
            <a:r>
              <a:rPr sz="135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可被实验检验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2F638A"/>
                </a:solidFill>
              </a:defRPr>
            </a:pPr>
            <a:r>
              <a:rPr sz="135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→ 机制假设列表</a:t>
            </a:r>
          </a:p>
        </p:txBody>
      </p:sp>
      <p:sp>
        <p:nvSpPr>
          <p:cNvPr id="10" name="p06-label-2">
            <a:extLst xmlns:a="http://schemas.openxmlformats.org/drawingml/2006/main">
              <a:ext uri="{FF2B5EF4-FFF2-40B4-BE49-F238E27FC236}">
                <a16:creationId xmlns:a16="http://schemas.microsoft.com/office/drawing/2014/main" id="{31E8EA87-7AA2-4527-BD40-9E874B2B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0287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研究判断</a:t>
            </a:r>
          </a:p>
        </p:txBody>
      </p:sp>
      <p:sp>
        <p:nvSpPr>
          <p:cNvPr id="11" name="p06-type-2">
            <a:extLst xmlns:a="http://schemas.openxmlformats.org/drawingml/2006/main">
              <a:ext uri="{FF2B5EF4-FFF2-40B4-BE49-F238E27FC236}">
                <a16:creationId xmlns:a16="http://schemas.microsoft.com/office/drawing/2014/main" id="{DBE56C9B-140A-4412-9732-D2189BB9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24000"/>
            <a:ext cx="2628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从证据到行动的取舍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 判断记录</a:t>
            </a:r>
          </a:p>
        </p:txBody>
      </p:sp>
      <p:sp>
        <p:nvSpPr>
          <p:cNvPr id="12" name="p06-label-3">
            <a:extLst xmlns:a="http://schemas.openxmlformats.org/drawingml/2006/main">
              <a:ext uri="{FF2B5EF4-FFF2-40B4-BE49-F238E27FC236}">
                <a16:creationId xmlns:a16="http://schemas.microsoft.com/office/drawing/2014/main" id="{DEF41612-53C4-4B36-B789-D6C15297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02870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待验证项</a:t>
            </a:r>
          </a:p>
        </p:txBody>
      </p:sp>
      <p:sp>
        <p:nvSpPr>
          <p:cNvPr id="13" name="p06-type-3">
            <a:extLst xmlns:a="http://schemas.openxmlformats.org/drawingml/2006/main">
              <a:ext uri="{FF2B5EF4-FFF2-40B4-BE49-F238E27FC236}">
                <a16:creationId xmlns:a16="http://schemas.microsoft.com/office/drawing/2014/main" id="{F03539C8-56AD-4868-863E-930B723C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524000"/>
            <a:ext cx="26289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A86C12"/>
                </a:solidFill>
              </a:defRPr>
            </a:pPr>
            <a:r>
              <a:rPr sz="135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需补证据或实验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A86C12"/>
                </a:solidFill>
              </a:defRPr>
            </a:pPr>
            <a:r>
              <a:rPr sz="135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→ 判断记录待验证字段</a:t>
            </a:r>
          </a:p>
        </p:txBody>
      </p:sp>
      <p:sp>
        <p:nvSpPr>
          <p:cNvPr id="14" name="p06-record-title">
            <a:extLst xmlns:a="http://schemas.openxmlformats.org/drawingml/2006/main">
              <a:ext uri="{FF2B5EF4-FFF2-40B4-BE49-F238E27FC236}">
                <a16:creationId xmlns:a16="http://schemas.microsoft.com/office/drawing/2014/main" id="{C1C39C5D-58CA-4AF2-B6A7-5035DDE2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90800"/>
            <a:ext cx="609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研究判断记录：当场写，不课后补</a:t>
            </a:r>
          </a:p>
        </p:txBody>
      </p:sp>
      <p:sp>
        <p:nvSpPr>
          <p:cNvPr id="15" name="p06-field-label-0">
            <a:extLst xmlns:a="http://schemas.openxmlformats.org/drawingml/2006/main">
              <a:ext uri="{FF2B5EF4-FFF2-40B4-BE49-F238E27FC236}">
                <a16:creationId xmlns:a16="http://schemas.microsoft.com/office/drawing/2014/main" id="{86791027-0ADD-4346-8A3D-5479E93E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判断内容</a:t>
            </a:r>
          </a:p>
        </p:txBody>
      </p:sp>
      <p:sp>
        <p:nvSpPr>
          <p:cNvPr id="16" name="p06-field-detail-0">
            <a:extLst xmlns:a="http://schemas.openxmlformats.org/drawingml/2006/main">
              <a:ext uri="{FF2B5EF4-FFF2-40B4-BE49-F238E27FC236}">
                <a16:creationId xmlns:a16="http://schemas.microsoft.com/office/drawing/2014/main" id="{B0C497C0-B0B9-4218-9033-D201CB55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2575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选择什么</a:t>
            </a:r>
          </a:p>
        </p:txBody>
      </p:sp>
      <p:sp>
        <p:nvSpPr>
          <p:cNvPr id="17" name="p06-field-label-1">
            <a:extLst xmlns:a="http://schemas.openxmlformats.org/drawingml/2006/main">
              <a:ext uri="{FF2B5EF4-FFF2-40B4-BE49-F238E27FC236}">
                <a16:creationId xmlns:a16="http://schemas.microsoft.com/office/drawing/2014/main" id="{2D0A2B68-43F3-40DD-BC6A-F585835A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取舍理由</a:t>
            </a:r>
          </a:p>
        </p:txBody>
      </p:sp>
      <p:sp>
        <p:nvSpPr>
          <p:cNvPr id="18" name="p06-field-detail-1">
            <a:extLst xmlns:a="http://schemas.openxmlformats.org/drawingml/2006/main">
              <a:ext uri="{FF2B5EF4-FFF2-40B4-BE49-F238E27FC236}">
                <a16:creationId xmlns:a16="http://schemas.microsoft.com/office/drawing/2014/main" id="{A89C68CE-DEDA-4032-8D4E-578B3A3C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575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为什么</a:t>
            </a:r>
          </a:p>
        </p:txBody>
      </p:sp>
      <p:sp>
        <p:nvSpPr>
          <p:cNvPr id="19" name="p06-field-label-2">
            <a:extLst xmlns:a="http://schemas.openxmlformats.org/drawingml/2006/main">
              <a:ext uri="{FF2B5EF4-FFF2-40B4-BE49-F238E27FC236}">
                <a16:creationId xmlns:a16="http://schemas.microsoft.com/office/drawing/2014/main" id="{8EFA8B0E-1EF4-4797-90D1-A8554270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5755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适用边界</a:t>
            </a:r>
          </a:p>
        </p:txBody>
      </p:sp>
      <p:sp>
        <p:nvSpPr>
          <p:cNvPr id="20" name="p06-field-detail-2">
            <a:extLst xmlns:a="http://schemas.openxmlformats.org/drawingml/2006/main">
              <a:ext uri="{FF2B5EF4-FFF2-40B4-BE49-F238E27FC236}">
                <a16:creationId xmlns:a16="http://schemas.microsoft.com/office/drawing/2014/main" id="{0CDE363D-E5E1-4559-A295-E35E287E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5755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何时成立</a:t>
            </a:r>
          </a:p>
        </p:txBody>
      </p:sp>
      <p:sp>
        <p:nvSpPr>
          <p:cNvPr id="21" name="p06-field-label-3">
            <a:extLst xmlns:a="http://schemas.openxmlformats.org/drawingml/2006/main">
              <a:ext uri="{FF2B5EF4-FFF2-40B4-BE49-F238E27FC236}">
                <a16:creationId xmlns:a16="http://schemas.microsoft.com/office/drawing/2014/main" id="{F0A125E0-03B6-48BB-B54D-40FC72A9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依据</a:t>
            </a:r>
          </a:p>
        </p:txBody>
      </p:sp>
      <p:sp>
        <p:nvSpPr>
          <p:cNvPr id="22" name="p06-field-detail-3">
            <a:extLst xmlns:a="http://schemas.openxmlformats.org/drawingml/2006/main">
              <a:ext uri="{FF2B5EF4-FFF2-40B4-BE49-F238E27FC236}">
                <a16:creationId xmlns:a16="http://schemas.microsoft.com/office/drawing/2014/main" id="{1A92FD36-5DCA-4E90-B399-DBB758E8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15290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 / 机制</a:t>
            </a:r>
          </a:p>
        </p:txBody>
      </p:sp>
      <p:sp>
        <p:nvSpPr>
          <p:cNvPr id="23" name="p06-field-label-4">
            <a:extLst xmlns:a="http://schemas.openxmlformats.org/drawingml/2006/main">
              <a:ext uri="{FF2B5EF4-FFF2-40B4-BE49-F238E27FC236}">
                <a16:creationId xmlns:a16="http://schemas.microsoft.com/office/drawing/2014/main" id="{1FE3005C-1CEA-4892-B458-8A1870A0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5290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待验证状态</a:t>
            </a:r>
          </a:p>
        </p:txBody>
      </p:sp>
      <p:sp>
        <p:nvSpPr>
          <p:cNvPr id="24" name="p06-field-detail-4">
            <a:extLst xmlns:a="http://schemas.openxmlformats.org/drawingml/2006/main">
              <a:ext uri="{FF2B5EF4-FFF2-40B4-BE49-F238E27FC236}">
                <a16:creationId xmlns:a16="http://schemas.microsoft.com/office/drawing/2014/main" id="{18257D87-FD7E-445D-A8C7-77039CAE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15290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还缺什么</a:t>
            </a:r>
          </a:p>
        </p:txBody>
      </p:sp>
      <p:sp>
        <p:nvSpPr>
          <p:cNvPr id="25" name="p06-field-label-5">
            <a:extLst xmlns:a="http://schemas.openxmlformats.org/drawingml/2006/main">
              <a:ext uri="{FF2B5EF4-FFF2-40B4-BE49-F238E27FC236}">
                <a16:creationId xmlns:a16="http://schemas.microsoft.com/office/drawing/2014/main" id="{B37C9B62-0732-476B-8E90-56270990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52900"/>
            <a:ext cx="13525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影响工件</a:t>
            </a:r>
          </a:p>
        </p:txBody>
      </p:sp>
      <p:sp>
        <p:nvSpPr>
          <p:cNvPr id="26" name="p06-field-detail-5">
            <a:extLst xmlns:a="http://schemas.openxmlformats.org/drawingml/2006/main">
              <a:ext uri="{FF2B5EF4-FFF2-40B4-BE49-F238E27FC236}">
                <a16:creationId xmlns:a16="http://schemas.microsoft.com/office/drawing/2014/main" id="{73D6C459-FB8E-4602-9164-C29C71F5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152900"/>
            <a:ext cx="1924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会改哪里</a:t>
            </a:r>
          </a:p>
        </p:txBody>
      </p:sp>
      <p:sp>
        <p:nvSpPr>
          <p:cNvPr id="27" name="p06-bottom">
            <a:extLst xmlns:a="http://schemas.openxmlformats.org/drawingml/2006/main">
              <a:ext uri="{FF2B5EF4-FFF2-40B4-BE49-F238E27FC236}">
                <a16:creationId xmlns:a16="http://schemas.microsoft.com/office/drawing/2014/main" id="{A65A45B1-5A71-43BE-B1C0-FCF64E45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219700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684"/>
                </a:solidFill>
              </a:defRPr>
            </a:pPr>
            <a:r>
              <a:rPr sz="15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‘事实’不等于绝对正确，只表示当前有可核验来源支持。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方案取舍要记录比较依据，而不是只写最后选择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p07-a">
            <a:extLst xmlns:a="http://schemas.openxmlformats.org/drawingml/2006/main">
              <a:ext uri="{FF2B5EF4-FFF2-40B4-BE49-F238E27FC236}">
                <a16:creationId xmlns:a16="http://schemas.microsoft.com/office/drawing/2014/main" id="{FEE05B5F-E096-4500-9B4D-EB80E27F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4019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方案甲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同批论文、同模型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阅读卡 vs 自由摘要</a:t>
            </a:r>
          </a:p>
        </p:txBody>
      </p:sp>
      <p:sp>
        <p:nvSpPr>
          <p:cNvPr id="7" name="p07-b">
            <a:extLst xmlns:a="http://schemas.openxmlformats.org/drawingml/2006/main">
              <a:ext uri="{FF2B5EF4-FFF2-40B4-BE49-F238E27FC236}">
                <a16:creationId xmlns:a16="http://schemas.microsoft.com/office/drawing/2014/main" id="{5960EACA-C262-4083-AD2C-B7C0EE0A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66800"/>
            <a:ext cx="4019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方案乙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两批不同论文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阅读卡 vs 自由摘要</a:t>
            </a:r>
          </a:p>
        </p:txBody>
      </p:sp>
      <p:sp>
        <p:nvSpPr>
          <p:cNvPr id="8" name="p07-a-risk">
            <a:extLst xmlns:a="http://schemas.openxmlformats.org/drawingml/2006/main">
              <a:ext uri="{FF2B5EF4-FFF2-40B4-BE49-F238E27FC236}">
                <a16:creationId xmlns:a16="http://schemas.microsoft.com/office/drawing/2014/main" id="{0C8031C5-F083-4BD0-BEC6-ECCD6D97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3638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控制论文与模型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风险：任务记忆污染</a:t>
            </a:r>
          </a:p>
        </p:txBody>
      </p:sp>
      <p:sp>
        <p:nvSpPr>
          <p:cNvPr id="9" name="p07-b-risk">
            <a:extLst xmlns:a="http://schemas.openxmlformats.org/drawingml/2006/main">
              <a:ext uri="{FF2B5EF4-FFF2-40B4-BE49-F238E27FC236}">
                <a16:creationId xmlns:a16="http://schemas.microsoft.com/office/drawing/2014/main" id="{CCB531E1-5077-4233-9374-91CF64C4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552700"/>
            <a:ext cx="3638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避免任务记忆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风险：论文难度差异</a:t>
            </a:r>
          </a:p>
        </p:txBody>
      </p:sp>
      <p:sp>
        <p:nvSpPr>
          <p:cNvPr id="10" name="p07-compare-title">
            <a:extLst xmlns:a="http://schemas.openxmlformats.org/drawingml/2006/main">
              <a:ext uri="{FF2B5EF4-FFF2-40B4-BE49-F238E27FC236}">
                <a16:creationId xmlns:a16="http://schemas.microsoft.com/office/drawing/2014/main" id="{628DD533-56AD-44D6-852E-7CDFDF8A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066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比较依据</a:t>
            </a:r>
          </a:p>
        </p:txBody>
      </p:sp>
      <p:sp>
        <p:nvSpPr>
          <p:cNvPr id="11" name="p07-dim-0">
            <a:extLst xmlns:a="http://schemas.openxmlformats.org/drawingml/2006/main">
              <a:ext uri="{FF2B5EF4-FFF2-40B4-BE49-F238E27FC236}">
                <a16:creationId xmlns:a16="http://schemas.microsoft.com/office/drawing/2014/main" id="{AD847F2D-AE83-4F41-B53A-0BA30AEA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5735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能否区分假设</a:t>
            </a:r>
          </a:p>
        </p:txBody>
      </p:sp>
      <p:sp>
        <p:nvSpPr>
          <p:cNvPr id="12" name="p07-dim-1">
            <a:extLst xmlns:a="http://schemas.openxmlformats.org/drawingml/2006/main">
              <a:ext uri="{FF2B5EF4-FFF2-40B4-BE49-F238E27FC236}">
                <a16:creationId xmlns:a16="http://schemas.microsoft.com/office/drawing/2014/main" id="{F87077EC-F219-4CF9-A69C-F959026C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2410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baseline 是否公平</a:t>
            </a:r>
          </a:p>
        </p:txBody>
      </p:sp>
      <p:sp>
        <p:nvSpPr>
          <p:cNvPr id="13" name="p07-dim-2">
            <a:extLst xmlns:a="http://schemas.openxmlformats.org/drawingml/2006/main">
              <a:ext uri="{FF2B5EF4-FFF2-40B4-BE49-F238E27FC236}">
                <a16:creationId xmlns:a16="http://schemas.microsoft.com/office/drawing/2014/main" id="{F97AD7C1-1139-4695-AF2E-DB921494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9085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周期内可执行</a:t>
            </a:r>
          </a:p>
        </p:txBody>
      </p:sp>
      <p:sp>
        <p:nvSpPr>
          <p:cNvPr id="14" name="p07-dim-3">
            <a:extLst xmlns:a="http://schemas.openxmlformats.org/drawingml/2006/main">
              <a:ext uri="{FF2B5EF4-FFF2-40B4-BE49-F238E27FC236}">
                <a16:creationId xmlns:a16="http://schemas.microsoft.com/office/drawing/2014/main" id="{C403BC37-EB2F-43D7-BA50-F1327C89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65760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失败后留工件</a:t>
            </a:r>
          </a:p>
        </p:txBody>
      </p:sp>
      <p:sp>
        <p:nvSpPr>
          <p:cNvPr id="15" name="p07-dim-4">
            <a:extLst xmlns:a="http://schemas.openxmlformats.org/drawingml/2006/main">
              <a:ext uri="{FF2B5EF4-FFF2-40B4-BE49-F238E27FC236}">
                <a16:creationId xmlns:a16="http://schemas.microsoft.com/office/drawing/2014/main" id="{BA1AA54B-BCE5-44EE-8CCE-FFBCC926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24350"/>
            <a:ext cx="2438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权限与标准不漂移</a:t>
            </a:r>
          </a:p>
        </p:txBody>
      </p:sp>
      <p:sp>
        <p:nvSpPr>
          <p:cNvPr id="16" name="p07-decision">
            <a:extLst xmlns:a="http://schemas.openxmlformats.org/drawingml/2006/main">
              <a:ext uri="{FF2B5EF4-FFF2-40B4-BE49-F238E27FC236}">
                <a16:creationId xmlns:a16="http://schemas.microsoft.com/office/drawing/2014/main" id="{0F615710-E14D-4FAD-B22F-E94AD736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197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记录：保留哪一个、为什么、边界是什么、另一个何时再跑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实验结果必须能够区分至少两种解释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p08-h-0">
            <a:extLst xmlns:a="http://schemas.openxmlformats.org/drawingml/2006/main">
              <a:ext uri="{FF2B5EF4-FFF2-40B4-BE49-F238E27FC236}">
                <a16:creationId xmlns:a16="http://schemas.microsoft.com/office/drawing/2014/main" id="{C31EABF0-20B1-4C59-802E-8A9B8CFE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562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假设</a:t>
            </a:r>
          </a:p>
        </p:txBody>
      </p:sp>
      <p:sp>
        <p:nvSpPr>
          <p:cNvPr id="7" name="p08-h-1">
            <a:extLst xmlns:a="http://schemas.openxmlformats.org/drawingml/2006/main">
              <a:ext uri="{FF2B5EF4-FFF2-40B4-BE49-F238E27FC236}">
                <a16:creationId xmlns:a16="http://schemas.microsoft.com/office/drawing/2014/main" id="{7AD8166B-03E5-40A5-98A9-69349A1A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1430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8" name="p08-h-2">
            <a:extLst xmlns:a="http://schemas.openxmlformats.org/drawingml/2006/main">
              <a:ext uri="{FF2B5EF4-FFF2-40B4-BE49-F238E27FC236}">
                <a16:creationId xmlns:a16="http://schemas.microsoft.com/office/drawing/2014/main" id="{33415905-339A-429C-B3D3-757B9417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14300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</a:t>
            </a:r>
          </a:p>
        </p:txBody>
      </p:sp>
      <p:sp>
        <p:nvSpPr>
          <p:cNvPr id="9" name="p08-h-3">
            <a:extLst xmlns:a="http://schemas.openxmlformats.org/drawingml/2006/main">
              <a:ext uri="{FF2B5EF4-FFF2-40B4-BE49-F238E27FC236}">
                <a16:creationId xmlns:a16="http://schemas.microsoft.com/office/drawing/2014/main" id="{B0ACDCA1-C4DD-4CB5-9B0C-C20C2132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1430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支持它的结果</a:t>
            </a:r>
          </a:p>
        </p:txBody>
      </p:sp>
      <p:sp>
        <p:nvSpPr>
          <p:cNvPr id="10" name="p08-h-4">
            <a:extLst xmlns:a="http://schemas.openxmlformats.org/drawingml/2006/main">
              <a:ext uri="{FF2B5EF4-FFF2-40B4-BE49-F238E27FC236}">
                <a16:creationId xmlns:a16="http://schemas.microsoft.com/office/drawing/2014/main" id="{6C2F48CF-EF01-4775-9C8D-720EB973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1430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削弱 / 反驳</a:t>
            </a:r>
          </a:p>
        </p:txBody>
      </p:sp>
      <p:sp>
        <p:nvSpPr>
          <p:cNvPr id="11" name="p08-r0-0">
            <a:extLst xmlns:a="http://schemas.openxmlformats.org/drawingml/2006/main">
              <a:ext uri="{FF2B5EF4-FFF2-40B4-BE49-F238E27FC236}">
                <a16:creationId xmlns:a16="http://schemas.microsoft.com/office/drawing/2014/main" id="{50AC7206-5566-4C17-AA8E-6CBF49A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1562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主假设</a:t>
            </a:r>
          </a:p>
        </p:txBody>
      </p:sp>
      <p:sp>
        <p:nvSpPr>
          <p:cNvPr id="12" name="p08-r0-1">
            <a:extLst xmlns:a="http://schemas.openxmlformats.org/drawingml/2006/main">
              <a:ext uri="{FF2B5EF4-FFF2-40B4-BE49-F238E27FC236}">
                <a16:creationId xmlns:a16="http://schemas.microsoft.com/office/drawing/2014/main" id="{6198EC58-1C2F-4203-8AB3-01644D72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6192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限定条件遗漏率</a:t>
            </a:r>
          </a:p>
        </p:txBody>
      </p:sp>
      <p:sp>
        <p:nvSpPr>
          <p:cNvPr id="13" name="p08-r0-2">
            <a:extLst xmlns:a="http://schemas.openxmlformats.org/drawingml/2006/main">
              <a:ext uri="{FF2B5EF4-FFF2-40B4-BE49-F238E27FC236}">
                <a16:creationId xmlns:a16="http://schemas.microsoft.com/office/drawing/2014/main" id="{0A80A17E-6265-4283-B59A-7192C06E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6192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同模型同论文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阅读卡 vs 自由摘要</a:t>
            </a:r>
          </a:p>
        </p:txBody>
      </p:sp>
      <p:sp>
        <p:nvSpPr>
          <p:cNvPr id="14" name="p08-r0-3">
            <a:extLst xmlns:a="http://schemas.openxmlformats.org/drawingml/2006/main">
              <a:ext uri="{FF2B5EF4-FFF2-40B4-BE49-F238E27FC236}">
                <a16:creationId xmlns:a16="http://schemas.microsoft.com/office/drawing/2014/main" id="{C5258090-4482-4650-8C77-2882A56D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192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阅读卡组更低</a:t>
            </a:r>
          </a:p>
        </p:txBody>
      </p:sp>
      <p:sp>
        <p:nvSpPr>
          <p:cNvPr id="15" name="p08-r0-4">
            <a:extLst xmlns:a="http://schemas.openxmlformats.org/drawingml/2006/main">
              <a:ext uri="{FF2B5EF4-FFF2-40B4-BE49-F238E27FC236}">
                <a16:creationId xmlns:a16="http://schemas.microsoft.com/office/drawing/2014/main" id="{967E2FFE-9CF2-4106-9B4C-122188DB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192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两组无差异</a:t>
            </a:r>
          </a:p>
        </p:txBody>
      </p:sp>
      <p:sp>
        <p:nvSpPr>
          <p:cNvPr id="16" name="p08-r1-0">
            <a:extLst xmlns:a="http://schemas.openxmlformats.org/drawingml/2006/main">
              <a:ext uri="{FF2B5EF4-FFF2-40B4-BE49-F238E27FC236}">
                <a16:creationId xmlns:a16="http://schemas.microsoft.com/office/drawing/2014/main" id="{769769F7-BA76-4436-B685-C05D51AA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09850"/>
            <a:ext cx="1562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A1 任务转移</a:t>
            </a:r>
          </a:p>
        </p:txBody>
      </p:sp>
      <p:sp>
        <p:nvSpPr>
          <p:cNvPr id="17" name="p08-r1-1">
            <a:extLst xmlns:a="http://schemas.openxmlformats.org/drawingml/2006/main">
              <a:ext uri="{FF2B5EF4-FFF2-40B4-BE49-F238E27FC236}">
                <a16:creationId xmlns:a16="http://schemas.microsoft.com/office/drawing/2014/main" id="{5374BD83-D49D-4F61-8F8D-67824B3F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098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总错读率</a:t>
            </a:r>
          </a:p>
        </p:txBody>
      </p:sp>
      <p:sp>
        <p:nvSpPr>
          <p:cNvPr id="18" name="p08-r1-2">
            <a:extLst xmlns:a="http://schemas.openxmlformats.org/drawingml/2006/main">
              <a:ext uri="{FF2B5EF4-FFF2-40B4-BE49-F238E27FC236}">
                <a16:creationId xmlns:a16="http://schemas.microsoft.com/office/drawing/2014/main" id="{122B3068-2F88-44A6-849F-1B558215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098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同上，分字段统计</a:t>
            </a:r>
          </a:p>
        </p:txBody>
      </p:sp>
      <p:sp>
        <p:nvSpPr>
          <p:cNvPr id="19" name="p08-r1-3">
            <a:extLst xmlns:a="http://schemas.openxmlformats.org/drawingml/2006/main">
              <a:ext uri="{FF2B5EF4-FFF2-40B4-BE49-F238E27FC236}">
                <a16:creationId xmlns:a16="http://schemas.microsoft.com/office/drawing/2014/main" id="{00420968-E843-4AE2-A213-859B9BE5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098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总错读率不变</a:t>
            </a:r>
          </a:p>
        </p:txBody>
      </p:sp>
      <p:sp>
        <p:nvSpPr>
          <p:cNvPr id="20" name="p08-r1-4">
            <a:extLst xmlns:a="http://schemas.openxmlformats.org/drawingml/2006/main">
              <a:ext uri="{FF2B5EF4-FFF2-40B4-BE49-F238E27FC236}">
                <a16:creationId xmlns:a16="http://schemas.microsoft.com/office/drawing/2014/main" id="{118E77A9-4AD5-47D8-AEE0-CCDCE7D2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098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总错读率也下降</a:t>
            </a:r>
          </a:p>
        </p:txBody>
      </p:sp>
      <p:sp>
        <p:nvSpPr>
          <p:cNvPr id="21" name="p08-r2-0">
            <a:extLst xmlns:a="http://schemas.openxmlformats.org/drawingml/2006/main">
              <a:ext uri="{FF2B5EF4-FFF2-40B4-BE49-F238E27FC236}">
                <a16:creationId xmlns:a16="http://schemas.microsoft.com/office/drawing/2014/main" id="{4BEABF32-027F-4128-A9DB-ED4F99B6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1562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A2 标注假象</a:t>
            </a:r>
          </a:p>
        </p:txBody>
      </p:sp>
      <p:sp>
        <p:nvSpPr>
          <p:cNvPr id="22" name="p08-r2-1">
            <a:extLst xmlns:a="http://schemas.openxmlformats.org/drawingml/2006/main">
              <a:ext uri="{FF2B5EF4-FFF2-40B4-BE49-F238E27FC236}">
                <a16:creationId xmlns:a16="http://schemas.microsoft.com/office/drawing/2014/main" id="{2272BD60-25FA-44FA-BC0D-F81D56E3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60045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换标注者后差异</a:t>
            </a:r>
          </a:p>
        </p:txBody>
      </p:sp>
      <p:sp>
        <p:nvSpPr>
          <p:cNvPr id="23" name="p08-r2-2">
            <a:extLst xmlns:a="http://schemas.openxmlformats.org/drawingml/2006/main">
              <a:ext uri="{FF2B5EF4-FFF2-40B4-BE49-F238E27FC236}">
                <a16:creationId xmlns:a16="http://schemas.microsoft.com/office/drawing/2014/main" id="{B093CB37-9388-489F-85BD-B1776C06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004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第三方无提示复标</a:t>
            </a:r>
          </a:p>
        </p:txBody>
      </p:sp>
      <p:sp>
        <p:nvSpPr>
          <p:cNvPr id="24" name="p08-r2-3">
            <a:extLst xmlns:a="http://schemas.openxmlformats.org/drawingml/2006/main">
              <a:ext uri="{FF2B5EF4-FFF2-40B4-BE49-F238E27FC236}">
                <a16:creationId xmlns:a16="http://schemas.microsoft.com/office/drawing/2014/main" id="{7D129B09-3CF9-467C-B9DA-50F0B01E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004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差异消失</a:t>
            </a:r>
          </a:p>
        </p:txBody>
      </p:sp>
      <p:sp>
        <p:nvSpPr>
          <p:cNvPr id="25" name="p08-r2-4">
            <a:extLst xmlns:a="http://schemas.openxmlformats.org/drawingml/2006/main">
              <a:ext uri="{FF2B5EF4-FFF2-40B4-BE49-F238E27FC236}">
                <a16:creationId xmlns:a16="http://schemas.microsoft.com/office/drawing/2014/main" id="{23A8CA86-3C7B-4D81-B09C-DE276308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00450"/>
            <a:ext cx="238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差异保持</a:t>
            </a:r>
          </a:p>
        </p:txBody>
      </p:sp>
      <p:sp>
        <p:nvSpPr>
          <p:cNvPr id="26" name="p08-bottom">
            <a:extLst xmlns:a="http://schemas.openxmlformats.org/drawingml/2006/main">
              <a:ext uri="{FF2B5EF4-FFF2-40B4-BE49-F238E27FC236}">
                <a16:creationId xmlns:a16="http://schemas.microsoft.com/office/drawing/2014/main" id="{781BE5A7-A189-4EA5-A5EC-0D958194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95850"/>
            <a:ext cx="9791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无法区分主假设与替代假设的实验，只能算“未反驳”，不能算“支持”。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公平 baseline 与停止条件共同决定实验可解释性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p09-var-title">
            <a:extLst xmlns:a="http://schemas.openxmlformats.org/drawingml/2006/main">
              <a:ext uri="{FF2B5EF4-FFF2-40B4-BE49-F238E27FC236}">
                <a16:creationId xmlns:a16="http://schemas.microsoft.com/office/drawing/2014/main" id="{B06D2818-D5B9-4390-A866-4F93247D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9650"/>
            <a:ext cx="462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变量与公平 baseline</a:t>
            </a:r>
          </a:p>
        </p:txBody>
      </p:sp>
      <p:sp>
        <p:nvSpPr>
          <p:cNvPr id="7" name="p09-vars-h-0">
            <a:extLst xmlns:a="http://schemas.openxmlformats.org/drawingml/2006/main">
              <a:ext uri="{FF2B5EF4-FFF2-40B4-BE49-F238E27FC236}">
                <a16:creationId xmlns:a16="http://schemas.microsoft.com/office/drawing/2014/main" id="{499B8BF1-ABD2-44A6-A703-9EB7190A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变量</a:t>
            </a:r>
          </a:p>
        </p:txBody>
      </p:sp>
      <p:sp>
        <p:nvSpPr>
          <p:cNvPr id="8" name="p09-vars-h-1">
            <a:extLst xmlns:a="http://schemas.openxmlformats.org/drawingml/2006/main">
              <a:ext uri="{FF2B5EF4-FFF2-40B4-BE49-F238E27FC236}">
                <a16:creationId xmlns:a16="http://schemas.microsoft.com/office/drawing/2014/main" id="{4F4974C4-2408-4ED9-95C7-9E4AC721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562100"/>
            <a:ext cx="3219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贯穿案例</a:t>
            </a:r>
          </a:p>
        </p:txBody>
      </p:sp>
      <p:sp>
        <p:nvSpPr>
          <p:cNvPr id="9" name="p09-vars-r0-0">
            <a:extLst xmlns:a="http://schemas.openxmlformats.org/drawingml/2006/main">
              <a:ext uri="{FF2B5EF4-FFF2-40B4-BE49-F238E27FC236}">
                <a16:creationId xmlns:a16="http://schemas.microsoft.com/office/drawing/2014/main" id="{0518B415-4744-4202-9F83-AAD755E2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自变量</a:t>
            </a:r>
          </a:p>
        </p:txBody>
      </p:sp>
      <p:sp>
        <p:nvSpPr>
          <p:cNvPr id="10" name="p09-vars-r0-1">
            <a:extLst xmlns:a="http://schemas.openxmlformats.org/drawingml/2006/main">
              <a:ext uri="{FF2B5EF4-FFF2-40B4-BE49-F238E27FC236}">
                <a16:creationId xmlns:a16="http://schemas.microsoft.com/office/drawing/2014/main" id="{B5AC222E-12BE-48C4-A916-DB5C818B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0025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是否使用阅读卡</a:t>
            </a:r>
          </a:p>
        </p:txBody>
      </p:sp>
      <p:sp>
        <p:nvSpPr>
          <p:cNvPr id="11" name="p09-vars-r1-0">
            <a:extLst xmlns:a="http://schemas.openxmlformats.org/drawingml/2006/main">
              <a:ext uri="{FF2B5EF4-FFF2-40B4-BE49-F238E27FC236}">
                <a16:creationId xmlns:a16="http://schemas.microsoft.com/office/drawing/2014/main" id="{4652490D-0408-4E22-8BA2-21E2573E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因变量</a:t>
            </a:r>
          </a:p>
        </p:txBody>
      </p:sp>
      <p:sp>
        <p:nvSpPr>
          <p:cNvPr id="12" name="p09-vars-r1-1">
            <a:extLst xmlns:a="http://schemas.openxmlformats.org/drawingml/2006/main">
              <a:ext uri="{FF2B5EF4-FFF2-40B4-BE49-F238E27FC236}">
                <a16:creationId xmlns:a16="http://schemas.microsoft.com/office/drawing/2014/main" id="{029B523A-E290-4821-A140-36ABA067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9080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限定条件遗漏率</a:t>
            </a:r>
          </a:p>
        </p:txBody>
      </p:sp>
      <p:sp>
        <p:nvSpPr>
          <p:cNvPr id="13" name="p09-vars-r2-0">
            <a:extLst xmlns:a="http://schemas.openxmlformats.org/drawingml/2006/main">
              <a:ext uri="{FF2B5EF4-FFF2-40B4-BE49-F238E27FC236}">
                <a16:creationId xmlns:a16="http://schemas.microsoft.com/office/drawing/2014/main" id="{2CBADAB9-CF04-4CFF-BCA3-E0191398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控制变量</a:t>
            </a:r>
          </a:p>
        </p:txBody>
      </p:sp>
      <p:sp>
        <p:nvSpPr>
          <p:cNvPr id="14" name="p09-vars-r2-1">
            <a:extLst xmlns:a="http://schemas.openxmlformats.org/drawingml/2006/main">
              <a:ext uri="{FF2B5EF4-FFF2-40B4-BE49-F238E27FC236}">
                <a16:creationId xmlns:a16="http://schemas.microsoft.com/office/drawing/2014/main" id="{DB0B7E44-1DFB-4D4A-A64B-EF0A92C1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8135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模型、参数、论文集、长度</a:t>
            </a:r>
          </a:p>
        </p:txBody>
      </p:sp>
      <p:sp>
        <p:nvSpPr>
          <p:cNvPr id="15" name="p09-vars-r3-0">
            <a:extLst xmlns:a="http://schemas.openxmlformats.org/drawingml/2006/main">
              <a:ext uri="{FF2B5EF4-FFF2-40B4-BE49-F238E27FC236}">
                <a16:creationId xmlns:a16="http://schemas.microsoft.com/office/drawing/2014/main" id="{39FE52C4-2F57-48CF-8115-D6944383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7190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混杂变量</a:t>
            </a:r>
          </a:p>
        </p:txBody>
      </p:sp>
      <p:sp>
        <p:nvSpPr>
          <p:cNvPr id="16" name="p09-vars-r3-1">
            <a:extLst xmlns:a="http://schemas.openxmlformats.org/drawingml/2006/main">
              <a:ext uri="{FF2B5EF4-FFF2-40B4-BE49-F238E27FC236}">
                <a16:creationId xmlns:a16="http://schemas.microsoft.com/office/drawing/2014/main" id="{4E0FE342-D43F-49F2-9131-5E5D9D4A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771900"/>
            <a:ext cx="3219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论文结构、标注者、任务记忆</a:t>
            </a:r>
          </a:p>
        </p:txBody>
      </p:sp>
      <p:sp>
        <p:nvSpPr>
          <p:cNvPr id="17" name="p09-spec-title">
            <a:extLst xmlns:a="http://schemas.openxmlformats.org/drawingml/2006/main">
              <a:ext uri="{FF2B5EF4-FFF2-40B4-BE49-F238E27FC236}">
                <a16:creationId xmlns:a16="http://schemas.microsoft.com/office/drawing/2014/main" id="{136E8090-65A4-492C-8241-4DFC532E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096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实验规格八项</a:t>
            </a:r>
          </a:p>
        </p:txBody>
      </p:sp>
      <p:sp>
        <p:nvSpPr>
          <p:cNvPr id="18" name="p09-n-0">
            <a:extLst xmlns:a="http://schemas.openxmlformats.org/drawingml/2006/main">
              <a:ext uri="{FF2B5EF4-FFF2-40B4-BE49-F238E27FC236}">
                <a16:creationId xmlns:a16="http://schemas.microsoft.com/office/drawing/2014/main" id="{486C5A6B-3117-44F7-A6F5-3D160E85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811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p09-s-0">
            <a:extLst xmlns:a="http://schemas.openxmlformats.org/drawingml/2006/main">
              <a:ext uri="{FF2B5EF4-FFF2-40B4-BE49-F238E27FC236}">
                <a16:creationId xmlns:a16="http://schemas.microsoft.com/office/drawing/2014/main" id="{C5D5C846-153B-4E1A-B1F9-517A593D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811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假设对应</a:t>
            </a:r>
          </a:p>
        </p:txBody>
      </p:sp>
      <p:sp>
        <p:nvSpPr>
          <p:cNvPr id="20" name="p09-n-1">
            <a:extLst xmlns:a="http://schemas.openxmlformats.org/drawingml/2006/main">
              <a:ext uri="{FF2B5EF4-FFF2-40B4-BE49-F238E27FC236}">
                <a16:creationId xmlns:a16="http://schemas.microsoft.com/office/drawing/2014/main" id="{BFFC5F0F-F746-478D-BEFC-9C9D62C0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811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p09-s-1">
            <a:extLst xmlns:a="http://schemas.openxmlformats.org/drawingml/2006/main">
              <a:ext uri="{FF2B5EF4-FFF2-40B4-BE49-F238E27FC236}">
                <a16:creationId xmlns:a16="http://schemas.microsoft.com/office/drawing/2014/main" id="{D34C1614-C568-4B1F-823A-861ACE0D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811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样本与数据</a:t>
            </a:r>
          </a:p>
        </p:txBody>
      </p:sp>
      <p:sp>
        <p:nvSpPr>
          <p:cNvPr id="22" name="p09-n-2">
            <a:extLst xmlns:a="http://schemas.openxmlformats.org/drawingml/2006/main">
              <a:ext uri="{FF2B5EF4-FFF2-40B4-BE49-F238E27FC236}">
                <a16:creationId xmlns:a16="http://schemas.microsoft.com/office/drawing/2014/main" id="{BCE2B360-05E3-4D4B-A1D9-A33F770F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3" name="p09-s-2">
            <a:extLst xmlns:a="http://schemas.openxmlformats.org/drawingml/2006/main">
              <a:ext uri="{FF2B5EF4-FFF2-40B4-BE49-F238E27FC236}">
                <a16:creationId xmlns:a16="http://schemas.microsoft.com/office/drawing/2014/main" id="{C80A92C1-1330-43A9-9378-74309863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步骤与审核</a:t>
            </a:r>
          </a:p>
        </p:txBody>
      </p:sp>
      <p:sp>
        <p:nvSpPr>
          <p:cNvPr id="24" name="p09-n-3">
            <a:extLst xmlns:a="http://schemas.openxmlformats.org/drawingml/2006/main">
              <a:ext uri="{FF2B5EF4-FFF2-40B4-BE49-F238E27FC236}">
                <a16:creationId xmlns:a16="http://schemas.microsoft.com/office/drawing/2014/main" id="{C3BE3EEC-75EB-4B85-AA12-A0B3A2A1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p09-s-3">
            <a:extLst xmlns:a="http://schemas.openxmlformats.org/drawingml/2006/main">
              <a:ext uri="{FF2B5EF4-FFF2-40B4-BE49-F238E27FC236}">
                <a16:creationId xmlns:a16="http://schemas.microsoft.com/office/drawing/2014/main" id="{7EE4A86C-AB5A-4401-9A4C-35BC3DF5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669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度量定义</a:t>
            </a:r>
          </a:p>
        </p:txBody>
      </p:sp>
      <p:sp>
        <p:nvSpPr>
          <p:cNvPr id="26" name="p09-n-4">
            <a:extLst xmlns:a="http://schemas.openxmlformats.org/drawingml/2006/main">
              <a:ext uri="{FF2B5EF4-FFF2-40B4-BE49-F238E27FC236}">
                <a16:creationId xmlns:a16="http://schemas.microsoft.com/office/drawing/2014/main" id="{9D3F94A4-574C-45C3-9272-319978E7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52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7" name="p09-s-4">
            <a:extLst xmlns:a="http://schemas.openxmlformats.org/drawingml/2006/main">
              <a:ext uri="{FF2B5EF4-FFF2-40B4-BE49-F238E27FC236}">
                <a16:creationId xmlns:a16="http://schemas.microsoft.com/office/drawing/2014/main" id="{AB6D7C7F-EA9F-4074-BFB2-6FFD263D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527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对照公平性</a:t>
            </a:r>
          </a:p>
        </p:txBody>
      </p:sp>
      <p:sp>
        <p:nvSpPr>
          <p:cNvPr id="28" name="p09-n-5">
            <a:extLst xmlns:a="http://schemas.openxmlformats.org/drawingml/2006/main">
              <a:ext uri="{FF2B5EF4-FFF2-40B4-BE49-F238E27FC236}">
                <a16:creationId xmlns:a16="http://schemas.microsoft.com/office/drawing/2014/main" id="{D9F833D9-FC8C-4E43-A4F5-7436E57C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" name="p09-s-5">
            <a:extLst xmlns:a="http://schemas.openxmlformats.org/drawingml/2006/main">
              <a:ext uri="{FF2B5EF4-FFF2-40B4-BE49-F238E27FC236}">
                <a16:creationId xmlns:a16="http://schemas.microsoft.com/office/drawing/2014/main" id="{DC6DDA8F-0C4F-4833-B91D-02D19B63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527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随机化与重复</a:t>
            </a:r>
          </a:p>
        </p:txBody>
      </p:sp>
      <p:sp>
        <p:nvSpPr>
          <p:cNvPr id="30" name="p09-n-6">
            <a:extLst xmlns:a="http://schemas.openxmlformats.org/drawingml/2006/main">
              <a:ext uri="{FF2B5EF4-FFF2-40B4-BE49-F238E27FC236}">
                <a16:creationId xmlns:a16="http://schemas.microsoft.com/office/drawing/2014/main" id="{3A328361-C0B9-4DED-844D-043653DD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1" name="p09-s-6">
            <a:extLst xmlns:a="http://schemas.openxmlformats.org/drawingml/2006/main">
              <a:ext uri="{FF2B5EF4-FFF2-40B4-BE49-F238E27FC236}">
                <a16:creationId xmlns:a16="http://schemas.microsoft.com/office/drawing/2014/main" id="{AF7FCAEB-7E89-475D-A9ED-45192DEB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385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停止条件</a:t>
            </a:r>
          </a:p>
        </p:txBody>
      </p:sp>
      <p:sp>
        <p:nvSpPr>
          <p:cNvPr id="32" name="p09-n-7">
            <a:extLst xmlns:a="http://schemas.openxmlformats.org/drawingml/2006/main">
              <a:ext uri="{FF2B5EF4-FFF2-40B4-BE49-F238E27FC236}">
                <a16:creationId xmlns:a16="http://schemas.microsoft.com/office/drawing/2014/main" id="{E97646D9-2973-467C-80B0-6862AE00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385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3" name="p09-s-7">
            <a:extLst xmlns:a="http://schemas.openxmlformats.org/drawingml/2006/main">
              <a:ext uri="{FF2B5EF4-FFF2-40B4-BE49-F238E27FC236}">
                <a16:creationId xmlns:a16="http://schemas.microsoft.com/office/drawing/2014/main" id="{EA897C02-3507-462A-9FE7-72B384C8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38550"/>
            <a:ext cx="2038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失败预案</a:t>
            </a:r>
          </a:p>
        </p:txBody>
      </p:sp>
      <p:sp>
        <p:nvSpPr>
          <p:cNvPr id="34" name="p09-bottom">
            <a:extLst xmlns:a="http://schemas.openxmlformats.org/drawingml/2006/main">
              <a:ext uri="{FF2B5EF4-FFF2-40B4-BE49-F238E27FC236}">
                <a16:creationId xmlns:a16="http://schemas.microsoft.com/office/drawing/2014/main" id="{334FF718-E802-42D1-9F4C-158CBB31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363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公平 baseline：控制变量一致｜停止条件：预先写明次数、提前停规则和预算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候选在核验前只能留在探索线索区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p10-check-title">
            <a:extLst xmlns:a="http://schemas.openxmlformats.org/drawingml/2006/main">
              <a:ext uri="{FF2B5EF4-FFF2-40B4-BE49-F238E27FC236}">
                <a16:creationId xmlns:a16="http://schemas.microsoft.com/office/drawing/2014/main" id="{B547F51B-3106-4EA4-9982-B4FCF3F6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六项核验</a:t>
            </a:r>
          </a:p>
        </p:txBody>
      </p:sp>
      <p:sp>
        <p:nvSpPr>
          <p:cNvPr id="7" name="p10-n-0">
            <a:extLst xmlns:a="http://schemas.openxmlformats.org/drawingml/2006/main">
              <a:ext uri="{FF2B5EF4-FFF2-40B4-BE49-F238E27FC236}">
                <a16:creationId xmlns:a16="http://schemas.microsoft.com/office/drawing/2014/main" id="{A19A2BD6-AB6C-4017-90DF-6321FBD8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p10-c-0">
            <a:extLst xmlns:a="http://schemas.openxmlformats.org/drawingml/2006/main">
              <a:ext uri="{FF2B5EF4-FFF2-40B4-BE49-F238E27FC236}">
                <a16:creationId xmlns:a16="http://schemas.microsoft.com/office/drawing/2014/main" id="{D34BA272-235A-49C1-B46A-9CBB49D5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811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含中间过程，不是预测换说法</a:t>
            </a:r>
          </a:p>
        </p:txBody>
      </p:sp>
      <p:sp>
        <p:nvSpPr>
          <p:cNvPr id="9" name="p10-n-1">
            <a:extLst xmlns:a="http://schemas.openxmlformats.org/drawingml/2006/main">
              <a:ext uri="{FF2B5EF4-FFF2-40B4-BE49-F238E27FC236}">
                <a16:creationId xmlns:a16="http://schemas.microsoft.com/office/drawing/2014/main" id="{A544C3E7-22DC-44DB-B07B-3A249B10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10-c-1">
            <a:extLst xmlns:a="http://schemas.openxmlformats.org/drawingml/2006/main">
              <a:ext uri="{FF2B5EF4-FFF2-40B4-BE49-F238E27FC236}">
                <a16:creationId xmlns:a16="http://schemas.microsoft.com/office/drawing/2014/main" id="{20869FD4-80EE-49B7-ABD8-6FAABEAA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7170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存在可推翻它的观察</a:t>
            </a:r>
          </a:p>
        </p:txBody>
      </p:sp>
      <p:sp>
        <p:nvSpPr>
          <p:cNvPr id="11" name="p10-n-2">
            <a:extLst xmlns:a="http://schemas.openxmlformats.org/drawingml/2006/main">
              <a:ext uri="{FF2B5EF4-FFF2-40B4-BE49-F238E27FC236}">
                <a16:creationId xmlns:a16="http://schemas.microsoft.com/office/drawing/2014/main" id="{6BE843B9-3097-4315-93AD-50C40342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22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p10-c-2">
            <a:extLst xmlns:a="http://schemas.openxmlformats.org/drawingml/2006/main">
              <a:ext uri="{FF2B5EF4-FFF2-40B4-BE49-F238E27FC236}">
                <a16:creationId xmlns:a16="http://schemas.microsoft.com/office/drawing/2014/main" id="{45AAD4EE-4401-4254-8688-B27AAA22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替代假设与主假设可区分</a:t>
            </a:r>
          </a:p>
        </p:txBody>
      </p:sp>
      <p:sp>
        <p:nvSpPr>
          <p:cNvPr id="13" name="p10-n-3">
            <a:extLst xmlns:a="http://schemas.openxmlformats.org/drawingml/2006/main">
              <a:ext uri="{FF2B5EF4-FFF2-40B4-BE49-F238E27FC236}">
                <a16:creationId xmlns:a16="http://schemas.microsoft.com/office/drawing/2014/main" id="{53E0BE10-6F66-4380-AF0D-E1525079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p10-c-3">
            <a:extLst xmlns:a="http://schemas.openxmlformats.org/drawingml/2006/main">
              <a:ext uri="{FF2B5EF4-FFF2-40B4-BE49-F238E27FC236}">
                <a16:creationId xmlns:a16="http://schemas.microsoft.com/office/drawing/2014/main" id="{3352A5AB-5095-4D82-89A5-4A14EE12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5280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引文、常数、设置回到来源</a:t>
            </a:r>
          </a:p>
        </p:txBody>
      </p:sp>
      <p:sp>
        <p:nvSpPr>
          <p:cNvPr id="15" name="p10-n-4">
            <a:extLst xmlns:a="http://schemas.openxmlformats.org/drawingml/2006/main">
              <a:ext uri="{FF2B5EF4-FFF2-40B4-BE49-F238E27FC236}">
                <a16:creationId xmlns:a16="http://schemas.microsoft.com/office/drawing/2014/main" id="{F13BCF1E-455C-4173-A4CB-D3598CF6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p10-c-4">
            <a:extLst xmlns:a="http://schemas.openxmlformats.org/drawingml/2006/main">
              <a:ext uri="{FF2B5EF4-FFF2-40B4-BE49-F238E27FC236}">
                <a16:creationId xmlns:a16="http://schemas.microsoft.com/office/drawing/2014/main" id="{148FD9FF-EDDB-43E2-89F3-8E806347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433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没有暗改评价标准或 baseline</a:t>
            </a:r>
          </a:p>
        </p:txBody>
      </p:sp>
      <p:sp>
        <p:nvSpPr>
          <p:cNvPr id="17" name="p10-n-5">
            <a:extLst xmlns:a="http://schemas.openxmlformats.org/drawingml/2006/main">
              <a:ext uri="{FF2B5EF4-FFF2-40B4-BE49-F238E27FC236}">
                <a16:creationId xmlns:a16="http://schemas.microsoft.com/office/drawing/2014/main" id="{1E6A4C37-A205-46AF-AC5C-CD3CDD6F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8" name="p10-c-5">
            <a:extLst xmlns:a="http://schemas.openxmlformats.org/drawingml/2006/main">
              <a:ext uri="{FF2B5EF4-FFF2-40B4-BE49-F238E27FC236}">
                <a16:creationId xmlns:a16="http://schemas.microsoft.com/office/drawing/2014/main" id="{3BD84F7D-7D42-4EC6-B21C-FF3DEBB9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3390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停止条件不会跑到显著为止</a:t>
            </a:r>
          </a:p>
        </p:txBody>
      </p:sp>
      <p:sp>
        <p:nvSpPr>
          <p:cNvPr id="19" name="p10-flow-1">
            <a:extLst xmlns:a="http://schemas.openxmlformats.org/drawingml/2006/main">
              <a:ext uri="{FF2B5EF4-FFF2-40B4-BE49-F238E27FC236}">
                <a16:creationId xmlns:a16="http://schemas.microsoft.com/office/drawing/2014/main" id="{837AA74F-EFFE-481A-8FC5-7A6590CC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48450" y="2309813"/>
            <a:ext cx="952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6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10-flow-2">
            <a:extLst xmlns:a="http://schemas.openxmlformats.org/drawingml/2006/main">
              <a:ext uri="{FF2B5EF4-FFF2-40B4-BE49-F238E27FC236}">
                <a16:creationId xmlns:a16="http://schemas.microsoft.com/office/drawing/2014/main" id="{7EABA4EF-BEC3-43D0-9141-D2D1589A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553450" y="1928813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10-flow-3">
            <a:extLst xmlns:a="http://schemas.openxmlformats.org/drawingml/2006/main">
              <a:ext uri="{FF2B5EF4-FFF2-40B4-BE49-F238E27FC236}">
                <a16:creationId xmlns:a16="http://schemas.microsoft.com/office/drawing/2014/main" id="{C1320900-3AC7-42EE-B13C-9C2AB6FB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486775" y="2757488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10-ai">
            <a:extLst xmlns:a="http://schemas.openxmlformats.org/drawingml/2006/main">
              <a:ext uri="{FF2B5EF4-FFF2-40B4-BE49-F238E27FC236}">
                <a16:creationId xmlns:a16="http://schemas.microsoft.com/office/drawing/2014/main" id="{147B0E74-C522-4E59-81D1-5565EFDA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14097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AI 候选</a:t>
            </a:r>
          </a:p>
        </p:txBody>
      </p:sp>
      <p:sp>
        <p:nvSpPr>
          <p:cNvPr id="23" name="p10-audit">
            <a:extLst xmlns:a="http://schemas.openxmlformats.org/drawingml/2006/main">
              <a:ext uri="{FF2B5EF4-FFF2-40B4-BE49-F238E27FC236}">
                <a16:creationId xmlns:a16="http://schemas.microsoft.com/office/drawing/2014/main" id="{6944FDA3-D8C6-40AA-BA09-D022D9C7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24050"/>
            <a:ext cx="17907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人工核验</a:t>
            </a:r>
          </a:p>
        </p:txBody>
      </p:sp>
      <p:sp>
        <p:nvSpPr>
          <p:cNvPr id="24" name="p10-main">
            <a:extLst xmlns:a="http://schemas.openxmlformats.org/drawingml/2006/main">
              <a:ext uri="{FF2B5EF4-FFF2-40B4-BE49-F238E27FC236}">
                <a16:creationId xmlns:a16="http://schemas.microsoft.com/office/drawing/2014/main" id="{E50CE592-92C7-47DA-B5CE-6C6F0878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066800"/>
            <a:ext cx="1885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进入主格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有过程 + 可证伪 + 可追溯</a:t>
            </a:r>
          </a:p>
        </p:txBody>
      </p:sp>
      <p:sp>
        <p:nvSpPr>
          <p:cNvPr id="25" name="p10-clue">
            <a:extLst xmlns:a="http://schemas.openxmlformats.org/drawingml/2006/main">
              <a:ext uri="{FF2B5EF4-FFF2-40B4-BE49-F238E27FC236}">
                <a16:creationId xmlns:a16="http://schemas.microsoft.com/office/drawing/2014/main" id="{77CD080E-CFB2-44CC-88E3-5EC0AEDE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28950"/>
            <a:ext cx="1885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探索线索区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待补证据或重写</a:t>
            </a:r>
          </a:p>
        </p:txBody>
      </p:sp>
      <p:sp>
        <p:nvSpPr>
          <p:cNvPr id="26" name="p10-record">
            <a:extLst xmlns:a="http://schemas.openxmlformats.org/drawingml/2006/main">
              <a:ext uri="{FF2B5EF4-FFF2-40B4-BE49-F238E27FC236}">
                <a16:creationId xmlns:a16="http://schemas.microsoft.com/office/drawing/2014/main" id="{13C33102-5BA6-4939-B59B-799B1E00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72000"/>
            <a:ext cx="4876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至少记录：用途｜Context｜输出用途｜人工核验｜发现的问题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演示上半程：从问题门输出到可区分的反证点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p11-real-method">
            <a:extLst xmlns:a="http://schemas.openxmlformats.org/drawingml/2006/main">
              <a:ext uri="{FF2B5EF4-FFF2-40B4-BE49-F238E27FC236}">
                <a16:creationId xmlns:a16="http://schemas.microsoft.com/office/drawing/2014/main" id="{779B0942-8A05-49FE-85E2-794E014E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54E"/>
                </a:solidFill>
              </a:defRPr>
            </a:pPr>
            <a:r>
              <a:rPr sz="13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真实公开方法对象｜Platt 1964：多重假设 → 关键实验 → 排除 → 循环</a:t>
            </a:r>
          </a:p>
        </p:txBody>
      </p:sp>
      <p:sp>
        <p:nvSpPr>
          <p:cNvPr id="7" name="p11-watermark">
            <a:extLst xmlns:a="http://schemas.openxmlformats.org/drawingml/2006/main">
              <a:ext uri="{FF2B5EF4-FFF2-40B4-BE49-F238E27FC236}">
                <a16:creationId xmlns:a16="http://schemas.microsoft.com/office/drawing/2014/main" id="{499ECA34-4AAF-47CA-9449-FE88180E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8763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虚构教学样例｜非真实实验结果</a:t>
            </a:r>
          </a:p>
        </p:txBody>
      </p:sp>
      <p:sp>
        <p:nvSpPr>
          <p:cNvPr id="8" name="p11-line-0">
            <a:extLst xmlns:a="http://schemas.openxmlformats.org/drawingml/2006/main">
              <a:ext uri="{FF2B5EF4-FFF2-40B4-BE49-F238E27FC236}">
                <a16:creationId xmlns:a16="http://schemas.microsoft.com/office/drawing/2014/main" id="{B87B29A8-1108-436E-AEB0-1270DF2E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0" y="21717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1-line-1">
            <a:extLst xmlns:a="http://schemas.openxmlformats.org/drawingml/2006/main">
              <a:ext uri="{FF2B5EF4-FFF2-40B4-BE49-F238E27FC236}">
                <a16:creationId xmlns:a16="http://schemas.microsoft.com/office/drawing/2014/main" id="{B0FEBC1E-FD0F-441F-9820-3A562701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21717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1-line-2">
            <a:extLst xmlns:a="http://schemas.openxmlformats.org/drawingml/2006/main">
              <a:ext uri="{FF2B5EF4-FFF2-40B4-BE49-F238E27FC236}">
                <a16:creationId xmlns:a16="http://schemas.microsoft.com/office/drawing/2014/main" id="{F1F65E36-10C9-463D-BAE7-DC7EC77E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21717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1-number-0">
            <a:extLst xmlns:a="http://schemas.openxmlformats.org/drawingml/2006/main">
              <a:ext uri="{FF2B5EF4-FFF2-40B4-BE49-F238E27FC236}">
                <a16:creationId xmlns:a16="http://schemas.microsoft.com/office/drawing/2014/main" id="{85820754-5246-4F1E-B690-8B85F648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33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p11-step-0">
            <a:extLst xmlns:a="http://schemas.openxmlformats.org/drawingml/2006/main">
              <a:ext uri="{FF2B5EF4-FFF2-40B4-BE49-F238E27FC236}">
                <a16:creationId xmlns:a16="http://schemas.microsoft.com/office/drawing/2014/main" id="{5C09C265-C682-4F81-A3B4-2E87C85A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2571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问题门输出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20 篇 CS 论文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阅读卡 vs 自由摘要</a:t>
            </a:r>
          </a:p>
        </p:txBody>
      </p:sp>
      <p:sp>
        <p:nvSpPr>
          <p:cNvPr id="13" name="p11-number-1">
            <a:extLst xmlns:a="http://schemas.openxmlformats.org/drawingml/2006/main">
              <a:ext uri="{FF2B5EF4-FFF2-40B4-BE49-F238E27FC236}">
                <a16:creationId xmlns:a16="http://schemas.microsoft.com/office/drawing/2014/main" id="{5AF48074-7B2C-4F1F-B8A0-C05481AF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333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p11-step-1">
            <a:extLst xmlns:a="http://schemas.openxmlformats.org/drawingml/2006/main">
              <a:ext uri="{FF2B5EF4-FFF2-40B4-BE49-F238E27FC236}">
                <a16:creationId xmlns:a16="http://schemas.microsoft.com/office/drawing/2014/main" id="{A913CB4D-B6B9-44DC-BB06-6C4788ED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2571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主机制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字段约束 → 强制标注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→ 错读更易暴露</a:t>
            </a:r>
          </a:p>
        </p:txBody>
      </p:sp>
      <p:sp>
        <p:nvSpPr>
          <p:cNvPr id="15" name="p11-number-2">
            <a:extLst xmlns:a="http://schemas.openxmlformats.org/drawingml/2006/main">
              <a:ext uri="{FF2B5EF4-FFF2-40B4-BE49-F238E27FC236}">
                <a16:creationId xmlns:a16="http://schemas.microsoft.com/office/drawing/2014/main" id="{36810931-D500-4C60-9C25-ED4EADE6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33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p11-step-2">
            <a:extLst xmlns:a="http://schemas.openxmlformats.org/drawingml/2006/main">
              <a:ext uri="{FF2B5EF4-FFF2-40B4-BE49-F238E27FC236}">
                <a16:creationId xmlns:a16="http://schemas.microsoft.com/office/drawing/2014/main" id="{266F0D64-89C6-4A02-8BE8-471979B7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24050"/>
            <a:ext cx="2571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替代解释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A1 任务转移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A2 标注假象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A86C12"/>
                </a:solidFill>
              </a:defRPr>
            </a:pPr>
            <a:r>
              <a:rPr sz="14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A3 选择效应</a:t>
            </a:r>
          </a:p>
        </p:txBody>
      </p:sp>
      <p:sp>
        <p:nvSpPr>
          <p:cNvPr id="17" name="p11-number-3">
            <a:extLst xmlns:a="http://schemas.openxmlformats.org/drawingml/2006/main">
              <a:ext uri="{FF2B5EF4-FFF2-40B4-BE49-F238E27FC236}">
                <a16:creationId xmlns:a16="http://schemas.microsoft.com/office/drawing/2014/main" id="{5D3189B3-9D1A-4846-BB14-A6716F04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335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p11-step-3">
            <a:extLst xmlns:a="http://schemas.openxmlformats.org/drawingml/2006/main">
              <a:ext uri="{FF2B5EF4-FFF2-40B4-BE49-F238E27FC236}">
                <a16:creationId xmlns:a16="http://schemas.microsoft.com/office/drawing/2014/main" id="{67E5AD88-25DA-40FF-975B-DEBBAD05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57175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反证点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每条假设预先写出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28745A"/>
                </a:solidFill>
              </a:defRPr>
            </a:pPr>
            <a:r>
              <a:rPr sz="142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会推翻它的观察</a:t>
            </a:r>
          </a:p>
        </p:txBody>
      </p:sp>
      <p:sp>
        <p:nvSpPr>
          <p:cNvPr id="19" name="p11-predictions-title">
            <a:extLst xmlns:a="http://schemas.openxmlformats.org/drawingml/2006/main">
              <a:ext uri="{FF2B5EF4-FFF2-40B4-BE49-F238E27FC236}">
                <a16:creationId xmlns:a16="http://schemas.microsoft.com/office/drawing/2014/main" id="{21A2F0DA-CA09-4243-865B-37F60F17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147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三个替代必须预测不同结果</a:t>
            </a:r>
          </a:p>
        </p:txBody>
      </p:sp>
      <p:sp>
        <p:nvSpPr>
          <p:cNvPr id="20" name="p11-pred-0">
            <a:extLst xmlns:a="http://schemas.openxmlformats.org/drawingml/2006/main">
              <a:ext uri="{FF2B5EF4-FFF2-40B4-BE49-F238E27FC236}">
                <a16:creationId xmlns:a16="http://schemas.microsoft.com/office/drawing/2014/main" id="{7E1B4197-33E7-4BC7-8556-C4F56FE2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A1：总错读率不变</a:t>
            </a:r>
          </a:p>
        </p:txBody>
      </p:sp>
      <p:sp>
        <p:nvSpPr>
          <p:cNvPr id="21" name="p11-pred-1">
            <a:extLst xmlns:a="http://schemas.openxmlformats.org/drawingml/2006/main">
              <a:ext uri="{FF2B5EF4-FFF2-40B4-BE49-F238E27FC236}">
                <a16:creationId xmlns:a16="http://schemas.microsoft.com/office/drawing/2014/main" id="{C24D780D-8F74-4910-AEAB-D6BE8C73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81500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C8161E"/>
                </a:solidFill>
              </a:defRPr>
            </a:pPr>
            <a:r>
              <a:rPr sz="14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A2：换标注者后差异消失</a:t>
            </a:r>
          </a:p>
        </p:txBody>
      </p:sp>
      <p:sp>
        <p:nvSpPr>
          <p:cNvPr id="22" name="p11-pred-2">
            <a:extLst xmlns:a="http://schemas.openxmlformats.org/drawingml/2006/main">
              <a:ext uri="{FF2B5EF4-FFF2-40B4-BE49-F238E27FC236}">
                <a16:creationId xmlns:a16="http://schemas.microsoft.com/office/drawing/2014/main" id="{B5A80BD8-A2F1-4253-8B26-372996D19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81500"/>
            <a:ext cx="3524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18354E"/>
                </a:solidFill>
              </a:defRPr>
            </a:pPr>
            <a:r>
              <a:rPr sz="14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A3：分层后效应集中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演示下半程：判断、映射与 AI 候选核验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p12-watermark">
            <a:extLst xmlns:a="http://schemas.openxmlformats.org/drawingml/2006/main">
              <a:ext uri="{FF2B5EF4-FFF2-40B4-BE49-F238E27FC236}">
                <a16:creationId xmlns:a16="http://schemas.microsoft.com/office/drawing/2014/main" id="{B361D7CC-F9EF-4E30-9661-D99A8528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7630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虚构教学样例｜不存在文献仅用于核验练习</a:t>
            </a:r>
          </a:p>
        </p:txBody>
      </p:sp>
      <p:sp>
        <p:nvSpPr>
          <p:cNvPr id="7" name="p12-line-0">
            <a:extLst xmlns:a="http://schemas.openxmlformats.org/drawingml/2006/main">
              <a:ext uri="{FF2B5EF4-FFF2-40B4-BE49-F238E27FC236}">
                <a16:creationId xmlns:a16="http://schemas.microsoft.com/office/drawing/2014/main" id="{63B90261-6F90-45DF-AA70-1EA1B50A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6690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2-line-1">
            <a:extLst xmlns:a="http://schemas.openxmlformats.org/drawingml/2006/main">
              <a:ext uri="{FF2B5EF4-FFF2-40B4-BE49-F238E27FC236}">
                <a16:creationId xmlns:a16="http://schemas.microsoft.com/office/drawing/2014/main" id="{B20D5CF3-20FE-4BFD-83AD-C8E8693E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2-line-2">
            <a:extLst xmlns:a="http://schemas.openxmlformats.org/drawingml/2006/main">
              <a:ext uri="{FF2B5EF4-FFF2-40B4-BE49-F238E27FC236}">
                <a16:creationId xmlns:a16="http://schemas.microsoft.com/office/drawing/2014/main" id="{F691B6F6-F774-4C18-953A-44BC95D8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080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2-line-3">
            <a:extLst xmlns:a="http://schemas.openxmlformats.org/drawingml/2006/main">
              <a:ext uri="{FF2B5EF4-FFF2-40B4-BE49-F238E27FC236}">
                <a16:creationId xmlns:a16="http://schemas.microsoft.com/office/drawing/2014/main" id="{152990A5-061D-44B7-B401-17520FD0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1585913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2-number-0">
            <a:extLst xmlns:a="http://schemas.openxmlformats.org/drawingml/2006/main">
              <a:ext uri="{FF2B5EF4-FFF2-40B4-BE49-F238E27FC236}">
                <a16:creationId xmlns:a16="http://schemas.microsoft.com/office/drawing/2014/main" id="{7C79769E-0FD3-4850-954A-CBF826E7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2" name="p12-step-0">
            <a:extLst xmlns:a="http://schemas.openxmlformats.org/drawingml/2006/main">
              <a:ext uri="{FF2B5EF4-FFF2-40B4-BE49-F238E27FC236}">
                <a16:creationId xmlns:a16="http://schemas.microsoft.com/office/drawing/2014/main" id="{5B0F8BB8-F0A4-4F63-8BCF-59EF0D6E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六字段判断</a:t>
            </a:r>
          </a:p>
        </p:txBody>
      </p:sp>
      <p:sp>
        <p:nvSpPr>
          <p:cNvPr id="13" name="p12-number-1">
            <a:extLst xmlns:a="http://schemas.openxmlformats.org/drawingml/2006/main">
              <a:ext uri="{FF2B5EF4-FFF2-40B4-BE49-F238E27FC236}">
                <a16:creationId xmlns:a16="http://schemas.microsoft.com/office/drawing/2014/main" id="{E6D85153-01C1-44EA-88A6-4E14D69B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" name="p12-step-1">
            <a:extLst xmlns:a="http://schemas.openxmlformats.org/drawingml/2006/main">
              <a:ext uri="{FF2B5EF4-FFF2-40B4-BE49-F238E27FC236}">
                <a16:creationId xmlns:a16="http://schemas.microsoft.com/office/drawing/2014/main" id="{9EF2D3A8-0CBE-4821-8DD9-479E7274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三行映射</a:t>
            </a:r>
          </a:p>
        </p:txBody>
      </p:sp>
      <p:sp>
        <p:nvSpPr>
          <p:cNvPr id="15" name="p12-number-2">
            <a:extLst xmlns:a="http://schemas.openxmlformats.org/drawingml/2006/main">
              <a:ext uri="{FF2B5EF4-FFF2-40B4-BE49-F238E27FC236}">
                <a16:creationId xmlns:a16="http://schemas.microsoft.com/office/drawing/2014/main" id="{56A75EBD-30B2-4723-9EC3-9ECC8BDF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6" name="p12-step-2">
            <a:extLst xmlns:a="http://schemas.openxmlformats.org/drawingml/2006/main">
              <a:ext uri="{FF2B5EF4-FFF2-40B4-BE49-F238E27FC236}">
                <a16:creationId xmlns:a16="http://schemas.microsoft.com/office/drawing/2014/main" id="{6BCD5D7A-0421-48A5-8DFA-3174D8F9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实验规格骨架</a:t>
            </a:r>
          </a:p>
        </p:txBody>
      </p:sp>
      <p:sp>
        <p:nvSpPr>
          <p:cNvPr id="17" name="p12-number-3">
            <a:extLst xmlns:a="http://schemas.openxmlformats.org/drawingml/2006/main">
              <a:ext uri="{FF2B5EF4-FFF2-40B4-BE49-F238E27FC236}">
                <a16:creationId xmlns:a16="http://schemas.microsoft.com/office/drawing/2014/main" id="{0C4AE8CF-3B50-4120-8753-C290B965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8" name="p12-step-3">
            <a:extLst xmlns:a="http://schemas.openxmlformats.org/drawingml/2006/main">
              <a:ext uri="{FF2B5EF4-FFF2-40B4-BE49-F238E27FC236}">
                <a16:creationId xmlns:a16="http://schemas.microsoft.com/office/drawing/2014/main" id="{28B785BB-655F-41F0-BD3D-4B4293A6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AI 候选核验</a:t>
            </a:r>
          </a:p>
        </p:txBody>
      </p:sp>
      <p:sp>
        <p:nvSpPr>
          <p:cNvPr id="19" name="p12-number-4">
            <a:extLst xmlns:a="http://schemas.openxmlformats.org/drawingml/2006/main">
              <a:ext uri="{FF2B5EF4-FFF2-40B4-BE49-F238E27FC236}">
                <a16:creationId xmlns:a16="http://schemas.microsoft.com/office/drawing/2014/main" id="{60FB5EC1-DE96-4382-A03E-E09C34B9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352550"/>
            <a:ext cx="476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0" name="p12-step-4">
            <a:extLst xmlns:a="http://schemas.openxmlformats.org/drawingml/2006/main">
              <a:ext uri="{FF2B5EF4-FFF2-40B4-BE49-F238E27FC236}">
                <a16:creationId xmlns:a16="http://schemas.microsoft.com/office/drawing/2014/main" id="{B0425DC0-0016-4830-B146-0B9727DA6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352550"/>
            <a:ext cx="1657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使用记录</a:t>
            </a:r>
          </a:p>
        </p:txBody>
      </p:sp>
      <p:sp>
        <p:nvSpPr>
          <p:cNvPr id="21" name="p12-audit-h-0">
            <a:extLst xmlns:a="http://schemas.openxmlformats.org/drawingml/2006/main">
              <a:ext uri="{FF2B5EF4-FFF2-40B4-BE49-F238E27FC236}">
                <a16:creationId xmlns:a16="http://schemas.microsoft.com/office/drawing/2014/main" id="{C0B12B48-6759-4F0E-B56F-E3E6E14A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候选</a:t>
            </a:r>
          </a:p>
        </p:txBody>
      </p:sp>
      <p:sp>
        <p:nvSpPr>
          <p:cNvPr id="22" name="p12-audit-h-1">
            <a:extLst xmlns:a="http://schemas.openxmlformats.org/drawingml/2006/main">
              <a:ext uri="{FF2B5EF4-FFF2-40B4-BE49-F238E27FC236}">
                <a16:creationId xmlns:a16="http://schemas.microsoft.com/office/drawing/2014/main" id="{3C68CC6E-6DC7-4423-8540-901296EC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24100"/>
            <a:ext cx="485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核验结果</a:t>
            </a:r>
          </a:p>
        </p:txBody>
      </p:sp>
      <p:sp>
        <p:nvSpPr>
          <p:cNvPr id="23" name="p12-audit-h-2">
            <a:extLst xmlns:a="http://schemas.openxmlformats.org/drawingml/2006/main">
              <a:ext uri="{FF2B5EF4-FFF2-40B4-BE49-F238E27FC236}">
                <a16:creationId xmlns:a16="http://schemas.microsoft.com/office/drawing/2014/main" id="{AEB87396-EA69-4AA6-9F8C-CF44A673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24100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去向</a:t>
            </a:r>
          </a:p>
        </p:txBody>
      </p:sp>
      <p:sp>
        <p:nvSpPr>
          <p:cNvPr id="24" name="p12-audit-r0-0">
            <a:extLst xmlns:a="http://schemas.openxmlformats.org/drawingml/2006/main">
              <a:ext uri="{FF2B5EF4-FFF2-40B4-BE49-F238E27FC236}">
                <a16:creationId xmlns:a16="http://schemas.microsoft.com/office/drawing/2014/main" id="{8DDB9EB8-3D02-44E1-83A3-8EAE39E4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‘阅读卡会降低遗漏率’</a:t>
            </a:r>
          </a:p>
        </p:txBody>
      </p:sp>
      <p:sp>
        <p:nvSpPr>
          <p:cNvPr id="25" name="p12-audit-r0-1">
            <a:extLst xmlns:a="http://schemas.openxmlformats.org/drawingml/2006/main">
              <a:ext uri="{FF2B5EF4-FFF2-40B4-BE49-F238E27FC236}">
                <a16:creationId xmlns:a16="http://schemas.microsoft.com/office/drawing/2014/main" id="{E40D7360-FECE-4EAF-BF01-37F86904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只是预测，没有中间过程</a:t>
            </a:r>
          </a:p>
        </p:txBody>
      </p:sp>
      <p:sp>
        <p:nvSpPr>
          <p:cNvPr id="26" name="p12-audit-r0-2">
            <a:extLst xmlns:a="http://schemas.openxmlformats.org/drawingml/2006/main">
              <a:ext uri="{FF2B5EF4-FFF2-40B4-BE49-F238E27FC236}">
                <a16:creationId xmlns:a16="http://schemas.microsoft.com/office/drawing/2014/main" id="{BA2E70B5-0E6E-4E03-BCB3-DF23D407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7813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淘汰</a:t>
            </a:r>
          </a:p>
        </p:txBody>
      </p:sp>
      <p:sp>
        <p:nvSpPr>
          <p:cNvPr id="27" name="p12-audit-r1-0">
            <a:extLst xmlns:a="http://schemas.openxmlformats.org/drawingml/2006/main">
              <a:ext uri="{FF2B5EF4-FFF2-40B4-BE49-F238E27FC236}">
                <a16:creationId xmlns:a16="http://schemas.microsoft.com/office/drawing/2014/main" id="{6B5BEC6D-4916-4FB3-8504-6AA3DC38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‘Omission Rate Paradox, Smith 2023’</a:t>
            </a:r>
          </a:p>
        </p:txBody>
      </p:sp>
      <p:sp>
        <p:nvSpPr>
          <p:cNvPr id="28" name="p12-audit-r1-1">
            <a:extLst xmlns:a="http://schemas.openxmlformats.org/drawingml/2006/main">
              <a:ext uri="{FF2B5EF4-FFF2-40B4-BE49-F238E27FC236}">
                <a16:creationId xmlns:a16="http://schemas.microsoft.com/office/drawing/2014/main" id="{B9D933DD-814C-4D50-900C-9A7CDE4B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052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文献不存在，来源不可追溯</a:t>
            </a:r>
          </a:p>
        </p:txBody>
      </p:sp>
      <p:sp>
        <p:nvSpPr>
          <p:cNvPr id="29" name="p12-audit-r1-2">
            <a:extLst xmlns:a="http://schemas.openxmlformats.org/drawingml/2006/main">
              <a:ext uri="{FF2B5EF4-FFF2-40B4-BE49-F238E27FC236}">
                <a16:creationId xmlns:a16="http://schemas.microsoft.com/office/drawing/2014/main" id="{D06B92A9-21B7-4E66-9AAA-75F96CCD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052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淘汰</a:t>
            </a:r>
          </a:p>
        </p:txBody>
      </p:sp>
      <p:sp>
        <p:nvSpPr>
          <p:cNvPr id="30" name="p12-audit-r2-0">
            <a:extLst xmlns:a="http://schemas.openxmlformats.org/drawingml/2006/main">
              <a:ext uri="{FF2B5EF4-FFF2-40B4-BE49-F238E27FC236}">
                <a16:creationId xmlns:a16="http://schemas.microsoft.com/office/drawing/2014/main" id="{08FF1DF7-86CD-4FBE-B08C-BC578747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3905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字段约束迫使显式标注</a:t>
            </a:r>
          </a:p>
        </p:txBody>
      </p:sp>
      <p:sp>
        <p:nvSpPr>
          <p:cNvPr id="31" name="p12-audit-r2-1">
            <a:extLst xmlns:a="http://schemas.openxmlformats.org/drawingml/2006/main">
              <a:ext uri="{FF2B5EF4-FFF2-40B4-BE49-F238E27FC236}">
                <a16:creationId xmlns:a16="http://schemas.microsoft.com/office/drawing/2014/main" id="{413CD15A-0336-421C-8829-692557E3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2910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有中间过程，可证伪；回核证据地图</a:t>
            </a:r>
          </a:p>
        </p:txBody>
      </p:sp>
      <p:sp>
        <p:nvSpPr>
          <p:cNvPr id="32" name="p12-audit-r2-2">
            <a:extLst xmlns:a="http://schemas.openxmlformats.org/drawingml/2006/main">
              <a:ext uri="{FF2B5EF4-FFF2-40B4-BE49-F238E27FC236}">
                <a16:creationId xmlns:a16="http://schemas.microsoft.com/office/drawing/2014/main" id="{6AD79BC1-8663-46EA-93AD-5241033D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229100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33" name="p12-bottom">
            <a:extLst xmlns:a="http://schemas.openxmlformats.org/drawingml/2006/main">
              <a:ext uri="{FF2B5EF4-FFF2-40B4-BE49-F238E27FC236}">
                <a16:creationId xmlns:a16="http://schemas.microsoft.com/office/drawing/2014/main" id="{DCD81FFA-7228-4701-B69B-5A63DC92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研究判断当场写；AI 候选核验前只算探索线索。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十类常见错误都指向同一个问题：实验不能改判断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p13-errors-title">
            <a:extLst xmlns:a="http://schemas.openxmlformats.org/drawingml/2006/main">
              <a:ext uri="{FF2B5EF4-FFF2-40B4-BE49-F238E27FC236}">
                <a16:creationId xmlns:a16="http://schemas.microsoft.com/office/drawing/2014/main" id="{71856844-90AB-4B18-AF96-A6503C62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647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十类错误</a:t>
            </a:r>
          </a:p>
        </p:txBody>
      </p:sp>
      <p:sp>
        <p:nvSpPr>
          <p:cNvPr id="7" name="p13-x-0">
            <a:extLst xmlns:a="http://schemas.openxmlformats.org/drawingml/2006/main">
              <a:ext uri="{FF2B5EF4-FFF2-40B4-BE49-F238E27FC236}">
                <a16:creationId xmlns:a16="http://schemas.microsoft.com/office/drawing/2014/main" id="{4D58DC74-D686-499C-AA5B-94BF2130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8" name="p13-error-0">
            <a:extLst xmlns:a="http://schemas.openxmlformats.org/drawingml/2006/main">
              <a:ext uri="{FF2B5EF4-FFF2-40B4-BE49-F238E27FC236}">
                <a16:creationId xmlns:a16="http://schemas.microsoft.com/office/drawing/2014/main" id="{02DCF035-D477-4D3C-9029-1890AABB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62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结果预测当机制</a:t>
            </a:r>
          </a:p>
        </p:txBody>
      </p:sp>
      <p:sp>
        <p:nvSpPr>
          <p:cNvPr id="9" name="p13-x-1">
            <a:extLst xmlns:a="http://schemas.openxmlformats.org/drawingml/2006/main">
              <a:ext uri="{FF2B5EF4-FFF2-40B4-BE49-F238E27FC236}">
                <a16:creationId xmlns:a16="http://schemas.microsoft.com/office/drawing/2014/main" id="{69B64104-24B8-481B-BDEE-E5A633798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0" name="p13-error-1">
            <a:extLst xmlns:a="http://schemas.openxmlformats.org/drawingml/2006/main">
              <a:ext uri="{FF2B5EF4-FFF2-40B4-BE49-F238E27FC236}">
                <a16:creationId xmlns:a16="http://schemas.microsoft.com/office/drawing/2014/main" id="{4B39BE41-EEF4-4CC0-995D-EEE79ED8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62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黑箱归因</a:t>
            </a:r>
          </a:p>
        </p:txBody>
      </p:sp>
      <p:sp>
        <p:nvSpPr>
          <p:cNvPr id="11" name="p13-x-2">
            <a:extLst xmlns:a="http://schemas.openxmlformats.org/drawingml/2006/main">
              <a:ext uri="{FF2B5EF4-FFF2-40B4-BE49-F238E27FC236}">
                <a16:creationId xmlns:a16="http://schemas.microsoft.com/office/drawing/2014/main" id="{4F45536D-937D-40D9-A13C-E32B2B36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2" name="p13-error-2">
            <a:extLst xmlns:a="http://schemas.openxmlformats.org/drawingml/2006/main">
              <a:ext uri="{FF2B5EF4-FFF2-40B4-BE49-F238E27FC236}">
                <a16:creationId xmlns:a16="http://schemas.microsoft.com/office/drawing/2014/main" id="{1DAA50C7-AD37-46AB-A228-E27446BA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无反证点</a:t>
            </a:r>
          </a:p>
        </p:txBody>
      </p:sp>
      <p:sp>
        <p:nvSpPr>
          <p:cNvPr id="13" name="p13-x-3">
            <a:extLst xmlns:a="http://schemas.openxmlformats.org/drawingml/2006/main">
              <a:ext uri="{FF2B5EF4-FFF2-40B4-BE49-F238E27FC236}">
                <a16:creationId xmlns:a16="http://schemas.microsoft.com/office/drawing/2014/main" id="{9375676C-C41B-493F-8288-B50CEE18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4" name="p13-error-3">
            <a:extLst xmlns:a="http://schemas.openxmlformats.org/drawingml/2006/main">
              <a:ext uri="{FF2B5EF4-FFF2-40B4-BE49-F238E27FC236}">
                <a16:creationId xmlns:a16="http://schemas.microsoft.com/office/drawing/2014/main" id="{06AB6F7B-4299-4737-A1FE-7C515F9C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288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替代不可区分</a:t>
            </a:r>
          </a:p>
        </p:txBody>
      </p:sp>
      <p:sp>
        <p:nvSpPr>
          <p:cNvPr id="15" name="p13-x-4">
            <a:extLst xmlns:a="http://schemas.openxmlformats.org/drawingml/2006/main">
              <a:ext uri="{FF2B5EF4-FFF2-40B4-BE49-F238E27FC236}">
                <a16:creationId xmlns:a16="http://schemas.microsoft.com/office/drawing/2014/main" id="{A909A87B-B304-47C0-A7C9-91330D94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6" name="p13-error-4">
            <a:extLst xmlns:a="http://schemas.openxmlformats.org/drawingml/2006/main">
              <a:ext uri="{FF2B5EF4-FFF2-40B4-BE49-F238E27FC236}">
                <a16:creationId xmlns:a16="http://schemas.microsoft.com/office/drawing/2014/main" id="{8E9906A5-7F1D-4962-B095-AA128802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956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事后改判断</a:t>
            </a:r>
          </a:p>
        </p:txBody>
      </p:sp>
      <p:sp>
        <p:nvSpPr>
          <p:cNvPr id="17" name="p13-x-5">
            <a:extLst xmlns:a="http://schemas.openxmlformats.org/drawingml/2006/main">
              <a:ext uri="{FF2B5EF4-FFF2-40B4-BE49-F238E27FC236}">
                <a16:creationId xmlns:a16="http://schemas.microsoft.com/office/drawing/2014/main" id="{36CE0546-D137-46DC-94C5-97B8A281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8" name="p13-error-5">
            <a:extLst xmlns:a="http://schemas.openxmlformats.org/drawingml/2006/main">
              <a:ext uri="{FF2B5EF4-FFF2-40B4-BE49-F238E27FC236}">
                <a16:creationId xmlns:a16="http://schemas.microsoft.com/office/drawing/2014/main" id="{0890A4ED-A874-4AEC-AC9E-7FA46EB7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956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baseline 不公平</a:t>
            </a:r>
          </a:p>
        </p:txBody>
      </p:sp>
      <p:sp>
        <p:nvSpPr>
          <p:cNvPr id="19" name="p13-x-6">
            <a:extLst xmlns:a="http://schemas.openxmlformats.org/drawingml/2006/main">
              <a:ext uri="{FF2B5EF4-FFF2-40B4-BE49-F238E27FC236}">
                <a16:creationId xmlns:a16="http://schemas.microsoft.com/office/drawing/2014/main" id="{ED8F7FDC-0AB2-4DBE-8DBB-F560FCD6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0" name="p13-error-6">
            <a:extLst xmlns:a="http://schemas.openxmlformats.org/drawingml/2006/main">
              <a:ext uri="{FF2B5EF4-FFF2-40B4-BE49-F238E27FC236}">
                <a16:creationId xmlns:a16="http://schemas.microsoft.com/office/drawing/2014/main" id="{F89CE36D-922E-4ECE-A87B-F965F1A6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623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无停止条件</a:t>
            </a:r>
          </a:p>
        </p:txBody>
      </p:sp>
      <p:sp>
        <p:nvSpPr>
          <p:cNvPr id="21" name="p13-x-7">
            <a:extLst xmlns:a="http://schemas.openxmlformats.org/drawingml/2006/main">
              <a:ext uri="{FF2B5EF4-FFF2-40B4-BE49-F238E27FC236}">
                <a16:creationId xmlns:a16="http://schemas.microsoft.com/office/drawing/2014/main" id="{8C611713-C40D-4417-AB7A-6E87E66C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2" name="p13-error-7">
            <a:extLst xmlns:a="http://schemas.openxmlformats.org/drawingml/2006/main">
              <a:ext uri="{FF2B5EF4-FFF2-40B4-BE49-F238E27FC236}">
                <a16:creationId xmlns:a16="http://schemas.microsoft.com/office/drawing/2014/main" id="{E28047DF-88A9-4855-AB11-D9356DFC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6235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候选直接进主格</a:t>
            </a:r>
          </a:p>
        </p:txBody>
      </p:sp>
      <p:sp>
        <p:nvSpPr>
          <p:cNvPr id="23" name="p13-x-8">
            <a:extLst xmlns:a="http://schemas.openxmlformats.org/drawingml/2006/main">
              <a:ext uri="{FF2B5EF4-FFF2-40B4-BE49-F238E27FC236}">
                <a16:creationId xmlns:a16="http://schemas.microsoft.com/office/drawing/2014/main" id="{CCBAEDBA-2A05-4CBC-B971-B9A0602C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4" name="p13-error-8">
            <a:extLst xmlns:a="http://schemas.openxmlformats.org/drawingml/2006/main">
              <a:ext uri="{FF2B5EF4-FFF2-40B4-BE49-F238E27FC236}">
                <a16:creationId xmlns:a16="http://schemas.microsoft.com/office/drawing/2014/main" id="{0B06501A-0DCE-4293-94DC-7A339911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29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混淆事实与假设</a:t>
            </a:r>
          </a:p>
        </p:txBody>
      </p:sp>
      <p:sp>
        <p:nvSpPr>
          <p:cNvPr id="25" name="p13-x-9">
            <a:extLst xmlns:a="http://schemas.openxmlformats.org/drawingml/2006/main">
              <a:ext uri="{FF2B5EF4-FFF2-40B4-BE49-F238E27FC236}">
                <a16:creationId xmlns:a16="http://schemas.microsoft.com/office/drawing/2014/main" id="{C9A54971-7E60-44D5-927E-08276EE8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6" name="p13-error-9">
            <a:extLst xmlns:a="http://schemas.openxmlformats.org/drawingml/2006/main">
              <a:ext uri="{FF2B5EF4-FFF2-40B4-BE49-F238E27FC236}">
                <a16:creationId xmlns:a16="http://schemas.microsoft.com/office/drawing/2014/main" id="{F5C90FA9-2F6C-451A-B625-53D8221B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2647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实验不能改变判断</a:t>
            </a:r>
          </a:p>
        </p:txBody>
      </p:sp>
      <p:sp>
        <p:nvSpPr>
          <p:cNvPr id="27" name="p13-separator">
            <a:extLst xmlns:a="http://schemas.openxmlformats.org/drawingml/2006/main">
              <a:ext uri="{FF2B5EF4-FFF2-40B4-BE49-F238E27FC236}">
                <a16:creationId xmlns:a16="http://schemas.microsoft.com/office/drawing/2014/main" id="{768B091C-4F33-4476-AEA6-0497CBC7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38775" y="299085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13-questions-title">
            <a:extLst xmlns:a="http://schemas.openxmlformats.org/drawingml/2006/main">
              <a:ext uri="{FF2B5EF4-FFF2-40B4-BE49-F238E27FC236}">
                <a16:creationId xmlns:a16="http://schemas.microsoft.com/office/drawing/2014/main" id="{ABA98E70-B0D7-4614-B474-818D96EE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906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五个判断点</a:t>
            </a:r>
          </a:p>
        </p:txBody>
      </p:sp>
      <p:sp>
        <p:nvSpPr>
          <p:cNvPr id="29" name="p13-qn-0">
            <a:extLst xmlns:a="http://schemas.openxmlformats.org/drawingml/2006/main">
              <a:ext uri="{FF2B5EF4-FFF2-40B4-BE49-F238E27FC236}">
                <a16:creationId xmlns:a16="http://schemas.microsoft.com/office/drawing/2014/main" id="{C4871595-B99B-4555-9EEC-B07FF7E5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62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0" name="p13-q-0">
            <a:extLst xmlns:a="http://schemas.openxmlformats.org/drawingml/2006/main">
              <a:ext uri="{FF2B5EF4-FFF2-40B4-BE49-F238E27FC236}">
                <a16:creationId xmlns:a16="http://schemas.microsoft.com/office/drawing/2014/main" id="{B700BAD8-2572-4173-8A5D-94704122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预测与机制差在哪？</a:t>
            </a:r>
          </a:p>
        </p:txBody>
      </p:sp>
      <p:sp>
        <p:nvSpPr>
          <p:cNvPr id="31" name="p13-qn-1">
            <a:extLst xmlns:a="http://schemas.openxmlformats.org/drawingml/2006/main">
              <a:ext uri="{FF2B5EF4-FFF2-40B4-BE49-F238E27FC236}">
                <a16:creationId xmlns:a16="http://schemas.microsoft.com/office/drawing/2014/main" id="{C20404CA-9CF6-4DC1-AC4A-02226596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28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2" name="p13-q-1">
            <a:extLst xmlns:a="http://schemas.openxmlformats.org/drawingml/2006/main">
              <a:ext uri="{FF2B5EF4-FFF2-40B4-BE49-F238E27FC236}">
                <a16:creationId xmlns:a16="http://schemas.microsoft.com/office/drawing/2014/main" id="{EC400163-9581-41D7-9BBD-D0CB2205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2288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替代假设为何不是另一个题目？</a:t>
            </a:r>
          </a:p>
        </p:txBody>
      </p:sp>
      <p:sp>
        <p:nvSpPr>
          <p:cNvPr id="33" name="p13-qn-2">
            <a:extLst xmlns:a="http://schemas.openxmlformats.org/drawingml/2006/main">
              <a:ext uri="{FF2B5EF4-FFF2-40B4-BE49-F238E27FC236}">
                <a16:creationId xmlns:a16="http://schemas.microsoft.com/office/drawing/2014/main" id="{068A23F9-F373-4489-A55E-87F963E8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95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4" name="p13-q-2">
            <a:extLst xmlns:a="http://schemas.openxmlformats.org/drawingml/2006/main">
              <a:ext uri="{FF2B5EF4-FFF2-40B4-BE49-F238E27FC236}">
                <a16:creationId xmlns:a16="http://schemas.microsoft.com/office/drawing/2014/main" id="{6D14C059-0CB0-434C-9518-54CC242E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判断为何必须当场写？</a:t>
            </a:r>
          </a:p>
        </p:txBody>
      </p:sp>
      <p:sp>
        <p:nvSpPr>
          <p:cNvPr id="35" name="p13-qn-3">
            <a:extLst xmlns:a="http://schemas.openxmlformats.org/drawingml/2006/main">
              <a:ext uri="{FF2B5EF4-FFF2-40B4-BE49-F238E27FC236}">
                <a16:creationId xmlns:a16="http://schemas.microsoft.com/office/drawing/2014/main" id="{B393CC17-B518-4BF2-A50C-9F0437EC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623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6" name="p13-q-3">
            <a:extLst xmlns:a="http://schemas.openxmlformats.org/drawingml/2006/main">
              <a:ext uri="{FF2B5EF4-FFF2-40B4-BE49-F238E27FC236}">
                <a16:creationId xmlns:a16="http://schemas.microsoft.com/office/drawing/2014/main" id="{8938ABFC-5C03-49CE-A542-7170F5ED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6235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无法区分时能说支持吗？</a:t>
            </a:r>
          </a:p>
        </p:txBody>
      </p:sp>
      <p:sp>
        <p:nvSpPr>
          <p:cNvPr id="37" name="p13-qn-4">
            <a:extLst xmlns:a="http://schemas.openxmlformats.org/drawingml/2006/main">
              <a:ext uri="{FF2B5EF4-FFF2-40B4-BE49-F238E27FC236}">
                <a16:creationId xmlns:a16="http://schemas.microsoft.com/office/drawing/2014/main" id="{6D656E8B-3958-4179-98F4-35C323BE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29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8" name="p13-q-4">
            <a:extLst xmlns:a="http://schemas.openxmlformats.org/drawingml/2006/main">
              <a:ext uri="{FF2B5EF4-FFF2-40B4-BE49-F238E27FC236}">
                <a16:creationId xmlns:a16="http://schemas.microsoft.com/office/drawing/2014/main" id="{D8F56985-8ADC-487F-ACD1-4CF5F958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304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候选何时才能进主格？</a:t>
            </a:r>
          </a:p>
        </p:txBody>
      </p:sp>
      <p:sp>
        <p:nvSpPr>
          <p:cNvPr id="39" name="p13-bottom">
            <a:extLst xmlns:a="http://schemas.openxmlformats.org/drawingml/2006/main">
              <a:ext uri="{FF2B5EF4-FFF2-40B4-BE49-F238E27FC236}">
                <a16:creationId xmlns:a16="http://schemas.microsoft.com/office/drawing/2014/main" id="{5D4D8581-DCA4-4C9B-BC79-C6B51D05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共同根因：无论得到什么结果，原判断都不会改变。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个人实践：25 分钟完成最小机制—判断—规格闭环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p14-time">
            <a:extLst xmlns:a="http://schemas.openxmlformats.org/drawingml/2006/main">
              <a:ext uri="{FF2B5EF4-FFF2-40B4-BE49-F238E27FC236}">
                <a16:creationId xmlns:a16="http://schemas.microsoft.com/office/drawing/2014/main" id="{EF84F1B6-EAE3-4186-A66E-06D8BE7B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87630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50:00–75:00｜停留本页</a:t>
            </a:r>
          </a:p>
        </p:txBody>
      </p:sp>
      <p:sp>
        <p:nvSpPr>
          <p:cNvPr id="7" name="p14-line-0">
            <a:extLst xmlns:a="http://schemas.openxmlformats.org/drawingml/2006/main">
              <a:ext uri="{FF2B5EF4-FFF2-40B4-BE49-F238E27FC236}">
                <a16:creationId xmlns:a16="http://schemas.microsoft.com/office/drawing/2014/main" id="{7C146B49-6269-4795-94D7-D6D295A3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190023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14-line-1">
            <a:extLst xmlns:a="http://schemas.openxmlformats.org/drawingml/2006/main">
              <a:ext uri="{FF2B5EF4-FFF2-40B4-BE49-F238E27FC236}">
                <a16:creationId xmlns:a16="http://schemas.microsoft.com/office/drawing/2014/main" id="{16965FC2-AD38-4F66-BAB7-62CB1E93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253841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14-line-2">
            <a:extLst xmlns:a="http://schemas.openxmlformats.org/drawingml/2006/main">
              <a:ext uri="{FF2B5EF4-FFF2-40B4-BE49-F238E27FC236}">
                <a16:creationId xmlns:a16="http://schemas.microsoft.com/office/drawing/2014/main" id="{C2CE7955-8FD1-489D-8F9B-750A454E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317658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4-line-3">
            <a:extLst xmlns:a="http://schemas.openxmlformats.org/drawingml/2006/main">
              <a:ext uri="{FF2B5EF4-FFF2-40B4-BE49-F238E27FC236}">
                <a16:creationId xmlns:a16="http://schemas.microsoft.com/office/drawing/2014/main" id="{F8AB2648-F1AD-4929-AA17-AF7CB457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3814763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4-line-4">
            <a:extLst xmlns:a="http://schemas.openxmlformats.org/drawingml/2006/main">
              <a:ext uri="{FF2B5EF4-FFF2-40B4-BE49-F238E27FC236}">
                <a16:creationId xmlns:a16="http://schemas.microsoft.com/office/drawing/2014/main" id="{430E6DBA-E891-4117-9823-7BA88C09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8675" y="4452938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14-n-0">
            <a:extLst xmlns:a="http://schemas.openxmlformats.org/drawingml/2006/main">
              <a:ext uri="{FF2B5EF4-FFF2-40B4-BE49-F238E27FC236}">
                <a16:creationId xmlns:a16="http://schemas.microsoft.com/office/drawing/2014/main" id="{1AADF66B-F6BC-4046-9DD8-38A401C3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14-task-0">
            <a:extLst xmlns:a="http://schemas.openxmlformats.org/drawingml/2006/main">
              <a:ext uri="{FF2B5EF4-FFF2-40B4-BE49-F238E27FC236}">
                <a16:creationId xmlns:a16="http://schemas.microsoft.com/office/drawing/2014/main" id="{5E7282E1-B2B6-4031-BA1A-A2FAA8DE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097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写主机制：必须含中间过程</a:t>
            </a:r>
          </a:p>
        </p:txBody>
      </p:sp>
      <p:sp>
        <p:nvSpPr>
          <p:cNvPr id="14" name="p14-n-1">
            <a:extLst xmlns:a="http://schemas.openxmlformats.org/drawingml/2006/main">
              <a:ext uri="{FF2B5EF4-FFF2-40B4-BE49-F238E27FC236}">
                <a16:creationId xmlns:a16="http://schemas.microsoft.com/office/drawing/2014/main" id="{BC0C243D-EB32-4C55-98F3-F4F09FAC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p14-task-1">
            <a:extLst xmlns:a="http://schemas.openxmlformats.org/drawingml/2006/main">
              <a:ext uri="{FF2B5EF4-FFF2-40B4-BE49-F238E27FC236}">
                <a16:creationId xmlns:a16="http://schemas.microsoft.com/office/drawing/2014/main" id="{FDF0972C-6B31-4C9E-A98F-116A2C44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47875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 1 个可区分替代 + 反证点</a:t>
            </a:r>
          </a:p>
        </p:txBody>
      </p:sp>
      <p:sp>
        <p:nvSpPr>
          <p:cNvPr id="16" name="p14-n-2">
            <a:extLst xmlns:a="http://schemas.openxmlformats.org/drawingml/2006/main">
              <a:ext uri="{FF2B5EF4-FFF2-40B4-BE49-F238E27FC236}">
                <a16:creationId xmlns:a16="http://schemas.microsoft.com/office/drawing/2014/main" id="{6B2CD1E6-8E97-401E-8A0D-BDA81585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p14-task-2">
            <a:extLst xmlns:a="http://schemas.openxmlformats.org/drawingml/2006/main">
              <a:ext uri="{FF2B5EF4-FFF2-40B4-BE49-F238E27FC236}">
                <a16:creationId xmlns:a16="http://schemas.microsoft.com/office/drawing/2014/main" id="{E9E75F71-8523-4B50-9646-E72F71A1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8605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写一条六字段研究判断</a:t>
            </a:r>
          </a:p>
        </p:txBody>
      </p:sp>
      <p:sp>
        <p:nvSpPr>
          <p:cNvPr id="18" name="p14-n-3">
            <a:extLst xmlns:a="http://schemas.openxmlformats.org/drawingml/2006/main">
              <a:ext uri="{FF2B5EF4-FFF2-40B4-BE49-F238E27FC236}">
                <a16:creationId xmlns:a16="http://schemas.microsoft.com/office/drawing/2014/main" id="{2D99C565-9398-47A1-8B14-A683C848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24225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p14-task-3">
            <a:extLst xmlns:a="http://schemas.openxmlformats.org/drawingml/2006/main">
              <a:ext uri="{FF2B5EF4-FFF2-40B4-BE49-F238E27FC236}">
                <a16:creationId xmlns:a16="http://schemas.microsoft.com/office/drawing/2014/main" id="{62486E2D-5488-40DA-B90F-260AF1F4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24225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建 2 行假设—指标—实验映射</a:t>
            </a:r>
          </a:p>
        </p:txBody>
      </p:sp>
      <p:sp>
        <p:nvSpPr>
          <p:cNvPr id="20" name="p14-n-4">
            <a:extLst xmlns:a="http://schemas.openxmlformats.org/drawingml/2006/main">
              <a:ext uri="{FF2B5EF4-FFF2-40B4-BE49-F238E27FC236}">
                <a16:creationId xmlns:a16="http://schemas.microsoft.com/office/drawing/2014/main" id="{73AEEB18-6538-406F-85D3-3742C356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p14-task-4">
            <a:extLst xmlns:a="http://schemas.openxmlformats.org/drawingml/2006/main">
              <a:ext uri="{FF2B5EF4-FFF2-40B4-BE49-F238E27FC236}">
                <a16:creationId xmlns:a16="http://schemas.microsoft.com/office/drawing/2014/main" id="{D488D5B7-F4F7-4940-979F-E7C28063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62400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补变量、baseline、停止与失败预案</a:t>
            </a:r>
          </a:p>
        </p:txBody>
      </p:sp>
      <p:sp>
        <p:nvSpPr>
          <p:cNvPr id="22" name="p14-n-5">
            <a:extLst xmlns:a="http://schemas.openxmlformats.org/drawingml/2006/main">
              <a:ext uri="{FF2B5EF4-FFF2-40B4-BE49-F238E27FC236}">
                <a16:creationId xmlns:a16="http://schemas.microsoft.com/office/drawing/2014/main" id="{5AE6EC58-8950-4316-AB75-F498E868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4953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3" name="p14-task-5">
            <a:extLst xmlns:a="http://schemas.openxmlformats.org/drawingml/2006/main">
              <a:ext uri="{FF2B5EF4-FFF2-40B4-BE49-F238E27FC236}">
                <a16:creationId xmlns:a16="http://schemas.microsoft.com/office/drawing/2014/main" id="{FB3E1938-AEBE-4492-9E4B-F5874770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00575"/>
            <a:ext cx="590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让 AI 生成 3 个候选；至少淘汰 1 个</a:t>
            </a:r>
          </a:p>
        </p:txBody>
      </p:sp>
      <p:sp>
        <p:nvSpPr>
          <p:cNvPr id="24" name="p14-min-title">
            <a:extLst xmlns:a="http://schemas.openxmlformats.org/drawingml/2006/main">
              <a:ext uri="{FF2B5EF4-FFF2-40B4-BE49-F238E27FC236}">
                <a16:creationId xmlns:a16="http://schemas.microsoft.com/office/drawing/2014/main" id="{74DFA1CA-6C4B-4E79-90B6-A3C581A2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390650"/>
            <a:ext cx="3371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可检查的最小产出</a:t>
            </a:r>
          </a:p>
        </p:txBody>
      </p:sp>
      <p:sp>
        <p:nvSpPr>
          <p:cNvPr id="25" name="p14-min">
            <a:extLst xmlns:a="http://schemas.openxmlformats.org/drawingml/2006/main">
              <a:ext uri="{FF2B5EF4-FFF2-40B4-BE49-F238E27FC236}">
                <a16:creationId xmlns:a16="http://schemas.microsoft.com/office/drawing/2014/main" id="{3D047E2A-9F87-4C8F-A0B5-B8DC304B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38350"/>
            <a:ext cx="3676650" cy="2495550"/>
          </a:xfrm>
          <a:prstGeom xmlns:a="http://schemas.openxmlformats.org/drawingml/2006/main" prst="roundRect">
            <a:avLst>
              <a:gd name="adj" fmla="val 3053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1 主 + 1 可区分替代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每条均有反证点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1 条六字段判断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2 行映射表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实验规格骨架</a:t>
            </a:r>
          </a:p>
          <a:p xmlns:a="http://schemas.openxmlformats.org/drawingml/2006/main">
            <a:pPr algn="ctr">
              <a:lnSpc>
                <a:spcPct val="128000"/>
              </a:lnSpc>
              <a:buNone/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1 条 AI 使用记录</a:t>
            </a:r>
          </a:p>
        </p:txBody>
      </p:sp>
      <p:sp>
        <p:nvSpPr>
          <p:cNvPr id="26" name="p14-fallback">
            <a:extLst xmlns:a="http://schemas.openxmlformats.org/drawingml/2006/main">
              <a:ext uri="{FF2B5EF4-FFF2-40B4-BE49-F238E27FC236}">
                <a16:creationId xmlns:a16="http://schemas.microsoft.com/office/drawing/2014/main" id="{A45EF55D-8F89-44AD-8869-84392452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762500"/>
            <a:ext cx="3981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无网络：使用预录 AI 候选样例，在 Markdown 或纸面完成同一闭环。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同伴互查五项：只提问题，不替作者决定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p15-label-0">
            <a:extLst xmlns:a="http://schemas.openxmlformats.org/drawingml/2006/main">
              <a:ext uri="{FF2B5EF4-FFF2-40B4-BE49-F238E27FC236}">
                <a16:creationId xmlns:a16="http://schemas.microsoft.com/office/drawing/2014/main" id="{01CEADBD-119F-48BF-9D05-6AF77273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问题重要性</a:t>
            </a:r>
          </a:p>
        </p:txBody>
      </p:sp>
      <p:sp>
        <p:nvSpPr>
          <p:cNvPr id="7" name="p15-question-0">
            <a:extLst xmlns:a="http://schemas.openxmlformats.org/drawingml/2006/main">
              <a:ext uri="{FF2B5EF4-FFF2-40B4-BE49-F238E27FC236}">
                <a16:creationId xmlns:a16="http://schemas.microsoft.com/office/drawing/2014/main" id="{77FB39AD-016C-4A63-BBC0-7EE0C6C8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143000"/>
            <a:ext cx="805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值得投入本课程周期吗？</a:t>
            </a:r>
          </a:p>
        </p:txBody>
      </p:sp>
      <p:sp>
        <p:nvSpPr>
          <p:cNvPr id="8" name="p15-label-1">
            <a:extLst xmlns:a="http://schemas.openxmlformats.org/drawingml/2006/main">
              <a:ext uri="{FF2B5EF4-FFF2-40B4-BE49-F238E27FC236}">
                <a16:creationId xmlns:a16="http://schemas.microsoft.com/office/drawing/2014/main" id="{CC499D9E-5209-4F12-9ADB-0275023C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证据充分性</a:t>
            </a:r>
          </a:p>
        </p:txBody>
      </p:sp>
      <p:sp>
        <p:nvSpPr>
          <p:cNvPr id="9" name="p15-question-1">
            <a:extLst xmlns:a="http://schemas.openxmlformats.org/drawingml/2006/main">
              <a:ext uri="{FF2B5EF4-FFF2-40B4-BE49-F238E27FC236}">
                <a16:creationId xmlns:a16="http://schemas.microsoft.com/office/drawing/2014/main" id="{B3AC7DD8-D182-41C8-B7A6-6288EC0D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24050"/>
            <a:ext cx="805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判断依据绑定证据地图或第一性原理吗？</a:t>
            </a:r>
          </a:p>
        </p:txBody>
      </p:sp>
      <p:sp>
        <p:nvSpPr>
          <p:cNvPr id="10" name="p15-label-2">
            <a:extLst xmlns:a="http://schemas.openxmlformats.org/drawingml/2006/main">
              <a:ext uri="{FF2B5EF4-FFF2-40B4-BE49-F238E27FC236}">
                <a16:creationId xmlns:a16="http://schemas.microsoft.com/office/drawing/2014/main" id="{1459F5CE-33DA-4EDB-BCEA-AD1D5AD0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可检验性</a:t>
            </a:r>
          </a:p>
        </p:txBody>
      </p:sp>
      <p:sp>
        <p:nvSpPr>
          <p:cNvPr id="11" name="p15-question-2">
            <a:extLst xmlns:a="http://schemas.openxmlformats.org/drawingml/2006/main">
              <a:ext uri="{FF2B5EF4-FFF2-40B4-BE49-F238E27FC236}">
                <a16:creationId xmlns:a16="http://schemas.microsoft.com/office/drawing/2014/main" id="{9E16F024-C7AB-4293-AEB1-F1F5068B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05100"/>
            <a:ext cx="805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主假设与替代假设能被实验区分吗？</a:t>
            </a:r>
          </a:p>
        </p:txBody>
      </p:sp>
      <p:sp>
        <p:nvSpPr>
          <p:cNvPr id="12" name="p15-label-3">
            <a:extLst xmlns:a="http://schemas.openxmlformats.org/drawingml/2006/main">
              <a:ext uri="{FF2B5EF4-FFF2-40B4-BE49-F238E27FC236}">
                <a16:creationId xmlns:a16="http://schemas.microsoft.com/office/drawing/2014/main" id="{144A9075-6454-4381-A0A7-06F90A28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A86C1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周期可行性</a:t>
            </a:r>
          </a:p>
        </p:txBody>
      </p:sp>
      <p:sp>
        <p:nvSpPr>
          <p:cNvPr id="13" name="p15-question-3">
            <a:extLst xmlns:a="http://schemas.openxmlformats.org/drawingml/2006/main">
              <a:ext uri="{FF2B5EF4-FFF2-40B4-BE49-F238E27FC236}">
                <a16:creationId xmlns:a16="http://schemas.microsoft.com/office/drawing/2014/main" id="{1A4EA5C7-0A04-4E66-996B-250E38E5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86150"/>
            <a:ext cx="805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最小实验能在课程周期内完成吗？</a:t>
            </a:r>
          </a:p>
        </p:txBody>
      </p:sp>
      <p:sp>
        <p:nvSpPr>
          <p:cNvPr id="14" name="p15-label-4">
            <a:extLst xmlns:a="http://schemas.openxmlformats.org/drawingml/2006/main">
              <a:ext uri="{FF2B5EF4-FFF2-40B4-BE49-F238E27FC236}">
                <a16:creationId xmlns:a16="http://schemas.microsoft.com/office/drawing/2014/main" id="{47F0F11A-75B3-4EA2-8C83-2923687F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2000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判断改变</a:t>
            </a:r>
          </a:p>
        </p:txBody>
      </p:sp>
      <p:sp>
        <p:nvSpPr>
          <p:cNvPr id="15" name="p15-question-4">
            <a:extLst xmlns:a="http://schemas.openxmlformats.org/drawingml/2006/main">
              <a:ext uri="{FF2B5EF4-FFF2-40B4-BE49-F238E27FC236}">
                <a16:creationId xmlns:a16="http://schemas.microsoft.com/office/drawing/2014/main" id="{8D81DC8A-E2FD-49FE-AD1E-56DDC45C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67200"/>
            <a:ext cx="8058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下一步什么结果会改变当前研究判断？</a:t>
            </a:r>
          </a:p>
        </p:txBody>
      </p:sp>
      <p:sp>
        <p:nvSpPr>
          <p:cNvPr id="16" name="p15-format">
            <a:extLst xmlns:a="http://schemas.openxmlformats.org/drawingml/2006/main">
              <a:ext uri="{FF2B5EF4-FFF2-40B4-BE49-F238E27FC236}">
                <a16:creationId xmlns:a16="http://schemas.microsoft.com/office/drawing/2014/main" id="{45AC2CC6-3002-43A3-A486-9258AD91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1625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684"/>
                </a:solidFill>
              </a:defRPr>
            </a:pPr>
            <a:r>
              <a:rPr sz="150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每人 2 分钟陈述 + 2 分钟反馈｜反馈写入研究判断记录</a:t>
            </a:r>
          </a:p>
        </p:txBody>
      </p:sp>
      <p:sp>
        <p:nvSpPr>
          <p:cNvPr id="17" name="p15-bottom">
            <a:extLst xmlns:a="http://schemas.openxmlformats.org/drawingml/2006/main">
              <a:ext uri="{FF2B5EF4-FFF2-40B4-BE49-F238E27FC236}">
                <a16:creationId xmlns:a16="http://schemas.microsoft.com/office/drawing/2014/main" id="{BB9DCEFC-FEEC-44F2-875C-78F32202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626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只提问题，不替作者决定，不形成共同提交。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退出卡：你的下一步实验真的会改变判断吗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p16-exit-title">
            <a:extLst xmlns:a="http://schemas.openxmlformats.org/drawingml/2006/main">
              <a:ext uri="{FF2B5EF4-FFF2-40B4-BE49-F238E27FC236}">
                <a16:creationId xmlns:a16="http://schemas.microsoft.com/office/drawing/2014/main" id="{FD047B50-F97D-40C4-A28E-EF7BD757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06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退出卡</a:t>
            </a:r>
          </a:p>
        </p:txBody>
      </p:sp>
      <p:sp>
        <p:nvSpPr>
          <p:cNvPr id="7" name="p16-n-0">
            <a:extLst xmlns:a="http://schemas.openxmlformats.org/drawingml/2006/main">
              <a:ext uri="{FF2B5EF4-FFF2-40B4-BE49-F238E27FC236}">
                <a16:creationId xmlns:a16="http://schemas.microsoft.com/office/drawing/2014/main" id="{58E8F8ED-70B4-4BA5-870E-779525F4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p16-q-0">
            <a:extLst xmlns:a="http://schemas.openxmlformats.org/drawingml/2006/main">
              <a:ext uri="{FF2B5EF4-FFF2-40B4-BE49-F238E27FC236}">
                <a16:creationId xmlns:a16="http://schemas.microsoft.com/office/drawing/2014/main" id="{DF7C1D59-139C-4C1E-AC72-5C833A2B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8115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你的主机制假设是什么？</a:t>
            </a:r>
          </a:p>
        </p:txBody>
      </p:sp>
      <p:sp>
        <p:nvSpPr>
          <p:cNvPr id="9" name="p16-n-1">
            <a:extLst xmlns:a="http://schemas.openxmlformats.org/drawingml/2006/main">
              <a:ext uri="{FF2B5EF4-FFF2-40B4-BE49-F238E27FC236}">
                <a16:creationId xmlns:a16="http://schemas.microsoft.com/office/drawing/2014/main" id="{B8B1D3F0-B9D3-4EBA-8808-FE52C50D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479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16-q-1">
            <a:extLst xmlns:a="http://schemas.openxmlformats.org/drawingml/2006/main">
              <a:ext uri="{FF2B5EF4-FFF2-40B4-BE49-F238E27FC236}">
                <a16:creationId xmlns:a16="http://schemas.microsoft.com/office/drawing/2014/main" id="{30A71BBB-BD40-499D-8036-C2F973DF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什么结果支持主假设？什么结果支持替代？</a:t>
            </a:r>
          </a:p>
        </p:txBody>
      </p:sp>
      <p:sp>
        <p:nvSpPr>
          <p:cNvPr id="11" name="p16-n-2">
            <a:extLst xmlns:a="http://schemas.openxmlformats.org/drawingml/2006/main">
              <a:ext uri="{FF2B5EF4-FFF2-40B4-BE49-F238E27FC236}">
                <a16:creationId xmlns:a16="http://schemas.microsoft.com/office/drawing/2014/main" id="{2B061E36-5976-430D-B0A1-6FBEAFF0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p16-q-2">
            <a:extLst xmlns:a="http://schemas.openxmlformats.org/drawingml/2006/main">
              <a:ext uri="{FF2B5EF4-FFF2-40B4-BE49-F238E27FC236}">
                <a16:creationId xmlns:a16="http://schemas.microsoft.com/office/drawing/2014/main" id="{98608A37-CCDC-47F6-A637-B4B1C9BA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1465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研究判断最难写的字段是什么？</a:t>
            </a:r>
          </a:p>
        </p:txBody>
      </p:sp>
      <p:sp>
        <p:nvSpPr>
          <p:cNvPr id="13" name="p16-n-3">
            <a:extLst xmlns:a="http://schemas.openxmlformats.org/drawingml/2006/main">
              <a:ext uri="{FF2B5EF4-FFF2-40B4-BE49-F238E27FC236}">
                <a16:creationId xmlns:a16="http://schemas.microsoft.com/office/drawing/2014/main" id="{CC6C4C1E-E268-48C6-99A1-DCB5E648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p16-q-3">
            <a:extLst xmlns:a="http://schemas.openxmlformats.org/drawingml/2006/main">
              <a:ext uri="{FF2B5EF4-FFF2-40B4-BE49-F238E27FC236}">
                <a16:creationId xmlns:a16="http://schemas.microsoft.com/office/drawing/2014/main" id="{5004880F-9F6A-47DA-A79A-3EFBA936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实验若不能改变判断，缺了什么？</a:t>
            </a:r>
          </a:p>
        </p:txBody>
      </p:sp>
      <p:sp>
        <p:nvSpPr>
          <p:cNvPr id="15" name="p16-n-4">
            <a:extLst xmlns:a="http://schemas.openxmlformats.org/drawingml/2006/main">
              <a:ext uri="{FF2B5EF4-FFF2-40B4-BE49-F238E27FC236}">
                <a16:creationId xmlns:a16="http://schemas.microsoft.com/office/drawing/2014/main" id="{F2F67E4B-A249-4A88-89DA-44849204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4191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" name="p16-q-4">
            <a:extLst xmlns:a="http://schemas.openxmlformats.org/drawingml/2006/main">
              <a:ext uri="{FF2B5EF4-FFF2-40B4-BE49-F238E27FC236}">
                <a16:creationId xmlns:a16="http://schemas.microsoft.com/office/drawing/2014/main" id="{7DDCBDAF-4CA3-4DD8-9693-350C63CA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504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今天最不确定的一点是什么？</a:t>
            </a:r>
          </a:p>
        </p:txBody>
      </p:sp>
      <p:sp>
        <p:nvSpPr>
          <p:cNvPr id="17" name="p16-next-title">
            <a:extLst xmlns:a="http://schemas.openxmlformats.org/drawingml/2006/main">
              <a:ext uri="{FF2B5EF4-FFF2-40B4-BE49-F238E27FC236}">
                <a16:creationId xmlns:a16="http://schemas.microsoft.com/office/drawing/2014/main" id="{9D876EA4-38A1-42B2-A171-1EEFFB1A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99060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54E"/>
                </a:solidFill>
              </a:defRPr>
            </a:pPr>
            <a:r>
              <a:rPr sz="20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工件去向</a:t>
            </a:r>
          </a:p>
        </p:txBody>
      </p:sp>
      <p:sp>
        <p:nvSpPr>
          <p:cNvPr id="18" name="p16-line-1">
            <a:extLst xmlns:a="http://schemas.openxmlformats.org/drawingml/2006/main">
              <a:ext uri="{FF2B5EF4-FFF2-40B4-BE49-F238E27FC236}">
                <a16:creationId xmlns:a16="http://schemas.microsoft.com/office/drawing/2014/main" id="{2D21A0F9-EC27-42D7-8E0F-A0F1F5DF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01125" y="26193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16-line-2">
            <a:extLst xmlns:a="http://schemas.openxmlformats.org/drawingml/2006/main">
              <a:ext uri="{FF2B5EF4-FFF2-40B4-BE49-F238E27FC236}">
                <a16:creationId xmlns:a16="http://schemas.microsoft.com/office/drawing/2014/main" id="{35134104-D4CD-4E44-A0F3-86AA2BAA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001125" y="3990975"/>
            <a:ext cx="590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16-now">
            <a:extLst xmlns:a="http://schemas.openxmlformats.org/drawingml/2006/main">
              <a:ext uri="{FF2B5EF4-FFF2-40B4-BE49-F238E27FC236}">
                <a16:creationId xmlns:a16="http://schemas.microsoft.com/office/drawing/2014/main" id="{CBB9A12B-820B-462C-B317-C207F6FA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24000"/>
            <a:ext cx="3810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本课工件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1 主 + 1 替代 + 判断 + 规格</a:t>
            </a:r>
          </a:p>
        </p:txBody>
      </p:sp>
      <p:sp>
        <p:nvSpPr>
          <p:cNvPr id="21" name="p16-week8">
            <a:extLst xmlns:a="http://schemas.openxmlformats.org/drawingml/2006/main">
              <a:ext uri="{FF2B5EF4-FFF2-40B4-BE49-F238E27FC236}">
                <a16:creationId xmlns:a16="http://schemas.microsoft.com/office/drawing/2014/main" id="{389CDE09-1228-4B94-93CB-1CB7C638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90850"/>
            <a:ext cx="3810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第 8 课方案分享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补到 2 个替代｜3 分钟陈述</a:t>
            </a:r>
          </a:p>
        </p:txBody>
      </p:sp>
      <p:sp>
        <p:nvSpPr>
          <p:cNvPr id="22" name="p16-week9">
            <a:extLst xmlns:a="http://schemas.openxmlformats.org/drawingml/2006/main">
              <a:ext uri="{FF2B5EF4-FFF2-40B4-BE49-F238E27FC236}">
                <a16:creationId xmlns:a16="http://schemas.microsoft.com/office/drawing/2014/main" id="{0010DA40-4618-4DD1-A725-3C35BBA8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57700"/>
            <a:ext cx="3810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第 9 课判断门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至少 2 条判断 + 完整实验规格</a:t>
            </a:r>
          </a:p>
        </p:txBody>
      </p:sp>
      <p:sp>
        <p:nvSpPr>
          <p:cNvPr id="23" name="p16-bottom">
            <a:extLst xmlns:a="http://schemas.openxmlformats.org/drawingml/2006/main">
              <a:ext uri="{FF2B5EF4-FFF2-40B4-BE49-F238E27FC236}">
                <a16:creationId xmlns:a16="http://schemas.microsoft.com/office/drawing/2014/main" id="{CD545FEF-3585-48AD-9A0F-163028D5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673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不新增正式提交；持续回写个人项目。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2026-08-07T15:12:08.7540000Z</dcterms:created>
  <dcterms:modified xsi:type="dcterms:W3CDTF">2026-08-07T15:12:08.7540000Z</dcterms:modified>
</coreProperties>
</file>