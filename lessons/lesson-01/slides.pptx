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9"/>
  </p:normalViewPr>
  <p:slideViewPr>
    <p:cSldViewPr snapToGrid="0">
      <p:cViewPr varScale="1">
        <p:scale>
          <a:sx n="105" d="100"/>
          <a:sy n="105" d="100"/>
        </p:scale>
        <p:origin x="2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开场直接划界：课程训练研究可靠性，不以工具熟练度为终点。</a:t>
            </a:r>
          </a:p>
          <a:p>
            <a:endParaRPr/>
          </a:p>
          <a:p>
            <a:r>
              <a:t>[Sources]</a:t>
            </a:r>
          </a:p>
          <a:p>
            <a:r>
              <a:t>- /Users/bright/Projects/courses/graduate/course/syllabus.md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授课前复核现任职务和单位名称；本页不使用未核验的讲师照片。</a:t>
            </a:r>
          </a:p>
          <a:p>
            <a:endParaRPr/>
          </a:p>
          <a:p>
            <a:r>
              <a:t>[Sources]</a:t>
            </a:r>
          </a:p>
          <a:p>
            <a:r>
              <a:t>- Personal profile supplied in lessons/lesson-01/slides.md; verify before teaching.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举手投票；追问一位选择‘证据’或‘结论’的学生具体做了什么核验。</a:t>
            </a:r>
          </a:p>
          <a:p>
            <a:endParaRPr/>
          </a:p>
          <a:p>
            <a:r>
              <a:t>[Sources]</a:t>
            </a:r>
          </a:p>
          <a:p>
            <a:r>
              <a:t>- Classroom diagnostic; no identifiable personal data collected.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先按原图读系统结构，再读取 1/3 与 6.33。请学生指出最容易被媒体标题省略的限定：人工筛选、特定机器学习计算实验、workshop 首轮评审，以及 3 篇均未达到 ICLR 主会标准。</a:t>
            </a:r>
          </a:p>
          <a:p>
            <a:endParaRPr/>
          </a:p>
          <a:p>
            <a:r>
              <a:t>[Sources]</a:t>
            </a:r>
          </a:p>
          <a:p>
            <a:r>
              <a:t>- https://doi.org/10.1038/s41586-026-10265-5</a:t>
            </a:r>
          </a:p>
          <a:p>
            <a:r>
              <a:t>- Visual: Lu et al. (2026), Figure 1a, CC BY 4.0.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让学生指出哪些环节只是生成候选，哪些环节会改变外部世界或研究记录。</a:t>
            </a:r>
          </a:p>
          <a:p>
            <a:endParaRPr/>
          </a:p>
          <a:p>
            <a:r>
              <a:t>[Sources]</a:t>
            </a:r>
          </a:p>
          <a:p>
            <a:r>
              <a:t>- https://doi.org/10.1038/s41586-023-06221-2</a:t>
            </a:r>
          </a:p>
          <a:p>
            <a:r>
              <a:t>- https://doi.org/10.1038/s41586-026-10644-y</a:t>
            </a:r>
          </a:p>
          <a:p>
            <a:r>
              <a:t>- https://doi.org/10.1038/s41586-026-10652-y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追问个人效率和科学整体进步为何可能分离。图像用于内部课堂制作；外部分发前复核许可或改为忠实重绘。</a:t>
            </a:r>
          </a:p>
          <a:p>
            <a:endParaRPr/>
          </a:p>
          <a:p>
            <a:r>
              <a:t>[Sources]</a:t>
            </a:r>
          </a:p>
          <a:p>
            <a:r>
              <a:t>- https://doi.org/10.1038/s41586-025-09922-y</a:t>
            </a:r>
          </a:p>
          <a:p>
            <a:r>
              <a:t>- Visuals: Hao et al. Figures 2 and 3; reuse permission must be rechecked before external distribution.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把前六页收束为课程任务：控制研究质量。</a:t>
            </a:r>
          </a:p>
          <a:p>
            <a:endParaRPr/>
          </a:p>
          <a:p>
            <a:r>
              <a:t>[Sources]</a:t>
            </a:r>
          </a:p>
          <a:p>
            <a:r>
              <a:t>- /Users/bright/Projects/courses/graduate/course/syllabus.md</a:t>
            </a:r>
          </a:p>
          <a:p>
            <a:r>
              <a:t>- Visual: AI-generated concept illustration, lessons/lesson-01/assets/research-quality-control-imagegen2-v1.png.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工程过程可检查，不等于研究主张已成立；方法质量与工作流质量必须同时检查。</a:t>
            </a:r>
          </a:p>
          <a:p>
            <a:endParaRPr/>
          </a:p>
          <a:p>
            <a:r>
              <a:t>[Sources]</a:t>
            </a:r>
          </a:p>
          <a:p>
            <a:r>
              <a:t>- Fictional teaching scenario created for this lesson.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明确课程评价对象：研究闭环的质量，而不是使用了多少 AI 工具。</a:t>
            </a:r>
          </a:p>
          <a:p>
            <a:endParaRPr/>
          </a:p>
          <a:p>
            <a:r>
              <a:t>[Sources]</a:t>
            </a:r>
          </a:p>
          <a:p>
            <a:r>
              <a:t>- /Users/bright/Projects/courses/graduate/course/syllabus.md</a:t>
            </a:r>
          </a:p>
          <a:p>
            <a:r>
              <a:t>- /Users/bright/Projects/courses/graduate/course/assessment.md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强调不是五份作业，而是一个持续生长、16 周后仍可继续发展的项目。</a:t>
            </a:r>
          </a:p>
          <a:p>
            <a:endParaRPr/>
          </a:p>
          <a:p>
            <a:r>
              <a:t>[Sources]</a:t>
            </a:r>
          </a:p>
          <a:p>
            <a:r>
              <a:t>- /Users/bright/Projects/courses/graduate/course/assessment.md</a:t>
            </a:r>
          </a:p>
          <a:p>
            <a:r>
              <a:t>- /Users/bright/Projects/courses/graduate/course/syllabus.md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让学生在退出卡报告影响后续上机的环境问题。</a:t>
            </a:r>
          </a:p>
          <a:p>
            <a:endParaRPr/>
          </a:p>
          <a:p>
            <a:r>
              <a:t>[Sources]</a:t>
            </a:r>
          </a:p>
          <a:p>
            <a:r>
              <a:t>- /Users/bright/Projects/courses/graduate/course/syllabus.md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正式项目个人完成；同伴组只提供形成性反馈，不共同提交。</a:t>
            </a:r>
          </a:p>
          <a:p>
            <a:endParaRPr/>
          </a:p>
          <a:p>
            <a:r>
              <a:t>[Sources]</a:t>
            </a:r>
          </a:p>
          <a:p>
            <a:r>
              <a:t>- /Users/bright/Projects/courses/graduate/course/assignments.md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用没有公平 baseline 和失败记录的 Agent 实验追问：它主要在实验设计与可复现性上失分。</a:t>
            </a:r>
          </a:p>
          <a:p>
            <a:endParaRPr/>
          </a:p>
          <a:p>
            <a:r>
              <a:t>[Sources]</a:t>
            </a:r>
          </a:p>
          <a:p>
            <a:r>
              <a:t>- /Users/bright/Projects/courses/graduate/course/assessment.md</a:t>
            </a:r>
          </a:p>
          <a:p>
            <a:r>
              <a:t>- /Users/bright/Projects/courses/graduate/course/assignments.md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纠正‘每周都要正式交一份作业’的旧口径。</a:t>
            </a:r>
          </a:p>
          <a:p>
            <a:endParaRPr/>
          </a:p>
          <a:p>
            <a:r>
              <a:t>[Sources]</a:t>
            </a:r>
          </a:p>
          <a:p>
            <a:r>
              <a:t>- /Users/bright/Projects/courses/graduate/course/assignments.md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安装和后端配置应课前完成；无法使用者采用备用环境或纸面模板。</a:t>
            </a:r>
          </a:p>
          <a:p>
            <a:endParaRPr/>
          </a:p>
          <a:p>
            <a:r>
              <a:t>[Sources]</a:t>
            </a:r>
          </a:p>
          <a:p>
            <a:r>
              <a:t>- /Users/bright/Projects/courses/graduate/course/syllabus.md</a:t>
            </a:r>
          </a:p>
          <a:p>
            <a:r>
              <a:t>- https://opencode.ai/docs/ — verify current commands before teaching.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四条底线从第一天起适用，后续第 2 课再系统展开权限和披露。</a:t>
            </a:r>
          </a:p>
          <a:p>
            <a:endParaRPr/>
          </a:p>
          <a:p>
            <a:r>
              <a:t>[Sources]</a:t>
            </a:r>
          </a:p>
          <a:p>
            <a:r>
              <a:t>- /Users/bright/Projects/courses/graduate/course/ethics-and-compliance-template.md</a:t>
            </a:r>
          </a:p>
          <a:p>
            <a:r>
              <a:t>- /Users/bright/Projects/courses/graduate/course/starter-template.md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请学生选择最先核验的一项。这是一条明确标注的虚构线索，不得当作真实研究结论。</a:t>
            </a:r>
          </a:p>
          <a:p>
            <a:endParaRPr/>
          </a:p>
          <a:p>
            <a:r>
              <a:t>[Sources]</a:t>
            </a:r>
          </a:p>
          <a:p>
            <a:r>
              <a:t>- Fictional, unverified AI-generated claim created for classroom diagnosis.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让学生判断 P17 的句子最多处于哪个阶段：外部输入候选，尚未成为证据整理结果。</a:t>
            </a:r>
          </a:p>
          <a:p>
            <a:endParaRPr/>
          </a:p>
          <a:p>
            <a:r>
              <a:t>[Sources]</a:t>
            </a:r>
          </a:p>
          <a:p>
            <a:r>
              <a:t>- /Users/bright/Projects/courses/graduate/course/syllabus.md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让学生说出一个明确非例，例如‘不评价文章文风’。</a:t>
            </a:r>
          </a:p>
          <a:p>
            <a:endParaRPr/>
          </a:p>
          <a:p>
            <a:r>
              <a:t>[Sources]</a:t>
            </a:r>
          </a:p>
          <a:p>
            <a:r>
              <a:t>- /Users/bright/Projects/courses/graduate/course/syllabus.md</a:t>
            </a:r>
          </a:p>
          <a:p>
            <a:r>
              <a:t>- The reading-card mechanism is a course example, not a proven effect.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追问：如果阅读卡减少遗漏但耗时增加三倍，结论应如何加边界。</a:t>
            </a:r>
          </a:p>
          <a:p>
            <a:endParaRPr/>
          </a:p>
          <a:p>
            <a:r>
              <a:t>[Sources]</a:t>
            </a:r>
          </a:p>
          <a:p>
            <a:r>
              <a:t>- /Users/bright/Projects/courses/graduate/course/starter-template.md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八阶段不是瀑布流程。回退原因和受影响判断必须进入记录。</a:t>
            </a:r>
          </a:p>
          <a:p>
            <a:endParaRPr/>
          </a:p>
          <a:p>
            <a:r>
              <a:t>[Sources]</a:t>
            </a:r>
          </a:p>
          <a:p>
            <a:r>
              <a:t>- /Users/bright/Projects/courses/graduate/lessons/lesson-01/handout.md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用‘问题很好但 baseline 不公平’追问：应在判断门暴露，并回到实验规格与研究判断。</a:t>
            </a:r>
          </a:p>
          <a:p>
            <a:endParaRPr/>
          </a:p>
          <a:p>
            <a:r>
              <a:t>[Sources]</a:t>
            </a:r>
          </a:p>
          <a:p>
            <a:r>
              <a:t>- /Users/bright/Projects/courses/graduate/course/assessment.md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让学生重新判断 P17 的句子：仍是待核验线索。</a:t>
            </a:r>
          </a:p>
          <a:p>
            <a:endParaRPr/>
          </a:p>
          <a:p>
            <a:r>
              <a:t>[Sources]</a:t>
            </a:r>
          </a:p>
          <a:p>
            <a:r>
              <a:t>- /Users/bright/Projects/courses/graduate/course/syllabus.md</a:t>
            </a:r>
          </a:p>
          <a:p>
            <a:r>
              <a:t>- /Users/bright/Projects/courses/graduate/course/starter-template.md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现场确认终端没有显示密钥。若模型或网络不可用，切换到固定截图或纸面任务。</a:t>
            </a:r>
          </a:p>
          <a:p>
            <a:endParaRPr/>
          </a:p>
          <a:p>
            <a:r>
              <a:t>[Sources]</a:t>
            </a:r>
          </a:p>
          <a:p>
            <a:r>
              <a:t>- Fictional demonstration artifacts created for this lesson.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运行前请学生预测仍有哪些歧义；运行后保留原始输出，不为了演示成功静默重跑。</a:t>
            </a:r>
          </a:p>
          <a:p>
            <a:endParaRPr/>
          </a:p>
          <a:p>
            <a:r>
              <a:t>[Sources]</a:t>
            </a:r>
          </a:p>
          <a:p>
            <a:r>
              <a:t>- Prompt authored for this course; adapt invocation syntax to the verified OpenCode version without changing the contract.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让学生投票选择一条建议；教师保留不同意见，但明确决定由研究者作出。</a:t>
            </a:r>
          </a:p>
          <a:p>
            <a:endParaRPr/>
          </a:p>
          <a:p>
            <a:r>
              <a:t>[Sources]</a:t>
            </a:r>
          </a:p>
          <a:p>
            <a:r>
              <a:t>- Review checklist authored for this lesson.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运行前让学生指出两个目标文件；运行后先检查实际修改文件列表，再看改写文案。</a:t>
            </a:r>
          </a:p>
          <a:p>
            <a:endParaRPr/>
          </a:p>
          <a:p>
            <a:r>
              <a:t>[Sources]</a:t>
            </a:r>
          </a:p>
          <a:p>
            <a:r>
              <a:t>- /Users/bright/Projects/courses/graduate/course/starter-template.md</a:t>
            </a:r>
          </a:p>
          <a:p>
            <a:r>
              <a:t>- Fictional demonstration task contract.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邀请学生指出仍未定义的词；现场补充‘待核验／待定义’，不要求模型把题目润色成论文标题。</a:t>
            </a:r>
          </a:p>
          <a:p>
            <a:endParaRPr/>
          </a:p>
          <a:p>
            <a:r>
              <a:t>[Sources]</a:t>
            </a:r>
          </a:p>
          <a:p>
            <a:r>
              <a:t>- /Users/bright/Projects/courses/graduate/course/starter-template.md</a:t>
            </a:r>
          </a:p>
          <a:p>
            <a:r>
              <a:t>- Fictional diff and usage-log entries created for this lesson.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请学生给出限制条件，教师逐条加入改写后的任务契约。</a:t>
            </a:r>
          </a:p>
          <a:p>
            <a:endParaRPr/>
          </a:p>
          <a:p>
            <a:r>
              <a:t>[Sources]</a:t>
            </a:r>
          </a:p>
          <a:p>
            <a:r>
              <a:t>- /Users/bright/Projects/courses/graduate/course/ethics-and-compliance-template.md</a:t>
            </a:r>
          </a:p>
          <a:p>
            <a:r>
              <a:t>- Fictional unsafe request created for classroom analysis.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请学生在 30 秒内选择真实兴趣或题池编号。备用问题只是练习起点，不预设结论。</a:t>
            </a:r>
          </a:p>
          <a:p>
            <a:endParaRPr/>
          </a:p>
          <a:p>
            <a:r>
              <a:t>[Sources]</a:t>
            </a:r>
          </a:p>
          <a:p>
            <a:r>
              <a:t>- Backup micro-problems are course-authored practice starters.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45:30–48:00 说明任务；48:00–75:00 停留本页。教师巡视只处理共同卡点，不逐台安装。</a:t>
            </a:r>
          </a:p>
          <a:p>
            <a:endParaRPr/>
          </a:p>
          <a:p>
            <a:r>
              <a:t>[Sources]</a:t>
            </a:r>
          </a:p>
          <a:p>
            <a:r>
              <a:t>- /Users/bright/Projects/courses/graduate/course/starter-template.md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75:00–85:00 两人互查；奇数人数组成三人组并缩短每人说明时间。</a:t>
            </a:r>
          </a:p>
          <a:p>
            <a:endParaRPr/>
          </a:p>
          <a:p>
            <a:r>
              <a:t>[Sources]</a:t>
            </a:r>
          </a:p>
          <a:p>
            <a:r>
              <a:t>- Formative peer feedback; not separately graded and not a group submission.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学生提交退出卡或保存在个人项目中。收集共性环境问题，用于第 2 课前统一处理。</a:t>
            </a:r>
          </a:p>
          <a:p>
            <a:endParaRPr/>
          </a:p>
          <a:p>
            <a:r>
              <a:t>[Sources]</a:t>
            </a:r>
          </a:p>
          <a:p>
            <a:r>
              <a:t>- https://mitpress.mit.edu/9780262537537/the-sciences-of-the-artificial/</a:t>
            </a:r>
          </a:p>
          <a:p>
            <a:r>
              <a:t>- https://doi.org/10.1038/s41586-023-06221-2</a:t>
            </a:r>
          </a:p>
          <a:p>
            <a:r>
              <a:t>- /Users/bright/Projects/courses/graduate/course/reading-list.md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7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22" name="标题 1">
            <a:extLst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r>
              <a:t>单击此处编辑标题样式</a:t>
            </a:r>
          </a:p>
        </p:txBody>
      </p:sp>
      <p:sp>
        <p:nvSpPr>
          <p:cNvPr id="26" name="内容占位符 25">
            <a:extLst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noChangeAspect="1"/>
          </p:cNvPicPr>
          <p:nvPr/>
        </p:nvPicPr>
        <p:blipFill rotWithShape="1">
          <a:blip r:embed="rId3"/>
          <a:srcRect l="74359" r="1346"/>
          <a:stretch/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pic>
        <p:nvPicPr>
          <p:cNvPr id="51" name="图片 17"/>
          <p:cNvPicPr>
            <a:picLocks noChangeAspect="1"/>
          </p:cNvPicPr>
          <p:nvPr/>
        </p:nvPicPr>
        <p:blipFill rotWithShape="1">
          <a:blip r:embed="rId4">
            <a:alphaModFix amt="35000"/>
          </a:blip>
          <a:srcRect t="9831" b="36385"/>
          <a:stretch/>
        </p:blipFill>
        <p:spPr>
          <a:xfrm>
            <a:off x="3352562" y="6244170"/>
            <a:ext cx="5486876" cy="406590"/>
          </a:xfrm>
          <a:prstGeom prst="rect">
            <a:avLst/>
          </a:prstGeom>
        </p:spPr>
      </p:pic>
      <p:sp>
        <p:nvSpPr>
          <p:cNvPr id="37" name="椭圆 36">
            <a:extLst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noGrp="1"/>
          </p:cNvSpPr>
          <p:nvPr/>
        </p:nvSpPr>
        <p:spPr>
          <a:xfrm>
            <a:off x="6051000" y="6430138"/>
            <a:ext cx="90000" cy="9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D8986E70-AA20-4B48-8392-1E625C907004}"/>
              </a:ext>
            </a:extLst>
          </p:cNvPr>
          <p:cNvSpPr>
            <a:spLocks noGrp="1"/>
          </p:cNvSpPr>
          <p:nvPr/>
        </p:nvSpPr>
        <p:spPr>
          <a:xfrm>
            <a:off x="2328587" y="6487838"/>
            <a:ext cx="900000" cy="0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E6E69411-B05C-4E95-9FEF-89AAD194B943}"/>
              </a:ext>
            </a:extLst>
          </p:cNvPr>
          <p:cNvSpPr>
            <a:spLocks noGrp="1"/>
          </p:cNvSpPr>
          <p:nvPr/>
        </p:nvSpPr>
        <p:spPr>
          <a:xfrm>
            <a:off x="8983387" y="6487838"/>
            <a:ext cx="900000" cy="0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9C41B9F3-F9D4-4EDD-84BE-E44BAA51E2DF}"/>
              </a:ext>
            </a:extLst>
          </p:cNvPr>
          <p:cNvSpPr>
            <a:spLocks noGrp="1"/>
          </p:cNvSpPr>
          <p:nvPr/>
        </p:nvSpPr>
        <p:spPr>
          <a:xfrm>
            <a:off x="2046000" y="1712549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07D9406B-EC01-450C-8B26-61842E9F6645}"/>
              </a:ext>
            </a:extLst>
          </p:cNvPr>
          <p:cNvSpPr>
            <a:spLocks noGrp="1"/>
          </p:cNvSpPr>
          <p:nvPr/>
        </p:nvSpPr>
        <p:spPr>
          <a:xfrm>
            <a:off x="2046000" y="3428810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57" name="图片 3"/>
          <p:cNvPicPr>
            <a:picLocks noChangeAspect="1"/>
          </p:cNvPicPr>
          <p:nvPr/>
        </p:nvPicPr>
        <p:blipFill>
          <a:blip r:embed="rId5"/>
          <a:srcRect r="54251"/>
          <a:stretch/>
        </p:blipFill>
        <p:spPr>
          <a:xfrm>
            <a:off x="332010" y="251357"/>
            <a:ext cx="1934780" cy="4825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noGrp="1"/>
          </p:cNvSpPr>
          <p:nvPr/>
        </p:nvSpPr>
        <p:spPr>
          <a:xfrm>
            <a:off x="304801" y="2455636"/>
            <a:ext cx="2960913" cy="143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noGrp="1"/>
          </p:cNvSpPr>
          <p:nvPr/>
        </p:nvSpPr>
        <p:spPr>
          <a:xfrm rot="16200000">
            <a:off x="1736542" y="2389144"/>
            <a:ext cx="97430" cy="29609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noGrp="1"/>
          </p:cNvSpPr>
          <p:nvPr/>
        </p:nvSpPr>
        <p:spPr>
          <a:xfrm flipV="1">
            <a:off x="3478991" y="0"/>
            <a:ext cx="9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noChangeAspect="1"/>
          </p:cNvPicPr>
          <p:nvPr/>
        </p:nvPicPr>
        <p:blipFill rotWithShape="1">
          <a:blip r:embed="rId2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9" name="文本占位符 31">
            <a:extLst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10" name="文本占位符 31">
            <a:extLst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noGrp="1"/>
          </p:cNvSpPr>
          <p:nvPr/>
        </p:nvSpPr>
        <p:spPr>
          <a:xfrm>
            <a:off x="0" y="1"/>
            <a:ext cx="12191483" cy="685800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21" name="文本占位符 31">
            <a:extLst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16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F67471EE-CBFD-4BA6-A818-9AE9DE512DAE}"/>
              </a:ext>
            </a:extLst>
          </p:cNvPr>
          <p:cNvSpPr>
            <a:spLocks noGrp="1"/>
          </p:cNvSpPr>
          <p:nvPr/>
        </p:nvSpPr>
        <p:spPr>
          <a:xfrm>
            <a:off x="30480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1843F813-85B6-4A0C-BF78-B82267820B7E}"/>
              </a:ext>
            </a:extLst>
          </p:cNvPr>
          <p:cNvSpPr>
            <a:spLocks noGrp="1"/>
          </p:cNvSpPr>
          <p:nvPr/>
        </p:nvSpPr>
        <p:spPr>
          <a:xfrm>
            <a:off x="968969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文本占位符 31">
            <a:extLst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noChangeAspect="1"/>
          </p:cNvPicPr>
          <p:nvPr/>
        </p:nvPicPr>
        <p:blipFill rotWithShape="1">
          <a:blip r:embed="rId3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/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val="F26B43"/>
          </p15:clr>
        </p15:guide>
        <p15:guide id="2" pos="7488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orient="horz" pos="47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40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1E404-BACA-4D57-94DC-0334FDB83FB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667000" y="4048125"/>
            <a:ext cx="6858000" cy="1447800"/>
          </a:xfrm>
        </p:spPr>
        <p:txBody>
          <a:bodyPr lIns="0" tIns="0" rIns="0" bIns="0" anchor="ctr"/>
          <a:lstStyle/>
          <a:p>
            <a:pPr algn="ctr"/>
            <a:r>
              <a:rPr sz="19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AI 可以参与科研，研究责任仍由人承担。</a:t>
            </a:r>
          </a:p>
          <a:p>
            <a:endParaRPr sz="1950" b="1">
              <a:solidFill>
                <a:srgbClr val="18354E"/>
              </a:solidFill>
              <a:latin typeface="Microsoft YaHei"/>
              <a:ea typeface="Microsoft YaHei"/>
              <a:cs typeface="Microsoft YaHei"/>
            </a:endParaRPr>
          </a:p>
          <a:p>
            <a:pPr algn="ctr"/>
            <a:r>
              <a:rPr sz="19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2 学分｜32 学时｜研究生专业选修课</a:t>
            </a:r>
          </a:p>
        </p:txBody>
      </p:sp>
      <p:sp>
        <p:nvSpPr>
          <p:cNvPr id="2" name="矩形 11">
            <a:extLst>
              <a:ext uri="{FF2B5EF4-FFF2-40B4-BE49-F238E27FC236}">
                <a16:creationId xmlns:a16="http://schemas.microsoft.com/office/drawing/2014/main" id="{27DE90CC-93E2-C662-C202-C5C6993D76E4}"/>
              </a:ext>
            </a:extLst>
          </p:cNvPr>
          <p:cNvSpPr>
            <a:spLocks noGrp="1"/>
          </p:cNvSpPr>
          <p:nvPr/>
        </p:nvSpPr>
        <p:spPr>
          <a:xfrm>
            <a:off x="2047875" y="1657350"/>
            <a:ext cx="8096250" cy="164592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sz="25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智能科研方法</a:t>
            </a:r>
          </a:p>
          <a:p>
            <a:pPr algn="ctr">
              <a:lnSpc>
                <a:spcPct val="150000"/>
              </a:lnSpc>
              <a:buNone/>
            </a:pPr>
            <a:r>
              <a:rPr sz="25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AI for Research: Methods and Practice</a:t>
            </a: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讲师介绍：AI 辅助科研的实践者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E2598689-54C9-18A7-3A19-ED76AA08988F}" type="slidenum">
              <a:rPr/>
              <a:t>2</a:t>
            </a:fld>
            <a:endParaRPr/>
          </a:p>
        </p:txBody>
      </p:sp>
      <p:sp>
        <p:nvSpPr>
          <p:cNvPr id="8" name="p02-name">
            <a:extLst>
              <a:ext uri="{FF2B5EF4-FFF2-40B4-BE49-F238E27FC236}">
                <a16:creationId xmlns:a16="http://schemas.microsoft.com/office/drawing/2014/main" id="{6298E8C6-6858-40D1-831B-CF6245FC5892}"/>
              </a:ext>
            </a:extLst>
          </p:cNvPr>
          <p:cNvSpPr>
            <a:spLocks noGrp="1"/>
          </p:cNvSpPr>
          <p:nvPr/>
        </p:nvSpPr>
        <p:spPr>
          <a:xfrm>
            <a:off x="3714750" y="1390650"/>
            <a:ext cx="619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2700" b="1">
                <a:solidFill>
                  <a:srgbClr val="18354E"/>
                </a:solidFill>
              </a:defRPr>
            </a:pPr>
            <a:r>
              <a:rPr sz="27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金耀辉 教授</a:t>
            </a:r>
          </a:p>
        </p:txBody>
      </p:sp>
      <p:sp>
        <p:nvSpPr>
          <p:cNvPr id="9" name="p02-org">
            <a:extLst>
              <a:ext uri="{FF2B5EF4-FFF2-40B4-BE49-F238E27FC236}">
                <a16:creationId xmlns:a16="http://schemas.microsoft.com/office/drawing/2014/main" id="{357F738C-2F37-4C99-B613-8EFEDCEFEC4F}"/>
              </a:ext>
            </a:extLst>
          </p:cNvPr>
          <p:cNvSpPr>
            <a:spLocks noGrp="1"/>
          </p:cNvSpPr>
          <p:nvPr/>
        </p:nvSpPr>
        <p:spPr>
          <a:xfrm>
            <a:off x="3714750" y="2019300"/>
            <a:ext cx="714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725" b="0">
                <a:solidFill>
                  <a:srgbClr val="667684"/>
                </a:solidFill>
              </a:defRPr>
            </a:pPr>
            <a:r>
              <a:rPr sz="1725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上海交通大学 计算机学院 / 人工智能研究院</a:t>
            </a:r>
          </a:p>
        </p:txBody>
      </p:sp>
      <p:sp>
        <p:nvSpPr>
          <p:cNvPr id="10" name="p02-rule">
            <a:extLst>
              <a:ext uri="{FF2B5EF4-FFF2-40B4-BE49-F238E27FC236}">
                <a16:creationId xmlns:a16="http://schemas.microsoft.com/office/drawing/2014/main" id="{ED90678D-4149-4540-AD3A-7157169F40C7}"/>
              </a:ext>
            </a:extLst>
          </p:cNvPr>
          <p:cNvSpPr>
            <a:spLocks noGrp="1"/>
          </p:cNvSpPr>
          <p:nvPr/>
        </p:nvSpPr>
        <p:spPr>
          <a:xfrm>
            <a:off x="3714750" y="2628900"/>
            <a:ext cx="6477000" cy="38100"/>
          </a:xfrm>
          <a:prstGeom prst="rect">
            <a:avLst/>
          </a:prstGeom>
          <a:solidFill>
            <a:srgbClr val="C8161E"/>
          </a:solidFill>
          <a:ln w="0">
            <a:noFill/>
            <a:prstDash val="solid"/>
          </a:ln>
        </p:spPr>
      </p:sp>
      <p:sp>
        <p:nvSpPr>
          <p:cNvPr id="11" name="p02-roles">
            <a:extLst>
              <a:ext uri="{FF2B5EF4-FFF2-40B4-BE49-F238E27FC236}">
                <a16:creationId xmlns:a16="http://schemas.microsoft.com/office/drawing/2014/main" id="{B67D60B5-2DAD-4A3F-8A2C-1E7FF7314389}"/>
              </a:ext>
            </a:extLst>
          </p:cNvPr>
          <p:cNvSpPr>
            <a:spLocks noGrp="1"/>
          </p:cNvSpPr>
          <p:nvPr/>
        </p:nvSpPr>
        <p:spPr>
          <a:xfrm>
            <a:off x="3714750" y="2933700"/>
            <a:ext cx="7239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lnSpc>
                <a:spcPct val="130000"/>
              </a:lnSpc>
              <a:buNone/>
              <a:defRPr sz="1800" b="0">
                <a:solidFill>
                  <a:srgbClr val="263746"/>
                </a:solidFill>
              </a:defRPr>
            </a:pPr>
            <a:r>
              <a:rPr sz="18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总工程师，人工智能研究院</a:t>
            </a:r>
          </a:p>
          <a:p>
            <a:pPr algn="l">
              <a:lnSpc>
                <a:spcPct val="130000"/>
              </a:lnSpc>
              <a:buNone/>
              <a:defRPr sz="1800" b="0">
                <a:solidFill>
                  <a:srgbClr val="263746"/>
                </a:solidFill>
              </a:defRPr>
            </a:pPr>
            <a:r>
              <a:rPr sz="18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副院长，智慧司法研究院</a:t>
            </a:r>
          </a:p>
          <a:p>
            <a:pPr algn="l">
              <a:lnSpc>
                <a:spcPct val="130000"/>
              </a:lnSpc>
              <a:buNone/>
              <a:defRPr sz="1800" b="0">
                <a:solidFill>
                  <a:srgbClr val="263746"/>
                </a:solidFill>
              </a:defRPr>
            </a:pPr>
            <a:r>
              <a:rPr sz="18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研究方向：智能体应用增强｜时空数据挖掘｜自然语言理解</a:t>
            </a:r>
          </a:p>
        </p:txBody>
      </p:sp>
      <p:sp>
        <p:nvSpPr>
          <p:cNvPr id="12" name="p02-contact">
            <a:extLst>
              <a:ext uri="{FF2B5EF4-FFF2-40B4-BE49-F238E27FC236}">
                <a16:creationId xmlns:a16="http://schemas.microsoft.com/office/drawing/2014/main" id="{25D1F228-51F4-4DD1-A724-8E7937F8FAEE}"/>
              </a:ext>
            </a:extLst>
          </p:cNvPr>
          <p:cNvSpPr>
            <a:spLocks noGrp="1"/>
          </p:cNvSpPr>
          <p:nvPr/>
        </p:nvSpPr>
        <p:spPr>
          <a:xfrm>
            <a:off x="3714750" y="4686300"/>
            <a:ext cx="676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500" b="0">
                <a:solidFill>
                  <a:srgbClr val="C8161E"/>
                </a:solidFill>
              </a:defRPr>
            </a:pPr>
            <a:r>
              <a:rPr sz="1500" b="0">
                <a:solidFill>
                  <a:srgbClr val="C8161E"/>
                </a:solidFill>
                <a:latin typeface="Arial"/>
                <a:ea typeface="Arial"/>
                <a:cs typeface="Arial"/>
              </a:rPr>
              <a:t>jinyh@sjtu.edu.cn   ·   软件学院 517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93D211-D513-33DA-1BFA-FAF3E1CCA5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96" y="1499615"/>
            <a:ext cx="2140840" cy="274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你最近一次把 AI 输出当成了什么？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202359C0-8A7A-196E-DD58-8E6569619F09}" type="slidenum">
              <a:t>3</a:t>
            </a:fld>
            <a:endParaRPr/>
          </a:p>
        </p:txBody>
      </p:sp>
      <p:sp>
        <p:nvSpPr>
          <p:cNvPr id="6" name="p03-prompt">
            <a:extLst>
              <a:ext uri="{FF2B5EF4-FFF2-40B4-BE49-F238E27FC236}">
                <a16:creationId xmlns:a16="http://schemas.microsoft.com/office/drawing/2014/main" id="{60F31EBE-CE46-47C2-9A85-E3696C0BA835}"/>
              </a:ext>
            </a:extLst>
          </p:cNvPr>
          <p:cNvSpPr>
            <a:spLocks noGrp="1"/>
          </p:cNvSpPr>
          <p:nvPr/>
        </p:nvSpPr>
        <p:spPr>
          <a:xfrm>
            <a:off x="952500" y="120015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00" b="1">
                <a:solidFill>
                  <a:srgbClr val="263746"/>
                </a:solidFill>
              </a:defRPr>
            </a:pPr>
            <a:r>
              <a:rPr sz="21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最近一次科研相关的 AI 输出，你把它当成：</a:t>
            </a:r>
          </a:p>
        </p:txBody>
      </p:sp>
      <p:sp>
        <p:nvSpPr>
          <p:cNvPr id="7" name="p03-n-0">
            <a:extLst>
              <a:ext uri="{FF2B5EF4-FFF2-40B4-BE49-F238E27FC236}">
                <a16:creationId xmlns:a16="http://schemas.microsoft.com/office/drawing/2014/main" id="{C2BE8557-956C-4E44-95F5-B4E8AC2C6568}"/>
              </a:ext>
            </a:extLst>
          </p:cNvPr>
          <p:cNvSpPr>
            <a:spLocks noGrp="1"/>
          </p:cNvSpPr>
          <p:nvPr/>
        </p:nvSpPr>
        <p:spPr>
          <a:xfrm>
            <a:off x="800100" y="2324100"/>
            <a:ext cx="590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3150" b="1">
                <a:solidFill>
                  <a:srgbClr val="667684"/>
                </a:solidFill>
              </a:defRPr>
            </a:pPr>
            <a:r>
              <a:rPr sz="31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p03-label-0">
            <a:extLst>
              <a:ext uri="{FF2B5EF4-FFF2-40B4-BE49-F238E27FC236}">
                <a16:creationId xmlns:a16="http://schemas.microsoft.com/office/drawing/2014/main" id="{164E6C65-9CCA-48FE-BE1A-5996B158F507}"/>
              </a:ext>
            </a:extLst>
          </p:cNvPr>
          <p:cNvSpPr>
            <a:spLocks noGrp="1"/>
          </p:cNvSpPr>
          <p:nvPr/>
        </p:nvSpPr>
        <p:spPr>
          <a:xfrm>
            <a:off x="1390650" y="2209800"/>
            <a:ext cx="1809750" cy="91440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850" b="1">
                <a:solidFill>
                  <a:srgbClr val="667684"/>
                </a:solidFill>
              </a:defRPr>
            </a:pPr>
            <a:r>
              <a:rPr sz="285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线索</a:t>
            </a:r>
          </a:p>
        </p:txBody>
      </p:sp>
      <p:sp>
        <p:nvSpPr>
          <p:cNvPr id="9" name="p03-n-1">
            <a:extLst>
              <a:ext uri="{FF2B5EF4-FFF2-40B4-BE49-F238E27FC236}">
                <a16:creationId xmlns:a16="http://schemas.microsoft.com/office/drawing/2014/main" id="{79D3C682-624A-4150-836E-BEE30776C793}"/>
              </a:ext>
            </a:extLst>
          </p:cNvPr>
          <p:cNvSpPr>
            <a:spLocks noGrp="1"/>
          </p:cNvSpPr>
          <p:nvPr/>
        </p:nvSpPr>
        <p:spPr>
          <a:xfrm>
            <a:off x="3600450" y="2324100"/>
            <a:ext cx="590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3150" b="1">
                <a:solidFill>
                  <a:srgbClr val="2F638A"/>
                </a:solidFill>
              </a:defRPr>
            </a:pPr>
            <a:r>
              <a:rPr sz="3150" b="1">
                <a:solidFill>
                  <a:srgbClr val="2F638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03-label-1">
            <a:extLst>
              <a:ext uri="{FF2B5EF4-FFF2-40B4-BE49-F238E27FC236}">
                <a16:creationId xmlns:a16="http://schemas.microsoft.com/office/drawing/2014/main" id="{486B59A8-8F0B-4B1B-ADCE-C10B646D1061}"/>
              </a:ext>
            </a:extLst>
          </p:cNvPr>
          <p:cNvSpPr>
            <a:spLocks noGrp="1"/>
          </p:cNvSpPr>
          <p:nvPr/>
        </p:nvSpPr>
        <p:spPr>
          <a:xfrm>
            <a:off x="4191000" y="2209800"/>
            <a:ext cx="1809750" cy="914400"/>
          </a:xfrm>
          <a:prstGeom prst="rect">
            <a:avLst/>
          </a:prstGeom>
          <a:solidFill>
            <a:srgbClr val="E8F0F6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850" b="1">
                <a:solidFill>
                  <a:srgbClr val="2F638A"/>
                </a:solidFill>
              </a:defRPr>
            </a:pPr>
            <a:r>
              <a:rPr sz="2850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草稿</a:t>
            </a:r>
          </a:p>
        </p:txBody>
      </p:sp>
      <p:sp>
        <p:nvSpPr>
          <p:cNvPr id="11" name="p03-n-2">
            <a:extLst>
              <a:ext uri="{FF2B5EF4-FFF2-40B4-BE49-F238E27FC236}">
                <a16:creationId xmlns:a16="http://schemas.microsoft.com/office/drawing/2014/main" id="{46CE93A4-47C2-4D66-879F-E11B20DC3077}"/>
              </a:ext>
            </a:extLst>
          </p:cNvPr>
          <p:cNvSpPr>
            <a:spLocks noGrp="1"/>
          </p:cNvSpPr>
          <p:nvPr/>
        </p:nvSpPr>
        <p:spPr>
          <a:xfrm>
            <a:off x="6400800" y="2324100"/>
            <a:ext cx="590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3150" b="1">
                <a:solidFill>
                  <a:srgbClr val="A86C12"/>
                </a:solidFill>
              </a:defRPr>
            </a:pPr>
            <a:r>
              <a:rPr sz="3150" b="1">
                <a:solidFill>
                  <a:srgbClr val="A86C1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p03-label-2">
            <a:extLst>
              <a:ext uri="{FF2B5EF4-FFF2-40B4-BE49-F238E27FC236}">
                <a16:creationId xmlns:a16="http://schemas.microsoft.com/office/drawing/2014/main" id="{950EF175-72A6-4712-ABAF-09FCA9BA9199}"/>
              </a:ext>
            </a:extLst>
          </p:cNvPr>
          <p:cNvSpPr>
            <a:spLocks noGrp="1"/>
          </p:cNvSpPr>
          <p:nvPr/>
        </p:nvSpPr>
        <p:spPr>
          <a:xfrm>
            <a:off x="6991350" y="2209800"/>
            <a:ext cx="1809750" cy="914400"/>
          </a:xfrm>
          <a:prstGeom prst="rect">
            <a:avLst/>
          </a:prstGeom>
          <a:solidFill>
            <a:srgbClr val="FAF0DD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850" b="1">
                <a:solidFill>
                  <a:srgbClr val="A86C12"/>
                </a:solidFill>
              </a:defRPr>
            </a:pPr>
            <a:r>
              <a:rPr sz="285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3" name="p03-n-3">
            <a:extLst>
              <a:ext uri="{FF2B5EF4-FFF2-40B4-BE49-F238E27FC236}">
                <a16:creationId xmlns:a16="http://schemas.microsoft.com/office/drawing/2014/main" id="{DEFF34A9-25F3-40C4-A650-E49FA80D57B1}"/>
              </a:ext>
            </a:extLst>
          </p:cNvPr>
          <p:cNvSpPr>
            <a:spLocks noGrp="1"/>
          </p:cNvSpPr>
          <p:nvPr/>
        </p:nvSpPr>
        <p:spPr>
          <a:xfrm>
            <a:off x="9201150" y="2324100"/>
            <a:ext cx="590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3150" b="1">
                <a:solidFill>
                  <a:srgbClr val="C8161E"/>
                </a:solidFill>
              </a:defRPr>
            </a:pPr>
            <a:r>
              <a:rPr sz="31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p03-label-3">
            <a:extLst>
              <a:ext uri="{FF2B5EF4-FFF2-40B4-BE49-F238E27FC236}">
                <a16:creationId xmlns:a16="http://schemas.microsoft.com/office/drawing/2014/main" id="{E561ACCC-A3A7-431B-ADEB-A3B1986C21A5}"/>
              </a:ext>
            </a:extLst>
          </p:cNvPr>
          <p:cNvSpPr>
            <a:spLocks noGrp="1"/>
          </p:cNvSpPr>
          <p:nvPr/>
        </p:nvSpPr>
        <p:spPr>
          <a:xfrm>
            <a:off x="9791700" y="2209800"/>
            <a:ext cx="1809750" cy="914400"/>
          </a:xfrm>
          <a:prstGeom prst="rect">
            <a:avLst/>
          </a:prstGeom>
          <a:solidFill>
            <a:srgbClr val="F8E9EA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850" b="1">
                <a:solidFill>
                  <a:srgbClr val="C8161E"/>
                </a:solidFill>
              </a:defRPr>
            </a:pPr>
            <a:r>
              <a:rPr sz="28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5" name="p03-action">
            <a:extLst>
              <a:ext uri="{FF2B5EF4-FFF2-40B4-BE49-F238E27FC236}">
                <a16:creationId xmlns:a16="http://schemas.microsoft.com/office/drawing/2014/main" id="{192E67E0-E625-49C8-A3BE-99CE4D8B7103}"/>
              </a:ext>
            </a:extLst>
          </p:cNvPr>
          <p:cNvSpPr>
            <a:spLocks noGrp="1"/>
          </p:cNvSpPr>
          <p:nvPr/>
        </p:nvSpPr>
        <p:spPr>
          <a:xfrm>
            <a:off x="3333750" y="4057650"/>
            <a:ext cx="552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00" b="0">
                <a:solidFill>
                  <a:srgbClr val="667684"/>
                </a:solidFill>
              </a:defRPr>
            </a:pPr>
            <a:r>
              <a:rPr sz="180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举手选择，不显示预设正确答案</a:t>
            </a:r>
          </a:p>
        </p:txBody>
      </p:sp>
      <p:sp>
        <p:nvSpPr>
          <p:cNvPr id="16" name="p03-question">
            <a:extLst>
              <a:ext uri="{FF2B5EF4-FFF2-40B4-BE49-F238E27FC236}">
                <a16:creationId xmlns:a16="http://schemas.microsoft.com/office/drawing/2014/main" id="{239ABD2D-C704-4792-8880-2307268D4108}"/>
              </a:ext>
            </a:extLst>
          </p:cNvPr>
          <p:cNvSpPr>
            <a:spLocks noGrp="1"/>
          </p:cNvSpPr>
          <p:nvPr/>
        </p:nvSpPr>
        <p:spPr>
          <a:xfrm>
            <a:off x="2038350" y="4762500"/>
            <a:ext cx="8115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00" b="1">
                <a:solidFill>
                  <a:srgbClr val="C8161E"/>
                </a:solidFill>
              </a:defRPr>
            </a:pPr>
            <a:r>
              <a:rPr sz="21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升级为证据或结论之前，你做过什么核验？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Scientist 已串联 ML 研究的构思、实验、写作与评审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EFD6AB9A-5F9E-5F59-51AB-3C8734130965}" type="slidenum">
              <a:t>4</a:t>
            </a:fld>
            <a:endParaRPr/>
          </a:p>
        </p:txBody>
      </p:sp>
      <p:sp>
        <p:nvSpPr>
          <p:cNvPr id="6" name="p04-paper">
            <a:extLst>
              <a:ext uri="{FF2B5EF4-FFF2-40B4-BE49-F238E27FC236}">
                <a16:creationId xmlns:a16="http://schemas.microsoft.com/office/drawing/2014/main" id="{AF1590F1-D2AE-456E-836C-5BBEEE762947}"/>
              </a:ext>
            </a:extLst>
          </p:cNvPr>
          <p:cNvSpPr>
            <a:spLocks noGrp="1"/>
          </p:cNvSpPr>
          <p:nvPr/>
        </p:nvSpPr>
        <p:spPr>
          <a:xfrm>
            <a:off x="628650" y="9144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200" b="1">
                <a:solidFill>
                  <a:srgbClr val="C8161E"/>
                </a:solidFill>
              </a:defRPr>
            </a:pPr>
            <a:r>
              <a:rPr sz="120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THE AI SCIENTIST · NATURE 651 · 2026</a:t>
            </a:r>
          </a:p>
        </p:txBody>
      </p:sp>
      <p:sp>
        <p:nvSpPr>
          <p:cNvPr id="7" name="p04-figure-frame">
            <a:extLst>
              <a:ext uri="{FF2B5EF4-FFF2-40B4-BE49-F238E27FC236}">
                <a16:creationId xmlns:a16="http://schemas.microsoft.com/office/drawing/2014/main" id="{CBDB5982-FD36-48B7-8719-63FE688DC190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596265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DE2"/>
            </a:solidFill>
            <a:prstDash val="solid"/>
          </a:ln>
        </p:spPr>
      </p:sp>
      <p:pic>
        <p:nvPicPr>
          <p:cNvPr id="25" name="p04-figur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85250" y="1333500"/>
            <a:ext cx="4497049" cy="3810000"/>
          </a:xfrm>
          <a:prstGeom prst="rect">
            <a:avLst/>
          </a:prstGeom>
        </p:spPr>
      </p:pic>
      <p:sp>
        <p:nvSpPr>
          <p:cNvPr id="9" name="p04-source">
            <a:extLst>
              <a:ext uri="{FF2B5EF4-FFF2-40B4-BE49-F238E27FC236}">
                <a16:creationId xmlns:a16="http://schemas.microsoft.com/office/drawing/2014/main" id="{2BFC7977-2BAA-47D5-9359-E7657421E05F}"/>
              </a:ext>
            </a:extLst>
          </p:cNvPr>
          <p:cNvSpPr>
            <a:spLocks noGrp="1"/>
          </p:cNvSpPr>
          <p:nvPr/>
        </p:nvSpPr>
        <p:spPr>
          <a:xfrm>
            <a:off x="628650" y="5238750"/>
            <a:ext cx="581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900" b="0">
                <a:solidFill>
                  <a:srgbClr val="667684"/>
                </a:solidFill>
              </a:defRPr>
            </a:pPr>
            <a:r>
              <a:rPr sz="900" b="0">
                <a:solidFill>
                  <a:srgbClr val="667684"/>
                </a:solidFill>
                <a:latin typeface="Arial"/>
                <a:ea typeface="Arial"/>
                <a:cs typeface="Arial"/>
              </a:rPr>
              <a:t>Lu et al. · Nature 651 · 2026 · Fig.1a · CC BY 4.0</a:t>
            </a:r>
          </a:p>
        </p:txBody>
      </p:sp>
      <p:sp>
        <p:nvSpPr>
          <p:cNvPr id="10" name="p04-divider">
            <a:extLst>
              <a:ext uri="{FF2B5EF4-FFF2-40B4-BE49-F238E27FC236}">
                <a16:creationId xmlns:a16="http://schemas.microsoft.com/office/drawing/2014/main" id="{1AEAA9F5-C5A1-41AD-8245-44DA5CBF0662}"/>
              </a:ext>
            </a:extLst>
          </p:cNvPr>
          <p:cNvSpPr>
            <a:spLocks noGrp="1"/>
          </p:cNvSpPr>
          <p:nvPr/>
        </p:nvSpPr>
        <p:spPr>
          <a:xfrm rot="5400000">
            <a:off x="4610100" y="3076575"/>
            <a:ext cx="4191000" cy="19050"/>
          </a:xfrm>
          <a:prstGeom prst="rect">
            <a:avLst/>
          </a:prstGeom>
          <a:solidFill>
            <a:srgbClr val="D6DDE2"/>
          </a:solidFill>
          <a:ln w="0">
            <a:noFill/>
            <a:prstDash val="solid"/>
          </a:ln>
        </p:spPr>
      </p:sp>
      <p:sp>
        <p:nvSpPr>
          <p:cNvPr id="11" name="p04-guide">
            <a:extLst>
              <a:ext uri="{FF2B5EF4-FFF2-40B4-BE49-F238E27FC236}">
                <a16:creationId xmlns:a16="http://schemas.microsoft.com/office/drawing/2014/main" id="{E9FEDDC8-69EB-4D87-8F77-10B24840974C}"/>
              </a:ext>
            </a:extLst>
          </p:cNvPr>
          <p:cNvSpPr>
            <a:spLocks noGrp="1"/>
          </p:cNvSpPr>
          <p:nvPr/>
        </p:nvSpPr>
        <p:spPr>
          <a:xfrm>
            <a:off x="6934200" y="9144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构思 → 实验树搜索 → 写作 → 自动评审</a:t>
            </a:r>
          </a:p>
        </p:txBody>
      </p:sp>
      <p:sp>
        <p:nvSpPr>
          <p:cNvPr id="12" name="p04-one-of-three">
            <a:extLst>
              <a:ext uri="{FF2B5EF4-FFF2-40B4-BE49-F238E27FC236}">
                <a16:creationId xmlns:a16="http://schemas.microsoft.com/office/drawing/2014/main" id="{96A6F8F0-113D-4EE1-A5CB-E7EB8BA0CEEC}"/>
              </a:ext>
            </a:extLst>
          </p:cNvPr>
          <p:cNvSpPr>
            <a:spLocks noGrp="1"/>
          </p:cNvSpPr>
          <p:nvPr/>
        </p:nvSpPr>
        <p:spPr>
          <a:xfrm>
            <a:off x="6896100" y="1352550"/>
            <a:ext cx="16002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3300" b="1">
                <a:solidFill>
                  <a:srgbClr val="C8161E"/>
                </a:solidFill>
              </a:defRPr>
            </a:pPr>
            <a:r>
              <a:rPr sz="330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1 / 3</a:t>
            </a:r>
          </a:p>
        </p:txBody>
      </p:sp>
      <p:sp>
        <p:nvSpPr>
          <p:cNvPr id="13" name="p04-one-of-three-label">
            <a:extLst>
              <a:ext uri="{FF2B5EF4-FFF2-40B4-BE49-F238E27FC236}">
                <a16:creationId xmlns:a16="http://schemas.microsoft.com/office/drawing/2014/main" id="{AB54B47E-E475-4F02-94FD-04A053FF7BA4}"/>
              </a:ext>
            </a:extLst>
          </p:cNvPr>
          <p:cNvSpPr>
            <a:spLocks noGrp="1"/>
          </p:cNvSpPr>
          <p:nvPr/>
        </p:nvSpPr>
        <p:spPr>
          <a:xfrm>
            <a:off x="8572500" y="1390650"/>
            <a:ext cx="2781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lnSpc>
                <a:spcPct val="130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稿件超过 workshop</a:t>
            </a:r>
          </a:p>
          <a:p>
            <a:pPr algn="l">
              <a:lnSpc>
                <a:spcPct val="130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平均接受阈值</a:t>
            </a:r>
          </a:p>
        </p:txBody>
      </p:sp>
      <p:sp>
        <p:nvSpPr>
          <p:cNvPr id="14" name="p04-metric-rule">
            <a:extLst>
              <a:ext uri="{FF2B5EF4-FFF2-40B4-BE49-F238E27FC236}">
                <a16:creationId xmlns:a16="http://schemas.microsoft.com/office/drawing/2014/main" id="{96648E96-799F-4EA2-A179-C43B00E41C3A}"/>
              </a:ext>
            </a:extLst>
          </p:cNvPr>
          <p:cNvSpPr>
            <a:spLocks noGrp="1"/>
          </p:cNvSpPr>
          <p:nvPr/>
        </p:nvSpPr>
        <p:spPr>
          <a:xfrm>
            <a:off x="6934200" y="2090738"/>
            <a:ext cx="4343400" cy="9525"/>
          </a:xfrm>
          <a:prstGeom prst="rect">
            <a:avLst/>
          </a:prstGeom>
          <a:solidFill>
            <a:srgbClr val="D6DDE2"/>
          </a:solidFill>
          <a:ln w="0">
            <a:noFill/>
            <a:prstDash val="solid"/>
          </a:ln>
        </p:spPr>
      </p:sp>
      <p:sp>
        <p:nvSpPr>
          <p:cNvPr id="15" name="p04-score">
            <a:extLst>
              <a:ext uri="{FF2B5EF4-FFF2-40B4-BE49-F238E27FC236}">
                <a16:creationId xmlns:a16="http://schemas.microsoft.com/office/drawing/2014/main" id="{A7F737C2-37B7-47F9-999E-40D09D03872A}"/>
              </a:ext>
            </a:extLst>
          </p:cNvPr>
          <p:cNvSpPr>
            <a:spLocks noGrp="1"/>
          </p:cNvSpPr>
          <p:nvPr/>
        </p:nvSpPr>
        <p:spPr>
          <a:xfrm>
            <a:off x="6896100" y="2247900"/>
            <a:ext cx="16002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3300" b="1">
                <a:solidFill>
                  <a:srgbClr val="18354E"/>
                </a:solidFill>
              </a:defRPr>
            </a:pPr>
            <a:r>
              <a:rPr sz="330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6.33</a:t>
            </a:r>
          </a:p>
        </p:txBody>
      </p:sp>
      <p:sp>
        <p:nvSpPr>
          <p:cNvPr id="16" name="p04-score-label">
            <a:extLst>
              <a:ext uri="{FF2B5EF4-FFF2-40B4-BE49-F238E27FC236}">
                <a16:creationId xmlns:a16="http://schemas.microsoft.com/office/drawing/2014/main" id="{252AB82B-3A4F-480D-B9F8-C65FE9C8FB43}"/>
              </a:ext>
            </a:extLst>
          </p:cNvPr>
          <p:cNvSpPr>
            <a:spLocks noGrp="1"/>
          </p:cNvSpPr>
          <p:nvPr/>
        </p:nvSpPr>
        <p:spPr>
          <a:xfrm>
            <a:off x="8572500" y="2286000"/>
            <a:ext cx="2781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lnSpc>
                <a:spcPct val="130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该稿件平均评审分</a:t>
            </a:r>
          </a:p>
          <a:p>
            <a:pPr algn="l">
              <a:lnSpc>
                <a:spcPct val="130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（6 / 7 / 6）</a:t>
            </a:r>
          </a:p>
        </p:txBody>
      </p:sp>
      <p:sp>
        <p:nvSpPr>
          <p:cNvPr id="17" name="p04-boundary-line">
            <a:extLst>
              <a:ext uri="{FF2B5EF4-FFF2-40B4-BE49-F238E27FC236}">
                <a16:creationId xmlns:a16="http://schemas.microsoft.com/office/drawing/2014/main" id="{CD69FC45-F8BD-4C1A-9541-2972C7D2858E}"/>
              </a:ext>
            </a:extLst>
          </p:cNvPr>
          <p:cNvSpPr>
            <a:spLocks noGrp="1"/>
          </p:cNvSpPr>
          <p:nvPr/>
        </p:nvSpPr>
        <p:spPr>
          <a:xfrm>
            <a:off x="6934200" y="3124200"/>
            <a:ext cx="38100" cy="1657350"/>
          </a:xfrm>
          <a:prstGeom prst="rect">
            <a:avLst/>
          </a:prstGeom>
          <a:solidFill>
            <a:srgbClr val="C8161E"/>
          </a:solidFill>
          <a:ln w="0">
            <a:noFill/>
            <a:prstDash val="solid"/>
          </a:ln>
        </p:spPr>
      </p:sp>
      <p:sp>
        <p:nvSpPr>
          <p:cNvPr id="18" name="p04-boundary-title">
            <a:extLst>
              <a:ext uri="{FF2B5EF4-FFF2-40B4-BE49-F238E27FC236}">
                <a16:creationId xmlns:a16="http://schemas.microsoft.com/office/drawing/2014/main" id="{9B2204E0-92EC-4FB4-B60B-5C8E6083479F}"/>
              </a:ext>
            </a:extLst>
          </p:cNvPr>
          <p:cNvSpPr>
            <a:spLocks noGrp="1"/>
          </p:cNvSpPr>
          <p:nvPr/>
        </p:nvSpPr>
        <p:spPr>
          <a:xfrm>
            <a:off x="7143750" y="30480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19" name="p04-boundary">
            <a:extLst>
              <a:ext uri="{FF2B5EF4-FFF2-40B4-BE49-F238E27FC236}">
                <a16:creationId xmlns:a16="http://schemas.microsoft.com/office/drawing/2014/main" id="{4F4C93BC-75EF-4F22-BA85-643629EEE607}"/>
              </a:ext>
            </a:extLst>
          </p:cNvPr>
          <p:cNvSpPr>
            <a:spLocks noGrp="1"/>
          </p:cNvSpPr>
          <p:nvPr/>
        </p:nvSpPr>
        <p:spPr>
          <a:xfrm>
            <a:off x="7105650" y="3390900"/>
            <a:ext cx="432435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l">
              <a:lnSpc>
                <a:spcPct val="130000"/>
              </a:lnSpc>
              <a:buNone/>
              <a:defRPr sz="1275" b="0">
                <a:solidFill>
                  <a:srgbClr val="263746"/>
                </a:solidFill>
              </a:defRPr>
            </a:pPr>
            <a:r>
              <a:rPr sz="12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· 输出经人工筛选后提交</a:t>
            </a: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263746"/>
                </a:solidFill>
              </a:defRPr>
            </a:pPr>
            <a:r>
              <a:rPr sz="12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· workshop 首轮评审；论文报告接受率 70%</a:t>
            </a: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263746"/>
                </a:solidFill>
              </a:defRPr>
            </a:pPr>
            <a:r>
              <a:rPr sz="12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· 3 篇均未达 ICLR 主会标准</a:t>
            </a: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263746"/>
                </a:solidFill>
              </a:defRPr>
            </a:pPr>
            <a:r>
              <a:rPr sz="12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· 仅限 ML 计算实验</a:t>
            </a:r>
          </a:p>
        </p:txBody>
      </p:sp>
      <p:sp>
        <p:nvSpPr>
          <p:cNvPr id="20" name="p04-claim">
            <a:extLst>
              <a:ext uri="{FF2B5EF4-FFF2-40B4-BE49-F238E27FC236}">
                <a16:creationId xmlns:a16="http://schemas.microsoft.com/office/drawing/2014/main" id="{F1D7F98B-76E0-41C7-A85C-D2F176C73F85}"/>
              </a:ext>
            </a:extLst>
          </p:cNvPr>
          <p:cNvSpPr>
            <a:spLocks noGrp="1"/>
          </p:cNvSpPr>
          <p:nvPr/>
        </p:nvSpPr>
        <p:spPr>
          <a:xfrm>
            <a:off x="6858000" y="5010150"/>
            <a:ext cx="457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完整产物 ≠ 科研成立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for Research 正从单点辅助走向研究工作流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EE5B3003-2C54-13C6-9832-7637201064DE}" type="slidenum">
              <a:t>5</a:t>
            </a:fld>
            <a:endParaRPr/>
          </a:p>
        </p:txBody>
      </p:sp>
      <p:sp>
        <p:nvSpPr>
          <p:cNvPr id="6" name="p05-axis">
            <a:extLst>
              <a:ext uri="{FF2B5EF4-FFF2-40B4-BE49-F238E27FC236}">
                <a16:creationId xmlns:a16="http://schemas.microsoft.com/office/drawing/2014/main" id="{DF9F3E7E-0392-41A0-83D3-E3096EF91BDF}"/>
              </a:ext>
            </a:extLst>
          </p:cNvPr>
          <p:cNvSpPr>
            <a:spLocks noGrp="1"/>
          </p:cNvSpPr>
          <p:nvPr/>
        </p:nvSpPr>
        <p:spPr>
          <a:xfrm>
            <a:off x="1257300" y="3143250"/>
            <a:ext cx="9677400" cy="38100"/>
          </a:xfrm>
          <a:prstGeom prst="rect">
            <a:avLst/>
          </a:prstGeom>
          <a:solidFill>
            <a:srgbClr val="D6DDE2"/>
          </a:solidFill>
          <a:ln w="0">
            <a:noFill/>
            <a:prstDash val="solid"/>
          </a:ln>
        </p:spPr>
      </p:sp>
      <p:sp>
        <p:nvSpPr>
          <p:cNvPr id="7" name="p05-2023-dot">
            <a:extLst>
              <a:ext uri="{FF2B5EF4-FFF2-40B4-BE49-F238E27FC236}">
                <a16:creationId xmlns:a16="http://schemas.microsoft.com/office/drawing/2014/main" id="{CAA47B74-132E-4DF7-80DD-E2DD5BA65BEF}"/>
              </a:ext>
            </a:extLst>
          </p:cNvPr>
          <p:cNvSpPr>
            <a:spLocks noGrp="1"/>
          </p:cNvSpPr>
          <p:nvPr/>
        </p:nvSpPr>
        <p:spPr>
          <a:xfrm>
            <a:off x="2324100" y="2962275"/>
            <a:ext cx="400050" cy="400050"/>
          </a:xfrm>
          <a:prstGeom prst="ellipse">
            <a:avLst/>
          </a:prstGeom>
          <a:solidFill>
            <a:srgbClr val="C8161E"/>
          </a:solidFill>
          <a:ln w="0">
            <a:noFill/>
            <a:prstDash val="solid"/>
          </a:ln>
        </p:spPr>
      </p:sp>
      <p:sp>
        <p:nvSpPr>
          <p:cNvPr id="8" name="p05-2026-dot">
            <a:extLst>
              <a:ext uri="{FF2B5EF4-FFF2-40B4-BE49-F238E27FC236}">
                <a16:creationId xmlns:a16="http://schemas.microsoft.com/office/drawing/2014/main" id="{12A5FDD3-BB2B-483B-86DD-B05D3C523190}"/>
              </a:ext>
            </a:extLst>
          </p:cNvPr>
          <p:cNvSpPr>
            <a:spLocks noGrp="1"/>
          </p:cNvSpPr>
          <p:nvPr/>
        </p:nvSpPr>
        <p:spPr>
          <a:xfrm>
            <a:off x="9201150" y="2962275"/>
            <a:ext cx="400050" cy="400050"/>
          </a:xfrm>
          <a:prstGeom prst="ellipse">
            <a:avLst/>
          </a:prstGeom>
          <a:solidFill>
            <a:srgbClr val="18354E"/>
          </a:solidFill>
          <a:ln w="0">
            <a:noFill/>
            <a:prstDash val="solid"/>
          </a:ln>
        </p:spPr>
      </p:sp>
      <p:sp>
        <p:nvSpPr>
          <p:cNvPr id="9" name="p05-y1">
            <a:extLst>
              <a:ext uri="{FF2B5EF4-FFF2-40B4-BE49-F238E27FC236}">
                <a16:creationId xmlns:a16="http://schemas.microsoft.com/office/drawing/2014/main" id="{E444AEB9-06AB-4ED2-B384-2B46A8070930}"/>
              </a:ext>
            </a:extLst>
          </p:cNvPr>
          <p:cNvSpPr>
            <a:spLocks noGrp="1"/>
          </p:cNvSpPr>
          <p:nvPr/>
        </p:nvSpPr>
        <p:spPr>
          <a:xfrm>
            <a:off x="1752600" y="1771650"/>
            <a:ext cx="15621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3150" b="1">
                <a:solidFill>
                  <a:srgbClr val="C8161E"/>
                </a:solidFill>
              </a:defRPr>
            </a:pPr>
            <a:r>
              <a:rPr sz="31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2023</a:t>
            </a:r>
          </a:p>
        </p:txBody>
      </p:sp>
      <p:sp>
        <p:nvSpPr>
          <p:cNvPr id="10" name="p05-t1">
            <a:extLst>
              <a:ext uri="{FF2B5EF4-FFF2-40B4-BE49-F238E27FC236}">
                <a16:creationId xmlns:a16="http://schemas.microsoft.com/office/drawing/2014/main" id="{081CAD50-6C73-48E2-B2F3-96AF1A9DB4FB}"/>
              </a:ext>
            </a:extLst>
          </p:cNvPr>
          <p:cNvSpPr>
            <a:spLocks noGrp="1"/>
          </p:cNvSpPr>
          <p:nvPr/>
        </p:nvSpPr>
        <p:spPr>
          <a:xfrm>
            <a:off x="1104900" y="245745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覆盖科学发现环节</a:t>
            </a:r>
          </a:p>
        </p:txBody>
      </p:sp>
      <p:sp>
        <p:nvSpPr>
          <p:cNvPr id="11" name="p05-l1">
            <a:extLst>
              <a:ext uri="{FF2B5EF4-FFF2-40B4-BE49-F238E27FC236}">
                <a16:creationId xmlns:a16="http://schemas.microsoft.com/office/drawing/2014/main" id="{18BBBBC1-C503-4610-B487-059B0B81CFE3}"/>
              </a:ext>
            </a:extLst>
          </p:cNvPr>
          <p:cNvSpPr>
            <a:spLocks noGrp="1"/>
          </p:cNvSpPr>
          <p:nvPr/>
        </p:nvSpPr>
        <p:spPr>
          <a:xfrm>
            <a:off x="952500" y="3562350"/>
            <a:ext cx="314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00" b="0">
                <a:solidFill>
                  <a:srgbClr val="667684"/>
                </a:solidFill>
              </a:defRPr>
            </a:pPr>
            <a:r>
              <a:rPr sz="180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假设｜实验｜数据｜解释</a:t>
            </a:r>
          </a:p>
        </p:txBody>
      </p:sp>
      <p:sp>
        <p:nvSpPr>
          <p:cNvPr id="12" name="p05-y2">
            <a:extLst>
              <a:ext uri="{FF2B5EF4-FFF2-40B4-BE49-F238E27FC236}">
                <a16:creationId xmlns:a16="http://schemas.microsoft.com/office/drawing/2014/main" id="{FA998464-68A3-439B-9E1D-6649D7D5C5D2}"/>
              </a:ext>
            </a:extLst>
          </p:cNvPr>
          <p:cNvSpPr>
            <a:spLocks noGrp="1"/>
          </p:cNvSpPr>
          <p:nvPr/>
        </p:nvSpPr>
        <p:spPr>
          <a:xfrm>
            <a:off x="8572500" y="1771650"/>
            <a:ext cx="1676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3150" b="1">
                <a:solidFill>
                  <a:srgbClr val="18354E"/>
                </a:solidFill>
              </a:defRPr>
            </a:pPr>
            <a:r>
              <a:rPr sz="315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p05-t2">
            <a:extLst>
              <a:ext uri="{FF2B5EF4-FFF2-40B4-BE49-F238E27FC236}">
                <a16:creationId xmlns:a16="http://schemas.microsoft.com/office/drawing/2014/main" id="{2B8CECE7-4E34-4138-8DA7-D2100F5EDA43}"/>
              </a:ext>
            </a:extLst>
          </p:cNvPr>
          <p:cNvSpPr>
            <a:spLocks noGrp="1"/>
          </p:cNvSpPr>
          <p:nvPr/>
        </p:nvSpPr>
        <p:spPr>
          <a:xfrm>
            <a:off x="8020050" y="245745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连接多步研究行动</a:t>
            </a:r>
          </a:p>
        </p:txBody>
      </p:sp>
      <p:sp>
        <p:nvSpPr>
          <p:cNvPr id="14" name="p05-l2">
            <a:extLst>
              <a:ext uri="{FF2B5EF4-FFF2-40B4-BE49-F238E27FC236}">
                <a16:creationId xmlns:a16="http://schemas.microsoft.com/office/drawing/2014/main" id="{B1130200-8A17-426D-998C-9F4CA5561183}"/>
              </a:ext>
            </a:extLst>
          </p:cNvPr>
          <p:cNvSpPr>
            <a:spLocks noGrp="1"/>
          </p:cNvSpPr>
          <p:nvPr/>
        </p:nvSpPr>
        <p:spPr>
          <a:xfrm>
            <a:off x="7258050" y="3562350"/>
            <a:ext cx="4362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0">
                <a:solidFill>
                  <a:srgbClr val="667684"/>
                </a:solidFill>
              </a:defRPr>
            </a:pPr>
            <a:r>
              <a:rPr sz="1650" b="0">
                <a:solidFill>
                  <a:srgbClr val="667684"/>
                </a:solidFill>
                <a:latin typeface="Arial"/>
                <a:ea typeface="Arial"/>
                <a:cs typeface="Arial"/>
              </a:rPr>
              <a:t>AI Scientist｜Co-Scientist｜Robin</a:t>
            </a:r>
          </a:p>
        </p:txBody>
      </p:sp>
      <p:sp>
        <p:nvSpPr>
          <p:cNvPr id="15" name="p05-shift">
            <a:extLst>
              <a:ext uri="{FF2B5EF4-FFF2-40B4-BE49-F238E27FC236}">
                <a16:creationId xmlns:a16="http://schemas.microsoft.com/office/drawing/2014/main" id="{AFD90F2A-B343-4C7B-98BC-9B42B3487479}"/>
              </a:ext>
            </a:extLst>
          </p:cNvPr>
          <p:cNvSpPr>
            <a:spLocks noGrp="1"/>
          </p:cNvSpPr>
          <p:nvPr/>
        </p:nvSpPr>
        <p:spPr>
          <a:xfrm>
            <a:off x="2762250" y="4629150"/>
            <a:ext cx="6667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75" b="1">
                <a:solidFill>
                  <a:srgbClr val="C8161E"/>
                </a:solidFill>
              </a:defRPr>
            </a:pPr>
            <a:r>
              <a:rPr sz="21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从‘帮我完成一步’走向‘连接多个步骤’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效率提升与科学范围扩展不是同一个问题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8C630A04-5A25-9E0C-9436-126091DB86B3}" type="slidenum">
              <a:t>6</a:t>
            </a:fld>
            <a:endParaRPr/>
          </a:p>
        </p:txBody>
      </p:sp>
      <p:sp>
        <p:nvSpPr>
          <p:cNvPr id="6" name="p06-left">
            <a:extLst>
              <a:ext uri="{FF2B5EF4-FFF2-40B4-BE49-F238E27FC236}">
                <a16:creationId xmlns:a16="http://schemas.microsoft.com/office/drawing/2014/main" id="{009EDD0D-3109-4522-B9B7-EF6C04CC65D1}"/>
              </a:ext>
            </a:extLst>
          </p:cNvPr>
          <p:cNvSpPr>
            <a:spLocks noGrp="1"/>
          </p:cNvSpPr>
          <p:nvPr/>
        </p:nvSpPr>
        <p:spPr>
          <a:xfrm>
            <a:off x="666750" y="100965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个人产出与影响</a:t>
            </a:r>
          </a:p>
        </p:txBody>
      </p:sp>
      <p:sp>
        <p:nvSpPr>
          <p:cNvPr id="7" name="p06-right">
            <a:extLst>
              <a:ext uri="{FF2B5EF4-FFF2-40B4-BE49-F238E27FC236}">
                <a16:creationId xmlns:a16="http://schemas.microsoft.com/office/drawing/2014/main" id="{B1B377CD-656B-4D9D-899E-381BE6BC89A7}"/>
              </a:ext>
            </a:extLst>
          </p:cNvPr>
          <p:cNvSpPr>
            <a:spLocks noGrp="1"/>
          </p:cNvSpPr>
          <p:nvPr/>
        </p:nvSpPr>
        <p:spPr>
          <a:xfrm>
            <a:off x="6591300" y="100965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集体范围与后续参与</a:t>
            </a:r>
          </a:p>
        </p:txBody>
      </p:sp>
      <p:sp>
        <p:nvSpPr>
          <p:cNvPr id="8" name="p06-fig2-frame">
            <a:extLst>
              <a:ext uri="{FF2B5EF4-FFF2-40B4-BE49-F238E27FC236}">
                <a16:creationId xmlns:a16="http://schemas.microsoft.com/office/drawing/2014/main" id="{D1B0B77B-5201-4EC1-A338-6ABA87915DE2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518160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DE2"/>
            </a:solidFill>
            <a:prstDash val="solid"/>
          </a:ln>
        </p:spPr>
      </p:sp>
      <p:sp>
        <p:nvSpPr>
          <p:cNvPr id="9" name="p06-fig3-frame">
            <a:extLst>
              <a:ext uri="{FF2B5EF4-FFF2-40B4-BE49-F238E27FC236}">
                <a16:creationId xmlns:a16="http://schemas.microsoft.com/office/drawing/2014/main" id="{4832EB9E-1C7A-4615-9B0A-D74B935A0529}"/>
              </a:ext>
            </a:extLst>
          </p:cNvPr>
          <p:cNvSpPr>
            <a:spLocks noGrp="1"/>
          </p:cNvSpPr>
          <p:nvPr/>
        </p:nvSpPr>
        <p:spPr>
          <a:xfrm>
            <a:off x="6419850" y="1390650"/>
            <a:ext cx="518160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DE2"/>
            </a:solidFill>
            <a:prstDash val="solid"/>
          </a:ln>
        </p:spPr>
      </p:sp>
      <p:pic>
        <p:nvPicPr>
          <p:cNvPr id="27" name="p06-fig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43013" y="1466850"/>
            <a:ext cx="3914775" cy="2609850"/>
          </a:xfrm>
          <a:prstGeom prst="rect">
            <a:avLst/>
          </a:prstGeom>
        </p:spPr>
      </p:pic>
      <p:pic>
        <p:nvPicPr>
          <p:cNvPr id="28" name="p06-fig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231207" y="1466850"/>
            <a:ext cx="3558886" cy="2609850"/>
          </a:xfrm>
          <a:prstGeom prst="rect">
            <a:avLst/>
          </a:prstGeom>
        </p:spPr>
      </p:pic>
      <p:sp>
        <p:nvSpPr>
          <p:cNvPr id="12" name="p06-3.02×">
            <a:extLst>
              <a:ext uri="{FF2B5EF4-FFF2-40B4-BE49-F238E27FC236}">
                <a16:creationId xmlns:a16="http://schemas.microsoft.com/office/drawing/2014/main" id="{4FA4EA87-9420-4166-A03D-6DADD0BF2210}"/>
              </a:ext>
            </a:extLst>
          </p:cNvPr>
          <p:cNvSpPr>
            <a:spLocks noGrp="1"/>
          </p:cNvSpPr>
          <p:nvPr/>
        </p:nvSpPr>
        <p:spPr>
          <a:xfrm>
            <a:off x="723900" y="4305300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850" b="1">
                <a:solidFill>
                  <a:srgbClr val="28745A"/>
                </a:solidFill>
              </a:defRPr>
            </a:pPr>
            <a:r>
              <a:rPr sz="2850" b="1">
                <a:solidFill>
                  <a:srgbClr val="28745A"/>
                </a:solidFill>
                <a:latin typeface="Arial"/>
                <a:ea typeface="Arial"/>
                <a:cs typeface="Arial"/>
              </a:rPr>
              <a:t>3.02×</a:t>
            </a:r>
          </a:p>
        </p:txBody>
      </p:sp>
      <p:sp>
        <p:nvSpPr>
          <p:cNvPr id="13" name="p06-论文数量">
            <a:extLst>
              <a:ext uri="{FF2B5EF4-FFF2-40B4-BE49-F238E27FC236}">
                <a16:creationId xmlns:a16="http://schemas.microsoft.com/office/drawing/2014/main" id="{F8DA2D34-B35D-4F91-9714-1046412592A7}"/>
              </a:ext>
            </a:extLst>
          </p:cNvPr>
          <p:cNvSpPr>
            <a:spLocks noGrp="1"/>
          </p:cNvSpPr>
          <p:nvPr/>
        </p:nvSpPr>
        <p:spPr>
          <a:xfrm>
            <a:off x="723900" y="48768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275" b="0">
                <a:solidFill>
                  <a:srgbClr val="667684"/>
                </a:solidFill>
              </a:defRPr>
            </a:pPr>
            <a:r>
              <a:rPr sz="1275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论文数量</a:t>
            </a:r>
          </a:p>
        </p:txBody>
      </p:sp>
      <p:sp>
        <p:nvSpPr>
          <p:cNvPr id="14" name="p06-4.84×">
            <a:extLst>
              <a:ext uri="{FF2B5EF4-FFF2-40B4-BE49-F238E27FC236}">
                <a16:creationId xmlns:a16="http://schemas.microsoft.com/office/drawing/2014/main" id="{2CBFE60E-EAD0-49E8-8FCE-7424ECD56EB3}"/>
              </a:ext>
            </a:extLst>
          </p:cNvPr>
          <p:cNvSpPr>
            <a:spLocks noGrp="1"/>
          </p:cNvSpPr>
          <p:nvPr/>
        </p:nvSpPr>
        <p:spPr>
          <a:xfrm>
            <a:off x="3181350" y="4305300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850" b="1">
                <a:solidFill>
                  <a:srgbClr val="28745A"/>
                </a:solidFill>
              </a:defRPr>
            </a:pPr>
            <a:r>
              <a:rPr sz="2850" b="1">
                <a:solidFill>
                  <a:srgbClr val="28745A"/>
                </a:solidFill>
                <a:latin typeface="Arial"/>
                <a:ea typeface="Arial"/>
                <a:cs typeface="Arial"/>
              </a:rPr>
              <a:t>4.84×</a:t>
            </a:r>
          </a:p>
        </p:txBody>
      </p:sp>
      <p:sp>
        <p:nvSpPr>
          <p:cNvPr id="15" name="p06-引用数量">
            <a:extLst>
              <a:ext uri="{FF2B5EF4-FFF2-40B4-BE49-F238E27FC236}">
                <a16:creationId xmlns:a16="http://schemas.microsoft.com/office/drawing/2014/main" id="{75C917C4-4D14-4A7E-B25B-A79490275711}"/>
              </a:ext>
            </a:extLst>
          </p:cNvPr>
          <p:cNvSpPr>
            <a:spLocks noGrp="1"/>
          </p:cNvSpPr>
          <p:nvPr/>
        </p:nvSpPr>
        <p:spPr>
          <a:xfrm>
            <a:off x="3181350" y="48768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275" b="0">
                <a:solidFill>
                  <a:srgbClr val="667684"/>
                </a:solidFill>
              </a:defRPr>
            </a:pPr>
            <a:r>
              <a:rPr sz="1275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引用数量</a:t>
            </a:r>
          </a:p>
        </p:txBody>
      </p:sp>
      <p:sp>
        <p:nvSpPr>
          <p:cNvPr id="16" name="p06-−4.63%">
            <a:extLst>
              <a:ext uri="{FF2B5EF4-FFF2-40B4-BE49-F238E27FC236}">
                <a16:creationId xmlns:a16="http://schemas.microsoft.com/office/drawing/2014/main" id="{841A3B54-B56B-4E57-9209-2FC538F3B5B5}"/>
              </a:ext>
            </a:extLst>
          </p:cNvPr>
          <p:cNvSpPr>
            <a:spLocks noGrp="1"/>
          </p:cNvSpPr>
          <p:nvPr/>
        </p:nvSpPr>
        <p:spPr>
          <a:xfrm>
            <a:off x="6553200" y="4305300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850" b="1">
                <a:solidFill>
                  <a:srgbClr val="C8161E"/>
                </a:solidFill>
              </a:defRPr>
            </a:pPr>
            <a:r>
              <a:rPr sz="28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−4.63%</a:t>
            </a:r>
          </a:p>
        </p:txBody>
      </p:sp>
      <p:sp>
        <p:nvSpPr>
          <p:cNvPr id="17" name="p06-研究主题范围">
            <a:extLst>
              <a:ext uri="{FF2B5EF4-FFF2-40B4-BE49-F238E27FC236}">
                <a16:creationId xmlns:a16="http://schemas.microsoft.com/office/drawing/2014/main" id="{892148E3-B07C-4F85-891C-E6FE5377DAC6}"/>
              </a:ext>
            </a:extLst>
          </p:cNvPr>
          <p:cNvSpPr>
            <a:spLocks noGrp="1"/>
          </p:cNvSpPr>
          <p:nvPr/>
        </p:nvSpPr>
        <p:spPr>
          <a:xfrm>
            <a:off x="6553200" y="48768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275" b="0">
                <a:solidFill>
                  <a:srgbClr val="667684"/>
                </a:solidFill>
              </a:defRPr>
            </a:pPr>
            <a:r>
              <a:rPr sz="1275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研究主题范围</a:t>
            </a:r>
          </a:p>
        </p:txBody>
      </p:sp>
      <p:sp>
        <p:nvSpPr>
          <p:cNvPr id="18" name="p06-−22%">
            <a:extLst>
              <a:ext uri="{FF2B5EF4-FFF2-40B4-BE49-F238E27FC236}">
                <a16:creationId xmlns:a16="http://schemas.microsoft.com/office/drawing/2014/main" id="{228200BA-900D-41F9-A032-2251FF562F56}"/>
              </a:ext>
            </a:extLst>
          </p:cNvPr>
          <p:cNvSpPr>
            <a:spLocks noGrp="1"/>
          </p:cNvSpPr>
          <p:nvPr/>
        </p:nvSpPr>
        <p:spPr>
          <a:xfrm>
            <a:off x="9220200" y="4305300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850" b="1">
                <a:solidFill>
                  <a:srgbClr val="C8161E"/>
                </a:solidFill>
              </a:defRPr>
            </a:pPr>
            <a:r>
              <a:rPr sz="28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−22%</a:t>
            </a:r>
          </a:p>
        </p:txBody>
      </p:sp>
      <p:sp>
        <p:nvSpPr>
          <p:cNvPr id="19" name="p06-后续参与">
            <a:extLst>
              <a:ext uri="{FF2B5EF4-FFF2-40B4-BE49-F238E27FC236}">
                <a16:creationId xmlns:a16="http://schemas.microsoft.com/office/drawing/2014/main" id="{1A8AFB63-B0CF-482F-B974-5609E23131FA}"/>
              </a:ext>
            </a:extLst>
          </p:cNvPr>
          <p:cNvSpPr>
            <a:spLocks noGrp="1"/>
          </p:cNvSpPr>
          <p:nvPr/>
        </p:nvSpPr>
        <p:spPr>
          <a:xfrm>
            <a:off x="9220200" y="48768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275" b="0">
                <a:solidFill>
                  <a:srgbClr val="667684"/>
                </a:solidFill>
              </a:defRPr>
            </a:pPr>
            <a:r>
              <a:rPr sz="1275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后续参与</a:t>
            </a:r>
          </a:p>
        </p:txBody>
      </p:sp>
      <p:sp>
        <p:nvSpPr>
          <p:cNvPr id="20" name="p06-warning">
            <a:extLst>
              <a:ext uri="{FF2B5EF4-FFF2-40B4-BE49-F238E27FC236}">
                <a16:creationId xmlns:a16="http://schemas.microsoft.com/office/drawing/2014/main" id="{B55842B3-BD9D-44F1-9068-237318B967ED}"/>
              </a:ext>
            </a:extLst>
          </p:cNvPr>
          <p:cNvSpPr>
            <a:spLocks noGrp="1"/>
          </p:cNvSpPr>
          <p:nvPr/>
        </p:nvSpPr>
        <p:spPr>
          <a:xfrm>
            <a:off x="3714750" y="5353050"/>
            <a:ext cx="4762500" cy="361950"/>
          </a:xfrm>
          <a:prstGeom prst="rect">
            <a:avLst/>
          </a:prstGeom>
          <a:solidFill>
            <a:srgbClr val="F8E9EA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观察性关联，相关不等于因果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本课程解决的是“如何控制研究质量”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D3D7D1C8-AE23-AA48-DF65-C742588DBE47}" type="slidenum">
              <a:t>7</a:t>
            </a:fld>
            <a:endParaRPr/>
          </a:p>
        </p:txBody>
      </p:sp>
      <p:sp>
        <p:nvSpPr>
          <p:cNvPr id="6" name="p07-thesis">
            <a:extLst>
              <a:ext uri="{FF2B5EF4-FFF2-40B4-BE49-F238E27FC236}">
                <a16:creationId xmlns:a16="http://schemas.microsoft.com/office/drawing/2014/main" id="{F09B8790-1D56-4FC4-83A5-00ED4B14C04B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6572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2400" b="1">
                <a:solidFill>
                  <a:srgbClr val="18354E"/>
                </a:solidFill>
              </a:defRPr>
            </a:pPr>
            <a:r>
              <a:rPr sz="24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AI 可以扩展候选，研究者必须控制质量。</a:t>
            </a:r>
          </a:p>
        </p:txBody>
      </p:sp>
      <p:sp>
        <p:nvSpPr>
          <p:cNvPr id="7" name="01-num">
            <a:extLst>
              <a:ext uri="{FF2B5EF4-FFF2-40B4-BE49-F238E27FC236}">
                <a16:creationId xmlns:a16="http://schemas.microsoft.com/office/drawing/2014/main" id="{EE245E9C-3FB8-4F1E-8268-4F8189BE6061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01-text">
            <a:extLst>
              <a:ext uri="{FF2B5EF4-FFF2-40B4-BE49-F238E27FC236}">
                <a16:creationId xmlns:a16="http://schemas.microsoft.com/office/drawing/2014/main" id="{34917775-BFA6-404B-8F3A-73002F069074}"/>
              </a:ext>
            </a:extLst>
          </p:cNvPr>
          <p:cNvSpPr>
            <a:spLocks noGrp="1"/>
          </p:cNvSpPr>
          <p:nvPr/>
        </p:nvSpPr>
        <p:spPr>
          <a:xfrm>
            <a:off x="1390650" y="2076450"/>
            <a:ext cx="531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问题由研究者定义</a:t>
            </a:r>
          </a:p>
        </p:txBody>
      </p:sp>
      <p:sp>
        <p:nvSpPr>
          <p:cNvPr id="9" name="02-num">
            <a:extLst>
              <a:ext uri="{FF2B5EF4-FFF2-40B4-BE49-F238E27FC236}">
                <a16:creationId xmlns:a16="http://schemas.microsoft.com/office/drawing/2014/main" id="{366564B3-AC50-410F-A508-B3DEF6DB8F68}"/>
              </a:ext>
            </a:extLst>
          </p:cNvPr>
          <p:cNvSpPr>
            <a:spLocks noGrp="1"/>
          </p:cNvSpPr>
          <p:nvPr/>
        </p:nvSpPr>
        <p:spPr>
          <a:xfrm>
            <a:off x="876300" y="270510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02-text">
            <a:extLst>
              <a:ext uri="{FF2B5EF4-FFF2-40B4-BE49-F238E27FC236}">
                <a16:creationId xmlns:a16="http://schemas.microsoft.com/office/drawing/2014/main" id="{B8A5CBB5-3129-4784-902C-194EE927FC8D}"/>
              </a:ext>
            </a:extLst>
          </p:cNvPr>
          <p:cNvSpPr>
            <a:spLocks noGrp="1"/>
          </p:cNvSpPr>
          <p:nvPr/>
        </p:nvSpPr>
        <p:spPr>
          <a:xfrm>
            <a:off x="1390650" y="2686050"/>
            <a:ext cx="531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证据可以核验</a:t>
            </a:r>
          </a:p>
        </p:txBody>
      </p:sp>
      <p:sp>
        <p:nvSpPr>
          <p:cNvPr id="11" name="03-num">
            <a:extLst>
              <a:ext uri="{FF2B5EF4-FFF2-40B4-BE49-F238E27FC236}">
                <a16:creationId xmlns:a16="http://schemas.microsoft.com/office/drawing/2014/main" id="{42A07326-BA48-4563-8AB8-24114F9FA197}"/>
              </a:ext>
            </a:extLst>
          </p:cNvPr>
          <p:cNvSpPr>
            <a:spLocks noGrp="1"/>
          </p:cNvSpPr>
          <p:nvPr/>
        </p:nvSpPr>
        <p:spPr>
          <a:xfrm>
            <a:off x="876300" y="331470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03-text">
            <a:extLst>
              <a:ext uri="{FF2B5EF4-FFF2-40B4-BE49-F238E27FC236}">
                <a16:creationId xmlns:a16="http://schemas.microsoft.com/office/drawing/2014/main" id="{1395479C-FA0D-4D5F-9442-4B88523B7D05}"/>
              </a:ext>
            </a:extLst>
          </p:cNvPr>
          <p:cNvSpPr>
            <a:spLocks noGrp="1"/>
          </p:cNvSpPr>
          <p:nvPr/>
        </p:nvSpPr>
        <p:spPr>
          <a:xfrm>
            <a:off x="1390650" y="3295650"/>
            <a:ext cx="531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行动受到约束</a:t>
            </a:r>
          </a:p>
        </p:txBody>
      </p:sp>
      <p:sp>
        <p:nvSpPr>
          <p:cNvPr id="13" name="04-num">
            <a:extLst>
              <a:ext uri="{FF2B5EF4-FFF2-40B4-BE49-F238E27FC236}">
                <a16:creationId xmlns:a16="http://schemas.microsoft.com/office/drawing/2014/main" id="{8A99BFE3-C44A-47F0-A448-C603B84FF29E}"/>
              </a:ext>
            </a:extLst>
          </p:cNvPr>
          <p:cNvSpPr>
            <a:spLocks noGrp="1"/>
          </p:cNvSpPr>
          <p:nvPr/>
        </p:nvSpPr>
        <p:spPr>
          <a:xfrm>
            <a:off x="876300" y="392430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04-text">
            <a:extLst>
              <a:ext uri="{FF2B5EF4-FFF2-40B4-BE49-F238E27FC236}">
                <a16:creationId xmlns:a16="http://schemas.microsoft.com/office/drawing/2014/main" id="{3B5B257F-263F-497A-919C-99D04B0B0122}"/>
              </a:ext>
            </a:extLst>
          </p:cNvPr>
          <p:cNvSpPr>
            <a:spLocks noGrp="1"/>
          </p:cNvSpPr>
          <p:nvPr/>
        </p:nvSpPr>
        <p:spPr>
          <a:xfrm>
            <a:off x="1390650" y="3905250"/>
            <a:ext cx="531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结论保留边界</a:t>
            </a:r>
          </a:p>
        </p:txBody>
      </p:sp>
      <p:sp>
        <p:nvSpPr>
          <p:cNvPr id="15" name="05-num">
            <a:extLst>
              <a:ext uri="{FF2B5EF4-FFF2-40B4-BE49-F238E27FC236}">
                <a16:creationId xmlns:a16="http://schemas.microsoft.com/office/drawing/2014/main" id="{DE1C7264-3FA1-43AD-AA91-6933D7D66673}"/>
              </a:ext>
            </a:extLst>
          </p:cNvPr>
          <p:cNvSpPr>
            <a:spLocks noGrp="1"/>
          </p:cNvSpPr>
          <p:nvPr/>
        </p:nvSpPr>
        <p:spPr>
          <a:xfrm>
            <a:off x="876300" y="453390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05-text">
            <a:extLst>
              <a:ext uri="{FF2B5EF4-FFF2-40B4-BE49-F238E27FC236}">
                <a16:creationId xmlns:a16="http://schemas.microsoft.com/office/drawing/2014/main" id="{A9C4162E-CD1B-4C40-918B-56567C5EF3E0}"/>
              </a:ext>
            </a:extLst>
          </p:cNvPr>
          <p:cNvSpPr>
            <a:spLocks noGrp="1"/>
          </p:cNvSpPr>
          <p:nvPr/>
        </p:nvSpPr>
        <p:spPr>
          <a:xfrm>
            <a:off x="1390650" y="4514850"/>
            <a:ext cx="531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责任由人承担</a:t>
            </a:r>
          </a:p>
        </p:txBody>
      </p:sp>
      <p:pic>
        <p:nvPicPr>
          <p:cNvPr id="32" name="p07-image"/>
          <p:cNvPicPr>
            <a:picLocks noChangeAspect="1"/>
          </p:cNvPicPr>
          <p:nvPr/>
        </p:nvPicPr>
        <p:blipFill>
          <a:blip r:embed="rId3"/>
          <a:srcRect t="1577" b="1577"/>
          <a:stretch>
            <a:fillRect/>
          </a:stretch>
        </p:blipFill>
        <p:spPr>
          <a:xfrm>
            <a:off x="7181850" y="1181100"/>
            <a:ext cx="4229100" cy="4095750"/>
          </a:xfrm>
          <a:prstGeom prst="rect">
            <a:avLst/>
          </a:prstGeom>
        </p:spPr>
      </p:pic>
      <p:sp>
        <p:nvSpPr>
          <p:cNvPr id="18" name="p07-caption">
            <a:extLst>
              <a:ext uri="{FF2B5EF4-FFF2-40B4-BE49-F238E27FC236}">
                <a16:creationId xmlns:a16="http://schemas.microsoft.com/office/drawing/2014/main" id="{CC82FFED-666E-4649-BE93-1C2B996819D3}"/>
              </a:ext>
            </a:extLst>
          </p:cNvPr>
          <p:cNvSpPr>
            <a:spLocks noGrp="1"/>
          </p:cNvSpPr>
          <p:nvPr/>
        </p:nvSpPr>
        <p:spPr>
          <a:xfrm>
            <a:off x="7867650" y="53911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975" b="0">
                <a:solidFill>
                  <a:srgbClr val="667684"/>
                </a:solidFill>
              </a:defRPr>
            </a:pPr>
            <a:r>
              <a:rPr sz="975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概念插图｜不承载实证结论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研究判断与工程工作流必须放在一起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BA58DA2A-B818-18A9-29C1-B697728D5BCE}" type="slidenum">
              <a:t>8</a:t>
            </a:fld>
            <a:endParaRPr/>
          </a:p>
        </p:txBody>
      </p:sp>
      <p:sp>
        <p:nvSpPr>
          <p:cNvPr id="6" name="p08-fiction">
            <a:extLst>
              <a:ext uri="{FF2B5EF4-FFF2-40B4-BE49-F238E27FC236}">
                <a16:creationId xmlns:a16="http://schemas.microsoft.com/office/drawing/2014/main" id="{2ABB6718-9E59-4BE6-AFDA-FDBFEF3C3904}"/>
              </a:ext>
            </a:extLst>
          </p:cNvPr>
          <p:cNvSpPr>
            <a:spLocks noGrp="1"/>
          </p:cNvSpPr>
          <p:nvPr/>
        </p:nvSpPr>
        <p:spPr>
          <a:xfrm>
            <a:off x="800100" y="10096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275" b="1">
                <a:solidFill>
                  <a:srgbClr val="667684"/>
                </a:solidFill>
              </a:defRPr>
            </a:pPr>
            <a:r>
              <a:rPr sz="127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虚构教学情境｜一份研究提交</a:t>
            </a:r>
          </a:p>
        </p:txBody>
      </p:sp>
      <p:sp>
        <p:nvSpPr>
          <p:cNvPr id="7" name="p08-method-title">
            <a:extLst>
              <a:ext uri="{FF2B5EF4-FFF2-40B4-BE49-F238E27FC236}">
                <a16:creationId xmlns:a16="http://schemas.microsoft.com/office/drawing/2014/main" id="{1A0AFBC8-89F3-4DD1-9812-02283C3FE58E}"/>
              </a:ext>
            </a:extLst>
          </p:cNvPr>
          <p:cNvSpPr>
            <a:spLocks noGrp="1"/>
          </p:cNvSpPr>
          <p:nvPr/>
        </p:nvSpPr>
        <p:spPr>
          <a:xfrm>
            <a:off x="857250" y="160020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00" b="1">
                <a:solidFill>
                  <a:srgbClr val="C8161E"/>
                </a:solidFill>
              </a:defRPr>
            </a:pPr>
            <a:r>
              <a:rPr sz="21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方法侧</a:t>
            </a:r>
          </a:p>
        </p:txBody>
      </p:sp>
      <p:sp>
        <p:nvSpPr>
          <p:cNvPr id="8" name="p08-method">
            <a:extLst>
              <a:ext uri="{FF2B5EF4-FFF2-40B4-BE49-F238E27FC236}">
                <a16:creationId xmlns:a16="http://schemas.microsoft.com/office/drawing/2014/main" id="{8CCF32A9-8328-48C0-BF95-181FF7E5D57D}"/>
              </a:ext>
            </a:extLst>
          </p:cNvPr>
          <p:cNvSpPr>
            <a:spLocks noGrp="1"/>
          </p:cNvSpPr>
          <p:nvPr/>
        </p:nvSpPr>
        <p:spPr>
          <a:xfrm>
            <a:off x="857250" y="2171700"/>
            <a:ext cx="4095750" cy="1276350"/>
          </a:xfrm>
          <a:prstGeom prst="rect">
            <a:avLst/>
          </a:prstGeom>
          <a:solidFill>
            <a:srgbClr val="F8E9EA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75" b="1">
                <a:solidFill>
                  <a:srgbClr val="A50F17"/>
                </a:solidFill>
              </a:defRPr>
            </a:pPr>
            <a:r>
              <a:rPr sz="2175" b="1">
                <a:solidFill>
                  <a:srgbClr val="A50F17"/>
                </a:solidFill>
                <a:latin typeface="Arial"/>
                <a:ea typeface="Arial"/>
                <a:cs typeface="Arial"/>
              </a:rPr>
              <a:t>evidence missing</a:t>
            </a:r>
          </a:p>
          <a:p>
            <a:pPr algn="ctr">
              <a:defRPr sz="2175" b="1">
                <a:solidFill>
                  <a:srgbClr val="A50F17"/>
                </a:solidFill>
              </a:defRPr>
            </a:pPr>
            <a:r>
              <a:rPr sz="2175" b="1">
                <a:solidFill>
                  <a:srgbClr val="A50F17"/>
                </a:solidFill>
                <a:latin typeface="Arial"/>
                <a:ea typeface="Arial"/>
                <a:cs typeface="Arial"/>
              </a:rPr>
              <a:t>baseline unclear</a:t>
            </a:r>
          </a:p>
        </p:txBody>
      </p:sp>
      <p:sp>
        <p:nvSpPr>
          <p:cNvPr id="9" name="p08-fail">
            <a:extLst>
              <a:ext uri="{FF2B5EF4-FFF2-40B4-BE49-F238E27FC236}">
                <a16:creationId xmlns:a16="http://schemas.microsoft.com/office/drawing/2014/main" id="{AC903CBB-9FC7-49DE-BE84-2A05A1BDC213}"/>
              </a:ext>
            </a:extLst>
          </p:cNvPr>
          <p:cNvSpPr>
            <a:spLocks noGrp="1"/>
          </p:cNvSpPr>
          <p:nvPr/>
        </p:nvSpPr>
        <p:spPr>
          <a:xfrm>
            <a:off x="1809750" y="371475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判定失败</a:t>
            </a:r>
          </a:p>
        </p:txBody>
      </p:sp>
      <p:sp>
        <p:nvSpPr>
          <p:cNvPr id="10" name="p08-ne">
            <a:extLst>
              <a:ext uri="{FF2B5EF4-FFF2-40B4-BE49-F238E27FC236}">
                <a16:creationId xmlns:a16="http://schemas.microsoft.com/office/drawing/2014/main" id="{1F09E78A-772E-4F00-87CB-5FF6D26D80AC}"/>
              </a:ext>
            </a:extLst>
          </p:cNvPr>
          <p:cNvSpPr>
            <a:spLocks noGrp="1"/>
          </p:cNvSpPr>
          <p:nvPr/>
        </p:nvSpPr>
        <p:spPr>
          <a:xfrm>
            <a:off x="5391150" y="2190750"/>
            <a:ext cx="14097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5700" b="1">
                <a:solidFill>
                  <a:srgbClr val="18354E"/>
                </a:solidFill>
              </a:defRPr>
            </a:pPr>
            <a:r>
              <a:rPr sz="570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11" name="p08-flow-title">
            <a:extLst>
              <a:ext uri="{FF2B5EF4-FFF2-40B4-BE49-F238E27FC236}">
                <a16:creationId xmlns:a16="http://schemas.microsoft.com/office/drawing/2014/main" id="{A72A3629-0F59-488C-91D6-B8A8D2FAC455}"/>
              </a:ext>
            </a:extLst>
          </p:cNvPr>
          <p:cNvSpPr>
            <a:spLocks noGrp="1"/>
          </p:cNvSpPr>
          <p:nvPr/>
        </p:nvSpPr>
        <p:spPr>
          <a:xfrm>
            <a:off x="7239000" y="160020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00" b="1">
                <a:solidFill>
                  <a:srgbClr val="28745A"/>
                </a:solidFill>
              </a:defRPr>
            </a:pPr>
            <a:r>
              <a:rPr sz="21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工作流侧</a:t>
            </a:r>
          </a:p>
        </p:txBody>
      </p:sp>
      <p:sp>
        <p:nvSpPr>
          <p:cNvPr id="12" name="p08-flow">
            <a:extLst>
              <a:ext uri="{FF2B5EF4-FFF2-40B4-BE49-F238E27FC236}">
                <a16:creationId xmlns:a16="http://schemas.microsoft.com/office/drawing/2014/main" id="{F359BE55-C15B-424C-A565-F1AAF04152AC}"/>
              </a:ext>
            </a:extLst>
          </p:cNvPr>
          <p:cNvSpPr>
            <a:spLocks noGrp="1"/>
          </p:cNvSpPr>
          <p:nvPr/>
        </p:nvSpPr>
        <p:spPr>
          <a:xfrm>
            <a:off x="7239000" y="2171700"/>
            <a:ext cx="4095750" cy="1809750"/>
          </a:xfrm>
          <a:prstGeom prst="rect">
            <a:avLst/>
          </a:prstGeom>
          <a:solidFill>
            <a:srgbClr val="E7F2ED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025" b="1">
                <a:solidFill>
                  <a:srgbClr val="28745A"/>
                </a:solidFill>
              </a:defRPr>
            </a:pPr>
            <a:r>
              <a:rPr sz="2025" b="1">
                <a:solidFill>
                  <a:srgbClr val="28745A"/>
                </a:solidFill>
                <a:latin typeface="Arial"/>
                <a:ea typeface="Arial"/>
                <a:cs typeface="Arial"/>
              </a:rPr>
              <a:t>Context ✓</a:t>
            </a:r>
          </a:p>
          <a:p>
            <a:pPr algn="ctr">
              <a:defRPr sz="2025" b="1">
                <a:solidFill>
                  <a:srgbClr val="28745A"/>
                </a:solidFill>
              </a:defRPr>
            </a:pPr>
            <a:r>
              <a:rPr sz="2025" b="1">
                <a:solidFill>
                  <a:srgbClr val="28745A"/>
                </a:solidFill>
                <a:latin typeface="Arial"/>
                <a:ea typeface="Arial"/>
                <a:cs typeface="Arial"/>
              </a:rPr>
              <a:t>Permission ✓</a:t>
            </a:r>
          </a:p>
          <a:p>
            <a:pPr algn="ctr">
              <a:defRPr sz="2025" b="1">
                <a:solidFill>
                  <a:srgbClr val="28745A"/>
                </a:solidFill>
              </a:defRPr>
            </a:pPr>
            <a:r>
              <a:rPr sz="2025" b="1">
                <a:solidFill>
                  <a:srgbClr val="28745A"/>
                </a:solidFill>
                <a:latin typeface="Arial"/>
                <a:ea typeface="Arial"/>
                <a:cs typeface="Arial"/>
              </a:rPr>
              <a:t>Diff ✓</a:t>
            </a:r>
          </a:p>
          <a:p>
            <a:pPr algn="ctr">
              <a:defRPr sz="2025" b="1">
                <a:solidFill>
                  <a:srgbClr val="28745A"/>
                </a:solidFill>
              </a:defRPr>
            </a:pPr>
            <a:r>
              <a:rPr sz="2025" b="1">
                <a:solidFill>
                  <a:srgbClr val="28745A"/>
                </a:solidFill>
                <a:latin typeface="Arial"/>
                <a:ea typeface="Arial"/>
                <a:cs typeface="Arial"/>
              </a:rPr>
              <a:t>Log ✓</a:t>
            </a:r>
          </a:p>
        </p:txBody>
      </p:sp>
      <p:sp>
        <p:nvSpPr>
          <p:cNvPr id="13" name="p08-bottom">
            <a:extLst>
              <a:ext uri="{FF2B5EF4-FFF2-40B4-BE49-F238E27FC236}">
                <a16:creationId xmlns:a16="http://schemas.microsoft.com/office/drawing/2014/main" id="{2B002D81-B1FB-4638-B901-7141A40AB645}"/>
              </a:ext>
            </a:extLst>
          </p:cNvPr>
          <p:cNvSpPr>
            <a:spLocks noGrp="1"/>
          </p:cNvSpPr>
          <p:nvPr/>
        </p:nvSpPr>
        <p:spPr>
          <a:xfrm>
            <a:off x="3429000" y="4819650"/>
            <a:ext cx="533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700" b="1">
                <a:solidFill>
                  <a:srgbClr val="C8161E"/>
                </a:solidFill>
              </a:defRPr>
            </a:pPr>
            <a:r>
              <a:rPr sz="27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可检查 ≠ 已成立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这是一门 AI 增强的研究方法课：评价闭环质量而非工具数量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388657AE-30A1-5A7A-6A7F-315D84436430}" type="slidenum">
              <a:t>9</a:t>
            </a:fld>
            <a:endParaRPr/>
          </a:p>
        </p:txBody>
      </p:sp>
      <p:sp>
        <p:nvSpPr>
          <p:cNvPr id="6" name="p09-a-0">
            <a:extLst>
              <a:ext uri="{FF2B5EF4-FFF2-40B4-BE49-F238E27FC236}">
                <a16:creationId xmlns:a16="http://schemas.microsoft.com/office/drawing/2014/main" id="{8F66CBB3-2554-4A05-B028-0B3A45CF19BA}"/>
              </a:ext>
            </a:extLst>
          </p:cNvPr>
          <p:cNvSpPr>
            <a:spLocks noGrp="1"/>
          </p:cNvSpPr>
          <p:nvPr/>
        </p:nvSpPr>
        <p:spPr>
          <a:xfrm>
            <a:off x="3105150" y="2543175"/>
            <a:ext cx="533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550" b="1">
                <a:solidFill>
                  <a:srgbClr val="C8161E"/>
                </a:solidFill>
              </a:defRPr>
            </a:pPr>
            <a:r>
              <a:rPr sz="25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09-0">
            <a:extLst>
              <a:ext uri="{FF2B5EF4-FFF2-40B4-BE49-F238E27FC236}">
                <a16:creationId xmlns:a16="http://schemas.microsoft.com/office/drawing/2014/main" id="{6AEA3D0E-4680-4146-9240-E505536FD918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2305050" cy="12001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950" b="1">
                <a:solidFill>
                  <a:srgbClr val="18354E"/>
                </a:solidFill>
              </a:defRPr>
            </a:pPr>
            <a:r>
              <a:rPr sz="19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真实问题</a:t>
            </a:r>
          </a:p>
        </p:txBody>
      </p:sp>
      <p:sp>
        <p:nvSpPr>
          <p:cNvPr id="8" name="p09-a-1">
            <a:extLst>
              <a:ext uri="{FF2B5EF4-FFF2-40B4-BE49-F238E27FC236}">
                <a16:creationId xmlns:a16="http://schemas.microsoft.com/office/drawing/2014/main" id="{3A75D48A-F258-4709-8373-573EB71083A0}"/>
              </a:ext>
            </a:extLst>
          </p:cNvPr>
          <p:cNvSpPr>
            <a:spLocks noGrp="1"/>
          </p:cNvSpPr>
          <p:nvPr/>
        </p:nvSpPr>
        <p:spPr>
          <a:xfrm>
            <a:off x="5886450" y="2543175"/>
            <a:ext cx="533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550" b="1">
                <a:solidFill>
                  <a:srgbClr val="C8161E"/>
                </a:solidFill>
              </a:defRPr>
            </a:pPr>
            <a:r>
              <a:rPr sz="25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p09-1">
            <a:extLst>
              <a:ext uri="{FF2B5EF4-FFF2-40B4-BE49-F238E27FC236}">
                <a16:creationId xmlns:a16="http://schemas.microsoft.com/office/drawing/2014/main" id="{4082A4FB-9913-45D1-93AB-849BBE1058A3}"/>
              </a:ext>
            </a:extLst>
          </p:cNvPr>
          <p:cNvSpPr>
            <a:spLocks noGrp="1"/>
          </p:cNvSpPr>
          <p:nvPr/>
        </p:nvSpPr>
        <p:spPr>
          <a:xfrm>
            <a:off x="3638550" y="2095500"/>
            <a:ext cx="2305050" cy="12001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950" b="1">
                <a:solidFill>
                  <a:srgbClr val="18354E"/>
                </a:solidFill>
              </a:defRPr>
            </a:pPr>
            <a:r>
              <a:rPr sz="19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可核验证据</a:t>
            </a:r>
          </a:p>
        </p:txBody>
      </p:sp>
      <p:sp>
        <p:nvSpPr>
          <p:cNvPr id="10" name="p09-a-2">
            <a:extLst>
              <a:ext uri="{FF2B5EF4-FFF2-40B4-BE49-F238E27FC236}">
                <a16:creationId xmlns:a16="http://schemas.microsoft.com/office/drawing/2014/main" id="{2FB36ECC-3F95-432C-8EE7-85F9870411A5}"/>
              </a:ext>
            </a:extLst>
          </p:cNvPr>
          <p:cNvSpPr>
            <a:spLocks noGrp="1"/>
          </p:cNvSpPr>
          <p:nvPr/>
        </p:nvSpPr>
        <p:spPr>
          <a:xfrm>
            <a:off x="8667750" y="2543175"/>
            <a:ext cx="533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550" b="1">
                <a:solidFill>
                  <a:srgbClr val="C8161E"/>
                </a:solidFill>
              </a:defRPr>
            </a:pPr>
            <a:r>
              <a:rPr sz="25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p09-2">
            <a:extLst>
              <a:ext uri="{FF2B5EF4-FFF2-40B4-BE49-F238E27FC236}">
                <a16:creationId xmlns:a16="http://schemas.microsoft.com/office/drawing/2014/main" id="{560ABA96-E9D5-44B5-AE20-31B28A897E5C}"/>
              </a:ext>
            </a:extLst>
          </p:cNvPr>
          <p:cNvSpPr>
            <a:spLocks noGrp="1"/>
          </p:cNvSpPr>
          <p:nvPr/>
        </p:nvSpPr>
        <p:spPr>
          <a:xfrm>
            <a:off x="6419850" y="2095500"/>
            <a:ext cx="2305050" cy="12001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950" b="1">
                <a:solidFill>
                  <a:srgbClr val="18354E"/>
                </a:solidFill>
              </a:defRPr>
            </a:pPr>
            <a:r>
              <a:rPr sz="19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可复现实验</a:t>
            </a:r>
          </a:p>
        </p:txBody>
      </p:sp>
      <p:sp>
        <p:nvSpPr>
          <p:cNvPr id="12" name="p09-3">
            <a:extLst>
              <a:ext uri="{FF2B5EF4-FFF2-40B4-BE49-F238E27FC236}">
                <a16:creationId xmlns:a16="http://schemas.microsoft.com/office/drawing/2014/main" id="{9982828A-0A84-4DF6-A7D8-839D466AFDBC}"/>
              </a:ext>
            </a:extLst>
          </p:cNvPr>
          <p:cNvSpPr>
            <a:spLocks noGrp="1"/>
          </p:cNvSpPr>
          <p:nvPr/>
        </p:nvSpPr>
        <p:spPr>
          <a:xfrm>
            <a:off x="9201150" y="2095500"/>
            <a:ext cx="2305050" cy="1200150"/>
          </a:xfrm>
          <a:prstGeom prst="rect">
            <a:avLst/>
          </a:prstGeom>
          <a:solidFill>
            <a:srgbClr val="F8E9EA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950" b="1">
                <a:solidFill>
                  <a:srgbClr val="C8161E"/>
                </a:solidFill>
              </a:defRPr>
            </a:pPr>
            <a:r>
              <a:rPr sz="19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可追溯论证</a:t>
            </a:r>
          </a:p>
        </p:txBody>
      </p:sp>
      <p:sp>
        <p:nvSpPr>
          <p:cNvPr id="13" name="p09-ai">
            <a:extLst>
              <a:ext uri="{FF2B5EF4-FFF2-40B4-BE49-F238E27FC236}">
                <a16:creationId xmlns:a16="http://schemas.microsoft.com/office/drawing/2014/main" id="{1C5A7362-7AD5-472E-9A4D-C907AB2676D2}"/>
              </a:ext>
            </a:extLst>
          </p:cNvPr>
          <p:cNvSpPr>
            <a:spLocks noGrp="1"/>
          </p:cNvSpPr>
          <p:nvPr/>
        </p:nvSpPr>
        <p:spPr>
          <a:xfrm>
            <a:off x="1143000" y="3886200"/>
            <a:ext cx="438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800" b="1">
                <a:solidFill>
                  <a:srgbClr val="2F638A"/>
                </a:solidFill>
              </a:defRPr>
            </a:pPr>
            <a:r>
              <a:rPr sz="1800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AI 与 Agent 可以进入每个环节</a:t>
            </a:r>
          </a:p>
        </p:txBody>
      </p:sp>
      <p:sp>
        <p:nvSpPr>
          <p:cNvPr id="14" name="p09-human">
            <a:extLst>
              <a:ext uri="{FF2B5EF4-FFF2-40B4-BE49-F238E27FC236}">
                <a16:creationId xmlns:a16="http://schemas.microsoft.com/office/drawing/2014/main" id="{66E33A9B-7E7F-4512-851D-9AC6ED31CD06}"/>
              </a:ext>
            </a:extLst>
          </p:cNvPr>
          <p:cNvSpPr>
            <a:spLocks noGrp="1"/>
          </p:cNvSpPr>
          <p:nvPr/>
        </p:nvSpPr>
        <p:spPr>
          <a:xfrm>
            <a:off x="6667500" y="3886200"/>
            <a:ext cx="438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但不能取代研究判断</a:t>
            </a:r>
          </a:p>
        </p:txBody>
      </p:sp>
      <p:sp>
        <p:nvSpPr>
          <p:cNvPr id="15" name="p09-rule">
            <a:extLst>
              <a:ext uri="{FF2B5EF4-FFF2-40B4-BE49-F238E27FC236}">
                <a16:creationId xmlns:a16="http://schemas.microsoft.com/office/drawing/2014/main" id="{A868B444-45C5-486E-A10D-1F9D49C346EB}"/>
              </a:ext>
            </a:extLst>
          </p:cNvPr>
          <p:cNvSpPr>
            <a:spLocks noGrp="1"/>
          </p:cNvSpPr>
          <p:nvPr/>
        </p:nvSpPr>
        <p:spPr>
          <a:xfrm>
            <a:off x="1143000" y="4562475"/>
            <a:ext cx="9906000" cy="19050"/>
          </a:xfrm>
          <a:prstGeom prst="rect">
            <a:avLst/>
          </a:prstGeom>
          <a:solidFill>
            <a:srgbClr val="D6DDE2"/>
          </a:solidFill>
          <a:ln w="0">
            <a:noFill/>
            <a:prstDash val="solid"/>
          </a:ln>
        </p:spPr>
      </p:sp>
      <p:sp>
        <p:nvSpPr>
          <p:cNvPr id="16" name="p09-conclusion">
            <a:extLst>
              <a:ext uri="{FF2B5EF4-FFF2-40B4-BE49-F238E27FC236}">
                <a16:creationId xmlns:a16="http://schemas.microsoft.com/office/drawing/2014/main" id="{ED5C48EF-D547-4E7F-B34B-E64A246EC519}"/>
              </a:ext>
            </a:extLst>
          </p:cNvPr>
          <p:cNvSpPr>
            <a:spLocks noGrp="1"/>
          </p:cNvSpPr>
          <p:nvPr/>
        </p:nvSpPr>
        <p:spPr>
          <a:xfrm>
            <a:off x="2381250" y="4857750"/>
            <a:ext cx="7429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250" b="1">
                <a:solidFill>
                  <a:srgbClr val="263746"/>
                </a:solidFill>
              </a:defRPr>
            </a:pPr>
            <a:r>
              <a:rPr sz="22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评价的是研究闭环质量，不是工具数量。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 周后，你应拥有一个可继续发展的研究雏形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DB7BEEEC-A170-5376-2B6E-CB54687B0CB1}" type="slidenum">
              <a:t>10</a:t>
            </a:fld>
            <a:endParaRPr/>
          </a:p>
        </p:txBody>
      </p:sp>
      <p:sp>
        <p:nvSpPr>
          <p:cNvPr id="6" name="p10-tree-title">
            <a:extLst>
              <a:ext uri="{FF2B5EF4-FFF2-40B4-BE49-F238E27FC236}">
                <a16:creationId xmlns:a16="http://schemas.microsoft.com/office/drawing/2014/main" id="{73AE015B-28FD-45ED-B8E6-D2CA1A764CB6}"/>
              </a:ext>
            </a:extLst>
          </p:cNvPr>
          <p:cNvSpPr>
            <a:spLocks noGrp="1"/>
          </p:cNvSpPr>
          <p:nvPr/>
        </p:nvSpPr>
        <p:spPr>
          <a:xfrm>
            <a:off x="838200" y="1143000"/>
            <a:ext cx="4381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Consolas"/>
                <a:ea typeface="Consolas"/>
                <a:cs typeface="Consolas"/>
              </a:rPr>
              <a:t>research-project/</a:t>
            </a:r>
          </a:p>
        </p:txBody>
      </p:sp>
      <p:sp>
        <p:nvSpPr>
          <p:cNvPr id="7" name="p10-tree">
            <a:extLst>
              <a:ext uri="{FF2B5EF4-FFF2-40B4-BE49-F238E27FC236}">
                <a16:creationId xmlns:a16="http://schemas.microsoft.com/office/drawing/2014/main" id="{1E948FCD-134B-402F-9786-CDC1C8401FAE}"/>
              </a:ext>
            </a:extLst>
          </p:cNvPr>
          <p:cNvSpPr>
            <a:spLocks noGrp="1"/>
          </p:cNvSpPr>
          <p:nvPr/>
        </p:nvSpPr>
        <p:spPr>
          <a:xfrm>
            <a:off x="1047750" y="1657350"/>
            <a:ext cx="4953000" cy="28765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38100" tIns="38100" rIns="38100" bIns="38100" anchor="t"/>
          <a:lstStyle/>
          <a:p>
            <a:pPr algn="l">
              <a:defRPr sz="1800" b="0">
                <a:solidFill>
                  <a:srgbClr val="263746"/>
                </a:solidFill>
              </a:defRPr>
            </a:pPr>
            <a:r>
              <a:rPr sz="18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├── problem-definition.md</a:t>
            </a:r>
          </a:p>
          <a:p>
            <a:pPr algn="l">
              <a:defRPr sz="1800" b="0">
                <a:solidFill>
                  <a:srgbClr val="263746"/>
                </a:solidFill>
              </a:defRPr>
            </a:pPr>
            <a:r>
              <a:rPr sz="18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├── evidence-and-judgments.md</a:t>
            </a:r>
          </a:p>
          <a:p>
            <a:pPr algn="l">
              <a:defRPr sz="1800" b="0">
                <a:solidFill>
                  <a:srgbClr val="263746"/>
                </a:solidFill>
              </a:defRPr>
            </a:pPr>
            <a:r>
              <a:rPr sz="18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├── reproducible-validation/</a:t>
            </a:r>
          </a:p>
          <a:p>
            <a:pPr algn="l">
              <a:defRPr sz="1800" b="0">
                <a:solidFill>
                  <a:srgbClr val="263746"/>
                </a:solidFill>
              </a:defRPr>
            </a:pPr>
            <a:r>
              <a:rPr sz="18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├── agent-workflow/</a:t>
            </a:r>
          </a:p>
          <a:p>
            <a:pPr algn="l">
              <a:defRPr sz="1800" b="0">
                <a:solidFill>
                  <a:srgbClr val="263746"/>
                </a:solidFill>
              </a:defRPr>
            </a:pPr>
            <a:r>
              <a:rPr sz="18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├── paper-style-report.md</a:t>
            </a:r>
          </a:p>
          <a:p>
            <a:pPr algn="l">
              <a:defRPr sz="1800" b="0">
                <a:solidFill>
                  <a:srgbClr val="263746"/>
                </a:solidFill>
              </a:defRPr>
            </a:pPr>
            <a:r>
              <a:rPr sz="18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└── notes/</a:t>
            </a:r>
          </a:p>
        </p:txBody>
      </p:sp>
      <p:sp>
        <p:nvSpPr>
          <p:cNvPr id="8" name="p10-state">
            <a:extLst>
              <a:ext uri="{FF2B5EF4-FFF2-40B4-BE49-F238E27FC236}">
                <a16:creationId xmlns:a16="http://schemas.microsoft.com/office/drawing/2014/main" id="{73C3D74B-5643-4850-8341-B67F804B164F}"/>
              </a:ext>
            </a:extLst>
          </p:cNvPr>
          <p:cNvSpPr>
            <a:spLocks noGrp="1"/>
          </p:cNvSpPr>
          <p:nvPr/>
        </p:nvSpPr>
        <p:spPr>
          <a:xfrm>
            <a:off x="971550" y="4762500"/>
            <a:ext cx="5105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Arial"/>
                <a:ea typeface="Arial"/>
                <a:cs typeface="Arial"/>
              </a:rPr>
              <a:t>draft  →  review  →  approved  →  stable</a:t>
            </a:r>
          </a:p>
        </p:txBody>
      </p:sp>
      <p:sp>
        <p:nvSpPr>
          <p:cNvPr id="9" name="p10-0-a">
            <a:extLst>
              <a:ext uri="{FF2B5EF4-FFF2-40B4-BE49-F238E27FC236}">
                <a16:creationId xmlns:a16="http://schemas.microsoft.com/office/drawing/2014/main" id="{68DAB8EC-970A-4EF2-9C0E-E0B0CAF6393B}"/>
              </a:ext>
            </a:extLst>
          </p:cNvPr>
          <p:cNvSpPr>
            <a:spLocks noGrp="1"/>
          </p:cNvSpPr>
          <p:nvPr/>
        </p:nvSpPr>
        <p:spPr>
          <a:xfrm>
            <a:off x="6781800" y="1200150"/>
            <a:ext cx="123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0" name="p10-0-line">
            <a:extLst>
              <a:ext uri="{FF2B5EF4-FFF2-40B4-BE49-F238E27FC236}">
                <a16:creationId xmlns:a16="http://schemas.microsoft.com/office/drawing/2014/main" id="{BA3FC068-07C0-407F-BACD-C02A5FE0D725}"/>
              </a:ext>
            </a:extLst>
          </p:cNvPr>
          <p:cNvSpPr>
            <a:spLocks noGrp="1"/>
          </p:cNvSpPr>
          <p:nvPr/>
        </p:nvSpPr>
        <p:spPr>
          <a:xfrm>
            <a:off x="8115300" y="1419225"/>
            <a:ext cx="514350" cy="19050"/>
          </a:xfrm>
          <a:prstGeom prst="rect">
            <a:avLst/>
          </a:prstGeom>
          <a:solidFill>
            <a:srgbClr val="D6DDE2"/>
          </a:solidFill>
          <a:ln w="0">
            <a:noFill/>
            <a:prstDash val="solid"/>
          </a:ln>
        </p:spPr>
      </p:sp>
      <p:sp>
        <p:nvSpPr>
          <p:cNvPr id="11" name="p10-0-b">
            <a:extLst>
              <a:ext uri="{FF2B5EF4-FFF2-40B4-BE49-F238E27FC236}">
                <a16:creationId xmlns:a16="http://schemas.microsoft.com/office/drawing/2014/main" id="{0CE03D4B-BFAC-4A7A-8AA2-F357D23BF233}"/>
              </a:ext>
            </a:extLst>
          </p:cNvPr>
          <p:cNvSpPr>
            <a:spLocks noGrp="1"/>
          </p:cNvSpPr>
          <p:nvPr/>
        </p:nvSpPr>
        <p:spPr>
          <a:xfrm>
            <a:off x="8801100" y="12001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清楚、可检验</a:t>
            </a:r>
          </a:p>
        </p:txBody>
      </p:sp>
      <p:sp>
        <p:nvSpPr>
          <p:cNvPr id="12" name="p10-1-a">
            <a:extLst>
              <a:ext uri="{FF2B5EF4-FFF2-40B4-BE49-F238E27FC236}">
                <a16:creationId xmlns:a16="http://schemas.microsoft.com/office/drawing/2014/main" id="{A81B9EFC-71DF-4E36-B876-610916278132}"/>
              </a:ext>
            </a:extLst>
          </p:cNvPr>
          <p:cNvSpPr>
            <a:spLocks noGrp="1"/>
          </p:cNvSpPr>
          <p:nvPr/>
        </p:nvSpPr>
        <p:spPr>
          <a:xfrm>
            <a:off x="6781800" y="2019300"/>
            <a:ext cx="123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3" name="p10-1-line">
            <a:extLst>
              <a:ext uri="{FF2B5EF4-FFF2-40B4-BE49-F238E27FC236}">
                <a16:creationId xmlns:a16="http://schemas.microsoft.com/office/drawing/2014/main" id="{1EA73304-5687-4C2B-88EE-64464090A81D}"/>
              </a:ext>
            </a:extLst>
          </p:cNvPr>
          <p:cNvSpPr>
            <a:spLocks noGrp="1"/>
          </p:cNvSpPr>
          <p:nvPr/>
        </p:nvSpPr>
        <p:spPr>
          <a:xfrm>
            <a:off x="8115300" y="2238375"/>
            <a:ext cx="514350" cy="19050"/>
          </a:xfrm>
          <a:prstGeom prst="rect">
            <a:avLst/>
          </a:prstGeom>
          <a:solidFill>
            <a:srgbClr val="D6DDE2"/>
          </a:solidFill>
          <a:ln w="0">
            <a:noFill/>
            <a:prstDash val="solid"/>
          </a:ln>
        </p:spPr>
      </p:sp>
      <p:sp>
        <p:nvSpPr>
          <p:cNvPr id="14" name="p10-1-b">
            <a:extLst>
              <a:ext uri="{FF2B5EF4-FFF2-40B4-BE49-F238E27FC236}">
                <a16:creationId xmlns:a16="http://schemas.microsoft.com/office/drawing/2014/main" id="{052949F1-524F-4932-9C5A-E04DF352129F}"/>
              </a:ext>
            </a:extLst>
          </p:cNvPr>
          <p:cNvSpPr>
            <a:spLocks noGrp="1"/>
          </p:cNvSpPr>
          <p:nvPr/>
        </p:nvSpPr>
        <p:spPr>
          <a:xfrm>
            <a:off x="8801100" y="20193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判断链可追溯</a:t>
            </a:r>
          </a:p>
        </p:txBody>
      </p:sp>
      <p:sp>
        <p:nvSpPr>
          <p:cNvPr id="15" name="p10-2-a">
            <a:extLst>
              <a:ext uri="{FF2B5EF4-FFF2-40B4-BE49-F238E27FC236}">
                <a16:creationId xmlns:a16="http://schemas.microsoft.com/office/drawing/2014/main" id="{EB208E22-0E87-4661-875C-6198B9135E85}"/>
              </a:ext>
            </a:extLst>
          </p:cNvPr>
          <p:cNvSpPr>
            <a:spLocks noGrp="1"/>
          </p:cNvSpPr>
          <p:nvPr/>
        </p:nvSpPr>
        <p:spPr>
          <a:xfrm>
            <a:off x="6781800" y="2838450"/>
            <a:ext cx="123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16" name="p10-2-line">
            <a:extLst>
              <a:ext uri="{FF2B5EF4-FFF2-40B4-BE49-F238E27FC236}">
                <a16:creationId xmlns:a16="http://schemas.microsoft.com/office/drawing/2014/main" id="{88ABF643-270A-4CA5-9A0E-CF806EB4901E}"/>
              </a:ext>
            </a:extLst>
          </p:cNvPr>
          <p:cNvSpPr>
            <a:spLocks noGrp="1"/>
          </p:cNvSpPr>
          <p:nvPr/>
        </p:nvSpPr>
        <p:spPr>
          <a:xfrm>
            <a:off x="8115300" y="3057525"/>
            <a:ext cx="514350" cy="19050"/>
          </a:xfrm>
          <a:prstGeom prst="rect">
            <a:avLst/>
          </a:prstGeom>
          <a:solidFill>
            <a:srgbClr val="D6DDE2"/>
          </a:solidFill>
          <a:ln w="0">
            <a:noFill/>
            <a:prstDash val="solid"/>
          </a:ln>
        </p:spPr>
      </p:sp>
      <p:sp>
        <p:nvSpPr>
          <p:cNvPr id="17" name="p10-2-b">
            <a:extLst>
              <a:ext uri="{FF2B5EF4-FFF2-40B4-BE49-F238E27FC236}">
                <a16:creationId xmlns:a16="http://schemas.microsoft.com/office/drawing/2014/main" id="{7577B18E-3B18-4080-ADA0-B9EA9250EE55}"/>
              </a:ext>
            </a:extLst>
          </p:cNvPr>
          <p:cNvSpPr>
            <a:spLocks noGrp="1"/>
          </p:cNvSpPr>
          <p:nvPr/>
        </p:nvSpPr>
        <p:spPr>
          <a:xfrm>
            <a:off x="8801100" y="28384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最小且可复现</a:t>
            </a:r>
          </a:p>
        </p:txBody>
      </p:sp>
      <p:sp>
        <p:nvSpPr>
          <p:cNvPr id="18" name="p10-3-a">
            <a:extLst>
              <a:ext uri="{FF2B5EF4-FFF2-40B4-BE49-F238E27FC236}">
                <a16:creationId xmlns:a16="http://schemas.microsoft.com/office/drawing/2014/main" id="{F4F15276-18B9-4BAD-9EED-3EEB9579FF7A}"/>
              </a:ext>
            </a:extLst>
          </p:cNvPr>
          <p:cNvSpPr>
            <a:spLocks noGrp="1"/>
          </p:cNvSpPr>
          <p:nvPr/>
        </p:nvSpPr>
        <p:spPr>
          <a:xfrm>
            <a:off x="6781800" y="3657600"/>
            <a:ext cx="123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19" name="p10-3-line">
            <a:extLst>
              <a:ext uri="{FF2B5EF4-FFF2-40B4-BE49-F238E27FC236}">
                <a16:creationId xmlns:a16="http://schemas.microsoft.com/office/drawing/2014/main" id="{9B664ECF-A971-47D5-B330-EB6994405812}"/>
              </a:ext>
            </a:extLst>
          </p:cNvPr>
          <p:cNvSpPr>
            <a:spLocks noGrp="1"/>
          </p:cNvSpPr>
          <p:nvPr/>
        </p:nvSpPr>
        <p:spPr>
          <a:xfrm>
            <a:off x="8115300" y="3876675"/>
            <a:ext cx="514350" cy="19050"/>
          </a:xfrm>
          <a:prstGeom prst="rect">
            <a:avLst/>
          </a:prstGeom>
          <a:solidFill>
            <a:srgbClr val="D6DDE2"/>
          </a:solidFill>
          <a:ln w="0">
            <a:noFill/>
            <a:prstDash val="solid"/>
          </a:ln>
        </p:spPr>
      </p:sp>
      <p:sp>
        <p:nvSpPr>
          <p:cNvPr id="20" name="p10-3-b">
            <a:extLst>
              <a:ext uri="{FF2B5EF4-FFF2-40B4-BE49-F238E27FC236}">
                <a16:creationId xmlns:a16="http://schemas.microsoft.com/office/drawing/2014/main" id="{5B8F8FD3-4278-47D3-AFE9-0B19EE2805B8}"/>
              </a:ext>
            </a:extLst>
          </p:cNvPr>
          <p:cNvSpPr>
            <a:spLocks noGrp="1"/>
          </p:cNvSpPr>
          <p:nvPr/>
        </p:nvSpPr>
        <p:spPr>
          <a:xfrm>
            <a:off x="8801100" y="36576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服务本人科研动作</a:t>
            </a:r>
          </a:p>
        </p:txBody>
      </p:sp>
      <p:sp>
        <p:nvSpPr>
          <p:cNvPr id="21" name="p10-4-a">
            <a:extLst>
              <a:ext uri="{FF2B5EF4-FFF2-40B4-BE49-F238E27FC236}">
                <a16:creationId xmlns:a16="http://schemas.microsoft.com/office/drawing/2014/main" id="{EBF2053F-7BD2-4054-A1B0-95334665A4E7}"/>
              </a:ext>
            </a:extLst>
          </p:cNvPr>
          <p:cNvSpPr>
            <a:spLocks noGrp="1"/>
          </p:cNvSpPr>
          <p:nvPr/>
        </p:nvSpPr>
        <p:spPr>
          <a:xfrm>
            <a:off x="6781800" y="4476750"/>
            <a:ext cx="123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报告</a:t>
            </a:r>
          </a:p>
        </p:txBody>
      </p:sp>
      <p:sp>
        <p:nvSpPr>
          <p:cNvPr id="22" name="p10-4-line">
            <a:extLst>
              <a:ext uri="{FF2B5EF4-FFF2-40B4-BE49-F238E27FC236}">
                <a16:creationId xmlns:a16="http://schemas.microsoft.com/office/drawing/2014/main" id="{45DCFC27-E69F-45AC-A2D2-73B7577ED46F}"/>
              </a:ext>
            </a:extLst>
          </p:cNvPr>
          <p:cNvSpPr>
            <a:spLocks noGrp="1"/>
          </p:cNvSpPr>
          <p:nvPr/>
        </p:nvSpPr>
        <p:spPr>
          <a:xfrm>
            <a:off x="8115300" y="4695825"/>
            <a:ext cx="514350" cy="19050"/>
          </a:xfrm>
          <a:prstGeom prst="rect">
            <a:avLst/>
          </a:prstGeom>
          <a:solidFill>
            <a:srgbClr val="D6DDE2"/>
          </a:solidFill>
          <a:ln w="0">
            <a:noFill/>
            <a:prstDash val="solid"/>
          </a:ln>
        </p:spPr>
      </p:sp>
      <p:sp>
        <p:nvSpPr>
          <p:cNvPr id="23" name="p10-4-b">
            <a:extLst>
              <a:ext uri="{FF2B5EF4-FFF2-40B4-BE49-F238E27FC236}">
                <a16:creationId xmlns:a16="http://schemas.microsoft.com/office/drawing/2014/main" id="{D0B50A59-68B5-401C-A675-095C1645968C}"/>
              </a:ext>
            </a:extLst>
          </p:cNvPr>
          <p:cNvSpPr>
            <a:spLocks noGrp="1"/>
          </p:cNvSpPr>
          <p:nvPr/>
        </p:nvSpPr>
        <p:spPr>
          <a:xfrm>
            <a:off x="8801100" y="44767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有边界、有披露</a:t>
            </a:r>
          </a:p>
        </p:txBody>
      </p:sp>
      <p:sp>
        <p:nvSpPr>
          <p:cNvPr id="24" name="p10-bottom">
            <a:extLst>
              <a:ext uri="{FF2B5EF4-FFF2-40B4-BE49-F238E27FC236}">
                <a16:creationId xmlns:a16="http://schemas.microsoft.com/office/drawing/2014/main" id="{C8F8EBB0-0E29-4F37-BE16-7F16990B88D9}"/>
              </a:ext>
            </a:extLst>
          </p:cNvPr>
          <p:cNvSpPr>
            <a:spLocks noGrp="1"/>
          </p:cNvSpPr>
          <p:nvPr/>
        </p:nvSpPr>
        <p:spPr>
          <a:xfrm>
            <a:off x="7239000" y="531495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所有课堂练习回写同一个项目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课程要求你具备基本工程与论文阅读能力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30394428-F1DC-E5F6-DB0C-7DE31F3D8A23}" type="slidenum">
              <a:t>11</a:t>
            </a:fld>
            <a:endParaRPr/>
          </a:p>
        </p:txBody>
      </p:sp>
      <p:sp>
        <p:nvSpPr>
          <p:cNvPr id="6" name="p11-audience">
            <a:extLst>
              <a:ext uri="{FF2B5EF4-FFF2-40B4-BE49-F238E27FC236}">
                <a16:creationId xmlns:a16="http://schemas.microsoft.com/office/drawing/2014/main" id="{D696425B-F6EE-4805-A9CB-4D02ED3EF754}"/>
              </a:ext>
            </a:extLst>
          </p:cNvPr>
          <p:cNvSpPr>
            <a:spLocks noGrp="1"/>
          </p:cNvSpPr>
          <p:nvPr/>
        </p:nvSpPr>
        <p:spPr>
          <a:xfrm>
            <a:off x="895350" y="1333500"/>
            <a:ext cx="2381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950" b="1">
                <a:solidFill>
                  <a:srgbClr val="C8161E"/>
                </a:solidFill>
              </a:defRPr>
            </a:pPr>
            <a:r>
              <a:rPr sz="19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适用对象</a:t>
            </a:r>
          </a:p>
        </p:txBody>
      </p:sp>
      <p:sp>
        <p:nvSpPr>
          <p:cNvPr id="7" name="p11-audience-body">
            <a:extLst>
              <a:ext uri="{FF2B5EF4-FFF2-40B4-BE49-F238E27FC236}">
                <a16:creationId xmlns:a16="http://schemas.microsoft.com/office/drawing/2014/main" id="{B73E73A7-6568-45A2-B482-64DE4AA55A98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4095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defRPr sz="2250" b="1">
                <a:solidFill>
                  <a:srgbClr val="18354E"/>
                </a:solidFill>
              </a:defRPr>
            </a:pPr>
            <a:r>
              <a:rPr sz="22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CS / AI 及相关方向</a:t>
            </a:r>
          </a:p>
          <a:p>
            <a:pPr algn="l">
              <a:defRPr sz="2250" b="1">
                <a:solidFill>
                  <a:srgbClr val="18354E"/>
                </a:solidFill>
              </a:defRPr>
            </a:pPr>
            <a:r>
              <a:rPr sz="22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硕士生、博士生</a:t>
            </a:r>
          </a:p>
        </p:txBody>
      </p:sp>
      <p:sp>
        <p:nvSpPr>
          <p:cNvPr id="8" name="p11-v">
            <a:extLst>
              <a:ext uri="{FF2B5EF4-FFF2-40B4-BE49-F238E27FC236}">
                <a16:creationId xmlns:a16="http://schemas.microsoft.com/office/drawing/2014/main" id="{E0EFB119-4911-459B-9D7B-5604F3CD15B7}"/>
              </a:ext>
            </a:extLst>
          </p:cNvPr>
          <p:cNvSpPr>
            <a:spLocks noGrp="1"/>
          </p:cNvSpPr>
          <p:nvPr/>
        </p:nvSpPr>
        <p:spPr>
          <a:xfrm rot="5400000">
            <a:off x="3676650" y="3114675"/>
            <a:ext cx="3886200" cy="19050"/>
          </a:xfrm>
          <a:prstGeom prst="rect">
            <a:avLst/>
          </a:prstGeom>
          <a:solidFill>
            <a:srgbClr val="D6DDE2"/>
          </a:solidFill>
          <a:ln w="0">
            <a:noFill/>
            <a:prstDash val="solid"/>
          </a:ln>
        </p:spPr>
      </p:sp>
      <p:sp>
        <p:nvSpPr>
          <p:cNvPr id="9" name="p11-pre">
            <a:extLst>
              <a:ext uri="{FF2B5EF4-FFF2-40B4-BE49-F238E27FC236}">
                <a16:creationId xmlns:a16="http://schemas.microsoft.com/office/drawing/2014/main" id="{C82277EE-B14E-4759-90A8-E77F64B9A9EC}"/>
              </a:ext>
            </a:extLst>
          </p:cNvPr>
          <p:cNvSpPr>
            <a:spLocks noGrp="1"/>
          </p:cNvSpPr>
          <p:nvPr/>
        </p:nvSpPr>
        <p:spPr>
          <a:xfrm>
            <a:off x="6286500" y="1333500"/>
            <a:ext cx="2381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950" b="1">
                <a:solidFill>
                  <a:srgbClr val="C8161E"/>
                </a:solidFill>
              </a:defRPr>
            </a:pPr>
            <a:r>
              <a:rPr sz="19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先修要求</a:t>
            </a:r>
          </a:p>
        </p:txBody>
      </p:sp>
      <p:sp>
        <p:nvSpPr>
          <p:cNvPr id="10" name="p11-0">
            <a:extLst>
              <a:ext uri="{FF2B5EF4-FFF2-40B4-BE49-F238E27FC236}">
                <a16:creationId xmlns:a16="http://schemas.microsoft.com/office/drawing/2014/main" id="{6C7BC717-C591-49C4-998C-12BFA71FF4DC}"/>
              </a:ext>
            </a:extLst>
          </p:cNvPr>
          <p:cNvSpPr>
            <a:spLocks noGrp="1"/>
          </p:cNvSpPr>
          <p:nvPr/>
        </p:nvSpPr>
        <p:spPr>
          <a:xfrm>
            <a:off x="6381750" y="2038350"/>
            <a:ext cx="2095500" cy="5905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Python</a:t>
            </a:r>
          </a:p>
        </p:txBody>
      </p:sp>
      <p:sp>
        <p:nvSpPr>
          <p:cNvPr id="11" name="p11-1">
            <a:extLst>
              <a:ext uri="{FF2B5EF4-FFF2-40B4-BE49-F238E27FC236}">
                <a16:creationId xmlns:a16="http://schemas.microsoft.com/office/drawing/2014/main" id="{8BF77B0C-B97C-45D1-8B97-E2B2BDF2CD38}"/>
              </a:ext>
            </a:extLst>
          </p:cNvPr>
          <p:cNvSpPr>
            <a:spLocks noGrp="1"/>
          </p:cNvSpPr>
          <p:nvPr/>
        </p:nvSpPr>
        <p:spPr>
          <a:xfrm>
            <a:off x="8763000" y="2038350"/>
            <a:ext cx="2095500" cy="5905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机器学习基础</a:t>
            </a:r>
          </a:p>
        </p:txBody>
      </p:sp>
      <p:sp>
        <p:nvSpPr>
          <p:cNvPr id="12" name="p11-2">
            <a:extLst>
              <a:ext uri="{FF2B5EF4-FFF2-40B4-BE49-F238E27FC236}">
                <a16:creationId xmlns:a16="http://schemas.microsoft.com/office/drawing/2014/main" id="{BE0B918E-E70B-43AD-893F-9BDB92FEE0CD}"/>
              </a:ext>
            </a:extLst>
          </p:cNvPr>
          <p:cNvSpPr>
            <a:spLocks noGrp="1"/>
          </p:cNvSpPr>
          <p:nvPr/>
        </p:nvSpPr>
        <p:spPr>
          <a:xfrm>
            <a:off x="6381750" y="2914650"/>
            <a:ext cx="2095500" cy="5905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Git</a:t>
            </a:r>
          </a:p>
        </p:txBody>
      </p:sp>
      <p:sp>
        <p:nvSpPr>
          <p:cNvPr id="13" name="p11-3">
            <a:extLst>
              <a:ext uri="{FF2B5EF4-FFF2-40B4-BE49-F238E27FC236}">
                <a16:creationId xmlns:a16="http://schemas.microsoft.com/office/drawing/2014/main" id="{D1879D3C-031E-42C8-A6B1-1BD9B054A4F8}"/>
              </a:ext>
            </a:extLst>
          </p:cNvPr>
          <p:cNvSpPr>
            <a:spLocks noGrp="1"/>
          </p:cNvSpPr>
          <p:nvPr/>
        </p:nvSpPr>
        <p:spPr>
          <a:xfrm>
            <a:off x="8763000" y="2914650"/>
            <a:ext cx="2095500" cy="5905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命令行</a:t>
            </a:r>
          </a:p>
        </p:txBody>
      </p:sp>
      <p:sp>
        <p:nvSpPr>
          <p:cNvPr id="14" name="p11-4">
            <a:extLst>
              <a:ext uri="{FF2B5EF4-FFF2-40B4-BE49-F238E27FC236}">
                <a16:creationId xmlns:a16="http://schemas.microsoft.com/office/drawing/2014/main" id="{686E5558-552A-4C05-8939-5D20B8E8A192}"/>
              </a:ext>
            </a:extLst>
          </p:cNvPr>
          <p:cNvSpPr>
            <a:spLocks noGrp="1"/>
          </p:cNvSpPr>
          <p:nvPr/>
        </p:nvSpPr>
        <p:spPr>
          <a:xfrm>
            <a:off x="6381750" y="3790950"/>
            <a:ext cx="2095500" cy="590550"/>
          </a:xfrm>
          <a:prstGeom prst="rect">
            <a:avLst/>
          </a:prstGeom>
          <a:solidFill>
            <a:srgbClr val="F8E9EA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英文论文阅读</a:t>
            </a:r>
          </a:p>
        </p:txBody>
      </p:sp>
      <p:sp>
        <p:nvSpPr>
          <p:cNvPr id="15" name="p11-risk">
            <a:extLst>
              <a:ext uri="{FF2B5EF4-FFF2-40B4-BE49-F238E27FC236}">
                <a16:creationId xmlns:a16="http://schemas.microsoft.com/office/drawing/2014/main" id="{F80BB3AD-2BD4-46EC-97FE-368030D39656}"/>
              </a:ext>
            </a:extLst>
          </p:cNvPr>
          <p:cNvSpPr>
            <a:spLocks noGrp="1"/>
          </p:cNvSpPr>
          <p:nvPr/>
        </p:nvSpPr>
        <p:spPr>
          <a:xfrm>
            <a:off x="2476500" y="5219700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0">
                <a:solidFill>
                  <a:srgbClr val="667684"/>
                </a:solidFill>
              </a:defRPr>
            </a:pPr>
            <a:r>
              <a:rPr sz="150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环境问题请在退出卡报告；课堂不逐台安装。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正式项目个人完成，同伴组只提供反馈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4DB16885-0D3F-A391-B669-3211DB3B26E8}" type="slidenum">
              <a:t>12</a:t>
            </a:fld>
            <a:endParaRPr/>
          </a:p>
        </p:txBody>
      </p:sp>
      <p:sp>
        <p:nvSpPr>
          <p:cNvPr id="6" name="p12-one">
            <a:extLst>
              <a:ext uri="{FF2B5EF4-FFF2-40B4-BE49-F238E27FC236}">
                <a16:creationId xmlns:a16="http://schemas.microsoft.com/office/drawing/2014/main" id="{B3E56D75-2F0F-4A50-8E9C-E10B9A606EF7}"/>
              </a:ext>
            </a:extLst>
          </p:cNvPr>
          <p:cNvSpPr>
            <a:spLocks noGrp="1"/>
          </p:cNvSpPr>
          <p:nvPr/>
        </p:nvSpPr>
        <p:spPr>
          <a:xfrm>
            <a:off x="914400" y="1181100"/>
            <a:ext cx="4572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550" b="1">
                <a:solidFill>
                  <a:srgbClr val="C8161E"/>
                </a:solidFill>
              </a:defRPr>
            </a:pPr>
            <a:r>
              <a:rPr sz="25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每人一个项目</a:t>
            </a:r>
          </a:p>
        </p:txBody>
      </p:sp>
      <p:sp>
        <p:nvSpPr>
          <p:cNvPr id="7" name="p12-one-items">
            <a:extLst>
              <a:ext uri="{FF2B5EF4-FFF2-40B4-BE49-F238E27FC236}">
                <a16:creationId xmlns:a16="http://schemas.microsoft.com/office/drawing/2014/main" id="{C4F3DB37-D36D-48DE-B4A5-35797B1E2C0E}"/>
              </a:ext>
            </a:extLst>
          </p:cNvPr>
          <p:cNvSpPr>
            <a:spLocks noGrp="1"/>
          </p:cNvSpPr>
          <p:nvPr/>
        </p:nvSpPr>
        <p:spPr>
          <a:xfrm>
            <a:off x="1200150" y="2000250"/>
            <a:ext cx="4000500" cy="2381250"/>
          </a:xfrm>
          <a:prstGeom prst="rect">
            <a:avLst/>
          </a:prstGeom>
          <a:solidFill>
            <a:srgbClr val="F8E9EA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lnSpc>
                <a:spcPct val="130000"/>
              </a:lnSpc>
              <a:buNone/>
              <a:defRPr sz="2025" b="1">
                <a:solidFill>
                  <a:srgbClr val="263746"/>
                </a:solidFill>
              </a:defRPr>
            </a:pPr>
            <a:r>
              <a:rPr sz="20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独立问题</a:t>
            </a:r>
          </a:p>
          <a:p>
            <a:pPr algn="ctr">
              <a:lnSpc>
                <a:spcPct val="130000"/>
              </a:lnSpc>
              <a:buNone/>
              <a:defRPr sz="2025" b="1">
                <a:solidFill>
                  <a:srgbClr val="263746"/>
                </a:solidFill>
              </a:defRPr>
            </a:pPr>
            <a:r>
              <a:rPr sz="20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独立证据与判断</a:t>
            </a:r>
          </a:p>
          <a:p>
            <a:pPr algn="ctr">
              <a:lnSpc>
                <a:spcPct val="130000"/>
              </a:lnSpc>
              <a:buNone/>
              <a:defRPr sz="2025" b="1">
                <a:solidFill>
                  <a:srgbClr val="263746"/>
                </a:solidFill>
              </a:defRPr>
            </a:pPr>
            <a:r>
              <a:rPr sz="20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独立 Agent Workflow</a:t>
            </a:r>
          </a:p>
          <a:p>
            <a:pPr algn="ctr">
              <a:lnSpc>
                <a:spcPct val="130000"/>
              </a:lnSpc>
              <a:buNone/>
              <a:defRPr sz="2025" b="1">
                <a:solidFill>
                  <a:srgbClr val="263746"/>
                </a:solidFill>
              </a:defRPr>
            </a:pPr>
            <a:r>
              <a:rPr sz="20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独立提交与答辩</a:t>
            </a:r>
          </a:p>
        </p:txBody>
      </p:sp>
      <p:sp>
        <p:nvSpPr>
          <p:cNvPr id="8" name="p12-arrow">
            <a:extLst>
              <a:ext uri="{FF2B5EF4-FFF2-40B4-BE49-F238E27FC236}">
                <a16:creationId xmlns:a16="http://schemas.microsoft.com/office/drawing/2014/main" id="{521A02C7-9BD3-44E5-8570-9F728A035DC1}"/>
              </a:ext>
            </a:extLst>
          </p:cNvPr>
          <p:cNvSpPr>
            <a:spLocks noGrp="1"/>
          </p:cNvSpPr>
          <p:nvPr/>
        </p:nvSpPr>
        <p:spPr>
          <a:xfrm>
            <a:off x="4895850" y="2800350"/>
            <a:ext cx="24003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667684"/>
                </a:solidFill>
              </a:defRPr>
            </a:pPr>
            <a:r>
              <a:rPr sz="165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← 反馈，不代写 →</a:t>
            </a:r>
          </a:p>
        </p:txBody>
      </p:sp>
      <p:sp>
        <p:nvSpPr>
          <p:cNvPr id="9" name="p12-peer">
            <a:extLst>
              <a:ext uri="{FF2B5EF4-FFF2-40B4-BE49-F238E27FC236}">
                <a16:creationId xmlns:a16="http://schemas.microsoft.com/office/drawing/2014/main" id="{BE8E740B-4D2A-4E44-BB21-8D192D1F1AE2}"/>
              </a:ext>
            </a:extLst>
          </p:cNvPr>
          <p:cNvSpPr>
            <a:spLocks noGrp="1"/>
          </p:cNvSpPr>
          <p:nvPr/>
        </p:nvSpPr>
        <p:spPr>
          <a:xfrm>
            <a:off x="7086600" y="118110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550" b="1">
                <a:solidFill>
                  <a:srgbClr val="18354E"/>
                </a:solidFill>
              </a:defRPr>
            </a:pPr>
            <a:r>
              <a:rPr sz="25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3–4 人固定同伴组</a:t>
            </a:r>
          </a:p>
        </p:txBody>
      </p:sp>
      <p:sp>
        <p:nvSpPr>
          <p:cNvPr id="10" name="p12-peer-items">
            <a:extLst>
              <a:ext uri="{FF2B5EF4-FFF2-40B4-BE49-F238E27FC236}">
                <a16:creationId xmlns:a16="http://schemas.microsoft.com/office/drawing/2014/main" id="{21BBCAEB-152F-40D7-A77E-973482160A79}"/>
              </a:ext>
            </a:extLst>
          </p:cNvPr>
          <p:cNvSpPr>
            <a:spLocks noGrp="1"/>
          </p:cNvSpPr>
          <p:nvPr/>
        </p:nvSpPr>
        <p:spPr>
          <a:xfrm>
            <a:off x="7429500" y="2000250"/>
            <a:ext cx="3581400" cy="2381250"/>
          </a:xfrm>
          <a:prstGeom prst="rect">
            <a:avLst/>
          </a:prstGeom>
          <a:solidFill>
            <a:srgbClr val="E8F0F6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lnSpc>
                <a:spcPct val="130000"/>
              </a:lnSpc>
              <a:buNone/>
              <a:defRPr sz="2175" b="1">
                <a:solidFill>
                  <a:srgbClr val="18354E"/>
                </a:solidFill>
              </a:defRPr>
            </a:pPr>
            <a:r>
              <a:rPr sz="21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分享</a:t>
            </a:r>
          </a:p>
          <a:p>
            <a:pPr algn="ctr">
              <a:lnSpc>
                <a:spcPct val="130000"/>
              </a:lnSpc>
              <a:buNone/>
              <a:defRPr sz="2175" b="1">
                <a:solidFill>
                  <a:srgbClr val="18354E"/>
                </a:solidFill>
              </a:defRPr>
            </a:pPr>
            <a:r>
              <a:rPr sz="21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互查</a:t>
            </a:r>
          </a:p>
          <a:p>
            <a:pPr algn="ctr">
              <a:lnSpc>
                <a:spcPct val="130000"/>
              </a:lnSpc>
              <a:buNone/>
              <a:defRPr sz="2175" b="1">
                <a:solidFill>
                  <a:srgbClr val="18354E"/>
                </a:solidFill>
              </a:defRPr>
            </a:pPr>
            <a:r>
              <a:rPr sz="21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同行评审</a:t>
            </a:r>
          </a:p>
        </p:txBody>
      </p:sp>
      <p:sp>
        <p:nvSpPr>
          <p:cNvPr id="11" name="p12-bottom">
            <a:extLst>
              <a:ext uri="{FF2B5EF4-FFF2-40B4-BE49-F238E27FC236}">
                <a16:creationId xmlns:a16="http://schemas.microsoft.com/office/drawing/2014/main" id="{EDB03DEC-B40F-4DE0-A2CC-B515E66AD140}"/>
              </a:ext>
            </a:extLst>
          </p:cNvPr>
          <p:cNvSpPr>
            <a:spLocks noGrp="1"/>
          </p:cNvSpPr>
          <p:nvPr/>
        </p:nvSpPr>
        <p:spPr>
          <a:xfrm>
            <a:off x="3333750" y="4953000"/>
            <a:ext cx="552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作者保留最终判断与提交责任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评分看四种能力，不看 AI 使用量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2DD23107-4986-8758-3A93-3D74F35908CC}" type="slidenum">
              <a:t>13</a:t>
            </a:fld>
            <a:endParaRPr/>
          </a:p>
        </p:txBody>
      </p:sp>
      <p:sp>
        <p:nvSpPr>
          <p:cNvPr id="6" name="p13-p-0">
            <a:extLst>
              <a:ext uri="{FF2B5EF4-FFF2-40B4-BE49-F238E27FC236}">
                <a16:creationId xmlns:a16="http://schemas.microsoft.com/office/drawing/2014/main" id="{6075E997-BBC3-4F5C-A217-19AE0BABB8E2}"/>
              </a:ext>
            </a:extLst>
          </p:cNvPr>
          <p:cNvSpPr>
            <a:spLocks noGrp="1"/>
          </p:cNvSpPr>
          <p:nvPr/>
        </p:nvSpPr>
        <p:spPr>
          <a:xfrm>
            <a:off x="742950" y="1200150"/>
            <a:ext cx="1066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r">
              <a:defRPr sz="2550" b="1">
                <a:solidFill>
                  <a:srgbClr val="2F638A"/>
                </a:solidFill>
              </a:defRPr>
            </a:pPr>
            <a:r>
              <a:rPr sz="2550" b="1">
                <a:solidFill>
                  <a:srgbClr val="2F638A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7" name="p13-bg-0">
            <a:extLst>
              <a:ext uri="{FF2B5EF4-FFF2-40B4-BE49-F238E27FC236}">
                <a16:creationId xmlns:a16="http://schemas.microsoft.com/office/drawing/2014/main" id="{2AEE69B5-0E61-4C2E-9172-6D123096F11A}"/>
              </a:ext>
            </a:extLst>
          </p:cNvPr>
          <p:cNvSpPr>
            <a:spLocks noGrp="1"/>
          </p:cNvSpPr>
          <p:nvPr/>
        </p:nvSpPr>
        <p:spPr>
          <a:xfrm>
            <a:off x="2114550" y="1295400"/>
            <a:ext cx="6572250" cy="3619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</p:sp>
      <p:sp>
        <p:nvSpPr>
          <p:cNvPr id="8" name="p13-bar-0">
            <a:extLst>
              <a:ext uri="{FF2B5EF4-FFF2-40B4-BE49-F238E27FC236}">
                <a16:creationId xmlns:a16="http://schemas.microsoft.com/office/drawing/2014/main" id="{F3AB9DAC-4193-45C6-A2EC-FC76B9500A46}"/>
              </a:ext>
            </a:extLst>
          </p:cNvPr>
          <p:cNvSpPr>
            <a:spLocks noGrp="1"/>
          </p:cNvSpPr>
          <p:nvPr/>
        </p:nvSpPr>
        <p:spPr>
          <a:xfrm>
            <a:off x="2114550" y="1295400"/>
            <a:ext cx="5476875" cy="361950"/>
          </a:xfrm>
          <a:prstGeom prst="rect">
            <a:avLst/>
          </a:prstGeom>
          <a:solidFill>
            <a:srgbClr val="2F638A"/>
          </a:solidFill>
          <a:ln w="0">
            <a:noFill/>
            <a:prstDash val="solid"/>
          </a:ln>
        </p:spPr>
      </p:sp>
      <p:sp>
        <p:nvSpPr>
          <p:cNvPr id="9" name="p13-l-0">
            <a:extLst>
              <a:ext uri="{FF2B5EF4-FFF2-40B4-BE49-F238E27FC236}">
                <a16:creationId xmlns:a16="http://schemas.microsoft.com/office/drawing/2014/main" id="{2FEBED9A-9075-4C1F-8EAE-904D752BC72A}"/>
              </a:ext>
            </a:extLst>
          </p:cNvPr>
          <p:cNvSpPr>
            <a:spLocks noGrp="1"/>
          </p:cNvSpPr>
          <p:nvPr/>
        </p:nvSpPr>
        <p:spPr>
          <a:xfrm>
            <a:off x="8915400" y="1200150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文献与问题定位</a:t>
            </a:r>
          </a:p>
        </p:txBody>
      </p:sp>
      <p:sp>
        <p:nvSpPr>
          <p:cNvPr id="10" name="p13-p-1">
            <a:extLst>
              <a:ext uri="{FF2B5EF4-FFF2-40B4-BE49-F238E27FC236}">
                <a16:creationId xmlns:a16="http://schemas.microsoft.com/office/drawing/2014/main" id="{7184E9BA-A8CD-4EC7-B8D3-4E59AE594039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1066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r">
              <a:defRPr sz="2550" b="1">
                <a:solidFill>
                  <a:srgbClr val="C8161E"/>
                </a:solidFill>
              </a:defRPr>
            </a:pPr>
            <a:r>
              <a:rPr sz="25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1" name="p13-bg-1">
            <a:extLst>
              <a:ext uri="{FF2B5EF4-FFF2-40B4-BE49-F238E27FC236}">
                <a16:creationId xmlns:a16="http://schemas.microsoft.com/office/drawing/2014/main" id="{594F060F-9159-4D46-AB17-2CBF4D201238}"/>
              </a:ext>
            </a:extLst>
          </p:cNvPr>
          <p:cNvSpPr>
            <a:spLocks noGrp="1"/>
          </p:cNvSpPr>
          <p:nvPr/>
        </p:nvSpPr>
        <p:spPr>
          <a:xfrm>
            <a:off x="2114550" y="2133600"/>
            <a:ext cx="6572250" cy="3619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</p:sp>
      <p:sp>
        <p:nvSpPr>
          <p:cNvPr id="12" name="p13-bar-1">
            <a:extLst>
              <a:ext uri="{FF2B5EF4-FFF2-40B4-BE49-F238E27FC236}">
                <a16:creationId xmlns:a16="http://schemas.microsoft.com/office/drawing/2014/main" id="{367D2445-1811-4D94-8EA7-3B9A6B924E1D}"/>
              </a:ext>
            </a:extLst>
          </p:cNvPr>
          <p:cNvSpPr>
            <a:spLocks noGrp="1"/>
          </p:cNvSpPr>
          <p:nvPr/>
        </p:nvSpPr>
        <p:spPr>
          <a:xfrm>
            <a:off x="2114550" y="2133600"/>
            <a:ext cx="6572250" cy="361950"/>
          </a:xfrm>
          <a:prstGeom prst="rect">
            <a:avLst/>
          </a:prstGeom>
          <a:solidFill>
            <a:srgbClr val="C8161E"/>
          </a:solidFill>
          <a:ln w="0">
            <a:noFill/>
            <a:prstDash val="solid"/>
          </a:ln>
        </p:spPr>
      </p:sp>
      <p:sp>
        <p:nvSpPr>
          <p:cNvPr id="13" name="p13-l-1">
            <a:extLst>
              <a:ext uri="{FF2B5EF4-FFF2-40B4-BE49-F238E27FC236}">
                <a16:creationId xmlns:a16="http://schemas.microsoft.com/office/drawing/2014/main" id="{D888B66E-4FBD-4127-9A84-B949D968AC35}"/>
              </a:ext>
            </a:extLst>
          </p:cNvPr>
          <p:cNvSpPr>
            <a:spLocks noGrp="1"/>
          </p:cNvSpPr>
          <p:nvPr/>
        </p:nvSpPr>
        <p:spPr>
          <a:xfrm>
            <a:off x="8915400" y="2038350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实验设计与可复现性</a:t>
            </a:r>
          </a:p>
        </p:txBody>
      </p:sp>
      <p:sp>
        <p:nvSpPr>
          <p:cNvPr id="14" name="p13-p-2">
            <a:extLst>
              <a:ext uri="{FF2B5EF4-FFF2-40B4-BE49-F238E27FC236}">
                <a16:creationId xmlns:a16="http://schemas.microsoft.com/office/drawing/2014/main" id="{B66EC657-A130-4FFA-9396-336AAC6028B4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1066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r">
              <a:defRPr sz="2550" b="1">
                <a:solidFill>
                  <a:srgbClr val="28745A"/>
                </a:solidFill>
              </a:defRPr>
            </a:pPr>
            <a:r>
              <a:rPr sz="2550" b="1">
                <a:solidFill>
                  <a:srgbClr val="28745A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15" name="p13-bg-2">
            <a:extLst>
              <a:ext uri="{FF2B5EF4-FFF2-40B4-BE49-F238E27FC236}">
                <a16:creationId xmlns:a16="http://schemas.microsoft.com/office/drawing/2014/main" id="{150DAF40-6E97-4257-AF28-97E78CDCA5C4}"/>
              </a:ext>
            </a:extLst>
          </p:cNvPr>
          <p:cNvSpPr>
            <a:spLocks noGrp="1"/>
          </p:cNvSpPr>
          <p:nvPr/>
        </p:nvSpPr>
        <p:spPr>
          <a:xfrm>
            <a:off x="2114550" y="2971800"/>
            <a:ext cx="6572250" cy="3619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</p:sp>
      <p:sp>
        <p:nvSpPr>
          <p:cNvPr id="16" name="p13-bar-2">
            <a:extLst>
              <a:ext uri="{FF2B5EF4-FFF2-40B4-BE49-F238E27FC236}">
                <a16:creationId xmlns:a16="http://schemas.microsoft.com/office/drawing/2014/main" id="{7A84829C-1DBE-4E5E-AA91-D2A367C4450E}"/>
              </a:ext>
            </a:extLst>
          </p:cNvPr>
          <p:cNvSpPr>
            <a:spLocks noGrp="1"/>
          </p:cNvSpPr>
          <p:nvPr/>
        </p:nvSpPr>
        <p:spPr>
          <a:xfrm>
            <a:off x="2114550" y="2971800"/>
            <a:ext cx="5476875" cy="361950"/>
          </a:xfrm>
          <a:prstGeom prst="rect">
            <a:avLst/>
          </a:prstGeom>
          <a:solidFill>
            <a:srgbClr val="28745A"/>
          </a:solidFill>
          <a:ln w="0">
            <a:noFill/>
            <a:prstDash val="solid"/>
          </a:ln>
        </p:spPr>
      </p:sp>
      <p:sp>
        <p:nvSpPr>
          <p:cNvPr id="17" name="p13-l-2">
            <a:extLst>
              <a:ext uri="{FF2B5EF4-FFF2-40B4-BE49-F238E27FC236}">
                <a16:creationId xmlns:a16="http://schemas.microsoft.com/office/drawing/2014/main" id="{F1804757-D0C9-4287-8E0C-51398CC68E8E}"/>
              </a:ext>
            </a:extLst>
          </p:cNvPr>
          <p:cNvSpPr>
            <a:spLocks noGrp="1"/>
          </p:cNvSpPr>
          <p:nvPr/>
        </p:nvSpPr>
        <p:spPr>
          <a:xfrm>
            <a:off x="8915400" y="2876550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原型与 Agent Workflow 实践</a:t>
            </a:r>
          </a:p>
        </p:txBody>
      </p:sp>
      <p:sp>
        <p:nvSpPr>
          <p:cNvPr id="18" name="p13-p-3">
            <a:extLst>
              <a:ext uri="{FF2B5EF4-FFF2-40B4-BE49-F238E27FC236}">
                <a16:creationId xmlns:a16="http://schemas.microsoft.com/office/drawing/2014/main" id="{1D0CE5FD-500D-47C4-A317-157B063C97C6}"/>
              </a:ext>
            </a:extLst>
          </p:cNvPr>
          <p:cNvSpPr>
            <a:spLocks noGrp="1"/>
          </p:cNvSpPr>
          <p:nvPr/>
        </p:nvSpPr>
        <p:spPr>
          <a:xfrm>
            <a:off x="742950" y="3714750"/>
            <a:ext cx="1066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r">
              <a:defRPr sz="2550" b="1">
                <a:solidFill>
                  <a:srgbClr val="A86C12"/>
                </a:solidFill>
              </a:defRPr>
            </a:pPr>
            <a:r>
              <a:rPr sz="2550" b="1">
                <a:solidFill>
                  <a:srgbClr val="A86C12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9" name="p13-bg-3">
            <a:extLst>
              <a:ext uri="{FF2B5EF4-FFF2-40B4-BE49-F238E27FC236}">
                <a16:creationId xmlns:a16="http://schemas.microsoft.com/office/drawing/2014/main" id="{EE935210-5CF7-4F73-9480-90BE866349BF}"/>
              </a:ext>
            </a:extLst>
          </p:cNvPr>
          <p:cNvSpPr>
            <a:spLocks noGrp="1"/>
          </p:cNvSpPr>
          <p:nvPr/>
        </p:nvSpPr>
        <p:spPr>
          <a:xfrm>
            <a:off x="2114550" y="3810000"/>
            <a:ext cx="6572250" cy="3619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</p:sp>
      <p:sp>
        <p:nvSpPr>
          <p:cNvPr id="20" name="p13-bar-3">
            <a:extLst>
              <a:ext uri="{FF2B5EF4-FFF2-40B4-BE49-F238E27FC236}">
                <a16:creationId xmlns:a16="http://schemas.microsoft.com/office/drawing/2014/main" id="{39FB7271-CBA4-47DE-8DB4-E753CCA580F8}"/>
              </a:ext>
            </a:extLst>
          </p:cNvPr>
          <p:cNvSpPr>
            <a:spLocks noGrp="1"/>
          </p:cNvSpPr>
          <p:nvPr/>
        </p:nvSpPr>
        <p:spPr>
          <a:xfrm>
            <a:off x="2114550" y="3810000"/>
            <a:ext cx="4381500" cy="361950"/>
          </a:xfrm>
          <a:prstGeom prst="rect">
            <a:avLst/>
          </a:prstGeom>
          <a:solidFill>
            <a:srgbClr val="A86C12"/>
          </a:solidFill>
          <a:ln w="0">
            <a:noFill/>
            <a:prstDash val="solid"/>
          </a:ln>
        </p:spPr>
      </p:sp>
      <p:sp>
        <p:nvSpPr>
          <p:cNvPr id="21" name="p13-l-3">
            <a:extLst>
              <a:ext uri="{FF2B5EF4-FFF2-40B4-BE49-F238E27FC236}">
                <a16:creationId xmlns:a16="http://schemas.microsoft.com/office/drawing/2014/main" id="{E40FBA7D-0097-4690-9D52-41AB077EB067}"/>
              </a:ext>
            </a:extLst>
          </p:cNvPr>
          <p:cNvSpPr>
            <a:spLocks noGrp="1"/>
          </p:cNvSpPr>
          <p:nvPr/>
        </p:nvSpPr>
        <p:spPr>
          <a:xfrm>
            <a:off x="8915400" y="3714750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表达、伦理与复盘</a:t>
            </a:r>
          </a:p>
        </p:txBody>
      </p:sp>
      <p:sp>
        <p:nvSpPr>
          <p:cNvPr id="22" name="p13-rule">
            <a:extLst>
              <a:ext uri="{FF2B5EF4-FFF2-40B4-BE49-F238E27FC236}">
                <a16:creationId xmlns:a16="http://schemas.microsoft.com/office/drawing/2014/main" id="{CCDC8518-7313-475C-918B-175BC666BF21}"/>
              </a:ext>
            </a:extLst>
          </p:cNvPr>
          <p:cNvSpPr>
            <a:spLocks noGrp="1"/>
          </p:cNvSpPr>
          <p:nvPr/>
        </p:nvSpPr>
        <p:spPr>
          <a:xfrm>
            <a:off x="1524000" y="4705350"/>
            <a:ext cx="914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950" b="1">
                <a:solidFill>
                  <a:srgbClr val="C8161E"/>
                </a:solidFill>
              </a:defRPr>
            </a:pPr>
            <a:r>
              <a:rPr sz="19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不按 AI 使用多少评分，只评价核验与研究质量。</a:t>
            </a:r>
          </a:p>
        </p:txBody>
      </p:sp>
      <p:sp>
        <p:nvSpPr>
          <p:cNvPr id="23" name="p13-gates">
            <a:extLst>
              <a:ext uri="{FF2B5EF4-FFF2-40B4-BE49-F238E27FC236}">
                <a16:creationId xmlns:a16="http://schemas.microsoft.com/office/drawing/2014/main" id="{CA91A806-F936-42F9-A979-950F3CB49CF5}"/>
              </a:ext>
            </a:extLst>
          </p:cNvPr>
          <p:cNvSpPr>
            <a:spLocks noGrp="1"/>
          </p:cNvSpPr>
          <p:nvPr/>
        </p:nvSpPr>
        <p:spPr>
          <a:xfrm>
            <a:off x="1200150" y="52959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275" b="0">
                <a:solidFill>
                  <a:srgbClr val="667684"/>
                </a:solidFill>
              </a:defRPr>
            </a:pPr>
            <a:r>
              <a:rPr sz="1275" b="0">
                <a:solidFill>
                  <a:srgbClr val="667684"/>
                </a:solidFill>
                <a:latin typeface="Arial"/>
                <a:ea typeface="Arial"/>
                <a:cs typeface="Arial"/>
              </a:rPr>
              <a:t>W6 问题门   ·   W9 判断门   ·   W13 验证门   ·   W16 论证门 + 最终项目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所有记录进入同一个项目，不另设周作业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327921A4-25C4-3DB4-06B1-32693CEE2241}" type="slidenum">
              <a:t>14</a:t>
            </a:fld>
            <a:endParaRPr/>
          </a:p>
        </p:txBody>
      </p:sp>
      <p:sp>
        <p:nvSpPr>
          <p:cNvPr id="6" name="p14-ne">
            <a:extLst>
              <a:ext uri="{FF2B5EF4-FFF2-40B4-BE49-F238E27FC236}">
                <a16:creationId xmlns:a16="http://schemas.microsoft.com/office/drawing/2014/main" id="{B37679E9-290B-4441-967C-00D153025331}"/>
              </a:ext>
            </a:extLst>
          </p:cNvPr>
          <p:cNvSpPr>
            <a:spLocks noGrp="1"/>
          </p:cNvSpPr>
          <p:nvPr/>
        </p:nvSpPr>
        <p:spPr>
          <a:xfrm>
            <a:off x="2266950" y="1295400"/>
            <a:ext cx="7658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850" b="1">
                <a:solidFill>
                  <a:srgbClr val="C8161E"/>
                </a:solidFill>
              </a:defRPr>
            </a:pPr>
            <a:r>
              <a:rPr sz="28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课堂练习  ≠  每周正式作业</a:t>
            </a:r>
          </a:p>
        </p:txBody>
      </p:sp>
      <p:sp>
        <p:nvSpPr>
          <p:cNvPr id="7" name="p14-dot-0">
            <a:extLst>
              <a:ext uri="{FF2B5EF4-FFF2-40B4-BE49-F238E27FC236}">
                <a16:creationId xmlns:a16="http://schemas.microsoft.com/office/drawing/2014/main" id="{A7F73008-4B25-4841-A126-68819928CB69}"/>
              </a:ext>
            </a:extLst>
          </p:cNvPr>
          <p:cNvSpPr>
            <a:spLocks noGrp="1"/>
          </p:cNvSpPr>
          <p:nvPr/>
        </p:nvSpPr>
        <p:spPr>
          <a:xfrm>
            <a:off x="1885950" y="2552700"/>
            <a:ext cx="228600" cy="228600"/>
          </a:xfrm>
          <a:prstGeom prst="ellipse">
            <a:avLst/>
          </a:prstGeom>
          <a:solidFill>
            <a:srgbClr val="18354E"/>
          </a:solidFill>
          <a:ln w="0">
            <a:noFill/>
            <a:prstDash val="solid"/>
          </a:ln>
        </p:spPr>
      </p:sp>
      <p:sp>
        <p:nvSpPr>
          <p:cNvPr id="8" name="p14-item-0">
            <a:extLst>
              <a:ext uri="{FF2B5EF4-FFF2-40B4-BE49-F238E27FC236}">
                <a16:creationId xmlns:a16="http://schemas.microsoft.com/office/drawing/2014/main" id="{1C71D161-9F9D-4F43-9A91-BEA60ED5DBC1}"/>
              </a:ext>
            </a:extLst>
          </p:cNvPr>
          <p:cNvSpPr>
            <a:spLocks noGrp="1"/>
          </p:cNvSpPr>
          <p:nvPr/>
        </p:nvSpPr>
        <p:spPr>
          <a:xfrm>
            <a:off x="2343150" y="2457450"/>
            <a:ext cx="790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练习持续回写个人项目</a:t>
            </a:r>
          </a:p>
        </p:txBody>
      </p:sp>
      <p:sp>
        <p:nvSpPr>
          <p:cNvPr id="9" name="p14-dot-1">
            <a:extLst>
              <a:ext uri="{FF2B5EF4-FFF2-40B4-BE49-F238E27FC236}">
                <a16:creationId xmlns:a16="http://schemas.microsoft.com/office/drawing/2014/main" id="{78EBD965-0B52-4615-A993-A30A5F72DC2C}"/>
              </a:ext>
            </a:extLst>
          </p:cNvPr>
          <p:cNvSpPr>
            <a:spLocks noGrp="1"/>
          </p:cNvSpPr>
          <p:nvPr/>
        </p:nvSpPr>
        <p:spPr>
          <a:xfrm>
            <a:off x="1885950" y="3219450"/>
            <a:ext cx="228600" cy="228600"/>
          </a:xfrm>
          <a:prstGeom prst="ellipse">
            <a:avLst/>
          </a:prstGeom>
          <a:solidFill>
            <a:srgbClr val="18354E"/>
          </a:solidFill>
          <a:ln w="0">
            <a:noFill/>
            <a:prstDash val="solid"/>
          </a:ln>
        </p:spPr>
      </p:sp>
      <p:sp>
        <p:nvSpPr>
          <p:cNvPr id="10" name="p14-item-1">
            <a:extLst>
              <a:ext uri="{FF2B5EF4-FFF2-40B4-BE49-F238E27FC236}">
                <a16:creationId xmlns:a16="http://schemas.microsoft.com/office/drawing/2014/main" id="{48E40C4A-BE2B-442B-B365-04AE5BEDAD38}"/>
              </a:ext>
            </a:extLst>
          </p:cNvPr>
          <p:cNvSpPr>
            <a:spLocks noGrp="1"/>
          </p:cNvSpPr>
          <p:nvPr/>
        </p:nvSpPr>
        <p:spPr>
          <a:xfrm>
            <a:off x="2343150" y="3124200"/>
            <a:ext cx="790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核心阅读不逐周提交</a:t>
            </a:r>
          </a:p>
        </p:txBody>
      </p:sp>
      <p:sp>
        <p:nvSpPr>
          <p:cNvPr id="11" name="p14-dot-2">
            <a:extLst>
              <a:ext uri="{FF2B5EF4-FFF2-40B4-BE49-F238E27FC236}">
                <a16:creationId xmlns:a16="http://schemas.microsoft.com/office/drawing/2014/main" id="{3CDCD904-D3D3-4A4E-813A-5A16DE118D9F}"/>
              </a:ext>
            </a:extLst>
          </p:cNvPr>
          <p:cNvSpPr>
            <a:spLocks noGrp="1"/>
          </p:cNvSpPr>
          <p:nvPr/>
        </p:nvSpPr>
        <p:spPr>
          <a:xfrm>
            <a:off x="1885950" y="3886200"/>
            <a:ext cx="228600" cy="228600"/>
          </a:xfrm>
          <a:prstGeom prst="ellipse">
            <a:avLst/>
          </a:prstGeom>
          <a:solidFill>
            <a:srgbClr val="C8161E"/>
          </a:solidFill>
          <a:ln w="0">
            <a:noFill/>
            <a:prstDash val="solid"/>
          </a:ln>
        </p:spPr>
      </p:sp>
      <p:sp>
        <p:nvSpPr>
          <p:cNvPr id="12" name="p14-item-2">
            <a:extLst>
              <a:ext uri="{FF2B5EF4-FFF2-40B4-BE49-F238E27FC236}">
                <a16:creationId xmlns:a16="http://schemas.microsoft.com/office/drawing/2014/main" id="{8D42F467-CA5C-4128-BE1F-F942C9B53FCC}"/>
              </a:ext>
            </a:extLst>
          </p:cNvPr>
          <p:cNvSpPr>
            <a:spLocks noGrp="1"/>
          </p:cNvSpPr>
          <p:nvPr/>
        </p:nvSpPr>
        <p:spPr>
          <a:xfrm>
            <a:off x="2343150" y="3790950"/>
            <a:ext cx="790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四个研究门统一检查成熟度</a:t>
            </a:r>
          </a:p>
        </p:txBody>
      </p:sp>
      <p:sp>
        <p:nvSpPr>
          <p:cNvPr id="13" name="p14-dot-3">
            <a:extLst>
              <a:ext uri="{FF2B5EF4-FFF2-40B4-BE49-F238E27FC236}">
                <a16:creationId xmlns:a16="http://schemas.microsoft.com/office/drawing/2014/main" id="{349A5FF6-8A98-46D9-AEFB-C3CF639E2139}"/>
              </a:ext>
            </a:extLst>
          </p:cNvPr>
          <p:cNvSpPr>
            <a:spLocks noGrp="1"/>
          </p:cNvSpPr>
          <p:nvPr/>
        </p:nvSpPr>
        <p:spPr>
          <a:xfrm>
            <a:off x="1885950" y="4552950"/>
            <a:ext cx="228600" cy="228600"/>
          </a:xfrm>
          <a:prstGeom prst="ellipse">
            <a:avLst/>
          </a:prstGeom>
          <a:solidFill>
            <a:srgbClr val="18354E"/>
          </a:solidFill>
          <a:ln w="0">
            <a:noFill/>
            <a:prstDash val="solid"/>
          </a:ln>
        </p:spPr>
      </p:sp>
      <p:sp>
        <p:nvSpPr>
          <p:cNvPr id="14" name="p14-item-3">
            <a:extLst>
              <a:ext uri="{FF2B5EF4-FFF2-40B4-BE49-F238E27FC236}">
                <a16:creationId xmlns:a16="http://schemas.microsoft.com/office/drawing/2014/main" id="{686FBF4F-CF3E-4866-A4C2-38CA4223B3D3}"/>
              </a:ext>
            </a:extLst>
          </p:cNvPr>
          <p:cNvSpPr>
            <a:spLocks noGrp="1"/>
          </p:cNvSpPr>
          <p:nvPr/>
        </p:nvSpPr>
        <p:spPr>
          <a:xfrm>
            <a:off x="2343150" y="4457700"/>
            <a:ext cx="790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首课课后阅读不单独计分</a:t>
            </a:r>
          </a:p>
        </p:txBody>
      </p:sp>
      <p:sp>
        <p:nvSpPr>
          <p:cNvPr id="15" name="p14-bottom">
            <a:extLst>
              <a:ext uri="{FF2B5EF4-FFF2-40B4-BE49-F238E27FC236}">
                <a16:creationId xmlns:a16="http://schemas.microsoft.com/office/drawing/2014/main" id="{91C44D01-6C7F-4247-A7A4-4527D2FF16B5}"/>
              </a:ext>
            </a:extLst>
          </p:cNvPr>
          <p:cNvSpPr>
            <a:spLocks noGrp="1"/>
          </p:cNvSpPr>
          <p:nvPr/>
        </p:nvSpPr>
        <p:spPr>
          <a:xfrm>
            <a:off x="3238500" y="5219700"/>
            <a:ext cx="571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0">
                <a:solidFill>
                  <a:srgbClr val="667684"/>
                </a:solidFill>
              </a:defRPr>
            </a:pPr>
            <a:r>
              <a:rPr sz="16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记录集中，成熟度分阶段检查。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OpenCode 是课堂工作平台，不是课程终点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EA83FA91-883A-0168-8075-96CEB9DCA3C2}" type="slidenum">
              <a:t>15</a:t>
            </a:fld>
            <a:endParaRPr/>
          </a:p>
        </p:txBody>
      </p:sp>
      <p:sp>
        <p:nvSpPr>
          <p:cNvPr id="6" name="p15-platform">
            <a:extLst>
              <a:ext uri="{FF2B5EF4-FFF2-40B4-BE49-F238E27FC236}">
                <a16:creationId xmlns:a16="http://schemas.microsoft.com/office/drawing/2014/main" id="{FB671F04-7329-4F70-A5ED-5F65287EE7B5}"/>
              </a:ext>
            </a:extLst>
          </p:cNvPr>
          <p:cNvSpPr>
            <a:spLocks noGrp="1"/>
          </p:cNvSpPr>
          <p:nvPr/>
        </p:nvSpPr>
        <p:spPr>
          <a:xfrm>
            <a:off x="704850" y="1200150"/>
            <a:ext cx="3238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3450" b="1">
                <a:solidFill>
                  <a:srgbClr val="C8161E"/>
                </a:solidFill>
              </a:defRPr>
            </a:pPr>
            <a:r>
              <a:rPr sz="34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OpenCode</a:t>
            </a:r>
          </a:p>
        </p:txBody>
      </p:sp>
      <p:sp>
        <p:nvSpPr>
          <p:cNvPr id="7" name="p15-role">
            <a:extLst>
              <a:ext uri="{FF2B5EF4-FFF2-40B4-BE49-F238E27FC236}">
                <a16:creationId xmlns:a16="http://schemas.microsoft.com/office/drawing/2014/main" id="{21D4465A-3B45-434D-A73D-8999A819BD32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课堂工作平台</a:t>
            </a:r>
          </a:p>
        </p:txBody>
      </p:sp>
      <p:sp>
        <p:nvSpPr>
          <p:cNvPr id="8" name="p15-not">
            <a:extLst>
              <a:ext uri="{FF2B5EF4-FFF2-40B4-BE49-F238E27FC236}">
                <a16:creationId xmlns:a16="http://schemas.microsoft.com/office/drawing/2014/main" id="{636DAA7F-A735-4050-B972-B0323476CA4A}"/>
              </a:ext>
            </a:extLst>
          </p:cNvPr>
          <p:cNvSpPr>
            <a:spLocks noGrp="1"/>
          </p:cNvSpPr>
          <p:nvPr/>
        </p:nvSpPr>
        <p:spPr>
          <a:xfrm>
            <a:off x="742950" y="26289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875" b="0">
                <a:solidFill>
                  <a:srgbClr val="667684"/>
                </a:solidFill>
              </a:defRPr>
            </a:pPr>
            <a:r>
              <a:rPr sz="1875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不是课程终点</a:t>
            </a:r>
          </a:p>
        </p:txBody>
      </p:sp>
      <p:sp>
        <p:nvSpPr>
          <p:cNvPr id="9" name="p15-divider">
            <a:extLst>
              <a:ext uri="{FF2B5EF4-FFF2-40B4-BE49-F238E27FC236}">
                <a16:creationId xmlns:a16="http://schemas.microsoft.com/office/drawing/2014/main" id="{FA7EBF20-4547-44FB-9A1C-9DF26AC1E568}"/>
              </a:ext>
            </a:extLst>
          </p:cNvPr>
          <p:cNvSpPr>
            <a:spLocks noGrp="1"/>
          </p:cNvSpPr>
          <p:nvPr/>
        </p:nvSpPr>
        <p:spPr>
          <a:xfrm rot="5400000">
            <a:off x="2314575" y="3181350"/>
            <a:ext cx="4095750" cy="19050"/>
          </a:xfrm>
          <a:prstGeom prst="rect">
            <a:avLst/>
          </a:prstGeom>
          <a:solidFill>
            <a:srgbClr val="D6DDE2"/>
          </a:solidFill>
          <a:ln w="0">
            <a:noFill/>
            <a:prstDash val="solid"/>
          </a:ln>
        </p:spPr>
      </p:sp>
      <p:sp>
        <p:nvSpPr>
          <p:cNvPr id="10" name="p15-0">
            <a:extLst>
              <a:ext uri="{FF2B5EF4-FFF2-40B4-BE49-F238E27FC236}">
                <a16:creationId xmlns:a16="http://schemas.microsoft.com/office/drawing/2014/main" id="{16FFD385-766A-4EA4-A9EA-CC0959ABD616}"/>
              </a:ext>
            </a:extLst>
          </p:cNvPr>
          <p:cNvSpPr>
            <a:spLocks noGrp="1"/>
          </p:cNvSpPr>
          <p:nvPr/>
        </p:nvSpPr>
        <p:spPr>
          <a:xfrm>
            <a:off x="4857750" y="1333500"/>
            <a:ext cx="2990850" cy="7810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任务如何表达</a:t>
            </a:r>
          </a:p>
        </p:txBody>
      </p:sp>
      <p:sp>
        <p:nvSpPr>
          <p:cNvPr id="11" name="p15-1">
            <a:extLst>
              <a:ext uri="{FF2B5EF4-FFF2-40B4-BE49-F238E27FC236}">
                <a16:creationId xmlns:a16="http://schemas.microsoft.com/office/drawing/2014/main" id="{5EED5263-6E98-4F2A-B639-5D9D2B3DB39A}"/>
              </a:ext>
            </a:extLst>
          </p:cNvPr>
          <p:cNvSpPr>
            <a:spLocks noGrp="1"/>
          </p:cNvSpPr>
          <p:nvPr/>
        </p:nvSpPr>
        <p:spPr>
          <a:xfrm>
            <a:off x="8210550" y="1333500"/>
            <a:ext cx="2990850" cy="7810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Context 如何提供</a:t>
            </a:r>
          </a:p>
        </p:txBody>
      </p:sp>
      <p:sp>
        <p:nvSpPr>
          <p:cNvPr id="12" name="p15-2">
            <a:extLst>
              <a:ext uri="{FF2B5EF4-FFF2-40B4-BE49-F238E27FC236}">
                <a16:creationId xmlns:a16="http://schemas.microsoft.com/office/drawing/2014/main" id="{83D7739A-92A4-40CC-8323-691BEF30325B}"/>
              </a:ext>
            </a:extLst>
          </p:cNvPr>
          <p:cNvSpPr>
            <a:spLocks noGrp="1"/>
          </p:cNvSpPr>
          <p:nvPr/>
        </p:nvSpPr>
        <p:spPr>
          <a:xfrm>
            <a:off x="4857750" y="2533650"/>
            <a:ext cx="2990850" cy="781050"/>
          </a:xfrm>
          <a:prstGeom prst="rect">
            <a:avLst/>
          </a:prstGeom>
          <a:solidFill>
            <a:srgbClr val="F8E9EA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工具和权限如何约束</a:t>
            </a:r>
          </a:p>
        </p:txBody>
      </p:sp>
      <p:sp>
        <p:nvSpPr>
          <p:cNvPr id="13" name="p15-3">
            <a:extLst>
              <a:ext uri="{FF2B5EF4-FFF2-40B4-BE49-F238E27FC236}">
                <a16:creationId xmlns:a16="http://schemas.microsoft.com/office/drawing/2014/main" id="{7274E296-7CA1-4E4D-93D7-E698120E0735}"/>
              </a:ext>
            </a:extLst>
          </p:cNvPr>
          <p:cNvSpPr>
            <a:spLocks noGrp="1"/>
          </p:cNvSpPr>
          <p:nvPr/>
        </p:nvSpPr>
        <p:spPr>
          <a:xfrm>
            <a:off x="8210550" y="2533650"/>
            <a:ext cx="2990850" cy="7810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文件如何变化</a:t>
            </a:r>
          </a:p>
        </p:txBody>
      </p:sp>
      <p:sp>
        <p:nvSpPr>
          <p:cNvPr id="14" name="p15-4">
            <a:extLst>
              <a:ext uri="{FF2B5EF4-FFF2-40B4-BE49-F238E27FC236}">
                <a16:creationId xmlns:a16="http://schemas.microsoft.com/office/drawing/2014/main" id="{867FA37D-6570-40FC-9344-86E713C257D3}"/>
              </a:ext>
            </a:extLst>
          </p:cNvPr>
          <p:cNvSpPr>
            <a:spLocks noGrp="1"/>
          </p:cNvSpPr>
          <p:nvPr/>
        </p:nvSpPr>
        <p:spPr>
          <a:xfrm>
            <a:off x="4857750" y="3733800"/>
            <a:ext cx="2990850" cy="781050"/>
          </a:xfrm>
          <a:prstGeom prst="rect">
            <a:avLst/>
          </a:prstGeom>
          <a:solidFill>
            <a:srgbClr val="F8E9EA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人在哪里审核</a:t>
            </a:r>
          </a:p>
        </p:txBody>
      </p:sp>
      <p:sp>
        <p:nvSpPr>
          <p:cNvPr id="15" name="p15-5">
            <a:extLst>
              <a:ext uri="{FF2B5EF4-FFF2-40B4-BE49-F238E27FC236}">
                <a16:creationId xmlns:a16="http://schemas.microsoft.com/office/drawing/2014/main" id="{197F6BCA-DDF0-420C-BBC6-8F02C0A90347}"/>
              </a:ext>
            </a:extLst>
          </p:cNvPr>
          <p:cNvSpPr>
            <a:spLocks noGrp="1"/>
          </p:cNvSpPr>
          <p:nvPr/>
        </p:nvSpPr>
        <p:spPr>
          <a:xfrm>
            <a:off x="8210550" y="3733800"/>
            <a:ext cx="2990850" cy="7810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过程如何留下记录</a:t>
            </a:r>
          </a:p>
        </p:txBody>
      </p:sp>
      <p:sp>
        <p:nvSpPr>
          <p:cNvPr id="16" name="p15-fallback">
            <a:extLst>
              <a:ext uri="{FF2B5EF4-FFF2-40B4-BE49-F238E27FC236}">
                <a16:creationId xmlns:a16="http://schemas.microsoft.com/office/drawing/2014/main" id="{24AA675C-D60B-41BE-8367-37CD62463283}"/>
              </a:ext>
            </a:extLst>
          </p:cNvPr>
          <p:cNvSpPr>
            <a:spLocks noGrp="1"/>
          </p:cNvSpPr>
          <p:nvPr/>
        </p:nvSpPr>
        <p:spPr>
          <a:xfrm>
            <a:off x="4953000" y="5048250"/>
            <a:ext cx="619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350" b="0">
                <a:solidFill>
                  <a:srgbClr val="667684"/>
                </a:solidFill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模型不可用：备用环境 / 截图 / 纸面任务契约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从第一天起，效率不能突破四条底线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DC9C7607-4BA3-B4DC-A00F-2E67A9FCFF7E}" type="slidenum">
              <a:t>16</a:t>
            </a:fld>
            <a:endParaRPr/>
          </a:p>
        </p:txBody>
      </p:sp>
      <p:sp>
        <p:nvSpPr>
          <p:cNvPr id="6" name="p16-n-0">
            <a:extLst>
              <a:ext uri="{FF2B5EF4-FFF2-40B4-BE49-F238E27FC236}">
                <a16:creationId xmlns:a16="http://schemas.microsoft.com/office/drawing/2014/main" id="{AED65C34-26AF-4A70-B7B2-D1934ADB8A0E}"/>
              </a:ext>
            </a:extLst>
          </p:cNvPr>
          <p:cNvSpPr>
            <a:spLocks noGrp="1"/>
          </p:cNvSpPr>
          <p:nvPr/>
        </p:nvSpPr>
        <p:spPr>
          <a:xfrm>
            <a:off x="876300" y="1200150"/>
            <a:ext cx="838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850" b="1">
                <a:solidFill>
                  <a:srgbClr val="C8161E"/>
                </a:solidFill>
              </a:defRPr>
            </a:pPr>
            <a:r>
              <a:rPr sz="28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16-v-0">
            <a:extLst>
              <a:ext uri="{FF2B5EF4-FFF2-40B4-BE49-F238E27FC236}">
                <a16:creationId xmlns:a16="http://schemas.microsoft.com/office/drawing/2014/main" id="{93559F74-133E-49AA-88D1-68F08F0D2DF3}"/>
              </a:ext>
            </a:extLst>
          </p:cNvPr>
          <p:cNvSpPr>
            <a:spLocks noGrp="1"/>
          </p:cNvSpPr>
          <p:nvPr/>
        </p:nvSpPr>
        <p:spPr>
          <a:xfrm>
            <a:off x="2000250" y="1200150"/>
            <a:ext cx="171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00" b="1">
                <a:solidFill>
                  <a:srgbClr val="18354E"/>
                </a:solidFill>
              </a:defRPr>
            </a:pPr>
            <a:r>
              <a:rPr sz="21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不上传</a:t>
            </a:r>
          </a:p>
        </p:txBody>
      </p:sp>
      <p:sp>
        <p:nvSpPr>
          <p:cNvPr id="8" name="p16-line-0">
            <a:extLst>
              <a:ext uri="{FF2B5EF4-FFF2-40B4-BE49-F238E27FC236}">
                <a16:creationId xmlns:a16="http://schemas.microsoft.com/office/drawing/2014/main" id="{AF3FCA3C-5D99-4462-AF8C-F193F14291B6}"/>
              </a:ext>
            </a:extLst>
          </p:cNvPr>
          <p:cNvSpPr>
            <a:spLocks noGrp="1"/>
          </p:cNvSpPr>
          <p:nvPr/>
        </p:nvSpPr>
        <p:spPr>
          <a:xfrm>
            <a:off x="3905250" y="1533525"/>
            <a:ext cx="876300" cy="19050"/>
          </a:xfrm>
          <a:prstGeom prst="rect">
            <a:avLst/>
          </a:prstGeom>
          <a:solidFill>
            <a:srgbClr val="D6DDE2"/>
          </a:solidFill>
          <a:ln w="0">
            <a:noFill/>
            <a:prstDash val="solid"/>
          </a:ln>
        </p:spPr>
      </p:sp>
      <p:sp>
        <p:nvSpPr>
          <p:cNvPr id="9" name="p16-d-0">
            <a:extLst>
              <a:ext uri="{FF2B5EF4-FFF2-40B4-BE49-F238E27FC236}">
                <a16:creationId xmlns:a16="http://schemas.microsoft.com/office/drawing/2014/main" id="{95ADA616-AD2F-47F7-9CFD-35E623732716}"/>
              </a:ext>
            </a:extLst>
          </p:cNvPr>
          <p:cNvSpPr>
            <a:spLocks noGrp="1"/>
          </p:cNvSpPr>
          <p:nvPr/>
        </p:nvSpPr>
        <p:spPr>
          <a:xfrm>
            <a:off x="5048250" y="1200150"/>
            <a:ext cx="590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未公开或敏感材料</a:t>
            </a:r>
          </a:p>
        </p:txBody>
      </p:sp>
      <p:sp>
        <p:nvSpPr>
          <p:cNvPr id="10" name="p16-n-1">
            <a:extLst>
              <a:ext uri="{FF2B5EF4-FFF2-40B4-BE49-F238E27FC236}">
                <a16:creationId xmlns:a16="http://schemas.microsoft.com/office/drawing/2014/main" id="{EC6F3B2F-7CBA-490D-B72C-F0115DA3B4F9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838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850" b="1">
                <a:solidFill>
                  <a:srgbClr val="C8161E"/>
                </a:solidFill>
              </a:defRPr>
            </a:pPr>
            <a:r>
              <a:rPr sz="28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p16-v-1">
            <a:extLst>
              <a:ext uri="{FF2B5EF4-FFF2-40B4-BE49-F238E27FC236}">
                <a16:creationId xmlns:a16="http://schemas.microsoft.com/office/drawing/2014/main" id="{D0077257-F562-40C1-A70C-3FB122ED4FB7}"/>
              </a:ext>
            </a:extLst>
          </p:cNvPr>
          <p:cNvSpPr>
            <a:spLocks noGrp="1"/>
          </p:cNvSpPr>
          <p:nvPr/>
        </p:nvSpPr>
        <p:spPr>
          <a:xfrm>
            <a:off x="2000250" y="2228850"/>
            <a:ext cx="171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00" b="1">
                <a:solidFill>
                  <a:srgbClr val="18354E"/>
                </a:solidFill>
              </a:defRPr>
            </a:pPr>
            <a:r>
              <a:rPr sz="21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不采信</a:t>
            </a:r>
          </a:p>
        </p:txBody>
      </p:sp>
      <p:sp>
        <p:nvSpPr>
          <p:cNvPr id="12" name="p16-line-1">
            <a:extLst>
              <a:ext uri="{FF2B5EF4-FFF2-40B4-BE49-F238E27FC236}">
                <a16:creationId xmlns:a16="http://schemas.microsoft.com/office/drawing/2014/main" id="{CBB5A61A-9F2D-4771-8435-F47155C8E37A}"/>
              </a:ext>
            </a:extLst>
          </p:cNvPr>
          <p:cNvSpPr>
            <a:spLocks noGrp="1"/>
          </p:cNvSpPr>
          <p:nvPr/>
        </p:nvSpPr>
        <p:spPr>
          <a:xfrm>
            <a:off x="3905250" y="2562225"/>
            <a:ext cx="876300" cy="19050"/>
          </a:xfrm>
          <a:prstGeom prst="rect">
            <a:avLst/>
          </a:prstGeom>
          <a:solidFill>
            <a:srgbClr val="D6DDE2"/>
          </a:solidFill>
          <a:ln w="0">
            <a:noFill/>
            <a:prstDash val="solid"/>
          </a:ln>
        </p:spPr>
      </p:sp>
      <p:sp>
        <p:nvSpPr>
          <p:cNvPr id="13" name="p16-d-1">
            <a:extLst>
              <a:ext uri="{FF2B5EF4-FFF2-40B4-BE49-F238E27FC236}">
                <a16:creationId xmlns:a16="http://schemas.microsoft.com/office/drawing/2014/main" id="{57F1A4F6-3D24-4211-B86B-705DFEE04900}"/>
              </a:ext>
            </a:extLst>
          </p:cNvPr>
          <p:cNvSpPr>
            <a:spLocks noGrp="1"/>
          </p:cNvSpPr>
          <p:nvPr/>
        </p:nvSpPr>
        <p:spPr>
          <a:xfrm>
            <a:off x="5048250" y="2228850"/>
            <a:ext cx="590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 生成引文作为真实来源</a:t>
            </a:r>
          </a:p>
        </p:txBody>
      </p:sp>
      <p:sp>
        <p:nvSpPr>
          <p:cNvPr id="14" name="p16-n-2">
            <a:extLst>
              <a:ext uri="{FF2B5EF4-FFF2-40B4-BE49-F238E27FC236}">
                <a16:creationId xmlns:a16="http://schemas.microsoft.com/office/drawing/2014/main" id="{20692084-FDE2-4318-BEDA-934DBD224324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838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850" b="1">
                <a:solidFill>
                  <a:srgbClr val="C8161E"/>
                </a:solidFill>
              </a:defRPr>
            </a:pPr>
            <a:r>
              <a:rPr sz="28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p16-v-2">
            <a:extLst>
              <a:ext uri="{FF2B5EF4-FFF2-40B4-BE49-F238E27FC236}">
                <a16:creationId xmlns:a16="http://schemas.microsoft.com/office/drawing/2014/main" id="{B42E2A25-3834-4B8C-AB74-4C21B1FACE1C}"/>
              </a:ext>
            </a:extLst>
          </p:cNvPr>
          <p:cNvSpPr>
            <a:spLocks noGrp="1"/>
          </p:cNvSpPr>
          <p:nvPr/>
        </p:nvSpPr>
        <p:spPr>
          <a:xfrm>
            <a:off x="2000250" y="3257550"/>
            <a:ext cx="171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00" b="1">
                <a:solidFill>
                  <a:srgbClr val="18354E"/>
                </a:solidFill>
              </a:defRPr>
            </a:pPr>
            <a:r>
              <a:rPr sz="21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不放权</a:t>
            </a:r>
          </a:p>
        </p:txBody>
      </p:sp>
      <p:sp>
        <p:nvSpPr>
          <p:cNvPr id="16" name="p16-line-2">
            <a:extLst>
              <a:ext uri="{FF2B5EF4-FFF2-40B4-BE49-F238E27FC236}">
                <a16:creationId xmlns:a16="http://schemas.microsoft.com/office/drawing/2014/main" id="{287CA8E5-C5D9-46FE-914E-6F111B9AA0D2}"/>
              </a:ext>
            </a:extLst>
          </p:cNvPr>
          <p:cNvSpPr>
            <a:spLocks noGrp="1"/>
          </p:cNvSpPr>
          <p:nvPr/>
        </p:nvSpPr>
        <p:spPr>
          <a:xfrm>
            <a:off x="3905250" y="3590925"/>
            <a:ext cx="876300" cy="19050"/>
          </a:xfrm>
          <a:prstGeom prst="rect">
            <a:avLst/>
          </a:prstGeom>
          <a:solidFill>
            <a:srgbClr val="D6DDE2"/>
          </a:solidFill>
          <a:ln w="0">
            <a:noFill/>
            <a:prstDash val="solid"/>
          </a:ln>
        </p:spPr>
      </p:sp>
      <p:sp>
        <p:nvSpPr>
          <p:cNvPr id="17" name="p16-d-2">
            <a:extLst>
              <a:ext uri="{FF2B5EF4-FFF2-40B4-BE49-F238E27FC236}">
                <a16:creationId xmlns:a16="http://schemas.microsoft.com/office/drawing/2014/main" id="{41F03B46-2EF0-4C02-9828-BCFC2151D720}"/>
              </a:ext>
            </a:extLst>
          </p:cNvPr>
          <p:cNvSpPr>
            <a:spLocks noGrp="1"/>
          </p:cNvSpPr>
          <p:nvPr/>
        </p:nvSpPr>
        <p:spPr>
          <a:xfrm>
            <a:off x="5048250" y="3257550"/>
            <a:ext cx="590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Agent 自行扩大权限</a:t>
            </a:r>
          </a:p>
        </p:txBody>
      </p:sp>
      <p:sp>
        <p:nvSpPr>
          <p:cNvPr id="18" name="p16-n-3">
            <a:extLst>
              <a:ext uri="{FF2B5EF4-FFF2-40B4-BE49-F238E27FC236}">
                <a16:creationId xmlns:a16="http://schemas.microsoft.com/office/drawing/2014/main" id="{DAC8F1B8-0C67-45AF-91A6-1954B3FD8D76}"/>
              </a:ext>
            </a:extLst>
          </p:cNvPr>
          <p:cNvSpPr>
            <a:spLocks noGrp="1"/>
          </p:cNvSpPr>
          <p:nvPr/>
        </p:nvSpPr>
        <p:spPr>
          <a:xfrm>
            <a:off x="876300" y="4286250"/>
            <a:ext cx="838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850" b="1">
                <a:solidFill>
                  <a:srgbClr val="C8161E"/>
                </a:solidFill>
              </a:defRPr>
            </a:pPr>
            <a:r>
              <a:rPr sz="28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p16-v-3">
            <a:extLst>
              <a:ext uri="{FF2B5EF4-FFF2-40B4-BE49-F238E27FC236}">
                <a16:creationId xmlns:a16="http://schemas.microsoft.com/office/drawing/2014/main" id="{3FDD8752-5404-456A-B1BA-C567F1140841}"/>
              </a:ext>
            </a:extLst>
          </p:cNvPr>
          <p:cNvSpPr>
            <a:spLocks noGrp="1"/>
          </p:cNvSpPr>
          <p:nvPr/>
        </p:nvSpPr>
        <p:spPr>
          <a:xfrm>
            <a:off x="2000250" y="4286250"/>
            <a:ext cx="171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00" b="1">
                <a:solidFill>
                  <a:srgbClr val="18354E"/>
                </a:solidFill>
              </a:defRPr>
            </a:pPr>
            <a:r>
              <a:rPr sz="21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不隐藏</a:t>
            </a:r>
          </a:p>
        </p:txBody>
      </p:sp>
      <p:sp>
        <p:nvSpPr>
          <p:cNvPr id="20" name="p16-line-3">
            <a:extLst>
              <a:ext uri="{FF2B5EF4-FFF2-40B4-BE49-F238E27FC236}">
                <a16:creationId xmlns:a16="http://schemas.microsoft.com/office/drawing/2014/main" id="{EA506D4D-1AC6-4243-AEA9-70AF392075E7}"/>
              </a:ext>
            </a:extLst>
          </p:cNvPr>
          <p:cNvSpPr>
            <a:spLocks noGrp="1"/>
          </p:cNvSpPr>
          <p:nvPr/>
        </p:nvSpPr>
        <p:spPr>
          <a:xfrm>
            <a:off x="3905250" y="4619625"/>
            <a:ext cx="876300" cy="19050"/>
          </a:xfrm>
          <a:prstGeom prst="rect">
            <a:avLst/>
          </a:prstGeom>
          <a:solidFill>
            <a:srgbClr val="D6DDE2"/>
          </a:solidFill>
          <a:ln w="0">
            <a:noFill/>
            <a:prstDash val="solid"/>
          </a:ln>
        </p:spPr>
      </p:sp>
      <p:sp>
        <p:nvSpPr>
          <p:cNvPr id="21" name="p16-d-3">
            <a:extLst>
              <a:ext uri="{FF2B5EF4-FFF2-40B4-BE49-F238E27FC236}">
                <a16:creationId xmlns:a16="http://schemas.microsoft.com/office/drawing/2014/main" id="{E48E5547-DBC8-4E52-858B-588479B0FFA1}"/>
              </a:ext>
            </a:extLst>
          </p:cNvPr>
          <p:cNvSpPr>
            <a:spLocks noGrp="1"/>
          </p:cNvSpPr>
          <p:nvPr/>
        </p:nvSpPr>
        <p:spPr>
          <a:xfrm>
            <a:off x="5048250" y="4286250"/>
            <a:ext cx="590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失败、人工修改或 AI 参与</a:t>
            </a:r>
          </a:p>
        </p:txBody>
      </p:sp>
      <p:sp>
        <p:nvSpPr>
          <p:cNvPr id="22" name="p16-bottom">
            <a:extLst>
              <a:ext uri="{FF2B5EF4-FFF2-40B4-BE49-F238E27FC236}">
                <a16:creationId xmlns:a16="http://schemas.microsoft.com/office/drawing/2014/main" id="{FA48D356-C3E7-4342-8AA4-633A99438D13}"/>
              </a:ext>
            </a:extLst>
          </p:cNvPr>
          <p:cNvSpPr>
            <a:spLocks noGrp="1"/>
          </p:cNvSpPr>
          <p:nvPr/>
        </p:nvSpPr>
        <p:spPr>
          <a:xfrm>
            <a:off x="4000500" y="537210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效率不能突破责任边界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报告是产物，研究是可检查的过程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90F7333B-44AC-F7E9-D49D-FE92F45E0477}" type="slidenum">
              <a:t>17</a:t>
            </a:fld>
            <a:endParaRPr/>
          </a:p>
        </p:txBody>
      </p:sp>
      <p:sp>
        <p:nvSpPr>
          <p:cNvPr id="6" name="p17-report">
            <a:extLst>
              <a:ext uri="{FF2B5EF4-FFF2-40B4-BE49-F238E27FC236}">
                <a16:creationId xmlns:a16="http://schemas.microsoft.com/office/drawing/2014/main" id="{8BD7978C-3612-400D-9878-0CBD7916A8CF}"/>
              </a:ext>
            </a:extLst>
          </p:cNvPr>
          <p:cNvSpPr>
            <a:spLocks noGrp="1"/>
          </p:cNvSpPr>
          <p:nvPr/>
        </p:nvSpPr>
        <p:spPr>
          <a:xfrm>
            <a:off x="742950" y="1104900"/>
            <a:ext cx="4095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325" b="1">
                <a:solidFill>
                  <a:srgbClr val="18354E"/>
                </a:solidFill>
              </a:defRPr>
            </a:pPr>
            <a:r>
              <a:rPr sz="23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报告看起来完整</a:t>
            </a:r>
          </a:p>
        </p:txBody>
      </p:sp>
      <p:sp>
        <p:nvSpPr>
          <p:cNvPr id="7" name="p17-not">
            <a:extLst>
              <a:ext uri="{FF2B5EF4-FFF2-40B4-BE49-F238E27FC236}">
                <a16:creationId xmlns:a16="http://schemas.microsoft.com/office/drawing/2014/main" id="{159E3D46-1ECB-4FD0-9563-BF178A607381}"/>
              </a:ext>
            </a:extLst>
          </p:cNvPr>
          <p:cNvSpPr>
            <a:spLocks noGrp="1"/>
          </p:cNvSpPr>
          <p:nvPr/>
        </p:nvSpPr>
        <p:spPr>
          <a:xfrm>
            <a:off x="5048250" y="1143000"/>
            <a:ext cx="161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不等于</a:t>
            </a:r>
          </a:p>
        </p:txBody>
      </p:sp>
      <p:sp>
        <p:nvSpPr>
          <p:cNvPr id="8" name="p17-process">
            <a:extLst>
              <a:ext uri="{FF2B5EF4-FFF2-40B4-BE49-F238E27FC236}">
                <a16:creationId xmlns:a16="http://schemas.microsoft.com/office/drawing/2014/main" id="{17A3029E-086D-48A3-89C1-43C58F4550B9}"/>
              </a:ext>
            </a:extLst>
          </p:cNvPr>
          <p:cNvSpPr>
            <a:spLocks noGrp="1"/>
          </p:cNvSpPr>
          <p:nvPr/>
        </p:nvSpPr>
        <p:spPr>
          <a:xfrm>
            <a:off x="6953250" y="110490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325" b="1">
                <a:solidFill>
                  <a:srgbClr val="C8161E"/>
                </a:solidFill>
              </a:defRPr>
            </a:pPr>
            <a:r>
              <a:rPr sz="23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研究过程可以检查</a:t>
            </a:r>
          </a:p>
        </p:txBody>
      </p:sp>
      <p:sp>
        <p:nvSpPr>
          <p:cNvPr id="9" name="p17-criteria">
            <a:extLst>
              <a:ext uri="{FF2B5EF4-FFF2-40B4-BE49-F238E27FC236}">
                <a16:creationId xmlns:a16="http://schemas.microsoft.com/office/drawing/2014/main" id="{BAC2F392-BFF3-42DA-91EC-03F0CE16C10E}"/>
              </a:ext>
            </a:extLst>
          </p:cNvPr>
          <p:cNvSpPr>
            <a:spLocks noGrp="1"/>
          </p:cNvSpPr>
          <p:nvPr/>
        </p:nvSpPr>
        <p:spPr>
          <a:xfrm>
            <a:off x="1143000" y="1847850"/>
            <a:ext cx="990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75" b="0">
                <a:solidFill>
                  <a:srgbClr val="667684"/>
                </a:solidFill>
              </a:defRPr>
            </a:pPr>
            <a:r>
              <a:rPr sz="1575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问题重要｜证据成立｜实验公平｜失败完整｜结论有边界</a:t>
            </a:r>
          </a:p>
        </p:txBody>
      </p:sp>
      <p:sp>
        <p:nvSpPr>
          <p:cNvPr id="10" name="p17-quote">
            <a:extLst>
              <a:ext uri="{FF2B5EF4-FFF2-40B4-BE49-F238E27FC236}">
                <a16:creationId xmlns:a16="http://schemas.microsoft.com/office/drawing/2014/main" id="{71EA7D60-6DBF-4CA3-8A55-906E482E2918}"/>
              </a:ext>
            </a:extLst>
          </p:cNvPr>
          <p:cNvSpPr>
            <a:spLocks noGrp="1"/>
          </p:cNvSpPr>
          <p:nvPr/>
        </p:nvSpPr>
        <p:spPr>
          <a:xfrm>
            <a:off x="1028700" y="2667000"/>
            <a:ext cx="10134600" cy="952500"/>
          </a:xfrm>
          <a:prstGeom prst="rect">
            <a:avLst/>
          </a:prstGeom>
          <a:solidFill>
            <a:srgbClr val="FAF0DD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00" b="1">
                <a:solidFill>
                  <a:srgbClr val="263746"/>
                </a:solidFill>
              </a:defRPr>
            </a:pPr>
            <a:r>
              <a:rPr sz="21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“已有研究证明，结构化提示可以消除 AI 论文摘要中的引用幻觉。”</a:t>
            </a:r>
          </a:p>
        </p:txBody>
      </p:sp>
      <p:sp>
        <p:nvSpPr>
          <p:cNvPr id="11" name="p17-status">
            <a:extLst>
              <a:ext uri="{FF2B5EF4-FFF2-40B4-BE49-F238E27FC236}">
                <a16:creationId xmlns:a16="http://schemas.microsoft.com/office/drawing/2014/main" id="{1DC14B33-BE4E-4FE7-B3BB-7E984F390419}"/>
              </a:ext>
            </a:extLst>
          </p:cNvPr>
          <p:cNvSpPr>
            <a:spLocks noGrp="1"/>
          </p:cNvSpPr>
          <p:nvPr/>
        </p:nvSpPr>
        <p:spPr>
          <a:xfrm>
            <a:off x="3695700" y="3752850"/>
            <a:ext cx="4800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状态：未经核验的 AI 生成线索</a:t>
            </a:r>
          </a:p>
        </p:txBody>
      </p:sp>
      <p:sp>
        <p:nvSpPr>
          <p:cNvPr id="12" name="p17-questions">
            <a:extLst>
              <a:ext uri="{FF2B5EF4-FFF2-40B4-BE49-F238E27FC236}">
                <a16:creationId xmlns:a16="http://schemas.microsoft.com/office/drawing/2014/main" id="{63447720-2E30-4E52-8841-3A2546D30611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677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论文？ 任务？ 指标？ 对照？ ‘降低’还是‘消除’？ 适用范围？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八阶段让我们知道当前在修改什么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B1C6C81E-38B9-7560-621D-5A151A79DF9B}" type="slidenum">
              <a:t>18</a:t>
            </a:fld>
            <a:endParaRPr/>
          </a:p>
        </p:txBody>
      </p:sp>
      <p:sp>
        <p:nvSpPr>
          <p:cNvPr id="6" name="p18-arrow-0">
            <a:extLst>
              <a:ext uri="{FF2B5EF4-FFF2-40B4-BE49-F238E27FC236}">
                <a16:creationId xmlns:a16="http://schemas.microsoft.com/office/drawing/2014/main" id="{21FF1567-C286-4E86-BB5C-333BF9CE7CD8}"/>
              </a:ext>
            </a:extLst>
          </p:cNvPr>
          <p:cNvSpPr>
            <a:spLocks noGrp="1"/>
          </p:cNvSpPr>
          <p:nvPr/>
        </p:nvSpPr>
        <p:spPr>
          <a:xfrm>
            <a:off x="1754981" y="230505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75" b="1">
                <a:solidFill>
                  <a:srgbClr val="667684"/>
                </a:solidFill>
              </a:defRPr>
            </a:pPr>
            <a:r>
              <a:rPr sz="18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18-num-0">
            <a:extLst>
              <a:ext uri="{FF2B5EF4-FFF2-40B4-BE49-F238E27FC236}">
                <a16:creationId xmlns:a16="http://schemas.microsoft.com/office/drawing/2014/main" id="{0273F5DF-AB62-4F27-A14B-96200A69CB0B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122158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p18-text-0">
            <a:extLst>
              <a:ext uri="{FF2B5EF4-FFF2-40B4-BE49-F238E27FC236}">
                <a16:creationId xmlns:a16="http://schemas.microsoft.com/office/drawing/2014/main" id="{8F282510-5F49-46B4-9B79-4555CA2A3D56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1221581" cy="609600"/>
          </a:xfrm>
          <a:prstGeom prst="rect">
            <a:avLst/>
          </a:prstGeom>
          <a:solidFill>
            <a:srgbClr val="F8E9EA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9" name="p18-arrow-1">
            <a:extLst>
              <a:ext uri="{FF2B5EF4-FFF2-40B4-BE49-F238E27FC236}">
                <a16:creationId xmlns:a16="http://schemas.microsoft.com/office/drawing/2014/main" id="{C3DF27B7-710B-418D-A7A6-0C6EF8A3F04E}"/>
              </a:ext>
            </a:extLst>
          </p:cNvPr>
          <p:cNvSpPr>
            <a:spLocks noGrp="1"/>
          </p:cNvSpPr>
          <p:nvPr/>
        </p:nvSpPr>
        <p:spPr>
          <a:xfrm>
            <a:off x="3148013" y="230505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75" b="1">
                <a:solidFill>
                  <a:srgbClr val="667684"/>
                </a:solidFill>
              </a:defRPr>
            </a:pPr>
            <a:r>
              <a:rPr sz="18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18-num-1">
            <a:extLst>
              <a:ext uri="{FF2B5EF4-FFF2-40B4-BE49-F238E27FC236}">
                <a16:creationId xmlns:a16="http://schemas.microsoft.com/office/drawing/2014/main" id="{DC002838-DB11-4FD6-BA2E-D4C1EE818303}"/>
              </a:ext>
            </a:extLst>
          </p:cNvPr>
          <p:cNvSpPr>
            <a:spLocks noGrp="1"/>
          </p:cNvSpPr>
          <p:nvPr/>
        </p:nvSpPr>
        <p:spPr>
          <a:xfrm>
            <a:off x="2002631" y="2019300"/>
            <a:ext cx="122158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p18-text-1">
            <a:extLst>
              <a:ext uri="{FF2B5EF4-FFF2-40B4-BE49-F238E27FC236}">
                <a16:creationId xmlns:a16="http://schemas.microsoft.com/office/drawing/2014/main" id="{0083CBC0-428D-46F1-A1ED-956F7681236C}"/>
              </a:ext>
            </a:extLst>
          </p:cNvPr>
          <p:cNvSpPr>
            <a:spLocks noGrp="1"/>
          </p:cNvSpPr>
          <p:nvPr/>
        </p:nvSpPr>
        <p:spPr>
          <a:xfrm>
            <a:off x="2002631" y="2381250"/>
            <a:ext cx="1221581" cy="60960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第一性原理</a:t>
            </a:r>
          </a:p>
        </p:txBody>
      </p:sp>
      <p:sp>
        <p:nvSpPr>
          <p:cNvPr id="12" name="p18-arrow-2">
            <a:extLst>
              <a:ext uri="{FF2B5EF4-FFF2-40B4-BE49-F238E27FC236}">
                <a16:creationId xmlns:a16="http://schemas.microsoft.com/office/drawing/2014/main" id="{D0857636-9AB9-4F75-9FB8-D5B4DEC8B18B}"/>
              </a:ext>
            </a:extLst>
          </p:cNvPr>
          <p:cNvSpPr>
            <a:spLocks noGrp="1"/>
          </p:cNvSpPr>
          <p:nvPr/>
        </p:nvSpPr>
        <p:spPr>
          <a:xfrm>
            <a:off x="4541044" y="230505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75" b="1">
                <a:solidFill>
                  <a:srgbClr val="667684"/>
                </a:solidFill>
              </a:defRPr>
            </a:pPr>
            <a:r>
              <a:rPr sz="18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18-num-2">
            <a:extLst>
              <a:ext uri="{FF2B5EF4-FFF2-40B4-BE49-F238E27FC236}">
                <a16:creationId xmlns:a16="http://schemas.microsoft.com/office/drawing/2014/main" id="{63E03AA9-C853-4C61-A3C2-8D7A80B96339}"/>
              </a:ext>
            </a:extLst>
          </p:cNvPr>
          <p:cNvSpPr>
            <a:spLocks noGrp="1"/>
          </p:cNvSpPr>
          <p:nvPr/>
        </p:nvSpPr>
        <p:spPr>
          <a:xfrm>
            <a:off x="3395663" y="2019300"/>
            <a:ext cx="122158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p18-text-2">
            <a:extLst>
              <a:ext uri="{FF2B5EF4-FFF2-40B4-BE49-F238E27FC236}">
                <a16:creationId xmlns:a16="http://schemas.microsoft.com/office/drawing/2014/main" id="{35E5F266-E363-4FCF-B501-42D422A66149}"/>
              </a:ext>
            </a:extLst>
          </p:cNvPr>
          <p:cNvSpPr>
            <a:spLocks noGrp="1"/>
          </p:cNvSpPr>
          <p:nvPr/>
        </p:nvSpPr>
        <p:spPr>
          <a:xfrm>
            <a:off x="3395663" y="2381250"/>
            <a:ext cx="1221581" cy="60960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机制假设</a:t>
            </a:r>
          </a:p>
        </p:txBody>
      </p:sp>
      <p:sp>
        <p:nvSpPr>
          <p:cNvPr id="15" name="p18-arrow-3">
            <a:extLst>
              <a:ext uri="{FF2B5EF4-FFF2-40B4-BE49-F238E27FC236}">
                <a16:creationId xmlns:a16="http://schemas.microsoft.com/office/drawing/2014/main" id="{4F59DE15-2922-47A8-9D92-90E574366FA5}"/>
              </a:ext>
            </a:extLst>
          </p:cNvPr>
          <p:cNvSpPr>
            <a:spLocks noGrp="1"/>
          </p:cNvSpPr>
          <p:nvPr/>
        </p:nvSpPr>
        <p:spPr>
          <a:xfrm>
            <a:off x="5934075" y="230505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75" b="1">
                <a:solidFill>
                  <a:srgbClr val="667684"/>
                </a:solidFill>
              </a:defRPr>
            </a:pPr>
            <a:r>
              <a:rPr sz="18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p18-num-3">
            <a:extLst>
              <a:ext uri="{FF2B5EF4-FFF2-40B4-BE49-F238E27FC236}">
                <a16:creationId xmlns:a16="http://schemas.microsoft.com/office/drawing/2014/main" id="{012AB298-00AA-4464-BF32-2AA231D378CF}"/>
              </a:ext>
            </a:extLst>
          </p:cNvPr>
          <p:cNvSpPr>
            <a:spLocks noGrp="1"/>
          </p:cNvSpPr>
          <p:nvPr/>
        </p:nvSpPr>
        <p:spPr>
          <a:xfrm>
            <a:off x="4788694" y="2019300"/>
            <a:ext cx="122158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p18-text-3">
            <a:extLst>
              <a:ext uri="{FF2B5EF4-FFF2-40B4-BE49-F238E27FC236}">
                <a16:creationId xmlns:a16="http://schemas.microsoft.com/office/drawing/2014/main" id="{C8C41DA9-FEED-4F9A-8A0F-4266D1D9AF48}"/>
              </a:ext>
            </a:extLst>
          </p:cNvPr>
          <p:cNvSpPr>
            <a:spLocks noGrp="1"/>
          </p:cNvSpPr>
          <p:nvPr/>
        </p:nvSpPr>
        <p:spPr>
          <a:xfrm>
            <a:off x="4788694" y="2381250"/>
            <a:ext cx="1221581" cy="60960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外部输入</a:t>
            </a:r>
          </a:p>
        </p:txBody>
      </p:sp>
      <p:sp>
        <p:nvSpPr>
          <p:cNvPr id="18" name="p18-arrow-4">
            <a:extLst>
              <a:ext uri="{FF2B5EF4-FFF2-40B4-BE49-F238E27FC236}">
                <a16:creationId xmlns:a16="http://schemas.microsoft.com/office/drawing/2014/main" id="{B3A0D194-1EE1-429F-83EB-FF49355E5C4F}"/>
              </a:ext>
            </a:extLst>
          </p:cNvPr>
          <p:cNvSpPr>
            <a:spLocks noGrp="1"/>
          </p:cNvSpPr>
          <p:nvPr/>
        </p:nvSpPr>
        <p:spPr>
          <a:xfrm>
            <a:off x="7327106" y="230505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75" b="1">
                <a:solidFill>
                  <a:srgbClr val="667684"/>
                </a:solidFill>
              </a:defRPr>
            </a:pPr>
            <a:r>
              <a:rPr sz="18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p18-num-4">
            <a:extLst>
              <a:ext uri="{FF2B5EF4-FFF2-40B4-BE49-F238E27FC236}">
                <a16:creationId xmlns:a16="http://schemas.microsoft.com/office/drawing/2014/main" id="{99785DDD-CA03-457B-A9B1-57821ED1C691}"/>
              </a:ext>
            </a:extLst>
          </p:cNvPr>
          <p:cNvSpPr>
            <a:spLocks noGrp="1"/>
          </p:cNvSpPr>
          <p:nvPr/>
        </p:nvSpPr>
        <p:spPr>
          <a:xfrm>
            <a:off x="6181725" y="2019300"/>
            <a:ext cx="122158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p18-text-4">
            <a:extLst>
              <a:ext uri="{FF2B5EF4-FFF2-40B4-BE49-F238E27FC236}">
                <a16:creationId xmlns:a16="http://schemas.microsoft.com/office/drawing/2014/main" id="{649AFB57-112E-484C-B88D-D38D48879F55}"/>
              </a:ext>
            </a:extLst>
          </p:cNvPr>
          <p:cNvSpPr>
            <a:spLocks noGrp="1"/>
          </p:cNvSpPr>
          <p:nvPr/>
        </p:nvSpPr>
        <p:spPr>
          <a:xfrm>
            <a:off x="6181725" y="2381250"/>
            <a:ext cx="1221581" cy="60960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证据整理</a:t>
            </a:r>
          </a:p>
        </p:txBody>
      </p:sp>
      <p:sp>
        <p:nvSpPr>
          <p:cNvPr id="21" name="p18-arrow-5">
            <a:extLst>
              <a:ext uri="{FF2B5EF4-FFF2-40B4-BE49-F238E27FC236}">
                <a16:creationId xmlns:a16="http://schemas.microsoft.com/office/drawing/2014/main" id="{30E67585-E7BE-4148-895B-F9F25F3FB6B6}"/>
              </a:ext>
            </a:extLst>
          </p:cNvPr>
          <p:cNvSpPr>
            <a:spLocks noGrp="1"/>
          </p:cNvSpPr>
          <p:nvPr/>
        </p:nvSpPr>
        <p:spPr>
          <a:xfrm>
            <a:off x="8720138" y="230505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75" b="1">
                <a:solidFill>
                  <a:srgbClr val="667684"/>
                </a:solidFill>
              </a:defRPr>
            </a:pPr>
            <a:r>
              <a:rPr sz="18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p18-num-5">
            <a:extLst>
              <a:ext uri="{FF2B5EF4-FFF2-40B4-BE49-F238E27FC236}">
                <a16:creationId xmlns:a16="http://schemas.microsoft.com/office/drawing/2014/main" id="{4479CB0F-BA19-4D7C-9547-628BD3FCBC17}"/>
              </a:ext>
            </a:extLst>
          </p:cNvPr>
          <p:cNvSpPr>
            <a:spLocks noGrp="1"/>
          </p:cNvSpPr>
          <p:nvPr/>
        </p:nvSpPr>
        <p:spPr>
          <a:xfrm>
            <a:off x="7574756" y="2019300"/>
            <a:ext cx="122158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p18-text-5">
            <a:extLst>
              <a:ext uri="{FF2B5EF4-FFF2-40B4-BE49-F238E27FC236}">
                <a16:creationId xmlns:a16="http://schemas.microsoft.com/office/drawing/2014/main" id="{E541342D-B8D1-491C-ACC5-039D002FFFA8}"/>
              </a:ext>
            </a:extLst>
          </p:cNvPr>
          <p:cNvSpPr>
            <a:spLocks noGrp="1"/>
          </p:cNvSpPr>
          <p:nvPr/>
        </p:nvSpPr>
        <p:spPr>
          <a:xfrm>
            <a:off x="7574756" y="2381250"/>
            <a:ext cx="1221581" cy="60960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研究判断</a:t>
            </a:r>
          </a:p>
        </p:txBody>
      </p:sp>
      <p:sp>
        <p:nvSpPr>
          <p:cNvPr id="24" name="p18-arrow-6">
            <a:extLst>
              <a:ext uri="{FF2B5EF4-FFF2-40B4-BE49-F238E27FC236}">
                <a16:creationId xmlns:a16="http://schemas.microsoft.com/office/drawing/2014/main" id="{C7AA9D21-804A-4D15-B957-C86E397AADB8}"/>
              </a:ext>
            </a:extLst>
          </p:cNvPr>
          <p:cNvSpPr>
            <a:spLocks noGrp="1"/>
          </p:cNvSpPr>
          <p:nvPr/>
        </p:nvSpPr>
        <p:spPr>
          <a:xfrm>
            <a:off x="10113169" y="230505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75" b="1">
                <a:solidFill>
                  <a:srgbClr val="667684"/>
                </a:solidFill>
              </a:defRPr>
            </a:pPr>
            <a:r>
              <a:rPr sz="18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p18-num-6">
            <a:extLst>
              <a:ext uri="{FF2B5EF4-FFF2-40B4-BE49-F238E27FC236}">
                <a16:creationId xmlns:a16="http://schemas.microsoft.com/office/drawing/2014/main" id="{66119B78-5E71-4830-BF0C-D4B167CA8DC9}"/>
              </a:ext>
            </a:extLst>
          </p:cNvPr>
          <p:cNvSpPr>
            <a:spLocks noGrp="1"/>
          </p:cNvSpPr>
          <p:nvPr/>
        </p:nvSpPr>
        <p:spPr>
          <a:xfrm>
            <a:off x="8967788" y="2019300"/>
            <a:ext cx="122158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6" name="p18-text-6">
            <a:extLst>
              <a:ext uri="{FF2B5EF4-FFF2-40B4-BE49-F238E27FC236}">
                <a16:creationId xmlns:a16="http://schemas.microsoft.com/office/drawing/2014/main" id="{8CFCB89C-531B-40D2-BADD-27B28487B602}"/>
              </a:ext>
            </a:extLst>
          </p:cNvPr>
          <p:cNvSpPr>
            <a:spLocks noGrp="1"/>
          </p:cNvSpPr>
          <p:nvPr/>
        </p:nvSpPr>
        <p:spPr>
          <a:xfrm>
            <a:off x="8967788" y="2381250"/>
            <a:ext cx="1221581" cy="60960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原型验证</a:t>
            </a:r>
          </a:p>
        </p:txBody>
      </p:sp>
      <p:sp>
        <p:nvSpPr>
          <p:cNvPr id="27" name="p18-num-7">
            <a:extLst>
              <a:ext uri="{FF2B5EF4-FFF2-40B4-BE49-F238E27FC236}">
                <a16:creationId xmlns:a16="http://schemas.microsoft.com/office/drawing/2014/main" id="{DEACB177-158D-46DD-B081-6300AF549E2E}"/>
              </a:ext>
            </a:extLst>
          </p:cNvPr>
          <p:cNvSpPr>
            <a:spLocks noGrp="1"/>
          </p:cNvSpPr>
          <p:nvPr/>
        </p:nvSpPr>
        <p:spPr>
          <a:xfrm>
            <a:off x="10360819" y="2019300"/>
            <a:ext cx="122158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8" name="p18-text-7">
            <a:extLst>
              <a:ext uri="{FF2B5EF4-FFF2-40B4-BE49-F238E27FC236}">
                <a16:creationId xmlns:a16="http://schemas.microsoft.com/office/drawing/2014/main" id="{26492077-A462-475D-A625-081876C40C66}"/>
              </a:ext>
            </a:extLst>
          </p:cNvPr>
          <p:cNvSpPr>
            <a:spLocks noGrp="1"/>
          </p:cNvSpPr>
          <p:nvPr/>
        </p:nvSpPr>
        <p:spPr>
          <a:xfrm>
            <a:off x="10360819" y="2381250"/>
            <a:ext cx="1221581" cy="60960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回写表达</a:t>
            </a:r>
          </a:p>
        </p:txBody>
      </p:sp>
      <p:sp>
        <p:nvSpPr>
          <p:cNvPr id="29" name="p18-return">
            <a:extLst>
              <a:ext uri="{FF2B5EF4-FFF2-40B4-BE49-F238E27FC236}">
                <a16:creationId xmlns:a16="http://schemas.microsoft.com/office/drawing/2014/main" id="{CF7839F4-025E-443C-B670-AED599D22149}"/>
              </a:ext>
            </a:extLst>
          </p:cNvPr>
          <p:cNvSpPr>
            <a:spLocks noGrp="1"/>
          </p:cNvSpPr>
          <p:nvPr/>
        </p:nvSpPr>
        <p:spPr>
          <a:xfrm rot="10800000">
            <a:off x="1771650" y="3643313"/>
            <a:ext cx="8877300" cy="28575"/>
          </a:xfrm>
          <a:prstGeom prst="rect">
            <a:avLst/>
          </a:prstGeom>
          <a:solidFill>
            <a:srgbClr val="C8161E"/>
          </a:solidFill>
          <a:ln w="0">
            <a:noFill/>
            <a:prstDash val="solid"/>
          </a:ln>
        </p:spPr>
      </p:sp>
      <p:sp>
        <p:nvSpPr>
          <p:cNvPr id="30" name="p18-return-arrow">
            <a:extLst>
              <a:ext uri="{FF2B5EF4-FFF2-40B4-BE49-F238E27FC236}">
                <a16:creationId xmlns:a16="http://schemas.microsoft.com/office/drawing/2014/main" id="{EE9DDE31-93DE-43C1-AD90-156FE746246D}"/>
              </a:ext>
            </a:extLst>
          </p:cNvPr>
          <p:cNvSpPr>
            <a:spLocks noGrp="1"/>
          </p:cNvSpPr>
          <p:nvPr/>
        </p:nvSpPr>
        <p:spPr>
          <a:xfrm>
            <a:off x="1352550" y="3429000"/>
            <a:ext cx="590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700" b="1">
                <a:solidFill>
                  <a:srgbClr val="C8161E"/>
                </a:solidFill>
              </a:defRPr>
            </a:pPr>
            <a:r>
              <a:rPr sz="270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31" name="p18-return-label">
            <a:extLst>
              <a:ext uri="{FF2B5EF4-FFF2-40B4-BE49-F238E27FC236}">
                <a16:creationId xmlns:a16="http://schemas.microsoft.com/office/drawing/2014/main" id="{92BD64B6-1136-4349-9E0F-1461E404E1BC}"/>
              </a:ext>
            </a:extLst>
          </p:cNvPr>
          <p:cNvSpPr>
            <a:spLocks noGrp="1"/>
          </p:cNvSpPr>
          <p:nvPr/>
        </p:nvSpPr>
        <p:spPr>
          <a:xfrm>
            <a:off x="3467100" y="382905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失败或新证据出现时，可以带着原因回到上游</a:t>
            </a:r>
          </a:p>
        </p:txBody>
      </p:sp>
      <p:sp>
        <p:nvSpPr>
          <p:cNvPr id="32" name="p18-bottom">
            <a:extLst>
              <a:ext uri="{FF2B5EF4-FFF2-40B4-BE49-F238E27FC236}">
                <a16:creationId xmlns:a16="http://schemas.microsoft.com/office/drawing/2014/main" id="{D49C5EDE-E33F-4C84-8BFE-47B142211BE4}"/>
              </a:ext>
            </a:extLst>
          </p:cNvPr>
          <p:cNvSpPr>
            <a:spLocks noGrp="1"/>
          </p:cNvSpPr>
          <p:nvPr/>
        </p:nvSpPr>
        <p:spPr>
          <a:xfrm>
            <a:off x="2476500" y="4762500"/>
            <a:ext cx="723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75" b="1">
                <a:solidFill>
                  <a:srgbClr val="18354E"/>
                </a:solidFill>
              </a:defRPr>
            </a:pPr>
            <a:r>
              <a:rPr sz="21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无论回退还是迭代，都知道当前在改什么。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 1-4：问题定义、第一性原理分析、机制假设与外部输入摄取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CCF91274-D221-1BB4-3BF9-836E3AD31EBE}" type="slidenum">
              <a:t>19</a:t>
            </a:fld>
            <a:endParaRPr/>
          </a:p>
        </p:txBody>
      </p:sp>
      <p:sp>
        <p:nvSpPr>
          <p:cNvPr id="6" name="p19-n-0">
            <a:extLst>
              <a:ext uri="{FF2B5EF4-FFF2-40B4-BE49-F238E27FC236}">
                <a16:creationId xmlns:a16="http://schemas.microsoft.com/office/drawing/2014/main" id="{F7FAD1AA-4DBE-4536-A7CE-095C69961DBA}"/>
              </a:ext>
            </a:extLst>
          </p:cNvPr>
          <p:cNvSpPr>
            <a:spLocks noGrp="1"/>
          </p:cNvSpPr>
          <p:nvPr/>
        </p:nvSpPr>
        <p:spPr>
          <a:xfrm>
            <a:off x="647700" y="1104900"/>
            <a:ext cx="781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75" b="1">
                <a:solidFill>
                  <a:srgbClr val="C8161E"/>
                </a:solidFill>
              </a:defRPr>
            </a:pPr>
            <a:r>
              <a:rPr sz="217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19-t-0">
            <a:extLst>
              <a:ext uri="{FF2B5EF4-FFF2-40B4-BE49-F238E27FC236}">
                <a16:creationId xmlns:a16="http://schemas.microsoft.com/office/drawing/2014/main" id="{2A4744F3-B9CA-4D35-90A8-F5EDCD43FDAE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2609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8" name="p19-b-0">
            <a:extLst>
              <a:ext uri="{FF2B5EF4-FFF2-40B4-BE49-F238E27FC236}">
                <a16:creationId xmlns:a16="http://schemas.microsoft.com/office/drawing/2014/main" id="{9D55F070-F70F-44AA-958F-E8081A83CC8A}"/>
              </a:ext>
            </a:extLst>
          </p:cNvPr>
          <p:cNvSpPr>
            <a:spLocks noGrp="1"/>
          </p:cNvSpPr>
          <p:nvPr/>
        </p:nvSpPr>
        <p:spPr>
          <a:xfrm>
            <a:off x="647700" y="2495550"/>
            <a:ext cx="2609850" cy="18097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lnSpc>
                <a:spcPct val="13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研究什么？不研究什么？</a:t>
            </a:r>
          </a:p>
          <a:p>
            <a:pPr algn="ctr">
              <a:lnSpc>
                <a:spcPct val="13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什么结果会改变判断？</a:t>
            </a:r>
          </a:p>
        </p:txBody>
      </p:sp>
      <p:sp>
        <p:nvSpPr>
          <p:cNvPr id="9" name="p19-n-1">
            <a:extLst>
              <a:ext uri="{FF2B5EF4-FFF2-40B4-BE49-F238E27FC236}">
                <a16:creationId xmlns:a16="http://schemas.microsoft.com/office/drawing/2014/main" id="{069823DF-72A2-42C8-B44C-28D70AC38334}"/>
              </a:ext>
            </a:extLst>
          </p:cNvPr>
          <p:cNvSpPr>
            <a:spLocks noGrp="1"/>
          </p:cNvSpPr>
          <p:nvPr/>
        </p:nvSpPr>
        <p:spPr>
          <a:xfrm>
            <a:off x="3524250" y="1104900"/>
            <a:ext cx="781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75" b="1">
                <a:solidFill>
                  <a:srgbClr val="C8161E"/>
                </a:solidFill>
              </a:defRPr>
            </a:pPr>
            <a:r>
              <a:rPr sz="217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19-t-1">
            <a:extLst>
              <a:ext uri="{FF2B5EF4-FFF2-40B4-BE49-F238E27FC236}">
                <a16:creationId xmlns:a16="http://schemas.microsoft.com/office/drawing/2014/main" id="{162F6377-20AC-4BBF-AC4D-8B65567F7FE0}"/>
              </a:ext>
            </a:extLst>
          </p:cNvPr>
          <p:cNvSpPr>
            <a:spLocks noGrp="1"/>
          </p:cNvSpPr>
          <p:nvPr/>
        </p:nvSpPr>
        <p:spPr>
          <a:xfrm>
            <a:off x="3524250" y="1714500"/>
            <a:ext cx="2609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第一性原理分析</a:t>
            </a:r>
          </a:p>
        </p:txBody>
      </p:sp>
      <p:sp>
        <p:nvSpPr>
          <p:cNvPr id="11" name="p19-b-1">
            <a:extLst>
              <a:ext uri="{FF2B5EF4-FFF2-40B4-BE49-F238E27FC236}">
                <a16:creationId xmlns:a16="http://schemas.microsoft.com/office/drawing/2014/main" id="{ACA8AF02-AB3D-4C94-9107-228783A7148E}"/>
              </a:ext>
            </a:extLst>
          </p:cNvPr>
          <p:cNvSpPr>
            <a:spLocks noGrp="1"/>
          </p:cNvSpPr>
          <p:nvPr/>
        </p:nvSpPr>
        <p:spPr>
          <a:xfrm>
            <a:off x="3524250" y="2495550"/>
            <a:ext cx="2609850" cy="18097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lnSpc>
                <a:spcPct val="13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主张成立需要哪些</a:t>
            </a:r>
          </a:p>
          <a:p>
            <a:pPr algn="ctr">
              <a:lnSpc>
                <a:spcPct val="13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必要条件？</a:t>
            </a:r>
          </a:p>
        </p:txBody>
      </p:sp>
      <p:sp>
        <p:nvSpPr>
          <p:cNvPr id="12" name="p19-n-2">
            <a:extLst>
              <a:ext uri="{FF2B5EF4-FFF2-40B4-BE49-F238E27FC236}">
                <a16:creationId xmlns:a16="http://schemas.microsoft.com/office/drawing/2014/main" id="{F850AB2E-C94C-4AE5-9841-F6D566852428}"/>
              </a:ext>
            </a:extLst>
          </p:cNvPr>
          <p:cNvSpPr>
            <a:spLocks noGrp="1"/>
          </p:cNvSpPr>
          <p:nvPr/>
        </p:nvSpPr>
        <p:spPr>
          <a:xfrm>
            <a:off x="6400800" y="1104900"/>
            <a:ext cx="781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75" b="1">
                <a:solidFill>
                  <a:srgbClr val="C8161E"/>
                </a:solidFill>
              </a:defRPr>
            </a:pPr>
            <a:r>
              <a:rPr sz="217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19-t-2">
            <a:extLst>
              <a:ext uri="{FF2B5EF4-FFF2-40B4-BE49-F238E27FC236}">
                <a16:creationId xmlns:a16="http://schemas.microsoft.com/office/drawing/2014/main" id="{16BE3A60-CC8F-4DDD-AA58-B64CCA5A8C0C}"/>
              </a:ext>
            </a:extLst>
          </p:cNvPr>
          <p:cNvSpPr>
            <a:spLocks noGrp="1"/>
          </p:cNvSpPr>
          <p:nvPr/>
        </p:nvSpPr>
        <p:spPr>
          <a:xfrm>
            <a:off x="6400800" y="1714500"/>
            <a:ext cx="2609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机制假设</a:t>
            </a:r>
          </a:p>
        </p:txBody>
      </p:sp>
      <p:sp>
        <p:nvSpPr>
          <p:cNvPr id="14" name="p19-b-2">
            <a:extLst>
              <a:ext uri="{FF2B5EF4-FFF2-40B4-BE49-F238E27FC236}">
                <a16:creationId xmlns:a16="http://schemas.microsoft.com/office/drawing/2014/main" id="{573E2FA7-A33C-4291-ACAF-C6EB1BB87077}"/>
              </a:ext>
            </a:extLst>
          </p:cNvPr>
          <p:cNvSpPr>
            <a:spLocks noGrp="1"/>
          </p:cNvSpPr>
          <p:nvPr/>
        </p:nvSpPr>
        <p:spPr>
          <a:xfrm>
            <a:off x="6400800" y="2495550"/>
            <a:ext cx="2609850" cy="1809750"/>
          </a:xfrm>
          <a:prstGeom prst="rect">
            <a:avLst/>
          </a:prstGeom>
          <a:solidFill>
            <a:srgbClr val="F8E9EA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lnSpc>
                <a:spcPct val="13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阅读卡迫使定位原文，</a:t>
            </a:r>
          </a:p>
          <a:p>
            <a:pPr algn="ctr">
              <a:lnSpc>
                <a:spcPct val="13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因此可能减少遗漏。</a:t>
            </a:r>
          </a:p>
        </p:txBody>
      </p:sp>
      <p:sp>
        <p:nvSpPr>
          <p:cNvPr id="15" name="p19-n-3">
            <a:extLst>
              <a:ext uri="{FF2B5EF4-FFF2-40B4-BE49-F238E27FC236}">
                <a16:creationId xmlns:a16="http://schemas.microsoft.com/office/drawing/2014/main" id="{3FF4A2E9-061B-466B-B4E5-7E30CD3805E5}"/>
              </a:ext>
            </a:extLst>
          </p:cNvPr>
          <p:cNvSpPr>
            <a:spLocks noGrp="1"/>
          </p:cNvSpPr>
          <p:nvPr/>
        </p:nvSpPr>
        <p:spPr>
          <a:xfrm>
            <a:off x="9277350" y="1104900"/>
            <a:ext cx="781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75" b="1">
                <a:solidFill>
                  <a:srgbClr val="C8161E"/>
                </a:solidFill>
              </a:defRPr>
            </a:pPr>
            <a:r>
              <a:rPr sz="217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p19-t-3">
            <a:extLst>
              <a:ext uri="{FF2B5EF4-FFF2-40B4-BE49-F238E27FC236}">
                <a16:creationId xmlns:a16="http://schemas.microsoft.com/office/drawing/2014/main" id="{CF2B4F7C-6F68-48A5-9E89-CC3F7BFFCEFC}"/>
              </a:ext>
            </a:extLst>
          </p:cNvPr>
          <p:cNvSpPr>
            <a:spLocks noGrp="1"/>
          </p:cNvSpPr>
          <p:nvPr/>
        </p:nvSpPr>
        <p:spPr>
          <a:xfrm>
            <a:off x="9277350" y="1714500"/>
            <a:ext cx="2609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外部输入摄取</a:t>
            </a:r>
          </a:p>
        </p:txBody>
      </p:sp>
      <p:sp>
        <p:nvSpPr>
          <p:cNvPr id="17" name="p19-b-3">
            <a:extLst>
              <a:ext uri="{FF2B5EF4-FFF2-40B4-BE49-F238E27FC236}">
                <a16:creationId xmlns:a16="http://schemas.microsoft.com/office/drawing/2014/main" id="{E021E1DD-AA31-4C3A-94EA-C3255EE2509D}"/>
              </a:ext>
            </a:extLst>
          </p:cNvPr>
          <p:cNvSpPr>
            <a:spLocks noGrp="1"/>
          </p:cNvSpPr>
          <p:nvPr/>
        </p:nvSpPr>
        <p:spPr>
          <a:xfrm>
            <a:off x="9277350" y="2495550"/>
            <a:ext cx="2609850" cy="18097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lnSpc>
                <a:spcPct val="13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论文｜代码｜数据｜规范｜观察</a:t>
            </a:r>
          </a:p>
        </p:txBody>
      </p:sp>
      <p:sp>
        <p:nvSpPr>
          <p:cNvPr id="18" name="p19-bottom">
            <a:extLst>
              <a:ext uri="{FF2B5EF4-FFF2-40B4-BE49-F238E27FC236}">
                <a16:creationId xmlns:a16="http://schemas.microsoft.com/office/drawing/2014/main" id="{E331829B-5A16-44D3-836A-4B8D810653B9}"/>
              </a:ext>
            </a:extLst>
          </p:cNvPr>
          <p:cNvSpPr>
            <a:spLocks noGrp="1"/>
          </p:cNvSpPr>
          <p:nvPr/>
        </p:nvSpPr>
        <p:spPr>
          <a:xfrm>
            <a:off x="2857500" y="495300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00" b="1">
                <a:solidFill>
                  <a:srgbClr val="C8161E"/>
                </a:solidFill>
              </a:defRPr>
            </a:pPr>
            <a:r>
              <a:rPr sz="21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AI 可以生成候选，不能宣布机制成立。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 5-8：证据整理、研究判断、原型验证与回写表达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844E025A-983C-6D44-79C6-4612AACD43FC}" type="slidenum">
              <a:t>20</a:t>
            </a:fld>
            <a:endParaRPr/>
          </a:p>
        </p:txBody>
      </p:sp>
      <p:sp>
        <p:nvSpPr>
          <p:cNvPr id="6" name="p20-n-0">
            <a:extLst>
              <a:ext uri="{FF2B5EF4-FFF2-40B4-BE49-F238E27FC236}">
                <a16:creationId xmlns:a16="http://schemas.microsoft.com/office/drawing/2014/main" id="{9FDE9B9C-87FA-448D-8681-2D3D075F85F4}"/>
              </a:ext>
            </a:extLst>
          </p:cNvPr>
          <p:cNvSpPr>
            <a:spLocks noGrp="1"/>
          </p:cNvSpPr>
          <p:nvPr/>
        </p:nvSpPr>
        <p:spPr>
          <a:xfrm>
            <a:off x="647700" y="1104900"/>
            <a:ext cx="781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75" b="1">
                <a:solidFill>
                  <a:srgbClr val="18354E"/>
                </a:solidFill>
              </a:defRPr>
            </a:pPr>
            <a:r>
              <a:rPr sz="2175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p20-t-0">
            <a:extLst>
              <a:ext uri="{FF2B5EF4-FFF2-40B4-BE49-F238E27FC236}">
                <a16:creationId xmlns:a16="http://schemas.microsoft.com/office/drawing/2014/main" id="{90F4EA87-0268-4241-86A3-63B63C0B7DD1}"/>
              </a:ext>
            </a:extLst>
          </p:cNvPr>
          <p:cNvSpPr>
            <a:spLocks noGrp="1"/>
          </p:cNvSpPr>
          <p:nvPr/>
        </p:nvSpPr>
        <p:spPr>
          <a:xfrm>
            <a:off x="647700" y="1714500"/>
            <a:ext cx="2609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证据整理</a:t>
            </a:r>
          </a:p>
        </p:txBody>
      </p:sp>
      <p:sp>
        <p:nvSpPr>
          <p:cNvPr id="8" name="p20-b-0">
            <a:extLst>
              <a:ext uri="{FF2B5EF4-FFF2-40B4-BE49-F238E27FC236}">
                <a16:creationId xmlns:a16="http://schemas.microsoft.com/office/drawing/2014/main" id="{76F6121B-DF5D-448D-B3CD-AC87C5D75262}"/>
              </a:ext>
            </a:extLst>
          </p:cNvPr>
          <p:cNvSpPr>
            <a:spLocks noGrp="1"/>
          </p:cNvSpPr>
          <p:nvPr/>
        </p:nvSpPr>
        <p:spPr>
          <a:xfrm>
            <a:off x="647700" y="2495550"/>
            <a:ext cx="2609850" cy="18097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lnSpc>
                <a:spcPct val="13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支持｜反驳｜冲突｜空白</a:t>
            </a:r>
          </a:p>
        </p:txBody>
      </p:sp>
      <p:sp>
        <p:nvSpPr>
          <p:cNvPr id="9" name="p20-n-1">
            <a:extLst>
              <a:ext uri="{FF2B5EF4-FFF2-40B4-BE49-F238E27FC236}">
                <a16:creationId xmlns:a16="http://schemas.microsoft.com/office/drawing/2014/main" id="{5D60ED63-1877-4A6B-B7E6-820EE9A2E703}"/>
              </a:ext>
            </a:extLst>
          </p:cNvPr>
          <p:cNvSpPr>
            <a:spLocks noGrp="1"/>
          </p:cNvSpPr>
          <p:nvPr/>
        </p:nvSpPr>
        <p:spPr>
          <a:xfrm>
            <a:off x="3524250" y="1104900"/>
            <a:ext cx="781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75" b="1">
                <a:solidFill>
                  <a:srgbClr val="18354E"/>
                </a:solidFill>
              </a:defRPr>
            </a:pPr>
            <a:r>
              <a:rPr sz="2175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0" name="p20-t-1">
            <a:extLst>
              <a:ext uri="{FF2B5EF4-FFF2-40B4-BE49-F238E27FC236}">
                <a16:creationId xmlns:a16="http://schemas.microsoft.com/office/drawing/2014/main" id="{25AFDB82-91AF-4C28-A99D-569975E625C7}"/>
              </a:ext>
            </a:extLst>
          </p:cNvPr>
          <p:cNvSpPr>
            <a:spLocks noGrp="1"/>
          </p:cNvSpPr>
          <p:nvPr/>
        </p:nvSpPr>
        <p:spPr>
          <a:xfrm>
            <a:off x="3524250" y="1714500"/>
            <a:ext cx="2609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研究判断</a:t>
            </a:r>
          </a:p>
        </p:txBody>
      </p:sp>
      <p:sp>
        <p:nvSpPr>
          <p:cNvPr id="11" name="p20-b-1">
            <a:extLst>
              <a:ext uri="{FF2B5EF4-FFF2-40B4-BE49-F238E27FC236}">
                <a16:creationId xmlns:a16="http://schemas.microsoft.com/office/drawing/2014/main" id="{BE921926-180A-4780-A916-4D33DC946336}"/>
              </a:ext>
            </a:extLst>
          </p:cNvPr>
          <p:cNvSpPr>
            <a:spLocks noGrp="1"/>
          </p:cNvSpPr>
          <p:nvPr/>
        </p:nvSpPr>
        <p:spPr>
          <a:xfrm>
            <a:off x="3524250" y="2495550"/>
            <a:ext cx="2609850" cy="18097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lnSpc>
                <a:spcPct val="13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采用什么？放弃什么？</a:t>
            </a:r>
          </a:p>
          <a:p>
            <a:pPr algn="ctr">
              <a:lnSpc>
                <a:spcPct val="13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依据、边界、待验证项</a:t>
            </a:r>
          </a:p>
        </p:txBody>
      </p:sp>
      <p:sp>
        <p:nvSpPr>
          <p:cNvPr id="12" name="p20-n-2">
            <a:extLst>
              <a:ext uri="{FF2B5EF4-FFF2-40B4-BE49-F238E27FC236}">
                <a16:creationId xmlns:a16="http://schemas.microsoft.com/office/drawing/2014/main" id="{CE70ADA8-1A7F-4E35-A614-3F7E2BE8D7D2}"/>
              </a:ext>
            </a:extLst>
          </p:cNvPr>
          <p:cNvSpPr>
            <a:spLocks noGrp="1"/>
          </p:cNvSpPr>
          <p:nvPr/>
        </p:nvSpPr>
        <p:spPr>
          <a:xfrm>
            <a:off x="6400800" y="1104900"/>
            <a:ext cx="781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75" b="1">
                <a:solidFill>
                  <a:srgbClr val="18354E"/>
                </a:solidFill>
              </a:defRPr>
            </a:pPr>
            <a:r>
              <a:rPr sz="2175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3" name="p20-t-2">
            <a:extLst>
              <a:ext uri="{FF2B5EF4-FFF2-40B4-BE49-F238E27FC236}">
                <a16:creationId xmlns:a16="http://schemas.microsoft.com/office/drawing/2014/main" id="{B8A456CE-977F-4486-8E00-37359925FF52}"/>
              </a:ext>
            </a:extLst>
          </p:cNvPr>
          <p:cNvSpPr>
            <a:spLocks noGrp="1"/>
          </p:cNvSpPr>
          <p:nvPr/>
        </p:nvSpPr>
        <p:spPr>
          <a:xfrm>
            <a:off x="6400800" y="1714500"/>
            <a:ext cx="2609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原型验证</a:t>
            </a:r>
          </a:p>
        </p:txBody>
      </p:sp>
      <p:sp>
        <p:nvSpPr>
          <p:cNvPr id="14" name="p20-b-2">
            <a:extLst>
              <a:ext uri="{FF2B5EF4-FFF2-40B4-BE49-F238E27FC236}">
                <a16:creationId xmlns:a16="http://schemas.microsoft.com/office/drawing/2014/main" id="{94D846F3-E4F0-4D80-A084-B609ED5DEF28}"/>
              </a:ext>
            </a:extLst>
          </p:cNvPr>
          <p:cNvSpPr>
            <a:spLocks noGrp="1"/>
          </p:cNvSpPr>
          <p:nvPr/>
        </p:nvSpPr>
        <p:spPr>
          <a:xfrm>
            <a:off x="6400800" y="2495550"/>
            <a:ext cx="2609850" cy="18097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lnSpc>
                <a:spcPct val="13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baseline｜变量｜指标</a:t>
            </a:r>
          </a:p>
          <a:p>
            <a:pPr algn="ctr">
              <a:lnSpc>
                <a:spcPct val="13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预算｜停止条件｜失败</a:t>
            </a:r>
          </a:p>
        </p:txBody>
      </p:sp>
      <p:sp>
        <p:nvSpPr>
          <p:cNvPr id="15" name="p20-n-3">
            <a:extLst>
              <a:ext uri="{FF2B5EF4-FFF2-40B4-BE49-F238E27FC236}">
                <a16:creationId xmlns:a16="http://schemas.microsoft.com/office/drawing/2014/main" id="{216233A7-410C-4594-B305-7113DF5A5E74}"/>
              </a:ext>
            </a:extLst>
          </p:cNvPr>
          <p:cNvSpPr>
            <a:spLocks noGrp="1"/>
          </p:cNvSpPr>
          <p:nvPr/>
        </p:nvSpPr>
        <p:spPr>
          <a:xfrm>
            <a:off x="9277350" y="1104900"/>
            <a:ext cx="781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75" b="1">
                <a:solidFill>
                  <a:srgbClr val="C8161E"/>
                </a:solidFill>
              </a:defRPr>
            </a:pPr>
            <a:r>
              <a:rPr sz="217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6" name="p20-t-3">
            <a:extLst>
              <a:ext uri="{FF2B5EF4-FFF2-40B4-BE49-F238E27FC236}">
                <a16:creationId xmlns:a16="http://schemas.microsoft.com/office/drawing/2014/main" id="{229B02C8-251D-4D3B-8A39-D0E2A87B6589}"/>
              </a:ext>
            </a:extLst>
          </p:cNvPr>
          <p:cNvSpPr>
            <a:spLocks noGrp="1"/>
          </p:cNvSpPr>
          <p:nvPr/>
        </p:nvSpPr>
        <p:spPr>
          <a:xfrm>
            <a:off x="9277350" y="1714500"/>
            <a:ext cx="2609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回写与表达</a:t>
            </a:r>
          </a:p>
        </p:txBody>
      </p:sp>
      <p:sp>
        <p:nvSpPr>
          <p:cNvPr id="17" name="p20-b-3">
            <a:extLst>
              <a:ext uri="{FF2B5EF4-FFF2-40B4-BE49-F238E27FC236}">
                <a16:creationId xmlns:a16="http://schemas.microsoft.com/office/drawing/2014/main" id="{61CCF3A3-47E2-4935-AE6B-4984DC2D5433}"/>
              </a:ext>
            </a:extLst>
          </p:cNvPr>
          <p:cNvSpPr>
            <a:spLocks noGrp="1"/>
          </p:cNvSpPr>
          <p:nvPr/>
        </p:nvSpPr>
        <p:spPr>
          <a:xfrm>
            <a:off x="9277350" y="2495550"/>
            <a:ext cx="2609850" cy="1809750"/>
          </a:xfrm>
          <a:prstGeom prst="rect">
            <a:avLst/>
          </a:prstGeom>
          <a:solidFill>
            <a:srgbClr val="F8E9EA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lnSpc>
                <a:spcPct val="13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结论回到证据、实验</a:t>
            </a:r>
          </a:p>
          <a:p>
            <a:pPr algn="ctr">
              <a:lnSpc>
                <a:spcPct val="130000"/>
              </a:lnSpc>
              <a:buNone/>
              <a:defRPr sz="1575" b="0">
                <a:solidFill>
                  <a:srgbClr val="263746"/>
                </a:solidFill>
              </a:defRPr>
            </a:pPr>
            <a:r>
              <a:rPr sz="15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和上游决定</a:t>
            </a:r>
          </a:p>
        </p:txBody>
      </p:sp>
      <p:sp>
        <p:nvSpPr>
          <p:cNvPr id="18" name="p20-bottom">
            <a:extLst>
              <a:ext uri="{FF2B5EF4-FFF2-40B4-BE49-F238E27FC236}">
                <a16:creationId xmlns:a16="http://schemas.microsoft.com/office/drawing/2014/main" id="{BC29CD5D-080E-4060-A51F-A336258430D5}"/>
              </a:ext>
            </a:extLst>
          </p:cNvPr>
          <p:cNvSpPr>
            <a:spLocks noGrp="1"/>
          </p:cNvSpPr>
          <p:nvPr/>
        </p:nvSpPr>
        <p:spPr>
          <a:xfrm>
            <a:off x="2190750" y="4953000"/>
            <a:ext cx="781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整理不是结论；判断必须说明边界和待验证项。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八阶段不是瀑布流程，而是带记录的回退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6DF2BE2-2DFA-1C03-677D-BDC2260D6D92}" type="slidenum">
              <a:t>21</a:t>
            </a:fld>
            <a:endParaRPr/>
          </a:p>
        </p:txBody>
      </p:sp>
      <p:sp>
        <p:nvSpPr>
          <p:cNvPr id="6" name="p21-arrow-0">
            <a:extLst>
              <a:ext uri="{FF2B5EF4-FFF2-40B4-BE49-F238E27FC236}">
                <a16:creationId xmlns:a16="http://schemas.microsoft.com/office/drawing/2014/main" id="{6D8C6CCE-D9DF-47FE-AEDC-5E002B4DE3BC}"/>
              </a:ext>
            </a:extLst>
          </p:cNvPr>
          <p:cNvSpPr>
            <a:spLocks noGrp="1"/>
          </p:cNvSpPr>
          <p:nvPr/>
        </p:nvSpPr>
        <p:spPr>
          <a:xfrm>
            <a:off x="1754981" y="13716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75" b="1">
                <a:solidFill>
                  <a:srgbClr val="667684"/>
                </a:solidFill>
              </a:defRPr>
            </a:pPr>
            <a:r>
              <a:rPr sz="18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21-num-0">
            <a:extLst>
              <a:ext uri="{FF2B5EF4-FFF2-40B4-BE49-F238E27FC236}">
                <a16:creationId xmlns:a16="http://schemas.microsoft.com/office/drawing/2014/main" id="{E6B208BD-8706-4D1A-B13F-676FC1D837F6}"/>
              </a:ext>
            </a:extLst>
          </p:cNvPr>
          <p:cNvSpPr>
            <a:spLocks noGrp="1"/>
          </p:cNvSpPr>
          <p:nvPr/>
        </p:nvSpPr>
        <p:spPr>
          <a:xfrm>
            <a:off x="609600" y="1085850"/>
            <a:ext cx="122158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p21-text-0">
            <a:extLst>
              <a:ext uri="{FF2B5EF4-FFF2-40B4-BE49-F238E27FC236}">
                <a16:creationId xmlns:a16="http://schemas.microsoft.com/office/drawing/2014/main" id="{FB7E3B6F-1EFB-47C3-AD45-F59C513BE195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1221581" cy="60960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9" name="p21-arrow-1">
            <a:extLst>
              <a:ext uri="{FF2B5EF4-FFF2-40B4-BE49-F238E27FC236}">
                <a16:creationId xmlns:a16="http://schemas.microsoft.com/office/drawing/2014/main" id="{62F84F10-0B4C-4CEE-BDA3-A8A6630F82D4}"/>
              </a:ext>
            </a:extLst>
          </p:cNvPr>
          <p:cNvSpPr>
            <a:spLocks noGrp="1"/>
          </p:cNvSpPr>
          <p:nvPr/>
        </p:nvSpPr>
        <p:spPr>
          <a:xfrm>
            <a:off x="3148013" y="13716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75" b="1">
                <a:solidFill>
                  <a:srgbClr val="667684"/>
                </a:solidFill>
              </a:defRPr>
            </a:pPr>
            <a:r>
              <a:rPr sz="18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21-num-1">
            <a:extLst>
              <a:ext uri="{FF2B5EF4-FFF2-40B4-BE49-F238E27FC236}">
                <a16:creationId xmlns:a16="http://schemas.microsoft.com/office/drawing/2014/main" id="{298BB0F8-FF60-44A2-A80A-E6412DA6941F}"/>
              </a:ext>
            </a:extLst>
          </p:cNvPr>
          <p:cNvSpPr>
            <a:spLocks noGrp="1"/>
          </p:cNvSpPr>
          <p:nvPr/>
        </p:nvSpPr>
        <p:spPr>
          <a:xfrm>
            <a:off x="2002631" y="1085850"/>
            <a:ext cx="122158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p21-text-1">
            <a:extLst>
              <a:ext uri="{FF2B5EF4-FFF2-40B4-BE49-F238E27FC236}">
                <a16:creationId xmlns:a16="http://schemas.microsoft.com/office/drawing/2014/main" id="{895F1B3E-407A-4B97-B07D-423D02D17395}"/>
              </a:ext>
            </a:extLst>
          </p:cNvPr>
          <p:cNvSpPr>
            <a:spLocks noGrp="1"/>
          </p:cNvSpPr>
          <p:nvPr/>
        </p:nvSpPr>
        <p:spPr>
          <a:xfrm>
            <a:off x="2002631" y="1447800"/>
            <a:ext cx="1221581" cy="60960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原理</a:t>
            </a:r>
          </a:p>
        </p:txBody>
      </p:sp>
      <p:sp>
        <p:nvSpPr>
          <p:cNvPr id="12" name="p21-arrow-2">
            <a:extLst>
              <a:ext uri="{FF2B5EF4-FFF2-40B4-BE49-F238E27FC236}">
                <a16:creationId xmlns:a16="http://schemas.microsoft.com/office/drawing/2014/main" id="{C53E89AB-1641-453E-9152-4603DCC17CE8}"/>
              </a:ext>
            </a:extLst>
          </p:cNvPr>
          <p:cNvSpPr>
            <a:spLocks noGrp="1"/>
          </p:cNvSpPr>
          <p:nvPr/>
        </p:nvSpPr>
        <p:spPr>
          <a:xfrm>
            <a:off x="4541044" y="13716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75" b="1">
                <a:solidFill>
                  <a:srgbClr val="667684"/>
                </a:solidFill>
              </a:defRPr>
            </a:pPr>
            <a:r>
              <a:rPr sz="18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21-num-2">
            <a:extLst>
              <a:ext uri="{FF2B5EF4-FFF2-40B4-BE49-F238E27FC236}">
                <a16:creationId xmlns:a16="http://schemas.microsoft.com/office/drawing/2014/main" id="{52CB9361-8E64-4348-95C3-3E61C263F457}"/>
              </a:ext>
            </a:extLst>
          </p:cNvPr>
          <p:cNvSpPr>
            <a:spLocks noGrp="1"/>
          </p:cNvSpPr>
          <p:nvPr/>
        </p:nvSpPr>
        <p:spPr>
          <a:xfrm>
            <a:off x="3395663" y="1085850"/>
            <a:ext cx="122158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p21-text-2">
            <a:extLst>
              <a:ext uri="{FF2B5EF4-FFF2-40B4-BE49-F238E27FC236}">
                <a16:creationId xmlns:a16="http://schemas.microsoft.com/office/drawing/2014/main" id="{D55D6CA8-A380-42E4-AA6C-51B05378F81A}"/>
              </a:ext>
            </a:extLst>
          </p:cNvPr>
          <p:cNvSpPr>
            <a:spLocks noGrp="1"/>
          </p:cNvSpPr>
          <p:nvPr/>
        </p:nvSpPr>
        <p:spPr>
          <a:xfrm>
            <a:off x="3395663" y="1447800"/>
            <a:ext cx="1221581" cy="60960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假设</a:t>
            </a:r>
          </a:p>
        </p:txBody>
      </p:sp>
      <p:sp>
        <p:nvSpPr>
          <p:cNvPr id="15" name="p21-arrow-3">
            <a:extLst>
              <a:ext uri="{FF2B5EF4-FFF2-40B4-BE49-F238E27FC236}">
                <a16:creationId xmlns:a16="http://schemas.microsoft.com/office/drawing/2014/main" id="{75693399-128B-403E-B091-216DD95BD9DA}"/>
              </a:ext>
            </a:extLst>
          </p:cNvPr>
          <p:cNvSpPr>
            <a:spLocks noGrp="1"/>
          </p:cNvSpPr>
          <p:nvPr/>
        </p:nvSpPr>
        <p:spPr>
          <a:xfrm>
            <a:off x="5934075" y="13716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75" b="1">
                <a:solidFill>
                  <a:srgbClr val="667684"/>
                </a:solidFill>
              </a:defRPr>
            </a:pPr>
            <a:r>
              <a:rPr sz="18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p21-num-3">
            <a:extLst>
              <a:ext uri="{FF2B5EF4-FFF2-40B4-BE49-F238E27FC236}">
                <a16:creationId xmlns:a16="http://schemas.microsoft.com/office/drawing/2014/main" id="{BB428802-B04E-4CF2-BA47-34B1DBD7B5BD}"/>
              </a:ext>
            </a:extLst>
          </p:cNvPr>
          <p:cNvSpPr>
            <a:spLocks noGrp="1"/>
          </p:cNvSpPr>
          <p:nvPr/>
        </p:nvSpPr>
        <p:spPr>
          <a:xfrm>
            <a:off x="4788694" y="1085850"/>
            <a:ext cx="122158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p21-text-3">
            <a:extLst>
              <a:ext uri="{FF2B5EF4-FFF2-40B4-BE49-F238E27FC236}">
                <a16:creationId xmlns:a16="http://schemas.microsoft.com/office/drawing/2014/main" id="{F9110273-97D6-40BF-8F64-3ACBE8F4EA12}"/>
              </a:ext>
            </a:extLst>
          </p:cNvPr>
          <p:cNvSpPr>
            <a:spLocks noGrp="1"/>
          </p:cNvSpPr>
          <p:nvPr/>
        </p:nvSpPr>
        <p:spPr>
          <a:xfrm>
            <a:off x="4788694" y="1447800"/>
            <a:ext cx="1221581" cy="60960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8" name="p21-arrow-4">
            <a:extLst>
              <a:ext uri="{FF2B5EF4-FFF2-40B4-BE49-F238E27FC236}">
                <a16:creationId xmlns:a16="http://schemas.microsoft.com/office/drawing/2014/main" id="{3502F6A5-1274-4ED1-978C-EAA5B479F5E3}"/>
              </a:ext>
            </a:extLst>
          </p:cNvPr>
          <p:cNvSpPr>
            <a:spLocks noGrp="1"/>
          </p:cNvSpPr>
          <p:nvPr/>
        </p:nvSpPr>
        <p:spPr>
          <a:xfrm>
            <a:off x="7327106" y="13716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75" b="1">
                <a:solidFill>
                  <a:srgbClr val="667684"/>
                </a:solidFill>
              </a:defRPr>
            </a:pPr>
            <a:r>
              <a:rPr sz="18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p21-num-4">
            <a:extLst>
              <a:ext uri="{FF2B5EF4-FFF2-40B4-BE49-F238E27FC236}">
                <a16:creationId xmlns:a16="http://schemas.microsoft.com/office/drawing/2014/main" id="{267715B3-6C8D-42E2-9436-091C6911E73C}"/>
              </a:ext>
            </a:extLst>
          </p:cNvPr>
          <p:cNvSpPr>
            <a:spLocks noGrp="1"/>
          </p:cNvSpPr>
          <p:nvPr/>
        </p:nvSpPr>
        <p:spPr>
          <a:xfrm>
            <a:off x="6181725" y="1085850"/>
            <a:ext cx="122158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p21-text-4">
            <a:extLst>
              <a:ext uri="{FF2B5EF4-FFF2-40B4-BE49-F238E27FC236}">
                <a16:creationId xmlns:a16="http://schemas.microsoft.com/office/drawing/2014/main" id="{AE07E93A-8F8E-4BE1-9ABF-7CF44D0C4285}"/>
              </a:ext>
            </a:extLst>
          </p:cNvPr>
          <p:cNvSpPr>
            <a:spLocks noGrp="1"/>
          </p:cNvSpPr>
          <p:nvPr/>
        </p:nvSpPr>
        <p:spPr>
          <a:xfrm>
            <a:off x="6181725" y="1447800"/>
            <a:ext cx="1221581" cy="60960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21" name="p21-arrow-5">
            <a:extLst>
              <a:ext uri="{FF2B5EF4-FFF2-40B4-BE49-F238E27FC236}">
                <a16:creationId xmlns:a16="http://schemas.microsoft.com/office/drawing/2014/main" id="{0FACE9AE-CD49-4985-AC19-77F7B9BE15AF}"/>
              </a:ext>
            </a:extLst>
          </p:cNvPr>
          <p:cNvSpPr>
            <a:spLocks noGrp="1"/>
          </p:cNvSpPr>
          <p:nvPr/>
        </p:nvSpPr>
        <p:spPr>
          <a:xfrm>
            <a:off x="8720138" y="13716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75" b="1">
                <a:solidFill>
                  <a:srgbClr val="667684"/>
                </a:solidFill>
              </a:defRPr>
            </a:pPr>
            <a:r>
              <a:rPr sz="18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p21-num-5">
            <a:extLst>
              <a:ext uri="{FF2B5EF4-FFF2-40B4-BE49-F238E27FC236}">
                <a16:creationId xmlns:a16="http://schemas.microsoft.com/office/drawing/2014/main" id="{4E44A96B-8365-4D7F-A6B6-68CB4DD593C0}"/>
              </a:ext>
            </a:extLst>
          </p:cNvPr>
          <p:cNvSpPr>
            <a:spLocks noGrp="1"/>
          </p:cNvSpPr>
          <p:nvPr/>
        </p:nvSpPr>
        <p:spPr>
          <a:xfrm>
            <a:off x="7574756" y="1085850"/>
            <a:ext cx="122158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p21-text-5">
            <a:extLst>
              <a:ext uri="{FF2B5EF4-FFF2-40B4-BE49-F238E27FC236}">
                <a16:creationId xmlns:a16="http://schemas.microsoft.com/office/drawing/2014/main" id="{A47CE8F2-843D-44ED-B074-A8AFFB25B81A}"/>
              </a:ext>
            </a:extLst>
          </p:cNvPr>
          <p:cNvSpPr>
            <a:spLocks noGrp="1"/>
          </p:cNvSpPr>
          <p:nvPr/>
        </p:nvSpPr>
        <p:spPr>
          <a:xfrm>
            <a:off x="7574756" y="1447800"/>
            <a:ext cx="1221581" cy="60960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4" name="p21-arrow-6">
            <a:extLst>
              <a:ext uri="{FF2B5EF4-FFF2-40B4-BE49-F238E27FC236}">
                <a16:creationId xmlns:a16="http://schemas.microsoft.com/office/drawing/2014/main" id="{6CD067A1-5426-475D-BA61-9B5AFCF45218}"/>
              </a:ext>
            </a:extLst>
          </p:cNvPr>
          <p:cNvSpPr>
            <a:spLocks noGrp="1"/>
          </p:cNvSpPr>
          <p:nvPr/>
        </p:nvSpPr>
        <p:spPr>
          <a:xfrm>
            <a:off x="10113169" y="13716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75" b="1">
                <a:solidFill>
                  <a:srgbClr val="667684"/>
                </a:solidFill>
              </a:defRPr>
            </a:pPr>
            <a:r>
              <a:rPr sz="1875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p21-num-6">
            <a:extLst>
              <a:ext uri="{FF2B5EF4-FFF2-40B4-BE49-F238E27FC236}">
                <a16:creationId xmlns:a16="http://schemas.microsoft.com/office/drawing/2014/main" id="{CB5ED395-D710-4BEA-BAFE-F4725CF968AF}"/>
              </a:ext>
            </a:extLst>
          </p:cNvPr>
          <p:cNvSpPr>
            <a:spLocks noGrp="1"/>
          </p:cNvSpPr>
          <p:nvPr/>
        </p:nvSpPr>
        <p:spPr>
          <a:xfrm>
            <a:off x="8967788" y="1085850"/>
            <a:ext cx="122158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6" name="p21-text-6">
            <a:extLst>
              <a:ext uri="{FF2B5EF4-FFF2-40B4-BE49-F238E27FC236}">
                <a16:creationId xmlns:a16="http://schemas.microsoft.com/office/drawing/2014/main" id="{B5F1157C-BBC4-4FBF-BB7F-DA6980AEE399}"/>
              </a:ext>
            </a:extLst>
          </p:cNvPr>
          <p:cNvSpPr>
            <a:spLocks noGrp="1"/>
          </p:cNvSpPr>
          <p:nvPr/>
        </p:nvSpPr>
        <p:spPr>
          <a:xfrm>
            <a:off x="8967788" y="1447800"/>
            <a:ext cx="1221581" cy="60960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7" name="p21-num-7">
            <a:extLst>
              <a:ext uri="{FF2B5EF4-FFF2-40B4-BE49-F238E27FC236}">
                <a16:creationId xmlns:a16="http://schemas.microsoft.com/office/drawing/2014/main" id="{498A668D-710A-426B-9053-A9BF7F15D131}"/>
              </a:ext>
            </a:extLst>
          </p:cNvPr>
          <p:cNvSpPr>
            <a:spLocks noGrp="1"/>
          </p:cNvSpPr>
          <p:nvPr/>
        </p:nvSpPr>
        <p:spPr>
          <a:xfrm>
            <a:off x="10360819" y="1085850"/>
            <a:ext cx="122158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8" name="p21-text-7">
            <a:extLst>
              <a:ext uri="{FF2B5EF4-FFF2-40B4-BE49-F238E27FC236}">
                <a16:creationId xmlns:a16="http://schemas.microsoft.com/office/drawing/2014/main" id="{30535371-B996-4EFB-BEE0-4EECFFE8F79C}"/>
              </a:ext>
            </a:extLst>
          </p:cNvPr>
          <p:cNvSpPr>
            <a:spLocks noGrp="1"/>
          </p:cNvSpPr>
          <p:nvPr/>
        </p:nvSpPr>
        <p:spPr>
          <a:xfrm>
            <a:off x="10360819" y="1447800"/>
            <a:ext cx="1221581" cy="60960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表达</a:t>
            </a:r>
          </a:p>
        </p:txBody>
      </p:sp>
      <p:sp>
        <p:nvSpPr>
          <p:cNvPr id="29" name="p21-c-0">
            <a:extLst>
              <a:ext uri="{FF2B5EF4-FFF2-40B4-BE49-F238E27FC236}">
                <a16:creationId xmlns:a16="http://schemas.microsoft.com/office/drawing/2014/main" id="{F2889906-4F0C-4AE3-80EC-E1A3AEDFE900}"/>
              </a:ext>
            </a:extLst>
          </p:cNvPr>
          <p:cNvSpPr>
            <a:spLocks noGrp="1"/>
          </p:cNvSpPr>
          <p:nvPr/>
        </p:nvSpPr>
        <p:spPr>
          <a:xfrm>
            <a:off x="1143000" y="2133600"/>
            <a:ext cx="3619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阅读发现定义错误</a:t>
            </a:r>
          </a:p>
        </p:txBody>
      </p:sp>
      <p:sp>
        <p:nvSpPr>
          <p:cNvPr id="30" name="p21-l-0">
            <a:extLst>
              <a:ext uri="{FF2B5EF4-FFF2-40B4-BE49-F238E27FC236}">
                <a16:creationId xmlns:a16="http://schemas.microsoft.com/office/drawing/2014/main" id="{03661E86-29BB-4E0C-AB1D-3798456A2BEA}"/>
              </a:ext>
            </a:extLst>
          </p:cNvPr>
          <p:cNvSpPr>
            <a:spLocks noGrp="1"/>
          </p:cNvSpPr>
          <p:nvPr/>
        </p:nvSpPr>
        <p:spPr>
          <a:xfrm>
            <a:off x="4914900" y="2362200"/>
            <a:ext cx="1428750" cy="38100"/>
          </a:xfrm>
          <a:prstGeom prst="rect">
            <a:avLst/>
          </a:prstGeom>
          <a:solidFill>
            <a:srgbClr val="C8161E"/>
          </a:solidFill>
          <a:ln w="0">
            <a:noFill/>
            <a:prstDash val="solid"/>
          </a:ln>
        </p:spPr>
      </p:sp>
      <p:sp>
        <p:nvSpPr>
          <p:cNvPr id="31" name="p21-arrow-0">
            <a:extLst>
              <a:ext uri="{FF2B5EF4-FFF2-40B4-BE49-F238E27FC236}">
                <a16:creationId xmlns:a16="http://schemas.microsoft.com/office/drawing/2014/main" id="{9CE6B05E-AF0F-4986-8EA1-476EBBADBB47}"/>
              </a:ext>
            </a:extLst>
          </p:cNvPr>
          <p:cNvSpPr>
            <a:spLocks noGrp="1"/>
          </p:cNvSpPr>
          <p:nvPr/>
        </p:nvSpPr>
        <p:spPr>
          <a:xfrm>
            <a:off x="6153150" y="2181225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32" name="p21-a-0">
            <a:extLst>
              <a:ext uri="{FF2B5EF4-FFF2-40B4-BE49-F238E27FC236}">
                <a16:creationId xmlns:a16="http://schemas.microsoft.com/office/drawing/2014/main" id="{56FA9F5B-FB06-4481-B630-3E1DDE771E54}"/>
              </a:ext>
            </a:extLst>
          </p:cNvPr>
          <p:cNvSpPr>
            <a:spLocks noGrp="1"/>
          </p:cNvSpPr>
          <p:nvPr/>
        </p:nvSpPr>
        <p:spPr>
          <a:xfrm>
            <a:off x="6896100" y="2133600"/>
            <a:ext cx="3714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回到问题</a:t>
            </a:r>
          </a:p>
        </p:txBody>
      </p:sp>
      <p:sp>
        <p:nvSpPr>
          <p:cNvPr id="33" name="p21-c-1">
            <a:extLst>
              <a:ext uri="{FF2B5EF4-FFF2-40B4-BE49-F238E27FC236}">
                <a16:creationId xmlns:a16="http://schemas.microsoft.com/office/drawing/2014/main" id="{EFD1E014-DAB2-4DC8-B248-3F0B91E4C5F5}"/>
              </a:ext>
            </a:extLst>
          </p:cNvPr>
          <p:cNvSpPr>
            <a:spLocks noGrp="1"/>
          </p:cNvSpPr>
          <p:nvPr/>
        </p:nvSpPr>
        <p:spPr>
          <a:xfrm>
            <a:off x="1143000" y="2895600"/>
            <a:ext cx="3619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实验推翻机制</a:t>
            </a:r>
          </a:p>
        </p:txBody>
      </p:sp>
      <p:sp>
        <p:nvSpPr>
          <p:cNvPr id="34" name="p21-l-1">
            <a:extLst>
              <a:ext uri="{FF2B5EF4-FFF2-40B4-BE49-F238E27FC236}">
                <a16:creationId xmlns:a16="http://schemas.microsoft.com/office/drawing/2014/main" id="{FA2CED15-98F4-48FB-A9E6-A0FE6FAECAFA}"/>
              </a:ext>
            </a:extLst>
          </p:cNvPr>
          <p:cNvSpPr>
            <a:spLocks noGrp="1"/>
          </p:cNvSpPr>
          <p:nvPr/>
        </p:nvSpPr>
        <p:spPr>
          <a:xfrm>
            <a:off x="4914900" y="3124200"/>
            <a:ext cx="1428750" cy="38100"/>
          </a:xfrm>
          <a:prstGeom prst="rect">
            <a:avLst/>
          </a:prstGeom>
          <a:solidFill>
            <a:srgbClr val="18354E"/>
          </a:solidFill>
          <a:ln w="0">
            <a:noFill/>
            <a:prstDash val="solid"/>
          </a:ln>
        </p:spPr>
      </p:sp>
      <p:sp>
        <p:nvSpPr>
          <p:cNvPr id="35" name="p21-arrow-1">
            <a:extLst>
              <a:ext uri="{FF2B5EF4-FFF2-40B4-BE49-F238E27FC236}">
                <a16:creationId xmlns:a16="http://schemas.microsoft.com/office/drawing/2014/main" id="{12650FCB-2E5A-4FA0-A7EE-8AE3C809583A}"/>
              </a:ext>
            </a:extLst>
          </p:cNvPr>
          <p:cNvSpPr>
            <a:spLocks noGrp="1"/>
          </p:cNvSpPr>
          <p:nvPr/>
        </p:nvSpPr>
        <p:spPr>
          <a:xfrm>
            <a:off x="6153150" y="2943225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250" b="1">
                <a:solidFill>
                  <a:srgbClr val="18354E"/>
                </a:solidFill>
              </a:defRPr>
            </a:pPr>
            <a:r>
              <a:rPr sz="225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36" name="p21-a-1">
            <a:extLst>
              <a:ext uri="{FF2B5EF4-FFF2-40B4-BE49-F238E27FC236}">
                <a16:creationId xmlns:a16="http://schemas.microsoft.com/office/drawing/2014/main" id="{01BF0A69-8116-440C-850E-FFD119EEC987}"/>
              </a:ext>
            </a:extLst>
          </p:cNvPr>
          <p:cNvSpPr>
            <a:spLocks noGrp="1"/>
          </p:cNvSpPr>
          <p:nvPr/>
        </p:nvSpPr>
        <p:spPr>
          <a:xfrm>
            <a:off x="6896100" y="2895600"/>
            <a:ext cx="3714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回到假设</a:t>
            </a:r>
          </a:p>
        </p:txBody>
      </p:sp>
      <p:sp>
        <p:nvSpPr>
          <p:cNvPr id="37" name="p21-c-2">
            <a:extLst>
              <a:ext uri="{FF2B5EF4-FFF2-40B4-BE49-F238E27FC236}">
                <a16:creationId xmlns:a16="http://schemas.microsoft.com/office/drawing/2014/main" id="{9A0643D2-3F91-41A8-BDBE-7722E2B50D3F}"/>
              </a:ext>
            </a:extLst>
          </p:cNvPr>
          <p:cNvSpPr>
            <a:spLocks noGrp="1"/>
          </p:cNvSpPr>
          <p:nvPr/>
        </p:nvSpPr>
        <p:spPr>
          <a:xfrm>
            <a:off x="1143000" y="3657600"/>
            <a:ext cx="3619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写作暴露证据断裂</a:t>
            </a:r>
          </a:p>
        </p:txBody>
      </p:sp>
      <p:sp>
        <p:nvSpPr>
          <p:cNvPr id="38" name="p21-l-2">
            <a:extLst>
              <a:ext uri="{FF2B5EF4-FFF2-40B4-BE49-F238E27FC236}">
                <a16:creationId xmlns:a16="http://schemas.microsoft.com/office/drawing/2014/main" id="{82B1CD99-5CDD-4D3F-9EA5-794C7CA5BA8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428750" cy="38100"/>
          </a:xfrm>
          <a:prstGeom prst="rect">
            <a:avLst/>
          </a:prstGeom>
          <a:solidFill>
            <a:srgbClr val="A86C12"/>
          </a:solidFill>
          <a:ln w="0">
            <a:noFill/>
            <a:prstDash val="solid"/>
          </a:ln>
        </p:spPr>
      </p:sp>
      <p:sp>
        <p:nvSpPr>
          <p:cNvPr id="39" name="p21-arrow-2">
            <a:extLst>
              <a:ext uri="{FF2B5EF4-FFF2-40B4-BE49-F238E27FC236}">
                <a16:creationId xmlns:a16="http://schemas.microsoft.com/office/drawing/2014/main" id="{23E2B42A-400C-457E-8640-F7D6848B4496}"/>
              </a:ext>
            </a:extLst>
          </p:cNvPr>
          <p:cNvSpPr>
            <a:spLocks noGrp="1"/>
          </p:cNvSpPr>
          <p:nvPr/>
        </p:nvSpPr>
        <p:spPr>
          <a:xfrm>
            <a:off x="6153150" y="3705225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250" b="1">
                <a:solidFill>
                  <a:srgbClr val="A86C12"/>
                </a:solidFill>
              </a:defRPr>
            </a:pPr>
            <a:r>
              <a:rPr sz="2250" b="1">
                <a:solidFill>
                  <a:srgbClr val="A86C12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40" name="p21-a-2">
            <a:extLst>
              <a:ext uri="{FF2B5EF4-FFF2-40B4-BE49-F238E27FC236}">
                <a16:creationId xmlns:a16="http://schemas.microsoft.com/office/drawing/2014/main" id="{310AB729-9FA1-4703-B044-939AD5713E04}"/>
              </a:ext>
            </a:extLst>
          </p:cNvPr>
          <p:cNvSpPr>
            <a:spLocks noGrp="1"/>
          </p:cNvSpPr>
          <p:nvPr/>
        </p:nvSpPr>
        <p:spPr>
          <a:xfrm>
            <a:off x="6896100" y="3657600"/>
            <a:ext cx="3714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A86C12"/>
                </a:solidFill>
              </a:defRPr>
            </a:pPr>
            <a:r>
              <a:rPr sz="165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回到取证</a:t>
            </a:r>
          </a:p>
        </p:txBody>
      </p:sp>
      <p:sp>
        <p:nvSpPr>
          <p:cNvPr id="41" name="p21-c-3">
            <a:extLst>
              <a:ext uri="{FF2B5EF4-FFF2-40B4-BE49-F238E27FC236}">
                <a16:creationId xmlns:a16="http://schemas.microsoft.com/office/drawing/2014/main" id="{A6806BD8-06AA-4861-9764-C0CDCF0BB939}"/>
              </a:ext>
            </a:extLst>
          </p:cNvPr>
          <p:cNvSpPr>
            <a:spLocks noGrp="1"/>
          </p:cNvSpPr>
          <p:nvPr/>
        </p:nvSpPr>
        <p:spPr>
          <a:xfrm>
            <a:off x="1143000" y="4419600"/>
            <a:ext cx="3619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Agent 越权</a:t>
            </a:r>
          </a:p>
        </p:txBody>
      </p:sp>
      <p:sp>
        <p:nvSpPr>
          <p:cNvPr id="42" name="p21-l-3">
            <a:extLst>
              <a:ext uri="{FF2B5EF4-FFF2-40B4-BE49-F238E27FC236}">
                <a16:creationId xmlns:a16="http://schemas.microsoft.com/office/drawing/2014/main" id="{39857EE9-1EAB-4060-9719-71F1FF63391A}"/>
              </a:ext>
            </a:extLst>
          </p:cNvPr>
          <p:cNvSpPr>
            <a:spLocks noGrp="1"/>
          </p:cNvSpPr>
          <p:nvPr/>
        </p:nvSpPr>
        <p:spPr>
          <a:xfrm>
            <a:off x="4914900" y="4648200"/>
            <a:ext cx="1428750" cy="38100"/>
          </a:xfrm>
          <a:prstGeom prst="rect">
            <a:avLst/>
          </a:prstGeom>
          <a:solidFill>
            <a:srgbClr val="28745A"/>
          </a:solidFill>
          <a:ln w="0">
            <a:noFill/>
            <a:prstDash val="solid"/>
          </a:ln>
        </p:spPr>
      </p:sp>
      <p:sp>
        <p:nvSpPr>
          <p:cNvPr id="43" name="p21-arrow-3">
            <a:extLst>
              <a:ext uri="{FF2B5EF4-FFF2-40B4-BE49-F238E27FC236}">
                <a16:creationId xmlns:a16="http://schemas.microsoft.com/office/drawing/2014/main" id="{C03BAB91-FD4B-4AA1-8327-24B3B06BAE16}"/>
              </a:ext>
            </a:extLst>
          </p:cNvPr>
          <p:cNvSpPr>
            <a:spLocks noGrp="1"/>
          </p:cNvSpPr>
          <p:nvPr/>
        </p:nvSpPr>
        <p:spPr>
          <a:xfrm>
            <a:off x="6153150" y="4467225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250" b="1">
                <a:solidFill>
                  <a:srgbClr val="28745A"/>
                </a:solidFill>
              </a:defRPr>
            </a:pPr>
            <a:r>
              <a:rPr sz="2250" b="1">
                <a:solidFill>
                  <a:srgbClr val="28745A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44" name="p21-a-3">
            <a:extLst>
              <a:ext uri="{FF2B5EF4-FFF2-40B4-BE49-F238E27FC236}">
                <a16:creationId xmlns:a16="http://schemas.microsoft.com/office/drawing/2014/main" id="{1F5FD870-E5DE-4EDB-B51D-11FAE84B1521}"/>
              </a:ext>
            </a:extLst>
          </p:cNvPr>
          <p:cNvSpPr>
            <a:spLocks noGrp="1"/>
          </p:cNvSpPr>
          <p:nvPr/>
        </p:nvSpPr>
        <p:spPr>
          <a:xfrm>
            <a:off x="6896100" y="4419600"/>
            <a:ext cx="3714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28745A"/>
                </a:solidFill>
              </a:defRPr>
            </a:pPr>
            <a:r>
              <a:rPr sz="16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回到任务与权限</a:t>
            </a:r>
          </a:p>
        </p:txBody>
      </p:sp>
      <p:sp>
        <p:nvSpPr>
          <p:cNvPr id="45" name="p21-bottom">
            <a:extLst>
              <a:ext uri="{FF2B5EF4-FFF2-40B4-BE49-F238E27FC236}">
                <a16:creationId xmlns:a16="http://schemas.microsoft.com/office/drawing/2014/main" id="{FC1029FA-F6E7-49DB-BBF2-7E72937F4A88}"/>
              </a:ext>
            </a:extLst>
          </p:cNvPr>
          <p:cNvSpPr>
            <a:spLocks noGrp="1"/>
          </p:cNvSpPr>
          <p:nvPr/>
        </p:nvSpPr>
        <p:spPr>
          <a:xfrm>
            <a:off x="3143250" y="5257800"/>
            <a:ext cx="590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可以回退，但要知道为什么回退。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四个研究门阻止错误继续累积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BB18BA8-60F4-C50D-CD9B-1BB87D3E8506}" type="slidenum">
              <a:t>22</a:t>
            </a:fld>
            <a:endParaRPr/>
          </a:p>
        </p:txBody>
      </p:sp>
      <p:sp>
        <p:nvSpPr>
          <p:cNvPr id="6" name="p22-path">
            <a:extLst>
              <a:ext uri="{FF2B5EF4-FFF2-40B4-BE49-F238E27FC236}">
                <a16:creationId xmlns:a16="http://schemas.microsoft.com/office/drawing/2014/main" id="{9F2DBD4E-E176-4D8F-B7B8-F2EE1818240B}"/>
              </a:ext>
            </a:extLst>
          </p:cNvPr>
          <p:cNvSpPr>
            <a:spLocks noGrp="1"/>
          </p:cNvSpPr>
          <p:nvPr/>
        </p:nvSpPr>
        <p:spPr>
          <a:xfrm>
            <a:off x="1143000" y="3138488"/>
            <a:ext cx="9715500" cy="47625"/>
          </a:xfrm>
          <a:prstGeom prst="rect">
            <a:avLst/>
          </a:prstGeom>
          <a:solidFill>
            <a:srgbClr val="18354E"/>
          </a:solidFill>
          <a:ln w="0">
            <a:noFill/>
            <a:prstDash val="solid"/>
          </a:ln>
        </p:spPr>
      </p:sp>
      <p:sp>
        <p:nvSpPr>
          <p:cNvPr id="7" name="p22-gate-0">
            <a:extLst>
              <a:ext uri="{FF2B5EF4-FFF2-40B4-BE49-F238E27FC236}">
                <a16:creationId xmlns:a16="http://schemas.microsoft.com/office/drawing/2014/main" id="{3D33517F-6B77-4B14-88FE-4053C1F29CFD}"/>
              </a:ext>
            </a:extLst>
          </p:cNvPr>
          <p:cNvSpPr>
            <a:spLocks noGrp="1"/>
          </p:cNvSpPr>
          <p:nvPr/>
        </p:nvSpPr>
        <p:spPr>
          <a:xfrm>
            <a:off x="1447800" y="1828800"/>
            <a:ext cx="323850" cy="2724150"/>
          </a:xfrm>
          <a:prstGeom prst="rect">
            <a:avLst/>
          </a:prstGeom>
          <a:solidFill>
            <a:srgbClr val="18354E"/>
          </a:solidFill>
          <a:ln w="0">
            <a:noFill/>
            <a:prstDash val="solid"/>
          </a:ln>
        </p:spPr>
      </p:sp>
      <p:sp>
        <p:nvSpPr>
          <p:cNvPr id="8" name="p22-week-0">
            <a:extLst>
              <a:ext uri="{FF2B5EF4-FFF2-40B4-BE49-F238E27FC236}">
                <a16:creationId xmlns:a16="http://schemas.microsoft.com/office/drawing/2014/main" id="{04C23EEC-6622-467C-80A5-55CB0F6A587E}"/>
              </a:ext>
            </a:extLst>
          </p:cNvPr>
          <p:cNvSpPr>
            <a:spLocks noGrp="1"/>
          </p:cNvSpPr>
          <p:nvPr/>
        </p:nvSpPr>
        <p:spPr>
          <a:xfrm>
            <a:off x="1009650" y="1200150"/>
            <a:ext cx="1200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W6</a:t>
            </a:r>
          </a:p>
        </p:txBody>
      </p:sp>
      <p:sp>
        <p:nvSpPr>
          <p:cNvPr id="9" name="p22-title-0">
            <a:extLst>
              <a:ext uri="{FF2B5EF4-FFF2-40B4-BE49-F238E27FC236}">
                <a16:creationId xmlns:a16="http://schemas.microsoft.com/office/drawing/2014/main" id="{AEF2F35E-5257-435E-BB26-A23EBE7B66FC}"/>
              </a:ext>
            </a:extLst>
          </p:cNvPr>
          <p:cNvSpPr>
            <a:spLocks noGrp="1"/>
          </p:cNvSpPr>
          <p:nvPr/>
        </p:nvSpPr>
        <p:spPr>
          <a:xfrm>
            <a:off x="742950" y="4667250"/>
            <a:ext cx="1733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问题门</a:t>
            </a:r>
          </a:p>
        </p:txBody>
      </p:sp>
      <p:sp>
        <p:nvSpPr>
          <p:cNvPr id="10" name="p22-body-0">
            <a:extLst>
              <a:ext uri="{FF2B5EF4-FFF2-40B4-BE49-F238E27FC236}">
                <a16:creationId xmlns:a16="http://schemas.microsoft.com/office/drawing/2014/main" id="{9662DEC0-086F-4DA0-AB25-58F9D4FCAA12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2000250" cy="990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lnSpc>
                <a:spcPct val="13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值得问</a:t>
            </a:r>
          </a:p>
          <a:p>
            <a:pPr algn="ctr">
              <a:lnSpc>
                <a:spcPct val="13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问得清</a:t>
            </a:r>
          </a:p>
          <a:p>
            <a:pPr algn="ctr">
              <a:lnSpc>
                <a:spcPct val="13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做得完</a:t>
            </a:r>
          </a:p>
        </p:txBody>
      </p:sp>
      <p:sp>
        <p:nvSpPr>
          <p:cNvPr id="11" name="p22-gate-1">
            <a:extLst>
              <a:ext uri="{FF2B5EF4-FFF2-40B4-BE49-F238E27FC236}">
                <a16:creationId xmlns:a16="http://schemas.microsoft.com/office/drawing/2014/main" id="{97CBE42D-52AE-4404-8DBD-BD5E01B17078}"/>
              </a:ext>
            </a:extLst>
          </p:cNvPr>
          <p:cNvSpPr>
            <a:spLocks noGrp="1"/>
          </p:cNvSpPr>
          <p:nvPr/>
        </p:nvSpPr>
        <p:spPr>
          <a:xfrm>
            <a:off x="4171950" y="1828800"/>
            <a:ext cx="323850" cy="2724150"/>
          </a:xfrm>
          <a:prstGeom prst="rect">
            <a:avLst/>
          </a:prstGeom>
          <a:solidFill>
            <a:srgbClr val="18354E"/>
          </a:solidFill>
          <a:ln w="0">
            <a:noFill/>
            <a:prstDash val="solid"/>
          </a:ln>
        </p:spPr>
      </p:sp>
      <p:sp>
        <p:nvSpPr>
          <p:cNvPr id="12" name="p22-week-1">
            <a:extLst>
              <a:ext uri="{FF2B5EF4-FFF2-40B4-BE49-F238E27FC236}">
                <a16:creationId xmlns:a16="http://schemas.microsoft.com/office/drawing/2014/main" id="{F8E1050A-C108-42BD-92CD-0D82C835FCCF}"/>
              </a:ext>
            </a:extLst>
          </p:cNvPr>
          <p:cNvSpPr>
            <a:spLocks noGrp="1"/>
          </p:cNvSpPr>
          <p:nvPr/>
        </p:nvSpPr>
        <p:spPr>
          <a:xfrm>
            <a:off x="3733800" y="1200150"/>
            <a:ext cx="1200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W9</a:t>
            </a:r>
          </a:p>
        </p:txBody>
      </p:sp>
      <p:sp>
        <p:nvSpPr>
          <p:cNvPr id="13" name="p22-title-1">
            <a:extLst>
              <a:ext uri="{FF2B5EF4-FFF2-40B4-BE49-F238E27FC236}">
                <a16:creationId xmlns:a16="http://schemas.microsoft.com/office/drawing/2014/main" id="{E1876FB4-86AC-4E6C-A1CD-AF7AD5F5578A}"/>
              </a:ext>
            </a:extLst>
          </p:cNvPr>
          <p:cNvSpPr>
            <a:spLocks noGrp="1"/>
          </p:cNvSpPr>
          <p:nvPr/>
        </p:nvSpPr>
        <p:spPr>
          <a:xfrm>
            <a:off x="3467100" y="4667250"/>
            <a:ext cx="1733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判断门</a:t>
            </a:r>
          </a:p>
        </p:txBody>
      </p:sp>
      <p:sp>
        <p:nvSpPr>
          <p:cNvPr id="14" name="p22-body-1">
            <a:extLst>
              <a:ext uri="{FF2B5EF4-FFF2-40B4-BE49-F238E27FC236}">
                <a16:creationId xmlns:a16="http://schemas.microsoft.com/office/drawing/2014/main" id="{EBD34B8E-CA38-44D5-9E63-A7FC49C23199}"/>
              </a:ext>
            </a:extLst>
          </p:cNvPr>
          <p:cNvSpPr>
            <a:spLocks noGrp="1"/>
          </p:cNvSpPr>
          <p:nvPr/>
        </p:nvSpPr>
        <p:spPr>
          <a:xfrm>
            <a:off x="3333750" y="2038350"/>
            <a:ext cx="2000250" cy="990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lnSpc>
                <a:spcPct val="13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判断有依据</a:t>
            </a:r>
          </a:p>
          <a:p>
            <a:pPr algn="ctr">
              <a:lnSpc>
                <a:spcPct val="13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实验可检验</a:t>
            </a:r>
          </a:p>
        </p:txBody>
      </p:sp>
      <p:sp>
        <p:nvSpPr>
          <p:cNvPr id="15" name="p22-gate-2">
            <a:extLst>
              <a:ext uri="{FF2B5EF4-FFF2-40B4-BE49-F238E27FC236}">
                <a16:creationId xmlns:a16="http://schemas.microsoft.com/office/drawing/2014/main" id="{3AC41DE4-5213-4BBF-8D7F-2996173E62E1}"/>
              </a:ext>
            </a:extLst>
          </p:cNvPr>
          <p:cNvSpPr>
            <a:spLocks noGrp="1"/>
          </p:cNvSpPr>
          <p:nvPr/>
        </p:nvSpPr>
        <p:spPr>
          <a:xfrm>
            <a:off x="6896100" y="1828800"/>
            <a:ext cx="323850" cy="2724150"/>
          </a:xfrm>
          <a:prstGeom prst="rect">
            <a:avLst/>
          </a:prstGeom>
          <a:solidFill>
            <a:srgbClr val="18354E"/>
          </a:solidFill>
          <a:ln w="0">
            <a:noFill/>
            <a:prstDash val="solid"/>
          </a:ln>
        </p:spPr>
      </p:sp>
      <p:sp>
        <p:nvSpPr>
          <p:cNvPr id="16" name="p22-week-2">
            <a:extLst>
              <a:ext uri="{FF2B5EF4-FFF2-40B4-BE49-F238E27FC236}">
                <a16:creationId xmlns:a16="http://schemas.microsoft.com/office/drawing/2014/main" id="{BBBCDECC-FC9E-4FD2-A3A3-C0C16416D798}"/>
              </a:ext>
            </a:extLst>
          </p:cNvPr>
          <p:cNvSpPr>
            <a:spLocks noGrp="1"/>
          </p:cNvSpPr>
          <p:nvPr/>
        </p:nvSpPr>
        <p:spPr>
          <a:xfrm>
            <a:off x="6457950" y="1200150"/>
            <a:ext cx="1200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W13</a:t>
            </a:r>
          </a:p>
        </p:txBody>
      </p:sp>
      <p:sp>
        <p:nvSpPr>
          <p:cNvPr id="17" name="p22-title-2">
            <a:extLst>
              <a:ext uri="{FF2B5EF4-FFF2-40B4-BE49-F238E27FC236}">
                <a16:creationId xmlns:a16="http://schemas.microsoft.com/office/drawing/2014/main" id="{A6460836-A405-4C10-9D0C-3A9BBFE2FCDD}"/>
              </a:ext>
            </a:extLst>
          </p:cNvPr>
          <p:cNvSpPr>
            <a:spLocks noGrp="1"/>
          </p:cNvSpPr>
          <p:nvPr/>
        </p:nvSpPr>
        <p:spPr>
          <a:xfrm>
            <a:off x="6191250" y="4667250"/>
            <a:ext cx="1733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验证门</a:t>
            </a:r>
          </a:p>
        </p:txBody>
      </p:sp>
      <p:sp>
        <p:nvSpPr>
          <p:cNvPr id="18" name="p22-body-2">
            <a:extLst>
              <a:ext uri="{FF2B5EF4-FFF2-40B4-BE49-F238E27FC236}">
                <a16:creationId xmlns:a16="http://schemas.microsoft.com/office/drawing/2014/main" id="{A6EE04D9-776A-41D2-BE8C-CA0F105FA433}"/>
              </a:ext>
            </a:extLst>
          </p:cNvPr>
          <p:cNvSpPr>
            <a:spLocks noGrp="1"/>
          </p:cNvSpPr>
          <p:nvPr/>
        </p:nvSpPr>
        <p:spPr>
          <a:xfrm>
            <a:off x="6057900" y="2038350"/>
            <a:ext cx="2000250" cy="990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lnSpc>
                <a:spcPct val="13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结果可复核</a:t>
            </a:r>
          </a:p>
          <a:p>
            <a:pPr algn="ctr">
              <a:lnSpc>
                <a:spcPct val="13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工作流经评价</a:t>
            </a:r>
          </a:p>
        </p:txBody>
      </p:sp>
      <p:sp>
        <p:nvSpPr>
          <p:cNvPr id="19" name="p22-gate-3">
            <a:extLst>
              <a:ext uri="{FF2B5EF4-FFF2-40B4-BE49-F238E27FC236}">
                <a16:creationId xmlns:a16="http://schemas.microsoft.com/office/drawing/2014/main" id="{A089F835-AD9E-4B77-B80C-DD664BCF197B}"/>
              </a:ext>
            </a:extLst>
          </p:cNvPr>
          <p:cNvSpPr>
            <a:spLocks noGrp="1"/>
          </p:cNvSpPr>
          <p:nvPr/>
        </p:nvSpPr>
        <p:spPr>
          <a:xfrm>
            <a:off x="9620250" y="1828800"/>
            <a:ext cx="323850" cy="2724150"/>
          </a:xfrm>
          <a:prstGeom prst="rect">
            <a:avLst/>
          </a:prstGeom>
          <a:solidFill>
            <a:srgbClr val="C8161E"/>
          </a:solidFill>
          <a:ln w="0">
            <a:noFill/>
            <a:prstDash val="solid"/>
          </a:ln>
        </p:spPr>
      </p:sp>
      <p:sp>
        <p:nvSpPr>
          <p:cNvPr id="20" name="p22-week-3">
            <a:extLst>
              <a:ext uri="{FF2B5EF4-FFF2-40B4-BE49-F238E27FC236}">
                <a16:creationId xmlns:a16="http://schemas.microsoft.com/office/drawing/2014/main" id="{D0C36051-7E83-4CBA-8253-ABBFC32BCAAD}"/>
              </a:ext>
            </a:extLst>
          </p:cNvPr>
          <p:cNvSpPr>
            <a:spLocks noGrp="1"/>
          </p:cNvSpPr>
          <p:nvPr/>
        </p:nvSpPr>
        <p:spPr>
          <a:xfrm>
            <a:off x="9182100" y="1200150"/>
            <a:ext cx="1200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W16</a:t>
            </a:r>
          </a:p>
        </p:txBody>
      </p:sp>
      <p:sp>
        <p:nvSpPr>
          <p:cNvPr id="21" name="p22-title-3">
            <a:extLst>
              <a:ext uri="{FF2B5EF4-FFF2-40B4-BE49-F238E27FC236}">
                <a16:creationId xmlns:a16="http://schemas.microsoft.com/office/drawing/2014/main" id="{8E9D239C-840C-4D37-9D8E-DCCA9C248F32}"/>
              </a:ext>
            </a:extLst>
          </p:cNvPr>
          <p:cNvSpPr>
            <a:spLocks noGrp="1"/>
          </p:cNvSpPr>
          <p:nvPr/>
        </p:nvSpPr>
        <p:spPr>
          <a:xfrm>
            <a:off x="8915400" y="4667250"/>
            <a:ext cx="1733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论证门</a:t>
            </a:r>
          </a:p>
        </p:txBody>
      </p:sp>
      <p:sp>
        <p:nvSpPr>
          <p:cNvPr id="22" name="p22-body-3">
            <a:extLst>
              <a:ext uri="{FF2B5EF4-FFF2-40B4-BE49-F238E27FC236}">
                <a16:creationId xmlns:a16="http://schemas.microsoft.com/office/drawing/2014/main" id="{8475317A-E61E-4809-B42B-F8496156279A}"/>
              </a:ext>
            </a:extLst>
          </p:cNvPr>
          <p:cNvSpPr>
            <a:spLocks noGrp="1"/>
          </p:cNvSpPr>
          <p:nvPr/>
        </p:nvSpPr>
        <p:spPr>
          <a:xfrm>
            <a:off x="8782050" y="2038350"/>
            <a:ext cx="2000250" cy="990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lnSpc>
                <a:spcPct val="13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主张、证据</a:t>
            </a:r>
          </a:p>
          <a:p>
            <a:pPr algn="ctr">
              <a:lnSpc>
                <a:spcPct val="13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边界、披露完整</a:t>
            </a:r>
          </a:p>
        </p:txBody>
      </p:sp>
      <p:sp>
        <p:nvSpPr>
          <p:cNvPr id="23" name="p22-bottom">
            <a:extLst>
              <a:ext uri="{FF2B5EF4-FFF2-40B4-BE49-F238E27FC236}">
                <a16:creationId xmlns:a16="http://schemas.microsoft.com/office/drawing/2014/main" id="{D8D1ED72-7B28-4441-B3EB-26EF4E588F21}"/>
              </a:ext>
            </a:extLst>
          </p:cNvPr>
          <p:cNvSpPr>
            <a:spLocks noGrp="1"/>
          </p:cNvSpPr>
          <p:nvPr/>
        </p:nvSpPr>
        <p:spPr>
          <a:xfrm>
            <a:off x="2571750" y="5353050"/>
            <a:ext cx="704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错误进入下一阶段前，先补证据或退回修改。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追溯与核验：结论可反向检查，AI 输出不跳过核验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A4E99CEF-AF55-BA3C-ADF8-4E52E186DD8F}" type="slidenum">
              <a:t>23</a:t>
            </a:fld>
            <a:endParaRPr/>
          </a:p>
        </p:txBody>
      </p:sp>
      <p:sp>
        <p:nvSpPr>
          <p:cNvPr id="6" name="p23-a-0">
            <a:extLst>
              <a:ext uri="{FF2B5EF4-FFF2-40B4-BE49-F238E27FC236}">
                <a16:creationId xmlns:a16="http://schemas.microsoft.com/office/drawing/2014/main" id="{269E8C81-6454-4C3F-BCC5-6387BA3906ED}"/>
              </a:ext>
            </a:extLst>
          </p:cNvPr>
          <p:cNvSpPr>
            <a:spLocks noGrp="1"/>
          </p:cNvSpPr>
          <p:nvPr/>
        </p:nvSpPr>
        <p:spPr>
          <a:xfrm>
            <a:off x="2228850" y="2047875"/>
            <a:ext cx="438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025" b="1">
                <a:solidFill>
                  <a:srgbClr val="18354E"/>
                </a:solidFill>
              </a:defRPr>
            </a:pPr>
            <a:r>
              <a:rPr sz="2025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23-c-0">
            <a:extLst>
              <a:ext uri="{FF2B5EF4-FFF2-40B4-BE49-F238E27FC236}">
                <a16:creationId xmlns:a16="http://schemas.microsoft.com/office/drawing/2014/main" id="{F76AB7D9-BC9A-42C0-B189-2DFF1DB1A760}"/>
              </a:ext>
            </a:extLst>
          </p:cNvPr>
          <p:cNvSpPr>
            <a:spLocks noGrp="1"/>
          </p:cNvSpPr>
          <p:nvPr/>
        </p:nvSpPr>
        <p:spPr>
          <a:xfrm>
            <a:off x="723900" y="1847850"/>
            <a:ext cx="1562100" cy="7810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8" name="p23-a-1">
            <a:extLst>
              <a:ext uri="{FF2B5EF4-FFF2-40B4-BE49-F238E27FC236}">
                <a16:creationId xmlns:a16="http://schemas.microsoft.com/office/drawing/2014/main" id="{AFD50FBB-C4A0-427D-A03D-6BD83E89C367}"/>
              </a:ext>
            </a:extLst>
          </p:cNvPr>
          <p:cNvSpPr>
            <a:spLocks noGrp="1"/>
          </p:cNvSpPr>
          <p:nvPr/>
        </p:nvSpPr>
        <p:spPr>
          <a:xfrm>
            <a:off x="4095750" y="2047875"/>
            <a:ext cx="438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025" b="1">
                <a:solidFill>
                  <a:srgbClr val="18354E"/>
                </a:solidFill>
              </a:defRPr>
            </a:pPr>
            <a:r>
              <a:rPr sz="2025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p23-c-1">
            <a:extLst>
              <a:ext uri="{FF2B5EF4-FFF2-40B4-BE49-F238E27FC236}">
                <a16:creationId xmlns:a16="http://schemas.microsoft.com/office/drawing/2014/main" id="{F17B4239-362C-418C-8DE2-0DE7DF364B7B}"/>
              </a:ext>
            </a:extLst>
          </p:cNvPr>
          <p:cNvSpPr>
            <a:spLocks noGrp="1"/>
          </p:cNvSpPr>
          <p:nvPr/>
        </p:nvSpPr>
        <p:spPr>
          <a:xfrm>
            <a:off x="2590800" y="1847850"/>
            <a:ext cx="1562100" cy="7810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主张</a:t>
            </a:r>
          </a:p>
        </p:txBody>
      </p:sp>
      <p:sp>
        <p:nvSpPr>
          <p:cNvPr id="10" name="p23-a-2">
            <a:extLst>
              <a:ext uri="{FF2B5EF4-FFF2-40B4-BE49-F238E27FC236}">
                <a16:creationId xmlns:a16="http://schemas.microsoft.com/office/drawing/2014/main" id="{5C0A3F0B-3E12-4CB8-83D4-59195A63557E}"/>
              </a:ext>
            </a:extLst>
          </p:cNvPr>
          <p:cNvSpPr>
            <a:spLocks noGrp="1"/>
          </p:cNvSpPr>
          <p:nvPr/>
        </p:nvSpPr>
        <p:spPr>
          <a:xfrm>
            <a:off x="5962650" y="2047875"/>
            <a:ext cx="438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025" b="1">
                <a:solidFill>
                  <a:srgbClr val="18354E"/>
                </a:solidFill>
              </a:defRPr>
            </a:pPr>
            <a:r>
              <a:rPr sz="2025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p23-c-2">
            <a:extLst>
              <a:ext uri="{FF2B5EF4-FFF2-40B4-BE49-F238E27FC236}">
                <a16:creationId xmlns:a16="http://schemas.microsoft.com/office/drawing/2014/main" id="{1267619B-582C-4B79-A7F7-A5A63E366B04}"/>
              </a:ext>
            </a:extLst>
          </p:cNvPr>
          <p:cNvSpPr>
            <a:spLocks noGrp="1"/>
          </p:cNvSpPr>
          <p:nvPr/>
        </p:nvSpPr>
        <p:spPr>
          <a:xfrm>
            <a:off x="4457700" y="1847850"/>
            <a:ext cx="1562100" cy="7810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研究判断</a:t>
            </a:r>
          </a:p>
        </p:txBody>
      </p:sp>
      <p:sp>
        <p:nvSpPr>
          <p:cNvPr id="12" name="p23-a-3">
            <a:extLst>
              <a:ext uri="{FF2B5EF4-FFF2-40B4-BE49-F238E27FC236}">
                <a16:creationId xmlns:a16="http://schemas.microsoft.com/office/drawing/2014/main" id="{381CDDB9-E9C9-4BF1-B173-34E7DE4F6FD9}"/>
              </a:ext>
            </a:extLst>
          </p:cNvPr>
          <p:cNvSpPr>
            <a:spLocks noGrp="1"/>
          </p:cNvSpPr>
          <p:nvPr/>
        </p:nvSpPr>
        <p:spPr>
          <a:xfrm>
            <a:off x="7829550" y="2047875"/>
            <a:ext cx="438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025" b="1">
                <a:solidFill>
                  <a:srgbClr val="18354E"/>
                </a:solidFill>
              </a:defRPr>
            </a:pPr>
            <a:r>
              <a:rPr sz="2025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23-c-3">
            <a:extLst>
              <a:ext uri="{FF2B5EF4-FFF2-40B4-BE49-F238E27FC236}">
                <a16:creationId xmlns:a16="http://schemas.microsoft.com/office/drawing/2014/main" id="{529156E6-313F-4268-8B59-5EF71386C027}"/>
              </a:ext>
            </a:extLst>
          </p:cNvPr>
          <p:cNvSpPr>
            <a:spLocks noGrp="1"/>
          </p:cNvSpPr>
          <p:nvPr/>
        </p:nvSpPr>
        <p:spPr>
          <a:xfrm>
            <a:off x="6324600" y="1847850"/>
            <a:ext cx="1562100" cy="7810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行动／实验</a:t>
            </a:r>
          </a:p>
        </p:txBody>
      </p:sp>
      <p:sp>
        <p:nvSpPr>
          <p:cNvPr id="14" name="p23-a-4">
            <a:extLst>
              <a:ext uri="{FF2B5EF4-FFF2-40B4-BE49-F238E27FC236}">
                <a16:creationId xmlns:a16="http://schemas.microsoft.com/office/drawing/2014/main" id="{ABD21360-8D0F-4181-8337-B0BDAAF33067}"/>
              </a:ext>
            </a:extLst>
          </p:cNvPr>
          <p:cNvSpPr>
            <a:spLocks noGrp="1"/>
          </p:cNvSpPr>
          <p:nvPr/>
        </p:nvSpPr>
        <p:spPr>
          <a:xfrm>
            <a:off x="9696450" y="2047875"/>
            <a:ext cx="438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025" b="1">
                <a:solidFill>
                  <a:srgbClr val="18354E"/>
                </a:solidFill>
              </a:defRPr>
            </a:pPr>
            <a:r>
              <a:rPr sz="2025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p23-c-4">
            <a:extLst>
              <a:ext uri="{FF2B5EF4-FFF2-40B4-BE49-F238E27FC236}">
                <a16:creationId xmlns:a16="http://schemas.microsoft.com/office/drawing/2014/main" id="{5901825C-E261-4CF7-8319-170586641653}"/>
              </a:ext>
            </a:extLst>
          </p:cNvPr>
          <p:cNvSpPr>
            <a:spLocks noGrp="1"/>
          </p:cNvSpPr>
          <p:nvPr/>
        </p:nvSpPr>
        <p:spPr>
          <a:xfrm>
            <a:off x="8191500" y="1847850"/>
            <a:ext cx="1562100" cy="7810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6" name="p23-c-5">
            <a:extLst>
              <a:ext uri="{FF2B5EF4-FFF2-40B4-BE49-F238E27FC236}">
                <a16:creationId xmlns:a16="http://schemas.microsoft.com/office/drawing/2014/main" id="{021368EC-CAD4-4E7D-A7D6-B0EA006C84C8}"/>
              </a:ext>
            </a:extLst>
          </p:cNvPr>
          <p:cNvSpPr>
            <a:spLocks noGrp="1"/>
          </p:cNvSpPr>
          <p:nvPr/>
        </p:nvSpPr>
        <p:spPr>
          <a:xfrm>
            <a:off x="10058400" y="1847850"/>
            <a:ext cx="1562100" cy="781050"/>
          </a:xfrm>
          <a:prstGeom prst="rect">
            <a:avLst/>
          </a:prstGeom>
          <a:solidFill>
            <a:srgbClr val="F8E9EA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7" name="p23-forward">
            <a:extLst>
              <a:ext uri="{FF2B5EF4-FFF2-40B4-BE49-F238E27FC236}">
                <a16:creationId xmlns:a16="http://schemas.microsoft.com/office/drawing/2014/main" id="{778EB7C5-A1B9-4C70-95DB-29239A7E1D8A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研究推进 →</a:t>
            </a:r>
          </a:p>
        </p:txBody>
      </p:sp>
      <p:sp>
        <p:nvSpPr>
          <p:cNvPr id="18" name="p23-back">
            <a:extLst>
              <a:ext uri="{FF2B5EF4-FFF2-40B4-BE49-F238E27FC236}">
                <a16:creationId xmlns:a16="http://schemas.microsoft.com/office/drawing/2014/main" id="{8B9EA05D-8F47-46E5-B677-FAD1B611783B}"/>
              </a:ext>
            </a:extLst>
          </p:cNvPr>
          <p:cNvSpPr>
            <a:spLocks noGrp="1"/>
          </p:cNvSpPr>
          <p:nvPr/>
        </p:nvSpPr>
        <p:spPr>
          <a:xfrm rot="10800000">
            <a:off x="1219200" y="3124200"/>
            <a:ext cx="9715500" cy="38100"/>
          </a:xfrm>
          <a:prstGeom prst="rect">
            <a:avLst/>
          </a:prstGeom>
          <a:solidFill>
            <a:srgbClr val="C8161E"/>
          </a:solidFill>
          <a:ln w="0">
            <a:noFill/>
            <a:prstDash val="solid"/>
          </a:ln>
        </p:spPr>
      </p:sp>
      <p:sp>
        <p:nvSpPr>
          <p:cNvPr id="19" name="p23-back-label">
            <a:extLst>
              <a:ext uri="{FF2B5EF4-FFF2-40B4-BE49-F238E27FC236}">
                <a16:creationId xmlns:a16="http://schemas.microsoft.com/office/drawing/2014/main" id="{1F815060-A951-4A34-8B75-BA291DEA953A}"/>
              </a:ext>
            </a:extLst>
          </p:cNvPr>
          <p:cNvSpPr>
            <a:spLocks noGrp="1"/>
          </p:cNvSpPr>
          <p:nvPr/>
        </p:nvSpPr>
        <p:spPr>
          <a:xfrm>
            <a:off x="2343150" y="3257550"/>
            <a:ext cx="781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← 反向审查：来自哪里？谁在什么条件下作出什么决定？</a:t>
            </a:r>
          </a:p>
        </p:txBody>
      </p:sp>
      <p:sp>
        <p:nvSpPr>
          <p:cNvPr id="20" name="p23-ai">
            <a:extLst>
              <a:ext uri="{FF2B5EF4-FFF2-40B4-BE49-F238E27FC236}">
                <a16:creationId xmlns:a16="http://schemas.microsoft.com/office/drawing/2014/main" id="{327D5CC8-FF84-42B0-9892-06B297B123FB}"/>
              </a:ext>
            </a:extLst>
          </p:cNvPr>
          <p:cNvSpPr>
            <a:spLocks noGrp="1"/>
          </p:cNvSpPr>
          <p:nvPr/>
        </p:nvSpPr>
        <p:spPr>
          <a:xfrm>
            <a:off x="1085850" y="4267200"/>
            <a:ext cx="2457450" cy="685800"/>
          </a:xfrm>
          <a:prstGeom prst="rect">
            <a:avLst/>
          </a:prstGeom>
          <a:solidFill>
            <a:srgbClr val="E8F0F6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75" b="1">
                <a:solidFill>
                  <a:srgbClr val="2F638A"/>
                </a:solidFill>
              </a:defRPr>
            </a:pPr>
            <a:r>
              <a:rPr sz="1875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AI 输出候选</a:t>
            </a:r>
          </a:p>
        </p:txBody>
      </p:sp>
      <p:sp>
        <p:nvSpPr>
          <p:cNvPr id="21" name="p23-gate">
            <a:extLst>
              <a:ext uri="{FF2B5EF4-FFF2-40B4-BE49-F238E27FC236}">
                <a16:creationId xmlns:a16="http://schemas.microsoft.com/office/drawing/2014/main" id="{80BD6F7A-B42A-47C2-BBCE-C6886BA1332C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2000250" cy="876300"/>
          </a:xfrm>
          <a:prstGeom prst="rect">
            <a:avLst/>
          </a:prstGeom>
          <a:solidFill>
            <a:srgbClr val="C8161E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人工核验</a:t>
            </a:r>
          </a:p>
        </p:txBody>
      </p:sp>
      <p:sp>
        <p:nvSpPr>
          <p:cNvPr id="22" name="p23-arrow1">
            <a:extLst>
              <a:ext uri="{FF2B5EF4-FFF2-40B4-BE49-F238E27FC236}">
                <a16:creationId xmlns:a16="http://schemas.microsoft.com/office/drawing/2014/main" id="{6ADD2672-5A6A-4B87-89B9-277329E10298}"/>
              </a:ext>
            </a:extLst>
          </p:cNvPr>
          <p:cNvSpPr>
            <a:spLocks noGrp="1"/>
          </p:cNvSpPr>
          <p:nvPr/>
        </p:nvSpPr>
        <p:spPr>
          <a:xfrm>
            <a:off x="3619500" y="4362450"/>
            <a:ext cx="781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550" b="1">
                <a:solidFill>
                  <a:srgbClr val="667684"/>
                </a:solidFill>
              </a:defRPr>
            </a:pPr>
            <a:r>
              <a:rPr sz="25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p23-arrow2">
            <a:extLst>
              <a:ext uri="{FF2B5EF4-FFF2-40B4-BE49-F238E27FC236}">
                <a16:creationId xmlns:a16="http://schemas.microsoft.com/office/drawing/2014/main" id="{D999BC70-901E-48B9-9F6E-5F8DF982E96E}"/>
              </a:ext>
            </a:extLst>
          </p:cNvPr>
          <p:cNvSpPr>
            <a:spLocks noGrp="1"/>
          </p:cNvSpPr>
          <p:nvPr/>
        </p:nvSpPr>
        <p:spPr>
          <a:xfrm>
            <a:off x="6591300" y="4362450"/>
            <a:ext cx="781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550" b="1">
                <a:solidFill>
                  <a:srgbClr val="667684"/>
                </a:solidFill>
              </a:defRPr>
            </a:pPr>
            <a:r>
              <a:rPr sz="25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p23-evidence">
            <a:extLst>
              <a:ext uri="{FF2B5EF4-FFF2-40B4-BE49-F238E27FC236}">
                <a16:creationId xmlns:a16="http://schemas.microsoft.com/office/drawing/2014/main" id="{3CB69983-BDF0-41AE-A333-6E408C306283}"/>
              </a:ext>
            </a:extLst>
          </p:cNvPr>
          <p:cNvSpPr>
            <a:spLocks noGrp="1"/>
          </p:cNvSpPr>
          <p:nvPr/>
        </p:nvSpPr>
        <p:spPr>
          <a:xfrm>
            <a:off x="7486650" y="4267200"/>
            <a:ext cx="2952750" cy="685800"/>
          </a:xfrm>
          <a:prstGeom prst="rect">
            <a:avLst/>
          </a:prstGeom>
          <a:solidFill>
            <a:srgbClr val="E7F2ED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75" b="1">
                <a:solidFill>
                  <a:srgbClr val="28745A"/>
                </a:solidFill>
              </a:defRPr>
            </a:pPr>
            <a:r>
              <a:rPr sz="18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证据 / 结论</a:t>
            </a:r>
          </a:p>
        </p:txBody>
      </p:sp>
      <p:sp>
        <p:nvSpPr>
          <p:cNvPr id="25" name="p23-bottom">
            <a:extLst>
              <a:ext uri="{FF2B5EF4-FFF2-40B4-BE49-F238E27FC236}">
                <a16:creationId xmlns:a16="http://schemas.microsoft.com/office/drawing/2014/main" id="{22725264-6735-4FE4-BE48-7F3C3C67E7E9}"/>
              </a:ext>
            </a:extLst>
          </p:cNvPr>
          <p:cNvSpPr>
            <a:spLocks noGrp="1"/>
          </p:cNvSpPr>
          <p:nvPr/>
        </p:nvSpPr>
        <p:spPr>
          <a:xfrm>
            <a:off x="4000500" y="5295900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AI 输出不跳过核验。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演示目标：把 AI 建议变成可检查的项目变化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4A59AF09-D197-0193-A7DE-FAAF0B691058}" type="slidenum">
              <a:t>24</a:t>
            </a:fld>
            <a:endParaRPr/>
          </a:p>
        </p:txBody>
      </p:sp>
      <p:sp>
        <p:nvSpPr>
          <p:cNvPr id="6" name="p24-task">
            <a:extLst>
              <a:ext uri="{FF2B5EF4-FFF2-40B4-BE49-F238E27FC236}">
                <a16:creationId xmlns:a16="http://schemas.microsoft.com/office/drawing/2014/main" id="{017359E1-8A12-4ACE-B0ED-CABA73A02503}"/>
              </a:ext>
            </a:extLst>
          </p:cNvPr>
          <p:cNvSpPr>
            <a:spLocks noGrp="1"/>
          </p:cNvSpPr>
          <p:nvPr/>
        </p:nvSpPr>
        <p:spPr>
          <a:xfrm>
            <a:off x="781050" y="106680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演示任务</a:t>
            </a:r>
          </a:p>
        </p:txBody>
      </p:sp>
      <p:sp>
        <p:nvSpPr>
          <p:cNvPr id="7" name="p24-main">
            <a:extLst>
              <a:ext uri="{FF2B5EF4-FFF2-40B4-BE49-F238E27FC236}">
                <a16:creationId xmlns:a16="http://schemas.microsoft.com/office/drawing/2014/main" id="{E79A9E7D-A164-4081-BDFC-98A6BB90EEDE}"/>
              </a:ext>
            </a:extLst>
          </p:cNvPr>
          <p:cNvSpPr>
            <a:spLocks noGrp="1"/>
          </p:cNvSpPr>
          <p:nvPr/>
        </p:nvSpPr>
        <p:spPr>
          <a:xfrm>
            <a:off x="781050" y="1562100"/>
            <a:ext cx="5334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2625" b="1">
                <a:solidFill>
                  <a:srgbClr val="18354E"/>
                </a:solidFill>
              </a:defRPr>
            </a:pPr>
            <a:r>
              <a:rPr sz="26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收敛一个初步研究问题</a:t>
            </a:r>
          </a:p>
        </p:txBody>
      </p:sp>
      <p:sp>
        <p:nvSpPr>
          <p:cNvPr id="8" name="p24-tree">
            <a:extLst>
              <a:ext uri="{FF2B5EF4-FFF2-40B4-BE49-F238E27FC236}">
                <a16:creationId xmlns:a16="http://schemas.microsoft.com/office/drawing/2014/main" id="{7E79C003-09C3-48F2-9404-4E1CC7C7656D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4857750" cy="224790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263746"/>
                </a:solidFill>
              </a:defRPr>
            </a:pPr>
            <a:r>
              <a:rPr sz="1725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demo-project/</a:t>
            </a:r>
          </a:p>
          <a:p>
            <a:pPr algn="l">
              <a:defRPr sz="1725" b="0">
                <a:solidFill>
                  <a:srgbClr val="263746"/>
                </a:solidFill>
              </a:defRPr>
            </a:pPr>
            <a:r>
              <a:rPr sz="1725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├── AGENTS.md</a:t>
            </a:r>
          </a:p>
          <a:p>
            <a:pPr algn="l">
              <a:defRPr sz="1725" b="0">
                <a:solidFill>
                  <a:srgbClr val="263746"/>
                </a:solidFill>
              </a:defRPr>
            </a:pPr>
            <a:r>
              <a:rPr sz="1725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├── problem-definition.md</a:t>
            </a:r>
          </a:p>
          <a:p>
            <a:pPr algn="l">
              <a:defRPr sz="1725" b="0">
                <a:solidFill>
                  <a:srgbClr val="263746"/>
                </a:solidFill>
              </a:defRPr>
            </a:pPr>
            <a:r>
              <a:rPr sz="1725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├── ai-usage-log.md</a:t>
            </a:r>
          </a:p>
          <a:p>
            <a:pPr algn="l">
              <a:defRPr sz="1725" b="0">
                <a:solidFill>
                  <a:srgbClr val="263746"/>
                </a:solidFill>
              </a:defRPr>
            </a:pPr>
            <a:r>
              <a:rPr sz="1725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└── notes/</a:t>
            </a:r>
          </a:p>
        </p:txBody>
      </p:sp>
      <p:sp>
        <p:nvSpPr>
          <p:cNvPr id="9" name="p24-n-0">
            <a:extLst>
              <a:ext uri="{FF2B5EF4-FFF2-40B4-BE49-F238E27FC236}">
                <a16:creationId xmlns:a16="http://schemas.microsoft.com/office/drawing/2014/main" id="{F1585757-2232-4E51-AE5B-0636F7C5607C}"/>
              </a:ext>
            </a:extLst>
          </p:cNvPr>
          <p:cNvSpPr>
            <a:spLocks noGrp="1"/>
          </p:cNvSpPr>
          <p:nvPr/>
        </p:nvSpPr>
        <p:spPr>
          <a:xfrm>
            <a:off x="6819900" y="1123950"/>
            <a:ext cx="533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p24-c-0">
            <a:extLst>
              <a:ext uri="{FF2B5EF4-FFF2-40B4-BE49-F238E27FC236}">
                <a16:creationId xmlns:a16="http://schemas.microsoft.com/office/drawing/2014/main" id="{E733AD60-723A-4BFA-BC1B-015A6A4F72FB}"/>
              </a:ext>
            </a:extLst>
          </p:cNvPr>
          <p:cNvSpPr>
            <a:spLocks noGrp="1"/>
          </p:cNvSpPr>
          <p:nvPr/>
        </p:nvSpPr>
        <p:spPr>
          <a:xfrm>
            <a:off x="7486650" y="1123950"/>
            <a:ext cx="3276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公开虚构内容</a:t>
            </a:r>
          </a:p>
        </p:txBody>
      </p:sp>
      <p:sp>
        <p:nvSpPr>
          <p:cNvPr id="11" name="p24-n-1">
            <a:extLst>
              <a:ext uri="{FF2B5EF4-FFF2-40B4-BE49-F238E27FC236}">
                <a16:creationId xmlns:a16="http://schemas.microsoft.com/office/drawing/2014/main" id="{A6D6C780-EC0E-4C17-8011-A0292BC13247}"/>
              </a:ext>
            </a:extLst>
          </p:cNvPr>
          <p:cNvSpPr>
            <a:spLocks noGrp="1"/>
          </p:cNvSpPr>
          <p:nvPr/>
        </p:nvSpPr>
        <p:spPr>
          <a:xfrm>
            <a:off x="6819900" y="1809750"/>
            <a:ext cx="533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p24-c-1">
            <a:extLst>
              <a:ext uri="{FF2B5EF4-FFF2-40B4-BE49-F238E27FC236}">
                <a16:creationId xmlns:a16="http://schemas.microsoft.com/office/drawing/2014/main" id="{58BD2F78-EFB3-494F-A9F3-169374A614DF}"/>
              </a:ext>
            </a:extLst>
          </p:cNvPr>
          <p:cNvSpPr>
            <a:spLocks noGrp="1"/>
          </p:cNvSpPr>
          <p:nvPr/>
        </p:nvSpPr>
        <p:spPr>
          <a:xfrm>
            <a:off x="7486650" y="1809750"/>
            <a:ext cx="3276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限定项目目录</a:t>
            </a:r>
          </a:p>
        </p:txBody>
      </p:sp>
      <p:sp>
        <p:nvSpPr>
          <p:cNvPr id="13" name="p24-n-2">
            <a:extLst>
              <a:ext uri="{FF2B5EF4-FFF2-40B4-BE49-F238E27FC236}">
                <a16:creationId xmlns:a16="http://schemas.microsoft.com/office/drawing/2014/main" id="{B0470972-90EF-40BC-A221-08533CCA5B82}"/>
              </a:ext>
            </a:extLst>
          </p:cNvPr>
          <p:cNvSpPr>
            <a:spLocks noGrp="1"/>
          </p:cNvSpPr>
          <p:nvPr/>
        </p:nvSpPr>
        <p:spPr>
          <a:xfrm>
            <a:off x="6819900" y="2495550"/>
            <a:ext cx="533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p24-c-2">
            <a:extLst>
              <a:ext uri="{FF2B5EF4-FFF2-40B4-BE49-F238E27FC236}">
                <a16:creationId xmlns:a16="http://schemas.microsoft.com/office/drawing/2014/main" id="{B55BC099-6814-41B2-99A9-B20F14A5BF5F}"/>
              </a:ext>
            </a:extLst>
          </p:cNvPr>
          <p:cNvSpPr>
            <a:spLocks noGrp="1"/>
          </p:cNvSpPr>
          <p:nvPr/>
        </p:nvSpPr>
        <p:spPr>
          <a:xfrm>
            <a:off x="7486650" y="2495550"/>
            <a:ext cx="3276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先只读</a:t>
            </a:r>
          </a:p>
        </p:txBody>
      </p:sp>
      <p:sp>
        <p:nvSpPr>
          <p:cNvPr id="15" name="p24-n-3">
            <a:extLst>
              <a:ext uri="{FF2B5EF4-FFF2-40B4-BE49-F238E27FC236}">
                <a16:creationId xmlns:a16="http://schemas.microsoft.com/office/drawing/2014/main" id="{031FE64E-1F13-4CB5-A9DB-EF90F8A7C510}"/>
              </a:ext>
            </a:extLst>
          </p:cNvPr>
          <p:cNvSpPr>
            <a:spLocks noGrp="1"/>
          </p:cNvSpPr>
          <p:nvPr/>
        </p:nvSpPr>
        <p:spPr>
          <a:xfrm>
            <a:off x="6819900" y="3181350"/>
            <a:ext cx="533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p24-c-3">
            <a:extLst>
              <a:ext uri="{FF2B5EF4-FFF2-40B4-BE49-F238E27FC236}">
                <a16:creationId xmlns:a16="http://schemas.microsoft.com/office/drawing/2014/main" id="{A2A2AFB2-AC40-4377-B05F-185EFF5276F3}"/>
              </a:ext>
            </a:extLst>
          </p:cNvPr>
          <p:cNvSpPr>
            <a:spLocks noGrp="1"/>
          </p:cNvSpPr>
          <p:nvPr/>
        </p:nvSpPr>
        <p:spPr>
          <a:xfrm>
            <a:off x="7486650" y="3181350"/>
            <a:ext cx="3276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后写回</a:t>
            </a:r>
          </a:p>
        </p:txBody>
      </p:sp>
      <p:sp>
        <p:nvSpPr>
          <p:cNvPr id="17" name="p24-n-4">
            <a:extLst>
              <a:ext uri="{FF2B5EF4-FFF2-40B4-BE49-F238E27FC236}">
                <a16:creationId xmlns:a16="http://schemas.microsoft.com/office/drawing/2014/main" id="{C8698089-7BC6-4AD7-9D1B-1C81FA6D08D9}"/>
              </a:ext>
            </a:extLst>
          </p:cNvPr>
          <p:cNvSpPr>
            <a:spLocks noGrp="1"/>
          </p:cNvSpPr>
          <p:nvPr/>
        </p:nvSpPr>
        <p:spPr>
          <a:xfrm>
            <a:off x="6819900" y="3867150"/>
            <a:ext cx="533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p24-c-4">
            <a:extLst>
              <a:ext uri="{FF2B5EF4-FFF2-40B4-BE49-F238E27FC236}">
                <a16:creationId xmlns:a16="http://schemas.microsoft.com/office/drawing/2014/main" id="{64D71210-2749-4DBB-B243-49C681A8B948}"/>
              </a:ext>
            </a:extLst>
          </p:cNvPr>
          <p:cNvSpPr>
            <a:spLocks noGrp="1"/>
          </p:cNvSpPr>
          <p:nvPr/>
        </p:nvSpPr>
        <p:spPr>
          <a:xfrm>
            <a:off x="7486650" y="3867150"/>
            <a:ext cx="3276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检查 diff</a:t>
            </a:r>
          </a:p>
        </p:txBody>
      </p:sp>
      <p:sp>
        <p:nvSpPr>
          <p:cNvPr id="19" name="p24-n-5">
            <a:extLst>
              <a:ext uri="{FF2B5EF4-FFF2-40B4-BE49-F238E27FC236}">
                <a16:creationId xmlns:a16="http://schemas.microsoft.com/office/drawing/2014/main" id="{9BC49D41-E1A9-48A4-A5F1-6183F28E644A}"/>
              </a:ext>
            </a:extLst>
          </p:cNvPr>
          <p:cNvSpPr>
            <a:spLocks noGrp="1"/>
          </p:cNvSpPr>
          <p:nvPr/>
        </p:nvSpPr>
        <p:spPr>
          <a:xfrm>
            <a:off x="6819900" y="4552950"/>
            <a:ext cx="533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p24-c-5">
            <a:extLst>
              <a:ext uri="{FF2B5EF4-FFF2-40B4-BE49-F238E27FC236}">
                <a16:creationId xmlns:a16="http://schemas.microsoft.com/office/drawing/2014/main" id="{DFE9EAE0-CFA6-466B-BC9A-B70CA396A1BC}"/>
              </a:ext>
            </a:extLst>
          </p:cNvPr>
          <p:cNvSpPr>
            <a:spLocks noGrp="1"/>
          </p:cNvSpPr>
          <p:nvPr/>
        </p:nvSpPr>
        <p:spPr>
          <a:xfrm>
            <a:off x="7486650" y="4552950"/>
            <a:ext cx="3276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记录 AI 使用</a:t>
            </a:r>
          </a:p>
        </p:txBody>
      </p:sp>
      <p:sp>
        <p:nvSpPr>
          <p:cNvPr id="21" name="p24-fallback">
            <a:extLst>
              <a:ext uri="{FF2B5EF4-FFF2-40B4-BE49-F238E27FC236}">
                <a16:creationId xmlns:a16="http://schemas.microsoft.com/office/drawing/2014/main" id="{443FF42A-5B83-47E2-973C-F9E7F0642538}"/>
              </a:ext>
            </a:extLst>
          </p:cNvPr>
          <p:cNvSpPr>
            <a:spLocks noGrp="1"/>
          </p:cNvSpPr>
          <p:nvPr/>
        </p:nvSpPr>
        <p:spPr>
          <a:xfrm>
            <a:off x="2286000" y="531495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425" b="0">
                <a:solidFill>
                  <a:srgbClr val="667684"/>
                </a:solidFill>
              </a:defRPr>
            </a:pPr>
            <a:r>
              <a:rPr sz="1425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模型 / 网络不可用 → 使用固定截图或纸面契约继续判断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第一轮只允许分析，不允许写入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3AE1AE4-D79E-94D6-E825-3FC6C21A77D2}" type="slidenum">
              <a:t>25</a:t>
            </a:fld>
            <a:endParaRPr/>
          </a:p>
        </p:txBody>
      </p:sp>
      <p:sp>
        <p:nvSpPr>
          <p:cNvPr id="6" name="p25-contract">
            <a:extLst>
              <a:ext uri="{FF2B5EF4-FFF2-40B4-BE49-F238E27FC236}">
                <a16:creationId xmlns:a16="http://schemas.microsoft.com/office/drawing/2014/main" id="{900B1A9B-95DA-4DF3-9F24-603E985B8BE5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275" b="1">
                <a:solidFill>
                  <a:srgbClr val="C8161E"/>
                </a:solidFill>
              </a:defRPr>
            </a:pPr>
            <a:r>
              <a:rPr sz="127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READ-ONLY TASK CONTRACT</a:t>
            </a:r>
          </a:p>
        </p:txBody>
      </p:sp>
      <p:sp>
        <p:nvSpPr>
          <p:cNvPr id="7" name="p25-code">
            <a:extLst>
              <a:ext uri="{FF2B5EF4-FFF2-40B4-BE49-F238E27FC236}">
                <a16:creationId xmlns:a16="http://schemas.microsoft.com/office/drawing/2014/main" id="{E931B038-6649-470E-8E7D-4EA81E7523D9}"/>
              </a:ext>
            </a:extLst>
          </p:cNvPr>
          <p:cNvSpPr>
            <a:spLocks noGrp="1"/>
          </p:cNvSpPr>
          <p:nvPr/>
        </p:nvSpPr>
        <p:spPr>
          <a:xfrm>
            <a:off x="666750" y="1447800"/>
            <a:ext cx="7239000" cy="3848100"/>
          </a:xfrm>
          <a:prstGeom prst="rect">
            <a:avLst/>
          </a:prstGeom>
          <a:solidFill>
            <a:srgbClr val="F5F6F7"/>
          </a:solidFill>
          <a:ln w="9525">
            <a:solidFill>
              <a:srgbClr val="D6DDE2"/>
            </a:solidFill>
            <a:prstDash val="solid"/>
          </a:ln>
        </p:spPr>
        <p:txBody>
          <a:bodyPr lIns="190500" tIns="152400" rIns="190500" bIns="152400" anchor="t"/>
          <a:lstStyle/>
          <a:p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读取 AGENTS.md 和 problem-definition.md。</a:t>
            </a:r>
          </a:p>
          <a:p>
            <a:endParaRPr sz="1500" b="0">
              <a:solidFill>
                <a:srgbClr val="263746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目标：提出三个范围收敛建议。</a:t>
            </a:r>
          </a:p>
          <a:p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每条包含：修改范围｜依据｜可能损失｜待确认问题。</a:t>
            </a:r>
          </a:p>
          <a:p>
            <a:endParaRPr sz="1500" b="0">
              <a:solidFill>
                <a:srgbClr val="263746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限制：</a:t>
            </a:r>
          </a:p>
          <a:p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- 不修改任何文件；</a:t>
            </a:r>
          </a:p>
          <a:p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- 不访问项目以外目录；</a:t>
            </a:r>
          </a:p>
          <a:p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- 不联网；</a:t>
            </a:r>
          </a:p>
          <a:p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- 不把建议写成已证实事实。</a:t>
            </a:r>
          </a:p>
        </p:txBody>
      </p:sp>
      <p:sp>
        <p:nvSpPr>
          <p:cNvPr id="8" name="p25-read">
            <a:extLst>
              <a:ext uri="{FF2B5EF4-FFF2-40B4-BE49-F238E27FC236}">
                <a16:creationId xmlns:a16="http://schemas.microsoft.com/office/drawing/2014/main" id="{B22E938B-C4C0-498A-B43C-3C1584DEC8E3}"/>
              </a:ext>
            </a:extLst>
          </p:cNvPr>
          <p:cNvSpPr>
            <a:spLocks noGrp="1"/>
          </p:cNvSpPr>
          <p:nvPr/>
        </p:nvSpPr>
        <p:spPr>
          <a:xfrm>
            <a:off x="8610600" y="15811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00" b="1">
                <a:solidFill>
                  <a:srgbClr val="28745A"/>
                </a:solidFill>
              </a:defRPr>
            </a:pPr>
            <a:r>
              <a:rPr sz="18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允许</a:t>
            </a:r>
          </a:p>
        </p:txBody>
      </p:sp>
      <p:sp>
        <p:nvSpPr>
          <p:cNvPr id="9" name="p25-read2">
            <a:extLst>
              <a:ext uri="{FF2B5EF4-FFF2-40B4-BE49-F238E27FC236}">
                <a16:creationId xmlns:a16="http://schemas.microsoft.com/office/drawing/2014/main" id="{1245766F-2F37-46E7-9217-B7B62368274E}"/>
              </a:ext>
            </a:extLst>
          </p:cNvPr>
          <p:cNvSpPr>
            <a:spLocks noGrp="1"/>
          </p:cNvSpPr>
          <p:nvPr/>
        </p:nvSpPr>
        <p:spPr>
          <a:xfrm>
            <a:off x="8420100" y="2133600"/>
            <a:ext cx="2476500" cy="1066800"/>
          </a:xfrm>
          <a:prstGeom prst="rect">
            <a:avLst/>
          </a:prstGeom>
          <a:solidFill>
            <a:srgbClr val="E7F2ED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28745A"/>
                </a:solidFill>
              </a:defRPr>
            </a:pPr>
            <a:r>
              <a:rPr sz="16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读取指定文件</a:t>
            </a:r>
          </a:p>
          <a:p>
            <a:pPr algn="ctr">
              <a:defRPr sz="1650" b="1">
                <a:solidFill>
                  <a:srgbClr val="28745A"/>
                </a:solidFill>
              </a:defRPr>
            </a:pPr>
            <a:r>
              <a:rPr sz="16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生成候选建议</a:t>
            </a:r>
          </a:p>
        </p:txBody>
      </p:sp>
      <p:sp>
        <p:nvSpPr>
          <p:cNvPr id="10" name="p25-stop">
            <a:extLst>
              <a:ext uri="{FF2B5EF4-FFF2-40B4-BE49-F238E27FC236}">
                <a16:creationId xmlns:a16="http://schemas.microsoft.com/office/drawing/2014/main" id="{8E461F86-F8BF-4250-8DF5-64530E9BD4AE}"/>
              </a:ext>
            </a:extLst>
          </p:cNvPr>
          <p:cNvSpPr>
            <a:spLocks noGrp="1"/>
          </p:cNvSpPr>
          <p:nvPr/>
        </p:nvSpPr>
        <p:spPr>
          <a:xfrm>
            <a:off x="8610600" y="35242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禁止</a:t>
            </a:r>
          </a:p>
        </p:txBody>
      </p:sp>
      <p:sp>
        <p:nvSpPr>
          <p:cNvPr id="11" name="p25-stop2">
            <a:extLst>
              <a:ext uri="{FF2B5EF4-FFF2-40B4-BE49-F238E27FC236}">
                <a16:creationId xmlns:a16="http://schemas.microsoft.com/office/drawing/2014/main" id="{59EA1217-5B3A-4B9B-9742-F57743D11DFF}"/>
              </a:ext>
            </a:extLst>
          </p:cNvPr>
          <p:cNvSpPr>
            <a:spLocks noGrp="1"/>
          </p:cNvSpPr>
          <p:nvPr/>
        </p:nvSpPr>
        <p:spPr>
          <a:xfrm>
            <a:off x="8420100" y="4076700"/>
            <a:ext cx="2476500" cy="1066800"/>
          </a:xfrm>
          <a:prstGeom prst="rect">
            <a:avLst/>
          </a:prstGeom>
          <a:solidFill>
            <a:srgbClr val="F8E9EA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写入｜越界｜联网</a:t>
            </a:r>
          </a:p>
          <a:p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把候选升级为事实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先检查建议是否值得采用，再决定是否写入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AB55966-FA28-BC73-EA9E-53DF014DF033}" type="slidenum">
              <a:t>26</a:t>
            </a:fld>
            <a:endParaRPr/>
          </a:p>
        </p:txBody>
      </p:sp>
      <p:sp>
        <p:nvSpPr>
          <p:cNvPr id="6" name="p26-center">
            <a:extLst>
              <a:ext uri="{FF2B5EF4-FFF2-40B4-BE49-F238E27FC236}">
                <a16:creationId xmlns:a16="http://schemas.microsoft.com/office/drawing/2014/main" id="{0666E0EC-83C0-4E26-8167-D7799762BC06}"/>
              </a:ext>
            </a:extLst>
          </p:cNvPr>
          <p:cNvSpPr>
            <a:spLocks noGrp="1"/>
          </p:cNvSpPr>
          <p:nvPr/>
        </p:nvSpPr>
        <p:spPr>
          <a:xfrm>
            <a:off x="4743450" y="2457450"/>
            <a:ext cx="2705100" cy="990600"/>
          </a:xfrm>
          <a:prstGeom prst="rect">
            <a:avLst/>
          </a:prstGeom>
          <a:solidFill>
            <a:srgbClr val="18354E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建议</a:t>
            </a:r>
          </a:p>
        </p:txBody>
      </p:sp>
      <p:sp>
        <p:nvSpPr>
          <p:cNvPr id="7" name="p26-n-0">
            <a:extLst>
              <a:ext uri="{FF2B5EF4-FFF2-40B4-BE49-F238E27FC236}">
                <a16:creationId xmlns:a16="http://schemas.microsoft.com/office/drawing/2014/main" id="{C0672D76-882A-435E-8A23-27FF70E1E028}"/>
              </a:ext>
            </a:extLst>
          </p:cNvPr>
          <p:cNvSpPr>
            <a:spLocks noGrp="1"/>
          </p:cNvSpPr>
          <p:nvPr/>
        </p:nvSpPr>
        <p:spPr>
          <a:xfrm>
            <a:off x="857250" y="1200150"/>
            <a:ext cx="70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p26-q-0">
            <a:extLst>
              <a:ext uri="{FF2B5EF4-FFF2-40B4-BE49-F238E27FC236}">
                <a16:creationId xmlns:a16="http://schemas.microsoft.com/office/drawing/2014/main" id="{55DC8DCB-3AFF-4F26-B56A-22CDB613F460}"/>
              </a:ext>
            </a:extLst>
          </p:cNvPr>
          <p:cNvSpPr>
            <a:spLocks noGrp="1"/>
          </p:cNvSpPr>
          <p:nvPr/>
        </p:nvSpPr>
        <p:spPr>
          <a:xfrm>
            <a:off x="1600200" y="1200150"/>
            <a:ext cx="2857500" cy="72390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263746"/>
                </a:solidFill>
              </a:defRPr>
            </a:pPr>
            <a:r>
              <a:rPr sz="17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真的缩小了范围？</a:t>
            </a:r>
          </a:p>
        </p:txBody>
      </p:sp>
      <p:sp>
        <p:nvSpPr>
          <p:cNvPr id="9" name="p26-l-0">
            <a:extLst>
              <a:ext uri="{FF2B5EF4-FFF2-40B4-BE49-F238E27FC236}">
                <a16:creationId xmlns:a16="http://schemas.microsoft.com/office/drawing/2014/main" id="{C80098E9-173B-4C5F-A7A0-095CA66DC6F3}"/>
              </a:ext>
            </a:extLst>
          </p:cNvPr>
          <p:cNvSpPr>
            <a:spLocks noGrp="1"/>
          </p:cNvSpPr>
          <p:nvPr/>
        </p:nvSpPr>
        <p:spPr>
          <a:xfrm rot="3211846">
            <a:off x="4126210" y="2205038"/>
            <a:ext cx="1634530" cy="28575"/>
          </a:xfrm>
          <a:prstGeom prst="rect">
            <a:avLst/>
          </a:prstGeom>
          <a:solidFill>
            <a:srgbClr val="C8161E"/>
          </a:solidFill>
          <a:ln w="0">
            <a:noFill/>
            <a:prstDash val="solid"/>
          </a:ln>
        </p:spPr>
      </p:sp>
      <p:sp>
        <p:nvSpPr>
          <p:cNvPr id="10" name="p26-n-1">
            <a:extLst>
              <a:ext uri="{FF2B5EF4-FFF2-40B4-BE49-F238E27FC236}">
                <a16:creationId xmlns:a16="http://schemas.microsoft.com/office/drawing/2014/main" id="{FCE1E12C-0957-4D4C-A023-3D2B90E0CB56}"/>
              </a:ext>
            </a:extLst>
          </p:cNvPr>
          <p:cNvSpPr>
            <a:spLocks noGrp="1"/>
          </p:cNvSpPr>
          <p:nvPr/>
        </p:nvSpPr>
        <p:spPr>
          <a:xfrm>
            <a:off x="7810500" y="1200150"/>
            <a:ext cx="70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025" b="1">
                <a:solidFill>
                  <a:srgbClr val="2F638A"/>
                </a:solidFill>
              </a:defRPr>
            </a:pPr>
            <a:r>
              <a:rPr sz="2025" b="1">
                <a:solidFill>
                  <a:srgbClr val="2F63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p26-q-1">
            <a:extLst>
              <a:ext uri="{FF2B5EF4-FFF2-40B4-BE49-F238E27FC236}">
                <a16:creationId xmlns:a16="http://schemas.microsoft.com/office/drawing/2014/main" id="{42F07456-2F52-4502-81AA-B9017472DEFC}"/>
              </a:ext>
            </a:extLst>
          </p:cNvPr>
          <p:cNvSpPr>
            <a:spLocks noGrp="1"/>
          </p:cNvSpPr>
          <p:nvPr/>
        </p:nvSpPr>
        <p:spPr>
          <a:xfrm>
            <a:off x="8553450" y="1200150"/>
            <a:ext cx="2857500" cy="72390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263746"/>
                </a:solidFill>
              </a:defRPr>
            </a:pPr>
            <a:r>
              <a:rPr sz="17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依据来自 Context？</a:t>
            </a:r>
          </a:p>
        </p:txBody>
      </p:sp>
      <p:sp>
        <p:nvSpPr>
          <p:cNvPr id="12" name="p26-l-1">
            <a:extLst>
              <a:ext uri="{FF2B5EF4-FFF2-40B4-BE49-F238E27FC236}">
                <a16:creationId xmlns:a16="http://schemas.microsoft.com/office/drawing/2014/main" id="{7F87F19C-1915-4D1E-870F-38A90A164530}"/>
              </a:ext>
            </a:extLst>
          </p:cNvPr>
          <p:cNvSpPr>
            <a:spLocks noGrp="1"/>
          </p:cNvSpPr>
          <p:nvPr/>
        </p:nvSpPr>
        <p:spPr>
          <a:xfrm rot="4476267">
            <a:off x="6947838" y="2205038"/>
            <a:ext cx="1363373" cy="28575"/>
          </a:xfrm>
          <a:prstGeom prst="rect">
            <a:avLst/>
          </a:prstGeom>
          <a:solidFill>
            <a:srgbClr val="2F638A"/>
          </a:solidFill>
          <a:ln w="0">
            <a:noFill/>
            <a:prstDash val="solid"/>
          </a:ln>
        </p:spPr>
      </p:sp>
      <p:sp>
        <p:nvSpPr>
          <p:cNvPr id="13" name="p26-n-2">
            <a:extLst>
              <a:ext uri="{FF2B5EF4-FFF2-40B4-BE49-F238E27FC236}">
                <a16:creationId xmlns:a16="http://schemas.microsoft.com/office/drawing/2014/main" id="{C5FCBA93-0754-45F6-AFFE-2D71D7D1ED46}"/>
              </a:ext>
            </a:extLst>
          </p:cNvPr>
          <p:cNvSpPr>
            <a:spLocks noGrp="1"/>
          </p:cNvSpPr>
          <p:nvPr/>
        </p:nvSpPr>
        <p:spPr>
          <a:xfrm>
            <a:off x="857250" y="4210050"/>
            <a:ext cx="70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025" b="1">
                <a:solidFill>
                  <a:srgbClr val="A86C12"/>
                </a:solidFill>
              </a:defRPr>
            </a:pPr>
            <a:r>
              <a:rPr sz="2025" b="1">
                <a:solidFill>
                  <a:srgbClr val="A86C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p26-q-2">
            <a:extLst>
              <a:ext uri="{FF2B5EF4-FFF2-40B4-BE49-F238E27FC236}">
                <a16:creationId xmlns:a16="http://schemas.microsoft.com/office/drawing/2014/main" id="{A3337F3D-CDD3-4899-B406-5F91DC7A38F7}"/>
              </a:ext>
            </a:extLst>
          </p:cNvPr>
          <p:cNvSpPr>
            <a:spLocks noGrp="1"/>
          </p:cNvSpPr>
          <p:nvPr/>
        </p:nvSpPr>
        <p:spPr>
          <a:xfrm>
            <a:off x="1600200" y="4210050"/>
            <a:ext cx="2857500" cy="72390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263746"/>
                </a:solidFill>
              </a:defRPr>
            </a:pPr>
            <a:r>
              <a:rPr sz="17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牺牲了什么？</a:t>
            </a:r>
          </a:p>
        </p:txBody>
      </p:sp>
      <p:sp>
        <p:nvSpPr>
          <p:cNvPr id="15" name="p26-l-2">
            <a:extLst>
              <a:ext uri="{FF2B5EF4-FFF2-40B4-BE49-F238E27FC236}">
                <a16:creationId xmlns:a16="http://schemas.microsoft.com/office/drawing/2014/main" id="{9295C67F-0D36-43A3-9DEA-036F7BB99F6B}"/>
              </a:ext>
            </a:extLst>
          </p:cNvPr>
          <p:cNvSpPr>
            <a:spLocks noGrp="1"/>
          </p:cNvSpPr>
          <p:nvPr/>
        </p:nvSpPr>
        <p:spPr>
          <a:xfrm rot="-3211846">
            <a:off x="4126210" y="3900488"/>
            <a:ext cx="1634530" cy="28575"/>
          </a:xfrm>
          <a:prstGeom prst="rect">
            <a:avLst/>
          </a:prstGeom>
          <a:solidFill>
            <a:srgbClr val="A86C12"/>
          </a:solidFill>
          <a:ln w="0">
            <a:noFill/>
            <a:prstDash val="solid"/>
          </a:ln>
        </p:spPr>
      </p:sp>
      <p:sp>
        <p:nvSpPr>
          <p:cNvPr id="16" name="p26-n-3">
            <a:extLst>
              <a:ext uri="{FF2B5EF4-FFF2-40B4-BE49-F238E27FC236}">
                <a16:creationId xmlns:a16="http://schemas.microsoft.com/office/drawing/2014/main" id="{D235BC64-0A39-41BA-BEF2-04BD6B6F2A1E}"/>
              </a:ext>
            </a:extLst>
          </p:cNvPr>
          <p:cNvSpPr>
            <a:spLocks noGrp="1"/>
          </p:cNvSpPr>
          <p:nvPr/>
        </p:nvSpPr>
        <p:spPr>
          <a:xfrm>
            <a:off x="7810500" y="4210050"/>
            <a:ext cx="70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025" b="1">
                <a:solidFill>
                  <a:srgbClr val="28745A"/>
                </a:solidFill>
              </a:defRPr>
            </a:pPr>
            <a:r>
              <a:rPr sz="2025" b="1">
                <a:solidFill>
                  <a:srgbClr val="28745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p26-q-3">
            <a:extLst>
              <a:ext uri="{FF2B5EF4-FFF2-40B4-BE49-F238E27FC236}">
                <a16:creationId xmlns:a16="http://schemas.microsoft.com/office/drawing/2014/main" id="{369460DF-5C91-436D-AC0D-CDEE62F6E482}"/>
              </a:ext>
            </a:extLst>
          </p:cNvPr>
          <p:cNvSpPr>
            <a:spLocks noGrp="1"/>
          </p:cNvSpPr>
          <p:nvPr/>
        </p:nvSpPr>
        <p:spPr>
          <a:xfrm>
            <a:off x="8553450" y="4210050"/>
            <a:ext cx="2857500" cy="72390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263746"/>
                </a:solidFill>
              </a:defRPr>
            </a:pPr>
            <a:r>
              <a:rPr sz="17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哪些判断仍需确认？</a:t>
            </a:r>
          </a:p>
        </p:txBody>
      </p:sp>
      <p:sp>
        <p:nvSpPr>
          <p:cNvPr id="18" name="p26-l-3">
            <a:extLst>
              <a:ext uri="{FF2B5EF4-FFF2-40B4-BE49-F238E27FC236}">
                <a16:creationId xmlns:a16="http://schemas.microsoft.com/office/drawing/2014/main" id="{5632A715-55B1-406D-AE42-07F5CDEAD44D}"/>
              </a:ext>
            </a:extLst>
          </p:cNvPr>
          <p:cNvSpPr>
            <a:spLocks noGrp="1"/>
          </p:cNvSpPr>
          <p:nvPr/>
        </p:nvSpPr>
        <p:spPr>
          <a:xfrm rot="-4476267">
            <a:off x="6947838" y="3900488"/>
            <a:ext cx="1363373" cy="28575"/>
          </a:xfrm>
          <a:prstGeom prst="rect">
            <a:avLst/>
          </a:prstGeom>
          <a:solidFill>
            <a:srgbClr val="28745A"/>
          </a:solidFill>
          <a:ln w="0">
            <a:noFill/>
            <a:prstDash val="solid"/>
          </a:ln>
        </p:spPr>
      </p:sp>
      <p:sp>
        <p:nvSpPr>
          <p:cNvPr id="19" name="p26-bottom">
            <a:extLst>
              <a:ext uri="{FF2B5EF4-FFF2-40B4-BE49-F238E27FC236}">
                <a16:creationId xmlns:a16="http://schemas.microsoft.com/office/drawing/2014/main" id="{EB9FB79F-051B-4822-8B97-423899C4F3FF}"/>
              </a:ext>
            </a:extLst>
          </p:cNvPr>
          <p:cNvSpPr>
            <a:spLocks noGrp="1"/>
          </p:cNvSpPr>
          <p:nvPr/>
        </p:nvSpPr>
        <p:spPr>
          <a:xfrm>
            <a:off x="3429000" y="5010150"/>
            <a:ext cx="533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研究者选择、修改或全部拒绝。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人工确认后，只授权目标文件写回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2F15020-66A7-620A-7B7A-C05C4312DEAE}" type="slidenum">
              <a:t>27</a:t>
            </a:fld>
            <a:endParaRPr/>
          </a:p>
        </p:txBody>
      </p:sp>
      <p:sp>
        <p:nvSpPr>
          <p:cNvPr id="6" name="p27-contract">
            <a:extLst>
              <a:ext uri="{FF2B5EF4-FFF2-40B4-BE49-F238E27FC236}">
                <a16:creationId xmlns:a16="http://schemas.microsoft.com/office/drawing/2014/main" id="{E3297CFE-F571-46A7-8241-BBAECB06BF72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275" b="1">
                <a:solidFill>
                  <a:srgbClr val="C8161E"/>
                </a:solidFill>
              </a:defRPr>
            </a:pPr>
            <a:r>
              <a:rPr sz="127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BOUNDED WRITEBACK</a:t>
            </a:r>
          </a:p>
        </p:txBody>
      </p:sp>
      <p:sp>
        <p:nvSpPr>
          <p:cNvPr id="7" name="p27-code">
            <a:extLst>
              <a:ext uri="{FF2B5EF4-FFF2-40B4-BE49-F238E27FC236}">
                <a16:creationId xmlns:a16="http://schemas.microsoft.com/office/drawing/2014/main" id="{5B654E95-BC02-491A-87E6-AAA4841E9579}"/>
              </a:ext>
            </a:extLst>
          </p:cNvPr>
          <p:cNvSpPr>
            <a:spLocks noGrp="1"/>
          </p:cNvSpPr>
          <p:nvPr/>
        </p:nvSpPr>
        <p:spPr>
          <a:xfrm>
            <a:off x="666750" y="1447800"/>
            <a:ext cx="7372350" cy="3848100"/>
          </a:xfrm>
          <a:prstGeom prst="rect">
            <a:avLst/>
          </a:prstGeom>
          <a:solidFill>
            <a:srgbClr val="F5F6F7"/>
          </a:solidFill>
          <a:ln w="9525">
            <a:solidFill>
              <a:srgbClr val="D6DDE2"/>
            </a:solidFill>
            <a:prstDash val="solid"/>
          </a:ln>
        </p:spPr>
        <p:txBody>
          <a:bodyPr lIns="190500" tIns="152400" rIns="190500" bIns="152400" anchor="t"/>
          <a:lstStyle/>
          <a:p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根据我确认的第 2 条建议：</a:t>
            </a:r>
          </a:p>
          <a:p>
            <a:endParaRPr sz="1500" b="0">
              <a:solidFill>
                <a:srgbClr val="263746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1. 只修改 problem-definition.md 的‘当前问题’段；</a:t>
            </a:r>
          </a:p>
          <a:p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2. 原表述保留到‘修改记录’；</a:t>
            </a:r>
          </a:p>
          <a:p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3. 在 ai-usage-log.md 增加本次交互摘要；</a:t>
            </a:r>
          </a:p>
          <a:p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4. 不修改其他文件，不访问网络。</a:t>
            </a:r>
          </a:p>
          <a:p>
            <a:endParaRPr sz="1500" b="0">
              <a:solidFill>
                <a:srgbClr val="263746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完成后给出：修改摘要｜实际修改文件｜仍需人工核验内容。</a:t>
            </a:r>
          </a:p>
        </p:txBody>
      </p:sp>
      <p:sp>
        <p:nvSpPr>
          <p:cNvPr id="8" name="p27-target">
            <a:extLst>
              <a:ext uri="{FF2B5EF4-FFF2-40B4-BE49-F238E27FC236}">
                <a16:creationId xmlns:a16="http://schemas.microsoft.com/office/drawing/2014/main" id="{B6A0C27C-A560-4CFB-9DA0-10FC4718756B}"/>
              </a:ext>
            </a:extLst>
          </p:cNvPr>
          <p:cNvSpPr>
            <a:spLocks noGrp="1"/>
          </p:cNvSpPr>
          <p:nvPr/>
        </p:nvSpPr>
        <p:spPr>
          <a:xfrm>
            <a:off x="8763000" y="15240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28745A"/>
                </a:solidFill>
              </a:defRPr>
            </a:pPr>
            <a:r>
              <a:rPr sz="17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授权目标</a:t>
            </a:r>
          </a:p>
        </p:txBody>
      </p:sp>
      <p:sp>
        <p:nvSpPr>
          <p:cNvPr id="9" name="p27-files">
            <a:extLst>
              <a:ext uri="{FF2B5EF4-FFF2-40B4-BE49-F238E27FC236}">
                <a16:creationId xmlns:a16="http://schemas.microsoft.com/office/drawing/2014/main" id="{CC33B20A-9733-4B56-84D8-EBD964715A4D}"/>
              </a:ext>
            </a:extLst>
          </p:cNvPr>
          <p:cNvSpPr>
            <a:spLocks noGrp="1"/>
          </p:cNvSpPr>
          <p:nvPr/>
        </p:nvSpPr>
        <p:spPr>
          <a:xfrm>
            <a:off x="8324850" y="2076450"/>
            <a:ext cx="2971800" cy="1104900"/>
          </a:xfrm>
          <a:prstGeom prst="rect">
            <a:avLst/>
          </a:prstGeom>
          <a:solidFill>
            <a:srgbClr val="E7F2ED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Consolas"/>
                <a:ea typeface="Consolas"/>
                <a:cs typeface="Consolas"/>
              </a:rPr>
              <a:t>problem-definition.md</a:t>
            </a:r>
          </a:p>
          <a:p>
            <a:pPr algn="ctr"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Consolas"/>
                <a:ea typeface="Consolas"/>
                <a:cs typeface="Consolas"/>
              </a:rPr>
              <a:t>ai-usage-log.md</a:t>
            </a:r>
          </a:p>
        </p:txBody>
      </p:sp>
      <p:sp>
        <p:nvSpPr>
          <p:cNvPr id="10" name="p27-no">
            <a:extLst>
              <a:ext uri="{FF2B5EF4-FFF2-40B4-BE49-F238E27FC236}">
                <a16:creationId xmlns:a16="http://schemas.microsoft.com/office/drawing/2014/main" id="{4CB9AC52-2835-4E00-857D-78C59D20187A}"/>
              </a:ext>
            </a:extLst>
          </p:cNvPr>
          <p:cNvSpPr>
            <a:spLocks noGrp="1"/>
          </p:cNvSpPr>
          <p:nvPr/>
        </p:nvSpPr>
        <p:spPr>
          <a:xfrm>
            <a:off x="8763000" y="35623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未授权</a:t>
            </a:r>
          </a:p>
        </p:txBody>
      </p:sp>
      <p:sp>
        <p:nvSpPr>
          <p:cNvPr id="11" name="p27-no2">
            <a:extLst>
              <a:ext uri="{FF2B5EF4-FFF2-40B4-BE49-F238E27FC236}">
                <a16:creationId xmlns:a16="http://schemas.microsoft.com/office/drawing/2014/main" id="{F4593E86-5DE5-4B8B-854E-3039582DB753}"/>
              </a:ext>
            </a:extLst>
          </p:cNvPr>
          <p:cNvSpPr>
            <a:spLocks noGrp="1"/>
          </p:cNvSpPr>
          <p:nvPr/>
        </p:nvSpPr>
        <p:spPr>
          <a:xfrm>
            <a:off x="8324850" y="4114800"/>
            <a:ext cx="2971800" cy="1028700"/>
          </a:xfrm>
          <a:prstGeom prst="rect">
            <a:avLst/>
          </a:prstGeom>
          <a:solidFill>
            <a:srgbClr val="F8E9EA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其他文件｜网络</a:t>
            </a:r>
          </a:p>
          <a:p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项目外目录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“完成”之后还要检查 diff 和使用记录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68AD4375-9F50-F53A-6F9F-DD8473067C05}" type="slidenum">
              <a:t>28</a:t>
            </a:fld>
            <a:endParaRPr/>
          </a:p>
        </p:txBody>
      </p:sp>
      <p:sp>
        <p:nvSpPr>
          <p:cNvPr id="6" name="p28-fiction">
            <a:extLst>
              <a:ext uri="{FF2B5EF4-FFF2-40B4-BE49-F238E27FC236}">
                <a16:creationId xmlns:a16="http://schemas.microsoft.com/office/drawing/2014/main" id="{13B06698-C956-4C03-B927-C1AFBE97DCEA}"/>
              </a:ext>
            </a:extLst>
          </p:cNvPr>
          <p:cNvSpPr>
            <a:spLocks noGrp="1"/>
          </p:cNvSpPr>
          <p:nvPr/>
        </p:nvSpPr>
        <p:spPr>
          <a:xfrm>
            <a:off x="704850" y="9906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200" b="1">
                <a:solidFill>
                  <a:srgbClr val="667684"/>
                </a:solidFill>
              </a:defRPr>
            </a:pPr>
            <a:r>
              <a:rPr sz="12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虚构教学工件</a:t>
            </a:r>
          </a:p>
        </p:txBody>
      </p:sp>
      <p:sp>
        <p:nvSpPr>
          <p:cNvPr id="7" name="p28-diff-title">
            <a:extLst>
              <a:ext uri="{FF2B5EF4-FFF2-40B4-BE49-F238E27FC236}">
                <a16:creationId xmlns:a16="http://schemas.microsoft.com/office/drawing/2014/main" id="{6DD3BD4A-A299-44CB-ADCD-E7D348517872}"/>
              </a:ext>
            </a:extLst>
          </p:cNvPr>
          <p:cNvSpPr>
            <a:spLocks noGrp="1"/>
          </p:cNvSpPr>
          <p:nvPr/>
        </p:nvSpPr>
        <p:spPr>
          <a:xfrm>
            <a:off x="666750" y="1371600"/>
            <a:ext cx="542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git diff — problem-definition.md</a:t>
            </a:r>
          </a:p>
        </p:txBody>
      </p:sp>
      <p:sp>
        <p:nvSpPr>
          <p:cNvPr id="8" name="p28-diff">
            <a:extLst>
              <a:ext uri="{FF2B5EF4-FFF2-40B4-BE49-F238E27FC236}">
                <a16:creationId xmlns:a16="http://schemas.microsoft.com/office/drawing/2014/main" id="{C5CA8198-2C0B-4BFD-BED9-E74DF334A1FE}"/>
              </a:ext>
            </a:extLst>
          </p:cNvPr>
          <p:cNvSpPr>
            <a:spLocks noGrp="1"/>
          </p:cNvSpPr>
          <p:nvPr/>
        </p:nvSpPr>
        <p:spPr>
          <a:xfrm>
            <a:off x="628650" y="1790700"/>
            <a:ext cx="5676900" cy="2266950"/>
          </a:xfrm>
          <a:prstGeom prst="rect">
            <a:avLst/>
          </a:prstGeom>
          <a:solidFill>
            <a:srgbClr val="F5F6F7"/>
          </a:solidFill>
          <a:ln w="9525">
            <a:solidFill>
              <a:srgbClr val="D6DDE2"/>
            </a:solidFill>
            <a:prstDash val="solid"/>
          </a:ln>
        </p:spPr>
        <p:txBody>
          <a:bodyPr lIns="171450" tIns="152400" rIns="171450" bIns="152400" anchor="t"/>
          <a:lstStyle/>
          <a:p>
            <a:pPr algn="l"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- 研究 AI 如何帮助读论文。</a:t>
            </a:r>
          </a:p>
          <a:p>
            <a:pPr algn="l"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+ 在 6 篇公开 AI4Research 论文中，</a:t>
            </a:r>
          </a:p>
          <a:p>
            <a:pPr algn="l"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+ 比较结构化阅读卡与自由笔记对关键限定遗漏率的影响。</a:t>
            </a:r>
          </a:p>
          <a:p>
            <a:pPr algn="l"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+ 待定义：‘关键限定’的标注规则。</a:t>
            </a:r>
          </a:p>
        </p:txBody>
      </p:sp>
      <p:sp>
        <p:nvSpPr>
          <p:cNvPr id="9" name="p28-log-title">
            <a:extLst>
              <a:ext uri="{FF2B5EF4-FFF2-40B4-BE49-F238E27FC236}">
                <a16:creationId xmlns:a16="http://schemas.microsoft.com/office/drawing/2014/main" id="{3D3B9357-BCF7-49C4-9B51-DD3BBF9CE648}"/>
              </a:ext>
            </a:extLst>
          </p:cNvPr>
          <p:cNvSpPr>
            <a:spLocks noGrp="1"/>
          </p:cNvSpPr>
          <p:nvPr/>
        </p:nvSpPr>
        <p:spPr>
          <a:xfrm>
            <a:off x="6838950" y="137160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ai-usage-log.md</a:t>
            </a:r>
          </a:p>
        </p:txBody>
      </p:sp>
      <p:sp>
        <p:nvSpPr>
          <p:cNvPr id="10" name="p28-log">
            <a:extLst>
              <a:ext uri="{FF2B5EF4-FFF2-40B4-BE49-F238E27FC236}">
                <a16:creationId xmlns:a16="http://schemas.microsoft.com/office/drawing/2014/main" id="{25BDEF46-4380-4551-A780-086DF91ADCA1}"/>
              </a:ext>
            </a:extLst>
          </p:cNvPr>
          <p:cNvSpPr>
            <a:spLocks noGrp="1"/>
          </p:cNvSpPr>
          <p:nvPr/>
        </p:nvSpPr>
        <p:spPr>
          <a:xfrm>
            <a:off x="6800850" y="1790700"/>
            <a:ext cx="4781550" cy="2266950"/>
          </a:xfrm>
          <a:prstGeom prst="rect">
            <a:avLst/>
          </a:prstGeom>
          <a:solidFill>
            <a:srgbClr val="F5F6F7"/>
          </a:solidFill>
          <a:ln w="9525">
            <a:solidFill>
              <a:srgbClr val="D6DDE2"/>
            </a:solidFill>
            <a:prstDash val="solid"/>
          </a:ln>
        </p:spPr>
        <p:txBody>
          <a:bodyPr lIns="171450" tIns="152400" rIns="171450" bIns="152400" anchor="t"/>
          <a:lstStyle/>
          <a:p>
            <a:pPr algn="l"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2026-08-07｜范围收敛</a:t>
            </a:r>
          </a:p>
          <a:p>
            <a:pPr algn="l"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输入：当前问题、项目约束</a:t>
            </a:r>
          </a:p>
          <a:p>
            <a:pPr algn="l"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建议：3 条；采纳第 2 条并人工改写</a:t>
            </a:r>
          </a:p>
          <a:p>
            <a:pPr algn="l"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写入：problem-definition.md</a:t>
            </a:r>
          </a:p>
          <a:p>
            <a:pPr algn="l"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核验：diff 已检查</a:t>
            </a:r>
          </a:p>
          <a:p>
            <a:pPr algn="l"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待办：定义遗漏率与标注协议</a:t>
            </a:r>
          </a:p>
        </p:txBody>
      </p:sp>
      <p:sp>
        <p:nvSpPr>
          <p:cNvPr id="11" name="p28-rule">
            <a:extLst>
              <a:ext uri="{FF2B5EF4-FFF2-40B4-BE49-F238E27FC236}">
                <a16:creationId xmlns:a16="http://schemas.microsoft.com/office/drawing/2014/main" id="{A8176E2F-5DCE-4CA2-A86B-E27813C9C1A5}"/>
              </a:ext>
            </a:extLst>
          </p:cNvPr>
          <p:cNvSpPr>
            <a:spLocks noGrp="1"/>
          </p:cNvSpPr>
          <p:nvPr/>
        </p:nvSpPr>
        <p:spPr>
          <a:xfrm>
            <a:off x="2381250" y="4533900"/>
            <a:ext cx="7429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75" b="1">
                <a:solidFill>
                  <a:srgbClr val="C8161E"/>
                </a:solidFill>
              </a:defRPr>
            </a:pPr>
            <a:r>
              <a:rPr sz="21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以实际文件变化为准，不只看 Agent 自述。</a:t>
            </a:r>
          </a:p>
        </p:txBody>
      </p:sp>
      <p:sp>
        <p:nvSpPr>
          <p:cNvPr id="12" name="p28-check">
            <a:extLst>
              <a:ext uri="{FF2B5EF4-FFF2-40B4-BE49-F238E27FC236}">
                <a16:creationId xmlns:a16="http://schemas.microsoft.com/office/drawing/2014/main" id="{AB6AA0F6-EBED-422A-B6C4-BD6DAA411C9A}"/>
              </a:ext>
            </a:extLst>
          </p:cNvPr>
          <p:cNvSpPr>
            <a:spLocks noGrp="1"/>
          </p:cNvSpPr>
          <p:nvPr/>
        </p:nvSpPr>
        <p:spPr>
          <a:xfrm>
            <a:off x="1809750" y="5219700"/>
            <a:ext cx="857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425" b="0">
                <a:solidFill>
                  <a:srgbClr val="667684"/>
                </a:solidFill>
              </a:defRPr>
            </a:pPr>
            <a:r>
              <a:rPr sz="1425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检查：改了哪些文件？保留了哪些边界？日志能否复原人工判断？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失败不是重跑到成功，而是工作流评价材料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41680313-6E64-04FF-399A-57B7CADE95A9}" type="slidenum">
              <a:t>29</a:t>
            </a:fld>
            <a:endParaRPr/>
          </a:p>
        </p:txBody>
      </p:sp>
      <p:sp>
        <p:nvSpPr>
          <p:cNvPr id="6" name="p29-request-label">
            <a:extLst>
              <a:ext uri="{FF2B5EF4-FFF2-40B4-BE49-F238E27FC236}">
                <a16:creationId xmlns:a16="http://schemas.microsoft.com/office/drawing/2014/main" id="{AA17980B-75C3-4451-8D97-97987E7DE3F1}"/>
              </a:ext>
            </a:extLst>
          </p:cNvPr>
          <p:cNvSpPr>
            <a:spLocks noGrp="1"/>
          </p:cNvSpPr>
          <p:nvPr/>
        </p:nvSpPr>
        <p:spPr>
          <a:xfrm>
            <a:off x="781050" y="106680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越权请求</a:t>
            </a:r>
          </a:p>
        </p:txBody>
      </p:sp>
      <p:sp>
        <p:nvSpPr>
          <p:cNvPr id="7" name="p29-request">
            <a:extLst>
              <a:ext uri="{FF2B5EF4-FFF2-40B4-BE49-F238E27FC236}">
                <a16:creationId xmlns:a16="http://schemas.microsoft.com/office/drawing/2014/main" id="{3F172164-738E-4311-9EDA-DE018F6FCB15}"/>
              </a:ext>
            </a:extLst>
          </p:cNvPr>
          <p:cNvSpPr>
            <a:spLocks noGrp="1"/>
          </p:cNvSpPr>
          <p:nvPr/>
        </p:nvSpPr>
        <p:spPr>
          <a:xfrm>
            <a:off x="781050" y="1562100"/>
            <a:ext cx="10629900" cy="1009650"/>
          </a:xfrm>
          <a:prstGeom prst="rect">
            <a:avLst/>
          </a:prstGeom>
          <a:solidFill>
            <a:srgbClr val="F8E9EA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75" b="1">
                <a:solidFill>
                  <a:srgbClr val="263746"/>
                </a:solidFill>
              </a:defRPr>
            </a:pPr>
            <a:r>
              <a:rPr sz="21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“扫描整台电脑，找到我以前所有相关论文和数据，自动整理到项目中。”</a:t>
            </a:r>
          </a:p>
        </p:txBody>
      </p:sp>
      <p:sp>
        <p:nvSpPr>
          <p:cNvPr id="8" name="p29-stop">
            <a:extLst>
              <a:ext uri="{FF2B5EF4-FFF2-40B4-BE49-F238E27FC236}">
                <a16:creationId xmlns:a16="http://schemas.microsoft.com/office/drawing/2014/main" id="{1E0BDFB9-E981-4860-8D60-556BDBF9740C}"/>
              </a:ext>
            </a:extLst>
          </p:cNvPr>
          <p:cNvSpPr>
            <a:spLocks noGrp="1"/>
          </p:cNvSpPr>
          <p:nvPr/>
        </p:nvSpPr>
        <p:spPr>
          <a:xfrm>
            <a:off x="990600" y="3181350"/>
            <a:ext cx="2190750" cy="1066800"/>
          </a:xfrm>
          <a:prstGeom prst="rect">
            <a:avLst/>
          </a:prstGeom>
          <a:solidFill>
            <a:srgbClr val="C8161E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9" name="p29-0">
            <a:extLst>
              <a:ext uri="{FF2B5EF4-FFF2-40B4-BE49-F238E27FC236}">
                <a16:creationId xmlns:a16="http://schemas.microsoft.com/office/drawing/2014/main" id="{A35307A0-7177-4941-9B96-95EC4B0A4BAE}"/>
              </a:ext>
            </a:extLst>
          </p:cNvPr>
          <p:cNvSpPr>
            <a:spLocks noGrp="1"/>
          </p:cNvSpPr>
          <p:nvPr/>
        </p:nvSpPr>
        <p:spPr>
          <a:xfrm>
            <a:off x="3790950" y="3105150"/>
            <a:ext cx="2133600" cy="6667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范围</a:t>
            </a:r>
          </a:p>
        </p:txBody>
      </p:sp>
      <p:sp>
        <p:nvSpPr>
          <p:cNvPr id="10" name="p29-1">
            <a:extLst>
              <a:ext uri="{FF2B5EF4-FFF2-40B4-BE49-F238E27FC236}">
                <a16:creationId xmlns:a16="http://schemas.microsoft.com/office/drawing/2014/main" id="{E82F85FD-8439-43FD-945A-1F6CDE07818C}"/>
              </a:ext>
            </a:extLst>
          </p:cNvPr>
          <p:cNvSpPr>
            <a:spLocks noGrp="1"/>
          </p:cNvSpPr>
          <p:nvPr/>
        </p:nvSpPr>
        <p:spPr>
          <a:xfrm>
            <a:off x="6267450" y="3105150"/>
            <a:ext cx="2133600" cy="6667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隐私</a:t>
            </a:r>
          </a:p>
        </p:txBody>
      </p:sp>
      <p:sp>
        <p:nvSpPr>
          <p:cNvPr id="11" name="p29-2">
            <a:extLst>
              <a:ext uri="{FF2B5EF4-FFF2-40B4-BE49-F238E27FC236}">
                <a16:creationId xmlns:a16="http://schemas.microsoft.com/office/drawing/2014/main" id="{D2889145-5B64-44FC-A7E3-D1B7E76C8109}"/>
              </a:ext>
            </a:extLst>
          </p:cNvPr>
          <p:cNvSpPr>
            <a:spLocks noGrp="1"/>
          </p:cNvSpPr>
          <p:nvPr/>
        </p:nvSpPr>
        <p:spPr>
          <a:xfrm>
            <a:off x="8743950" y="3105150"/>
            <a:ext cx="2133600" cy="6667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许可</a:t>
            </a:r>
          </a:p>
        </p:txBody>
      </p:sp>
      <p:sp>
        <p:nvSpPr>
          <p:cNvPr id="12" name="p29-3">
            <a:extLst>
              <a:ext uri="{FF2B5EF4-FFF2-40B4-BE49-F238E27FC236}">
                <a16:creationId xmlns:a16="http://schemas.microsoft.com/office/drawing/2014/main" id="{495DBC65-BAC0-4D49-A39D-DDE3CE7AFE0C}"/>
              </a:ext>
            </a:extLst>
          </p:cNvPr>
          <p:cNvSpPr>
            <a:spLocks noGrp="1"/>
          </p:cNvSpPr>
          <p:nvPr/>
        </p:nvSpPr>
        <p:spPr>
          <a:xfrm>
            <a:off x="3790950" y="4095750"/>
            <a:ext cx="2133600" cy="6667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凭据</a:t>
            </a:r>
          </a:p>
        </p:txBody>
      </p:sp>
      <p:sp>
        <p:nvSpPr>
          <p:cNvPr id="13" name="p29-4">
            <a:extLst>
              <a:ext uri="{FF2B5EF4-FFF2-40B4-BE49-F238E27FC236}">
                <a16:creationId xmlns:a16="http://schemas.microsoft.com/office/drawing/2014/main" id="{DB698411-0C2E-41CE-848A-81EF0AB5BA05}"/>
              </a:ext>
            </a:extLst>
          </p:cNvPr>
          <p:cNvSpPr>
            <a:spLocks noGrp="1"/>
          </p:cNvSpPr>
          <p:nvPr/>
        </p:nvSpPr>
        <p:spPr>
          <a:xfrm>
            <a:off x="6267450" y="4095750"/>
            <a:ext cx="2133600" cy="6667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不可逆写入</a:t>
            </a:r>
          </a:p>
        </p:txBody>
      </p:sp>
      <p:sp>
        <p:nvSpPr>
          <p:cNvPr id="14" name="p29-5">
            <a:extLst>
              <a:ext uri="{FF2B5EF4-FFF2-40B4-BE49-F238E27FC236}">
                <a16:creationId xmlns:a16="http://schemas.microsoft.com/office/drawing/2014/main" id="{5CD34EC9-8CB9-40D4-BD7B-6DCA8D30A085}"/>
              </a:ext>
            </a:extLst>
          </p:cNvPr>
          <p:cNvSpPr>
            <a:spLocks noGrp="1"/>
          </p:cNvSpPr>
          <p:nvPr/>
        </p:nvSpPr>
        <p:spPr>
          <a:xfrm>
            <a:off x="8743950" y="4095750"/>
            <a:ext cx="2133600" cy="6667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恢复方式</a:t>
            </a:r>
          </a:p>
        </p:txBody>
      </p:sp>
      <p:sp>
        <p:nvSpPr>
          <p:cNvPr id="15" name="p29-bottom">
            <a:extLst>
              <a:ext uri="{FF2B5EF4-FFF2-40B4-BE49-F238E27FC236}">
                <a16:creationId xmlns:a16="http://schemas.microsoft.com/office/drawing/2014/main" id="{DDFF8616-22C6-49AB-A484-7418BE28BFBA}"/>
              </a:ext>
            </a:extLst>
          </p:cNvPr>
          <p:cNvSpPr>
            <a:spLocks noGrp="1"/>
          </p:cNvSpPr>
          <p:nvPr/>
        </p:nvSpPr>
        <p:spPr>
          <a:xfrm>
            <a:off x="2476500" y="521970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失败记录用于评价任务契约，不是重跑到成功。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优先使用真实兴趣，没有题目时先借一个小问题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FEBBBCE-9E16-527A-0EE3-E5839422D847}" type="slidenum">
              <a:t>30</a:t>
            </a:fld>
            <a:endParaRPr/>
          </a:p>
        </p:txBody>
      </p:sp>
      <p:sp>
        <p:nvSpPr>
          <p:cNvPr id="6" name="p30-start">
            <a:extLst>
              <a:ext uri="{FF2B5EF4-FFF2-40B4-BE49-F238E27FC236}">
                <a16:creationId xmlns:a16="http://schemas.microsoft.com/office/drawing/2014/main" id="{27BD1278-451B-47B4-845E-0EA078F599D0}"/>
              </a:ext>
            </a:extLst>
          </p:cNvPr>
          <p:cNvSpPr>
            <a:spLocks noGrp="1"/>
          </p:cNvSpPr>
          <p:nvPr/>
        </p:nvSpPr>
        <p:spPr>
          <a:xfrm>
            <a:off x="2476500" y="1143000"/>
            <a:ext cx="723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325" b="1">
                <a:solidFill>
                  <a:srgbClr val="C8161E"/>
                </a:solidFill>
              </a:defRPr>
            </a:pPr>
            <a:r>
              <a:rPr sz="23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今天只需要一个可修改的起点</a:t>
            </a:r>
          </a:p>
        </p:txBody>
      </p:sp>
      <p:sp>
        <p:nvSpPr>
          <p:cNvPr id="7" name="p30-n-0">
            <a:extLst>
              <a:ext uri="{FF2B5EF4-FFF2-40B4-BE49-F238E27FC236}">
                <a16:creationId xmlns:a16="http://schemas.microsoft.com/office/drawing/2014/main" id="{27B5D983-6F08-40AA-9970-55C54A5B2B92}"/>
              </a:ext>
            </a:extLst>
          </p:cNvPr>
          <p:cNvSpPr>
            <a:spLocks noGrp="1"/>
          </p:cNvSpPr>
          <p:nvPr/>
        </p:nvSpPr>
        <p:spPr>
          <a:xfrm>
            <a:off x="1524000" y="2209800"/>
            <a:ext cx="857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625" b="1">
                <a:solidFill>
                  <a:srgbClr val="C8161E"/>
                </a:solidFill>
              </a:defRPr>
            </a:pPr>
            <a:r>
              <a:rPr sz="262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p30-l-0">
            <a:extLst>
              <a:ext uri="{FF2B5EF4-FFF2-40B4-BE49-F238E27FC236}">
                <a16:creationId xmlns:a16="http://schemas.microsoft.com/office/drawing/2014/main" id="{96A9F120-A45F-48F8-903B-A7E5DC537B45}"/>
              </a:ext>
            </a:extLst>
          </p:cNvPr>
          <p:cNvSpPr>
            <a:spLocks noGrp="1"/>
          </p:cNvSpPr>
          <p:nvPr/>
        </p:nvSpPr>
        <p:spPr>
          <a:xfrm>
            <a:off x="2762250" y="2209800"/>
            <a:ext cx="619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950" b="1">
                <a:solidFill>
                  <a:srgbClr val="263746"/>
                </a:solidFill>
              </a:defRPr>
            </a:pPr>
            <a:r>
              <a:rPr sz="19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本人真实研究兴趣</a:t>
            </a:r>
          </a:p>
        </p:txBody>
      </p:sp>
      <p:sp>
        <p:nvSpPr>
          <p:cNvPr id="9" name="p30-t-0">
            <a:extLst>
              <a:ext uri="{FF2B5EF4-FFF2-40B4-BE49-F238E27FC236}">
                <a16:creationId xmlns:a16="http://schemas.microsoft.com/office/drawing/2014/main" id="{912E1B2F-2955-4207-9180-63AB340E3EA9}"/>
              </a:ext>
            </a:extLst>
          </p:cNvPr>
          <p:cNvSpPr>
            <a:spLocks noGrp="1"/>
          </p:cNvSpPr>
          <p:nvPr/>
        </p:nvSpPr>
        <p:spPr>
          <a:xfrm>
            <a:off x="9505950" y="2286000"/>
            <a:ext cx="1143000" cy="514350"/>
          </a:xfrm>
          <a:prstGeom prst="rect">
            <a:avLst/>
          </a:prstGeom>
          <a:solidFill>
            <a:srgbClr val="F8E9EA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优先</a:t>
            </a:r>
          </a:p>
        </p:txBody>
      </p:sp>
      <p:sp>
        <p:nvSpPr>
          <p:cNvPr id="10" name="p30-n-1">
            <a:extLst>
              <a:ext uri="{FF2B5EF4-FFF2-40B4-BE49-F238E27FC236}">
                <a16:creationId xmlns:a16="http://schemas.microsoft.com/office/drawing/2014/main" id="{14F787E1-715A-473E-BD52-7B1C1AE6F16F}"/>
              </a:ext>
            </a:extLst>
          </p:cNvPr>
          <p:cNvSpPr>
            <a:spLocks noGrp="1"/>
          </p:cNvSpPr>
          <p:nvPr/>
        </p:nvSpPr>
        <p:spPr>
          <a:xfrm>
            <a:off x="1524000" y="3238500"/>
            <a:ext cx="857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625" b="1">
                <a:solidFill>
                  <a:srgbClr val="18354E"/>
                </a:solidFill>
              </a:defRPr>
            </a:pPr>
            <a:r>
              <a:rPr sz="2625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p30-l-1">
            <a:extLst>
              <a:ext uri="{FF2B5EF4-FFF2-40B4-BE49-F238E27FC236}">
                <a16:creationId xmlns:a16="http://schemas.microsoft.com/office/drawing/2014/main" id="{719AF847-2282-4A83-85CF-8D581FC0F477}"/>
              </a:ext>
            </a:extLst>
          </p:cNvPr>
          <p:cNvSpPr>
            <a:spLocks noGrp="1"/>
          </p:cNvSpPr>
          <p:nvPr/>
        </p:nvSpPr>
        <p:spPr>
          <a:xfrm>
            <a:off x="2762250" y="3238500"/>
            <a:ext cx="619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950" b="1">
                <a:solidFill>
                  <a:srgbClr val="263746"/>
                </a:solidFill>
              </a:defRPr>
            </a:pPr>
            <a:r>
              <a:rPr sz="19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导师组公开、可缩小的问题</a:t>
            </a:r>
          </a:p>
        </p:txBody>
      </p:sp>
      <p:sp>
        <p:nvSpPr>
          <p:cNvPr id="12" name="p30-t-1">
            <a:extLst>
              <a:ext uri="{FF2B5EF4-FFF2-40B4-BE49-F238E27FC236}">
                <a16:creationId xmlns:a16="http://schemas.microsoft.com/office/drawing/2014/main" id="{771B4651-598D-4935-A500-09A0AD2E4517}"/>
              </a:ext>
            </a:extLst>
          </p:cNvPr>
          <p:cNvSpPr>
            <a:spLocks noGrp="1"/>
          </p:cNvSpPr>
          <p:nvPr/>
        </p:nvSpPr>
        <p:spPr>
          <a:xfrm>
            <a:off x="9505950" y="3314700"/>
            <a:ext cx="1143000" cy="5143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425" b="1">
                <a:solidFill>
                  <a:srgbClr val="667684"/>
                </a:solidFill>
              </a:defRPr>
            </a:pPr>
            <a:r>
              <a:rPr sz="14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可用</a:t>
            </a:r>
          </a:p>
        </p:txBody>
      </p:sp>
      <p:sp>
        <p:nvSpPr>
          <p:cNvPr id="13" name="p30-n-2">
            <a:extLst>
              <a:ext uri="{FF2B5EF4-FFF2-40B4-BE49-F238E27FC236}">
                <a16:creationId xmlns:a16="http://schemas.microsoft.com/office/drawing/2014/main" id="{85ED402C-CEC5-4101-B691-67E334749626}"/>
              </a:ext>
            </a:extLst>
          </p:cNvPr>
          <p:cNvSpPr>
            <a:spLocks noGrp="1"/>
          </p:cNvSpPr>
          <p:nvPr/>
        </p:nvSpPr>
        <p:spPr>
          <a:xfrm>
            <a:off x="1524000" y="4267200"/>
            <a:ext cx="857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625" b="1">
                <a:solidFill>
                  <a:srgbClr val="18354E"/>
                </a:solidFill>
              </a:defRPr>
            </a:pPr>
            <a:r>
              <a:rPr sz="2625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p30-l-2">
            <a:extLst>
              <a:ext uri="{FF2B5EF4-FFF2-40B4-BE49-F238E27FC236}">
                <a16:creationId xmlns:a16="http://schemas.microsoft.com/office/drawing/2014/main" id="{CD6BC5D3-28F7-49EB-A365-24532BAB2577}"/>
              </a:ext>
            </a:extLst>
          </p:cNvPr>
          <p:cNvSpPr>
            <a:spLocks noGrp="1"/>
          </p:cNvSpPr>
          <p:nvPr/>
        </p:nvSpPr>
        <p:spPr>
          <a:xfrm>
            <a:off x="2762250" y="4267200"/>
            <a:ext cx="619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950" b="1">
                <a:solidFill>
                  <a:srgbClr val="263746"/>
                </a:solidFill>
              </a:defRPr>
            </a:pPr>
            <a:r>
              <a:rPr sz="19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课程备用微型问题</a:t>
            </a:r>
          </a:p>
        </p:txBody>
      </p:sp>
      <p:sp>
        <p:nvSpPr>
          <p:cNvPr id="15" name="p30-t-2">
            <a:extLst>
              <a:ext uri="{FF2B5EF4-FFF2-40B4-BE49-F238E27FC236}">
                <a16:creationId xmlns:a16="http://schemas.microsoft.com/office/drawing/2014/main" id="{111EA490-FD30-4B29-8D0B-1B6A39A6BB14}"/>
              </a:ext>
            </a:extLst>
          </p:cNvPr>
          <p:cNvSpPr>
            <a:spLocks noGrp="1"/>
          </p:cNvSpPr>
          <p:nvPr/>
        </p:nvSpPr>
        <p:spPr>
          <a:xfrm>
            <a:off x="9505950" y="4343400"/>
            <a:ext cx="1143000" cy="5143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425" b="1">
                <a:solidFill>
                  <a:srgbClr val="667684"/>
                </a:solidFill>
              </a:defRPr>
            </a:pPr>
            <a:r>
              <a:rPr sz="14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兜底</a:t>
            </a:r>
          </a:p>
        </p:txBody>
      </p:sp>
      <p:sp>
        <p:nvSpPr>
          <p:cNvPr id="16" name="p30-action">
            <a:extLst>
              <a:ext uri="{FF2B5EF4-FFF2-40B4-BE49-F238E27FC236}">
                <a16:creationId xmlns:a16="http://schemas.microsoft.com/office/drawing/2014/main" id="{DBB693C9-4921-4A2A-9EE0-D02D9ED81641}"/>
              </a:ext>
            </a:extLst>
          </p:cNvPr>
          <p:cNvSpPr>
            <a:spLocks noGrp="1"/>
          </p:cNvSpPr>
          <p:nvPr/>
        </p:nvSpPr>
        <p:spPr>
          <a:xfrm>
            <a:off x="2476500" y="527685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0">
                <a:solidFill>
                  <a:srgbClr val="667684"/>
                </a:solidFill>
              </a:defRPr>
            </a:pPr>
            <a:r>
              <a:rPr sz="150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30 秒内选择；仍无法选择者默认使用备用题 1。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个人实践：完成一次“只读—审核—写回—记录”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D172A7C5-A0CC-7B36-F236-345181E6AD72}" type="slidenum">
              <a:t>31</a:t>
            </a:fld>
            <a:endParaRPr/>
          </a:p>
        </p:txBody>
      </p:sp>
      <p:sp>
        <p:nvSpPr>
          <p:cNvPr id="6" name="p31-time">
            <a:extLst>
              <a:ext uri="{FF2B5EF4-FFF2-40B4-BE49-F238E27FC236}">
                <a16:creationId xmlns:a16="http://schemas.microsoft.com/office/drawing/2014/main" id="{25E7B3A8-9FBE-42FE-8DA3-E2DDCBC17302}"/>
              </a:ext>
            </a:extLst>
          </p:cNvPr>
          <p:cNvSpPr>
            <a:spLocks noGrp="1"/>
          </p:cNvSpPr>
          <p:nvPr/>
        </p:nvSpPr>
        <p:spPr>
          <a:xfrm>
            <a:off x="8686800" y="8953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48:00–75:00 个人实践</a:t>
            </a:r>
          </a:p>
        </p:txBody>
      </p:sp>
      <p:sp>
        <p:nvSpPr>
          <p:cNvPr id="7" name="p31-tree-title">
            <a:extLst>
              <a:ext uri="{FF2B5EF4-FFF2-40B4-BE49-F238E27FC236}">
                <a16:creationId xmlns:a16="http://schemas.microsoft.com/office/drawing/2014/main" id="{6584F408-3557-4BD0-8965-0F1FBE74BF6A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最小工作区</a:t>
            </a:r>
          </a:p>
        </p:txBody>
      </p:sp>
      <p:sp>
        <p:nvSpPr>
          <p:cNvPr id="8" name="p31-tree">
            <a:extLst>
              <a:ext uri="{FF2B5EF4-FFF2-40B4-BE49-F238E27FC236}">
                <a16:creationId xmlns:a16="http://schemas.microsoft.com/office/drawing/2014/main" id="{061BDC75-3011-4074-8A7E-A8AEEEE4BD07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3714750" cy="236220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0">
                <a:solidFill>
                  <a:srgbClr val="263746"/>
                </a:solidFill>
              </a:defRPr>
            </a:pPr>
            <a:r>
              <a:rPr sz="16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project/</a:t>
            </a:r>
          </a:p>
          <a:p>
            <a:pPr algn="l">
              <a:defRPr sz="1650" b="0">
                <a:solidFill>
                  <a:srgbClr val="263746"/>
                </a:solidFill>
              </a:defRPr>
            </a:pPr>
            <a:r>
              <a:rPr sz="16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├── AGENTS.md</a:t>
            </a:r>
          </a:p>
          <a:p>
            <a:pPr algn="l">
              <a:defRPr sz="1650" b="0">
                <a:solidFill>
                  <a:srgbClr val="263746"/>
                </a:solidFill>
              </a:defRPr>
            </a:pPr>
            <a:r>
              <a:rPr sz="16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├── problem-definition.md</a:t>
            </a:r>
          </a:p>
          <a:p>
            <a:pPr algn="l">
              <a:defRPr sz="1650" b="0">
                <a:solidFill>
                  <a:srgbClr val="263746"/>
                </a:solidFill>
              </a:defRPr>
            </a:pPr>
            <a:r>
              <a:rPr sz="16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├── ai-usage-log.md</a:t>
            </a:r>
          </a:p>
          <a:p>
            <a:pPr algn="l">
              <a:defRPr sz="1650" b="0">
                <a:solidFill>
                  <a:srgbClr val="263746"/>
                </a:solidFill>
              </a:defRPr>
            </a:pPr>
            <a:r>
              <a:rPr sz="16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└── notes/</a:t>
            </a:r>
          </a:p>
          <a:p>
            <a:pPr algn="l">
              <a:defRPr sz="1650" b="0">
                <a:solidFill>
                  <a:srgbClr val="263746"/>
                </a:solidFill>
              </a:defRPr>
            </a:pPr>
            <a:r>
              <a:rPr sz="165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    └── stage-map.md</a:t>
            </a:r>
          </a:p>
        </p:txBody>
      </p:sp>
      <p:sp>
        <p:nvSpPr>
          <p:cNvPr id="9" name="p31-fallback">
            <a:extLst>
              <a:ext uri="{FF2B5EF4-FFF2-40B4-BE49-F238E27FC236}">
                <a16:creationId xmlns:a16="http://schemas.microsoft.com/office/drawing/2014/main" id="{987CB35A-7F83-4944-92B0-BEBFAB51F586}"/>
              </a:ext>
            </a:extLst>
          </p:cNvPr>
          <p:cNvSpPr>
            <a:spLocks noGrp="1"/>
          </p:cNvSpPr>
          <p:nvPr/>
        </p:nvSpPr>
        <p:spPr>
          <a:xfrm>
            <a:off x="704850" y="4267200"/>
            <a:ext cx="3638550" cy="1047750"/>
          </a:xfrm>
          <a:prstGeom prst="rect">
            <a:avLst/>
          </a:prstGeom>
          <a:solidFill>
            <a:srgbClr val="FAF0DD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350" b="0">
                <a:solidFill>
                  <a:srgbClr val="667684"/>
                </a:solidFill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模型不可用：用 Markdown / 纸面写任务契约、预期 diff 和使用记录。</a:t>
            </a:r>
          </a:p>
        </p:txBody>
      </p:sp>
      <p:sp>
        <p:nvSpPr>
          <p:cNvPr id="10" name="p31-n-0">
            <a:extLst>
              <a:ext uri="{FF2B5EF4-FFF2-40B4-BE49-F238E27FC236}">
                <a16:creationId xmlns:a16="http://schemas.microsoft.com/office/drawing/2014/main" id="{9B519C76-EC02-493C-BD91-6DBEF6FA4063}"/>
              </a:ext>
            </a:extLst>
          </p:cNvPr>
          <p:cNvSpPr>
            <a:spLocks noGrp="1"/>
          </p:cNvSpPr>
          <p:nvPr/>
        </p:nvSpPr>
        <p:spPr>
          <a:xfrm>
            <a:off x="5010150" y="1123950"/>
            <a:ext cx="43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31-task-0">
            <a:extLst>
              <a:ext uri="{FF2B5EF4-FFF2-40B4-BE49-F238E27FC236}">
                <a16:creationId xmlns:a16="http://schemas.microsoft.com/office/drawing/2014/main" id="{E915F353-4E1E-4B8E-9058-B9790967537A}"/>
              </a:ext>
            </a:extLst>
          </p:cNvPr>
          <p:cNvSpPr>
            <a:spLocks noGrp="1"/>
          </p:cNvSpPr>
          <p:nvPr/>
        </p:nvSpPr>
        <p:spPr>
          <a:xfrm>
            <a:off x="5581650" y="1123950"/>
            <a:ext cx="5467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写初步问题 + 主要不确定性</a:t>
            </a:r>
          </a:p>
        </p:txBody>
      </p:sp>
      <p:sp>
        <p:nvSpPr>
          <p:cNvPr id="12" name="p31-n-1">
            <a:extLst>
              <a:ext uri="{FF2B5EF4-FFF2-40B4-BE49-F238E27FC236}">
                <a16:creationId xmlns:a16="http://schemas.microsoft.com/office/drawing/2014/main" id="{C8B3EA99-68F6-4D3F-B9E6-4C784CE7205F}"/>
              </a:ext>
            </a:extLst>
          </p:cNvPr>
          <p:cNvSpPr>
            <a:spLocks noGrp="1"/>
          </p:cNvSpPr>
          <p:nvPr/>
        </p:nvSpPr>
        <p:spPr>
          <a:xfrm>
            <a:off x="5010150" y="1714500"/>
            <a:ext cx="43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p31-task-1">
            <a:extLst>
              <a:ext uri="{FF2B5EF4-FFF2-40B4-BE49-F238E27FC236}">
                <a16:creationId xmlns:a16="http://schemas.microsoft.com/office/drawing/2014/main" id="{C55B71A9-F27C-47EB-BE3B-D1AEA42CDBCD}"/>
              </a:ext>
            </a:extLst>
          </p:cNvPr>
          <p:cNvSpPr>
            <a:spLocks noGrp="1"/>
          </p:cNvSpPr>
          <p:nvPr/>
        </p:nvSpPr>
        <p:spPr>
          <a:xfrm>
            <a:off x="5581650" y="1714500"/>
            <a:ext cx="5467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Agent 只提出 3 条收敛建议</a:t>
            </a:r>
          </a:p>
        </p:txBody>
      </p:sp>
      <p:sp>
        <p:nvSpPr>
          <p:cNvPr id="14" name="p31-n-2">
            <a:extLst>
              <a:ext uri="{FF2B5EF4-FFF2-40B4-BE49-F238E27FC236}">
                <a16:creationId xmlns:a16="http://schemas.microsoft.com/office/drawing/2014/main" id="{A1DA0803-DAF9-464C-85E0-831C5260B537}"/>
              </a:ext>
            </a:extLst>
          </p:cNvPr>
          <p:cNvSpPr>
            <a:spLocks noGrp="1"/>
          </p:cNvSpPr>
          <p:nvPr/>
        </p:nvSpPr>
        <p:spPr>
          <a:xfrm>
            <a:off x="5010150" y="2305050"/>
            <a:ext cx="43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p31-task-2">
            <a:extLst>
              <a:ext uri="{FF2B5EF4-FFF2-40B4-BE49-F238E27FC236}">
                <a16:creationId xmlns:a16="http://schemas.microsoft.com/office/drawing/2014/main" id="{18354ABA-07B2-42D1-B906-625ED1FAF31E}"/>
              </a:ext>
            </a:extLst>
          </p:cNvPr>
          <p:cNvSpPr>
            <a:spLocks noGrp="1"/>
          </p:cNvSpPr>
          <p:nvPr/>
        </p:nvSpPr>
        <p:spPr>
          <a:xfrm>
            <a:off x="5581650" y="2305050"/>
            <a:ext cx="5467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人工选择或全部拒绝</a:t>
            </a:r>
          </a:p>
        </p:txBody>
      </p:sp>
      <p:sp>
        <p:nvSpPr>
          <p:cNvPr id="16" name="p31-n-3">
            <a:extLst>
              <a:ext uri="{FF2B5EF4-FFF2-40B4-BE49-F238E27FC236}">
                <a16:creationId xmlns:a16="http://schemas.microsoft.com/office/drawing/2014/main" id="{D97ABBA5-56FF-42B7-A556-BDFFE5AA3915}"/>
              </a:ext>
            </a:extLst>
          </p:cNvPr>
          <p:cNvSpPr>
            <a:spLocks noGrp="1"/>
          </p:cNvSpPr>
          <p:nvPr/>
        </p:nvSpPr>
        <p:spPr>
          <a:xfrm>
            <a:off x="5010150" y="2895600"/>
            <a:ext cx="43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p31-task-3">
            <a:extLst>
              <a:ext uri="{FF2B5EF4-FFF2-40B4-BE49-F238E27FC236}">
                <a16:creationId xmlns:a16="http://schemas.microsoft.com/office/drawing/2014/main" id="{ACEA9E02-020A-4451-9C1A-7B910DD7D9DB}"/>
              </a:ext>
            </a:extLst>
          </p:cNvPr>
          <p:cNvSpPr>
            <a:spLocks noGrp="1"/>
          </p:cNvSpPr>
          <p:nvPr/>
        </p:nvSpPr>
        <p:spPr>
          <a:xfrm>
            <a:off x="5581650" y="2895600"/>
            <a:ext cx="5467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只写回目标段落</a:t>
            </a:r>
          </a:p>
        </p:txBody>
      </p:sp>
      <p:sp>
        <p:nvSpPr>
          <p:cNvPr id="18" name="p31-n-4">
            <a:extLst>
              <a:ext uri="{FF2B5EF4-FFF2-40B4-BE49-F238E27FC236}">
                <a16:creationId xmlns:a16="http://schemas.microsoft.com/office/drawing/2014/main" id="{2E2CC86E-60FB-4984-A470-7DB01C41AD26}"/>
              </a:ext>
            </a:extLst>
          </p:cNvPr>
          <p:cNvSpPr>
            <a:spLocks noGrp="1"/>
          </p:cNvSpPr>
          <p:nvPr/>
        </p:nvSpPr>
        <p:spPr>
          <a:xfrm>
            <a:off x="5010150" y="3486150"/>
            <a:ext cx="43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p31-task-4">
            <a:extLst>
              <a:ext uri="{FF2B5EF4-FFF2-40B4-BE49-F238E27FC236}">
                <a16:creationId xmlns:a16="http://schemas.microsoft.com/office/drawing/2014/main" id="{107C8630-6CC7-427C-A82D-939311E91A25}"/>
              </a:ext>
            </a:extLst>
          </p:cNvPr>
          <p:cNvSpPr>
            <a:spLocks noGrp="1"/>
          </p:cNvSpPr>
          <p:nvPr/>
        </p:nvSpPr>
        <p:spPr>
          <a:xfrm>
            <a:off x="5581650" y="3486150"/>
            <a:ext cx="5467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检查 diff</a:t>
            </a:r>
          </a:p>
        </p:txBody>
      </p:sp>
      <p:sp>
        <p:nvSpPr>
          <p:cNvPr id="20" name="p31-n-5">
            <a:extLst>
              <a:ext uri="{FF2B5EF4-FFF2-40B4-BE49-F238E27FC236}">
                <a16:creationId xmlns:a16="http://schemas.microsoft.com/office/drawing/2014/main" id="{B5D61D4B-2FC5-41BB-80DF-1B0245E8242C}"/>
              </a:ext>
            </a:extLst>
          </p:cNvPr>
          <p:cNvSpPr>
            <a:spLocks noGrp="1"/>
          </p:cNvSpPr>
          <p:nvPr/>
        </p:nvSpPr>
        <p:spPr>
          <a:xfrm>
            <a:off x="5010150" y="4076700"/>
            <a:ext cx="43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1" name="p31-task-5">
            <a:extLst>
              <a:ext uri="{FF2B5EF4-FFF2-40B4-BE49-F238E27FC236}">
                <a16:creationId xmlns:a16="http://schemas.microsoft.com/office/drawing/2014/main" id="{3BFE30D0-8644-4CDF-9E12-A7EFF44B92F5}"/>
              </a:ext>
            </a:extLst>
          </p:cNvPr>
          <p:cNvSpPr>
            <a:spLocks noGrp="1"/>
          </p:cNvSpPr>
          <p:nvPr/>
        </p:nvSpPr>
        <p:spPr>
          <a:xfrm>
            <a:off x="5581650" y="4076700"/>
            <a:ext cx="5467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写第 1 条 AI 使用记录</a:t>
            </a:r>
          </a:p>
        </p:txBody>
      </p:sp>
      <p:sp>
        <p:nvSpPr>
          <p:cNvPr id="22" name="p31-n-6">
            <a:extLst>
              <a:ext uri="{FF2B5EF4-FFF2-40B4-BE49-F238E27FC236}">
                <a16:creationId xmlns:a16="http://schemas.microsoft.com/office/drawing/2014/main" id="{2236E1B0-01AE-45CE-BE55-49D87FE98112}"/>
              </a:ext>
            </a:extLst>
          </p:cNvPr>
          <p:cNvSpPr>
            <a:spLocks noGrp="1"/>
          </p:cNvSpPr>
          <p:nvPr/>
        </p:nvSpPr>
        <p:spPr>
          <a:xfrm>
            <a:off x="5010150" y="4667250"/>
            <a:ext cx="43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3" name="p31-task-6">
            <a:extLst>
              <a:ext uri="{FF2B5EF4-FFF2-40B4-BE49-F238E27FC236}">
                <a16:creationId xmlns:a16="http://schemas.microsoft.com/office/drawing/2014/main" id="{A1AB14CC-D7C0-4BEA-87C9-D8E194122F5D}"/>
              </a:ext>
            </a:extLst>
          </p:cNvPr>
          <p:cNvSpPr>
            <a:spLocks noGrp="1"/>
          </p:cNvSpPr>
          <p:nvPr/>
        </p:nvSpPr>
        <p:spPr>
          <a:xfrm>
            <a:off x="5581650" y="4667250"/>
            <a:ext cx="5467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保存当前八阶段位置草图</a:t>
            </a:r>
          </a:p>
        </p:txBody>
      </p:sp>
      <p:sp>
        <p:nvSpPr>
          <p:cNvPr id="24" name="p31-done">
            <a:extLst>
              <a:ext uri="{FF2B5EF4-FFF2-40B4-BE49-F238E27FC236}">
                <a16:creationId xmlns:a16="http://schemas.microsoft.com/office/drawing/2014/main" id="{C1CB7955-1FF2-474E-8C1A-799A42E4FE5D}"/>
              </a:ext>
            </a:extLst>
          </p:cNvPr>
          <p:cNvSpPr>
            <a:spLocks noGrp="1"/>
          </p:cNvSpPr>
          <p:nvPr/>
        </p:nvSpPr>
        <p:spPr>
          <a:xfrm>
            <a:off x="4762500" y="5276850"/>
            <a:ext cx="657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完成条件：能复原‘建议 → 人工判断 → 文件变化 → 使用记录’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同伴反馈只提出问题，不替代作者决定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66C3428B-053E-6B4E-39FF-75B44F3F33F6}" type="slidenum">
              <a:t>32</a:t>
            </a:fld>
            <a:endParaRPr/>
          </a:p>
        </p:txBody>
      </p:sp>
      <p:sp>
        <p:nvSpPr>
          <p:cNvPr id="6" name="p32-mode">
            <a:extLst>
              <a:ext uri="{FF2B5EF4-FFF2-40B4-BE49-F238E27FC236}">
                <a16:creationId xmlns:a16="http://schemas.microsoft.com/office/drawing/2014/main" id="{C5454AFB-AE75-46CE-B2A4-7D080B356D87}"/>
              </a:ext>
            </a:extLst>
          </p:cNvPr>
          <p:cNvSpPr>
            <a:spLocks noGrp="1"/>
          </p:cNvSpPr>
          <p:nvPr/>
        </p:nvSpPr>
        <p:spPr>
          <a:xfrm>
            <a:off x="723900" y="106680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两人互查 · 10 分钟</a:t>
            </a:r>
          </a:p>
        </p:txBody>
      </p:sp>
      <p:sp>
        <p:nvSpPr>
          <p:cNvPr id="7" name="p32-n-0">
            <a:extLst>
              <a:ext uri="{FF2B5EF4-FFF2-40B4-BE49-F238E27FC236}">
                <a16:creationId xmlns:a16="http://schemas.microsoft.com/office/drawing/2014/main" id="{F4B92DE4-B8C9-46F3-954E-C8EFB6A17187}"/>
              </a:ext>
            </a:extLst>
          </p:cNvPr>
          <p:cNvSpPr>
            <a:spLocks noGrp="1"/>
          </p:cNvSpPr>
          <p:nvPr/>
        </p:nvSpPr>
        <p:spPr>
          <a:xfrm>
            <a:off x="895350" y="1695450"/>
            <a:ext cx="857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75" b="1">
                <a:solidFill>
                  <a:srgbClr val="18354E"/>
                </a:solidFill>
              </a:defRPr>
            </a:pPr>
            <a:r>
              <a:rPr sz="2175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8" name="p32-q-0">
            <a:extLst>
              <a:ext uri="{FF2B5EF4-FFF2-40B4-BE49-F238E27FC236}">
                <a16:creationId xmlns:a16="http://schemas.microsoft.com/office/drawing/2014/main" id="{C2D6550B-2A33-4478-9981-5663DA1070D0}"/>
              </a:ext>
            </a:extLst>
          </p:cNvPr>
          <p:cNvSpPr>
            <a:spLocks noGrp="1"/>
          </p:cNvSpPr>
          <p:nvPr/>
        </p:nvSpPr>
        <p:spPr>
          <a:xfrm>
            <a:off x="2000250" y="1695450"/>
            <a:ext cx="704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这个问题能在 16 次课内形成最小闭环吗？</a:t>
            </a:r>
          </a:p>
        </p:txBody>
      </p:sp>
      <p:sp>
        <p:nvSpPr>
          <p:cNvPr id="9" name="p32-n-1">
            <a:extLst>
              <a:ext uri="{FF2B5EF4-FFF2-40B4-BE49-F238E27FC236}">
                <a16:creationId xmlns:a16="http://schemas.microsoft.com/office/drawing/2014/main" id="{F562C435-1815-4699-AA5E-3248480C7D5D}"/>
              </a:ext>
            </a:extLst>
          </p:cNvPr>
          <p:cNvSpPr>
            <a:spLocks noGrp="1"/>
          </p:cNvSpPr>
          <p:nvPr/>
        </p:nvSpPr>
        <p:spPr>
          <a:xfrm>
            <a:off x="895350" y="2762250"/>
            <a:ext cx="857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75" b="1">
                <a:solidFill>
                  <a:srgbClr val="18354E"/>
                </a:solidFill>
              </a:defRPr>
            </a:pPr>
            <a:r>
              <a:rPr sz="2175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0" name="p32-q-1">
            <a:extLst>
              <a:ext uri="{FF2B5EF4-FFF2-40B4-BE49-F238E27FC236}">
                <a16:creationId xmlns:a16="http://schemas.microsoft.com/office/drawing/2014/main" id="{F63552A1-A233-4193-89E2-56D81B95773A}"/>
              </a:ext>
            </a:extLst>
          </p:cNvPr>
          <p:cNvSpPr>
            <a:spLocks noGrp="1"/>
          </p:cNvSpPr>
          <p:nvPr/>
        </p:nvSpPr>
        <p:spPr>
          <a:xfrm>
            <a:off x="2000250" y="2762250"/>
            <a:ext cx="704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哪个词、范围或比较条件最模糊？</a:t>
            </a:r>
          </a:p>
        </p:txBody>
      </p:sp>
      <p:sp>
        <p:nvSpPr>
          <p:cNvPr id="11" name="p32-n-2">
            <a:extLst>
              <a:ext uri="{FF2B5EF4-FFF2-40B4-BE49-F238E27FC236}">
                <a16:creationId xmlns:a16="http://schemas.microsoft.com/office/drawing/2014/main" id="{73A5A1CA-78B8-4CC6-88E6-91A4683CBEAC}"/>
              </a:ext>
            </a:extLst>
          </p:cNvPr>
          <p:cNvSpPr>
            <a:spLocks noGrp="1"/>
          </p:cNvSpPr>
          <p:nvPr/>
        </p:nvSpPr>
        <p:spPr>
          <a:xfrm>
            <a:off x="895350" y="3829050"/>
            <a:ext cx="857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2175" b="1">
                <a:solidFill>
                  <a:srgbClr val="C8161E"/>
                </a:solidFill>
              </a:defRPr>
            </a:pPr>
            <a:r>
              <a:rPr sz="217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2" name="p32-q-2">
            <a:extLst>
              <a:ext uri="{FF2B5EF4-FFF2-40B4-BE49-F238E27FC236}">
                <a16:creationId xmlns:a16="http://schemas.microsoft.com/office/drawing/2014/main" id="{33B7FB23-2D61-4362-8C4E-2526CE1D2AB4}"/>
              </a:ext>
            </a:extLst>
          </p:cNvPr>
          <p:cNvSpPr>
            <a:spLocks noGrp="1"/>
          </p:cNvSpPr>
          <p:nvPr/>
        </p:nvSpPr>
        <p:spPr>
          <a:xfrm>
            <a:off x="2000250" y="3829050"/>
            <a:ext cx="704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875" b="1">
                <a:solidFill>
                  <a:srgbClr val="263746"/>
                </a:solidFill>
              </a:defRPr>
            </a:pPr>
            <a:r>
              <a:rPr sz="18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下一项最值得核验的外部输入是什么？</a:t>
            </a:r>
          </a:p>
        </p:txBody>
      </p:sp>
      <p:sp>
        <p:nvSpPr>
          <p:cNvPr id="13" name="p32-v">
            <a:extLst>
              <a:ext uri="{FF2B5EF4-FFF2-40B4-BE49-F238E27FC236}">
                <a16:creationId xmlns:a16="http://schemas.microsoft.com/office/drawing/2014/main" id="{B0FA912A-8DBE-4575-BD9A-9A54EC9E0D87}"/>
              </a:ext>
            </a:extLst>
          </p:cNvPr>
          <p:cNvSpPr>
            <a:spLocks noGrp="1"/>
          </p:cNvSpPr>
          <p:nvPr/>
        </p:nvSpPr>
        <p:spPr>
          <a:xfrm rot="5400000">
            <a:off x="7610475" y="3238500"/>
            <a:ext cx="3638550" cy="19050"/>
          </a:xfrm>
          <a:prstGeom prst="rect">
            <a:avLst/>
          </a:prstGeom>
          <a:solidFill>
            <a:srgbClr val="D6DDE2"/>
          </a:solidFill>
          <a:ln w="0">
            <a:noFill/>
            <a:prstDash val="solid"/>
          </a:ln>
        </p:spPr>
      </p:sp>
      <p:sp>
        <p:nvSpPr>
          <p:cNvPr id="14" name="p32-author">
            <a:extLst>
              <a:ext uri="{FF2B5EF4-FFF2-40B4-BE49-F238E27FC236}">
                <a16:creationId xmlns:a16="http://schemas.microsoft.com/office/drawing/2014/main" id="{ED8CA724-10CC-4F81-966D-5D3125500879}"/>
              </a:ext>
            </a:extLst>
          </p:cNvPr>
          <p:cNvSpPr>
            <a:spLocks noGrp="1"/>
          </p:cNvSpPr>
          <p:nvPr/>
        </p:nvSpPr>
        <p:spPr>
          <a:xfrm>
            <a:off x="9715500" y="163830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作者记录</a:t>
            </a:r>
          </a:p>
        </p:txBody>
      </p:sp>
      <p:sp>
        <p:nvSpPr>
          <p:cNvPr id="15" name="p32-a-0">
            <a:extLst>
              <a:ext uri="{FF2B5EF4-FFF2-40B4-BE49-F238E27FC236}">
                <a16:creationId xmlns:a16="http://schemas.microsoft.com/office/drawing/2014/main" id="{E55F58DA-D4C7-4D19-8A3F-ECE425AB9E3D}"/>
              </a:ext>
            </a:extLst>
          </p:cNvPr>
          <p:cNvSpPr>
            <a:spLocks noGrp="1"/>
          </p:cNvSpPr>
          <p:nvPr/>
        </p:nvSpPr>
        <p:spPr>
          <a:xfrm>
            <a:off x="9658350" y="2324100"/>
            <a:ext cx="1847850" cy="5905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采纳</a:t>
            </a:r>
          </a:p>
        </p:txBody>
      </p:sp>
      <p:sp>
        <p:nvSpPr>
          <p:cNvPr id="16" name="p32-a-1">
            <a:extLst>
              <a:ext uri="{FF2B5EF4-FFF2-40B4-BE49-F238E27FC236}">
                <a16:creationId xmlns:a16="http://schemas.microsoft.com/office/drawing/2014/main" id="{2B2F31D4-2932-42A7-9BC9-A682AB6AD447}"/>
              </a:ext>
            </a:extLst>
          </p:cNvPr>
          <p:cNvSpPr>
            <a:spLocks noGrp="1"/>
          </p:cNvSpPr>
          <p:nvPr/>
        </p:nvSpPr>
        <p:spPr>
          <a:xfrm>
            <a:off x="9658350" y="3181350"/>
            <a:ext cx="1847850" cy="59055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暂不采纳</a:t>
            </a:r>
          </a:p>
        </p:txBody>
      </p:sp>
      <p:sp>
        <p:nvSpPr>
          <p:cNvPr id="17" name="p32-a-2">
            <a:extLst>
              <a:ext uri="{FF2B5EF4-FFF2-40B4-BE49-F238E27FC236}">
                <a16:creationId xmlns:a16="http://schemas.microsoft.com/office/drawing/2014/main" id="{3784DD5F-BACA-4ECC-8B24-99B9084B5157}"/>
              </a:ext>
            </a:extLst>
          </p:cNvPr>
          <p:cNvSpPr>
            <a:spLocks noGrp="1"/>
          </p:cNvSpPr>
          <p:nvPr/>
        </p:nvSpPr>
        <p:spPr>
          <a:xfrm>
            <a:off x="9658350" y="4038600"/>
            <a:ext cx="1847850" cy="590550"/>
          </a:xfrm>
          <a:prstGeom prst="rect">
            <a:avLst/>
          </a:prstGeom>
          <a:solidFill>
            <a:srgbClr val="F8E9EA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待核验</a:t>
            </a:r>
          </a:p>
        </p:txBody>
      </p:sp>
      <p:sp>
        <p:nvSpPr>
          <p:cNvPr id="18" name="p32-bottom">
            <a:extLst>
              <a:ext uri="{FF2B5EF4-FFF2-40B4-BE49-F238E27FC236}">
                <a16:creationId xmlns:a16="http://schemas.microsoft.com/office/drawing/2014/main" id="{C39A74D1-77F6-428E-957C-4AAED9CBC777}"/>
              </a:ext>
            </a:extLst>
          </p:cNvPr>
          <p:cNvSpPr>
            <a:spLocks noGrp="1"/>
          </p:cNvSpPr>
          <p:nvPr/>
        </p:nvSpPr>
        <p:spPr>
          <a:xfrm>
            <a:off x="3143250" y="5219700"/>
            <a:ext cx="590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同伴提出问题；作者保留决定。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8700" y="28575"/>
            <a:ext cx="10668000" cy="628650"/>
          </a:xfrm>
        </p:spPr>
        <p:txBody>
          <a:bodyPr lIns="76200" tIns="0" rIns="76200" bIns="0" anchor="ctr"/>
          <a:lstStyle/>
          <a:p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首课不求完整，只求留下一个可检查的起点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9F9B2FD-F323-2D0A-D581-D6E61055F9A8}" type="slidenum">
              <a:t>33</a:t>
            </a:fld>
            <a:endParaRPr/>
          </a:p>
        </p:txBody>
      </p:sp>
      <p:sp>
        <p:nvSpPr>
          <p:cNvPr id="6" name="p33-thesis">
            <a:extLst>
              <a:ext uri="{FF2B5EF4-FFF2-40B4-BE49-F238E27FC236}">
                <a16:creationId xmlns:a16="http://schemas.microsoft.com/office/drawing/2014/main" id="{17535BF9-F3E9-4CF1-B695-DD9BC22CE78F}"/>
              </a:ext>
            </a:extLst>
          </p:cNvPr>
          <p:cNvSpPr>
            <a:spLocks noGrp="1"/>
          </p:cNvSpPr>
          <p:nvPr/>
        </p:nvSpPr>
        <p:spPr>
          <a:xfrm>
            <a:off x="838200" y="1104900"/>
            <a:ext cx="619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3000" b="1">
                <a:solidFill>
                  <a:srgbClr val="C8161E"/>
                </a:solidFill>
              </a:defRPr>
            </a:pPr>
            <a:r>
              <a:rPr sz="30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一个可检查的起点</a:t>
            </a:r>
          </a:p>
        </p:txBody>
      </p:sp>
      <p:sp>
        <p:nvSpPr>
          <p:cNvPr id="7" name="p33-loop">
            <a:extLst>
              <a:ext uri="{FF2B5EF4-FFF2-40B4-BE49-F238E27FC236}">
                <a16:creationId xmlns:a16="http://schemas.microsoft.com/office/drawing/2014/main" id="{29D5FDFA-236F-4051-8D85-DAD0EEC65ED3}"/>
              </a:ext>
            </a:extLst>
          </p:cNvPr>
          <p:cNvSpPr>
            <a:spLocks noGrp="1"/>
          </p:cNvSpPr>
          <p:nvPr/>
        </p:nvSpPr>
        <p:spPr>
          <a:xfrm>
            <a:off x="876300" y="2038350"/>
            <a:ext cx="7715250" cy="800100"/>
          </a:xfrm>
          <a:prstGeom prst="rect">
            <a:avLst/>
          </a:prstGeom>
          <a:solidFill>
            <a:srgbClr val="F3F6F7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950" b="1">
                <a:solidFill>
                  <a:srgbClr val="18354E"/>
                </a:solidFill>
              </a:defRPr>
            </a:pPr>
            <a:r>
              <a:rPr sz="19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AI 建议  →  人工判断  →  有限修改  →  diff / log</a:t>
            </a:r>
          </a:p>
        </p:txBody>
      </p:sp>
      <p:sp>
        <p:nvSpPr>
          <p:cNvPr id="8" name="p33-exit">
            <a:extLst>
              <a:ext uri="{FF2B5EF4-FFF2-40B4-BE49-F238E27FC236}">
                <a16:creationId xmlns:a16="http://schemas.microsoft.com/office/drawing/2014/main" id="{72EA4A9B-4D53-4E77-B5DA-6DAD35314745}"/>
              </a:ext>
            </a:extLst>
          </p:cNvPr>
          <p:cNvSpPr>
            <a:spLocks noGrp="1"/>
          </p:cNvSpPr>
          <p:nvPr/>
        </p:nvSpPr>
        <p:spPr>
          <a:xfrm>
            <a:off x="895350" y="333375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退出卡</a:t>
            </a:r>
          </a:p>
        </p:txBody>
      </p:sp>
      <p:sp>
        <p:nvSpPr>
          <p:cNvPr id="9" name="p33-exit-items">
            <a:extLst>
              <a:ext uri="{FF2B5EF4-FFF2-40B4-BE49-F238E27FC236}">
                <a16:creationId xmlns:a16="http://schemas.microsoft.com/office/drawing/2014/main" id="{D8A27626-A42B-4C05-9863-ADA9FA9B42B5}"/>
              </a:ext>
            </a:extLst>
          </p:cNvPr>
          <p:cNvSpPr>
            <a:spLocks noGrp="1"/>
          </p:cNvSpPr>
          <p:nvPr/>
        </p:nvSpPr>
        <p:spPr>
          <a:xfrm>
            <a:off x="857250" y="3829050"/>
            <a:ext cx="7810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lnSpc>
                <a:spcPct val="130000"/>
              </a:lnSpc>
              <a:buNone/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最清楚的一点｜仍困惑的一点｜环境是否可用</a:t>
            </a:r>
          </a:p>
          <a:p>
            <a:pPr algn="l">
              <a:lnSpc>
                <a:spcPct val="130000"/>
              </a:lnSpc>
              <a:buNone/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当前问题与最大不确定性｜下一课的权限或伦理风险</a:t>
            </a:r>
          </a:p>
        </p:txBody>
      </p:sp>
      <p:sp>
        <p:nvSpPr>
          <p:cNvPr id="10" name="p33-next-line">
            <a:extLst>
              <a:ext uri="{FF2B5EF4-FFF2-40B4-BE49-F238E27FC236}">
                <a16:creationId xmlns:a16="http://schemas.microsoft.com/office/drawing/2014/main" id="{F439D281-098F-4089-A315-D85756812504}"/>
              </a:ext>
            </a:extLst>
          </p:cNvPr>
          <p:cNvSpPr>
            <a:spLocks noGrp="1"/>
          </p:cNvSpPr>
          <p:nvPr/>
        </p:nvSpPr>
        <p:spPr>
          <a:xfrm>
            <a:off x="9220200" y="1257300"/>
            <a:ext cx="38100" cy="3676650"/>
          </a:xfrm>
          <a:prstGeom prst="rect">
            <a:avLst/>
          </a:prstGeom>
          <a:solidFill>
            <a:srgbClr val="C8161E"/>
          </a:solidFill>
          <a:ln w="0">
            <a:noFill/>
            <a:prstDash val="solid"/>
          </a:ln>
        </p:spPr>
      </p:sp>
      <p:sp>
        <p:nvSpPr>
          <p:cNvPr id="11" name="p33-next-label">
            <a:extLst>
              <a:ext uri="{FF2B5EF4-FFF2-40B4-BE49-F238E27FC236}">
                <a16:creationId xmlns:a16="http://schemas.microsoft.com/office/drawing/2014/main" id="{FB45F621-DEDA-4D62-9B1B-03757A54C175}"/>
              </a:ext>
            </a:extLst>
          </p:cNvPr>
          <p:cNvSpPr>
            <a:spLocks noGrp="1"/>
          </p:cNvSpPr>
          <p:nvPr/>
        </p:nvSpPr>
        <p:spPr>
          <a:xfrm>
            <a:off x="9620250" y="131445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2" name="p33-next">
            <a:extLst>
              <a:ext uri="{FF2B5EF4-FFF2-40B4-BE49-F238E27FC236}">
                <a16:creationId xmlns:a16="http://schemas.microsoft.com/office/drawing/2014/main" id="{5DF177F8-278B-432A-B217-6A9FCA3B04B6}"/>
              </a:ext>
            </a:extLst>
          </p:cNvPr>
          <p:cNvSpPr>
            <a:spLocks noGrp="1"/>
          </p:cNvSpPr>
          <p:nvPr/>
        </p:nvSpPr>
        <p:spPr>
          <a:xfrm>
            <a:off x="9544050" y="2000250"/>
            <a:ext cx="1809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第 2 课</a:t>
            </a:r>
          </a:p>
          <a:p>
            <a:endParaRPr sz="1875" b="1">
              <a:solidFill>
                <a:srgbClr val="18354E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任务契约</a:t>
            </a:r>
          </a:p>
          <a:p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权限边界</a:t>
            </a:r>
          </a:p>
          <a:p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AI 使用披露</a:t>
            </a:r>
          </a:p>
        </p:txBody>
      </p:sp>
      <p:sp>
        <p:nvSpPr>
          <p:cNvPr id="13" name="p33-reading">
            <a:extLst>
              <a:ext uri="{FF2B5EF4-FFF2-40B4-BE49-F238E27FC236}">
                <a16:creationId xmlns:a16="http://schemas.microsoft.com/office/drawing/2014/main" id="{B165F277-7D14-473D-B33C-1C5DB29B6692}"/>
              </a:ext>
            </a:extLst>
          </p:cNvPr>
          <p:cNvSpPr>
            <a:spLocks noGrp="1"/>
          </p:cNvSpPr>
          <p:nvPr/>
        </p:nvSpPr>
        <p:spPr>
          <a:xfrm>
            <a:off x="876300" y="5257800"/>
            <a:ext cx="781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275" b="0">
                <a:solidFill>
                  <a:srgbClr val="667684"/>
                </a:solidFill>
              </a:defRPr>
            </a:pPr>
            <a:r>
              <a:rPr sz="1275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课后：Simon Ch.5（核心）｜Wang et al. 2023（任选）｜不单独提交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2393</Words>
  <Application>Microsoft Macintosh PowerPoint</Application>
  <DocSecurity>0</DocSecurity>
  <PresentationFormat>Widescreen</PresentationFormat>
  <Paragraphs>698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Microsoft YaHei</vt:lpstr>
      <vt:lpstr>Arial</vt:lpstr>
      <vt:lpstr>Consolas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Yaohui</cp:lastModifiedBy>
  <cp:revision>1</cp:revision>
  <dcterms:created xsi:type="dcterms:W3CDTF">2026-08-07T04:57:19Z</dcterms:created>
  <dcterms:modified xsi:type="dcterms:W3CDTF">2026-08-07T07:45:52Z</dcterms:modified>
</cp:coreProperties>
</file>