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9c66ea1808941b8" /><Relationship Type="http://schemas.openxmlformats.org/officeDocument/2006/relationships/extended-properties" Target="/docProps/app.xml" Id="R272bad3e4b564541" /><Relationship Type="http://schemas.openxmlformats.org/officeDocument/2006/relationships/officeDocument" Target="/ppt/presentation.xml" Id="Rf1f7c94709704de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af334428aef4adc"/>
  </p:sldMasterIdLst>
  <p:notesMasterIdLst>
    <p:notesMasterId xmlns:r="http://schemas.openxmlformats.org/officeDocument/2006/relationships" r:id="R21f0c334eedf4568"/>
  </p:notesMasterIdLst>
  <p:sldIdLst>
    <p:sldId xmlns:r="http://schemas.openxmlformats.org/officeDocument/2006/relationships" id="256" r:id="Rd97ddc482d06477d"/>
    <p:sldId xmlns:r="http://schemas.openxmlformats.org/officeDocument/2006/relationships" id="257" r:id="R6d48042147fe47e3"/>
    <p:sldId xmlns:r="http://schemas.openxmlformats.org/officeDocument/2006/relationships" id="258" r:id="R4f4fb39f9e634832"/>
    <p:sldId xmlns:r="http://schemas.openxmlformats.org/officeDocument/2006/relationships" id="259" r:id="Re3c446e599b642d6"/>
    <p:sldId xmlns:r="http://schemas.openxmlformats.org/officeDocument/2006/relationships" id="260" r:id="Reb232013bcfb438e"/>
    <p:sldId xmlns:r="http://schemas.openxmlformats.org/officeDocument/2006/relationships" id="261" r:id="Rebbb54d354914221"/>
    <p:sldId xmlns:r="http://schemas.openxmlformats.org/officeDocument/2006/relationships" id="262" r:id="R896e04fc518c49b7"/>
    <p:sldId xmlns:r="http://schemas.openxmlformats.org/officeDocument/2006/relationships" id="263" r:id="R1f7e3093a70d46b7"/>
    <p:sldId xmlns:r="http://schemas.openxmlformats.org/officeDocument/2006/relationships" id="264" r:id="R2c252a9842f44127"/>
    <p:sldId xmlns:r="http://schemas.openxmlformats.org/officeDocument/2006/relationships" id="265" r:id="R73a96b02146b4732"/>
    <p:sldId xmlns:r="http://schemas.openxmlformats.org/officeDocument/2006/relationships" id="266" r:id="Re95a175915194c1b"/>
    <p:sldId xmlns:r="http://schemas.openxmlformats.org/officeDocument/2006/relationships" id="267" r:id="R0f8c1629afa34925"/>
    <p:sldId xmlns:r="http://schemas.openxmlformats.org/officeDocument/2006/relationships" id="268" r:id="R072f7c6aa8374af1"/>
    <p:sldId xmlns:r="http://schemas.openxmlformats.org/officeDocument/2006/relationships" id="269" r:id="R42371ee1494c4d7a"/>
    <p:sldId xmlns:r="http://schemas.openxmlformats.org/officeDocument/2006/relationships" id="270" r:id="R16f9542b459e4582"/>
    <p:sldId xmlns:r="http://schemas.openxmlformats.org/officeDocument/2006/relationships" id="271" r:id="R9ee15382604e4d78"/>
    <p:sldId xmlns:r="http://schemas.openxmlformats.org/officeDocument/2006/relationships" id="272" r:id="Rdbdde713c13c418e"/>
    <p:sldId xmlns:r="http://schemas.openxmlformats.org/officeDocument/2006/relationships" id="273" r:id="Ref34c7d8b92d4f3c"/>
    <p:sldId xmlns:r="http://schemas.openxmlformats.org/officeDocument/2006/relationships" id="274" r:id="Rdbbd4c5d083746b1"/>
    <p:sldId xmlns:r="http://schemas.openxmlformats.org/officeDocument/2006/relationships" id="275" r:id="Rf13ee6f22ed940a1"/>
    <p:sldId xmlns:r="http://schemas.openxmlformats.org/officeDocument/2006/relationships" id="276" r:id="Rb54e32e2abe14932"/>
    <p:sldId xmlns:r="http://schemas.openxmlformats.org/officeDocument/2006/relationships" id="277" r:id="Re5931e8bc34e4851"/>
    <p:sldId xmlns:r="http://schemas.openxmlformats.org/officeDocument/2006/relationships" id="278" r:id="Rfd08d40905c14d6d"/>
    <p:sldId xmlns:r="http://schemas.openxmlformats.org/officeDocument/2006/relationships" id="279" r:id="R30357353ccbc41a1"/>
    <p:sldId xmlns:r="http://schemas.openxmlformats.org/officeDocument/2006/relationships" id="280" r:id="Ra04781e5f0a44560"/>
    <p:sldId xmlns:r="http://schemas.openxmlformats.org/officeDocument/2006/relationships" id="281" r:id="Re81ce3bcd9ad407a"/>
    <p:sldId xmlns:r="http://schemas.openxmlformats.org/officeDocument/2006/relationships" id="282" r:id="Rc863415745ef4c41"/>
    <p:sldId xmlns:r="http://schemas.openxmlformats.org/officeDocument/2006/relationships" id="283" r:id="Raaa280591e0444e0"/>
    <p:sldId xmlns:r="http://schemas.openxmlformats.org/officeDocument/2006/relationships" id="284" r:id="R8bccab833fb2463b"/>
    <p:sldId xmlns:r="http://schemas.openxmlformats.org/officeDocument/2006/relationships" id="285" r:id="R0890e02709534441"/>
    <p:sldId xmlns:r="http://schemas.openxmlformats.org/officeDocument/2006/relationships" id="286" r:id="R5cf4cef7d5de4689"/>
    <p:sldId xmlns:r="http://schemas.openxmlformats.org/officeDocument/2006/relationships" id="287" r:id="R9e13a9b046394ccd"/>
    <p:sldId xmlns:r="http://schemas.openxmlformats.org/officeDocument/2006/relationships" id="288" r:id="R07286506514b4486"/>
    <p:sldId xmlns:r="http://schemas.openxmlformats.org/officeDocument/2006/relationships" id="289" r:id="Rdb9b47760bc64cc4"/>
    <p:sldId xmlns:r="http://schemas.openxmlformats.org/officeDocument/2006/relationships" id="290" r:id="Raeb675ee611a4a94"/>
    <p:sldId xmlns:r="http://schemas.openxmlformats.org/officeDocument/2006/relationships" id="291" r:id="Rb29821316ffb46ca"/>
    <p:sldId xmlns:r="http://schemas.openxmlformats.org/officeDocument/2006/relationships" id="292" r:id="R4d743af75946423b"/>
    <p:sldId xmlns:r="http://schemas.openxmlformats.org/officeDocument/2006/relationships" id="293" r:id="R70ab863c8b464478"/>
    <p:sldId xmlns:r="http://schemas.openxmlformats.org/officeDocument/2006/relationships" id="294" r:id="R45540810f2d6489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1413ecb467a47de" /><Relationship Type="http://schemas.openxmlformats.org/officeDocument/2006/relationships/slideMaster" Target="/ppt/slideMasters/slideMaster1.xml" Id="Reaf334428aef4adc" /><Relationship Type="http://schemas.openxmlformats.org/officeDocument/2006/relationships/notesMaster" Target="/ppt/notesMasters/notesMaster1.xml" Id="R21f0c334eedf4568" /><Relationship Type="http://schemas.openxmlformats.org/officeDocument/2006/relationships/presProps" Target="/ppt/presProps.xml" Id="Re4202137723b4a35" /><Relationship Type="http://schemas.openxmlformats.org/officeDocument/2006/relationships/viewProps" Target="/ppt/viewProps.xml" Id="R46c6cfd77e3c4fbf" /><Relationship Type="http://schemas.openxmlformats.org/officeDocument/2006/relationships/tableStyles" Target="/ppt/tableStyles.xml" Id="R833f440b8fb14849" /><Relationship Type="http://schemas.openxmlformats.org/officeDocument/2006/relationships/slide" Target="/ppt/slides/slide1.xml" Id="Rd97ddc482d06477d" /><Relationship Type="http://schemas.openxmlformats.org/officeDocument/2006/relationships/slide" Target="/ppt/slides/slide2.xml" Id="R6d48042147fe47e3" /><Relationship Type="http://schemas.openxmlformats.org/officeDocument/2006/relationships/slide" Target="/ppt/slides/slide3.xml" Id="R4f4fb39f9e634832" /><Relationship Type="http://schemas.openxmlformats.org/officeDocument/2006/relationships/slide" Target="/ppt/slides/slide4.xml" Id="Re3c446e599b642d6" /><Relationship Type="http://schemas.openxmlformats.org/officeDocument/2006/relationships/slide" Target="/ppt/slides/slide5.xml" Id="Reb232013bcfb438e" /><Relationship Type="http://schemas.openxmlformats.org/officeDocument/2006/relationships/slide" Target="/ppt/slides/slide6.xml" Id="Rebbb54d354914221" /><Relationship Type="http://schemas.openxmlformats.org/officeDocument/2006/relationships/slide" Target="/ppt/slides/slide7.xml" Id="R896e04fc518c49b7" /><Relationship Type="http://schemas.openxmlformats.org/officeDocument/2006/relationships/slide" Target="/ppt/slides/slide8.xml" Id="R1f7e3093a70d46b7" /><Relationship Type="http://schemas.openxmlformats.org/officeDocument/2006/relationships/slide" Target="/ppt/slides/slide9.xml" Id="R2c252a9842f44127" /><Relationship Type="http://schemas.openxmlformats.org/officeDocument/2006/relationships/slide" Target="/ppt/slides/slide10.xml" Id="R73a96b02146b4732" /><Relationship Type="http://schemas.openxmlformats.org/officeDocument/2006/relationships/slide" Target="/ppt/slides/slide11.xml" Id="Re95a175915194c1b" /><Relationship Type="http://schemas.openxmlformats.org/officeDocument/2006/relationships/slide" Target="/ppt/slides/slide12.xml" Id="R0f8c1629afa34925" /><Relationship Type="http://schemas.openxmlformats.org/officeDocument/2006/relationships/slide" Target="/ppt/slides/slide13.xml" Id="R072f7c6aa8374af1" /><Relationship Type="http://schemas.openxmlformats.org/officeDocument/2006/relationships/slide" Target="/ppt/slides/slide14.xml" Id="R42371ee1494c4d7a" /><Relationship Type="http://schemas.openxmlformats.org/officeDocument/2006/relationships/slide" Target="/ppt/slides/slide15.xml" Id="R16f9542b459e4582" /><Relationship Type="http://schemas.openxmlformats.org/officeDocument/2006/relationships/slide" Target="/ppt/slides/slide16.xml" Id="R9ee15382604e4d78" /><Relationship Type="http://schemas.openxmlformats.org/officeDocument/2006/relationships/slide" Target="/ppt/slides/slide17.xml" Id="Rdbdde713c13c418e" /><Relationship Type="http://schemas.openxmlformats.org/officeDocument/2006/relationships/slide" Target="/ppt/slides/slide18.xml" Id="Ref34c7d8b92d4f3c" /><Relationship Type="http://schemas.openxmlformats.org/officeDocument/2006/relationships/slide" Target="/ppt/slides/slide19.xml" Id="Rdbbd4c5d083746b1" /><Relationship Type="http://schemas.openxmlformats.org/officeDocument/2006/relationships/slide" Target="/ppt/slides/slide20.xml" Id="Rf13ee6f22ed940a1" /><Relationship Type="http://schemas.openxmlformats.org/officeDocument/2006/relationships/slide" Target="/ppt/slides/slide21.xml" Id="Rb54e32e2abe14932" /><Relationship Type="http://schemas.openxmlformats.org/officeDocument/2006/relationships/slide" Target="/ppt/slides/slide22.xml" Id="Re5931e8bc34e4851" /><Relationship Type="http://schemas.openxmlformats.org/officeDocument/2006/relationships/slide" Target="/ppt/slides/slide23.xml" Id="Rfd08d40905c14d6d" /><Relationship Type="http://schemas.openxmlformats.org/officeDocument/2006/relationships/slide" Target="/ppt/slides/slide24.xml" Id="R30357353ccbc41a1" /><Relationship Type="http://schemas.openxmlformats.org/officeDocument/2006/relationships/slide" Target="/ppt/slides/slide25.xml" Id="Ra04781e5f0a44560" /><Relationship Type="http://schemas.openxmlformats.org/officeDocument/2006/relationships/slide" Target="/ppt/slides/slide26.xml" Id="Re81ce3bcd9ad407a" /><Relationship Type="http://schemas.openxmlformats.org/officeDocument/2006/relationships/slide" Target="/ppt/slides/slide27.xml" Id="Rc863415745ef4c41" /><Relationship Type="http://schemas.openxmlformats.org/officeDocument/2006/relationships/slide" Target="/ppt/slides/slide28.xml" Id="Raaa280591e0444e0" /><Relationship Type="http://schemas.openxmlformats.org/officeDocument/2006/relationships/slide" Target="/ppt/slides/slide29.xml" Id="R8bccab833fb2463b" /><Relationship Type="http://schemas.openxmlformats.org/officeDocument/2006/relationships/slide" Target="/ppt/slides/slide30.xml" Id="R0890e02709534441" /><Relationship Type="http://schemas.openxmlformats.org/officeDocument/2006/relationships/slide" Target="/ppt/slides/slide31.xml" Id="R5cf4cef7d5de4689" /><Relationship Type="http://schemas.openxmlformats.org/officeDocument/2006/relationships/slide" Target="/ppt/slides/slide32.xml" Id="R9e13a9b046394ccd" /><Relationship Type="http://schemas.openxmlformats.org/officeDocument/2006/relationships/slide" Target="/ppt/slides/slide33.xml" Id="R07286506514b4486" /><Relationship Type="http://schemas.openxmlformats.org/officeDocument/2006/relationships/slide" Target="/ppt/slides/slide34.xml" Id="Rdb9b47760bc64cc4" /><Relationship Type="http://schemas.openxmlformats.org/officeDocument/2006/relationships/slide" Target="/ppt/slides/slide35.xml" Id="Raeb675ee611a4a94" /><Relationship Type="http://schemas.openxmlformats.org/officeDocument/2006/relationships/slide" Target="/ppt/slides/slide36.xml" Id="Rb29821316ffb46ca" /><Relationship Type="http://schemas.openxmlformats.org/officeDocument/2006/relationships/slide" Target="/ppt/slides/slide37.xml" Id="R4d743af75946423b" /><Relationship Type="http://schemas.openxmlformats.org/officeDocument/2006/relationships/slide" Target="/ppt/slides/slide38.xml" Id="R70ab863c8b464478" /><Relationship Type="http://schemas.openxmlformats.org/officeDocument/2006/relationships/slide" Target="/ppt/slides/slide39.xml" Id="R45540810f2d6489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529c29d7ecc4d2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02aa490658a4578" /><Relationship Type="http://schemas.openxmlformats.org/officeDocument/2006/relationships/notesMaster" Target="/ppt/notesMasters/notesMaster1.xml" Id="R955ead1f16b3488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10329a367334c08" /><Relationship Type="http://schemas.openxmlformats.org/officeDocument/2006/relationships/notesMaster" Target="/ppt/notesMasters/notesMaster1.xml" Id="R2aaecd311a3443b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ac95c39896447a2" /><Relationship Type="http://schemas.openxmlformats.org/officeDocument/2006/relationships/notesMaster" Target="/ppt/notesMasters/notesMaster1.xml" Id="R02c44ee4ae784fb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d017683b216463b" /><Relationship Type="http://schemas.openxmlformats.org/officeDocument/2006/relationships/notesMaster" Target="/ppt/notesMasters/notesMaster1.xml" Id="R4e365cff894441d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1e0c92b87634537" /><Relationship Type="http://schemas.openxmlformats.org/officeDocument/2006/relationships/notesMaster" Target="/ppt/notesMasters/notesMaster1.xml" Id="Re51ce921f87549e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634d741b2444a30" /><Relationship Type="http://schemas.openxmlformats.org/officeDocument/2006/relationships/notesMaster" Target="/ppt/notesMasters/notesMaster1.xml" Id="Rd1f2bfcac33a4d1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1cfd30a158f4930" /><Relationship Type="http://schemas.openxmlformats.org/officeDocument/2006/relationships/notesMaster" Target="/ppt/notesMasters/notesMaster1.xml" Id="Rf169a1835d344c7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1270c9de1d649d7" /><Relationship Type="http://schemas.openxmlformats.org/officeDocument/2006/relationships/notesMaster" Target="/ppt/notesMasters/notesMaster1.xml" Id="R0636a8fd2eb54c3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0818e78c1d14bb1" /><Relationship Type="http://schemas.openxmlformats.org/officeDocument/2006/relationships/notesMaster" Target="/ppt/notesMasters/notesMaster1.xml" Id="R76182f4dcb13438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e25c136f6e24829" /><Relationship Type="http://schemas.openxmlformats.org/officeDocument/2006/relationships/notesMaster" Target="/ppt/notesMasters/notesMaster1.xml" Id="Rf97ed7eb4d7d4e1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1565fac25cf49f2" /><Relationship Type="http://schemas.openxmlformats.org/officeDocument/2006/relationships/notesMaster" Target="/ppt/notesMasters/notesMaster1.xml" Id="R05d7d589964c4c1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280a7823c784a8a" /><Relationship Type="http://schemas.openxmlformats.org/officeDocument/2006/relationships/notesMaster" Target="/ppt/notesMasters/notesMaster1.xml" Id="Rd8f83fccafe943a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593790631d64094" /><Relationship Type="http://schemas.openxmlformats.org/officeDocument/2006/relationships/notesMaster" Target="/ppt/notesMasters/notesMaster1.xml" Id="R3ef8acff9c804b4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5baed78c1214529" /><Relationship Type="http://schemas.openxmlformats.org/officeDocument/2006/relationships/notesMaster" Target="/ppt/notesMasters/notesMaster1.xml" Id="Rb67e8d39eae7427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f22aba691354ce5" /><Relationship Type="http://schemas.openxmlformats.org/officeDocument/2006/relationships/notesMaster" Target="/ppt/notesMasters/notesMaster1.xml" Id="Rf5026b3199444fc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123c43c7d984d3b" /><Relationship Type="http://schemas.openxmlformats.org/officeDocument/2006/relationships/notesMaster" Target="/ppt/notesMasters/notesMaster1.xml" Id="R11abb1a69c044ad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51c3c075ab34fd0" /><Relationship Type="http://schemas.openxmlformats.org/officeDocument/2006/relationships/notesMaster" Target="/ppt/notesMasters/notesMaster1.xml" Id="Rc4e10b0c476d439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26f802115744eed" /><Relationship Type="http://schemas.openxmlformats.org/officeDocument/2006/relationships/notesMaster" Target="/ppt/notesMasters/notesMaster1.xml" Id="Re0b8e1fbc193490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1fb85bb278e4bd0" /><Relationship Type="http://schemas.openxmlformats.org/officeDocument/2006/relationships/notesMaster" Target="/ppt/notesMasters/notesMaster1.xml" Id="R0e4591ed44ad4b1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f01c5a6130b4138" /><Relationship Type="http://schemas.openxmlformats.org/officeDocument/2006/relationships/notesMaster" Target="/ppt/notesMasters/notesMaster1.xml" Id="Ra38d6bd29a54402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10a62f14ead4da0" /><Relationship Type="http://schemas.openxmlformats.org/officeDocument/2006/relationships/notesMaster" Target="/ppt/notesMasters/notesMaster1.xml" Id="R8373081dde06473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398cf1f76064e1f" /><Relationship Type="http://schemas.openxmlformats.org/officeDocument/2006/relationships/notesMaster" Target="/ppt/notesMasters/notesMaster1.xml" Id="Rba4b8aef460f4f2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7b8d5855e46424b" /><Relationship Type="http://schemas.openxmlformats.org/officeDocument/2006/relationships/notesMaster" Target="/ppt/notesMasters/notesMaster1.xml" Id="R91ef219bcedd464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904a322f2f045b8" /><Relationship Type="http://schemas.openxmlformats.org/officeDocument/2006/relationships/notesMaster" Target="/ppt/notesMasters/notesMaster1.xml" Id="R57e77683755440e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7bf011a30f54427" /><Relationship Type="http://schemas.openxmlformats.org/officeDocument/2006/relationships/notesMaster" Target="/ppt/notesMasters/notesMaster1.xml" Id="R469aaee42a56440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c1f2dc5de944ae4" /><Relationship Type="http://schemas.openxmlformats.org/officeDocument/2006/relationships/notesMaster" Target="/ppt/notesMasters/notesMaster1.xml" Id="R99b54825e0dd44c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5b24fa264c54bac" /><Relationship Type="http://schemas.openxmlformats.org/officeDocument/2006/relationships/notesMaster" Target="/ppt/notesMasters/notesMaster1.xml" Id="Rc784d0b8e5634c3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7cb29529d56c49ae" /><Relationship Type="http://schemas.openxmlformats.org/officeDocument/2006/relationships/notesMaster" Target="/ppt/notesMasters/notesMaster1.xml" Id="R408822539146415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9ac82a231fff4586" /><Relationship Type="http://schemas.openxmlformats.org/officeDocument/2006/relationships/notesMaster" Target="/ppt/notesMasters/notesMaster1.xml" Id="R98f6723f839540d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5f8dc4cdb284e79" /><Relationship Type="http://schemas.openxmlformats.org/officeDocument/2006/relationships/notesMaster" Target="/ppt/notesMasters/notesMaster1.xml" Id="R3841a7dd6d6e48d4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bb68d3550c654320" /><Relationship Type="http://schemas.openxmlformats.org/officeDocument/2006/relationships/notesMaster" Target="/ppt/notesMasters/notesMaster1.xml" Id="R7a2e89009a5b418e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64ec6a5a89944183" /><Relationship Type="http://schemas.openxmlformats.org/officeDocument/2006/relationships/notesMaster" Target="/ppt/notesMasters/notesMaster1.xml" Id="Ree8a583031c54f42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9e4c42972ae148c0" /><Relationship Type="http://schemas.openxmlformats.org/officeDocument/2006/relationships/notesMaster" Target="/ppt/notesMasters/notesMaster1.xml" Id="Rbdb96dc2768a4c95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369b9d3348cf445d" /><Relationship Type="http://schemas.openxmlformats.org/officeDocument/2006/relationships/notesMaster" Target="/ppt/notesMasters/notesMaster1.xml" Id="R238439710a1b4a6c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f8b5ab37021443d8" /><Relationship Type="http://schemas.openxmlformats.org/officeDocument/2006/relationships/notesMaster" Target="/ppt/notesMasters/notesMaster1.xml" Id="Re4f5610dcf1440c2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aae76fd239834a3e" /><Relationship Type="http://schemas.openxmlformats.org/officeDocument/2006/relationships/notesMaster" Target="/ppt/notesMasters/notesMaster1.xml" Id="Ra15addd0dbad480c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d697bfc0f82c46de" /><Relationship Type="http://schemas.openxmlformats.org/officeDocument/2006/relationships/notesMaster" Target="/ppt/notesMasters/notesMaster1.xml" Id="Rdad081a0d1ef417c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a8c6c75ac0cf475b" /><Relationship Type="http://schemas.openxmlformats.org/officeDocument/2006/relationships/notesMaster" Target="/ppt/notesMasters/notesMaster1.xml" Id="R166956da6a7047f9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0137129a14bd479d" /><Relationship Type="http://schemas.openxmlformats.org/officeDocument/2006/relationships/notesMaster" Target="/ppt/notesMasters/notesMaster1.xml" Id="R869f423744cf4b2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开场：AI 可以参与科研，但研究责任仍由人承担。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P02。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P03。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https://doi.org/10.1038/s41586-026-10265-5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P04。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https://doi.org/10.1038/s41586-023-06221-2</a:t>
            </a:r>
          </a:p>
          <a:p xmlns:a="http://schemas.openxmlformats.org/drawingml/2006/main">
            <a:r>
              <a:t>- https://doi.org/10.1038/s41586-026-10644-y</a:t>
            </a:r>
          </a:p>
          <a:p xmlns:a="http://schemas.openxmlformats.org/drawingml/2006/main">
            <a:r>
              <a:t>- https://doi.org/10.1038/s41586-026-10652-y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P05。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https://doi.org/10.1038/s41586-025-09922-y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P06。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P07。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P08。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P09。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P10。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P11。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P12。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P13。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P14。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P15。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P16。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P17。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P18。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P19。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P20。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P21。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P22。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P23。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P24。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P25。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P26。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P27。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P28。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P29。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P30。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P31。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P32。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P33。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P34。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P35。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P36。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P37。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P38。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/Users/bright/Projects/courses/graduate/projects/lesson-01-slides.md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讲述依据与详细备注见 lesson-01-slides.md 的 P39。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https://mitpress.mit.edu/9780262537537/the-sciences-of-the-artificial/</a:t>
            </a:r>
          </a:p>
          <a:p xmlns:a="http://schemas.openxmlformats.org/drawingml/2006/main">
            <a:r>
              <a:t>- https://doi.org/10.1038/s41586-023-06221-2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5d1fbd1cd7418e" /><Relationship Type="http://schemas.openxmlformats.org/officeDocument/2006/relationships/image" Target="/ppt/media/image.png" Id="R6525a7f28e6a4da1" /><Relationship Type="http://schemas.openxmlformats.org/officeDocument/2006/relationships/image" Target="/ppt/media/image2.png" Id="Reb61a87fdc4240f6" /><Relationship Type="http://schemas.openxmlformats.org/officeDocument/2006/relationships/image" Target="/ppt/media/image3.png" Id="Rf335e4ab3da54ba2" /><Relationship Type="http://schemas.openxmlformats.org/officeDocument/2006/relationships/image" Target="/ppt/media/image4.png" Id="Rb8117d37b66b4c4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1b526e8b6d492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1d2da099f649e9" /><Relationship Type="http://schemas.openxmlformats.org/officeDocument/2006/relationships/image" Target="/ppt/media/image2.png" Id="R9c7e9dec8ae64427" /><Relationship Type="http://schemas.openxmlformats.org/officeDocument/2006/relationships/image" Target="/ppt/media/image5.png" Id="Rc2c9dca09c9a4f2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cdda72cafd4d16" /><Relationship Type="http://schemas.openxmlformats.org/officeDocument/2006/relationships/image" Target="/ppt/media/image.png" Id="Re828d56c133c4e87" /><Relationship Type="http://schemas.openxmlformats.org/officeDocument/2006/relationships/image" Target="/ppt/media/image3.png" Id="Rda0ebb789b6c406d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25a7f28e6a4da1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b61a87fdc4240f6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335e4ab3da54ba2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F5F5BD59-AD18-4963-9F05-2C220FDF6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FB692DE-3ECD-4283-B587-98FAEB6C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E84924D-72B6-4433-9520-07ED0BA8E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836EC6CB-D2B4-4887-A8F9-D17396F74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117d37b66b4c4d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c7e9dec8ae64427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c9dca09c9a4f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28d56c133c4e87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B514B6F6-D49F-430D-8272-06D89C764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3F523DAD-3A8E-4250-A1DC-2074706D5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a0ebb789b6c406d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0adee809e6e4181" /><Relationship Type="http://schemas.openxmlformats.org/officeDocument/2006/relationships/slideLayout" Target="/ppt/slideLayouts/slideLayout1.xml" Id="R62d439afe0034016" /><Relationship Type="http://schemas.openxmlformats.org/officeDocument/2006/relationships/slideLayout" Target="/ppt/slideLayouts/slideLayout2.xml" Id="R97bee0ea41f34795" /><Relationship Type="http://schemas.openxmlformats.org/officeDocument/2006/relationships/slideLayout" Target="/ppt/slideLayouts/slideLayout3.xml" Id="R3d74cbccc1324495" /><Relationship Type="http://schemas.openxmlformats.org/officeDocument/2006/relationships/slideLayout" Target="/ppt/slideLayouts/slideLayout4.xml" Id="R070a55910171424a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d439afe0034016"/>
    <p:sldLayoutId xmlns:r="http://schemas.openxmlformats.org/officeDocument/2006/relationships" id="2147483650" r:id="R97bee0ea41f34795"/>
    <p:sldLayoutId xmlns:r="http://schemas.openxmlformats.org/officeDocument/2006/relationships" id="2147483651" r:id="R3d74cbccc1324495"/>
    <p:sldLayoutId xmlns:r="http://schemas.openxmlformats.org/officeDocument/2006/relationships" id="2147483652" r:id="R070a55910171424a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8f57e95ae245b5" /><Relationship Type="http://schemas.openxmlformats.org/officeDocument/2006/relationships/notesSlide" Target="/ppt/notesSlides/notesSlide1.xml" Id="R1634f45ba008468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92d21263e94440e" /><Relationship Type="http://schemas.openxmlformats.org/officeDocument/2006/relationships/notesSlide" Target="/ppt/notesSlides/notesSlide2.xml" Id="R1e7489615b424c9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9b4de8fc3a24d08" /><Relationship Type="http://schemas.openxmlformats.org/officeDocument/2006/relationships/notesSlide" Target="/ppt/notesSlides/notesSlide3.xml" Id="R39af7c3aa6184cf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5b0388558cd42f6" /><Relationship Type="http://schemas.openxmlformats.org/officeDocument/2006/relationships/notesSlide" Target="/ppt/notesSlides/notesSlide4.xml" Id="R6d3d621867604a9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6e089a7b417486a" /><Relationship Type="http://schemas.openxmlformats.org/officeDocument/2006/relationships/notesSlide" Target="/ppt/notesSlides/notesSlide5.xml" Id="R8ad0824b6fb149b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5a970fd7b6a449b" /><Relationship Type="http://schemas.openxmlformats.org/officeDocument/2006/relationships/notesSlide" Target="/ppt/notesSlides/notesSlide6.xml" Id="R40f316822f1e430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26ae31e63ee4d21" /><Relationship Type="http://schemas.openxmlformats.org/officeDocument/2006/relationships/notesSlide" Target="/ppt/notesSlides/notesSlide7.xml" Id="Re457983a1db849b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82a5dd238354169" /><Relationship Type="http://schemas.openxmlformats.org/officeDocument/2006/relationships/notesSlide" Target="/ppt/notesSlides/notesSlide8.xml" Id="R0e3e73977ed04c2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54742480413423b" /><Relationship Type="http://schemas.openxmlformats.org/officeDocument/2006/relationships/notesSlide" Target="/ppt/notesSlides/notesSlide9.xml" Id="R3b4e295caa4b4eb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0533b1cf3534996" /><Relationship Type="http://schemas.openxmlformats.org/officeDocument/2006/relationships/notesSlide" Target="/ppt/notesSlides/notesSlide10.xml" Id="Rcf7b2acf2190436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fe08dbbe8c64b25" /><Relationship Type="http://schemas.openxmlformats.org/officeDocument/2006/relationships/notesSlide" Target="/ppt/notesSlides/notesSlide11.xml" Id="R24476771e5184f2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85e11e19ac1464c" /><Relationship Type="http://schemas.openxmlformats.org/officeDocument/2006/relationships/notesSlide" Target="/ppt/notesSlides/notesSlide12.xml" Id="R38bc00a484674bd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c9d0f9085e14e47" /><Relationship Type="http://schemas.openxmlformats.org/officeDocument/2006/relationships/notesSlide" Target="/ppt/notesSlides/notesSlide13.xml" Id="R33c435af6c45417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83fa39110b54cae" /><Relationship Type="http://schemas.openxmlformats.org/officeDocument/2006/relationships/notesSlide" Target="/ppt/notesSlides/notesSlide14.xml" Id="R8736416d0de74a4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e0308067efc426c" /><Relationship Type="http://schemas.openxmlformats.org/officeDocument/2006/relationships/notesSlide" Target="/ppt/notesSlides/notesSlide15.xml" Id="R5d124fa1723f450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4cc53526aac41ee" /><Relationship Type="http://schemas.openxmlformats.org/officeDocument/2006/relationships/notesSlide" Target="/ppt/notesSlides/notesSlide16.xml" Id="R52e728e10f9543b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eda8376e8004b0c" /><Relationship Type="http://schemas.openxmlformats.org/officeDocument/2006/relationships/notesSlide" Target="/ppt/notesSlides/notesSlide17.xml" Id="Re5d1370b54cd444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898af693aa04110" /><Relationship Type="http://schemas.openxmlformats.org/officeDocument/2006/relationships/notesSlide" Target="/ppt/notesSlides/notesSlide18.xml" Id="Ra491ed2e3a9941d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9dc86b3b06847b5" /><Relationship Type="http://schemas.openxmlformats.org/officeDocument/2006/relationships/notesSlide" Target="/ppt/notesSlides/notesSlide19.xml" Id="R3211858fe1694a9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52f89be73fe4b9f" /><Relationship Type="http://schemas.openxmlformats.org/officeDocument/2006/relationships/notesSlide" Target="/ppt/notesSlides/notesSlide20.xml" Id="Rf5e11429767041d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d554318227747ac" /><Relationship Type="http://schemas.openxmlformats.org/officeDocument/2006/relationships/notesSlide" Target="/ppt/notesSlides/notesSlide21.xml" Id="R81b5cad75856410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d3702ac0a95449c" /><Relationship Type="http://schemas.openxmlformats.org/officeDocument/2006/relationships/notesSlide" Target="/ppt/notesSlides/notesSlide22.xml" Id="R73638f1af5864ca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0a9dd0f60784657" /><Relationship Type="http://schemas.openxmlformats.org/officeDocument/2006/relationships/notesSlide" Target="/ppt/notesSlides/notesSlide23.xml" Id="R0977ecc8e7f94bc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58d64d81daa41d3" /><Relationship Type="http://schemas.openxmlformats.org/officeDocument/2006/relationships/notesSlide" Target="/ppt/notesSlides/notesSlide24.xml" Id="R17ccf6ff9c944f5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d02f8e073a9425e" /><Relationship Type="http://schemas.openxmlformats.org/officeDocument/2006/relationships/notesSlide" Target="/ppt/notesSlides/notesSlide25.xml" Id="R6d4ed556b557402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f4ab37ce21947e9" /><Relationship Type="http://schemas.openxmlformats.org/officeDocument/2006/relationships/notesSlide" Target="/ppt/notesSlides/notesSlide26.xml" Id="R432d62da5cb44ed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c6eb4348f7b4cc0" /><Relationship Type="http://schemas.openxmlformats.org/officeDocument/2006/relationships/notesSlide" Target="/ppt/notesSlides/notesSlide27.xml" Id="Rbf589b89b85b44a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94bdc9c5c1b4b6b" /><Relationship Type="http://schemas.openxmlformats.org/officeDocument/2006/relationships/notesSlide" Target="/ppt/notesSlides/notesSlide28.xml" Id="Rc4fafbc1ffb64d39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e01d077e1094b9c" /><Relationship Type="http://schemas.openxmlformats.org/officeDocument/2006/relationships/notesSlide" Target="/ppt/notesSlides/notesSlide29.xml" Id="Rd6b306bf9d844e0e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bbbb1456f9c4850" /><Relationship Type="http://schemas.openxmlformats.org/officeDocument/2006/relationships/notesSlide" Target="/ppt/notesSlides/notesSlide30.xml" Id="Rc1d786e624bb4b78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f11dfa400b14e04" /><Relationship Type="http://schemas.openxmlformats.org/officeDocument/2006/relationships/notesSlide" Target="/ppt/notesSlides/notesSlide31.xml" Id="Ra026ba33b9054e49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02d8e4cedf944e7" /><Relationship Type="http://schemas.openxmlformats.org/officeDocument/2006/relationships/notesSlide" Target="/ppt/notesSlides/notesSlide32.xml" Id="R8123e3f5e03341f3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40591802299436f" /><Relationship Type="http://schemas.openxmlformats.org/officeDocument/2006/relationships/notesSlide" Target="/ppt/notesSlides/notesSlide33.xml" Id="R7f23f166e5304341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b92cd0456404768" /><Relationship Type="http://schemas.openxmlformats.org/officeDocument/2006/relationships/notesSlide" Target="/ppt/notesSlides/notesSlide34.xml" Id="R1afe189af5934990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10b3c2f0b05456b" /><Relationship Type="http://schemas.openxmlformats.org/officeDocument/2006/relationships/notesSlide" Target="/ppt/notesSlides/notesSlide35.xml" Id="R83a9277866ae426c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3c87cf07959438d" /><Relationship Type="http://schemas.openxmlformats.org/officeDocument/2006/relationships/notesSlide" Target="/ppt/notesSlides/notesSlide36.xml" Id="R13b2a80eaa584ddd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550a70f68214ec8" /><Relationship Type="http://schemas.openxmlformats.org/officeDocument/2006/relationships/notesSlide" Target="/ppt/notesSlides/notesSlide37.xml" Id="R1949f6a4bbf54d48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42c5a92c5dc428e" /><Relationship Type="http://schemas.openxmlformats.org/officeDocument/2006/relationships/notesSlide" Target="/ppt/notesSlides/notesSlide38.xml" Id="R916452760ec449ed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f50dd2516b84264" /><Relationship Type="http://schemas.openxmlformats.org/officeDocument/2006/relationships/notesSlide" Target="/ppt/notesSlides/notesSlide39.xml" Id="R49e6a90dd1af4b3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7FF0E2F3-C2D8-4E86-AF14-E951E55A7066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3966519" y="4176584"/>
            <a:ext cx="4460789" cy="14743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+mn-ea"/>
                <a:ea typeface="+mn-ea"/>
                <a:cs typeface="+mn-ea"/>
              </a:rPr>
              <a:t>智能科研方法</a:t>
            </a:r>
          </a:p>
          <a:p xmlns:a="http://schemas.openxmlformats.org/drawingml/2006/main">
            <a:r>
              <a:rPr>
                <a:latin typeface="+mn-ea"/>
                <a:ea typeface="+mn-ea"/>
                <a:cs typeface="+mn-ea"/>
              </a:rPr>
              <a:t>AI for Research: Methods and Practice</a:t>
            </a:r>
          </a:p>
          <a:p xmlns:a="http://schemas.openxmlformats.org/drawingml/2006/main">
            <a:r>
              <a:rPr>
                <a:latin typeface="+mn-ea"/>
                <a:ea typeface="+mn-ea"/>
                <a:cs typeface="+mn-ea"/>
              </a:rPr>
              <a:t>第 1 课｜2026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你最近一次把 AI 输出当成了什么？</a:t>
            </a:r>
          </a:p>
        </p:txBody>
      </p:sp>
      <p:sp>
        <p:nvSpPr>
          <p:cNvPr id="5" name="four-surface-1">
            <a:extLst xmlns:a="http://schemas.openxmlformats.org/drawingml/2006/main">
              <a:ext uri="{FF2B5EF4-FFF2-40B4-BE49-F238E27FC236}">
                <a16:creationId xmlns:a16="http://schemas.microsoft.com/office/drawing/2014/main" id="{F12EBF0F-3780-4CCB-A5CD-DBE3BF5A6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314450"/>
            <a:ext cx="47053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CEDEE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6" name="four-text-1">
            <a:extLst xmlns:a="http://schemas.openxmlformats.org/drawingml/2006/main">
              <a:ext uri="{FF2B5EF4-FFF2-40B4-BE49-F238E27FC236}">
                <a16:creationId xmlns:a16="http://schemas.microsoft.com/office/drawing/2014/main" id="{9ED38EA0-348A-4349-8B5B-9614F9A22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485900"/>
            <a:ext cx="43243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</a:rPr>
              <a:t>线索</a:t>
            </a:r>
          </a:p>
        </p:txBody>
      </p:sp>
      <p:sp>
        <p:nvSpPr>
          <p:cNvPr id="7" name="four-surface-2">
            <a:extLst xmlns:a="http://schemas.openxmlformats.org/drawingml/2006/main">
              <a:ext uri="{FF2B5EF4-FFF2-40B4-BE49-F238E27FC236}">
                <a16:creationId xmlns:a16="http://schemas.microsoft.com/office/drawing/2014/main" id="{62786057-9E52-49CA-8C1A-1033BDAA8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314450"/>
            <a:ext cx="47053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8" name="four-text-2">
            <a:extLst xmlns:a="http://schemas.openxmlformats.org/drawingml/2006/main">
              <a:ext uri="{FF2B5EF4-FFF2-40B4-BE49-F238E27FC236}">
                <a16:creationId xmlns:a16="http://schemas.microsoft.com/office/drawing/2014/main" id="{935635F5-4E82-46E3-B826-54397AC91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85900"/>
            <a:ext cx="43243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B1C21"/>
                </a:solidFill>
              </a:defRPr>
            </a:pPr>
            <a:r>
              <a:rPr sz="2100" b="1">
                <a:solidFill>
                  <a:srgbClr val="1B1C21"/>
                </a:solidFill>
              </a:rPr>
              <a:t>草稿</a:t>
            </a:r>
          </a:p>
        </p:txBody>
      </p:sp>
      <p:sp>
        <p:nvSpPr>
          <p:cNvPr id="9" name="four-surface-3">
            <a:extLst xmlns:a="http://schemas.openxmlformats.org/drawingml/2006/main">
              <a:ext uri="{FF2B5EF4-FFF2-40B4-BE49-F238E27FC236}">
                <a16:creationId xmlns:a16="http://schemas.microsoft.com/office/drawing/2014/main" id="{10AB0048-5443-4385-AD4D-E160878E5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24200"/>
            <a:ext cx="47053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10" name="four-text-3">
            <a:extLst xmlns:a="http://schemas.openxmlformats.org/drawingml/2006/main">
              <a:ext uri="{FF2B5EF4-FFF2-40B4-BE49-F238E27FC236}">
                <a16:creationId xmlns:a16="http://schemas.microsoft.com/office/drawing/2014/main" id="{CFA553F3-14DE-4FD1-9AC0-E4ABCE001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43243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B1C21"/>
                </a:solidFill>
              </a:defRPr>
            </a:pPr>
            <a:r>
              <a:rPr sz="2100" b="1">
                <a:solidFill>
                  <a:srgbClr val="1B1C21"/>
                </a:solidFill>
              </a:rPr>
              <a:t>证据</a:t>
            </a:r>
          </a:p>
        </p:txBody>
      </p:sp>
      <p:sp>
        <p:nvSpPr>
          <p:cNvPr id="11" name="four-surface-4">
            <a:extLst xmlns:a="http://schemas.openxmlformats.org/drawingml/2006/main">
              <a:ext uri="{FF2B5EF4-FFF2-40B4-BE49-F238E27FC236}">
                <a16:creationId xmlns:a16="http://schemas.microsoft.com/office/drawing/2014/main" id="{0B36839B-CCB9-4E98-B796-BCB7D1865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24200"/>
            <a:ext cx="47053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12" name="four-text-4">
            <a:extLst xmlns:a="http://schemas.openxmlformats.org/drawingml/2006/main">
              <a:ext uri="{FF2B5EF4-FFF2-40B4-BE49-F238E27FC236}">
                <a16:creationId xmlns:a16="http://schemas.microsoft.com/office/drawing/2014/main" id="{AEB3045D-DCCE-42F4-8742-6823F4C03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95650"/>
            <a:ext cx="43243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B1C21"/>
                </a:solidFill>
              </a:defRPr>
            </a:pPr>
            <a:r>
              <a:rPr sz="2100" b="1">
                <a:solidFill>
                  <a:srgbClr val="1B1C21"/>
                </a:solidFill>
              </a:rPr>
              <a:t>结论</a:t>
            </a:r>
          </a:p>
        </p:txBody>
      </p:sp>
      <p:sp>
        <p:nvSpPr>
          <p:cNvPr id="13" name="content-footer">
            <a:extLst xmlns:a="http://schemas.openxmlformats.org/drawingml/2006/main">
              <a:ext uri="{FF2B5EF4-FFF2-40B4-BE49-F238E27FC236}">
                <a16:creationId xmlns:a16="http://schemas.microsoft.com/office/drawing/2014/main" id="{01F59713-A154-483E-9862-2E9C0F0C4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1070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先判断它处于什么状态，再决定怎样使用。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系统已串联研究全流程</a:t>
            </a:r>
          </a:p>
        </p:txBody>
      </p:sp>
      <p:sp>
        <p:nvSpPr>
          <p:cNvPr id="5" name="flow-1">
            <a:extLst xmlns:a="http://schemas.openxmlformats.org/drawingml/2006/main">
              <a:ext uri="{FF2B5EF4-FFF2-40B4-BE49-F238E27FC236}">
                <a16:creationId xmlns:a16="http://schemas.microsoft.com/office/drawing/2014/main" id="{D1B850CD-34A7-4B18-8C74-BE2E077CB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1571625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CEDEE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6" name="flow-label-1">
            <a:extLst xmlns:a="http://schemas.openxmlformats.org/drawingml/2006/main">
              <a:ext uri="{FF2B5EF4-FFF2-40B4-BE49-F238E27FC236}">
                <a16:creationId xmlns:a16="http://schemas.microsoft.com/office/drawing/2014/main" id="{50227BF5-FA8D-4E89-9F20-F7C4896A5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90750"/>
            <a:ext cx="14954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</a:rPr>
              <a:t>Idea</a:t>
            </a:r>
          </a:p>
        </p:txBody>
      </p:sp>
      <p:sp>
        <p:nvSpPr>
          <p:cNvPr id="7" name="flow-arrow-1">
            <a:extLst xmlns:a="http://schemas.openxmlformats.org/drawingml/2006/main">
              <a:ext uri="{FF2B5EF4-FFF2-40B4-BE49-F238E27FC236}">
                <a16:creationId xmlns:a16="http://schemas.microsoft.com/office/drawing/2014/main" id="{897BD275-1612-4206-ADA2-A45D6B5D4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2479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42023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667085"/>
                </a:solidFill>
              </a:defRPr>
            </a:pPr>
            <a:r>
              <a:rPr sz="1800" b="0">
                <a:solidFill>
                  <a:srgbClr val="667085"/>
                </a:solidFill>
              </a:rPr>
              <a:t>→</a:t>
            </a:r>
          </a:p>
        </p:txBody>
      </p:sp>
      <p:sp>
        <p:nvSpPr>
          <p:cNvPr id="8" name="flow-2">
            <a:extLst xmlns:a="http://schemas.openxmlformats.org/drawingml/2006/main">
              <a:ext uri="{FF2B5EF4-FFF2-40B4-BE49-F238E27FC236}">
                <a16:creationId xmlns:a16="http://schemas.microsoft.com/office/drawing/2014/main" id="{E786457C-0F3C-49CB-86AD-0B50981A2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2095500"/>
            <a:ext cx="1571625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9" name="flow-label-2">
            <a:extLst xmlns:a="http://schemas.openxmlformats.org/drawingml/2006/main">
              <a:ext uri="{FF2B5EF4-FFF2-40B4-BE49-F238E27FC236}">
                <a16:creationId xmlns:a16="http://schemas.microsoft.com/office/drawing/2014/main" id="{E6DAFA7E-2500-45E7-9C1A-05C1CAAD1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2190750"/>
            <a:ext cx="14954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B1C21"/>
                </a:solidFill>
              </a:defRPr>
            </a:pPr>
            <a:r>
              <a:rPr sz="1575" b="1">
                <a:solidFill>
                  <a:srgbClr val="1B1C21"/>
                </a:solidFill>
              </a:rPr>
              <a:t>Code</a:t>
            </a:r>
          </a:p>
        </p:txBody>
      </p:sp>
      <p:sp>
        <p:nvSpPr>
          <p:cNvPr id="10" name="flow-arrow-2">
            <a:extLst xmlns:a="http://schemas.openxmlformats.org/drawingml/2006/main">
              <a:ext uri="{FF2B5EF4-FFF2-40B4-BE49-F238E27FC236}">
                <a16:creationId xmlns:a16="http://schemas.microsoft.com/office/drawing/2014/main" id="{E3D78CB9-7D49-4374-A017-95332A9C8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2479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42023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667085"/>
                </a:solidFill>
              </a:defRPr>
            </a:pPr>
            <a:r>
              <a:rPr sz="1800" b="0">
                <a:solidFill>
                  <a:srgbClr val="667085"/>
                </a:solidFill>
              </a:rPr>
              <a:t>→</a:t>
            </a:r>
          </a:p>
        </p:txBody>
      </p:sp>
      <p:sp>
        <p:nvSpPr>
          <p:cNvPr id="11" name="flow-3">
            <a:extLst xmlns:a="http://schemas.openxmlformats.org/drawingml/2006/main">
              <a:ext uri="{FF2B5EF4-FFF2-40B4-BE49-F238E27FC236}">
                <a16:creationId xmlns:a16="http://schemas.microsoft.com/office/drawing/2014/main" id="{DCEADCDC-A223-48B1-BFF3-DEF578741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095500"/>
            <a:ext cx="1571625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12" name="flow-label-3">
            <a:extLst xmlns:a="http://schemas.openxmlformats.org/drawingml/2006/main">
              <a:ext uri="{FF2B5EF4-FFF2-40B4-BE49-F238E27FC236}">
                <a16:creationId xmlns:a16="http://schemas.microsoft.com/office/drawing/2014/main" id="{9F85F3F1-4D98-458F-BA34-585F3C039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90750"/>
            <a:ext cx="14954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B1C21"/>
                </a:solidFill>
              </a:defRPr>
            </a:pPr>
            <a:r>
              <a:rPr sz="1575" b="1">
                <a:solidFill>
                  <a:srgbClr val="1B1C21"/>
                </a:solidFill>
              </a:rPr>
              <a:t>Experiment</a:t>
            </a:r>
          </a:p>
        </p:txBody>
      </p:sp>
      <p:sp>
        <p:nvSpPr>
          <p:cNvPr id="13" name="flow-arrow-3">
            <a:extLst xmlns:a="http://schemas.openxmlformats.org/drawingml/2006/main">
              <a:ext uri="{FF2B5EF4-FFF2-40B4-BE49-F238E27FC236}">
                <a16:creationId xmlns:a16="http://schemas.microsoft.com/office/drawing/2014/main" id="{5BC7D535-2B00-46E4-B4FB-FF98F4D1C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2479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42023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667085"/>
                </a:solidFill>
              </a:defRPr>
            </a:pPr>
            <a:r>
              <a:rPr sz="1800" b="0">
                <a:solidFill>
                  <a:srgbClr val="667085"/>
                </a:solidFill>
              </a:rPr>
              <a:t>→</a:t>
            </a:r>
          </a:p>
        </p:txBody>
      </p:sp>
      <p:sp>
        <p:nvSpPr>
          <p:cNvPr id="14" name="flow-4">
            <a:extLst xmlns:a="http://schemas.openxmlformats.org/drawingml/2006/main">
              <a:ext uri="{FF2B5EF4-FFF2-40B4-BE49-F238E27FC236}">
                <a16:creationId xmlns:a16="http://schemas.microsoft.com/office/drawing/2014/main" id="{ECFBBC51-DDB3-4BE4-91E3-1D18A515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095500"/>
            <a:ext cx="1571625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15" name="flow-label-4">
            <a:extLst xmlns:a="http://schemas.openxmlformats.org/drawingml/2006/main">
              <a:ext uri="{FF2B5EF4-FFF2-40B4-BE49-F238E27FC236}">
                <a16:creationId xmlns:a16="http://schemas.microsoft.com/office/drawing/2014/main" id="{E90C0787-CC14-4912-91A6-790E00FE0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190750"/>
            <a:ext cx="14954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B1C21"/>
                </a:solidFill>
              </a:defRPr>
            </a:pPr>
            <a:r>
              <a:rPr sz="1575" b="1">
                <a:solidFill>
                  <a:srgbClr val="1B1C21"/>
                </a:solidFill>
              </a:rPr>
              <a:t>Analysis</a:t>
            </a:r>
          </a:p>
        </p:txBody>
      </p:sp>
      <p:sp>
        <p:nvSpPr>
          <p:cNvPr id="16" name="flow-arrow-4">
            <a:extLst xmlns:a="http://schemas.openxmlformats.org/drawingml/2006/main">
              <a:ext uri="{FF2B5EF4-FFF2-40B4-BE49-F238E27FC236}">
                <a16:creationId xmlns:a16="http://schemas.microsoft.com/office/drawing/2014/main" id="{2373903D-5202-4C08-B83A-D8A13491A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2479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42023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667085"/>
                </a:solidFill>
              </a:defRPr>
            </a:pPr>
            <a:r>
              <a:rPr sz="1800" b="0">
                <a:solidFill>
                  <a:srgbClr val="667085"/>
                </a:solidFill>
              </a:rPr>
              <a:t>→</a:t>
            </a:r>
          </a:p>
        </p:txBody>
      </p:sp>
      <p:sp>
        <p:nvSpPr>
          <p:cNvPr id="17" name="flow-5">
            <a:extLst xmlns:a="http://schemas.openxmlformats.org/drawingml/2006/main">
              <a:ext uri="{FF2B5EF4-FFF2-40B4-BE49-F238E27FC236}">
                <a16:creationId xmlns:a16="http://schemas.microsoft.com/office/drawing/2014/main" id="{DDC6AAFC-C9FF-4A51-A6ED-D7B660188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95500"/>
            <a:ext cx="1571625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18" name="flow-label-5">
            <a:extLst xmlns:a="http://schemas.openxmlformats.org/drawingml/2006/main">
              <a:ext uri="{FF2B5EF4-FFF2-40B4-BE49-F238E27FC236}">
                <a16:creationId xmlns:a16="http://schemas.microsoft.com/office/drawing/2014/main" id="{A685BF09-09AD-4E9C-AD06-9ACB1D15C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190750"/>
            <a:ext cx="14954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B1C21"/>
                </a:solidFill>
              </a:defRPr>
            </a:pPr>
            <a:r>
              <a:rPr sz="1575" b="1">
                <a:solidFill>
                  <a:srgbClr val="1B1C21"/>
                </a:solidFill>
              </a:rPr>
              <a:t>Paper</a:t>
            </a:r>
          </a:p>
        </p:txBody>
      </p:sp>
      <p:sp>
        <p:nvSpPr>
          <p:cNvPr id="19" name="flow-arrow-5">
            <a:extLst xmlns:a="http://schemas.openxmlformats.org/drawingml/2006/main">
              <a:ext uri="{FF2B5EF4-FFF2-40B4-BE49-F238E27FC236}">
                <a16:creationId xmlns:a16="http://schemas.microsoft.com/office/drawing/2014/main" id="{E7ED7755-AD76-4CD3-A810-6332C9E7D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22479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42023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667085"/>
                </a:solidFill>
              </a:defRPr>
            </a:pPr>
            <a:r>
              <a:rPr sz="1800" b="0">
                <a:solidFill>
                  <a:srgbClr val="667085"/>
                </a:solidFill>
              </a:rPr>
              <a:t>→</a:t>
            </a:r>
          </a:p>
        </p:txBody>
      </p:sp>
      <p:sp>
        <p:nvSpPr>
          <p:cNvPr id="20" name="flow-6">
            <a:extLst xmlns:a="http://schemas.openxmlformats.org/drawingml/2006/main">
              <a:ext uri="{FF2B5EF4-FFF2-40B4-BE49-F238E27FC236}">
                <a16:creationId xmlns:a16="http://schemas.microsoft.com/office/drawing/2014/main" id="{B45949C3-9B26-4253-B6C4-C834FB11F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095500"/>
            <a:ext cx="1571625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21" name="flow-label-6">
            <a:extLst xmlns:a="http://schemas.openxmlformats.org/drawingml/2006/main">
              <a:ext uri="{FF2B5EF4-FFF2-40B4-BE49-F238E27FC236}">
                <a16:creationId xmlns:a16="http://schemas.microsoft.com/office/drawing/2014/main" id="{B31584CE-EBE7-4F9E-9AD9-3D9FD68D2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2190750"/>
            <a:ext cx="14954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B1C21"/>
                </a:solidFill>
              </a:defRPr>
            </a:pPr>
            <a:r>
              <a:rPr sz="1575" b="1">
                <a:solidFill>
                  <a:srgbClr val="1B1C21"/>
                </a:solidFill>
              </a:rPr>
              <a:t>Review</a:t>
            </a:r>
          </a:p>
        </p:txBody>
      </p:sp>
      <p:sp>
        <p:nvSpPr>
          <p:cNvPr id="22" name="flow-callout">
            <a:extLst xmlns:a="http://schemas.openxmlformats.org/drawingml/2006/main">
              <a:ext uri="{FF2B5EF4-FFF2-40B4-BE49-F238E27FC236}">
                <a16:creationId xmlns:a16="http://schemas.microsoft.com/office/drawing/2014/main" id="{D6BB3A7E-6654-4288-B387-F0C614E6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4290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</a:rPr>
              <a:t>完整产物 ≠ 科研成立</a:t>
            </a:r>
          </a:p>
        </p:txBody>
      </p:sp>
      <p:sp>
        <p:nvSpPr>
          <p:cNvPr id="23" name="content-footer">
            <a:extLst xmlns:a="http://schemas.openxmlformats.org/drawingml/2006/main">
              <a:ext uri="{FF2B5EF4-FFF2-40B4-BE49-F238E27FC236}">
                <a16:creationId xmlns:a16="http://schemas.microsoft.com/office/drawing/2014/main" id="{A9FA0C0B-EE41-4DFC-8480-71011A11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1070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一篇系统生成稿件通过了顶级机器学习会议 workshop 的首轮评审。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for Research 正走向工作流</a:t>
            </a:r>
          </a:p>
        </p:txBody>
      </p:sp>
      <p:sp>
        <p:nvSpPr>
          <p:cNvPr id="5" name="timeline-left-title">
            <a:extLst xmlns:a="http://schemas.openxmlformats.org/drawingml/2006/main">
              <a:ext uri="{FF2B5EF4-FFF2-40B4-BE49-F238E27FC236}">
                <a16:creationId xmlns:a16="http://schemas.microsoft.com/office/drawing/2014/main" id="{7FED456C-7332-4C30-B2AA-2DAE868E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90625"/>
            <a:ext cx="485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</a:rPr>
              <a:t>2023｜覆盖科学发现环节</a:t>
            </a:r>
          </a:p>
        </p:txBody>
      </p:sp>
      <p:sp>
        <p:nvSpPr>
          <p:cNvPr id="6" name="timeline-right-title">
            <a:extLst xmlns:a="http://schemas.openxmlformats.org/drawingml/2006/main">
              <a:ext uri="{FF2B5EF4-FFF2-40B4-BE49-F238E27FC236}">
                <a16:creationId xmlns:a16="http://schemas.microsoft.com/office/drawing/2014/main" id="{90B02406-5274-4D7A-B661-7B20C225F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190625"/>
            <a:ext cx="485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F4D78"/>
                </a:solidFill>
              </a:defRPr>
            </a:pPr>
            <a:r>
              <a:rPr sz="2025" b="1">
                <a:solidFill>
                  <a:srgbClr val="1F4D78"/>
                </a:solidFill>
              </a:rPr>
              <a:t>2026｜连接多步研究行动</a:t>
            </a:r>
          </a:p>
        </p:txBody>
      </p:sp>
      <p:sp>
        <p:nvSpPr>
          <p:cNvPr id="7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E448D3AA-1046-45C7-B5B0-673637DB1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7D9DD"/>
            </a:solidFill>
            <a:prstDash val="solid"/>
          </a:ln>
        </p:spPr>
      </p:sp>
      <p:sp>
        <p:nvSpPr>
          <p:cNvPr id="8" name="timeline-arrow">
            <a:extLst xmlns:a="http://schemas.openxmlformats.org/drawingml/2006/main">
              <a:ext uri="{FF2B5EF4-FFF2-40B4-BE49-F238E27FC236}">
                <a16:creationId xmlns:a16="http://schemas.microsoft.com/office/drawing/2014/main" id="{2A53AF7A-6FFC-43CE-894B-9E506168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266950"/>
            <a:ext cx="685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</a:rPr>
              <a:t>→</a:t>
            </a:r>
          </a:p>
        </p:txBody>
      </p:sp>
      <p:sp>
        <p:nvSpPr>
          <p:cNvPr id="9" name="timeline-left-body">
            <a:extLst xmlns:a="http://schemas.openxmlformats.org/drawingml/2006/main">
              <a:ext uri="{FF2B5EF4-FFF2-40B4-BE49-F238E27FC236}">
                <a16:creationId xmlns:a16="http://schemas.microsoft.com/office/drawing/2014/main" id="{26A0E6D4-F990-41AB-B9F7-AAC4BAAEA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00375"/>
            <a:ext cx="4838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B1C21"/>
                </a:solidFill>
              </a:defRPr>
            </a:pPr>
            <a:r>
              <a:rPr sz="1875" b="0">
                <a:solidFill>
                  <a:srgbClr val="1B1C21"/>
                </a:solidFill>
              </a:rPr>
              <a:t>假设  ｜  实验  ｜  数据  ｜  解释</a:t>
            </a:r>
          </a:p>
        </p:txBody>
      </p:sp>
      <p:sp>
        <p:nvSpPr>
          <p:cNvPr id="10" name="timeline-right-body">
            <a:extLst xmlns:a="http://schemas.openxmlformats.org/drawingml/2006/main">
              <a:ext uri="{FF2B5EF4-FFF2-40B4-BE49-F238E27FC236}">
                <a16:creationId xmlns:a16="http://schemas.microsoft.com/office/drawing/2014/main" id="{7F1DEC37-A1E8-4BDC-BCAB-D20D54CA9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00375"/>
            <a:ext cx="4838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B1C21"/>
                </a:solidFill>
              </a:defRPr>
            </a:pPr>
            <a:r>
              <a:rPr sz="1875" b="0">
                <a:solidFill>
                  <a:srgbClr val="1B1C21"/>
                </a:solidFill>
              </a:rPr>
              <a:t>AI Scientist  ｜  Co-Scientist  ｜  Robin</a:t>
            </a:r>
          </a:p>
        </p:txBody>
      </p:sp>
      <p:sp>
        <p:nvSpPr>
          <p:cNvPr id="11" name="content-footer">
            <a:extLst xmlns:a="http://schemas.openxmlformats.org/drawingml/2006/main">
              <a:ext uri="{FF2B5EF4-FFF2-40B4-BE49-F238E27FC236}">
                <a16:creationId xmlns:a16="http://schemas.microsoft.com/office/drawing/2014/main" id="{D52CB8B9-B1AD-41EB-B081-EAE4E3B2C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1070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从“帮我完成一步”走向“连接多个步骤”。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效率提升 ≠ 科学范围扩展</a:t>
            </a:r>
          </a:p>
        </p:txBody>
      </p:sp>
      <p:sp>
        <p:nvSpPr>
          <p:cNvPr id="5" name="stats-left-kicker">
            <a:extLst xmlns:a="http://schemas.openxmlformats.org/drawingml/2006/main">
              <a:ext uri="{FF2B5EF4-FFF2-40B4-BE49-F238E27FC236}">
                <a16:creationId xmlns:a16="http://schemas.microsoft.com/office/drawing/2014/main" id="{E2CD5FA9-7C44-4CDA-8540-FAAFC9E3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1239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E7D5B"/>
                </a:solidFill>
              </a:defRPr>
            </a:pPr>
            <a:r>
              <a:rPr sz="1725" b="1">
                <a:solidFill>
                  <a:srgbClr val="2E7D5B"/>
                </a:solidFill>
              </a:rPr>
              <a:t>个人层面</a:t>
            </a:r>
          </a:p>
        </p:txBody>
      </p:sp>
      <p:sp>
        <p:nvSpPr>
          <p:cNvPr id="6" name="stats-right-kicker">
            <a:extLst xmlns:a="http://schemas.openxmlformats.org/drawingml/2006/main">
              <a:ext uri="{FF2B5EF4-FFF2-40B4-BE49-F238E27FC236}">
                <a16:creationId xmlns:a16="http://schemas.microsoft.com/office/drawing/2014/main" id="{9C7B9F4E-DE11-4F2C-9A3F-F6FD815E6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1239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</a:rPr>
              <a:t>集体科学层面</a:t>
            </a:r>
          </a:p>
        </p:txBody>
      </p:sp>
      <p:sp>
        <p:nvSpPr>
          <p:cNvPr id="7" name="left-stat-0">
            <a:extLst xmlns:a="http://schemas.openxmlformats.org/drawingml/2006/main">
              <a:ext uri="{FF2B5EF4-FFF2-40B4-BE49-F238E27FC236}">
                <a16:creationId xmlns:a16="http://schemas.microsoft.com/office/drawing/2014/main" id="{90213EA0-2BAE-4D05-B885-13744D7B0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76400"/>
            <a:ext cx="2476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750" b="1">
                <a:solidFill>
                  <a:srgbClr val="2E7D5B"/>
                </a:solidFill>
              </a:defRPr>
            </a:pPr>
            <a:r>
              <a:rPr sz="3750" b="1">
                <a:solidFill>
                  <a:srgbClr val="2E7D5B"/>
                </a:solidFill>
              </a:rPr>
              <a:t>3.02×</a:t>
            </a:r>
          </a:p>
        </p:txBody>
      </p:sp>
      <p:sp>
        <p:nvSpPr>
          <p:cNvPr id="8" name="left-stat-label-0">
            <a:extLst xmlns:a="http://schemas.openxmlformats.org/drawingml/2006/main">
              <a:ext uri="{FF2B5EF4-FFF2-40B4-BE49-F238E27FC236}">
                <a16:creationId xmlns:a16="http://schemas.microsoft.com/office/drawing/2014/main" id="{DE5BB4B9-47DC-443D-9ED8-2A6CC5AA2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82880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B1C21"/>
                </a:solidFill>
              </a:defRPr>
            </a:pPr>
            <a:r>
              <a:rPr sz="1800" b="0">
                <a:solidFill>
                  <a:srgbClr val="1B1C21"/>
                </a:solidFill>
              </a:rPr>
              <a:t>论文数量</a:t>
            </a:r>
          </a:p>
        </p:txBody>
      </p:sp>
      <p:sp>
        <p:nvSpPr>
          <p:cNvPr id="9" name="left-stat-1">
            <a:extLst xmlns:a="http://schemas.openxmlformats.org/drawingml/2006/main">
              <a:ext uri="{FF2B5EF4-FFF2-40B4-BE49-F238E27FC236}">
                <a16:creationId xmlns:a16="http://schemas.microsoft.com/office/drawing/2014/main" id="{9DDC6B07-70C5-4DAA-BEC3-D7D41F86E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0"/>
            <a:ext cx="2476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750" b="1">
                <a:solidFill>
                  <a:srgbClr val="2E7D5B"/>
                </a:solidFill>
              </a:defRPr>
            </a:pPr>
            <a:r>
              <a:rPr sz="3750" b="1">
                <a:solidFill>
                  <a:srgbClr val="2E7D5B"/>
                </a:solidFill>
              </a:rPr>
              <a:t>4.84×</a:t>
            </a:r>
          </a:p>
        </p:txBody>
      </p:sp>
      <p:sp>
        <p:nvSpPr>
          <p:cNvPr id="10" name="left-stat-label-1">
            <a:extLst xmlns:a="http://schemas.openxmlformats.org/drawingml/2006/main">
              <a:ext uri="{FF2B5EF4-FFF2-40B4-BE49-F238E27FC236}">
                <a16:creationId xmlns:a16="http://schemas.microsoft.com/office/drawing/2014/main" id="{708CC198-1B23-4F91-9A51-D0B28127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39090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B1C21"/>
                </a:solidFill>
              </a:defRPr>
            </a:pPr>
            <a:r>
              <a:rPr sz="1800" b="0">
                <a:solidFill>
                  <a:srgbClr val="1B1C21"/>
                </a:solidFill>
              </a:rPr>
              <a:t>引用数量</a:t>
            </a:r>
          </a:p>
        </p:txBody>
      </p:sp>
      <p:sp>
        <p:nvSpPr>
          <p:cNvPr id="11" name="right-stat-0">
            <a:extLst xmlns:a="http://schemas.openxmlformats.org/drawingml/2006/main">
              <a:ext uri="{FF2B5EF4-FFF2-40B4-BE49-F238E27FC236}">
                <a16:creationId xmlns:a16="http://schemas.microsoft.com/office/drawing/2014/main" id="{ACA62156-C96D-449D-948E-6E122DF2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2476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750" b="1">
                <a:solidFill>
                  <a:srgbClr val="C8161E"/>
                </a:solidFill>
              </a:defRPr>
            </a:pPr>
            <a:r>
              <a:rPr sz="3750" b="1">
                <a:solidFill>
                  <a:srgbClr val="C8161E"/>
                </a:solidFill>
              </a:rPr>
              <a:t>−4.63%</a:t>
            </a:r>
          </a:p>
        </p:txBody>
      </p:sp>
      <p:sp>
        <p:nvSpPr>
          <p:cNvPr id="12" name="right-stat-label-0">
            <a:extLst xmlns:a="http://schemas.openxmlformats.org/drawingml/2006/main">
              <a:ext uri="{FF2B5EF4-FFF2-40B4-BE49-F238E27FC236}">
                <a16:creationId xmlns:a16="http://schemas.microsoft.com/office/drawing/2014/main" id="{EE9DA023-8ED9-4911-AE69-990A6F0F1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82880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B1C21"/>
                </a:solidFill>
              </a:defRPr>
            </a:pPr>
            <a:r>
              <a:rPr sz="1650" b="0">
                <a:solidFill>
                  <a:srgbClr val="1B1C21"/>
                </a:solidFill>
              </a:rPr>
              <a:t>集体研究主题范围</a:t>
            </a:r>
          </a:p>
        </p:txBody>
      </p:sp>
      <p:sp>
        <p:nvSpPr>
          <p:cNvPr id="13" name="right-stat-1">
            <a:extLst xmlns:a="http://schemas.openxmlformats.org/drawingml/2006/main">
              <a:ext uri="{FF2B5EF4-FFF2-40B4-BE49-F238E27FC236}">
                <a16:creationId xmlns:a16="http://schemas.microsoft.com/office/drawing/2014/main" id="{6CDA14A4-2E8B-4870-A82F-91A3A893E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38500"/>
            <a:ext cx="2476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750" b="1">
                <a:solidFill>
                  <a:srgbClr val="C8161E"/>
                </a:solidFill>
              </a:defRPr>
            </a:pPr>
            <a:r>
              <a:rPr sz="3750" b="1">
                <a:solidFill>
                  <a:srgbClr val="C8161E"/>
                </a:solidFill>
              </a:rPr>
              <a:t>−22%</a:t>
            </a:r>
          </a:p>
        </p:txBody>
      </p:sp>
      <p:sp>
        <p:nvSpPr>
          <p:cNvPr id="14" name="right-stat-label-1">
            <a:extLst xmlns:a="http://schemas.openxmlformats.org/drawingml/2006/main">
              <a:ext uri="{FF2B5EF4-FFF2-40B4-BE49-F238E27FC236}">
                <a16:creationId xmlns:a16="http://schemas.microsoft.com/office/drawing/2014/main" id="{ED6A2C47-C4C6-4F44-A2C3-3F3CDECF2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9090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B1C21"/>
                </a:solidFill>
              </a:defRPr>
            </a:pPr>
            <a:r>
              <a:rPr sz="1650" b="0">
                <a:solidFill>
                  <a:srgbClr val="1B1C21"/>
                </a:solidFill>
              </a:rPr>
              <a:t>科学家后续参与</a:t>
            </a:r>
          </a:p>
        </p:txBody>
      </p:sp>
      <p:sp>
        <p:nvSpPr>
          <p:cNvPr id="15" name="content-footer">
            <a:extLst xmlns:a="http://schemas.openxmlformats.org/drawingml/2006/main">
              <a:ext uri="{FF2B5EF4-FFF2-40B4-BE49-F238E27FC236}">
                <a16:creationId xmlns:a16="http://schemas.microsoft.com/office/drawing/2014/main" id="{34980CAB-88EF-4CC5-AA64-F06EC7FC2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1070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论文样本中的关联结果，不等于因果结论。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本课程：控制研究质量</a:t>
            </a:r>
          </a:p>
        </p:txBody>
      </p:sp>
      <p:sp>
        <p:nvSpPr>
          <p:cNvPr id="5" name="big-statement">
            <a:extLst xmlns:a="http://schemas.openxmlformats.org/drawingml/2006/main">
              <a:ext uri="{FF2B5EF4-FFF2-40B4-BE49-F238E27FC236}">
                <a16:creationId xmlns:a16="http://schemas.microsoft.com/office/drawing/2014/main" id="{E7BFB971-9E85-421E-81B3-C22DC705C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19250"/>
            <a:ext cx="9906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1F4D78"/>
                </a:solidFill>
              </a:defRPr>
            </a:pPr>
            <a:r>
              <a:rPr sz="3150" b="1">
                <a:solidFill>
                  <a:srgbClr val="1F4D78"/>
                </a:solidFill>
              </a:rPr>
              <a:t>AI 负责扩展候选</a:t>
            </a:r>
          </a:p>
          <a:p xmlns:a="http://schemas.openxmlformats.org/drawingml/2006/main">
            <a:pPr algn="ctr">
              <a:defRPr sz="3150" b="1">
                <a:solidFill>
                  <a:srgbClr val="1F4D78"/>
                </a:solidFill>
              </a:defRPr>
            </a:pPr>
            <a:r>
              <a:rPr sz="3150" b="1">
                <a:solidFill>
                  <a:srgbClr val="1F4D78"/>
                </a:solidFill>
              </a:rPr>
              <a:t>研究者负责证据、判断与责任</a:t>
            </a:r>
          </a:p>
        </p:txBody>
      </p:sp>
      <p:sp>
        <p:nvSpPr>
          <p:cNvPr id="6" name="content-footer">
            <a:extLst xmlns:a="http://schemas.openxmlformats.org/drawingml/2006/main">
              <a:ext uri="{FF2B5EF4-FFF2-40B4-BE49-F238E27FC236}">
                <a16:creationId xmlns:a16="http://schemas.microsoft.com/office/drawing/2014/main" id="{685B81DE-58FF-4F76-BA6D-E78748B38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1070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速度只有在研究闭环可检查时才有价值。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研究判断必须进入工程工作流</a:t>
            </a:r>
          </a:p>
        </p:txBody>
      </p:sp>
      <p:sp>
        <p:nvSpPr>
          <p:cNvPr id="5" name="left-heading">
            <a:extLst xmlns:a="http://schemas.openxmlformats.org/drawingml/2006/main">
              <a:ext uri="{FF2B5EF4-FFF2-40B4-BE49-F238E27FC236}">
                <a16:creationId xmlns:a16="http://schemas.microsoft.com/office/drawing/2014/main" id="{6A2D1318-E87A-43BA-B6E2-63FAA0CA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104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</a:rPr>
              <a:t>方法决定研究是否成立</a:t>
            </a:r>
          </a:p>
        </p:txBody>
      </p:sp>
      <p:sp>
        <p:nvSpPr>
          <p:cNvPr id="6" name="right-heading">
            <a:extLst xmlns:a="http://schemas.openxmlformats.org/drawingml/2006/main">
              <a:ext uri="{FF2B5EF4-FFF2-40B4-BE49-F238E27FC236}">
                <a16:creationId xmlns:a16="http://schemas.microsoft.com/office/drawing/2014/main" id="{C0D38EF2-5712-4B2C-9181-BB1BF732E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104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F4D78"/>
                </a:solidFill>
              </a:defRPr>
            </a:pPr>
            <a:r>
              <a:rPr sz="2025" b="1">
                <a:solidFill>
                  <a:srgbClr val="1F4D78"/>
                </a:solidFill>
              </a:rPr>
              <a:t>工作流决定过程能否检查</a:t>
            </a:r>
          </a:p>
        </p:txBody>
      </p:sp>
      <p:sp>
        <p:nvSpPr>
          <p:cNvPr id="7" name="column-divider">
            <a:extLst xmlns:a="http://schemas.openxmlformats.org/drawingml/2006/main">
              <a:ext uri="{FF2B5EF4-FFF2-40B4-BE49-F238E27FC236}">
                <a16:creationId xmlns:a16="http://schemas.microsoft.com/office/drawing/2014/main" id="{B091EE40-362B-4E65-841D-3ABABCD87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123950"/>
            <a:ext cx="0" cy="3714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9DD"/>
            </a:solidFill>
            <a:prstDash val="solid"/>
          </a:ln>
        </p:spPr>
      </p:sp>
      <p:sp>
        <p:nvSpPr>
          <p:cNvPr id="8" name="left-body">
            <a:extLst xmlns:a="http://schemas.openxmlformats.org/drawingml/2006/main">
              <a:ext uri="{FF2B5EF4-FFF2-40B4-BE49-F238E27FC236}">
                <a16:creationId xmlns:a16="http://schemas.microsoft.com/office/drawing/2014/main" id="{B18C7A82-1211-4F6F-B1BE-92B322CEB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33550"/>
            <a:ext cx="4762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问题选择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证据判断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实验验证</a:t>
            </a:r>
          </a:p>
        </p:txBody>
      </p:sp>
      <p:sp>
        <p:nvSpPr>
          <p:cNvPr id="9" name="right-body">
            <a:extLst xmlns:a="http://schemas.openxmlformats.org/drawingml/2006/main">
              <a:ext uri="{FF2B5EF4-FFF2-40B4-BE49-F238E27FC236}">
                <a16:creationId xmlns:a16="http://schemas.microsoft.com/office/drawing/2014/main" id="{75ED10F4-162A-4830-9342-5CE79539C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733550"/>
            <a:ext cx="4762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Context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Permission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Diff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Log</a:t>
            </a:r>
          </a:p>
        </p:txBody>
      </p:sp>
      <p:sp>
        <p:nvSpPr>
          <p:cNvPr id="10" name="content-footer">
            <a:extLst xmlns:a="http://schemas.openxmlformats.org/drawingml/2006/main">
              <a:ext uri="{FF2B5EF4-FFF2-40B4-BE49-F238E27FC236}">
                <a16:creationId xmlns:a16="http://schemas.microsoft.com/office/drawing/2014/main" id="{1121F576-8DD6-46E7-8CA8-F7313968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1070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交叠处：可审计的研究闭环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增强的研究方法课</a:t>
            </a:r>
          </a:p>
        </p:txBody>
      </p:sp>
      <p:sp>
        <p:nvSpPr>
          <p:cNvPr id="5" name="left-heading">
            <a:extLst xmlns:a="http://schemas.openxmlformats.org/drawingml/2006/main">
              <a:ext uri="{FF2B5EF4-FFF2-40B4-BE49-F238E27FC236}">
                <a16:creationId xmlns:a16="http://schemas.microsoft.com/office/drawing/2014/main" id="{CDAB9C85-6BAF-4B6E-81B7-AAA82C3BD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104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</a:rPr>
              <a:t>不以这些为主</a:t>
            </a:r>
          </a:p>
        </p:txBody>
      </p:sp>
      <p:sp>
        <p:nvSpPr>
          <p:cNvPr id="6" name="right-heading">
            <a:extLst xmlns:a="http://schemas.openxmlformats.org/drawingml/2006/main">
              <a:ext uri="{FF2B5EF4-FFF2-40B4-BE49-F238E27FC236}">
                <a16:creationId xmlns:a16="http://schemas.microsoft.com/office/drawing/2014/main" id="{58DDF2F0-087F-49D9-BD50-FC86E41A9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104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F4D78"/>
                </a:solidFill>
              </a:defRPr>
            </a:pPr>
            <a:r>
              <a:rPr sz="2025" b="1">
                <a:solidFill>
                  <a:srgbClr val="1F4D78"/>
                </a:solidFill>
              </a:rPr>
              <a:t>真正训练这些能力</a:t>
            </a:r>
          </a:p>
        </p:txBody>
      </p:sp>
      <p:sp>
        <p:nvSpPr>
          <p:cNvPr id="7" name="column-divider">
            <a:extLst xmlns:a="http://schemas.openxmlformats.org/drawingml/2006/main">
              <a:ext uri="{FF2B5EF4-FFF2-40B4-BE49-F238E27FC236}">
                <a16:creationId xmlns:a16="http://schemas.microsoft.com/office/drawing/2014/main" id="{D960E8F7-EE0F-4B19-9E12-9D6E3702C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123950"/>
            <a:ext cx="0" cy="3714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9DD"/>
            </a:solidFill>
            <a:prstDash val="solid"/>
          </a:ln>
        </p:spPr>
      </p:sp>
      <p:sp>
        <p:nvSpPr>
          <p:cNvPr id="8" name="left-body">
            <a:extLst xmlns:a="http://schemas.openxmlformats.org/drawingml/2006/main">
              <a:ext uri="{FF2B5EF4-FFF2-40B4-BE49-F238E27FC236}">
                <a16:creationId xmlns:a16="http://schemas.microsoft.com/office/drawing/2014/main" id="{5E993DFF-F25B-4766-BFCC-3CC8136DE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33550"/>
            <a:ext cx="4762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产品巡礼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Prompt 技巧合集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Skills 安装课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一键自动科研</a:t>
            </a:r>
          </a:p>
        </p:txBody>
      </p:sp>
      <p:sp>
        <p:nvSpPr>
          <p:cNvPr id="9" name="right-body">
            <a:extLst xmlns:a="http://schemas.openxmlformats.org/drawingml/2006/main">
              <a:ext uri="{FF2B5EF4-FFF2-40B4-BE49-F238E27FC236}">
                <a16:creationId xmlns:a16="http://schemas.microsoft.com/office/drawing/2014/main" id="{8015988A-128C-4459-ACE5-FC866E1AD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733550"/>
            <a:ext cx="4762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真实研究问题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可核验证据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可复现实验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人工判断与伦理责任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评价研究闭环，而非工具数量</a:t>
            </a:r>
          </a:p>
        </p:txBody>
      </p:sp>
      <p:sp>
        <p:nvSpPr>
          <p:cNvPr id="5" name="four-surface-1">
            <a:extLst xmlns:a="http://schemas.openxmlformats.org/drawingml/2006/main">
              <a:ext uri="{FF2B5EF4-FFF2-40B4-BE49-F238E27FC236}">
                <a16:creationId xmlns:a16="http://schemas.microsoft.com/office/drawing/2014/main" id="{118E34AB-756F-4DF5-9B6A-F0CE8C2CB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314450"/>
            <a:ext cx="47053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CEDEE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6" name="four-text-1">
            <a:extLst xmlns:a="http://schemas.openxmlformats.org/drawingml/2006/main">
              <a:ext uri="{FF2B5EF4-FFF2-40B4-BE49-F238E27FC236}">
                <a16:creationId xmlns:a16="http://schemas.microsoft.com/office/drawing/2014/main" id="{059ABEB0-5DD0-4CEE-956B-D0DD93FD8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485900"/>
            <a:ext cx="43243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</a:rPr>
              <a:t>问题与证据</a:t>
            </a:r>
          </a:p>
        </p:txBody>
      </p:sp>
      <p:sp>
        <p:nvSpPr>
          <p:cNvPr id="7" name="four-surface-2">
            <a:extLst xmlns:a="http://schemas.openxmlformats.org/drawingml/2006/main">
              <a:ext uri="{FF2B5EF4-FFF2-40B4-BE49-F238E27FC236}">
                <a16:creationId xmlns:a16="http://schemas.microsoft.com/office/drawing/2014/main" id="{FFACAA84-94D0-468B-A8DF-DEB3421D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314450"/>
            <a:ext cx="47053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8" name="four-text-2">
            <a:extLst xmlns:a="http://schemas.openxmlformats.org/drawingml/2006/main">
              <a:ext uri="{FF2B5EF4-FFF2-40B4-BE49-F238E27FC236}">
                <a16:creationId xmlns:a16="http://schemas.microsoft.com/office/drawing/2014/main" id="{3B3E973A-9698-4703-B28A-EC11594E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85900"/>
            <a:ext cx="43243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B1C21"/>
                </a:solidFill>
              </a:defRPr>
            </a:pPr>
            <a:r>
              <a:rPr sz="2100" b="1">
                <a:solidFill>
                  <a:srgbClr val="1B1C21"/>
                </a:solidFill>
              </a:rPr>
              <a:t>实验与复现</a:t>
            </a:r>
          </a:p>
        </p:txBody>
      </p:sp>
      <p:sp>
        <p:nvSpPr>
          <p:cNvPr id="9" name="four-surface-3">
            <a:extLst xmlns:a="http://schemas.openxmlformats.org/drawingml/2006/main">
              <a:ext uri="{FF2B5EF4-FFF2-40B4-BE49-F238E27FC236}">
                <a16:creationId xmlns:a16="http://schemas.microsoft.com/office/drawing/2014/main" id="{BF49CFDA-A0CE-4AEB-9047-EB8B222F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24200"/>
            <a:ext cx="47053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10" name="four-text-3">
            <a:extLst xmlns:a="http://schemas.openxmlformats.org/drawingml/2006/main">
              <a:ext uri="{FF2B5EF4-FFF2-40B4-BE49-F238E27FC236}">
                <a16:creationId xmlns:a16="http://schemas.microsoft.com/office/drawing/2014/main" id="{72C61277-4875-4DE3-91E6-6B534CDC2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43243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B1C21"/>
                </a:solidFill>
              </a:defRPr>
            </a:pPr>
            <a:r>
              <a:rPr sz="2100" b="1">
                <a:solidFill>
                  <a:srgbClr val="1B1C21"/>
                </a:solidFill>
              </a:rPr>
              <a:t>Agent Workflow</a:t>
            </a:r>
          </a:p>
        </p:txBody>
      </p:sp>
      <p:sp>
        <p:nvSpPr>
          <p:cNvPr id="11" name="four-surface-4">
            <a:extLst xmlns:a="http://schemas.openxmlformats.org/drawingml/2006/main">
              <a:ext uri="{FF2B5EF4-FFF2-40B4-BE49-F238E27FC236}">
                <a16:creationId xmlns:a16="http://schemas.microsoft.com/office/drawing/2014/main" id="{8D30953C-E841-402A-B2B6-AE589C3E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24200"/>
            <a:ext cx="47053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12" name="four-text-4">
            <a:extLst xmlns:a="http://schemas.openxmlformats.org/drawingml/2006/main">
              <a:ext uri="{FF2B5EF4-FFF2-40B4-BE49-F238E27FC236}">
                <a16:creationId xmlns:a16="http://schemas.microsoft.com/office/drawing/2014/main" id="{71E426F5-3F42-4667-9530-17958C363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95650"/>
            <a:ext cx="43243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B1C21"/>
                </a:solidFill>
              </a:defRPr>
            </a:pPr>
            <a:r>
              <a:rPr sz="2100" b="1">
                <a:solidFill>
                  <a:srgbClr val="1B1C21"/>
                </a:solidFill>
              </a:rPr>
              <a:t>表达、伦理与复盘</a:t>
            </a:r>
          </a:p>
        </p:txBody>
      </p:sp>
      <p:sp>
        <p:nvSpPr>
          <p:cNvPr id="13" name="content-footer">
            <a:extLst xmlns:a="http://schemas.openxmlformats.org/drawingml/2006/main">
              <a:ext uri="{FF2B5EF4-FFF2-40B4-BE49-F238E27FC236}">
                <a16:creationId xmlns:a16="http://schemas.microsoft.com/office/drawing/2014/main" id="{9D0D5808-E70C-4F80-9866-4C497A9CA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1070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平台、模型和后端选择本身不构成评分优势。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16 周后：留下可继续发展的研究雏形</a:t>
            </a:r>
          </a:p>
        </p:txBody>
      </p:sp>
      <p:sp>
        <p:nvSpPr>
          <p:cNvPr id="5" name="bullet-1">
            <a:extLst xmlns:a="http://schemas.openxmlformats.org/drawingml/2006/main">
              <a:ext uri="{FF2B5EF4-FFF2-40B4-BE49-F238E27FC236}">
                <a16:creationId xmlns:a16="http://schemas.microsoft.com/office/drawing/2014/main" id="{A005FE11-9162-4BF7-9CAE-9EE42CC5C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3335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</a:rPr>
              <a:t>1.  一个清楚、可检验的研究问题</a:t>
            </a:r>
          </a:p>
        </p:txBody>
      </p:sp>
      <p:sp>
        <p:nvSpPr>
          <p:cNvPr id="6" name="bullet-2">
            <a:extLst xmlns:a="http://schemas.openxmlformats.org/drawingml/2006/main">
              <a:ext uri="{FF2B5EF4-FFF2-40B4-BE49-F238E27FC236}">
                <a16:creationId xmlns:a16="http://schemas.microsoft.com/office/drawing/2014/main" id="{B3EB38B3-8586-4C29-A4A2-595C63EA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171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B1C21"/>
                </a:solidFill>
              </a:defRPr>
            </a:pPr>
            <a:r>
              <a:rPr sz="2250" b="0">
                <a:solidFill>
                  <a:srgbClr val="1B1C21"/>
                </a:solidFill>
              </a:rPr>
              <a:t>2.  一条可追溯的证据与判断链</a:t>
            </a:r>
          </a:p>
        </p:txBody>
      </p:sp>
      <p:sp>
        <p:nvSpPr>
          <p:cNvPr id="7" name="bullet-3">
            <a:extLst xmlns:a="http://schemas.openxmlformats.org/drawingml/2006/main">
              <a:ext uri="{FF2B5EF4-FFF2-40B4-BE49-F238E27FC236}">
                <a16:creationId xmlns:a16="http://schemas.microsoft.com/office/drawing/2014/main" id="{924CADC7-412B-4CC6-9C85-7491AA91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0099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B1C21"/>
                </a:solidFill>
              </a:defRPr>
            </a:pPr>
            <a:r>
              <a:rPr sz="2250" b="0">
                <a:solidFill>
                  <a:srgbClr val="1B1C21"/>
                </a:solidFill>
              </a:rPr>
              <a:t>3.  一套可复现的最小验证</a:t>
            </a:r>
          </a:p>
        </p:txBody>
      </p:sp>
      <p:sp>
        <p:nvSpPr>
          <p:cNvPr id="8" name="bullet-4">
            <a:extLst xmlns:a="http://schemas.openxmlformats.org/drawingml/2006/main">
              <a:ext uri="{FF2B5EF4-FFF2-40B4-BE49-F238E27FC236}">
                <a16:creationId xmlns:a16="http://schemas.microsoft.com/office/drawing/2014/main" id="{B2E982D5-2639-4399-A933-B9F2F2345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481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B1C21"/>
                </a:solidFill>
              </a:defRPr>
            </a:pPr>
            <a:r>
              <a:rPr sz="2250" b="0">
                <a:solidFill>
                  <a:srgbClr val="1B1C21"/>
                </a:solidFill>
              </a:rPr>
              <a:t>4.  一个自己设计并评价的 Agent Workflow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课程需要工程与论文阅读基础</a:t>
            </a:r>
          </a:p>
        </p:txBody>
      </p:sp>
      <p:sp>
        <p:nvSpPr>
          <p:cNvPr id="5" name="left-heading">
            <a:extLst xmlns:a="http://schemas.openxmlformats.org/drawingml/2006/main">
              <a:ext uri="{FF2B5EF4-FFF2-40B4-BE49-F238E27FC236}">
                <a16:creationId xmlns:a16="http://schemas.microsoft.com/office/drawing/2014/main" id="{F305B5D2-E922-499F-BE09-EB299A3E7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104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</a:rPr>
              <a:t>需要</a:t>
            </a:r>
          </a:p>
        </p:txBody>
      </p:sp>
      <p:sp>
        <p:nvSpPr>
          <p:cNvPr id="6" name="right-heading">
            <a:extLst xmlns:a="http://schemas.openxmlformats.org/drawingml/2006/main">
              <a:ext uri="{FF2B5EF4-FFF2-40B4-BE49-F238E27FC236}">
                <a16:creationId xmlns:a16="http://schemas.microsoft.com/office/drawing/2014/main" id="{D97FF393-CBA4-4D46-A201-0AB401D59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104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F4D78"/>
                </a:solidFill>
              </a:defRPr>
            </a:pPr>
            <a:r>
              <a:rPr sz="2025" b="1">
                <a:solidFill>
                  <a:srgbClr val="1F4D78"/>
                </a:solidFill>
              </a:rPr>
              <a:t>不要求</a:t>
            </a:r>
          </a:p>
        </p:txBody>
      </p:sp>
      <p:sp>
        <p:nvSpPr>
          <p:cNvPr id="7" name="column-divider">
            <a:extLst xmlns:a="http://schemas.openxmlformats.org/drawingml/2006/main">
              <a:ext uri="{FF2B5EF4-FFF2-40B4-BE49-F238E27FC236}">
                <a16:creationId xmlns:a16="http://schemas.microsoft.com/office/drawing/2014/main" id="{948121CB-E89C-4452-985A-F824DABAB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123950"/>
            <a:ext cx="0" cy="3714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9DD"/>
            </a:solidFill>
            <a:prstDash val="solid"/>
          </a:ln>
        </p:spPr>
      </p:sp>
      <p:sp>
        <p:nvSpPr>
          <p:cNvPr id="8" name="left-body">
            <a:extLst xmlns:a="http://schemas.openxmlformats.org/drawingml/2006/main">
              <a:ext uri="{FF2B5EF4-FFF2-40B4-BE49-F238E27FC236}">
                <a16:creationId xmlns:a16="http://schemas.microsoft.com/office/drawing/2014/main" id="{9EA27C2A-5C1D-4F1C-BA63-B15223F01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33550"/>
            <a:ext cx="4762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Git 与命令行基础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能阅读本方向论文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愿意记录失败与修改</a:t>
            </a:r>
          </a:p>
        </p:txBody>
      </p:sp>
      <p:sp>
        <p:nvSpPr>
          <p:cNvPr id="9" name="right-body">
            <a:extLst xmlns:a="http://schemas.openxmlformats.org/drawingml/2006/main">
              <a:ext uri="{FF2B5EF4-FFF2-40B4-BE49-F238E27FC236}">
                <a16:creationId xmlns:a16="http://schemas.microsoft.com/office/drawing/2014/main" id="{19F184A1-E046-4346-BDE0-870721C64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733550"/>
            <a:ext cx="4762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预先掌握 Agent 框架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购买 API token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已有完整研究题目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个人完成项目，同伴组只反馈</a:t>
            </a:r>
          </a:p>
        </p:txBody>
      </p:sp>
      <p:sp>
        <p:nvSpPr>
          <p:cNvPr id="5" name="left-heading">
            <a:extLst xmlns:a="http://schemas.openxmlformats.org/drawingml/2006/main">
              <a:ext uri="{FF2B5EF4-FFF2-40B4-BE49-F238E27FC236}">
                <a16:creationId xmlns:a16="http://schemas.microsoft.com/office/drawing/2014/main" id="{F17E1DB5-9236-4A06-91A7-61F0D500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104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</a:rPr>
              <a:t>个人负责</a:t>
            </a:r>
          </a:p>
        </p:txBody>
      </p:sp>
      <p:sp>
        <p:nvSpPr>
          <p:cNvPr id="6" name="right-heading">
            <a:extLst xmlns:a="http://schemas.openxmlformats.org/drawingml/2006/main">
              <a:ext uri="{FF2B5EF4-FFF2-40B4-BE49-F238E27FC236}">
                <a16:creationId xmlns:a16="http://schemas.microsoft.com/office/drawing/2014/main" id="{954AA7C6-A298-4315-9858-9033AA7BC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104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F4D78"/>
                </a:solidFill>
              </a:defRPr>
            </a:pPr>
            <a:r>
              <a:rPr sz="2025" b="1">
                <a:solidFill>
                  <a:srgbClr val="1F4D78"/>
                </a:solidFill>
              </a:rPr>
              <a:t>同伴组负责</a:t>
            </a:r>
          </a:p>
        </p:txBody>
      </p:sp>
      <p:sp>
        <p:nvSpPr>
          <p:cNvPr id="7" name="column-divider">
            <a:extLst xmlns:a="http://schemas.openxmlformats.org/drawingml/2006/main">
              <a:ext uri="{FF2B5EF4-FFF2-40B4-BE49-F238E27FC236}">
                <a16:creationId xmlns:a16="http://schemas.microsoft.com/office/drawing/2014/main" id="{C4675CE0-2295-46C5-B209-56CD2B384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123950"/>
            <a:ext cx="0" cy="3714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9DD"/>
            </a:solidFill>
            <a:prstDash val="solid"/>
          </a:ln>
        </p:spPr>
      </p:sp>
      <p:sp>
        <p:nvSpPr>
          <p:cNvPr id="8" name="left-body">
            <a:extLst xmlns:a="http://schemas.openxmlformats.org/drawingml/2006/main">
              <a:ext uri="{FF2B5EF4-FFF2-40B4-BE49-F238E27FC236}">
                <a16:creationId xmlns:a16="http://schemas.microsoft.com/office/drawing/2014/main" id="{41333869-3E00-4E17-8CE0-B7D96A99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33550"/>
            <a:ext cx="4762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独立项目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独立仓库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独立答辩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独立 AI 使用记录</a:t>
            </a:r>
          </a:p>
        </p:txBody>
      </p:sp>
      <p:sp>
        <p:nvSpPr>
          <p:cNvPr id="9" name="right-body">
            <a:extLst xmlns:a="http://schemas.openxmlformats.org/drawingml/2006/main">
              <a:ext uri="{FF2B5EF4-FFF2-40B4-BE49-F238E27FC236}">
                <a16:creationId xmlns:a16="http://schemas.microsoft.com/office/drawing/2014/main" id="{D1943CCC-A22A-4DDB-B7F4-9CE101DF1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733550"/>
            <a:ext cx="4762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分享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互查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质询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反馈</a:t>
            </a:r>
          </a:p>
        </p:txBody>
      </p:sp>
      <p:sp>
        <p:nvSpPr>
          <p:cNvPr id="10" name="content-footer">
            <a:extLst xmlns:a="http://schemas.openxmlformats.org/drawingml/2006/main">
              <a:ext uri="{FF2B5EF4-FFF2-40B4-BE49-F238E27FC236}">
                <a16:creationId xmlns:a16="http://schemas.microsoft.com/office/drawing/2014/main" id="{21AE202D-0D2E-4096-A59E-3B0B9C1B4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1070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同伴不替代作者判断，也不共同提交。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16 次课推进同一个项目</a:t>
            </a:r>
          </a:p>
        </p:txBody>
      </p:sp>
      <p:sp>
        <p:nvSpPr>
          <p:cNvPr id="5" name="timeline-left-title">
            <a:extLst xmlns:a="http://schemas.openxmlformats.org/drawingml/2006/main">
              <a:ext uri="{FF2B5EF4-FFF2-40B4-BE49-F238E27FC236}">
                <a16:creationId xmlns:a16="http://schemas.microsoft.com/office/drawing/2014/main" id="{134ECCF0-9890-4122-B7BC-AA9928E4F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90625"/>
            <a:ext cx="485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</a:rPr>
              <a:t>前半程｜从文献到问题</a:t>
            </a:r>
          </a:p>
        </p:txBody>
      </p:sp>
      <p:sp>
        <p:nvSpPr>
          <p:cNvPr id="6" name="timeline-right-title">
            <a:extLst xmlns:a="http://schemas.openxmlformats.org/drawingml/2006/main">
              <a:ext uri="{FF2B5EF4-FFF2-40B4-BE49-F238E27FC236}">
                <a16:creationId xmlns:a16="http://schemas.microsoft.com/office/drawing/2014/main" id="{D5797063-2AFB-463F-8B60-D3DFC598B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190625"/>
            <a:ext cx="485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F4D78"/>
                </a:solidFill>
              </a:defRPr>
            </a:pPr>
            <a:r>
              <a:rPr sz="2025" b="1">
                <a:solidFill>
                  <a:srgbClr val="1F4D78"/>
                </a:solidFill>
              </a:rPr>
              <a:t>后半程｜从判断到验证</a:t>
            </a:r>
          </a:p>
        </p:txBody>
      </p:sp>
      <p:sp>
        <p:nvSpPr>
          <p:cNvPr id="7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AACD2F9A-A90C-4826-9644-AA8E7A98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7D9DD"/>
            </a:solidFill>
            <a:prstDash val="solid"/>
          </a:ln>
        </p:spPr>
      </p:sp>
      <p:sp>
        <p:nvSpPr>
          <p:cNvPr id="8" name="timeline-arrow">
            <a:extLst xmlns:a="http://schemas.openxmlformats.org/drawingml/2006/main">
              <a:ext uri="{FF2B5EF4-FFF2-40B4-BE49-F238E27FC236}">
                <a16:creationId xmlns:a16="http://schemas.microsoft.com/office/drawing/2014/main" id="{2A7A073A-F407-4B46-8F54-A897A5511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266950"/>
            <a:ext cx="685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</a:rPr>
              <a:t>→</a:t>
            </a:r>
          </a:p>
        </p:txBody>
      </p:sp>
      <p:sp>
        <p:nvSpPr>
          <p:cNvPr id="9" name="timeline-left-body">
            <a:extLst xmlns:a="http://schemas.openxmlformats.org/drawingml/2006/main">
              <a:ext uri="{FF2B5EF4-FFF2-40B4-BE49-F238E27FC236}">
                <a16:creationId xmlns:a16="http://schemas.microsoft.com/office/drawing/2014/main" id="{6F3E1DA6-DCC3-42E6-B772-E0ED0697B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00375"/>
            <a:ext cx="4838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B1C21"/>
                </a:solidFill>
              </a:defRPr>
            </a:pPr>
            <a:r>
              <a:rPr sz="1875" b="0">
                <a:solidFill>
                  <a:srgbClr val="1B1C21"/>
                </a:solidFill>
              </a:rPr>
              <a:t>平台与伦理  ｜  检索与精读  ｜  证据地图  ｜  问题门</a:t>
            </a:r>
          </a:p>
        </p:txBody>
      </p:sp>
      <p:sp>
        <p:nvSpPr>
          <p:cNvPr id="10" name="timeline-right-body">
            <a:extLst xmlns:a="http://schemas.openxmlformats.org/drawingml/2006/main">
              <a:ext uri="{FF2B5EF4-FFF2-40B4-BE49-F238E27FC236}">
                <a16:creationId xmlns:a16="http://schemas.microsoft.com/office/drawing/2014/main" id="{5F3A9863-A100-4E3B-9ED8-18E03AD2C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00375"/>
            <a:ext cx="4838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B1C21"/>
                </a:solidFill>
              </a:defRPr>
            </a:pPr>
            <a:r>
              <a:rPr sz="1875" b="0">
                <a:solidFill>
                  <a:srgbClr val="1B1C21"/>
                </a:solidFill>
              </a:rPr>
              <a:t>实验规格  ｜  受限执行  ｜  工作流评价  ｜  论证门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评分看四种能力</a:t>
            </a:r>
          </a:p>
        </p:txBody>
      </p:sp>
      <p:sp>
        <p:nvSpPr>
          <p:cNvPr id="5" name="bar-label-0">
            <a:extLst xmlns:a="http://schemas.openxmlformats.org/drawingml/2006/main">
              <a:ext uri="{FF2B5EF4-FFF2-40B4-BE49-F238E27FC236}">
                <a16:creationId xmlns:a16="http://schemas.microsoft.com/office/drawing/2014/main" id="{54F3345E-A806-4AC9-BE83-E290D328C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2192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B1C21"/>
                </a:solidFill>
              </a:defRPr>
            </a:pPr>
            <a:r>
              <a:rPr sz="1800" b="0">
                <a:solidFill>
                  <a:srgbClr val="1B1C21"/>
                </a:solidFill>
              </a:rPr>
              <a:t>文献与问题定位</a:t>
            </a:r>
          </a:p>
        </p:txBody>
      </p:sp>
      <p:sp>
        <p:nvSpPr>
          <p:cNvPr id="6" name="bar-bg-0">
            <a:extLst xmlns:a="http://schemas.openxmlformats.org/drawingml/2006/main">
              <a:ext uri="{FF2B5EF4-FFF2-40B4-BE49-F238E27FC236}">
                <a16:creationId xmlns:a16="http://schemas.microsoft.com/office/drawing/2014/main" id="{144D4AFA-24FB-4F4E-BC69-15BD5F58A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14450"/>
            <a:ext cx="5905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EAED"/>
          </a:solidFill>
          <a:ln xmlns:a="http://schemas.openxmlformats.org/drawingml/2006/main" w="9525">
            <a:solidFill>
              <a:srgbClr val="E8EAED"/>
            </a:solidFill>
            <a:prstDash val="solid"/>
          </a:ln>
        </p:spPr>
      </p:sp>
      <p:sp>
        <p:nvSpPr>
          <p:cNvPr id="7" name="bar-fill-0">
            <a:extLst xmlns:a="http://schemas.openxmlformats.org/drawingml/2006/main">
              <a:ext uri="{FF2B5EF4-FFF2-40B4-BE49-F238E27FC236}">
                <a16:creationId xmlns:a16="http://schemas.microsoft.com/office/drawing/2014/main" id="{E4633409-0D26-4766-9ABE-8C79A7A1B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14450"/>
            <a:ext cx="4218214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F4D78"/>
          </a:solidFill>
          <a:ln xmlns:a="http://schemas.openxmlformats.org/drawingml/2006/main" w="9525">
            <a:solidFill>
              <a:srgbClr val="1F4D78"/>
            </a:solidFill>
            <a:prstDash val="solid"/>
          </a:ln>
        </p:spPr>
      </p:sp>
      <p:sp>
        <p:nvSpPr>
          <p:cNvPr id="8" name="bar-value-0">
            <a:extLst xmlns:a="http://schemas.openxmlformats.org/drawingml/2006/main">
              <a:ext uri="{FF2B5EF4-FFF2-40B4-BE49-F238E27FC236}">
                <a16:creationId xmlns:a16="http://schemas.microsoft.com/office/drawing/2014/main" id="{3535F3B6-2789-4A5D-82D3-DC8AA44B9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219200"/>
            <a:ext cx="85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950" b="1">
                <a:solidFill>
                  <a:srgbClr val="1F4D78"/>
                </a:solidFill>
              </a:defRPr>
            </a:pPr>
            <a:r>
              <a:rPr sz="1950" b="1">
                <a:solidFill>
                  <a:srgbClr val="1F4D78"/>
                </a:solidFill>
              </a:rPr>
              <a:t>25%</a:t>
            </a:r>
          </a:p>
        </p:txBody>
      </p:sp>
      <p:sp>
        <p:nvSpPr>
          <p:cNvPr id="9" name="bar-label-1">
            <a:extLst xmlns:a="http://schemas.openxmlformats.org/drawingml/2006/main">
              <a:ext uri="{FF2B5EF4-FFF2-40B4-BE49-F238E27FC236}">
                <a16:creationId xmlns:a16="http://schemas.microsoft.com/office/drawing/2014/main" id="{88413E19-66E8-4537-917C-5F392B81F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098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B1C21"/>
                </a:solidFill>
              </a:defRPr>
            </a:pPr>
            <a:r>
              <a:rPr sz="1800" b="0">
                <a:solidFill>
                  <a:srgbClr val="1B1C21"/>
                </a:solidFill>
              </a:rPr>
              <a:t>实验设计与可复现性</a:t>
            </a:r>
          </a:p>
        </p:txBody>
      </p:sp>
      <p:sp>
        <p:nvSpPr>
          <p:cNvPr id="10" name="bar-bg-1">
            <a:extLst xmlns:a="http://schemas.openxmlformats.org/drawingml/2006/main">
              <a:ext uri="{FF2B5EF4-FFF2-40B4-BE49-F238E27FC236}">
                <a16:creationId xmlns:a16="http://schemas.microsoft.com/office/drawing/2014/main" id="{69826A2C-8582-40F3-9BCF-88354E2B4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05050"/>
            <a:ext cx="5905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EAED"/>
          </a:solidFill>
          <a:ln xmlns:a="http://schemas.openxmlformats.org/drawingml/2006/main" w="9525">
            <a:solidFill>
              <a:srgbClr val="E8EAED"/>
            </a:solidFill>
            <a:prstDash val="solid"/>
          </a:ln>
        </p:spPr>
      </p:sp>
      <p:sp>
        <p:nvSpPr>
          <p:cNvPr id="11" name="bar-fill-1">
            <a:extLst xmlns:a="http://schemas.openxmlformats.org/drawingml/2006/main">
              <a:ext uri="{FF2B5EF4-FFF2-40B4-BE49-F238E27FC236}">
                <a16:creationId xmlns:a16="http://schemas.microsoft.com/office/drawing/2014/main" id="{8F636E9F-ED22-4A3A-98C0-F9D092319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05050"/>
            <a:ext cx="5061857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9525">
            <a:solidFill>
              <a:srgbClr val="C8161E"/>
            </a:solidFill>
            <a:prstDash val="solid"/>
          </a:ln>
        </p:spPr>
      </p:sp>
      <p:sp>
        <p:nvSpPr>
          <p:cNvPr id="12" name="bar-value-1">
            <a:extLst xmlns:a="http://schemas.openxmlformats.org/drawingml/2006/main">
              <a:ext uri="{FF2B5EF4-FFF2-40B4-BE49-F238E27FC236}">
                <a16:creationId xmlns:a16="http://schemas.microsoft.com/office/drawing/2014/main" id="{C99EC80D-4BC3-4FBE-97DC-3C5A92C4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209800"/>
            <a:ext cx="85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</a:rPr>
              <a:t>30%</a:t>
            </a:r>
          </a:p>
        </p:txBody>
      </p:sp>
      <p:sp>
        <p:nvSpPr>
          <p:cNvPr id="13" name="bar-label-2">
            <a:extLst xmlns:a="http://schemas.openxmlformats.org/drawingml/2006/main">
              <a:ext uri="{FF2B5EF4-FFF2-40B4-BE49-F238E27FC236}">
                <a16:creationId xmlns:a16="http://schemas.microsoft.com/office/drawing/2014/main" id="{8933186A-BB24-476F-BADB-54F40552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004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B1C21"/>
                </a:solidFill>
              </a:defRPr>
            </a:pPr>
            <a:r>
              <a:rPr sz="1800" b="0">
                <a:solidFill>
                  <a:srgbClr val="1B1C21"/>
                </a:solidFill>
              </a:rPr>
              <a:t>原型与 Agent Workflow</a:t>
            </a:r>
          </a:p>
        </p:txBody>
      </p:sp>
      <p:sp>
        <p:nvSpPr>
          <p:cNvPr id="14" name="bar-bg-2">
            <a:extLst xmlns:a="http://schemas.openxmlformats.org/drawingml/2006/main">
              <a:ext uri="{FF2B5EF4-FFF2-40B4-BE49-F238E27FC236}">
                <a16:creationId xmlns:a16="http://schemas.microsoft.com/office/drawing/2014/main" id="{B5B0EAF9-F8C7-4236-BDF4-FAE5F9AEB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5905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EAED"/>
          </a:solidFill>
          <a:ln xmlns:a="http://schemas.openxmlformats.org/drawingml/2006/main" w="9525">
            <a:solidFill>
              <a:srgbClr val="E8EAED"/>
            </a:solidFill>
            <a:prstDash val="solid"/>
          </a:ln>
        </p:spPr>
      </p:sp>
      <p:sp>
        <p:nvSpPr>
          <p:cNvPr id="15" name="bar-fill-2">
            <a:extLst xmlns:a="http://schemas.openxmlformats.org/drawingml/2006/main">
              <a:ext uri="{FF2B5EF4-FFF2-40B4-BE49-F238E27FC236}">
                <a16:creationId xmlns:a16="http://schemas.microsoft.com/office/drawing/2014/main" id="{C9A987B0-7C38-4CC2-9951-9E3DDFCF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4218214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F4D78"/>
          </a:solidFill>
          <a:ln xmlns:a="http://schemas.openxmlformats.org/drawingml/2006/main" w="9525">
            <a:solidFill>
              <a:srgbClr val="1F4D78"/>
            </a:solidFill>
            <a:prstDash val="solid"/>
          </a:ln>
        </p:spPr>
      </p:sp>
      <p:sp>
        <p:nvSpPr>
          <p:cNvPr id="16" name="bar-value-2">
            <a:extLst xmlns:a="http://schemas.openxmlformats.org/drawingml/2006/main">
              <a:ext uri="{FF2B5EF4-FFF2-40B4-BE49-F238E27FC236}">
                <a16:creationId xmlns:a16="http://schemas.microsoft.com/office/drawing/2014/main" id="{6BC38878-7A8C-41E2-9DDE-28C2C41D5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200400"/>
            <a:ext cx="85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950" b="1">
                <a:solidFill>
                  <a:srgbClr val="1F4D78"/>
                </a:solidFill>
              </a:defRPr>
            </a:pPr>
            <a:r>
              <a:rPr sz="1950" b="1">
                <a:solidFill>
                  <a:srgbClr val="1F4D78"/>
                </a:solidFill>
              </a:rPr>
              <a:t>25%</a:t>
            </a:r>
          </a:p>
        </p:txBody>
      </p:sp>
      <p:sp>
        <p:nvSpPr>
          <p:cNvPr id="17" name="bar-label-3">
            <a:extLst xmlns:a="http://schemas.openxmlformats.org/drawingml/2006/main">
              <a:ext uri="{FF2B5EF4-FFF2-40B4-BE49-F238E27FC236}">
                <a16:creationId xmlns:a16="http://schemas.microsoft.com/office/drawing/2014/main" id="{0FD17386-9D2F-4729-B0BD-EE807993C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910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B1C21"/>
                </a:solidFill>
              </a:defRPr>
            </a:pPr>
            <a:r>
              <a:rPr sz="1800" b="0">
                <a:solidFill>
                  <a:srgbClr val="1B1C21"/>
                </a:solidFill>
              </a:rPr>
              <a:t>表达、伦理与复盘</a:t>
            </a:r>
          </a:p>
        </p:txBody>
      </p:sp>
      <p:sp>
        <p:nvSpPr>
          <p:cNvPr id="18" name="bar-bg-3">
            <a:extLst xmlns:a="http://schemas.openxmlformats.org/drawingml/2006/main">
              <a:ext uri="{FF2B5EF4-FFF2-40B4-BE49-F238E27FC236}">
                <a16:creationId xmlns:a16="http://schemas.microsoft.com/office/drawing/2014/main" id="{C299EB87-3F30-444F-84EC-C32F28186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286250"/>
            <a:ext cx="5905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EAED"/>
          </a:solidFill>
          <a:ln xmlns:a="http://schemas.openxmlformats.org/drawingml/2006/main" w="9525">
            <a:solidFill>
              <a:srgbClr val="E8EAED"/>
            </a:solidFill>
            <a:prstDash val="solid"/>
          </a:ln>
        </p:spPr>
      </p:sp>
      <p:sp>
        <p:nvSpPr>
          <p:cNvPr id="19" name="bar-fill-3">
            <a:extLst xmlns:a="http://schemas.openxmlformats.org/drawingml/2006/main">
              <a:ext uri="{FF2B5EF4-FFF2-40B4-BE49-F238E27FC236}">
                <a16:creationId xmlns:a16="http://schemas.microsoft.com/office/drawing/2014/main" id="{FD2C5836-2909-449F-AD67-5B57E3DB2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286250"/>
            <a:ext cx="3374571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F4D78"/>
          </a:solidFill>
          <a:ln xmlns:a="http://schemas.openxmlformats.org/drawingml/2006/main" w="9525">
            <a:solidFill>
              <a:srgbClr val="1F4D78"/>
            </a:solidFill>
            <a:prstDash val="solid"/>
          </a:ln>
        </p:spPr>
      </p:sp>
      <p:sp>
        <p:nvSpPr>
          <p:cNvPr id="20" name="bar-value-3">
            <a:extLst xmlns:a="http://schemas.openxmlformats.org/drawingml/2006/main">
              <a:ext uri="{FF2B5EF4-FFF2-40B4-BE49-F238E27FC236}">
                <a16:creationId xmlns:a16="http://schemas.microsoft.com/office/drawing/2014/main" id="{1779815A-8239-4CE6-8AE0-EC760808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191000"/>
            <a:ext cx="85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950" b="1">
                <a:solidFill>
                  <a:srgbClr val="1F4D78"/>
                </a:solidFill>
              </a:defRPr>
            </a:pPr>
            <a:r>
              <a:rPr sz="1950" b="1">
                <a:solidFill>
                  <a:srgbClr val="1F4D78"/>
                </a:solidFill>
              </a:rPr>
              <a:t>20%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正式提交只有四次</a:t>
            </a:r>
          </a:p>
        </p:txBody>
      </p:sp>
      <p:sp>
        <p:nvSpPr>
          <p:cNvPr id="5" name="gate-top-0">
            <a:extLst xmlns:a="http://schemas.openxmlformats.org/drawingml/2006/main">
              <a:ext uri="{FF2B5EF4-FFF2-40B4-BE49-F238E27FC236}">
                <a16:creationId xmlns:a16="http://schemas.microsoft.com/office/drawing/2014/main" id="{7FD36A26-A0E9-4B42-A1A5-852C8DBBB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67085"/>
                </a:solidFill>
              </a:defRPr>
            </a:pPr>
            <a:r>
              <a:rPr sz="1650" b="1">
                <a:solidFill>
                  <a:srgbClr val="667085"/>
                </a:solidFill>
              </a:rPr>
              <a:t>第 6 课</a:t>
            </a:r>
          </a:p>
        </p:txBody>
      </p:sp>
      <p:sp>
        <p:nvSpPr>
          <p:cNvPr id="6" name="gate-surface-0">
            <a:extLst xmlns:a="http://schemas.openxmlformats.org/drawingml/2006/main">
              <a:ext uri="{FF2B5EF4-FFF2-40B4-BE49-F238E27FC236}">
                <a16:creationId xmlns:a16="http://schemas.microsoft.com/office/drawing/2014/main" id="{1456052A-F113-4FB1-8EEB-2A6D97188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2476500" cy="17526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7" name="gate-body-0">
            <a:extLst xmlns:a="http://schemas.openxmlformats.org/drawingml/2006/main">
              <a:ext uri="{FF2B5EF4-FFF2-40B4-BE49-F238E27FC236}">
                <a16:creationId xmlns:a16="http://schemas.microsoft.com/office/drawing/2014/main" id="{A6FA00A6-F956-42E7-A9DF-45265DD08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2209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B1C21"/>
                </a:solidFill>
              </a:defRPr>
            </a:pPr>
            <a:r>
              <a:rPr sz="1875" b="1">
                <a:solidFill>
                  <a:srgbClr val="1B1C21"/>
                </a:solidFill>
              </a:rPr>
              <a:t>问题门</a:t>
            </a:r>
          </a:p>
        </p:txBody>
      </p:sp>
      <p:sp>
        <p:nvSpPr>
          <p:cNvPr id="8" name="gate-top-1">
            <a:extLst xmlns:a="http://schemas.openxmlformats.org/drawingml/2006/main">
              <a:ext uri="{FF2B5EF4-FFF2-40B4-BE49-F238E27FC236}">
                <a16:creationId xmlns:a16="http://schemas.microsoft.com/office/drawing/2014/main" id="{7D2F5509-913D-41BE-BE21-339ABD22F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31445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67085"/>
                </a:solidFill>
              </a:defRPr>
            </a:pPr>
            <a:r>
              <a:rPr sz="1650" b="1">
                <a:solidFill>
                  <a:srgbClr val="667085"/>
                </a:solidFill>
              </a:rPr>
              <a:t>第 9 课</a:t>
            </a:r>
          </a:p>
        </p:txBody>
      </p:sp>
      <p:sp>
        <p:nvSpPr>
          <p:cNvPr id="9" name="gate-surface-1">
            <a:extLst xmlns:a="http://schemas.openxmlformats.org/drawingml/2006/main">
              <a:ext uri="{FF2B5EF4-FFF2-40B4-BE49-F238E27FC236}">
                <a16:creationId xmlns:a16="http://schemas.microsoft.com/office/drawing/2014/main" id="{6A684CBD-0C65-4D40-826C-6CF5A463F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85950"/>
            <a:ext cx="2476500" cy="17526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10" name="gate-body-1">
            <a:extLst xmlns:a="http://schemas.openxmlformats.org/drawingml/2006/main">
              <a:ext uri="{FF2B5EF4-FFF2-40B4-BE49-F238E27FC236}">
                <a16:creationId xmlns:a16="http://schemas.microsoft.com/office/drawing/2014/main" id="{ACE4B14F-3A78-4873-803F-8395F920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047875"/>
            <a:ext cx="2209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B1C21"/>
                </a:solidFill>
              </a:defRPr>
            </a:pPr>
            <a:r>
              <a:rPr sz="1875" b="1">
                <a:solidFill>
                  <a:srgbClr val="1B1C21"/>
                </a:solidFill>
              </a:rPr>
              <a:t>判断门</a:t>
            </a:r>
          </a:p>
        </p:txBody>
      </p:sp>
      <p:sp>
        <p:nvSpPr>
          <p:cNvPr id="11" name="gate-top-2">
            <a:extLst xmlns:a="http://schemas.openxmlformats.org/drawingml/2006/main">
              <a:ext uri="{FF2B5EF4-FFF2-40B4-BE49-F238E27FC236}">
                <a16:creationId xmlns:a16="http://schemas.microsoft.com/office/drawing/2014/main" id="{71A8975F-554B-4B27-9CAB-B5EAC45E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31445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67085"/>
                </a:solidFill>
              </a:defRPr>
            </a:pPr>
            <a:r>
              <a:rPr sz="1650" b="1">
                <a:solidFill>
                  <a:srgbClr val="667085"/>
                </a:solidFill>
              </a:rPr>
              <a:t>第 13 课</a:t>
            </a:r>
          </a:p>
        </p:txBody>
      </p:sp>
      <p:sp>
        <p:nvSpPr>
          <p:cNvPr id="12" name="gate-surface-2">
            <a:extLst xmlns:a="http://schemas.openxmlformats.org/drawingml/2006/main">
              <a:ext uri="{FF2B5EF4-FFF2-40B4-BE49-F238E27FC236}">
                <a16:creationId xmlns:a16="http://schemas.microsoft.com/office/drawing/2014/main" id="{B9189C6F-AA05-4D17-9158-02FC63460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885950"/>
            <a:ext cx="2476500" cy="17526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13" name="gate-body-2">
            <a:extLst xmlns:a="http://schemas.openxmlformats.org/drawingml/2006/main">
              <a:ext uri="{FF2B5EF4-FFF2-40B4-BE49-F238E27FC236}">
                <a16:creationId xmlns:a16="http://schemas.microsoft.com/office/drawing/2014/main" id="{4C810CC9-55AE-49F9-AE6F-168167827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47875"/>
            <a:ext cx="2209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B1C21"/>
                </a:solidFill>
              </a:defRPr>
            </a:pPr>
            <a:r>
              <a:rPr sz="1875" b="1">
                <a:solidFill>
                  <a:srgbClr val="1B1C21"/>
                </a:solidFill>
              </a:rPr>
              <a:t>验证门</a:t>
            </a:r>
          </a:p>
        </p:txBody>
      </p:sp>
      <p:sp>
        <p:nvSpPr>
          <p:cNvPr id="14" name="gate-top-3">
            <a:extLst xmlns:a="http://schemas.openxmlformats.org/drawingml/2006/main">
              <a:ext uri="{FF2B5EF4-FFF2-40B4-BE49-F238E27FC236}">
                <a16:creationId xmlns:a16="http://schemas.microsoft.com/office/drawing/2014/main" id="{50222E60-F168-498C-8C0B-47DD1090C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31445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67085"/>
                </a:solidFill>
              </a:defRPr>
            </a:pPr>
            <a:r>
              <a:rPr sz="1650" b="1">
                <a:solidFill>
                  <a:srgbClr val="667085"/>
                </a:solidFill>
              </a:rPr>
              <a:t>第 16 课</a:t>
            </a:r>
          </a:p>
        </p:txBody>
      </p:sp>
      <p:sp>
        <p:nvSpPr>
          <p:cNvPr id="15" name="gate-surface-3">
            <a:extLst xmlns:a="http://schemas.openxmlformats.org/drawingml/2006/main">
              <a:ext uri="{FF2B5EF4-FFF2-40B4-BE49-F238E27FC236}">
                <a16:creationId xmlns:a16="http://schemas.microsoft.com/office/drawing/2014/main" id="{7F557C10-904B-4C4C-9B30-94928F782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885950"/>
            <a:ext cx="2476500" cy="17526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CEDEE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16" name="gate-body-3">
            <a:extLst xmlns:a="http://schemas.openxmlformats.org/drawingml/2006/main">
              <a:ext uri="{FF2B5EF4-FFF2-40B4-BE49-F238E27FC236}">
                <a16:creationId xmlns:a16="http://schemas.microsoft.com/office/drawing/2014/main" id="{415F5768-2F18-451C-BB25-7D6C0513A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047875"/>
            <a:ext cx="2209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</a:rPr>
              <a:t>论证门 + 期末项目</a:t>
            </a:r>
          </a:p>
        </p:txBody>
      </p:sp>
      <p:sp>
        <p:nvSpPr>
          <p:cNvPr id="17" name="content-footer">
            <a:extLst xmlns:a="http://schemas.openxmlformats.org/drawingml/2006/main">
              <a:ext uri="{FF2B5EF4-FFF2-40B4-BE49-F238E27FC236}">
                <a16:creationId xmlns:a16="http://schemas.microsoft.com/office/drawing/2014/main" id="{B7E1BEB5-3729-4F64-8330-CDD1CEB9F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1070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第 8 课分享、第 15 课预检，不新增正式作业。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所有记录回到同一个项目</a:t>
            </a:r>
          </a:p>
        </p:txBody>
      </p:sp>
      <p:sp>
        <p:nvSpPr>
          <p:cNvPr id="5" name="big-statement">
            <a:extLst xmlns:a="http://schemas.openxmlformats.org/drawingml/2006/main">
              <a:ext uri="{FF2B5EF4-FFF2-40B4-BE49-F238E27FC236}">
                <a16:creationId xmlns:a16="http://schemas.microsoft.com/office/drawing/2014/main" id="{0C2B08CF-F5D2-4C8F-AEBA-ABFBC0FFF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19250"/>
            <a:ext cx="9906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1F4D78"/>
                </a:solidFill>
              </a:defRPr>
            </a:pPr>
            <a:r>
              <a:rPr sz="3150" b="1">
                <a:solidFill>
                  <a:srgbClr val="1F4D78"/>
                </a:solidFill>
              </a:rPr>
              <a:t>问题、证据、实验、权限与 AI 使用记录</a:t>
            </a:r>
          </a:p>
          <a:p xmlns:a="http://schemas.openxmlformats.org/drawingml/2006/main">
            <a:pPr algn="ctr">
              <a:defRPr sz="3150" b="1">
                <a:solidFill>
                  <a:srgbClr val="1F4D78"/>
                </a:solidFill>
              </a:defRPr>
            </a:pPr>
            <a:r>
              <a:rPr sz="3150" b="1">
                <a:solidFill>
                  <a:srgbClr val="1F4D78"/>
                </a:solidFill>
              </a:rPr>
              <a:t>持续回写到同一个个人项目</a:t>
            </a:r>
          </a:p>
        </p:txBody>
      </p:sp>
      <p:sp>
        <p:nvSpPr>
          <p:cNvPr id="6" name="content-footer">
            <a:extLst xmlns:a="http://schemas.openxmlformats.org/drawingml/2006/main">
              <a:ext uri="{FF2B5EF4-FFF2-40B4-BE49-F238E27FC236}">
                <a16:creationId xmlns:a16="http://schemas.microsoft.com/office/drawing/2014/main" id="{0BB2A7DE-563A-44F6-AD26-4489F0A7F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1070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形成性练习不逐周正式提交。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OpenCode 是课堂工作平台</a:t>
            </a:r>
          </a:p>
        </p:txBody>
      </p:sp>
      <p:sp>
        <p:nvSpPr>
          <p:cNvPr id="5" name="left-heading">
            <a:extLst xmlns:a="http://schemas.openxmlformats.org/drawingml/2006/main">
              <a:ext uri="{FF2B5EF4-FFF2-40B4-BE49-F238E27FC236}">
                <a16:creationId xmlns:a16="http://schemas.microsoft.com/office/drawing/2014/main" id="{A8B6D1A3-1469-4A76-8B44-BBAF8FAEA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104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</a:rPr>
              <a:t>平台帮助保存</a:t>
            </a:r>
          </a:p>
        </p:txBody>
      </p:sp>
      <p:sp>
        <p:nvSpPr>
          <p:cNvPr id="6" name="right-heading">
            <a:extLst xmlns:a="http://schemas.openxmlformats.org/drawingml/2006/main">
              <a:ext uri="{FF2B5EF4-FFF2-40B4-BE49-F238E27FC236}">
                <a16:creationId xmlns:a16="http://schemas.microsoft.com/office/drawing/2014/main" id="{9E4E4DDA-CA45-4E21-8B07-12EAE978B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104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F4D78"/>
                </a:solidFill>
              </a:defRPr>
            </a:pPr>
            <a:r>
              <a:rPr sz="2025" b="1">
                <a:solidFill>
                  <a:srgbClr val="1F4D78"/>
                </a:solidFill>
              </a:rPr>
              <a:t>课程真正评价</a:t>
            </a:r>
          </a:p>
        </p:txBody>
      </p:sp>
      <p:sp>
        <p:nvSpPr>
          <p:cNvPr id="7" name="column-divider">
            <a:extLst xmlns:a="http://schemas.openxmlformats.org/drawingml/2006/main">
              <a:ext uri="{FF2B5EF4-FFF2-40B4-BE49-F238E27FC236}">
                <a16:creationId xmlns:a16="http://schemas.microsoft.com/office/drawing/2014/main" id="{4C9487C7-6822-4303-A542-80C391862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123950"/>
            <a:ext cx="0" cy="3714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9DD"/>
            </a:solidFill>
            <a:prstDash val="solid"/>
          </a:ln>
        </p:spPr>
      </p:sp>
      <p:sp>
        <p:nvSpPr>
          <p:cNvPr id="8" name="left-body">
            <a:extLst xmlns:a="http://schemas.openxmlformats.org/drawingml/2006/main">
              <a:ext uri="{FF2B5EF4-FFF2-40B4-BE49-F238E27FC236}">
                <a16:creationId xmlns:a16="http://schemas.microsoft.com/office/drawing/2014/main" id="{78D88D3A-9954-4DAB-8658-B561339A7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33550"/>
            <a:ext cx="4762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项目指令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文件 diff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命令结果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运行记录</a:t>
            </a:r>
          </a:p>
        </p:txBody>
      </p:sp>
      <p:sp>
        <p:nvSpPr>
          <p:cNvPr id="9" name="right-body">
            <a:extLst xmlns:a="http://schemas.openxmlformats.org/drawingml/2006/main">
              <a:ext uri="{FF2B5EF4-FFF2-40B4-BE49-F238E27FC236}">
                <a16:creationId xmlns:a16="http://schemas.microsoft.com/office/drawing/2014/main" id="{5844EBFD-A200-43B1-8A5F-2DD2E5592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733550"/>
            <a:ext cx="4762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任务边界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研究判断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核验方法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失败复盘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效率不能突破四条底线</a:t>
            </a:r>
          </a:p>
        </p:txBody>
      </p:sp>
      <p:sp>
        <p:nvSpPr>
          <p:cNvPr id="5" name="four-surface-1">
            <a:extLst xmlns:a="http://schemas.openxmlformats.org/drawingml/2006/main">
              <a:ext uri="{FF2B5EF4-FFF2-40B4-BE49-F238E27FC236}">
                <a16:creationId xmlns:a16="http://schemas.microsoft.com/office/drawing/2014/main" id="{0E9B23B6-18C1-4CE3-B7F3-7CBDC0974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314450"/>
            <a:ext cx="47053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CEDEE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6" name="four-text-1">
            <a:extLst xmlns:a="http://schemas.openxmlformats.org/drawingml/2006/main">
              <a:ext uri="{FF2B5EF4-FFF2-40B4-BE49-F238E27FC236}">
                <a16:creationId xmlns:a16="http://schemas.microsoft.com/office/drawing/2014/main" id="{E38EDE0A-40BF-4C72-B5A6-1DDD4EE7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485900"/>
            <a:ext cx="43243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</a:rPr>
              <a:t>不泄露敏感材料</a:t>
            </a:r>
          </a:p>
        </p:txBody>
      </p:sp>
      <p:sp>
        <p:nvSpPr>
          <p:cNvPr id="7" name="four-surface-2">
            <a:extLst xmlns:a="http://schemas.openxmlformats.org/drawingml/2006/main">
              <a:ext uri="{FF2B5EF4-FFF2-40B4-BE49-F238E27FC236}">
                <a16:creationId xmlns:a16="http://schemas.microsoft.com/office/drawing/2014/main" id="{A278CBE7-F308-4DE9-A4D4-DCC9E0840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314450"/>
            <a:ext cx="47053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8" name="four-text-2">
            <a:extLst xmlns:a="http://schemas.openxmlformats.org/drawingml/2006/main">
              <a:ext uri="{FF2B5EF4-FFF2-40B4-BE49-F238E27FC236}">
                <a16:creationId xmlns:a16="http://schemas.microsoft.com/office/drawing/2014/main" id="{48169CD5-AB04-4D08-B5BB-F9A19DF85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85900"/>
            <a:ext cx="43243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B1C21"/>
                </a:solidFill>
              </a:defRPr>
            </a:pPr>
            <a:r>
              <a:rPr sz="2100" b="1">
                <a:solidFill>
                  <a:srgbClr val="1B1C21"/>
                </a:solidFill>
              </a:rPr>
              <a:t>不伪造证据与数据</a:t>
            </a:r>
          </a:p>
        </p:txBody>
      </p:sp>
      <p:sp>
        <p:nvSpPr>
          <p:cNvPr id="9" name="four-surface-3">
            <a:extLst xmlns:a="http://schemas.openxmlformats.org/drawingml/2006/main">
              <a:ext uri="{FF2B5EF4-FFF2-40B4-BE49-F238E27FC236}">
                <a16:creationId xmlns:a16="http://schemas.microsoft.com/office/drawing/2014/main" id="{12AB5846-F543-4BBB-B1A0-2AC2DB0EB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24200"/>
            <a:ext cx="47053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10" name="four-text-3">
            <a:extLst xmlns:a="http://schemas.openxmlformats.org/drawingml/2006/main">
              <a:ext uri="{FF2B5EF4-FFF2-40B4-BE49-F238E27FC236}">
                <a16:creationId xmlns:a16="http://schemas.microsoft.com/office/drawing/2014/main" id="{C2E4FB2E-F0EA-41C5-93CF-378C0ED4E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43243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B1C21"/>
                </a:solidFill>
              </a:defRPr>
            </a:pPr>
            <a:r>
              <a:rPr sz="2100" b="1">
                <a:solidFill>
                  <a:srgbClr val="1B1C21"/>
                </a:solidFill>
              </a:rPr>
              <a:t>不隐藏 AI 参与</a:t>
            </a:r>
          </a:p>
        </p:txBody>
      </p:sp>
      <p:sp>
        <p:nvSpPr>
          <p:cNvPr id="11" name="four-surface-4">
            <a:extLst xmlns:a="http://schemas.openxmlformats.org/drawingml/2006/main">
              <a:ext uri="{FF2B5EF4-FFF2-40B4-BE49-F238E27FC236}">
                <a16:creationId xmlns:a16="http://schemas.microsoft.com/office/drawing/2014/main" id="{34811D55-4150-4BDB-A3D9-CC41CABB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24200"/>
            <a:ext cx="47053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12" name="four-text-4">
            <a:extLst xmlns:a="http://schemas.openxmlformats.org/drawingml/2006/main">
              <a:ext uri="{FF2B5EF4-FFF2-40B4-BE49-F238E27FC236}">
                <a16:creationId xmlns:a16="http://schemas.microsoft.com/office/drawing/2014/main" id="{9D2CA3DB-1108-4E28-B3C5-ED91BC748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95650"/>
            <a:ext cx="43243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B1C21"/>
                </a:solidFill>
              </a:defRPr>
            </a:pPr>
            <a:r>
              <a:rPr sz="2100" b="1">
                <a:solidFill>
                  <a:srgbClr val="1B1C21"/>
                </a:solidFill>
              </a:rPr>
              <a:t>不越权写入或执行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报告是产物，研究是过程</a:t>
            </a:r>
          </a:p>
        </p:txBody>
      </p:sp>
      <p:sp>
        <p:nvSpPr>
          <p:cNvPr id="5" name="left-heading">
            <a:extLst xmlns:a="http://schemas.openxmlformats.org/drawingml/2006/main">
              <a:ext uri="{FF2B5EF4-FFF2-40B4-BE49-F238E27FC236}">
                <a16:creationId xmlns:a16="http://schemas.microsoft.com/office/drawing/2014/main" id="{8C087789-6B22-4A96-BBC1-82754BED2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104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</a:rPr>
              <a:t>报告只显示</a:t>
            </a:r>
          </a:p>
        </p:txBody>
      </p:sp>
      <p:sp>
        <p:nvSpPr>
          <p:cNvPr id="6" name="right-heading">
            <a:extLst xmlns:a="http://schemas.openxmlformats.org/drawingml/2006/main">
              <a:ext uri="{FF2B5EF4-FFF2-40B4-BE49-F238E27FC236}">
                <a16:creationId xmlns:a16="http://schemas.microsoft.com/office/drawing/2014/main" id="{61D1B2B1-D560-4B2C-BF9A-4DEC605EB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104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F4D78"/>
                </a:solidFill>
              </a:defRPr>
            </a:pPr>
            <a:r>
              <a:rPr sz="2025" b="1">
                <a:solidFill>
                  <a:srgbClr val="1F4D78"/>
                </a:solidFill>
              </a:rPr>
              <a:t>研究还必须显示</a:t>
            </a:r>
          </a:p>
        </p:txBody>
      </p:sp>
      <p:sp>
        <p:nvSpPr>
          <p:cNvPr id="7" name="column-divider">
            <a:extLst xmlns:a="http://schemas.openxmlformats.org/drawingml/2006/main">
              <a:ext uri="{FF2B5EF4-FFF2-40B4-BE49-F238E27FC236}">
                <a16:creationId xmlns:a16="http://schemas.microsoft.com/office/drawing/2014/main" id="{83565E05-5A15-4AC7-B516-6F611079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123950"/>
            <a:ext cx="0" cy="3714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9DD"/>
            </a:solidFill>
            <a:prstDash val="solid"/>
          </a:ln>
        </p:spPr>
      </p:sp>
      <p:sp>
        <p:nvSpPr>
          <p:cNvPr id="8" name="left-body">
            <a:extLst xmlns:a="http://schemas.openxmlformats.org/drawingml/2006/main">
              <a:ext uri="{FF2B5EF4-FFF2-40B4-BE49-F238E27FC236}">
                <a16:creationId xmlns:a16="http://schemas.microsoft.com/office/drawing/2014/main" id="{73A81A37-C93C-4584-90EF-B30E72844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33550"/>
            <a:ext cx="4762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流畅文本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结论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引用列表</a:t>
            </a:r>
          </a:p>
        </p:txBody>
      </p:sp>
      <p:sp>
        <p:nvSpPr>
          <p:cNvPr id="9" name="right-body">
            <a:extLst xmlns:a="http://schemas.openxmlformats.org/drawingml/2006/main">
              <a:ext uri="{FF2B5EF4-FFF2-40B4-BE49-F238E27FC236}">
                <a16:creationId xmlns:a16="http://schemas.microsoft.com/office/drawing/2014/main" id="{F833285D-E6FB-46A2-87D5-7C32FF63F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733550"/>
            <a:ext cx="4762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问题为何值得问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证据支持到哪里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实验如何检验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失败与边界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流畅总结在核验前只是线索</a:t>
            </a:r>
          </a:p>
        </p:txBody>
      </p:sp>
      <p:sp>
        <p:nvSpPr>
          <p:cNvPr id="5" name="big-statement">
            <a:extLst xmlns:a="http://schemas.openxmlformats.org/drawingml/2006/main">
              <a:ext uri="{FF2B5EF4-FFF2-40B4-BE49-F238E27FC236}">
                <a16:creationId xmlns:a16="http://schemas.microsoft.com/office/drawing/2014/main" id="{27828D12-5BF8-4D17-B628-69E7B4E43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19250"/>
            <a:ext cx="9906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1F4D78"/>
                </a:solidFill>
              </a:defRPr>
            </a:pPr>
            <a:r>
              <a:rPr sz="3150" b="1">
                <a:solidFill>
                  <a:srgbClr val="1F4D78"/>
                </a:solidFill>
              </a:rPr>
              <a:t>“结构化阅读卡可以减少 AI 摘要错误。”</a:t>
            </a:r>
          </a:p>
        </p:txBody>
      </p:sp>
      <p:sp>
        <p:nvSpPr>
          <p:cNvPr id="6" name="content-footer">
            <a:extLst xmlns:a="http://schemas.openxmlformats.org/drawingml/2006/main">
              <a:ext uri="{FF2B5EF4-FFF2-40B4-BE49-F238E27FC236}">
                <a16:creationId xmlns:a16="http://schemas.microsoft.com/office/drawing/2014/main" id="{A13F5D8A-A9A9-4659-9A3B-E6CDAFBFE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1070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来源？比较对象？评价指标？适用范围？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八阶段：知道当前在修改什么</a:t>
            </a:r>
          </a:p>
        </p:txBody>
      </p:sp>
      <p:sp>
        <p:nvSpPr>
          <p:cNvPr id="5" name="stage-num-0">
            <a:extLst xmlns:a="http://schemas.openxmlformats.org/drawingml/2006/main">
              <a:ext uri="{FF2B5EF4-FFF2-40B4-BE49-F238E27FC236}">
                <a16:creationId xmlns:a16="http://schemas.microsoft.com/office/drawing/2014/main" id="{4234DDFD-5BAF-4795-80CD-0F11168AC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38112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6" name="stage-text-0">
            <a:extLst xmlns:a="http://schemas.openxmlformats.org/drawingml/2006/main">
              <a:ext uri="{FF2B5EF4-FFF2-40B4-BE49-F238E27FC236}">
                <a16:creationId xmlns:a16="http://schemas.microsoft.com/office/drawing/2014/main" id="{42120CD4-0E9C-4C8A-83EA-94E2D09C9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1381125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B1C21"/>
                </a:solidFill>
              </a:defRPr>
            </a:pPr>
            <a:r>
              <a:rPr sz="1800" b="1">
                <a:solidFill>
                  <a:srgbClr val="1B1C21"/>
                </a:solidFill>
              </a:rPr>
              <a:t>问题定义</a:t>
            </a:r>
          </a:p>
        </p:txBody>
      </p:sp>
      <p:sp>
        <p:nvSpPr>
          <p:cNvPr id="7" name="stage-num-1">
            <a:extLst xmlns:a="http://schemas.openxmlformats.org/drawingml/2006/main">
              <a:ext uri="{FF2B5EF4-FFF2-40B4-BE49-F238E27FC236}">
                <a16:creationId xmlns:a16="http://schemas.microsoft.com/office/drawing/2014/main" id="{59CAEA0B-6D1D-4519-B53F-E12C37ED2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138112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8" name="stage-text-1">
            <a:extLst xmlns:a="http://schemas.openxmlformats.org/drawingml/2006/main">
              <a:ext uri="{FF2B5EF4-FFF2-40B4-BE49-F238E27FC236}">
                <a16:creationId xmlns:a16="http://schemas.microsoft.com/office/drawing/2014/main" id="{FDC3D345-3500-44B1-989D-8EEEA0CC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381125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B1C21"/>
                </a:solidFill>
              </a:defRPr>
            </a:pPr>
            <a:r>
              <a:rPr sz="1800" b="1">
                <a:solidFill>
                  <a:srgbClr val="1B1C21"/>
                </a:solidFill>
              </a:rPr>
              <a:t>第一性原理</a:t>
            </a:r>
          </a:p>
        </p:txBody>
      </p:sp>
      <p:sp>
        <p:nvSpPr>
          <p:cNvPr id="9" name="stage-num-2">
            <a:extLst xmlns:a="http://schemas.openxmlformats.org/drawingml/2006/main">
              <a:ext uri="{FF2B5EF4-FFF2-40B4-BE49-F238E27FC236}">
                <a16:creationId xmlns:a16="http://schemas.microsoft.com/office/drawing/2014/main" id="{2F2297FC-A389-4EDC-B5AF-512D60FE2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138112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0" name="stage-text-2">
            <a:extLst xmlns:a="http://schemas.openxmlformats.org/drawingml/2006/main">
              <a:ext uri="{FF2B5EF4-FFF2-40B4-BE49-F238E27FC236}">
                <a16:creationId xmlns:a16="http://schemas.microsoft.com/office/drawing/2014/main" id="{81B9A066-3B06-417A-B576-DFF80361B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1381125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B1C21"/>
                </a:solidFill>
              </a:defRPr>
            </a:pPr>
            <a:r>
              <a:rPr sz="1800" b="1">
                <a:solidFill>
                  <a:srgbClr val="1B1C21"/>
                </a:solidFill>
              </a:rPr>
              <a:t>机制假设</a:t>
            </a:r>
          </a:p>
        </p:txBody>
      </p:sp>
      <p:sp>
        <p:nvSpPr>
          <p:cNvPr id="11" name="stage-num-3">
            <a:extLst xmlns:a="http://schemas.openxmlformats.org/drawingml/2006/main">
              <a:ext uri="{FF2B5EF4-FFF2-40B4-BE49-F238E27FC236}">
                <a16:creationId xmlns:a16="http://schemas.microsoft.com/office/drawing/2014/main" id="{FC284D95-E64A-4EFE-B156-0256AF69B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138112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2" name="stage-text-3">
            <a:extLst xmlns:a="http://schemas.openxmlformats.org/drawingml/2006/main">
              <a:ext uri="{FF2B5EF4-FFF2-40B4-BE49-F238E27FC236}">
                <a16:creationId xmlns:a16="http://schemas.microsoft.com/office/drawing/2014/main" id="{8A5E0114-2B36-4B01-A8E3-E568B7025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1381125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B1C21"/>
                </a:solidFill>
              </a:defRPr>
            </a:pPr>
            <a:r>
              <a:rPr sz="1800" b="1">
                <a:solidFill>
                  <a:srgbClr val="1B1C21"/>
                </a:solidFill>
              </a:rPr>
              <a:t>外部输入</a:t>
            </a:r>
          </a:p>
        </p:txBody>
      </p:sp>
      <p:sp>
        <p:nvSpPr>
          <p:cNvPr id="13" name="stage-num-4">
            <a:extLst xmlns:a="http://schemas.openxmlformats.org/drawingml/2006/main">
              <a:ext uri="{FF2B5EF4-FFF2-40B4-BE49-F238E27FC236}">
                <a16:creationId xmlns:a16="http://schemas.microsoft.com/office/drawing/2014/main" id="{54414175-CA29-4BDB-9040-29DBBEDA3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19087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14" name="stage-text-4">
            <a:extLst xmlns:a="http://schemas.openxmlformats.org/drawingml/2006/main">
              <a:ext uri="{FF2B5EF4-FFF2-40B4-BE49-F238E27FC236}">
                <a16:creationId xmlns:a16="http://schemas.microsoft.com/office/drawing/2014/main" id="{2D3502E9-BC07-412D-A009-097B89C94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3190875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B1C21"/>
                </a:solidFill>
              </a:defRPr>
            </a:pPr>
            <a:r>
              <a:rPr sz="1800" b="1">
                <a:solidFill>
                  <a:srgbClr val="1B1C21"/>
                </a:solidFill>
              </a:rPr>
              <a:t>证据整理</a:t>
            </a:r>
          </a:p>
        </p:txBody>
      </p:sp>
      <p:sp>
        <p:nvSpPr>
          <p:cNvPr id="15" name="stage-num-5">
            <a:extLst xmlns:a="http://schemas.openxmlformats.org/drawingml/2006/main">
              <a:ext uri="{FF2B5EF4-FFF2-40B4-BE49-F238E27FC236}">
                <a16:creationId xmlns:a16="http://schemas.microsoft.com/office/drawing/2014/main" id="{19D773E8-5DBD-452D-9AFD-9A9769AFC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19087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16" name="stage-text-5">
            <a:extLst xmlns:a="http://schemas.openxmlformats.org/drawingml/2006/main">
              <a:ext uri="{FF2B5EF4-FFF2-40B4-BE49-F238E27FC236}">
                <a16:creationId xmlns:a16="http://schemas.microsoft.com/office/drawing/2014/main" id="{2DFD391E-171C-4C19-B810-02B45D0EA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190875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B1C21"/>
                </a:solidFill>
              </a:defRPr>
            </a:pPr>
            <a:r>
              <a:rPr sz="1800" b="1">
                <a:solidFill>
                  <a:srgbClr val="1B1C21"/>
                </a:solidFill>
              </a:rPr>
              <a:t>研究判断</a:t>
            </a:r>
          </a:p>
        </p:txBody>
      </p:sp>
      <p:sp>
        <p:nvSpPr>
          <p:cNvPr id="17" name="stage-num-6">
            <a:extLst xmlns:a="http://schemas.openxmlformats.org/drawingml/2006/main">
              <a:ext uri="{FF2B5EF4-FFF2-40B4-BE49-F238E27FC236}">
                <a16:creationId xmlns:a16="http://schemas.microsoft.com/office/drawing/2014/main" id="{A913065E-599C-4388-A537-C5023DABF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19087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18" name="stage-text-6">
            <a:extLst xmlns:a="http://schemas.openxmlformats.org/drawingml/2006/main">
              <a:ext uri="{FF2B5EF4-FFF2-40B4-BE49-F238E27FC236}">
                <a16:creationId xmlns:a16="http://schemas.microsoft.com/office/drawing/2014/main" id="{8378E767-9774-4AB3-B98B-DD312B251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190875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B1C21"/>
                </a:solidFill>
              </a:defRPr>
            </a:pPr>
            <a:r>
              <a:rPr sz="1800" b="1">
                <a:solidFill>
                  <a:srgbClr val="1B1C21"/>
                </a:solidFill>
              </a:rPr>
              <a:t>原型验证</a:t>
            </a:r>
          </a:p>
        </p:txBody>
      </p:sp>
      <p:sp>
        <p:nvSpPr>
          <p:cNvPr id="19" name="stage-num-7">
            <a:extLst xmlns:a="http://schemas.openxmlformats.org/drawingml/2006/main">
              <a:ext uri="{FF2B5EF4-FFF2-40B4-BE49-F238E27FC236}">
                <a16:creationId xmlns:a16="http://schemas.microsoft.com/office/drawing/2014/main" id="{7B772FFB-8D38-479A-B73C-EA5A899BC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319087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20" name="stage-text-7">
            <a:extLst xmlns:a="http://schemas.openxmlformats.org/drawingml/2006/main">
              <a:ext uri="{FF2B5EF4-FFF2-40B4-BE49-F238E27FC236}">
                <a16:creationId xmlns:a16="http://schemas.microsoft.com/office/drawing/2014/main" id="{980FCF00-3099-4AE9-8FD3-E3DE1D1E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3190875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B1C21"/>
                </a:solidFill>
              </a:defRPr>
            </a:pPr>
            <a:r>
              <a:rPr sz="1800" b="1">
                <a:solidFill>
                  <a:srgbClr val="1B1C21"/>
                </a:solidFill>
              </a:rPr>
              <a:t>回写表达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阶段 1–2：先问清楚，再检查必要条件</a:t>
            </a:r>
          </a:p>
        </p:txBody>
      </p:sp>
      <p:sp>
        <p:nvSpPr>
          <p:cNvPr id="5" name="left-heading">
            <a:extLst xmlns:a="http://schemas.openxmlformats.org/drawingml/2006/main">
              <a:ext uri="{FF2B5EF4-FFF2-40B4-BE49-F238E27FC236}">
                <a16:creationId xmlns:a16="http://schemas.microsoft.com/office/drawing/2014/main" id="{269D11C1-BEF3-44C9-8454-B503CCCB1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104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</a:rPr>
              <a:t>问题定义</a:t>
            </a:r>
          </a:p>
        </p:txBody>
      </p:sp>
      <p:sp>
        <p:nvSpPr>
          <p:cNvPr id="6" name="right-heading">
            <a:extLst xmlns:a="http://schemas.openxmlformats.org/drawingml/2006/main">
              <a:ext uri="{FF2B5EF4-FFF2-40B4-BE49-F238E27FC236}">
                <a16:creationId xmlns:a16="http://schemas.microsoft.com/office/drawing/2014/main" id="{49D233F7-365C-4444-879D-3052A9E63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104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F4D78"/>
                </a:solidFill>
              </a:defRPr>
            </a:pPr>
            <a:r>
              <a:rPr sz="2025" b="1">
                <a:solidFill>
                  <a:srgbClr val="1F4D78"/>
                </a:solidFill>
              </a:rPr>
              <a:t>第一性原理</a:t>
            </a:r>
          </a:p>
        </p:txBody>
      </p:sp>
      <p:sp>
        <p:nvSpPr>
          <p:cNvPr id="7" name="column-divider">
            <a:extLst xmlns:a="http://schemas.openxmlformats.org/drawingml/2006/main">
              <a:ext uri="{FF2B5EF4-FFF2-40B4-BE49-F238E27FC236}">
                <a16:creationId xmlns:a16="http://schemas.microsoft.com/office/drawing/2014/main" id="{9F8556EC-2AF1-4077-AF57-4C994849A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123950"/>
            <a:ext cx="0" cy="3714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9DD"/>
            </a:solidFill>
            <a:prstDash val="solid"/>
          </a:ln>
        </p:spPr>
      </p:sp>
      <p:sp>
        <p:nvSpPr>
          <p:cNvPr id="8" name="left-body">
            <a:extLst xmlns:a="http://schemas.openxmlformats.org/drawingml/2006/main">
              <a:ext uri="{FF2B5EF4-FFF2-40B4-BE49-F238E27FC236}">
                <a16:creationId xmlns:a16="http://schemas.microsoft.com/office/drawing/2014/main" id="{BB395808-D82A-487F-9158-70AF1053E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33550"/>
            <a:ext cx="4762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研究什么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不研究什么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怎样算改善</a:t>
            </a:r>
          </a:p>
        </p:txBody>
      </p:sp>
      <p:sp>
        <p:nvSpPr>
          <p:cNvPr id="9" name="right-body">
            <a:extLst xmlns:a="http://schemas.openxmlformats.org/drawingml/2006/main">
              <a:ext uri="{FF2B5EF4-FFF2-40B4-BE49-F238E27FC236}">
                <a16:creationId xmlns:a16="http://schemas.microsoft.com/office/drawing/2014/main" id="{E3112B2F-6C60-4E08-B775-AC5870A5D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733550"/>
            <a:ext cx="4762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主张成立需要什么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哪些约束不可绕过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什么结果会反驳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阶段 3–4：机制假设与外部输入</a:t>
            </a:r>
          </a:p>
        </p:txBody>
      </p:sp>
      <p:sp>
        <p:nvSpPr>
          <p:cNvPr id="5" name="left-heading">
            <a:extLst xmlns:a="http://schemas.openxmlformats.org/drawingml/2006/main">
              <a:ext uri="{FF2B5EF4-FFF2-40B4-BE49-F238E27FC236}">
                <a16:creationId xmlns:a16="http://schemas.microsoft.com/office/drawing/2014/main" id="{C3C507D4-FF39-4E5D-9B62-D755AA137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104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</a:rPr>
              <a:t>机制假设</a:t>
            </a:r>
          </a:p>
        </p:txBody>
      </p:sp>
      <p:sp>
        <p:nvSpPr>
          <p:cNvPr id="6" name="right-heading">
            <a:extLst xmlns:a="http://schemas.openxmlformats.org/drawingml/2006/main">
              <a:ext uri="{FF2B5EF4-FFF2-40B4-BE49-F238E27FC236}">
                <a16:creationId xmlns:a16="http://schemas.microsoft.com/office/drawing/2014/main" id="{7B12F9C3-0A7A-4DEC-B168-7C6A5F04A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104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F4D78"/>
                </a:solidFill>
              </a:defRPr>
            </a:pPr>
            <a:r>
              <a:rPr sz="2025" b="1">
                <a:solidFill>
                  <a:srgbClr val="1F4D78"/>
                </a:solidFill>
              </a:rPr>
              <a:t>外部输入</a:t>
            </a:r>
          </a:p>
        </p:txBody>
      </p:sp>
      <p:sp>
        <p:nvSpPr>
          <p:cNvPr id="7" name="column-divider">
            <a:extLst xmlns:a="http://schemas.openxmlformats.org/drawingml/2006/main">
              <a:ext uri="{FF2B5EF4-FFF2-40B4-BE49-F238E27FC236}">
                <a16:creationId xmlns:a16="http://schemas.microsoft.com/office/drawing/2014/main" id="{DF69B054-BE30-49BB-A4FD-3EB798BEB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123950"/>
            <a:ext cx="0" cy="3714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9DD"/>
            </a:solidFill>
            <a:prstDash val="solid"/>
          </a:ln>
        </p:spPr>
      </p:sp>
      <p:sp>
        <p:nvSpPr>
          <p:cNvPr id="8" name="left-body">
            <a:extLst xmlns:a="http://schemas.openxmlformats.org/drawingml/2006/main">
              <a:ext uri="{FF2B5EF4-FFF2-40B4-BE49-F238E27FC236}">
                <a16:creationId xmlns:a16="http://schemas.microsoft.com/office/drawing/2014/main" id="{744753B3-C512-4973-ACB9-7BD0CE65E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33550"/>
            <a:ext cx="4762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为什么可能有效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作用路径是什么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哪些预测可检验</a:t>
            </a:r>
          </a:p>
        </p:txBody>
      </p:sp>
      <p:sp>
        <p:nvSpPr>
          <p:cNvPr id="9" name="right-body">
            <a:extLst xmlns:a="http://schemas.openxmlformats.org/drawingml/2006/main">
              <a:ext uri="{FF2B5EF4-FFF2-40B4-BE49-F238E27FC236}">
                <a16:creationId xmlns:a16="http://schemas.microsoft.com/office/drawing/2014/main" id="{8904E8BE-E064-40E7-9E94-C3F9955E2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733550"/>
            <a:ext cx="4762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论文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代码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数据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观察</a:t>
            </a:r>
          </a:p>
        </p:txBody>
      </p:sp>
      <p:sp>
        <p:nvSpPr>
          <p:cNvPr id="10" name="content-footer">
            <a:extLst xmlns:a="http://schemas.openxmlformats.org/drawingml/2006/main">
              <a:ext uri="{FF2B5EF4-FFF2-40B4-BE49-F238E27FC236}">
                <a16:creationId xmlns:a16="http://schemas.microsoft.com/office/drawing/2014/main" id="{BA327F74-3ADC-4E44-BE27-D6C6CEA5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1070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AI 建议产生候选，不替代机制判断。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阶段 5–6：证据与判断</a:t>
            </a:r>
          </a:p>
        </p:txBody>
      </p:sp>
      <p:sp>
        <p:nvSpPr>
          <p:cNvPr id="5" name="left-heading">
            <a:extLst xmlns:a="http://schemas.openxmlformats.org/drawingml/2006/main">
              <a:ext uri="{FF2B5EF4-FFF2-40B4-BE49-F238E27FC236}">
                <a16:creationId xmlns:a16="http://schemas.microsoft.com/office/drawing/2014/main" id="{C5536ADA-DB80-4BEA-9015-ABA1EDCA8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104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</a:rPr>
              <a:t>证据整理</a:t>
            </a:r>
          </a:p>
        </p:txBody>
      </p:sp>
      <p:sp>
        <p:nvSpPr>
          <p:cNvPr id="6" name="right-heading">
            <a:extLst xmlns:a="http://schemas.openxmlformats.org/drawingml/2006/main">
              <a:ext uri="{FF2B5EF4-FFF2-40B4-BE49-F238E27FC236}">
                <a16:creationId xmlns:a16="http://schemas.microsoft.com/office/drawing/2014/main" id="{4F27B6CA-B3FE-4484-B2AF-2B44BD0DB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104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F4D78"/>
                </a:solidFill>
              </a:defRPr>
            </a:pPr>
            <a:r>
              <a:rPr sz="2025" b="1">
                <a:solidFill>
                  <a:srgbClr val="1F4D78"/>
                </a:solidFill>
              </a:rPr>
              <a:t>研究判断</a:t>
            </a:r>
          </a:p>
        </p:txBody>
      </p:sp>
      <p:sp>
        <p:nvSpPr>
          <p:cNvPr id="7" name="column-divider">
            <a:extLst xmlns:a="http://schemas.openxmlformats.org/drawingml/2006/main">
              <a:ext uri="{FF2B5EF4-FFF2-40B4-BE49-F238E27FC236}">
                <a16:creationId xmlns:a16="http://schemas.microsoft.com/office/drawing/2014/main" id="{5FD80794-6ACB-4CE0-982C-AB142C8DA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123950"/>
            <a:ext cx="0" cy="3714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9DD"/>
            </a:solidFill>
            <a:prstDash val="solid"/>
          </a:ln>
        </p:spPr>
      </p:sp>
      <p:sp>
        <p:nvSpPr>
          <p:cNvPr id="8" name="left-body">
            <a:extLst xmlns:a="http://schemas.openxmlformats.org/drawingml/2006/main">
              <a:ext uri="{FF2B5EF4-FFF2-40B4-BE49-F238E27FC236}">
                <a16:creationId xmlns:a16="http://schemas.microsoft.com/office/drawing/2014/main" id="{65E521C6-7D06-489D-8B8D-9F5964DFC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33550"/>
            <a:ext cx="4762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支持什么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反驳什么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仍不能判断什么</a:t>
            </a:r>
          </a:p>
        </p:txBody>
      </p:sp>
      <p:sp>
        <p:nvSpPr>
          <p:cNvPr id="9" name="right-body">
            <a:extLst xmlns:a="http://schemas.openxmlformats.org/drawingml/2006/main">
              <a:ext uri="{FF2B5EF4-FFF2-40B4-BE49-F238E27FC236}">
                <a16:creationId xmlns:a16="http://schemas.microsoft.com/office/drawing/2014/main" id="{39B3DBA4-0C87-4090-A111-F55C2BAEF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733550"/>
            <a:ext cx="4762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现在做什么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为什么这样取舍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边界与待验证项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阶段 7–8：实验、回写与表达</a:t>
            </a:r>
          </a:p>
        </p:txBody>
      </p:sp>
      <p:sp>
        <p:nvSpPr>
          <p:cNvPr id="5" name="left-heading">
            <a:extLst xmlns:a="http://schemas.openxmlformats.org/drawingml/2006/main">
              <a:ext uri="{FF2B5EF4-FFF2-40B4-BE49-F238E27FC236}">
                <a16:creationId xmlns:a16="http://schemas.microsoft.com/office/drawing/2014/main" id="{B0536081-28FB-448C-9D8F-83A9873FA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104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</a:rPr>
              <a:t>原型验证</a:t>
            </a:r>
          </a:p>
        </p:txBody>
      </p:sp>
      <p:sp>
        <p:nvSpPr>
          <p:cNvPr id="6" name="right-heading">
            <a:extLst xmlns:a="http://schemas.openxmlformats.org/drawingml/2006/main">
              <a:ext uri="{FF2B5EF4-FFF2-40B4-BE49-F238E27FC236}">
                <a16:creationId xmlns:a16="http://schemas.microsoft.com/office/drawing/2014/main" id="{DBF38690-2AC2-4E27-A307-762319BAD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104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F4D78"/>
                </a:solidFill>
              </a:defRPr>
            </a:pPr>
            <a:r>
              <a:rPr sz="2025" b="1">
                <a:solidFill>
                  <a:srgbClr val="1F4D78"/>
                </a:solidFill>
              </a:rPr>
              <a:t>回写与表达</a:t>
            </a:r>
          </a:p>
        </p:txBody>
      </p:sp>
      <p:sp>
        <p:nvSpPr>
          <p:cNvPr id="7" name="column-divider">
            <a:extLst xmlns:a="http://schemas.openxmlformats.org/drawingml/2006/main">
              <a:ext uri="{FF2B5EF4-FFF2-40B4-BE49-F238E27FC236}">
                <a16:creationId xmlns:a16="http://schemas.microsoft.com/office/drawing/2014/main" id="{2E7C7235-C9D9-4742-9A27-38F8EE0D1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123950"/>
            <a:ext cx="0" cy="3714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9DD"/>
            </a:solidFill>
            <a:prstDash val="solid"/>
          </a:ln>
        </p:spPr>
      </p:sp>
      <p:sp>
        <p:nvSpPr>
          <p:cNvPr id="8" name="left-body">
            <a:extLst xmlns:a="http://schemas.openxmlformats.org/drawingml/2006/main">
              <a:ext uri="{FF2B5EF4-FFF2-40B4-BE49-F238E27FC236}">
                <a16:creationId xmlns:a16="http://schemas.microsoft.com/office/drawing/2014/main" id="{ADC90844-A264-452F-9039-AEA30EF1E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33550"/>
            <a:ext cx="4762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baseline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指标与预算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停止条件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失败记录</a:t>
            </a:r>
          </a:p>
        </p:txBody>
      </p:sp>
      <p:sp>
        <p:nvSpPr>
          <p:cNvPr id="9" name="right-body">
            <a:extLst xmlns:a="http://schemas.openxmlformats.org/drawingml/2006/main">
              <a:ext uri="{FF2B5EF4-FFF2-40B4-BE49-F238E27FC236}">
                <a16:creationId xmlns:a16="http://schemas.microsoft.com/office/drawing/2014/main" id="{0DF4E4BE-52E8-48E9-B5AB-20C17DE73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733550"/>
            <a:ext cx="4762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更新假设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更新证据状态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收紧结论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说明限制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八阶段是带记录的回退</a:t>
            </a:r>
          </a:p>
        </p:txBody>
      </p:sp>
      <p:sp>
        <p:nvSpPr>
          <p:cNvPr id="5" name="loop-0">
            <a:extLst xmlns:a="http://schemas.openxmlformats.org/drawingml/2006/main">
              <a:ext uri="{FF2B5EF4-FFF2-40B4-BE49-F238E27FC236}">
                <a16:creationId xmlns:a16="http://schemas.microsoft.com/office/drawing/2014/main" id="{7DB39E51-0620-46FD-BCB2-06DB0AAF8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381125"/>
            <a:ext cx="20002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CEDEE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6" name="loop-text-0">
            <a:extLst xmlns:a="http://schemas.openxmlformats.org/drawingml/2006/main">
              <a:ext uri="{FF2B5EF4-FFF2-40B4-BE49-F238E27FC236}">
                <a16:creationId xmlns:a16="http://schemas.microsoft.com/office/drawing/2014/main" id="{5EB32495-3146-4263-8DE7-3993F474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1457325"/>
            <a:ext cx="190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</a:rPr>
              <a:t>问题</a:t>
            </a:r>
          </a:p>
        </p:txBody>
      </p:sp>
      <p:sp>
        <p:nvSpPr>
          <p:cNvPr id="7" name="loop-1">
            <a:extLst xmlns:a="http://schemas.openxmlformats.org/drawingml/2006/main">
              <a:ext uri="{FF2B5EF4-FFF2-40B4-BE49-F238E27FC236}">
                <a16:creationId xmlns:a16="http://schemas.microsoft.com/office/drawing/2014/main" id="{E440D6B3-361C-4288-B210-B24B47C10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143000"/>
            <a:ext cx="20002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8" name="loop-text-1">
            <a:extLst xmlns:a="http://schemas.openxmlformats.org/drawingml/2006/main">
              <a:ext uri="{FF2B5EF4-FFF2-40B4-BE49-F238E27FC236}">
                <a16:creationId xmlns:a16="http://schemas.microsoft.com/office/drawing/2014/main" id="{58CBA5DD-4A64-441C-BCD9-2E56B29C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219200"/>
            <a:ext cx="190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B1C21"/>
                </a:solidFill>
              </a:defRPr>
            </a:pPr>
            <a:r>
              <a:rPr sz="1800" b="1">
                <a:solidFill>
                  <a:srgbClr val="1B1C21"/>
                </a:solidFill>
              </a:rPr>
              <a:t>假设</a:t>
            </a:r>
          </a:p>
        </p:txBody>
      </p:sp>
      <p:sp>
        <p:nvSpPr>
          <p:cNvPr id="9" name="loop-2">
            <a:extLst xmlns:a="http://schemas.openxmlformats.org/drawingml/2006/main">
              <a:ext uri="{FF2B5EF4-FFF2-40B4-BE49-F238E27FC236}">
                <a16:creationId xmlns:a16="http://schemas.microsoft.com/office/drawing/2014/main" id="{02FF0F97-F4C7-4CA7-9481-3F092484B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381125"/>
            <a:ext cx="20002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10" name="loop-text-2">
            <a:extLst xmlns:a="http://schemas.openxmlformats.org/drawingml/2006/main">
              <a:ext uri="{FF2B5EF4-FFF2-40B4-BE49-F238E27FC236}">
                <a16:creationId xmlns:a16="http://schemas.microsoft.com/office/drawing/2014/main" id="{4635C868-DF85-4F44-BFED-82610CD1D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457325"/>
            <a:ext cx="190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B1C21"/>
                </a:solidFill>
              </a:defRPr>
            </a:pPr>
            <a:r>
              <a:rPr sz="1800" b="1">
                <a:solidFill>
                  <a:srgbClr val="1B1C21"/>
                </a:solidFill>
              </a:rPr>
              <a:t>证据</a:t>
            </a:r>
          </a:p>
        </p:txBody>
      </p:sp>
      <p:sp>
        <p:nvSpPr>
          <p:cNvPr id="11" name="loop-3">
            <a:extLst xmlns:a="http://schemas.openxmlformats.org/drawingml/2006/main">
              <a:ext uri="{FF2B5EF4-FFF2-40B4-BE49-F238E27FC236}">
                <a16:creationId xmlns:a16="http://schemas.microsoft.com/office/drawing/2014/main" id="{A96E7868-39C6-4DE5-8B54-A661C0D43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0"/>
            <a:ext cx="20002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12" name="loop-text-3">
            <a:extLst xmlns:a="http://schemas.openxmlformats.org/drawingml/2006/main">
              <a:ext uri="{FF2B5EF4-FFF2-40B4-BE49-F238E27FC236}">
                <a16:creationId xmlns:a16="http://schemas.microsoft.com/office/drawing/2014/main" id="{99FC19EC-3402-44D8-B11B-E22C25BF1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314700"/>
            <a:ext cx="190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B1C21"/>
                </a:solidFill>
              </a:defRPr>
            </a:pPr>
            <a:r>
              <a:rPr sz="1800" b="1">
                <a:solidFill>
                  <a:srgbClr val="1B1C21"/>
                </a:solidFill>
              </a:rPr>
              <a:t>判断</a:t>
            </a:r>
          </a:p>
        </p:txBody>
      </p:sp>
      <p:sp>
        <p:nvSpPr>
          <p:cNvPr id="13" name="loop-4">
            <a:extLst xmlns:a="http://schemas.openxmlformats.org/drawingml/2006/main">
              <a:ext uri="{FF2B5EF4-FFF2-40B4-BE49-F238E27FC236}">
                <a16:creationId xmlns:a16="http://schemas.microsoft.com/office/drawing/2014/main" id="{925A4046-42FA-4BD1-BAC0-BEC3F41B3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714750"/>
            <a:ext cx="20002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14" name="loop-text-4">
            <a:extLst xmlns:a="http://schemas.openxmlformats.org/drawingml/2006/main">
              <a:ext uri="{FF2B5EF4-FFF2-40B4-BE49-F238E27FC236}">
                <a16:creationId xmlns:a16="http://schemas.microsoft.com/office/drawing/2014/main" id="{98A3FDA8-C5EB-433A-8582-3033BF966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790950"/>
            <a:ext cx="190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B1C21"/>
                </a:solidFill>
              </a:defRPr>
            </a:pPr>
            <a:r>
              <a:rPr sz="1800" b="1">
                <a:solidFill>
                  <a:srgbClr val="1B1C21"/>
                </a:solidFill>
              </a:rPr>
              <a:t>实验</a:t>
            </a:r>
          </a:p>
        </p:txBody>
      </p:sp>
      <p:sp>
        <p:nvSpPr>
          <p:cNvPr id="15" name="loop-5">
            <a:extLst xmlns:a="http://schemas.openxmlformats.org/drawingml/2006/main">
              <a:ext uri="{FF2B5EF4-FFF2-40B4-BE49-F238E27FC236}">
                <a16:creationId xmlns:a16="http://schemas.microsoft.com/office/drawing/2014/main" id="{593717AA-A160-47EF-85DB-3C11E337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238500"/>
            <a:ext cx="20002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16" name="loop-text-5">
            <a:extLst xmlns:a="http://schemas.openxmlformats.org/drawingml/2006/main">
              <a:ext uri="{FF2B5EF4-FFF2-40B4-BE49-F238E27FC236}">
                <a16:creationId xmlns:a16="http://schemas.microsoft.com/office/drawing/2014/main" id="{3DDAE170-412A-4E5C-9B85-13791DCC7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314700"/>
            <a:ext cx="190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B1C21"/>
                </a:solidFill>
              </a:defRPr>
            </a:pPr>
            <a:r>
              <a:rPr sz="1800" b="1">
                <a:solidFill>
                  <a:srgbClr val="1B1C21"/>
                </a:solidFill>
              </a:rPr>
              <a:t>回写</a:t>
            </a:r>
          </a:p>
        </p:txBody>
      </p:sp>
      <p:sp>
        <p:nvSpPr>
          <p:cNvPr id="17" name="loop-arrows">
            <a:extLst xmlns:a="http://schemas.openxmlformats.org/drawingml/2006/main">
              <a:ext uri="{FF2B5EF4-FFF2-40B4-BE49-F238E27FC236}">
                <a16:creationId xmlns:a16="http://schemas.microsoft.com/office/drawing/2014/main" id="{0A8FF0A0-95DC-4B7B-A7F0-D8F692AFC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733550"/>
            <a:ext cx="4667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0">
                <a:solidFill>
                  <a:srgbClr val="667085"/>
                </a:solidFill>
              </a:defRPr>
            </a:pPr>
            <a:r>
              <a:rPr sz="2550" b="0">
                <a:solidFill>
                  <a:srgbClr val="667085"/>
                </a:solidFill>
              </a:rPr>
              <a:t>→        →        ↓</a:t>
            </a:r>
          </a:p>
          <a:p xmlns:a="http://schemas.openxmlformats.org/drawingml/2006/main">
            <a:pPr algn="ctr">
              <a:defRPr sz="2550" b="0">
                <a:solidFill>
                  <a:srgbClr val="667085"/>
                </a:solidFill>
              </a:defRPr>
            </a:pPr>
            <a:r>
              <a:rPr sz="2550" b="0">
                <a:solidFill>
                  <a:srgbClr val="667085"/>
                </a:solidFill>
              </a:rPr>
              <a:t>↑                         ↓</a:t>
            </a:r>
          </a:p>
          <a:p xmlns:a="http://schemas.openxmlformats.org/drawingml/2006/main">
            <a:pPr algn="ctr">
              <a:defRPr sz="2550" b="0">
                <a:solidFill>
                  <a:srgbClr val="667085"/>
                </a:solidFill>
              </a:defRPr>
            </a:pPr>
            <a:r>
              <a:rPr sz="2550" b="0">
                <a:solidFill>
                  <a:srgbClr val="667085"/>
                </a:solidFill>
              </a:rPr>
              <a:t>←        ←</a:t>
            </a:r>
          </a:p>
        </p:txBody>
      </p:sp>
      <p:sp>
        <p:nvSpPr>
          <p:cNvPr id="18" name="content-footer">
            <a:extLst xmlns:a="http://schemas.openxmlformats.org/drawingml/2006/main">
              <a:ext uri="{FF2B5EF4-FFF2-40B4-BE49-F238E27FC236}">
                <a16:creationId xmlns:a16="http://schemas.microsoft.com/office/drawing/2014/main" id="{2FB147F5-5104-4BB1-8231-84C9B7B7B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1070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可以回退，但每次回退都留下理由和变化。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四个研究门防止错误累积</a:t>
            </a:r>
          </a:p>
        </p:txBody>
      </p:sp>
      <p:sp>
        <p:nvSpPr>
          <p:cNvPr id="5" name="gate-top-0">
            <a:extLst xmlns:a="http://schemas.openxmlformats.org/drawingml/2006/main">
              <a:ext uri="{FF2B5EF4-FFF2-40B4-BE49-F238E27FC236}">
                <a16:creationId xmlns:a16="http://schemas.microsoft.com/office/drawing/2014/main" id="{FFE8A181-FBDF-44F3-9FFF-E913C4A8D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67085"/>
                </a:solidFill>
              </a:defRPr>
            </a:pPr>
            <a:r>
              <a:rPr sz="1650" b="1">
                <a:solidFill>
                  <a:srgbClr val="667085"/>
                </a:solidFill>
              </a:rPr>
              <a:t>问题门</a:t>
            </a:r>
          </a:p>
        </p:txBody>
      </p:sp>
      <p:sp>
        <p:nvSpPr>
          <p:cNvPr id="6" name="gate-surface-0">
            <a:extLst xmlns:a="http://schemas.openxmlformats.org/drawingml/2006/main">
              <a:ext uri="{FF2B5EF4-FFF2-40B4-BE49-F238E27FC236}">
                <a16:creationId xmlns:a16="http://schemas.microsoft.com/office/drawing/2014/main" id="{ADB3FD54-765D-4529-A7FD-CC62C6F0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2476500" cy="17526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7" name="gate-body-0">
            <a:extLst xmlns:a="http://schemas.openxmlformats.org/drawingml/2006/main">
              <a:ext uri="{FF2B5EF4-FFF2-40B4-BE49-F238E27FC236}">
                <a16:creationId xmlns:a16="http://schemas.microsoft.com/office/drawing/2014/main" id="{EF11A1F8-EA03-4B6D-A30F-7CBC7D012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2209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B1C21"/>
                </a:solidFill>
              </a:defRPr>
            </a:pPr>
            <a:r>
              <a:rPr sz="1875" b="1">
                <a:solidFill>
                  <a:srgbClr val="1B1C21"/>
                </a:solidFill>
              </a:rPr>
              <a:t>值得问、问得清、做得完</a:t>
            </a:r>
          </a:p>
        </p:txBody>
      </p:sp>
      <p:sp>
        <p:nvSpPr>
          <p:cNvPr id="8" name="gate-top-1">
            <a:extLst xmlns:a="http://schemas.openxmlformats.org/drawingml/2006/main">
              <a:ext uri="{FF2B5EF4-FFF2-40B4-BE49-F238E27FC236}">
                <a16:creationId xmlns:a16="http://schemas.microsoft.com/office/drawing/2014/main" id="{2536F7E5-2E9E-4843-92CF-938424479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31445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67085"/>
                </a:solidFill>
              </a:defRPr>
            </a:pPr>
            <a:r>
              <a:rPr sz="1650" b="1">
                <a:solidFill>
                  <a:srgbClr val="667085"/>
                </a:solidFill>
              </a:rPr>
              <a:t>判断门</a:t>
            </a:r>
          </a:p>
        </p:txBody>
      </p:sp>
      <p:sp>
        <p:nvSpPr>
          <p:cNvPr id="9" name="gate-surface-1">
            <a:extLst xmlns:a="http://schemas.openxmlformats.org/drawingml/2006/main">
              <a:ext uri="{FF2B5EF4-FFF2-40B4-BE49-F238E27FC236}">
                <a16:creationId xmlns:a16="http://schemas.microsoft.com/office/drawing/2014/main" id="{9EC97F6C-C40A-49AB-9B24-48D81DA22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85950"/>
            <a:ext cx="2476500" cy="17526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10" name="gate-body-1">
            <a:extLst xmlns:a="http://schemas.openxmlformats.org/drawingml/2006/main">
              <a:ext uri="{FF2B5EF4-FFF2-40B4-BE49-F238E27FC236}">
                <a16:creationId xmlns:a16="http://schemas.microsoft.com/office/drawing/2014/main" id="{98956F71-EFA1-485A-A28A-FE3221B3A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047875"/>
            <a:ext cx="2209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B1C21"/>
                </a:solidFill>
              </a:defRPr>
            </a:pPr>
            <a:r>
              <a:rPr sz="1875" b="1">
                <a:solidFill>
                  <a:srgbClr val="1B1C21"/>
                </a:solidFill>
              </a:rPr>
              <a:t>判断有依据、实验可检验</a:t>
            </a:r>
          </a:p>
        </p:txBody>
      </p:sp>
      <p:sp>
        <p:nvSpPr>
          <p:cNvPr id="11" name="gate-top-2">
            <a:extLst xmlns:a="http://schemas.openxmlformats.org/drawingml/2006/main">
              <a:ext uri="{FF2B5EF4-FFF2-40B4-BE49-F238E27FC236}">
                <a16:creationId xmlns:a16="http://schemas.microsoft.com/office/drawing/2014/main" id="{41E8105A-0C6A-430C-BD54-E97FB383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31445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67085"/>
                </a:solidFill>
              </a:defRPr>
            </a:pPr>
            <a:r>
              <a:rPr sz="1650" b="1">
                <a:solidFill>
                  <a:srgbClr val="667085"/>
                </a:solidFill>
              </a:rPr>
              <a:t>验证门</a:t>
            </a:r>
          </a:p>
        </p:txBody>
      </p:sp>
      <p:sp>
        <p:nvSpPr>
          <p:cNvPr id="12" name="gate-surface-2">
            <a:extLst xmlns:a="http://schemas.openxmlformats.org/drawingml/2006/main">
              <a:ext uri="{FF2B5EF4-FFF2-40B4-BE49-F238E27FC236}">
                <a16:creationId xmlns:a16="http://schemas.microsoft.com/office/drawing/2014/main" id="{9B74FBE0-3CB0-489D-8850-B635E9EFB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885950"/>
            <a:ext cx="2476500" cy="17526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13" name="gate-body-2">
            <a:extLst xmlns:a="http://schemas.openxmlformats.org/drawingml/2006/main">
              <a:ext uri="{FF2B5EF4-FFF2-40B4-BE49-F238E27FC236}">
                <a16:creationId xmlns:a16="http://schemas.microsoft.com/office/drawing/2014/main" id="{576553CE-143E-4A7E-8EF1-F06B76F1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47875"/>
            <a:ext cx="2209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B1C21"/>
                </a:solidFill>
              </a:defRPr>
            </a:pPr>
            <a:r>
              <a:rPr sz="1875" b="1">
                <a:solidFill>
                  <a:srgbClr val="1B1C21"/>
                </a:solidFill>
              </a:rPr>
              <a:t>结果可复核、失败未隐藏</a:t>
            </a:r>
          </a:p>
        </p:txBody>
      </p:sp>
      <p:sp>
        <p:nvSpPr>
          <p:cNvPr id="14" name="gate-top-3">
            <a:extLst xmlns:a="http://schemas.openxmlformats.org/drawingml/2006/main">
              <a:ext uri="{FF2B5EF4-FFF2-40B4-BE49-F238E27FC236}">
                <a16:creationId xmlns:a16="http://schemas.microsoft.com/office/drawing/2014/main" id="{432B0978-9C07-4D45-B40F-63C85F9E1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31445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67085"/>
                </a:solidFill>
              </a:defRPr>
            </a:pPr>
            <a:r>
              <a:rPr sz="1650" b="1">
                <a:solidFill>
                  <a:srgbClr val="667085"/>
                </a:solidFill>
              </a:rPr>
              <a:t>论证门</a:t>
            </a:r>
          </a:p>
        </p:txBody>
      </p:sp>
      <p:sp>
        <p:nvSpPr>
          <p:cNvPr id="15" name="gate-surface-3">
            <a:extLst xmlns:a="http://schemas.openxmlformats.org/drawingml/2006/main">
              <a:ext uri="{FF2B5EF4-FFF2-40B4-BE49-F238E27FC236}">
                <a16:creationId xmlns:a16="http://schemas.microsoft.com/office/drawing/2014/main" id="{BD954831-6B00-4100-849D-F2DB1059D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885950"/>
            <a:ext cx="2476500" cy="17526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CEDEE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16" name="gate-body-3">
            <a:extLst xmlns:a="http://schemas.openxmlformats.org/drawingml/2006/main">
              <a:ext uri="{FF2B5EF4-FFF2-40B4-BE49-F238E27FC236}">
                <a16:creationId xmlns:a16="http://schemas.microsoft.com/office/drawing/2014/main" id="{577A6516-FB94-49B5-A4BD-16EEC7B43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047875"/>
            <a:ext cx="2209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</a:rPr>
              <a:t>主张、证据、边界与披露完整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可追溯性支持反向检查</a:t>
            </a:r>
          </a:p>
        </p:txBody>
      </p:sp>
      <p:sp>
        <p:nvSpPr>
          <p:cNvPr id="5" name="flow-1">
            <a:extLst xmlns:a="http://schemas.openxmlformats.org/drawingml/2006/main">
              <a:ext uri="{FF2B5EF4-FFF2-40B4-BE49-F238E27FC236}">
                <a16:creationId xmlns:a16="http://schemas.microsoft.com/office/drawing/2014/main" id="{709EC117-D46D-4897-92B2-C9BC5D9CD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19202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CEDEE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6" name="flow-label-1">
            <a:extLst xmlns:a="http://schemas.openxmlformats.org/drawingml/2006/main">
              <a:ext uri="{FF2B5EF4-FFF2-40B4-BE49-F238E27FC236}">
                <a16:creationId xmlns:a16="http://schemas.microsoft.com/office/drawing/2014/main" id="{F788834A-2F1F-45FF-8D8A-F1BC6A62C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90750"/>
            <a:ext cx="184404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</a:rPr>
              <a:t>结论</a:t>
            </a:r>
          </a:p>
        </p:txBody>
      </p:sp>
      <p:sp>
        <p:nvSpPr>
          <p:cNvPr id="7" name="flow-arrow-1">
            <a:extLst xmlns:a="http://schemas.openxmlformats.org/drawingml/2006/main">
              <a:ext uri="{FF2B5EF4-FFF2-40B4-BE49-F238E27FC236}">
                <a16:creationId xmlns:a16="http://schemas.microsoft.com/office/drawing/2014/main" id="{67419E9C-AB51-4537-959A-D190A7D8F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2740" y="22479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42023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667085"/>
                </a:solidFill>
              </a:defRPr>
            </a:pPr>
            <a:r>
              <a:rPr sz="1800" b="0">
                <a:solidFill>
                  <a:srgbClr val="667085"/>
                </a:solidFill>
              </a:rPr>
              <a:t>→</a:t>
            </a:r>
          </a:p>
        </p:txBody>
      </p:sp>
      <p:sp>
        <p:nvSpPr>
          <p:cNvPr id="8" name="flow-2">
            <a:extLst xmlns:a="http://schemas.openxmlformats.org/drawingml/2006/main">
              <a:ext uri="{FF2B5EF4-FFF2-40B4-BE49-F238E27FC236}">
                <a16:creationId xmlns:a16="http://schemas.microsoft.com/office/drawing/2014/main" id="{084C6309-231A-49DF-9A6E-7565776C9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190" y="2095500"/>
            <a:ext cx="19202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9" name="flow-label-2">
            <a:extLst xmlns:a="http://schemas.openxmlformats.org/drawingml/2006/main">
              <a:ext uri="{FF2B5EF4-FFF2-40B4-BE49-F238E27FC236}">
                <a16:creationId xmlns:a16="http://schemas.microsoft.com/office/drawing/2014/main" id="{08F13358-1C96-4BF0-A810-5FED8D048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2290" y="2190750"/>
            <a:ext cx="184404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B1C21"/>
                </a:solidFill>
              </a:defRPr>
            </a:pPr>
            <a:r>
              <a:rPr sz="1800" b="1">
                <a:solidFill>
                  <a:srgbClr val="1B1C21"/>
                </a:solidFill>
              </a:rPr>
              <a:t>判断</a:t>
            </a:r>
          </a:p>
        </p:txBody>
      </p:sp>
      <p:sp>
        <p:nvSpPr>
          <p:cNvPr id="10" name="flow-arrow-2">
            <a:extLst xmlns:a="http://schemas.openxmlformats.org/drawingml/2006/main">
              <a:ext uri="{FF2B5EF4-FFF2-40B4-BE49-F238E27FC236}">
                <a16:creationId xmlns:a16="http://schemas.microsoft.com/office/drawing/2014/main" id="{273AD518-5A79-445C-A507-C1F518FDE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4430" y="22479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42023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667085"/>
                </a:solidFill>
              </a:defRPr>
            </a:pPr>
            <a:r>
              <a:rPr sz="1800" b="0">
                <a:solidFill>
                  <a:srgbClr val="667085"/>
                </a:solidFill>
              </a:rPr>
              <a:t>→</a:t>
            </a:r>
          </a:p>
        </p:txBody>
      </p:sp>
      <p:sp>
        <p:nvSpPr>
          <p:cNvPr id="11" name="flow-3">
            <a:extLst xmlns:a="http://schemas.openxmlformats.org/drawingml/2006/main">
              <a:ext uri="{FF2B5EF4-FFF2-40B4-BE49-F238E27FC236}">
                <a16:creationId xmlns:a16="http://schemas.microsoft.com/office/drawing/2014/main" id="{25981BA8-BC6B-4E99-91AA-FDD61B84C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5880" y="2095500"/>
            <a:ext cx="19202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12" name="flow-label-3">
            <a:extLst xmlns:a="http://schemas.openxmlformats.org/drawingml/2006/main">
              <a:ext uri="{FF2B5EF4-FFF2-40B4-BE49-F238E27FC236}">
                <a16:creationId xmlns:a16="http://schemas.microsoft.com/office/drawing/2014/main" id="{18B01EDD-0080-42E3-BB51-5DBE99A1C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980" y="2190750"/>
            <a:ext cx="184404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B1C21"/>
                </a:solidFill>
              </a:defRPr>
            </a:pPr>
            <a:r>
              <a:rPr sz="1800" b="1">
                <a:solidFill>
                  <a:srgbClr val="1B1C21"/>
                </a:solidFill>
              </a:rPr>
              <a:t>证据</a:t>
            </a:r>
          </a:p>
        </p:txBody>
      </p:sp>
      <p:sp>
        <p:nvSpPr>
          <p:cNvPr id="13" name="flow-arrow-3">
            <a:extLst xmlns:a="http://schemas.openxmlformats.org/drawingml/2006/main">
              <a:ext uri="{FF2B5EF4-FFF2-40B4-BE49-F238E27FC236}">
                <a16:creationId xmlns:a16="http://schemas.microsoft.com/office/drawing/2014/main" id="{187D4C3E-D0F3-4DA5-BD1F-258FAF17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6120" y="22479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42023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667085"/>
                </a:solidFill>
              </a:defRPr>
            </a:pPr>
            <a:r>
              <a:rPr sz="1800" b="0">
                <a:solidFill>
                  <a:srgbClr val="667085"/>
                </a:solidFill>
              </a:rPr>
              <a:t>→</a:t>
            </a:r>
          </a:p>
        </p:txBody>
      </p:sp>
      <p:sp>
        <p:nvSpPr>
          <p:cNvPr id="14" name="flow-4">
            <a:extLst xmlns:a="http://schemas.openxmlformats.org/drawingml/2006/main">
              <a:ext uri="{FF2B5EF4-FFF2-40B4-BE49-F238E27FC236}">
                <a16:creationId xmlns:a16="http://schemas.microsoft.com/office/drawing/2014/main" id="{5801101D-61A8-4FD5-84F7-7F8AC247A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7570" y="2095500"/>
            <a:ext cx="19202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15" name="flow-label-4">
            <a:extLst xmlns:a="http://schemas.openxmlformats.org/drawingml/2006/main">
              <a:ext uri="{FF2B5EF4-FFF2-40B4-BE49-F238E27FC236}">
                <a16:creationId xmlns:a16="http://schemas.microsoft.com/office/drawing/2014/main" id="{D9BF403C-94DE-4170-AF88-C835AB3E8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5670" y="2190750"/>
            <a:ext cx="184404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B1C21"/>
                </a:solidFill>
              </a:defRPr>
            </a:pPr>
            <a:r>
              <a:rPr sz="1800" b="1">
                <a:solidFill>
                  <a:srgbClr val="1B1C21"/>
                </a:solidFill>
              </a:rPr>
              <a:t>实验／原文</a:t>
            </a:r>
          </a:p>
        </p:txBody>
      </p:sp>
      <p:sp>
        <p:nvSpPr>
          <p:cNvPr id="16" name="flow-arrow-4">
            <a:extLst xmlns:a="http://schemas.openxmlformats.org/drawingml/2006/main">
              <a:ext uri="{FF2B5EF4-FFF2-40B4-BE49-F238E27FC236}">
                <a16:creationId xmlns:a16="http://schemas.microsoft.com/office/drawing/2014/main" id="{BF8223FE-4937-4233-BAC0-005800733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7810" y="22479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42023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667085"/>
                </a:solidFill>
              </a:defRPr>
            </a:pPr>
            <a:r>
              <a:rPr sz="1800" b="0">
                <a:solidFill>
                  <a:srgbClr val="667085"/>
                </a:solidFill>
              </a:rPr>
              <a:t>→</a:t>
            </a:r>
          </a:p>
        </p:txBody>
      </p:sp>
      <p:sp>
        <p:nvSpPr>
          <p:cNvPr id="17" name="flow-5">
            <a:extLst xmlns:a="http://schemas.openxmlformats.org/drawingml/2006/main">
              <a:ext uri="{FF2B5EF4-FFF2-40B4-BE49-F238E27FC236}">
                <a16:creationId xmlns:a16="http://schemas.microsoft.com/office/drawing/2014/main" id="{844CC462-3A45-489C-B7BD-ECCE87471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9260" y="2095500"/>
            <a:ext cx="19202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18" name="flow-label-5">
            <a:extLst xmlns:a="http://schemas.openxmlformats.org/drawingml/2006/main">
              <a:ext uri="{FF2B5EF4-FFF2-40B4-BE49-F238E27FC236}">
                <a16:creationId xmlns:a16="http://schemas.microsoft.com/office/drawing/2014/main" id="{A001CB34-6FB3-4EDE-A636-0BC168942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7360" y="2190750"/>
            <a:ext cx="184404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B1C21"/>
                </a:solidFill>
              </a:defRPr>
            </a:pPr>
            <a:r>
              <a:rPr sz="1800" b="1">
                <a:solidFill>
                  <a:srgbClr val="1B1C21"/>
                </a:solidFill>
              </a:rPr>
              <a:t>问题与约束</a:t>
            </a:r>
          </a:p>
        </p:txBody>
      </p:sp>
      <p:sp>
        <p:nvSpPr>
          <p:cNvPr id="19" name="content-footer">
            <a:extLst xmlns:a="http://schemas.openxmlformats.org/drawingml/2006/main">
              <a:ext uri="{FF2B5EF4-FFF2-40B4-BE49-F238E27FC236}">
                <a16:creationId xmlns:a16="http://schemas.microsoft.com/office/drawing/2014/main" id="{0EDFE4A7-B7C9-4821-9BAC-1951F5E7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1070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任一箭头断裂，都需要降低主张强度。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可进入流程，但不能跳过核验</a:t>
            </a:r>
          </a:p>
        </p:txBody>
      </p:sp>
      <p:sp>
        <p:nvSpPr>
          <p:cNvPr id="5" name="funnel-0">
            <a:extLst xmlns:a="http://schemas.openxmlformats.org/drawingml/2006/main">
              <a:ext uri="{FF2B5EF4-FFF2-40B4-BE49-F238E27FC236}">
                <a16:creationId xmlns:a16="http://schemas.microsoft.com/office/drawing/2014/main" id="{C712C81B-2E38-4386-A56A-47CE90A40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6" name="funnel-text-0">
            <a:extLst xmlns:a="http://schemas.openxmlformats.org/drawingml/2006/main">
              <a:ext uri="{FF2B5EF4-FFF2-40B4-BE49-F238E27FC236}">
                <a16:creationId xmlns:a16="http://schemas.microsoft.com/office/drawing/2014/main" id="{C38EF308-3B68-401D-BBCD-D01AF4DB7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162050"/>
            <a:ext cx="914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B1C21"/>
                </a:solidFill>
              </a:defRPr>
            </a:pPr>
            <a:r>
              <a:rPr sz="1800" b="0">
                <a:solidFill>
                  <a:srgbClr val="1B1C21"/>
                </a:solidFill>
              </a:rPr>
              <a:t>AI 候选</a:t>
            </a:r>
          </a:p>
        </p:txBody>
      </p:sp>
      <p:sp>
        <p:nvSpPr>
          <p:cNvPr id="7" name="funnel-1">
            <a:extLst xmlns:a="http://schemas.openxmlformats.org/drawingml/2006/main">
              <a:ext uri="{FF2B5EF4-FFF2-40B4-BE49-F238E27FC236}">
                <a16:creationId xmlns:a16="http://schemas.microsoft.com/office/drawing/2014/main" id="{F183D26E-4BAD-4E80-AEEE-9C245D28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905000"/>
            <a:ext cx="790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8" name="funnel-text-1">
            <a:extLst xmlns:a="http://schemas.openxmlformats.org/drawingml/2006/main">
              <a:ext uri="{FF2B5EF4-FFF2-40B4-BE49-F238E27FC236}">
                <a16:creationId xmlns:a16="http://schemas.microsoft.com/office/drawing/2014/main" id="{5BC55124-5AE0-4C69-9C58-EDB3D64E5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43100"/>
            <a:ext cx="7715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B1C21"/>
                </a:solidFill>
              </a:defRPr>
            </a:pPr>
            <a:r>
              <a:rPr sz="1800" b="0">
                <a:solidFill>
                  <a:srgbClr val="1B1C21"/>
                </a:solidFill>
              </a:rPr>
              <a:t>来源定位</a:t>
            </a:r>
          </a:p>
        </p:txBody>
      </p:sp>
      <p:sp>
        <p:nvSpPr>
          <p:cNvPr id="9" name="funnel-2">
            <a:extLst xmlns:a="http://schemas.openxmlformats.org/drawingml/2006/main">
              <a:ext uri="{FF2B5EF4-FFF2-40B4-BE49-F238E27FC236}">
                <a16:creationId xmlns:a16="http://schemas.microsoft.com/office/drawing/2014/main" id="{7B854352-3757-4596-AF2A-0CC288DE7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86050"/>
            <a:ext cx="64770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10" name="funnel-text-2">
            <a:extLst xmlns:a="http://schemas.openxmlformats.org/drawingml/2006/main">
              <a:ext uri="{FF2B5EF4-FFF2-40B4-BE49-F238E27FC236}">
                <a16:creationId xmlns:a16="http://schemas.microsoft.com/office/drawing/2014/main" id="{7E021390-B5E1-402E-8208-84C34F30C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24150"/>
            <a:ext cx="628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B1C21"/>
                </a:solidFill>
              </a:defRPr>
            </a:pPr>
            <a:r>
              <a:rPr sz="1800" b="0">
                <a:solidFill>
                  <a:srgbClr val="1B1C21"/>
                </a:solidFill>
              </a:rPr>
              <a:t>原文／实验核验</a:t>
            </a:r>
          </a:p>
        </p:txBody>
      </p:sp>
      <p:sp>
        <p:nvSpPr>
          <p:cNvPr id="11" name="funnel-3">
            <a:extLst xmlns:a="http://schemas.openxmlformats.org/drawingml/2006/main">
              <a:ext uri="{FF2B5EF4-FFF2-40B4-BE49-F238E27FC236}">
                <a16:creationId xmlns:a16="http://schemas.microsoft.com/office/drawing/2014/main" id="{FE39FDD0-6A86-4FBA-8006-DF5C6FD3B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467100"/>
            <a:ext cx="5048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12" name="funnel-text-3">
            <a:extLst xmlns:a="http://schemas.openxmlformats.org/drawingml/2006/main">
              <a:ext uri="{FF2B5EF4-FFF2-40B4-BE49-F238E27FC236}">
                <a16:creationId xmlns:a16="http://schemas.microsoft.com/office/drawing/2014/main" id="{6F36EDC1-B425-4EDE-A965-11663295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505200"/>
            <a:ext cx="485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B1C21"/>
                </a:solidFill>
              </a:defRPr>
            </a:pPr>
            <a:r>
              <a:rPr sz="1800" b="0">
                <a:solidFill>
                  <a:srgbClr val="1B1C21"/>
                </a:solidFill>
              </a:rPr>
              <a:t>人工判断</a:t>
            </a:r>
          </a:p>
        </p:txBody>
      </p:sp>
      <p:sp>
        <p:nvSpPr>
          <p:cNvPr id="13" name="funnel-4">
            <a:extLst xmlns:a="http://schemas.openxmlformats.org/drawingml/2006/main">
              <a:ext uri="{FF2B5EF4-FFF2-40B4-BE49-F238E27FC236}">
                <a16:creationId xmlns:a16="http://schemas.microsoft.com/office/drawing/2014/main" id="{0D204F40-7DD0-4E52-A502-1261333FB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248150"/>
            <a:ext cx="3619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7F3ED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14" name="funnel-text-4">
            <a:extLst xmlns:a="http://schemas.openxmlformats.org/drawingml/2006/main">
              <a:ext uri="{FF2B5EF4-FFF2-40B4-BE49-F238E27FC236}">
                <a16:creationId xmlns:a16="http://schemas.microsoft.com/office/drawing/2014/main" id="{EFEE5F67-F9EF-4D9F-9A14-9419C3E7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2862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E7D5B"/>
                </a:solidFill>
              </a:defRPr>
            </a:pPr>
            <a:r>
              <a:rPr sz="1800" b="1">
                <a:solidFill>
                  <a:srgbClr val="2E7D5B"/>
                </a:solidFill>
              </a:rPr>
              <a:t>可用证据</a:t>
            </a:r>
          </a:p>
        </p:txBody>
      </p:sp>
      <p:sp>
        <p:nvSpPr>
          <p:cNvPr id="15" name="content-footer">
            <a:extLst xmlns:a="http://schemas.openxmlformats.org/drawingml/2006/main">
              <a:ext uri="{FF2B5EF4-FFF2-40B4-BE49-F238E27FC236}">
                <a16:creationId xmlns:a16="http://schemas.microsoft.com/office/drawing/2014/main" id="{800A18D2-B7F7-47EA-82FE-4C188E0AB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1070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模型自信度不是证据强度。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演示：把 AI 建议变成可检查变化</a:t>
            </a:r>
          </a:p>
        </p:txBody>
      </p:sp>
      <p:sp>
        <p:nvSpPr>
          <p:cNvPr id="5" name="left-heading">
            <a:extLst xmlns:a="http://schemas.openxmlformats.org/drawingml/2006/main">
              <a:ext uri="{FF2B5EF4-FFF2-40B4-BE49-F238E27FC236}">
                <a16:creationId xmlns:a16="http://schemas.microsoft.com/office/drawing/2014/main" id="{E75CC1FE-027D-4179-BE8F-A8413CA46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104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</a:rPr>
              <a:t>目标</a:t>
            </a:r>
          </a:p>
        </p:txBody>
      </p:sp>
      <p:sp>
        <p:nvSpPr>
          <p:cNvPr id="6" name="right-heading">
            <a:extLst xmlns:a="http://schemas.openxmlformats.org/drawingml/2006/main">
              <a:ext uri="{FF2B5EF4-FFF2-40B4-BE49-F238E27FC236}">
                <a16:creationId xmlns:a16="http://schemas.microsoft.com/office/drawing/2014/main" id="{A8594AFE-A6EB-4F95-B850-5BA625E9A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104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F4D78"/>
                </a:solidFill>
              </a:defRPr>
            </a:pPr>
            <a:r>
              <a:rPr sz="2025" b="1">
                <a:solidFill>
                  <a:srgbClr val="1F4D78"/>
                </a:solidFill>
              </a:rPr>
              <a:t>项目</a:t>
            </a:r>
          </a:p>
        </p:txBody>
      </p:sp>
      <p:sp>
        <p:nvSpPr>
          <p:cNvPr id="7" name="column-divider">
            <a:extLst xmlns:a="http://schemas.openxmlformats.org/drawingml/2006/main">
              <a:ext uri="{FF2B5EF4-FFF2-40B4-BE49-F238E27FC236}">
                <a16:creationId xmlns:a16="http://schemas.microsoft.com/office/drawing/2014/main" id="{7CA56C26-9178-458A-9080-6C28EE7C8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123950"/>
            <a:ext cx="0" cy="3714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9DD"/>
            </a:solidFill>
            <a:prstDash val="solid"/>
          </a:ln>
        </p:spPr>
      </p:sp>
      <p:sp>
        <p:nvSpPr>
          <p:cNvPr id="8" name="left-body">
            <a:extLst xmlns:a="http://schemas.openxmlformats.org/drawingml/2006/main">
              <a:ext uri="{FF2B5EF4-FFF2-40B4-BE49-F238E27FC236}">
                <a16:creationId xmlns:a16="http://schemas.microsoft.com/office/drawing/2014/main" id="{ED0292DA-EBCF-443F-9443-58D4A9D9E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33550"/>
            <a:ext cx="4762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收敛一个初步研究问题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公开虚构内容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先只读，后写回</a:t>
            </a:r>
          </a:p>
        </p:txBody>
      </p:sp>
      <p:sp>
        <p:nvSpPr>
          <p:cNvPr id="9" name="right-body">
            <a:extLst xmlns:a="http://schemas.openxmlformats.org/drawingml/2006/main">
              <a:ext uri="{FF2B5EF4-FFF2-40B4-BE49-F238E27FC236}">
                <a16:creationId xmlns:a16="http://schemas.microsoft.com/office/drawing/2014/main" id="{1415DC0C-F117-4C3E-BB67-C82D4A322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733550"/>
            <a:ext cx="4762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AGENTS.md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problem-definition.md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ai-usage-log.md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notes/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第一轮只分析，不写入</a:t>
            </a:r>
          </a:p>
        </p:txBody>
      </p:sp>
      <p:sp>
        <p:nvSpPr>
          <p:cNvPr id="5" name="prompt-surface">
            <a:extLst xmlns:a="http://schemas.openxmlformats.org/drawingml/2006/main">
              <a:ext uri="{FF2B5EF4-FFF2-40B4-BE49-F238E27FC236}">
                <a16:creationId xmlns:a16="http://schemas.microsoft.com/office/drawing/2014/main" id="{4583FC0F-9937-4763-87B0-DE9CBCE57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143000"/>
            <a:ext cx="10287000" cy="3905250"/>
          </a:xfrm>
          <a:prstGeom xmlns:a="http://schemas.openxmlformats.org/drawingml/2006/main" prst="roundRect">
            <a:avLst>
              <a:gd name="adj" fmla="val 2927"/>
            </a:avLst>
          </a:prstGeom>
          <a:solidFill xmlns:a="http://schemas.openxmlformats.org/drawingml/2006/main">
            <a:srgbClr val="F8F9FA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6" name="prompt-text">
            <a:extLst xmlns:a="http://schemas.openxmlformats.org/drawingml/2006/main">
              <a:ext uri="{FF2B5EF4-FFF2-40B4-BE49-F238E27FC236}">
                <a16:creationId xmlns:a16="http://schemas.microsoft.com/office/drawing/2014/main" id="{5EF97D18-92F2-4299-B8D4-8B579D41A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352550"/>
            <a:ext cx="9677400" cy="3486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B1C21"/>
                </a:solidFill>
              </a:defRPr>
            </a:pPr>
            <a:r>
              <a:rPr sz="1725" b="0">
                <a:solidFill>
                  <a:srgbClr val="1B1C21"/>
                </a:solidFill>
              </a:rPr>
              <a:t>读取 AGENTS.md 和 problem-definition.md。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B1C21"/>
                </a:solidFill>
              </a:defRPr>
            </a:pPr>
            <a:r>
              <a:rPr sz="1725" b="0">
                <a:solidFill>
                  <a:srgbClr val="1B1C21"/>
                </a:solidFill>
              </a:rPr>
              <a:t>提出三个范围收敛建议；每条包含：修改范围、依据、可能损失、需要确认的问题。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B1C21"/>
                </a:solidFill>
              </a:defRPr>
            </a:pPr>
            <a:r>
              <a:rPr sz="1725" b="0">
                <a:solidFill>
                  <a:srgbClr val="1B1C21"/>
                </a:solidFill>
              </a:rPr>
              <a:t>限制：不改文件｜不访问项目外目录｜不联网｜不把建议写成事实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先检查建议是否值得采用</a:t>
            </a:r>
          </a:p>
        </p:txBody>
      </p:sp>
      <p:sp>
        <p:nvSpPr>
          <p:cNvPr id="5" name="four-surface-1">
            <a:extLst xmlns:a="http://schemas.openxmlformats.org/drawingml/2006/main">
              <a:ext uri="{FF2B5EF4-FFF2-40B4-BE49-F238E27FC236}">
                <a16:creationId xmlns:a16="http://schemas.microsoft.com/office/drawing/2014/main" id="{E947140C-A0AA-40F2-A417-F3599AEC0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314450"/>
            <a:ext cx="47053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CEDEE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6" name="four-text-1">
            <a:extLst xmlns:a="http://schemas.openxmlformats.org/drawingml/2006/main">
              <a:ext uri="{FF2B5EF4-FFF2-40B4-BE49-F238E27FC236}">
                <a16:creationId xmlns:a16="http://schemas.microsoft.com/office/drawing/2014/main" id="{0442D888-A01F-4B9D-B7C8-DBD53AB33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485900"/>
            <a:ext cx="43243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</a:rPr>
              <a:t>是否缩小了研究范围？</a:t>
            </a:r>
          </a:p>
        </p:txBody>
      </p:sp>
      <p:sp>
        <p:nvSpPr>
          <p:cNvPr id="7" name="four-surface-2">
            <a:extLst xmlns:a="http://schemas.openxmlformats.org/drawingml/2006/main">
              <a:ext uri="{FF2B5EF4-FFF2-40B4-BE49-F238E27FC236}">
                <a16:creationId xmlns:a16="http://schemas.microsoft.com/office/drawing/2014/main" id="{66A019C4-1B5E-475A-85E3-96D89C87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314450"/>
            <a:ext cx="47053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8" name="four-text-2">
            <a:extLst xmlns:a="http://schemas.openxmlformats.org/drawingml/2006/main">
              <a:ext uri="{FF2B5EF4-FFF2-40B4-BE49-F238E27FC236}">
                <a16:creationId xmlns:a16="http://schemas.microsoft.com/office/drawing/2014/main" id="{B7E49B3F-CE60-4905-B9B7-203CFC00E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85900"/>
            <a:ext cx="43243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B1C21"/>
                </a:solidFill>
              </a:defRPr>
            </a:pPr>
            <a:r>
              <a:rPr sz="2100" b="1">
                <a:solidFill>
                  <a:srgbClr val="1B1C21"/>
                </a:solidFill>
              </a:rPr>
              <a:t>是否改变核心问题？</a:t>
            </a:r>
          </a:p>
        </p:txBody>
      </p:sp>
      <p:sp>
        <p:nvSpPr>
          <p:cNvPr id="9" name="four-surface-3">
            <a:extLst xmlns:a="http://schemas.openxmlformats.org/drawingml/2006/main">
              <a:ext uri="{FF2B5EF4-FFF2-40B4-BE49-F238E27FC236}">
                <a16:creationId xmlns:a16="http://schemas.microsoft.com/office/drawing/2014/main" id="{8CD74AB6-6DBD-4775-A1FF-A94CEA86C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24200"/>
            <a:ext cx="47053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10" name="four-text-3">
            <a:extLst xmlns:a="http://schemas.openxmlformats.org/drawingml/2006/main">
              <a:ext uri="{FF2B5EF4-FFF2-40B4-BE49-F238E27FC236}">
                <a16:creationId xmlns:a16="http://schemas.microsoft.com/office/drawing/2014/main" id="{3E8E13B8-2CFB-498D-8AF4-7F5EE8C03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43243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B1C21"/>
                </a:solidFill>
              </a:defRPr>
            </a:pPr>
            <a:r>
              <a:rPr sz="2100" b="1">
                <a:solidFill>
                  <a:srgbClr val="1B1C21"/>
                </a:solidFill>
              </a:rPr>
              <a:t>依据是否可核验？</a:t>
            </a:r>
          </a:p>
        </p:txBody>
      </p:sp>
      <p:sp>
        <p:nvSpPr>
          <p:cNvPr id="11" name="four-surface-4">
            <a:extLst xmlns:a="http://schemas.openxmlformats.org/drawingml/2006/main">
              <a:ext uri="{FF2B5EF4-FFF2-40B4-BE49-F238E27FC236}">
                <a16:creationId xmlns:a16="http://schemas.microsoft.com/office/drawing/2014/main" id="{36C0A4BE-09A0-4222-A57E-F40DE1FF7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24200"/>
            <a:ext cx="47053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12" name="four-text-4">
            <a:extLst xmlns:a="http://schemas.openxmlformats.org/drawingml/2006/main">
              <a:ext uri="{FF2B5EF4-FFF2-40B4-BE49-F238E27FC236}">
                <a16:creationId xmlns:a16="http://schemas.microsoft.com/office/drawing/2014/main" id="{548BB7CA-517B-48F4-ABAA-A337A9FE6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95650"/>
            <a:ext cx="43243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B1C21"/>
                </a:solidFill>
              </a:defRPr>
            </a:pPr>
            <a:r>
              <a:rPr sz="2100" b="1">
                <a:solidFill>
                  <a:srgbClr val="1B1C21"/>
                </a:solidFill>
              </a:rPr>
              <a:t>可能损失是否可接受？</a:t>
            </a:r>
          </a:p>
        </p:txBody>
      </p:sp>
      <p:sp>
        <p:nvSpPr>
          <p:cNvPr id="13" name="content-footer">
            <a:extLst xmlns:a="http://schemas.openxmlformats.org/drawingml/2006/main">
              <a:ext uri="{FF2B5EF4-FFF2-40B4-BE49-F238E27FC236}">
                <a16:creationId xmlns:a16="http://schemas.microsoft.com/office/drawing/2014/main" id="{0EA7B298-A92A-4BEF-A286-80C5F6EC8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1070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Agent 负责提出候选，研究者负责决定。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人工确认后，只写回目标文件</a:t>
            </a:r>
          </a:p>
        </p:txBody>
      </p:sp>
      <p:sp>
        <p:nvSpPr>
          <p:cNvPr id="5" name="prompt-surface">
            <a:extLst xmlns:a="http://schemas.openxmlformats.org/drawingml/2006/main">
              <a:ext uri="{FF2B5EF4-FFF2-40B4-BE49-F238E27FC236}">
                <a16:creationId xmlns:a16="http://schemas.microsoft.com/office/drawing/2014/main" id="{247830A7-3216-49F3-B5FD-6110B98E5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143000"/>
            <a:ext cx="10287000" cy="3905250"/>
          </a:xfrm>
          <a:prstGeom xmlns:a="http://schemas.openxmlformats.org/drawingml/2006/main" prst="roundRect">
            <a:avLst>
              <a:gd name="adj" fmla="val 2927"/>
            </a:avLst>
          </a:prstGeom>
          <a:solidFill xmlns:a="http://schemas.openxmlformats.org/drawingml/2006/main">
            <a:srgbClr val="F8F9FA"/>
          </a:solidFill>
          <a:ln xmlns:a="http://schemas.openxmlformats.org/drawingml/2006/main" w="9525">
            <a:solidFill>
              <a:srgbClr val="D7D9DD"/>
            </a:solidFill>
            <a:prstDash val="solid"/>
          </a:ln>
        </p:spPr>
      </p:sp>
      <p:sp>
        <p:nvSpPr>
          <p:cNvPr id="6" name="prompt-text">
            <a:extLst xmlns:a="http://schemas.openxmlformats.org/drawingml/2006/main">
              <a:ext uri="{FF2B5EF4-FFF2-40B4-BE49-F238E27FC236}">
                <a16:creationId xmlns:a16="http://schemas.microsoft.com/office/drawing/2014/main" id="{CB4D3215-04FB-49C3-93E2-29B8E9FD3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352550"/>
            <a:ext cx="9677400" cy="3486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B1C21"/>
                </a:solidFill>
              </a:defRPr>
            </a:pPr>
            <a:r>
              <a:rPr sz="1725" b="0">
                <a:solidFill>
                  <a:srgbClr val="1B1C21"/>
                </a:solidFill>
              </a:rPr>
              <a:t>仅执行已批准修改：</a:t>
            </a:r>
          </a:p>
          <a:p xmlns:a="http://schemas.openxmlformats.org/drawingml/2006/main">
            <a:pPr algn="l">
              <a:defRPr sz="1725" b="0">
                <a:solidFill>
                  <a:srgbClr val="1B1C21"/>
                </a:solidFill>
              </a:defRPr>
            </a:pPr>
            <a:r>
              <a:rPr sz="1725" b="0">
                <a:solidFill>
                  <a:srgbClr val="1B1C21"/>
                </a:solidFill>
              </a:rPr>
              <a:t>1. 只改 problem-definition.md 的“当前问题”；</a:t>
            </a:r>
          </a:p>
          <a:p xmlns:a="http://schemas.openxmlformats.org/drawingml/2006/main">
            <a:pPr algn="l">
              <a:defRPr sz="1725" b="0">
                <a:solidFill>
                  <a:srgbClr val="1B1C21"/>
                </a:solidFill>
              </a:defRPr>
            </a:pPr>
            <a:r>
              <a:rPr sz="1725" b="0">
                <a:solidFill>
                  <a:srgbClr val="1B1C21"/>
                </a:solidFill>
              </a:rPr>
              <a:t>2. 保留原表述到“修改记录”；</a:t>
            </a:r>
          </a:p>
          <a:p xmlns:a="http://schemas.openxmlformats.org/drawingml/2006/main">
            <a:pPr algn="l">
              <a:defRPr sz="1725" b="0">
                <a:solidFill>
                  <a:srgbClr val="1B1C21"/>
                </a:solidFill>
              </a:defRPr>
            </a:pPr>
            <a:r>
              <a:rPr sz="1725" b="0">
                <a:solidFill>
                  <a:srgbClr val="1B1C21"/>
                </a:solidFill>
              </a:rPr>
              <a:t>3. 在 ai-usage-log.md 增加交互摘要。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B1C21"/>
                </a:solidFill>
              </a:defRPr>
            </a:pPr>
            <a:r>
              <a:rPr sz="1725" b="0">
                <a:solidFill>
                  <a:srgbClr val="1B1C21"/>
                </a:solidFill>
              </a:rPr>
              <a:t>不要修改其他文件，不联网。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完成后检查 diff 与使用记录</a:t>
            </a:r>
          </a:p>
        </p:txBody>
      </p:sp>
      <p:sp>
        <p:nvSpPr>
          <p:cNvPr id="5" name="check-code">
            <a:extLst xmlns:a="http://schemas.openxmlformats.org/drawingml/2006/main">
              <a:ext uri="{FF2B5EF4-FFF2-40B4-BE49-F238E27FC236}">
                <a16:creationId xmlns:a16="http://schemas.microsoft.com/office/drawing/2014/main" id="{E1A7617E-3904-4B0F-AA17-840D3317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162050"/>
            <a:ext cx="990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F4D78"/>
                </a:solidFill>
              </a:defRPr>
            </a:pPr>
            <a:r>
              <a:rPr sz="1875" b="1">
                <a:solidFill>
                  <a:srgbClr val="1F4D78"/>
                </a:solidFill>
              </a:rPr>
              <a:t>git diff -- problem-definition.md ai-usage-log.md</a:t>
            </a:r>
          </a:p>
        </p:txBody>
      </p:sp>
      <p:sp>
        <p:nvSpPr>
          <p:cNvPr id="6" name="check-0">
            <a:extLst xmlns:a="http://schemas.openxmlformats.org/drawingml/2006/main">
              <a:ext uri="{FF2B5EF4-FFF2-40B4-BE49-F238E27FC236}">
                <a16:creationId xmlns:a16="http://schemas.microsoft.com/office/drawing/2014/main" id="{A931B8D7-DFF8-4C9D-BD26-7A35789FC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B1C21"/>
                </a:solidFill>
              </a:defRPr>
            </a:pPr>
            <a:r>
              <a:rPr sz="1800" b="0">
                <a:solidFill>
                  <a:srgbClr val="1B1C21"/>
                </a:solidFill>
              </a:rPr>
              <a:t>□  实际修改文件是否一致</a:t>
            </a:r>
          </a:p>
        </p:txBody>
      </p:sp>
      <p:sp>
        <p:nvSpPr>
          <p:cNvPr id="7" name="check-1">
            <a:extLst xmlns:a="http://schemas.openxmlformats.org/drawingml/2006/main">
              <a:ext uri="{FF2B5EF4-FFF2-40B4-BE49-F238E27FC236}">
                <a16:creationId xmlns:a16="http://schemas.microsoft.com/office/drawing/2014/main" id="{C54E838E-7036-4D99-83B9-EA01D5B98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6860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B1C21"/>
                </a:solidFill>
              </a:defRPr>
            </a:pPr>
            <a:r>
              <a:rPr sz="1800" b="0">
                <a:solidFill>
                  <a:srgbClr val="1B1C21"/>
                </a:solidFill>
              </a:rPr>
              <a:t>□  是否保留原表述</a:t>
            </a:r>
          </a:p>
        </p:txBody>
      </p:sp>
      <p:sp>
        <p:nvSpPr>
          <p:cNvPr id="8" name="check-2">
            <a:extLst xmlns:a="http://schemas.openxmlformats.org/drawingml/2006/main">
              <a:ext uri="{FF2B5EF4-FFF2-40B4-BE49-F238E27FC236}">
                <a16:creationId xmlns:a16="http://schemas.microsoft.com/office/drawing/2014/main" id="{4C9450D2-46F5-4D63-BB01-2F12B0CFF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27660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B1C21"/>
                </a:solidFill>
              </a:defRPr>
            </a:pPr>
            <a:r>
              <a:rPr sz="1800" b="0">
                <a:solidFill>
                  <a:srgbClr val="1B1C21"/>
                </a:solidFill>
              </a:rPr>
              <a:t>□  是否出现越界访问</a:t>
            </a:r>
          </a:p>
        </p:txBody>
      </p:sp>
      <p:sp>
        <p:nvSpPr>
          <p:cNvPr id="9" name="check-3">
            <a:extLst xmlns:a="http://schemas.openxmlformats.org/drawingml/2006/main">
              <a:ext uri="{FF2B5EF4-FFF2-40B4-BE49-F238E27FC236}">
                <a16:creationId xmlns:a16="http://schemas.microsoft.com/office/drawing/2014/main" id="{05DF8C81-FF5C-489E-875D-CE6CC29C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8671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B1C21"/>
                </a:solidFill>
              </a:defRPr>
            </a:pPr>
            <a:r>
              <a:rPr sz="1800" b="0">
                <a:solidFill>
                  <a:srgbClr val="1B1C21"/>
                </a:solidFill>
              </a:rPr>
              <a:t>□  使用记录是否写明 Context</a:t>
            </a:r>
          </a:p>
        </p:txBody>
      </p:sp>
      <p:sp>
        <p:nvSpPr>
          <p:cNvPr id="10" name="check-4">
            <a:extLst xmlns:a="http://schemas.openxmlformats.org/drawingml/2006/main">
              <a:ext uri="{FF2B5EF4-FFF2-40B4-BE49-F238E27FC236}">
                <a16:creationId xmlns:a16="http://schemas.microsoft.com/office/drawing/2014/main" id="{0C176E9B-A076-441E-A2E1-8D954158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5770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B1C21"/>
                </a:solidFill>
              </a:defRPr>
            </a:pPr>
            <a:r>
              <a:rPr sz="1800" b="0">
                <a:solidFill>
                  <a:srgbClr val="1B1C21"/>
                </a:solidFill>
              </a:rPr>
              <a:t>□  人工核验是否可复查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失败是评价材料</a:t>
            </a:r>
          </a:p>
        </p:txBody>
      </p:sp>
      <p:sp>
        <p:nvSpPr>
          <p:cNvPr id="5" name="left-heading">
            <a:extLst xmlns:a="http://schemas.openxmlformats.org/drawingml/2006/main">
              <a:ext uri="{FF2B5EF4-FFF2-40B4-BE49-F238E27FC236}">
                <a16:creationId xmlns:a16="http://schemas.microsoft.com/office/drawing/2014/main" id="{4A669831-5F4B-46C2-8596-61E1E710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104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</a:rPr>
              <a:t>需要保留</a:t>
            </a:r>
          </a:p>
        </p:txBody>
      </p:sp>
      <p:sp>
        <p:nvSpPr>
          <p:cNvPr id="6" name="right-heading">
            <a:extLst xmlns:a="http://schemas.openxmlformats.org/drawingml/2006/main">
              <a:ext uri="{FF2B5EF4-FFF2-40B4-BE49-F238E27FC236}">
                <a16:creationId xmlns:a16="http://schemas.microsoft.com/office/drawing/2014/main" id="{5F9E2CD6-10CF-4F40-B985-3A515B5A4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104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F4D78"/>
                </a:solidFill>
              </a:defRPr>
            </a:pPr>
            <a:r>
              <a:rPr sz="2025" b="1">
                <a:solidFill>
                  <a:srgbClr val="1F4D78"/>
                </a:solidFill>
              </a:rPr>
              <a:t>需要评价</a:t>
            </a:r>
          </a:p>
        </p:txBody>
      </p:sp>
      <p:sp>
        <p:nvSpPr>
          <p:cNvPr id="7" name="column-divider">
            <a:extLst xmlns:a="http://schemas.openxmlformats.org/drawingml/2006/main">
              <a:ext uri="{FF2B5EF4-FFF2-40B4-BE49-F238E27FC236}">
                <a16:creationId xmlns:a16="http://schemas.microsoft.com/office/drawing/2014/main" id="{B162DF84-B1E3-4D93-B76D-5FFCE2A4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123950"/>
            <a:ext cx="0" cy="3714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9DD"/>
            </a:solidFill>
            <a:prstDash val="solid"/>
          </a:ln>
        </p:spPr>
      </p:sp>
      <p:sp>
        <p:nvSpPr>
          <p:cNvPr id="8" name="left-body">
            <a:extLst xmlns:a="http://schemas.openxmlformats.org/drawingml/2006/main">
              <a:ext uri="{FF2B5EF4-FFF2-40B4-BE49-F238E27FC236}">
                <a16:creationId xmlns:a16="http://schemas.microsoft.com/office/drawing/2014/main" id="{49D813CF-5917-47AF-BF33-9943C0F0A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33550"/>
            <a:ext cx="4762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越界尝试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错误建议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未达预期的 diff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拒绝与回退理由</a:t>
            </a:r>
          </a:p>
        </p:txBody>
      </p:sp>
      <p:sp>
        <p:nvSpPr>
          <p:cNvPr id="9" name="right-body">
            <a:extLst xmlns:a="http://schemas.openxmlformats.org/drawingml/2006/main">
              <a:ext uri="{FF2B5EF4-FFF2-40B4-BE49-F238E27FC236}">
                <a16:creationId xmlns:a16="http://schemas.microsoft.com/office/drawing/2014/main" id="{2A5B08E0-B7A7-4029-B4A2-85BB100EE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733550"/>
            <a:ext cx="4762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任务契约哪里含糊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权限是否过宽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核验点是否太晚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下次怎样修改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优先真实兴趣，暂时无题就借问题</a:t>
            </a:r>
          </a:p>
        </p:txBody>
      </p:sp>
      <p:sp>
        <p:nvSpPr>
          <p:cNvPr id="5" name="topic-0">
            <a:extLst xmlns:a="http://schemas.openxmlformats.org/drawingml/2006/main">
              <a:ext uri="{FF2B5EF4-FFF2-40B4-BE49-F238E27FC236}">
                <a16:creationId xmlns:a16="http://schemas.microsoft.com/office/drawing/2014/main" id="{FD892C18-2320-4DE3-A689-A98F4A6AA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1239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</a:rPr>
              <a:t>1. 问题边界声明与越界假设</a:t>
            </a:r>
          </a:p>
        </p:txBody>
      </p:sp>
      <p:sp>
        <p:nvSpPr>
          <p:cNvPr id="6" name="topic-1">
            <a:extLst xmlns:a="http://schemas.openxmlformats.org/drawingml/2006/main">
              <a:ext uri="{FF2B5EF4-FFF2-40B4-BE49-F238E27FC236}">
                <a16:creationId xmlns:a16="http://schemas.microsoft.com/office/drawing/2014/main" id="{C48E113A-9E3F-4666-99AF-93E18D4A7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1239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B1C21"/>
                </a:solidFill>
              </a:defRPr>
            </a:pPr>
            <a:r>
              <a:rPr sz="1650" b="0">
                <a:solidFill>
                  <a:srgbClr val="1B1C21"/>
                </a:solidFill>
              </a:rPr>
              <a:t>2. 结构化阅读卡与限定条件遗漏</a:t>
            </a:r>
          </a:p>
        </p:txBody>
      </p:sp>
      <p:sp>
        <p:nvSpPr>
          <p:cNvPr id="7" name="topic-2">
            <a:extLst xmlns:a="http://schemas.openxmlformats.org/drawingml/2006/main">
              <a:ext uri="{FF2B5EF4-FFF2-40B4-BE49-F238E27FC236}">
                <a16:creationId xmlns:a16="http://schemas.microsoft.com/office/drawing/2014/main" id="{B83DD571-D156-4817-9931-F6342B5B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526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B1C21"/>
                </a:solidFill>
              </a:defRPr>
            </a:pPr>
            <a:r>
              <a:rPr sz="1650" b="0">
                <a:solidFill>
                  <a:srgbClr val="1B1C21"/>
                </a:solidFill>
              </a:rPr>
              <a:t>3. 证据角色标签与引用误用</a:t>
            </a:r>
          </a:p>
        </p:txBody>
      </p:sp>
      <p:sp>
        <p:nvSpPr>
          <p:cNvPr id="8" name="topic-3">
            <a:extLst xmlns:a="http://schemas.openxmlformats.org/drawingml/2006/main">
              <a:ext uri="{FF2B5EF4-FFF2-40B4-BE49-F238E27FC236}">
                <a16:creationId xmlns:a16="http://schemas.microsoft.com/office/drawing/2014/main" id="{4ACAC0F5-39DD-4158-9900-0C31D3FD2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526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B1C21"/>
                </a:solidFill>
              </a:defRPr>
            </a:pPr>
            <a:r>
              <a:rPr sz="1650" b="0">
                <a:solidFill>
                  <a:srgbClr val="1B1C21"/>
                </a:solidFill>
              </a:rPr>
              <a:t>4. 明确 Non-goal 与无关扩展</a:t>
            </a:r>
          </a:p>
        </p:txBody>
      </p:sp>
      <p:sp>
        <p:nvSpPr>
          <p:cNvPr id="9" name="topic-4">
            <a:extLst xmlns:a="http://schemas.openxmlformats.org/drawingml/2006/main">
              <a:ext uri="{FF2B5EF4-FFF2-40B4-BE49-F238E27FC236}">
                <a16:creationId xmlns:a16="http://schemas.microsoft.com/office/drawing/2014/main" id="{A832ED2D-FEE5-44AE-A3EC-3E31F2AD9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813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B1C21"/>
                </a:solidFill>
              </a:defRPr>
            </a:pPr>
            <a:r>
              <a:rPr sz="1650" b="0">
                <a:solidFill>
                  <a:srgbClr val="1B1C21"/>
                </a:solidFill>
              </a:rPr>
              <a:t>5. 先只读后写回与误改率</a:t>
            </a:r>
          </a:p>
        </p:txBody>
      </p:sp>
      <p:sp>
        <p:nvSpPr>
          <p:cNvPr id="10" name="topic-5">
            <a:extLst xmlns:a="http://schemas.openxmlformats.org/drawingml/2006/main">
              <a:ext uri="{FF2B5EF4-FFF2-40B4-BE49-F238E27FC236}">
                <a16:creationId xmlns:a16="http://schemas.microsoft.com/office/drawing/2014/main" id="{D8EAB44B-FB64-47C9-B974-CAB6C9A4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813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B1C21"/>
                </a:solidFill>
              </a:defRPr>
            </a:pPr>
            <a:r>
              <a:rPr sz="1650" b="0">
                <a:solidFill>
                  <a:srgbClr val="1B1C21"/>
                </a:solidFill>
              </a:rPr>
              <a:t>6. 保留失败记录与复盘质量</a:t>
            </a:r>
          </a:p>
        </p:txBody>
      </p:sp>
      <p:sp>
        <p:nvSpPr>
          <p:cNvPr id="11" name="topic-6">
            <a:extLst xmlns:a="http://schemas.openxmlformats.org/drawingml/2006/main">
              <a:ext uri="{FF2B5EF4-FFF2-40B4-BE49-F238E27FC236}">
                <a16:creationId xmlns:a16="http://schemas.microsoft.com/office/drawing/2014/main" id="{236732D6-5857-4B69-9F5C-EA1CCF30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100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B1C21"/>
                </a:solidFill>
              </a:defRPr>
            </a:pPr>
            <a:r>
              <a:rPr sz="1650" b="0">
                <a:solidFill>
                  <a:srgbClr val="1B1C21"/>
                </a:solidFill>
              </a:rPr>
              <a:t>7. 权限矩阵与越界访问</a:t>
            </a:r>
          </a:p>
        </p:txBody>
      </p:sp>
      <p:sp>
        <p:nvSpPr>
          <p:cNvPr id="12" name="topic-7">
            <a:extLst xmlns:a="http://schemas.openxmlformats.org/drawingml/2006/main">
              <a:ext uri="{FF2B5EF4-FFF2-40B4-BE49-F238E27FC236}">
                <a16:creationId xmlns:a16="http://schemas.microsoft.com/office/drawing/2014/main" id="{3A447D8A-ADF7-4650-8B0F-51B31702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100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B1C21"/>
                </a:solidFill>
              </a:defRPr>
            </a:pPr>
            <a:r>
              <a:rPr sz="1650" b="0">
                <a:solidFill>
                  <a:srgbClr val="1B1C21"/>
                </a:solidFill>
              </a:rPr>
              <a:t>8. 人工核验清单与伪引文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个人实践：只读—审核—写回—记录</a:t>
            </a:r>
          </a:p>
        </p:txBody>
      </p:sp>
      <p:sp>
        <p:nvSpPr>
          <p:cNvPr id="5" name="practice-0">
            <a:extLst xmlns:a="http://schemas.openxmlformats.org/drawingml/2006/main">
              <a:ext uri="{FF2B5EF4-FFF2-40B4-BE49-F238E27FC236}">
                <a16:creationId xmlns:a16="http://schemas.microsoft.com/office/drawing/2014/main" id="{0205CEB1-7EBD-4A5A-9915-3CD51DEA9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06680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practice-text-0">
            <a:extLst xmlns:a="http://schemas.openxmlformats.org/drawingml/2006/main">
              <a:ext uri="{FF2B5EF4-FFF2-40B4-BE49-F238E27FC236}">
                <a16:creationId xmlns:a16="http://schemas.microsoft.com/office/drawing/2014/main" id="{524E7C7F-5D6A-4AF2-BC28-FF7A01227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1019175"/>
            <a:ext cx="8858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B1C21"/>
                </a:solidFill>
              </a:defRPr>
            </a:pPr>
            <a:r>
              <a:rPr sz="1875" b="0">
                <a:solidFill>
                  <a:srgbClr val="1B1C21"/>
                </a:solidFill>
              </a:rPr>
              <a:t>写出当前问题与最大不确定性</a:t>
            </a:r>
          </a:p>
        </p:txBody>
      </p:sp>
      <p:sp>
        <p:nvSpPr>
          <p:cNvPr id="7" name="practice-1">
            <a:extLst xmlns:a="http://schemas.openxmlformats.org/drawingml/2006/main">
              <a:ext uri="{FF2B5EF4-FFF2-40B4-BE49-F238E27FC236}">
                <a16:creationId xmlns:a16="http://schemas.microsoft.com/office/drawing/2014/main" id="{F0424D02-359E-4F87-A9DF-D831725D5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5737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practice-text-1">
            <a:extLst xmlns:a="http://schemas.openxmlformats.org/drawingml/2006/main">
              <a:ext uri="{FF2B5EF4-FFF2-40B4-BE49-F238E27FC236}">
                <a16:creationId xmlns:a16="http://schemas.microsoft.com/office/drawing/2014/main" id="{35903B52-1D77-4864-970E-F0FC505A9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1809750"/>
            <a:ext cx="8858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B1C21"/>
                </a:solidFill>
              </a:defRPr>
            </a:pPr>
            <a:r>
              <a:rPr sz="1875" b="0">
                <a:solidFill>
                  <a:srgbClr val="1B1C21"/>
                </a:solidFill>
              </a:rPr>
              <a:t>完成一轮只读范围收敛建议</a:t>
            </a:r>
          </a:p>
        </p:txBody>
      </p:sp>
      <p:sp>
        <p:nvSpPr>
          <p:cNvPr id="9" name="practice-2">
            <a:extLst xmlns:a="http://schemas.openxmlformats.org/drawingml/2006/main">
              <a:ext uri="{FF2B5EF4-FFF2-40B4-BE49-F238E27FC236}">
                <a16:creationId xmlns:a16="http://schemas.microsoft.com/office/drawing/2014/main" id="{5F4D3FA6-0A78-402C-A059-C68073E87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practice-text-2">
            <a:extLst xmlns:a="http://schemas.openxmlformats.org/drawingml/2006/main">
              <a:ext uri="{FF2B5EF4-FFF2-40B4-BE49-F238E27FC236}">
                <a16:creationId xmlns:a16="http://schemas.microsoft.com/office/drawing/2014/main" id="{BBC0E098-89BA-462A-81D3-DA440756B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600325"/>
            <a:ext cx="8858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B1C21"/>
                </a:solidFill>
              </a:defRPr>
            </a:pPr>
            <a:r>
              <a:rPr sz="1875" b="0">
                <a:solidFill>
                  <a:srgbClr val="1B1C21"/>
                </a:solidFill>
              </a:rPr>
              <a:t>人工选择或拒绝建议</a:t>
            </a:r>
          </a:p>
        </p:txBody>
      </p:sp>
      <p:sp>
        <p:nvSpPr>
          <p:cNvPr id="11" name="practice-3">
            <a:extLst xmlns:a="http://schemas.openxmlformats.org/drawingml/2006/main">
              <a:ext uri="{FF2B5EF4-FFF2-40B4-BE49-F238E27FC236}">
                <a16:creationId xmlns:a16="http://schemas.microsoft.com/office/drawing/2014/main" id="{7B89B1D4-7B34-482E-84AD-15EAEFFB4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3852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practice-text-3">
            <a:extLst xmlns:a="http://schemas.openxmlformats.org/drawingml/2006/main">
              <a:ext uri="{FF2B5EF4-FFF2-40B4-BE49-F238E27FC236}">
                <a16:creationId xmlns:a16="http://schemas.microsoft.com/office/drawing/2014/main" id="{E5A94FCF-731C-4920-B8F1-B55394322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90900"/>
            <a:ext cx="8858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B1C21"/>
                </a:solidFill>
              </a:defRPr>
            </a:pPr>
            <a:r>
              <a:rPr sz="1875" b="0">
                <a:solidFill>
                  <a:srgbClr val="1B1C21"/>
                </a:solidFill>
              </a:rPr>
              <a:t>只写回目标文件并检查 diff</a:t>
            </a:r>
          </a:p>
        </p:txBody>
      </p:sp>
      <p:sp>
        <p:nvSpPr>
          <p:cNvPr id="13" name="practice-4">
            <a:extLst xmlns:a="http://schemas.openxmlformats.org/drawingml/2006/main">
              <a:ext uri="{FF2B5EF4-FFF2-40B4-BE49-F238E27FC236}">
                <a16:creationId xmlns:a16="http://schemas.microsoft.com/office/drawing/2014/main" id="{08FB5F3B-673B-4920-948E-C75A23F0F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2910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practice-text-4">
            <a:extLst xmlns:a="http://schemas.openxmlformats.org/drawingml/2006/main">
              <a:ext uri="{FF2B5EF4-FFF2-40B4-BE49-F238E27FC236}">
                <a16:creationId xmlns:a16="http://schemas.microsoft.com/office/drawing/2014/main" id="{3B24E321-788A-4498-92C2-3B1509453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181475"/>
            <a:ext cx="8858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B1C21"/>
                </a:solidFill>
              </a:defRPr>
            </a:pPr>
            <a:r>
              <a:rPr sz="1875" b="0">
                <a:solidFill>
                  <a:srgbClr val="1B1C21"/>
                </a:solidFill>
              </a:rPr>
              <a:t>保存第一条 AI 使用记录</a:t>
            </a:r>
          </a:p>
        </p:txBody>
      </p:sp>
      <p:sp>
        <p:nvSpPr>
          <p:cNvPr id="15" name="content-footer">
            <a:extLst xmlns:a="http://schemas.openxmlformats.org/drawingml/2006/main">
              <a:ext uri="{FF2B5EF4-FFF2-40B4-BE49-F238E27FC236}">
                <a16:creationId xmlns:a16="http://schemas.microsoft.com/office/drawing/2014/main" id="{7946B76B-D879-4503-9F17-6B6DA0AFE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1070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18 分钟｜模型不可用时直接用 Markdown 完成任务契约与预期 diff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同伴反馈提问题，不替代作者决定</a:t>
            </a:r>
          </a:p>
        </p:txBody>
      </p:sp>
      <p:sp>
        <p:nvSpPr>
          <p:cNvPr id="5" name="question-1">
            <a:extLst xmlns:a="http://schemas.openxmlformats.org/drawingml/2006/main">
              <a:ext uri="{FF2B5EF4-FFF2-40B4-BE49-F238E27FC236}">
                <a16:creationId xmlns:a16="http://schemas.microsoft.com/office/drawing/2014/main" id="{58BB9383-8986-44C2-A5EA-4CF7B2037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352550"/>
            <a:ext cx="5905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question-text-1">
            <a:extLst xmlns:a="http://schemas.openxmlformats.org/drawingml/2006/main">
              <a:ext uri="{FF2B5EF4-FFF2-40B4-BE49-F238E27FC236}">
                <a16:creationId xmlns:a16="http://schemas.microsoft.com/office/drawing/2014/main" id="{34B2C31D-14CD-4DC5-A1D6-1C16189AE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238250"/>
            <a:ext cx="8953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B1C21"/>
                </a:solidFill>
              </a:defRPr>
            </a:pPr>
            <a:r>
              <a:rPr sz="2175" b="0">
                <a:solidFill>
                  <a:srgbClr val="1B1C21"/>
                </a:solidFill>
              </a:rPr>
              <a:t>16 次课内能形成最小闭环吗？</a:t>
            </a:r>
          </a:p>
        </p:txBody>
      </p:sp>
      <p:sp>
        <p:nvSpPr>
          <p:cNvPr id="7" name="question-2">
            <a:extLst xmlns:a="http://schemas.openxmlformats.org/drawingml/2006/main">
              <a:ext uri="{FF2B5EF4-FFF2-40B4-BE49-F238E27FC236}">
                <a16:creationId xmlns:a16="http://schemas.microsoft.com/office/drawing/2014/main" id="{874053A5-E212-4CA4-8E60-6FE900B74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5905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question-text-2">
            <a:extLst xmlns:a="http://schemas.openxmlformats.org/drawingml/2006/main">
              <a:ext uri="{FF2B5EF4-FFF2-40B4-BE49-F238E27FC236}">
                <a16:creationId xmlns:a16="http://schemas.microsoft.com/office/drawing/2014/main" id="{E23280C5-F03E-4F71-AD18-F3679472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438400"/>
            <a:ext cx="8953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B1C21"/>
                </a:solidFill>
              </a:defRPr>
            </a:pPr>
            <a:r>
              <a:rPr sz="2175" b="0">
                <a:solidFill>
                  <a:srgbClr val="1B1C21"/>
                </a:solidFill>
              </a:rPr>
              <a:t>哪个词或范围最模糊？</a:t>
            </a:r>
          </a:p>
        </p:txBody>
      </p:sp>
      <p:sp>
        <p:nvSpPr>
          <p:cNvPr id="9" name="question-3">
            <a:extLst xmlns:a="http://schemas.openxmlformats.org/drawingml/2006/main">
              <a:ext uri="{FF2B5EF4-FFF2-40B4-BE49-F238E27FC236}">
                <a16:creationId xmlns:a16="http://schemas.microsoft.com/office/drawing/2014/main" id="{BF438D73-33FA-4B63-9C6C-0CB249CD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52850"/>
            <a:ext cx="5905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question-text-3">
            <a:extLst xmlns:a="http://schemas.openxmlformats.org/drawingml/2006/main">
              <a:ext uri="{FF2B5EF4-FFF2-40B4-BE49-F238E27FC236}">
                <a16:creationId xmlns:a16="http://schemas.microsoft.com/office/drawing/2014/main" id="{13812E3C-FD80-4E87-A9FF-E695595B1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638550"/>
            <a:ext cx="8953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B1C21"/>
                </a:solidFill>
              </a:defRPr>
            </a:pPr>
            <a:r>
              <a:rPr sz="2175" b="0">
                <a:solidFill>
                  <a:srgbClr val="1B1C21"/>
                </a:solidFill>
              </a:rPr>
              <a:t>下一步最值得核验什么？</a:t>
            </a:r>
          </a:p>
        </p:txBody>
      </p:sp>
      <p:sp>
        <p:nvSpPr>
          <p:cNvPr id="11" name="content-footer">
            <a:extLst xmlns:a="http://schemas.openxmlformats.org/drawingml/2006/main">
              <a:ext uri="{FF2B5EF4-FFF2-40B4-BE49-F238E27FC236}">
                <a16:creationId xmlns:a16="http://schemas.microsoft.com/office/drawing/2014/main" id="{BDCFFB1D-FA8F-497B-853F-FE59047F5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1070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反馈由作者决定是否采纳，不共同提交项目。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首课只求留下一个可检查的起点</a:t>
            </a:r>
          </a:p>
        </p:txBody>
      </p:sp>
      <p:sp>
        <p:nvSpPr>
          <p:cNvPr id="5" name="left-heading">
            <a:extLst xmlns:a="http://schemas.openxmlformats.org/drawingml/2006/main">
              <a:ext uri="{FF2B5EF4-FFF2-40B4-BE49-F238E27FC236}">
                <a16:creationId xmlns:a16="http://schemas.microsoft.com/office/drawing/2014/main" id="{756A0438-3399-47D6-B835-C08FE92C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104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</a:rPr>
              <a:t>退出卡</a:t>
            </a:r>
          </a:p>
        </p:txBody>
      </p:sp>
      <p:sp>
        <p:nvSpPr>
          <p:cNvPr id="6" name="right-heading">
            <a:extLst xmlns:a="http://schemas.openxmlformats.org/drawingml/2006/main">
              <a:ext uri="{FF2B5EF4-FFF2-40B4-BE49-F238E27FC236}">
                <a16:creationId xmlns:a16="http://schemas.microsoft.com/office/drawing/2014/main" id="{2AD29F24-ACD7-43CF-9AC5-E7E0D7740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104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F4D78"/>
                </a:solidFill>
              </a:defRPr>
            </a:pPr>
            <a:r>
              <a:rPr sz="2025" b="1">
                <a:solidFill>
                  <a:srgbClr val="1F4D78"/>
                </a:solidFill>
              </a:rPr>
              <a:t>课后引导阅读</a:t>
            </a:r>
          </a:p>
        </p:txBody>
      </p:sp>
      <p:sp>
        <p:nvSpPr>
          <p:cNvPr id="7" name="column-divider">
            <a:extLst xmlns:a="http://schemas.openxmlformats.org/drawingml/2006/main">
              <a:ext uri="{FF2B5EF4-FFF2-40B4-BE49-F238E27FC236}">
                <a16:creationId xmlns:a16="http://schemas.microsoft.com/office/drawing/2014/main" id="{F349F692-8B36-4065-8FD8-C91299F5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123950"/>
            <a:ext cx="0" cy="3714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9DD"/>
            </a:solidFill>
            <a:prstDash val="solid"/>
          </a:ln>
        </p:spPr>
      </p:sp>
      <p:sp>
        <p:nvSpPr>
          <p:cNvPr id="8" name="left-body">
            <a:extLst xmlns:a="http://schemas.openxmlformats.org/drawingml/2006/main">
              <a:ext uri="{FF2B5EF4-FFF2-40B4-BE49-F238E27FC236}">
                <a16:creationId xmlns:a16="http://schemas.microsoft.com/office/drawing/2014/main" id="{7EB595DC-6787-4B29-948A-D73BEA4E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33550"/>
            <a:ext cx="4762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最清楚的一点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仍困惑的一点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环境是否可用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当前问题与最大不确定性</a:t>
            </a:r>
          </a:p>
        </p:txBody>
      </p:sp>
      <p:sp>
        <p:nvSpPr>
          <p:cNvPr id="9" name="right-body">
            <a:extLst xmlns:a="http://schemas.openxmlformats.org/drawingml/2006/main">
              <a:ext uri="{FF2B5EF4-FFF2-40B4-BE49-F238E27FC236}">
                <a16:creationId xmlns:a16="http://schemas.microsoft.com/office/drawing/2014/main" id="{C9E9E435-7309-4C88-BEC9-8EAFCD012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733550"/>
            <a:ext cx="4762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Simon：问题、目标、约束、评价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Wang 2023：AI 介入科学发现环节</a:t>
            </a:r>
          </a:p>
          <a:p xmlns:a="http://schemas.openxmlformats.org/drawingml/2006/main">
            <a:pPr algn="l">
              <a:defRPr sz="1950" b="0">
                <a:solidFill>
                  <a:srgbClr val="1B1C21"/>
                </a:solidFill>
              </a:defRPr>
            </a:pPr>
            <a:r>
              <a:rPr sz="1950" b="0">
                <a:solidFill>
                  <a:srgbClr val="1B1C21"/>
                </a:solidFill>
              </a:rPr>
              <a:t>• AI 导航 → 原文核验 → 偏差审计</a:t>
            </a:r>
          </a:p>
        </p:txBody>
      </p:sp>
      <p:sp>
        <p:nvSpPr>
          <p:cNvPr id="10" name="content-footer">
            <a:extLst xmlns:a="http://schemas.openxmlformats.org/drawingml/2006/main">
              <a:ext uri="{FF2B5EF4-FFF2-40B4-BE49-F238E27FC236}">
                <a16:creationId xmlns:a16="http://schemas.microsoft.com/office/drawing/2014/main" id="{6638C701-8E38-4B2F-A405-04100FEB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1070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不单独提交；下一课进入科研伦理、Agent 权限与工件追踪。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2026-07-30T01:42:35.2430000Z</dcterms:created>
  <dcterms:modified xsi:type="dcterms:W3CDTF">2026-07-30T01:42:35.2430000Z</dcterms:modified>
</coreProperties>
</file>