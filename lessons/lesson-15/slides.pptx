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c6f298f78a44f0" /><Relationship Type="http://schemas.openxmlformats.org/officeDocument/2006/relationships/extended-properties" Target="/docProps/app.xml" Id="Ra87c2843eab14992" /><Relationship Type="http://schemas.openxmlformats.org/officeDocument/2006/relationships/officeDocument" Target="/ppt/presentation.xml" Id="R31300be4a9a545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f86922f5bc469f"/>
  </p:sldMasterIdLst>
  <p:notesMasterIdLst>
    <p:notesMasterId xmlns:r="http://schemas.openxmlformats.org/officeDocument/2006/relationships" r:id="R0ef91bbc54e9499d"/>
  </p:notesMasterIdLst>
  <p:sldIdLst>
    <p:sldId xmlns:r="http://schemas.openxmlformats.org/officeDocument/2006/relationships" id="256" r:id="R061e8c3ad58546a4"/>
    <p:sldId xmlns:r="http://schemas.openxmlformats.org/officeDocument/2006/relationships" id="257" r:id="Rcd6ab80b19224437"/>
    <p:sldId xmlns:r="http://schemas.openxmlformats.org/officeDocument/2006/relationships" id="258" r:id="R68b43c3ff099492c"/>
    <p:sldId xmlns:r="http://schemas.openxmlformats.org/officeDocument/2006/relationships" id="259" r:id="R3491e071e2304a60"/>
    <p:sldId xmlns:r="http://schemas.openxmlformats.org/officeDocument/2006/relationships" id="260" r:id="R51fc569b1c834038"/>
    <p:sldId xmlns:r="http://schemas.openxmlformats.org/officeDocument/2006/relationships" id="261" r:id="Rde835ef9d13f4b78"/>
    <p:sldId xmlns:r="http://schemas.openxmlformats.org/officeDocument/2006/relationships" id="262" r:id="Ra4727dc50edc4cbe"/>
    <p:sldId xmlns:r="http://schemas.openxmlformats.org/officeDocument/2006/relationships" id="263" r:id="R2e611c93ce7b4d4c"/>
    <p:sldId xmlns:r="http://schemas.openxmlformats.org/officeDocument/2006/relationships" id="264" r:id="R27ce0200027e47c8"/>
    <p:sldId xmlns:r="http://schemas.openxmlformats.org/officeDocument/2006/relationships" id="265" r:id="R6459100bd376409d"/>
    <p:sldId xmlns:r="http://schemas.openxmlformats.org/officeDocument/2006/relationships" id="266" r:id="Rb9e6a5b48f3a43c5"/>
    <p:sldId xmlns:r="http://schemas.openxmlformats.org/officeDocument/2006/relationships" id="267" r:id="R92e9f1760f354087"/>
    <p:sldId xmlns:r="http://schemas.openxmlformats.org/officeDocument/2006/relationships" id="268" r:id="R1e94a698a60b45d4"/>
    <p:sldId xmlns:r="http://schemas.openxmlformats.org/officeDocument/2006/relationships" id="269" r:id="R92b6c7c8a142424b"/>
    <p:sldId xmlns:r="http://schemas.openxmlformats.org/officeDocument/2006/relationships" id="270" r:id="R44abb075dc314acb"/>
    <p:sldId xmlns:r="http://schemas.openxmlformats.org/officeDocument/2006/relationships" id="271" r:id="R17e1dc8fa4c4417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c9c37185134723" /><Relationship Type="http://schemas.openxmlformats.org/officeDocument/2006/relationships/slideMaster" Target="/ppt/slideMasters/slideMaster1.xml" Id="R11f86922f5bc469f" /><Relationship Type="http://schemas.openxmlformats.org/officeDocument/2006/relationships/notesMaster" Target="/ppt/notesMasters/notesMaster1.xml" Id="R0ef91bbc54e9499d" /><Relationship Type="http://schemas.openxmlformats.org/officeDocument/2006/relationships/presProps" Target="/ppt/presProps.xml" Id="Rfa3868e533d04e63" /><Relationship Type="http://schemas.openxmlformats.org/officeDocument/2006/relationships/viewProps" Target="/ppt/viewProps.xml" Id="Rd3d23a7c06f9496e" /><Relationship Type="http://schemas.openxmlformats.org/officeDocument/2006/relationships/tableStyles" Target="/ppt/tableStyles.xml" Id="R7b02b970073545f3" /><Relationship Type="http://schemas.openxmlformats.org/officeDocument/2006/relationships/slide" Target="/ppt/slides/slide1.xml" Id="R061e8c3ad58546a4" /><Relationship Type="http://schemas.openxmlformats.org/officeDocument/2006/relationships/slide" Target="/ppt/slides/slide2.xml" Id="Rcd6ab80b19224437" /><Relationship Type="http://schemas.openxmlformats.org/officeDocument/2006/relationships/slide" Target="/ppt/slides/slide3.xml" Id="R68b43c3ff099492c" /><Relationship Type="http://schemas.openxmlformats.org/officeDocument/2006/relationships/slide" Target="/ppt/slides/slide4.xml" Id="R3491e071e2304a60" /><Relationship Type="http://schemas.openxmlformats.org/officeDocument/2006/relationships/slide" Target="/ppt/slides/slide5.xml" Id="R51fc569b1c834038" /><Relationship Type="http://schemas.openxmlformats.org/officeDocument/2006/relationships/slide" Target="/ppt/slides/slide6.xml" Id="Rde835ef9d13f4b78" /><Relationship Type="http://schemas.openxmlformats.org/officeDocument/2006/relationships/slide" Target="/ppt/slides/slide7.xml" Id="Ra4727dc50edc4cbe" /><Relationship Type="http://schemas.openxmlformats.org/officeDocument/2006/relationships/slide" Target="/ppt/slides/slide8.xml" Id="R2e611c93ce7b4d4c" /><Relationship Type="http://schemas.openxmlformats.org/officeDocument/2006/relationships/slide" Target="/ppt/slides/slide9.xml" Id="R27ce0200027e47c8" /><Relationship Type="http://schemas.openxmlformats.org/officeDocument/2006/relationships/slide" Target="/ppt/slides/slide10.xml" Id="R6459100bd376409d" /><Relationship Type="http://schemas.openxmlformats.org/officeDocument/2006/relationships/slide" Target="/ppt/slides/slide11.xml" Id="Rb9e6a5b48f3a43c5" /><Relationship Type="http://schemas.openxmlformats.org/officeDocument/2006/relationships/slide" Target="/ppt/slides/slide12.xml" Id="R92e9f1760f354087" /><Relationship Type="http://schemas.openxmlformats.org/officeDocument/2006/relationships/slide" Target="/ppt/slides/slide13.xml" Id="R1e94a698a60b45d4" /><Relationship Type="http://schemas.openxmlformats.org/officeDocument/2006/relationships/slide" Target="/ppt/slides/slide14.xml" Id="R92b6c7c8a142424b" /><Relationship Type="http://schemas.openxmlformats.org/officeDocument/2006/relationships/slide" Target="/ppt/slides/slide15.xml" Id="R44abb075dc314acb" /><Relationship Type="http://schemas.openxmlformats.org/officeDocument/2006/relationships/slide" Target="/ppt/slides/slide16.xml" Id="R17e1dc8fa4c441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5cb372429c4a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2121a9985643cb" /><Relationship Type="http://schemas.openxmlformats.org/officeDocument/2006/relationships/notesMaster" Target="/ppt/notesMasters/notesMaster1.xml" Id="R664788f0c6404d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75e3f5bb994eb5" /><Relationship Type="http://schemas.openxmlformats.org/officeDocument/2006/relationships/notesMaster" Target="/ppt/notesMasters/notesMaster1.xml" Id="Rf60b3ff5a68a42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7d56aece444268" /><Relationship Type="http://schemas.openxmlformats.org/officeDocument/2006/relationships/notesMaster" Target="/ppt/notesMasters/notesMaster1.xml" Id="R7522302c540d42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2e24867fc24c11" /><Relationship Type="http://schemas.openxmlformats.org/officeDocument/2006/relationships/notesMaster" Target="/ppt/notesMasters/notesMaster1.xml" Id="Rca7253735a6446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3cc1a6284844f8" /><Relationship Type="http://schemas.openxmlformats.org/officeDocument/2006/relationships/notesMaster" Target="/ppt/notesMasters/notesMaster1.xml" Id="Rd936822adc264a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82b0d233374138" /><Relationship Type="http://schemas.openxmlformats.org/officeDocument/2006/relationships/notesMaster" Target="/ppt/notesMasters/notesMaster1.xml" Id="R1d02fa91029f40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0487a028a9464d" /><Relationship Type="http://schemas.openxmlformats.org/officeDocument/2006/relationships/notesMaster" Target="/ppt/notesMasters/notesMaster1.xml" Id="R245075e871e740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b6d0b693fd4925" /><Relationship Type="http://schemas.openxmlformats.org/officeDocument/2006/relationships/notesMaster" Target="/ppt/notesMasters/notesMaster1.xml" Id="Rb6e5a328d93649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9f45a9572748ed" /><Relationship Type="http://schemas.openxmlformats.org/officeDocument/2006/relationships/notesMaster" Target="/ppt/notesMasters/notesMaster1.xml" Id="R642a2d95e94b46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722f41e9e047d3" /><Relationship Type="http://schemas.openxmlformats.org/officeDocument/2006/relationships/notesMaster" Target="/ppt/notesMasters/notesMaster1.xml" Id="R10834d7f8376400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51cd8c3d3b4ecd" /><Relationship Type="http://schemas.openxmlformats.org/officeDocument/2006/relationships/notesMaster" Target="/ppt/notesMasters/notesMaster1.xml" Id="R783ecabf81854a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7746a103604a0b" /><Relationship Type="http://schemas.openxmlformats.org/officeDocument/2006/relationships/notesMaster" Target="/ppt/notesMasters/notesMaster1.xml" Id="Ra65620c5642e4fa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d6075834824cce" /><Relationship Type="http://schemas.openxmlformats.org/officeDocument/2006/relationships/notesMaster" Target="/ppt/notesMasters/notesMaster1.xml" Id="R6285980c813b4e1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3de6ad1f8174019" /><Relationship Type="http://schemas.openxmlformats.org/officeDocument/2006/relationships/notesMaster" Target="/ppt/notesMasters/notesMaster1.xml" Id="R4f6d2641f95142c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dd0eac40f147e8" /><Relationship Type="http://schemas.openxmlformats.org/officeDocument/2006/relationships/notesMaster" Target="/ppt/notesMasters/notesMaster1.xml" Id="R0f18ab5b3afb410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c236bbfa60a4d46" /><Relationship Type="http://schemas.openxmlformats.org/officeDocument/2006/relationships/notesMaster" Target="/ppt/notesMasters/notesMaster1.xml" Id="Rf9616bfc3a1f4a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本课把内部初稿暴露给固定同伴组，目标是提前暴露致命缺口，不是排名。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回扣第14课初稿字段，五个问题来自本课 rubric。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最低同伴数与 assignments 一致；两条回应可来自同一位同伴的两条具体意见。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用虚构样例共同判断致命、重要、表达三类。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anonymous sample.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五维度是对十项门条件的课堂可操作预检，不替代第16课正式检查。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Smith, A. J. (1990). The Task of the Referee.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同伴只提供输入，作者保留采纳决定并记录理由。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- Stanford Scientific Writing, Unit 8.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每条意见进入四类回应、六字段和三级优先级；不能只写‘收到’。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Booth et al., The Craft of Research, Ch. 9 and 11.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输出本身不构成证据，采纳与否由作者决定。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案例和评审均为课堂构造，不暗示真实效果。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case and peer-review trace.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15分钟单轮与 assignments 最低要求一致；作者在下一段回应。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口头澄清后立即写回应记录；保留异议不是‘我不同意’，必须有依据。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Booth et al., The Craft of Research, Ch. 9.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十项逐字对应 assignments Checkpoint 4；不得用五维 rubric 替代门条件。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82-90分钟生成优先级并桥接第16课，不要求当场修完。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备用实践索引，仅在学生需要路径提示时使用。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备用反例用于评审语言校准。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review comment.</a:t>
            </a:r>
          </a:p>
          <a:p xmlns:a="http://schemas.openxmlformats.org/drawingml/2006/main">
            <a:r>
              <a:t>- /Users/bright/Projects/courses/graduate/lessons/lesson-15/handout.md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备用退出卡，再次强调作者责任与第16课衔接。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1333a91e7a4e10" /><Relationship Type="http://schemas.openxmlformats.org/officeDocument/2006/relationships/image" Target="/ppt/media/image.png" Id="Rbd42ca24292d446a" /><Relationship Type="http://schemas.openxmlformats.org/officeDocument/2006/relationships/image" Target="/ppt/media/image2.png" Id="Rb6b8b0ee3b394ecf" /><Relationship Type="http://schemas.openxmlformats.org/officeDocument/2006/relationships/image" Target="/ppt/media/image3.png" Id="R94e81ff4820341e6" /><Relationship Type="http://schemas.openxmlformats.org/officeDocument/2006/relationships/image" Target="/ppt/media/image4.png" Id="R9ef483f8bca5422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e2e5eeebba42b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bcfbb32b0a49d2" /><Relationship Type="http://schemas.openxmlformats.org/officeDocument/2006/relationships/image" Target="/ppt/media/image2.png" Id="Rc2724e1b9bce4a20" /><Relationship Type="http://schemas.openxmlformats.org/officeDocument/2006/relationships/image" Target="/ppt/media/image5.png" Id="R6b6292ad342640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ea51e0915e47d8" /><Relationship Type="http://schemas.openxmlformats.org/officeDocument/2006/relationships/image" Target="/ppt/media/image.png" Id="R6386a38eb8424b97" /><Relationship Type="http://schemas.openxmlformats.org/officeDocument/2006/relationships/image" Target="/ppt/media/image3.png" Id="R0fc3afd104be4d60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42ca24292d446a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b8b0ee3b394ecf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e81ff4820341e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483f8bca54222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724e1b9bce4a20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292ad342640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6a38eb8424b97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c3afd104be4d60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6382347f0d4a06" /><Relationship Type="http://schemas.openxmlformats.org/officeDocument/2006/relationships/slideLayout" Target="/ppt/slideLayouts/slideLayout1.xml" Id="R71d89d71b41a4dd5" /><Relationship Type="http://schemas.openxmlformats.org/officeDocument/2006/relationships/slideLayout" Target="/ppt/slideLayouts/slideLayout2.xml" Id="R9dcc378b1824458a" /><Relationship Type="http://schemas.openxmlformats.org/officeDocument/2006/relationships/slideLayout" Target="/ppt/slideLayouts/slideLayout3.xml" Id="Ra4058a80f1c548e9" /><Relationship Type="http://schemas.openxmlformats.org/officeDocument/2006/relationships/slideLayout" Target="/ppt/slideLayouts/slideLayout4.xml" Id="R9b63376f62e6477b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d89d71b41a4dd5"/>
    <p:sldLayoutId xmlns:r="http://schemas.openxmlformats.org/officeDocument/2006/relationships" id="2147483650" r:id="R9dcc378b1824458a"/>
    <p:sldLayoutId xmlns:r="http://schemas.openxmlformats.org/officeDocument/2006/relationships" id="2147483651" r:id="Ra4058a80f1c548e9"/>
    <p:sldLayoutId xmlns:r="http://schemas.openxmlformats.org/officeDocument/2006/relationships" id="2147483652" r:id="R9b63376f62e6477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b98e942fa49af" /><Relationship Type="http://schemas.openxmlformats.org/officeDocument/2006/relationships/notesSlide" Target="/ppt/notesSlides/notesSlide1.xml" Id="Rc60d96c73e994f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1a0cb1ca1bd44cc" /><Relationship Type="http://schemas.openxmlformats.org/officeDocument/2006/relationships/notesSlide" Target="/ppt/notesSlides/notesSlide2.xml" Id="R398d3765619342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e7fc6e1c9174847" /><Relationship Type="http://schemas.openxmlformats.org/officeDocument/2006/relationships/notesSlide" Target="/ppt/notesSlides/notesSlide3.xml" Id="Rc73d88a0814b4e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3590a8808174f38" /><Relationship Type="http://schemas.openxmlformats.org/officeDocument/2006/relationships/notesSlide" Target="/ppt/notesSlides/notesSlide4.xml" Id="Ra13966cdbc7246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cc6a2e3c815467f" /><Relationship Type="http://schemas.openxmlformats.org/officeDocument/2006/relationships/notesSlide" Target="/ppt/notesSlides/notesSlide5.xml" Id="R23611e94207d41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073bf182de43ba" /><Relationship Type="http://schemas.openxmlformats.org/officeDocument/2006/relationships/notesSlide" Target="/ppt/notesSlides/notesSlide6.xml" Id="R15b3f7e9f22148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e976a9846144d8" /><Relationship Type="http://schemas.openxmlformats.org/officeDocument/2006/relationships/notesSlide" Target="/ppt/notesSlides/notesSlide7.xml" Id="R0115f1de350844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1e0df1e51b4f48" /><Relationship Type="http://schemas.openxmlformats.org/officeDocument/2006/relationships/notesSlide" Target="/ppt/notesSlides/notesSlide8.xml" Id="R89f054622afd4b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bcd7c377a2e4db0" /><Relationship Type="http://schemas.openxmlformats.org/officeDocument/2006/relationships/notesSlide" Target="/ppt/notesSlides/notesSlide9.xml" Id="R6d5499fb914b4c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199672dd6b24049" /><Relationship Type="http://schemas.openxmlformats.org/officeDocument/2006/relationships/notesSlide" Target="/ppt/notesSlides/notesSlide10.xml" Id="Rf4499651361247b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c6b113570f4408" /><Relationship Type="http://schemas.openxmlformats.org/officeDocument/2006/relationships/notesSlide" Target="/ppt/notesSlides/notesSlide11.xml" Id="R0ae617fd53c843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074471d15a4a83" /><Relationship Type="http://schemas.openxmlformats.org/officeDocument/2006/relationships/notesSlide" Target="/ppt/notesSlides/notesSlide12.xml" Id="R9218ca3915cd414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bc66aeb5f8d4fe5" /><Relationship Type="http://schemas.openxmlformats.org/officeDocument/2006/relationships/notesSlide" Target="/ppt/notesSlides/notesSlide13.xml" Id="Ra2c837f38e3449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8464ae078984da8" /><Relationship Type="http://schemas.openxmlformats.org/officeDocument/2006/relationships/notesSlide" Target="/ppt/notesSlides/notesSlide14.xml" Id="R0a2ef2fc8d0840a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ffaae7cb304efc" /><Relationship Type="http://schemas.openxmlformats.org/officeDocument/2006/relationships/notesSlide" Target="/ppt/notesSlides/notesSlide15.xml" Id="R8c60a0698ba2445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6e23408b6d4748" /><Relationship Type="http://schemas.openxmlformats.org/officeDocument/2006/relationships/notesSlide" Target="/ppt/notesSlides/notesSlide16.xml" Id="Rf3d09e0e99c24ba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200150" y="3067050"/>
            <a:ext cx="9791700" cy="23241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14 课初稿 → 同伴按 rubric 质询 → 作者记录回应 → 第 16 课论证门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2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形成性预检｜本课不正式提交｜作者保留最终决定权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2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第十五讲｜阶段八：回写、评审与表达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219200"/>
            <a:ext cx="1019175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同行评审、论证门预检与修改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外观完整不等于论证成立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draft">
            <a:extLst xmlns:a="http://schemas.openxmlformats.org/drawingml/2006/main">
              <a:ext uri="{FF2B5EF4-FFF2-40B4-BE49-F238E27FC236}">
                <a16:creationId xmlns:a16="http://schemas.microsoft.com/office/drawing/2014/main" id="{5B1DE15B-1C6E-4B2D-8BBE-45B84A11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45339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论文式短文初稿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问题｜方法｜验证｜结果｜局限｜AI 披露</a:t>
            </a:r>
          </a:p>
        </p:txBody>
      </p:sp>
      <p:sp>
        <p:nvSpPr>
          <p:cNvPr id="7" name="neq">
            <a:extLst xmlns:a="http://schemas.openxmlformats.org/drawingml/2006/main">
              <a:ext uri="{FF2B5EF4-FFF2-40B4-BE49-F238E27FC236}">
                <a16:creationId xmlns:a16="http://schemas.microsoft.com/office/drawing/2014/main" id="{4351B605-875B-4787-923A-BF6972A0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383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8" name="p20a">
            <a:extLst xmlns:a="http://schemas.openxmlformats.org/drawingml/2006/main">
              <a:ext uri="{FF2B5EF4-FFF2-40B4-BE49-F238E27FC236}">
                <a16:creationId xmlns:a16="http://schemas.microsoft.com/office/drawing/2014/main" id="{F579A7F0-7C0E-45E1-95E2-7E33D6EE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1049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p20b">
            <a:extLst xmlns:a="http://schemas.openxmlformats.org/drawingml/2006/main">
              <a:ext uri="{FF2B5EF4-FFF2-40B4-BE49-F238E27FC236}">
                <a16:creationId xmlns:a16="http://schemas.microsoft.com/office/drawing/2014/main" id="{0CB88B4C-A8BF-4395-9A81-5C8ECA07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10490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论证链完整？</a:t>
            </a:r>
          </a:p>
        </p:txBody>
      </p:sp>
      <p:sp>
        <p:nvSpPr>
          <p:cNvPr id="10" name="p21a">
            <a:extLst xmlns:a="http://schemas.openxmlformats.org/drawingml/2006/main">
              <a:ext uri="{FF2B5EF4-FFF2-40B4-BE49-F238E27FC236}">
                <a16:creationId xmlns:a16="http://schemas.microsoft.com/office/drawing/2014/main" id="{D3AB17F7-F4E5-4DD9-A6FA-7B5694B3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478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21b">
            <a:extLst xmlns:a="http://schemas.openxmlformats.org/drawingml/2006/main">
              <a:ext uri="{FF2B5EF4-FFF2-40B4-BE49-F238E27FC236}">
                <a16:creationId xmlns:a16="http://schemas.microsoft.com/office/drawing/2014/main" id="{142F90EB-F6F6-44C7-8582-95A7655C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4785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证据充分？</a:t>
            </a:r>
          </a:p>
        </p:txBody>
      </p:sp>
      <p:sp>
        <p:nvSpPr>
          <p:cNvPr id="12" name="p22a">
            <a:extLst xmlns:a="http://schemas.openxmlformats.org/drawingml/2006/main">
              <a:ext uri="{FF2B5EF4-FFF2-40B4-BE49-F238E27FC236}">
                <a16:creationId xmlns:a16="http://schemas.microsoft.com/office/drawing/2014/main" id="{9EFBC611-E5A4-4051-96A4-39EA5AE9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90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22b">
            <a:extLst xmlns:a="http://schemas.openxmlformats.org/drawingml/2006/main">
              <a:ext uri="{FF2B5EF4-FFF2-40B4-BE49-F238E27FC236}">
                <a16:creationId xmlns:a16="http://schemas.microsoft.com/office/drawing/2014/main" id="{D41CDAAD-DC95-41CE-84A5-6D089E83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59080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局限披露？</a:t>
            </a:r>
          </a:p>
        </p:txBody>
      </p:sp>
      <p:sp>
        <p:nvSpPr>
          <p:cNvPr id="14" name="p23a">
            <a:extLst xmlns:a="http://schemas.openxmlformats.org/drawingml/2006/main">
              <a:ext uri="{FF2B5EF4-FFF2-40B4-BE49-F238E27FC236}">
                <a16:creationId xmlns:a16="http://schemas.microsoft.com/office/drawing/2014/main" id="{21D7D9D8-DF87-41B7-BF37-76519125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337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5" name="p23b">
            <a:extLst xmlns:a="http://schemas.openxmlformats.org/drawingml/2006/main">
              <a:ext uri="{FF2B5EF4-FFF2-40B4-BE49-F238E27FC236}">
                <a16:creationId xmlns:a16="http://schemas.microsoft.com/office/drawing/2014/main" id="{6804FA99-B48B-4EA7-B75D-6F4EC8E5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3375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可复现？</a:t>
            </a:r>
          </a:p>
        </p:txBody>
      </p:sp>
      <p:sp>
        <p:nvSpPr>
          <p:cNvPr id="16" name="p24a">
            <a:extLst xmlns:a="http://schemas.openxmlformats.org/drawingml/2006/main">
              <a:ext uri="{FF2B5EF4-FFF2-40B4-BE49-F238E27FC236}">
                <a16:creationId xmlns:a16="http://schemas.microsoft.com/office/drawing/2014/main" id="{B57D1127-8023-42B6-8DC0-7D9D6872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767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p24b">
            <a:extLst xmlns:a="http://schemas.openxmlformats.org/drawingml/2006/main">
              <a:ext uri="{FF2B5EF4-FFF2-40B4-BE49-F238E27FC236}">
                <a16:creationId xmlns:a16="http://schemas.microsoft.com/office/drawing/2014/main" id="{3D88A53F-2452-40FD-AEDF-20B48B6B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76700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伦理透明？</a:t>
            </a:r>
          </a:p>
        </p:txBody>
      </p:sp>
      <p:sp>
        <p:nvSpPr>
          <p:cNvPr id="18" name="p2c">
            <a:extLst xmlns:a="http://schemas.openxmlformats.org/drawingml/2006/main">
              <a:ext uri="{FF2B5EF4-FFF2-40B4-BE49-F238E27FC236}">
                <a16:creationId xmlns:a16="http://schemas.microsoft.com/office/drawing/2014/main" id="{039BEEB2-6152-4101-843B-D868CDB4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同伴评审检查的是论证是否成立，不是外观是否完整。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本课形成四项第 16 课直接输入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3n0">
            <a:extLst xmlns:a="http://schemas.openxmlformats.org/drawingml/2006/main">
              <a:ext uri="{FF2B5EF4-FFF2-40B4-BE49-F238E27FC236}">
                <a16:creationId xmlns:a16="http://schemas.microsoft.com/office/drawing/2014/main" id="{CE95A481-DDBA-4574-8EEC-D684DBF1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3a0">
            <a:extLst xmlns:a="http://schemas.openxmlformats.org/drawingml/2006/main">
              <a:ext uri="{FF2B5EF4-FFF2-40B4-BE49-F238E27FC236}">
                <a16:creationId xmlns:a16="http://schemas.microsoft.com/office/drawing/2014/main" id="{2AE73BDB-1168-43F5-9AE5-3A7284E5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066800"/>
            <a:ext cx="213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同行评审记录</a:t>
            </a:r>
          </a:p>
        </p:txBody>
      </p:sp>
      <p:sp>
        <p:nvSpPr>
          <p:cNvPr id="8" name="p3b0">
            <a:extLst xmlns:a="http://schemas.openxmlformats.org/drawingml/2006/main">
              <a:ext uri="{FF2B5EF4-FFF2-40B4-BE49-F238E27FC236}">
                <a16:creationId xmlns:a16="http://schemas.microsoft.com/office/drawing/2014/main" id="{23E6C95E-423F-494E-95D6-22493636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066800"/>
            <a:ext cx="4724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 1 位固定同伴 + 收 1 位三问</a:t>
            </a:r>
          </a:p>
        </p:txBody>
      </p:sp>
      <p:sp>
        <p:nvSpPr>
          <p:cNvPr id="9" name="p3c0">
            <a:extLst xmlns:a="http://schemas.openxmlformats.org/drawingml/2006/main">
              <a:ext uri="{FF2B5EF4-FFF2-40B4-BE49-F238E27FC236}">
                <a16:creationId xmlns:a16="http://schemas.microsoft.com/office/drawing/2014/main" id="{90154E78-1883-4D00-AE70-ACD62D6F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066800"/>
            <a:ext cx="3086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peer-review-log.md</a:t>
            </a:r>
          </a:p>
        </p:txBody>
      </p:sp>
      <p:sp>
        <p:nvSpPr>
          <p:cNvPr id="10" name="p3n1">
            <a:extLst xmlns:a="http://schemas.openxmlformats.org/drawingml/2006/main">
              <a:ext uri="{FF2B5EF4-FFF2-40B4-BE49-F238E27FC236}">
                <a16:creationId xmlns:a16="http://schemas.microsoft.com/office/drawing/2014/main" id="{B2F809E8-5820-4D23-B450-B49BA2CD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19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3a1">
            <a:extLst xmlns:a="http://schemas.openxmlformats.org/drawingml/2006/main">
              <a:ext uri="{FF2B5EF4-FFF2-40B4-BE49-F238E27FC236}">
                <a16:creationId xmlns:a16="http://schemas.microsoft.com/office/drawing/2014/main" id="{D0DD49B7-DB3D-449E-8BA7-2C8163CC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19300"/>
            <a:ext cx="213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回应记录</a:t>
            </a:r>
          </a:p>
        </p:txBody>
      </p:sp>
      <p:sp>
        <p:nvSpPr>
          <p:cNvPr id="12" name="p3b1">
            <a:extLst xmlns:a="http://schemas.openxmlformats.org/drawingml/2006/main">
              <a:ext uri="{FF2B5EF4-FFF2-40B4-BE49-F238E27FC236}">
                <a16:creationId xmlns:a16="http://schemas.microsoft.com/office/drawing/2014/main" id="{9393E0FE-0622-43AA-B7E2-34A6D9CF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19300"/>
            <a:ext cx="4724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≥2 条六字段；含 1 采纳 + 1 其他</a:t>
            </a:r>
          </a:p>
        </p:txBody>
      </p:sp>
      <p:sp>
        <p:nvSpPr>
          <p:cNvPr id="13" name="p3c1">
            <a:extLst xmlns:a="http://schemas.openxmlformats.org/drawingml/2006/main">
              <a:ext uri="{FF2B5EF4-FFF2-40B4-BE49-F238E27FC236}">
                <a16:creationId xmlns:a16="http://schemas.microsoft.com/office/drawing/2014/main" id="{08944E29-4B2F-462F-AA6C-6D369E61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19300"/>
            <a:ext cx="3086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response-log.md</a:t>
            </a:r>
          </a:p>
        </p:txBody>
      </p:sp>
      <p:sp>
        <p:nvSpPr>
          <p:cNvPr id="14" name="p3n2">
            <a:extLst xmlns:a="http://schemas.openxmlformats.org/drawingml/2006/main">
              <a:ext uri="{FF2B5EF4-FFF2-40B4-BE49-F238E27FC236}">
                <a16:creationId xmlns:a16="http://schemas.microsoft.com/office/drawing/2014/main" id="{8E844513-5102-491B-BBD0-8CB5AEFE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3a2">
            <a:extLst xmlns:a="http://schemas.openxmlformats.org/drawingml/2006/main">
              <a:ext uri="{FF2B5EF4-FFF2-40B4-BE49-F238E27FC236}">
                <a16:creationId xmlns:a16="http://schemas.microsoft.com/office/drawing/2014/main" id="{0C097657-BC96-41B7-9301-A9C13517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71800"/>
            <a:ext cx="213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修改优先级</a:t>
            </a:r>
          </a:p>
        </p:txBody>
      </p:sp>
      <p:sp>
        <p:nvSpPr>
          <p:cNvPr id="16" name="p3b2">
            <a:extLst xmlns:a="http://schemas.openxmlformats.org/drawingml/2006/main">
              <a:ext uri="{FF2B5EF4-FFF2-40B4-BE49-F238E27FC236}">
                <a16:creationId xmlns:a16="http://schemas.microsoft.com/office/drawing/2014/main" id="{0FCE98D6-A94F-4FDF-8EEC-3CC35EA5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971800"/>
            <a:ext cx="4724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致命 / 重要 / 表达；写工件与时限</a:t>
            </a:r>
          </a:p>
        </p:txBody>
      </p:sp>
      <p:sp>
        <p:nvSpPr>
          <p:cNvPr id="17" name="p3c2">
            <a:extLst xmlns:a="http://schemas.openxmlformats.org/drawingml/2006/main">
              <a:ext uri="{FF2B5EF4-FFF2-40B4-BE49-F238E27FC236}">
                <a16:creationId xmlns:a16="http://schemas.microsoft.com/office/drawing/2014/main" id="{43FB2010-533E-49F0-810D-240F5ED0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71800"/>
            <a:ext cx="3086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revision-priority.md</a:t>
            </a:r>
          </a:p>
        </p:txBody>
      </p:sp>
      <p:sp>
        <p:nvSpPr>
          <p:cNvPr id="18" name="p3n3">
            <a:extLst xmlns:a="http://schemas.openxmlformats.org/drawingml/2006/main">
              <a:ext uri="{FF2B5EF4-FFF2-40B4-BE49-F238E27FC236}">
                <a16:creationId xmlns:a16="http://schemas.microsoft.com/office/drawing/2014/main" id="{D8980EDF-29E0-4FB1-AF22-DBA690A1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p3a3">
            <a:extLst xmlns:a="http://schemas.openxmlformats.org/drawingml/2006/main">
              <a:ext uri="{FF2B5EF4-FFF2-40B4-BE49-F238E27FC236}">
                <a16:creationId xmlns:a16="http://schemas.microsoft.com/office/drawing/2014/main" id="{502567CA-CBD4-4F8C-AA38-BA5295B9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24300"/>
            <a:ext cx="213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预检缺口</a:t>
            </a:r>
          </a:p>
        </p:txBody>
      </p:sp>
      <p:sp>
        <p:nvSpPr>
          <p:cNvPr id="20" name="p3b3">
            <a:extLst xmlns:a="http://schemas.openxmlformats.org/drawingml/2006/main">
              <a:ext uri="{FF2B5EF4-FFF2-40B4-BE49-F238E27FC236}">
                <a16:creationId xmlns:a16="http://schemas.microsoft.com/office/drawing/2014/main" id="{47526780-C109-412A-80D8-EACCF222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24300"/>
            <a:ext cx="4724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Checkpoint 4：满足 / 部分 / 未覆盖</a:t>
            </a:r>
          </a:p>
        </p:txBody>
      </p:sp>
      <p:sp>
        <p:nvSpPr>
          <p:cNvPr id="21" name="p3c3">
            <a:extLst xmlns:a="http://schemas.openxmlformats.org/drawingml/2006/main">
              <a:ext uri="{FF2B5EF4-FFF2-40B4-BE49-F238E27FC236}">
                <a16:creationId xmlns:a16="http://schemas.microsoft.com/office/drawing/2014/main" id="{D75294EC-8C45-4EE2-B58B-136C6309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24300"/>
            <a:ext cx="3086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notes/argument-gate.md</a:t>
            </a:r>
          </a:p>
        </p:txBody>
      </p:sp>
      <p:sp>
        <p:nvSpPr>
          <p:cNvPr id="22" name="p3c0">
            <a:extLst xmlns:a="http://schemas.openxmlformats.org/drawingml/2006/main">
              <a:ext uri="{FF2B5EF4-FFF2-40B4-BE49-F238E27FC236}">
                <a16:creationId xmlns:a16="http://schemas.microsoft.com/office/drawing/2014/main" id="{F2A141DC-16FC-49D9-88D7-6BE80C81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673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本课不正式提交；四项工件在第 16 课统一检查。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校准不是统一分数，而是统一严重程度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3A0D3954-FA6C-413D-93C7-2DFCEFD3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3820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教师构造匿名样例｜非真实学生材料</a:t>
            </a:r>
          </a:p>
        </p:txBody>
      </p:sp>
      <p:sp>
        <p:nvSpPr>
          <p:cNvPr id="7" name="sample">
            <a:extLst xmlns:a="http://schemas.openxmlformats.org/drawingml/2006/main">
              <a:ext uri="{FF2B5EF4-FFF2-40B4-BE49-F238E27FC236}">
                <a16:creationId xmlns:a16="http://schemas.microsoft.com/office/drawing/2014/main" id="{36E5EA6D-CE39-43BE-8E0E-4DA045E2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85900"/>
            <a:ext cx="666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“结果表显示方法优于 baseline，因此机制得到证明。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未给实验 ID；局限段只写‘仍有不足’；图注单位不一致。”</a:t>
            </a:r>
          </a:p>
        </p:txBody>
      </p:sp>
      <p:sp>
        <p:nvSpPr>
          <p:cNvPr id="8" name="p4a0">
            <a:extLst xmlns:a="http://schemas.openxmlformats.org/drawingml/2006/main">
              <a:ext uri="{FF2B5EF4-FFF2-40B4-BE49-F238E27FC236}">
                <a16:creationId xmlns:a16="http://schemas.microsoft.com/office/drawing/2014/main" id="{ED64D610-3C29-434B-99C0-4E720296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478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致命</a:t>
            </a:r>
          </a:p>
        </p:txBody>
      </p:sp>
      <p:sp>
        <p:nvSpPr>
          <p:cNvPr id="9" name="p4b0">
            <a:extLst xmlns:a="http://schemas.openxmlformats.org/drawingml/2006/main">
              <a:ext uri="{FF2B5EF4-FFF2-40B4-BE49-F238E27FC236}">
                <a16:creationId xmlns:a16="http://schemas.microsoft.com/office/drawing/2014/main" id="{99305D2E-3806-4807-90EB-8482A009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478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结果不可追溯</a:t>
            </a:r>
          </a:p>
        </p:txBody>
      </p:sp>
      <p:sp>
        <p:nvSpPr>
          <p:cNvPr id="10" name="p4a1">
            <a:extLst xmlns:a="http://schemas.openxmlformats.org/drawingml/2006/main">
              <a:ext uri="{FF2B5EF4-FFF2-40B4-BE49-F238E27FC236}">
                <a16:creationId xmlns:a16="http://schemas.microsoft.com/office/drawing/2014/main" id="{C402F9F0-D0FD-4D71-B2DF-85957AB3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384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重要</a:t>
            </a:r>
          </a:p>
        </p:txBody>
      </p:sp>
      <p:sp>
        <p:nvSpPr>
          <p:cNvPr id="11" name="p4b1">
            <a:extLst xmlns:a="http://schemas.openxmlformats.org/drawingml/2006/main">
              <a:ext uri="{FF2B5EF4-FFF2-40B4-BE49-F238E27FC236}">
                <a16:creationId xmlns:a16="http://schemas.microsoft.com/office/drawing/2014/main" id="{4FE21EEB-B87D-4E31-8566-D0602A8D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384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局限未具体披露</a:t>
            </a:r>
          </a:p>
        </p:txBody>
      </p:sp>
      <p:sp>
        <p:nvSpPr>
          <p:cNvPr id="12" name="p4a2">
            <a:extLst xmlns:a="http://schemas.openxmlformats.org/drawingml/2006/main">
              <a:ext uri="{FF2B5EF4-FFF2-40B4-BE49-F238E27FC236}">
                <a16:creationId xmlns:a16="http://schemas.microsoft.com/office/drawing/2014/main" id="{097760A7-788C-4E03-A322-E3FD3DAC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13" name="p4b2">
            <a:extLst xmlns:a="http://schemas.openxmlformats.org/drawingml/2006/main">
              <a:ext uri="{FF2B5EF4-FFF2-40B4-BE49-F238E27FC236}">
                <a16:creationId xmlns:a16="http://schemas.microsoft.com/office/drawing/2014/main" id="{A10B6457-07CA-44F0-BCAF-FBD9D65C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429000"/>
            <a:ext cx="2171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图注单位不一致</a:t>
            </a:r>
          </a:p>
        </p:txBody>
      </p:sp>
      <p:sp>
        <p:nvSpPr>
          <p:cNvPr id="14" name="p4c">
            <a:extLst xmlns:a="http://schemas.openxmlformats.org/drawingml/2006/main">
              <a:ext uri="{FF2B5EF4-FFF2-40B4-BE49-F238E27FC236}">
                <a16:creationId xmlns:a16="http://schemas.microsoft.com/office/drawing/2014/main" id="{CD5A26B7-D0C7-44C6-B68F-E9D4EBD6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校准严重程度，不校准观点；样例不对应任何真实学生。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五维度 rubric 只诊断，不排名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50a">
            <a:extLst xmlns:a="http://schemas.openxmlformats.org/drawingml/2006/main">
              <a:ext uri="{FF2B5EF4-FFF2-40B4-BE49-F238E27FC236}">
                <a16:creationId xmlns:a16="http://schemas.microsoft.com/office/drawing/2014/main" id="{A2456A6E-838A-4E89-BA7A-B69F8424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论证链</a:t>
            </a:r>
          </a:p>
        </p:txBody>
      </p:sp>
      <p:sp>
        <p:nvSpPr>
          <p:cNvPr id="7" name="p50b">
            <a:extLst xmlns:a="http://schemas.openxmlformats.org/drawingml/2006/main">
              <a:ext uri="{FF2B5EF4-FFF2-40B4-BE49-F238E27FC236}">
                <a16:creationId xmlns:a16="http://schemas.microsoft.com/office/drawing/2014/main" id="{97A94194-BE28-4E8B-8414-45004D18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99060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主张→证据→推理→边界；可反向追溯</a:t>
            </a:r>
          </a:p>
        </p:txBody>
      </p:sp>
      <p:sp>
        <p:nvSpPr>
          <p:cNvPr id="8" name="p51a">
            <a:extLst xmlns:a="http://schemas.openxmlformats.org/drawingml/2006/main">
              <a:ext uri="{FF2B5EF4-FFF2-40B4-BE49-F238E27FC236}">
                <a16:creationId xmlns:a16="http://schemas.microsoft.com/office/drawing/2014/main" id="{6FA4C6BC-607B-4A77-A3C9-0AC2305D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证据充分</a:t>
            </a:r>
          </a:p>
        </p:txBody>
      </p:sp>
      <p:sp>
        <p:nvSpPr>
          <p:cNvPr id="9" name="p51b">
            <a:extLst xmlns:a="http://schemas.openxmlformats.org/drawingml/2006/main">
              <a:ext uri="{FF2B5EF4-FFF2-40B4-BE49-F238E27FC236}">
                <a16:creationId xmlns:a16="http://schemas.microsoft.com/office/drawing/2014/main" id="{0B2B26C3-8EE6-4697-A2E0-F3ABEAAA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7165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直接证据；stable 原则上两项独立；呈现冲突</a:t>
            </a:r>
          </a:p>
        </p:txBody>
      </p:sp>
      <p:sp>
        <p:nvSpPr>
          <p:cNvPr id="10" name="p52a">
            <a:extLst xmlns:a="http://schemas.openxmlformats.org/drawingml/2006/main">
              <a:ext uri="{FF2B5EF4-FFF2-40B4-BE49-F238E27FC236}">
                <a16:creationId xmlns:a16="http://schemas.microsoft.com/office/drawing/2014/main" id="{35D00742-99E9-4EB4-B121-12D1753F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局限披露</a:t>
            </a:r>
          </a:p>
        </p:txBody>
      </p:sp>
      <p:sp>
        <p:nvSpPr>
          <p:cNvPr id="11" name="p52b">
            <a:extLst xmlns:a="http://schemas.openxmlformats.org/drawingml/2006/main">
              <a:ext uri="{FF2B5EF4-FFF2-40B4-BE49-F238E27FC236}">
                <a16:creationId xmlns:a16="http://schemas.microsoft.com/office/drawing/2014/main" id="{71F2C7C0-96DA-46FC-B702-F83A36B7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内部 / 外部 / 构念 / 结论有效性或等价威胁</a:t>
            </a:r>
          </a:p>
        </p:txBody>
      </p:sp>
      <p:sp>
        <p:nvSpPr>
          <p:cNvPr id="12" name="p53a">
            <a:extLst xmlns:a="http://schemas.openxmlformats.org/drawingml/2006/main">
              <a:ext uri="{FF2B5EF4-FFF2-40B4-BE49-F238E27FC236}">
                <a16:creationId xmlns:a16="http://schemas.microsoft.com/office/drawing/2014/main" id="{00231B33-5C7D-4038-987C-E157BA00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可复现</a:t>
            </a:r>
          </a:p>
        </p:txBody>
      </p:sp>
      <p:sp>
        <p:nvSpPr>
          <p:cNvPr id="13" name="p53b">
            <a:extLst xmlns:a="http://schemas.openxmlformats.org/drawingml/2006/main">
              <a:ext uri="{FF2B5EF4-FFF2-40B4-BE49-F238E27FC236}">
                <a16:creationId xmlns:a16="http://schemas.microsoft.com/office/drawing/2014/main" id="{4BF038A0-77BB-4691-87E3-95522581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3375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表图回到证据项、实验 ID 或 workflow trace</a:t>
            </a:r>
          </a:p>
        </p:txBody>
      </p:sp>
      <p:sp>
        <p:nvSpPr>
          <p:cNvPr id="14" name="p54a">
            <a:extLst xmlns:a="http://schemas.openxmlformats.org/drawingml/2006/main">
              <a:ext uri="{FF2B5EF4-FFF2-40B4-BE49-F238E27FC236}">
                <a16:creationId xmlns:a16="http://schemas.microsoft.com/office/drawing/2014/main" id="{9C76ADAA-59E9-414A-B0ED-22E85B9D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65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伦理</a:t>
            </a:r>
          </a:p>
        </p:txBody>
      </p:sp>
      <p:sp>
        <p:nvSpPr>
          <p:cNvPr id="15" name="p54b">
            <a:extLst xmlns:a="http://schemas.openxmlformats.org/drawingml/2006/main">
              <a:ext uri="{FF2B5EF4-FFF2-40B4-BE49-F238E27FC236}">
                <a16:creationId xmlns:a16="http://schemas.microsoft.com/office/drawing/2014/main" id="{4126A258-B32A-4BC2-947B-C6504B25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14800"/>
            <a:ext cx="904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AI、数据许可、隐私、贡献、权限透明</a:t>
            </a:r>
          </a:p>
        </p:txBody>
      </p:sp>
      <p:sp>
        <p:nvSpPr>
          <p:cNvPr id="16" name="p5c">
            <a:extLst xmlns:a="http://schemas.openxmlformats.org/drawingml/2006/main">
              <a:ext uri="{FF2B5EF4-FFF2-40B4-BE49-F238E27FC236}">
                <a16:creationId xmlns:a16="http://schemas.microsoft.com/office/drawing/2014/main" id="{43810E49-85AC-4A64-927A-D63CEF7C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rubric 是 Checkpoint 4 的诊断镜头，不是评分表，也不给排名。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三问必须指向工作中的具体条目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h1">
            <a:extLst xmlns:a="http://schemas.openxmlformats.org/drawingml/2006/main">
              <a:ext uri="{FF2B5EF4-FFF2-40B4-BE49-F238E27FC236}">
                <a16:creationId xmlns:a16="http://schemas.microsoft.com/office/drawing/2014/main" id="{73D0F147-073C-4DA2-A2A9-B0CD7D69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三问</a:t>
            </a:r>
          </a:p>
        </p:txBody>
      </p:sp>
      <p:sp>
        <p:nvSpPr>
          <p:cNvPr id="7" name="p6q0a">
            <a:extLst xmlns:a="http://schemas.openxmlformats.org/drawingml/2006/main">
              <a:ext uri="{FF2B5EF4-FFF2-40B4-BE49-F238E27FC236}">
                <a16:creationId xmlns:a16="http://schemas.microsoft.com/office/drawing/2014/main" id="{AE69B0F5-2025-490A-9914-57FFAA95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533400" cy="5905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6q0b">
            <a:extLst xmlns:a="http://schemas.openxmlformats.org/drawingml/2006/main">
              <a:ext uri="{FF2B5EF4-FFF2-40B4-BE49-F238E27FC236}">
                <a16:creationId xmlns:a16="http://schemas.microsoft.com/office/drawing/2014/main" id="{DE2805DB-E903-4284-B79C-3576A310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95450"/>
            <a:ext cx="3810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一项最强处｜落在五维度</a:t>
            </a:r>
          </a:p>
        </p:txBody>
      </p:sp>
      <p:sp>
        <p:nvSpPr>
          <p:cNvPr id="9" name="p6q1a">
            <a:extLst xmlns:a="http://schemas.openxmlformats.org/drawingml/2006/main">
              <a:ext uri="{FF2B5EF4-FFF2-40B4-BE49-F238E27FC236}">
                <a16:creationId xmlns:a16="http://schemas.microsoft.com/office/drawing/2014/main" id="{685691BC-2829-4A2D-BA10-FD6F91CA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533400" cy="5905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6q1b">
            <a:extLst xmlns:a="http://schemas.openxmlformats.org/drawingml/2006/main">
              <a:ext uri="{FF2B5EF4-FFF2-40B4-BE49-F238E27FC236}">
                <a16:creationId xmlns:a16="http://schemas.microsoft.com/office/drawing/2014/main" id="{7AED6E75-46EE-4CF8-83FA-0B83D2E4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09850"/>
            <a:ext cx="3810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一项最大风险｜可能挡住论证门</a:t>
            </a:r>
          </a:p>
        </p:txBody>
      </p:sp>
      <p:sp>
        <p:nvSpPr>
          <p:cNvPr id="11" name="p6q2a">
            <a:extLst xmlns:a="http://schemas.openxmlformats.org/drawingml/2006/main">
              <a:ext uri="{FF2B5EF4-FFF2-40B4-BE49-F238E27FC236}">
                <a16:creationId xmlns:a16="http://schemas.microsoft.com/office/drawing/2014/main" id="{FD21B97D-EF72-4313-B9E1-3CF7D1E3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533400" cy="5905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6q2b">
            <a:extLst xmlns:a="http://schemas.openxmlformats.org/drawingml/2006/main">
              <a:ext uri="{FF2B5EF4-FFF2-40B4-BE49-F238E27FC236}">
                <a16:creationId xmlns:a16="http://schemas.microsoft.com/office/drawing/2014/main" id="{46697A4C-F0EE-4689-B95E-CB698F3A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24250"/>
            <a:ext cx="3810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一条可执行建议｜第16课前最小动作</a:t>
            </a:r>
          </a:p>
        </p:txBody>
      </p:sp>
      <p:sp>
        <p:nvSpPr>
          <p:cNvPr id="13" name="p6mid">
            <a:extLst xmlns:a="http://schemas.openxmlformats.org/drawingml/2006/main">
              <a:ext uri="{FF2B5EF4-FFF2-40B4-BE49-F238E27FC236}">
                <a16:creationId xmlns:a16="http://schemas.microsoft.com/office/drawing/2014/main" id="{64628D6F-60D6-41CB-8B53-C156218A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429125" y="27241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2">
            <a:extLst xmlns:a="http://schemas.openxmlformats.org/drawingml/2006/main">
              <a:ext uri="{FF2B5EF4-FFF2-40B4-BE49-F238E27FC236}">
                <a16:creationId xmlns:a16="http://schemas.microsoft.com/office/drawing/2014/main" id="{65DE4713-1B12-400E-AFF9-33694511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990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评审者边界</a:t>
            </a:r>
          </a:p>
        </p:txBody>
      </p:sp>
      <p:sp>
        <p:nvSpPr>
          <p:cNvPr id="15" name="p6b0a">
            <a:extLst xmlns:a="http://schemas.openxmlformats.org/drawingml/2006/main">
              <a:ext uri="{FF2B5EF4-FFF2-40B4-BE49-F238E27FC236}">
                <a16:creationId xmlns:a16="http://schemas.microsoft.com/office/drawing/2014/main" id="{D1E8D0A7-9A4A-4386-9576-CB3F0B95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38300"/>
            <a:ext cx="495300" cy="5143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6" name="p6b0b">
            <a:extLst xmlns:a="http://schemas.openxmlformats.org/drawingml/2006/main">
              <a:ext uri="{FF2B5EF4-FFF2-40B4-BE49-F238E27FC236}">
                <a16:creationId xmlns:a16="http://schemas.microsoft.com/office/drawing/2014/main" id="{628109D6-A79B-4255-879E-35568818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3830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指向工作，不指向人</a:t>
            </a:r>
          </a:p>
        </p:txBody>
      </p:sp>
      <p:sp>
        <p:nvSpPr>
          <p:cNvPr id="17" name="p6b1a">
            <a:extLst xmlns:a="http://schemas.openxmlformats.org/drawingml/2006/main">
              <a:ext uri="{FF2B5EF4-FFF2-40B4-BE49-F238E27FC236}">
                <a16:creationId xmlns:a16="http://schemas.microsoft.com/office/drawing/2014/main" id="{19BA4E76-830B-43F7-BC6F-D9778A9C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81250"/>
            <a:ext cx="495300" cy="5143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8" name="p6b1b">
            <a:extLst xmlns:a="http://schemas.openxmlformats.org/drawingml/2006/main">
              <a:ext uri="{FF2B5EF4-FFF2-40B4-BE49-F238E27FC236}">
                <a16:creationId xmlns:a16="http://schemas.microsoft.com/office/drawing/2014/main" id="{C2DDC0CC-89EA-43CC-B44D-8CAAF9E2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8125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不替作者决定采纳什么</a:t>
            </a:r>
          </a:p>
        </p:txBody>
      </p:sp>
      <p:sp>
        <p:nvSpPr>
          <p:cNvPr id="19" name="p6b2a">
            <a:extLst xmlns:a="http://schemas.openxmlformats.org/drawingml/2006/main">
              <a:ext uri="{FF2B5EF4-FFF2-40B4-BE49-F238E27FC236}">
                <a16:creationId xmlns:a16="http://schemas.microsoft.com/office/drawing/2014/main" id="{C7FEB97C-3562-4C4B-96FA-CB051197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24200"/>
            <a:ext cx="495300" cy="5143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0" name="p6b2b">
            <a:extLst xmlns:a="http://schemas.openxmlformats.org/drawingml/2006/main">
              <a:ext uri="{FF2B5EF4-FFF2-40B4-BE49-F238E27FC236}">
                <a16:creationId xmlns:a16="http://schemas.microsoft.com/office/drawing/2014/main" id="{872CFAD3-5DFB-4158-9F15-8D39050C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2420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不给题目时髦度或个人排名</a:t>
            </a:r>
          </a:p>
        </p:txBody>
      </p:sp>
      <p:sp>
        <p:nvSpPr>
          <p:cNvPr id="21" name="p6b3a">
            <a:extLst xmlns:a="http://schemas.openxmlformats.org/drawingml/2006/main">
              <a:ext uri="{FF2B5EF4-FFF2-40B4-BE49-F238E27FC236}">
                <a16:creationId xmlns:a16="http://schemas.microsoft.com/office/drawing/2014/main" id="{5C031CB5-5B2E-459A-9A0E-74117D65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67150"/>
            <a:ext cx="495300" cy="5143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2" name="p6b3b">
            <a:extLst xmlns:a="http://schemas.openxmlformats.org/drawingml/2006/main">
              <a:ext uri="{FF2B5EF4-FFF2-40B4-BE49-F238E27FC236}">
                <a16:creationId xmlns:a16="http://schemas.microsoft.com/office/drawing/2014/main" id="{977DDE63-A853-4E29-95A3-2AE42797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67150"/>
            <a:ext cx="3924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区分致命 / 重要 / 表达</a:t>
            </a:r>
          </a:p>
        </p:txBody>
      </p:sp>
      <p:sp>
        <p:nvSpPr>
          <p:cNvPr id="23" name="p6c">
            <a:extLst xmlns:a="http://schemas.openxmlformats.org/drawingml/2006/main">
              <a:ext uri="{FF2B5EF4-FFF2-40B4-BE49-F238E27FC236}">
                <a16:creationId xmlns:a16="http://schemas.microsoft.com/office/drawing/2014/main" id="{921E74E4-98D6-42CC-BAE1-9A631ECC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482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“论证不严谨”不是评审；必须指向具体段落、风险与可执行动作。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评审意见要进入四类回应与三级优先级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7a0">
            <a:extLst xmlns:a="http://schemas.openxmlformats.org/drawingml/2006/main">
              <a:ext uri="{FF2B5EF4-FFF2-40B4-BE49-F238E27FC236}">
                <a16:creationId xmlns:a16="http://schemas.microsoft.com/office/drawing/2014/main" id="{89F65AA1-73BC-4B7B-BEB6-5FD26302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238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7" name="p7b0">
            <a:extLst xmlns:a="http://schemas.openxmlformats.org/drawingml/2006/main">
              <a:ext uri="{FF2B5EF4-FFF2-40B4-BE49-F238E27FC236}">
                <a16:creationId xmlns:a16="http://schemas.microsoft.com/office/drawing/2014/main" id="{5906BE4C-D2F1-45B9-8E32-19789379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0668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缺陷成立，做最小修改</a:t>
            </a:r>
          </a:p>
        </p:txBody>
      </p:sp>
      <p:sp>
        <p:nvSpPr>
          <p:cNvPr id="8" name="p7a1">
            <a:extLst xmlns:a="http://schemas.openxmlformats.org/drawingml/2006/main">
              <a:ext uri="{FF2B5EF4-FFF2-40B4-BE49-F238E27FC236}">
                <a16:creationId xmlns:a16="http://schemas.microsoft.com/office/drawing/2014/main" id="{AD5C8A02-F7E5-4DA0-B352-12B7FF71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238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澄清</a:t>
            </a:r>
          </a:p>
        </p:txBody>
      </p:sp>
      <p:sp>
        <p:nvSpPr>
          <p:cNvPr id="9" name="p7b1">
            <a:extLst xmlns:a="http://schemas.openxmlformats.org/drawingml/2006/main">
              <a:ext uri="{FF2B5EF4-FFF2-40B4-BE49-F238E27FC236}">
                <a16:creationId xmlns:a16="http://schemas.microsoft.com/office/drawing/2014/main" id="{04F588BC-D742-4B89-A91B-03530F81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8595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已处理但表达不清</a:t>
            </a:r>
          </a:p>
        </p:txBody>
      </p:sp>
      <p:sp>
        <p:nvSpPr>
          <p:cNvPr id="10" name="p7a2">
            <a:extLst xmlns:a="http://schemas.openxmlformats.org/drawingml/2006/main">
              <a:ext uri="{FF2B5EF4-FFF2-40B4-BE49-F238E27FC236}">
                <a16:creationId xmlns:a16="http://schemas.microsoft.com/office/drawing/2014/main" id="{729D317F-9EFE-423A-B369-B8B2E0F7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1238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补证</a:t>
            </a:r>
          </a:p>
        </p:txBody>
      </p:sp>
      <p:sp>
        <p:nvSpPr>
          <p:cNvPr id="11" name="p7b2">
            <a:extLst xmlns:a="http://schemas.openxmlformats.org/drawingml/2006/main">
              <a:ext uri="{FF2B5EF4-FFF2-40B4-BE49-F238E27FC236}">
                <a16:creationId xmlns:a16="http://schemas.microsoft.com/office/drawing/2014/main" id="{325ECB31-E156-4457-8325-A237552B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7051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缺口可能成立，标待验证</a:t>
            </a:r>
          </a:p>
        </p:txBody>
      </p:sp>
      <p:sp>
        <p:nvSpPr>
          <p:cNvPr id="12" name="p7a3">
            <a:extLst xmlns:a="http://schemas.openxmlformats.org/drawingml/2006/main">
              <a:ext uri="{FF2B5EF4-FFF2-40B4-BE49-F238E27FC236}">
                <a16:creationId xmlns:a16="http://schemas.microsoft.com/office/drawing/2014/main" id="{4B967697-6321-4655-839F-6EC3BD5C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238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保留异议</a:t>
            </a:r>
          </a:p>
        </p:txBody>
      </p:sp>
      <p:sp>
        <p:nvSpPr>
          <p:cNvPr id="13" name="p7b3">
            <a:extLst xmlns:a="http://schemas.openxmlformats.org/drawingml/2006/main">
              <a:ext uri="{FF2B5EF4-FFF2-40B4-BE49-F238E27FC236}">
                <a16:creationId xmlns:a16="http://schemas.microsoft.com/office/drawing/2014/main" id="{DFB9C150-C951-4827-B69F-AEDD68E4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2425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不采纳；写证据与约束</a:t>
            </a:r>
          </a:p>
        </p:txBody>
      </p:sp>
      <p:sp>
        <p:nvSpPr>
          <p:cNvPr id="14" name="p7arr">
            <a:extLst xmlns:a="http://schemas.openxmlformats.org/drawingml/2006/main">
              <a:ext uri="{FF2B5EF4-FFF2-40B4-BE49-F238E27FC236}">
                <a16:creationId xmlns:a16="http://schemas.microsoft.com/office/drawing/2014/main" id="{CF10CF56-29CC-43AA-90E7-80C27ED0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2860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p7fields">
            <a:extLst xmlns:a="http://schemas.openxmlformats.org/drawingml/2006/main">
              <a:ext uri="{FF2B5EF4-FFF2-40B4-BE49-F238E27FC236}">
                <a16:creationId xmlns:a16="http://schemas.microsoft.com/office/drawing/2014/main" id="{4A4E3D2C-E894-4F41-B024-CC5783DD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04900"/>
            <a:ext cx="5048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六字段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回应类别｜取舍理由｜适用边界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依据｜待验证状态｜影响工件</a:t>
            </a:r>
          </a:p>
        </p:txBody>
      </p:sp>
      <p:sp>
        <p:nvSpPr>
          <p:cNvPr id="16" name="p7p0">
            <a:extLst xmlns:a="http://schemas.openxmlformats.org/drawingml/2006/main">
              <a:ext uri="{FF2B5EF4-FFF2-40B4-BE49-F238E27FC236}">
                <a16:creationId xmlns:a16="http://schemas.microsoft.com/office/drawing/2014/main" id="{277BD009-7AB9-4E44-9414-C2FB5663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95600"/>
            <a:ext cx="11049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致命</a:t>
            </a:r>
          </a:p>
        </p:txBody>
      </p:sp>
      <p:sp>
        <p:nvSpPr>
          <p:cNvPr id="17" name="p7d0">
            <a:extLst xmlns:a="http://schemas.openxmlformats.org/drawingml/2006/main">
              <a:ext uri="{FF2B5EF4-FFF2-40B4-BE49-F238E27FC236}">
                <a16:creationId xmlns:a16="http://schemas.microsoft.com/office/drawing/2014/main" id="{AFADBE35-F76E-4A03-A2E0-539E2444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9560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不修复则不过门</a:t>
            </a:r>
          </a:p>
        </p:txBody>
      </p:sp>
      <p:sp>
        <p:nvSpPr>
          <p:cNvPr id="18" name="p7p1">
            <a:extLst xmlns:a="http://schemas.openxmlformats.org/drawingml/2006/main">
              <a:ext uri="{FF2B5EF4-FFF2-40B4-BE49-F238E27FC236}">
                <a16:creationId xmlns:a16="http://schemas.microsoft.com/office/drawing/2014/main" id="{1A85B42B-0B18-476E-BE89-A993D6E0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81400"/>
            <a:ext cx="11049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重要</a:t>
            </a:r>
          </a:p>
        </p:txBody>
      </p:sp>
      <p:sp>
        <p:nvSpPr>
          <p:cNvPr id="19" name="p7d1">
            <a:extLst xmlns:a="http://schemas.openxmlformats.org/drawingml/2006/main">
              <a:ext uri="{FF2B5EF4-FFF2-40B4-BE49-F238E27FC236}">
                <a16:creationId xmlns:a16="http://schemas.microsoft.com/office/drawing/2014/main" id="{782A1773-E15A-44E2-A844-3B9F7BEC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8140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尽量修复或标待验证</a:t>
            </a:r>
          </a:p>
        </p:txBody>
      </p:sp>
      <p:sp>
        <p:nvSpPr>
          <p:cNvPr id="20" name="p7p2">
            <a:extLst xmlns:a="http://schemas.openxmlformats.org/drawingml/2006/main">
              <a:ext uri="{FF2B5EF4-FFF2-40B4-BE49-F238E27FC236}">
                <a16:creationId xmlns:a16="http://schemas.microsoft.com/office/drawing/2014/main" id="{26CA4964-7279-4568-A0EF-FF0674EC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11049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21" name="p7d2">
            <a:extLst xmlns:a="http://schemas.openxmlformats.org/drawingml/2006/main">
              <a:ext uri="{FF2B5EF4-FFF2-40B4-BE49-F238E27FC236}">
                <a16:creationId xmlns:a16="http://schemas.microsoft.com/office/drawing/2014/main" id="{ACED965C-F1E4-4780-9B55-75717CD9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67200"/>
            <a:ext cx="3543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展示前打磨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只能生成评审线索，不能替作者决定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8ai">
            <a:extLst xmlns:a="http://schemas.openxmlformats.org/drawingml/2006/main">
              <a:ext uri="{FF2B5EF4-FFF2-40B4-BE49-F238E27FC236}">
                <a16:creationId xmlns:a16="http://schemas.microsoft.com/office/drawing/2014/main" id="{FE1D030E-F55F-42B0-B773-824C2FC9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3048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候选线索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评审点 / 回应草案 / 一致性检查</a:t>
            </a:r>
          </a:p>
        </p:txBody>
      </p:sp>
      <p:sp>
        <p:nvSpPr>
          <p:cNvPr id="7" name="p8a">
            <a:extLst xmlns:a="http://schemas.openxmlformats.org/drawingml/2006/main">
              <a:ext uri="{FF2B5EF4-FFF2-40B4-BE49-F238E27FC236}">
                <a16:creationId xmlns:a16="http://schemas.microsoft.com/office/drawing/2014/main" id="{F896ADBF-BC5D-4FE8-B6C7-FEBB41B5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431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p8human">
            <a:extLst xmlns:a="http://schemas.openxmlformats.org/drawingml/2006/main">
              <a:ext uri="{FF2B5EF4-FFF2-40B4-BE49-F238E27FC236}">
                <a16:creationId xmlns:a16="http://schemas.microsoft.com/office/drawing/2014/main" id="{9F1B3BC2-217A-4F1A-8253-7DEADCD0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238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是否对应原文？是否落在 rubric？</a:t>
            </a:r>
          </a:p>
        </p:txBody>
      </p:sp>
      <p:sp>
        <p:nvSpPr>
          <p:cNvPr id="9" name="p8b">
            <a:extLst xmlns:a="http://schemas.openxmlformats.org/drawingml/2006/main">
              <a:ext uri="{FF2B5EF4-FFF2-40B4-BE49-F238E27FC236}">
                <a16:creationId xmlns:a16="http://schemas.microsoft.com/office/drawing/2014/main" id="{B83B399C-26FC-4D95-A1AF-5A99347D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431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p8out">
            <a:extLst xmlns:a="http://schemas.openxmlformats.org/drawingml/2006/main">
              <a:ext uri="{FF2B5EF4-FFF2-40B4-BE49-F238E27FC236}">
                <a16:creationId xmlns:a16="http://schemas.microsoft.com/office/drawing/2014/main" id="{5AEE64C1-9BC0-4916-95D8-22206BF5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25908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同伴评审主格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作者回应决定</a:t>
            </a:r>
          </a:p>
        </p:txBody>
      </p:sp>
      <p:sp>
        <p:nvSpPr>
          <p:cNvPr id="11" name="p8no">
            <a:extLst xmlns:a="http://schemas.openxmlformats.org/drawingml/2006/main">
              <a:ext uri="{FF2B5EF4-FFF2-40B4-BE49-F238E27FC236}">
                <a16:creationId xmlns:a16="http://schemas.microsoft.com/office/drawing/2014/main" id="{2270FE48-9193-450A-8A3F-720CFA61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95700"/>
            <a:ext cx="9029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不判断意见成立｜不决定四类回应｜不替代同伴进入主格</a:t>
            </a:r>
          </a:p>
        </p:txBody>
      </p:sp>
      <p:sp>
        <p:nvSpPr>
          <p:cNvPr id="12" name="p8c">
            <a:extLst xmlns:a="http://schemas.openxmlformats.org/drawingml/2006/main">
              <a:ext uri="{FF2B5EF4-FFF2-40B4-BE49-F238E27FC236}">
                <a16:creationId xmlns:a16="http://schemas.microsoft.com/office/drawing/2014/main" id="{666C98A3-C9BF-47F6-8F12-1858FE68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未核验前只留在探索线索区。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虚构演示：评审—回应—影响工件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A54336B7-8D1A-4603-A6EB-76F28CFB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838200"/>
            <a:ext cx="432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课程虚构案例｜不预设结构化阅读卡真实有效</a:t>
            </a:r>
          </a:p>
        </p:txBody>
      </p:sp>
      <p:sp>
        <p:nvSpPr>
          <p:cNvPr id="7" name="p90">
            <a:extLst xmlns:a="http://schemas.openxmlformats.org/drawingml/2006/main">
              <a:ext uri="{FF2B5EF4-FFF2-40B4-BE49-F238E27FC236}">
                <a16:creationId xmlns:a16="http://schemas.microsoft.com/office/drawing/2014/main" id="{97421A04-B26A-4B0B-AF88-CDCFC2CC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初稿结论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stable；20 篇</a:t>
            </a:r>
          </a:p>
        </p:txBody>
      </p:sp>
      <p:sp>
        <p:nvSpPr>
          <p:cNvPr id="8" name="p9a0">
            <a:extLst xmlns:a="http://schemas.openxmlformats.org/drawingml/2006/main">
              <a:ext uri="{FF2B5EF4-FFF2-40B4-BE49-F238E27FC236}">
                <a16:creationId xmlns:a16="http://schemas.microsoft.com/office/drawing/2014/main" id="{729B5892-66D0-4392-847A-6215FC88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981200"/>
            <a:ext cx="400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p91">
            <a:extLst xmlns:a="http://schemas.openxmlformats.org/drawingml/2006/main">
              <a:ext uri="{FF2B5EF4-FFF2-40B4-BE49-F238E27FC236}">
                <a16:creationId xmlns:a16="http://schemas.microsoft.com/office/drawing/2014/main" id="{4CBF9590-642C-49C2-8D5E-9E889807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7526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同伴 B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仅一项独立证据</a:t>
            </a:r>
          </a:p>
        </p:txBody>
      </p:sp>
      <p:sp>
        <p:nvSpPr>
          <p:cNvPr id="10" name="p9a1">
            <a:extLst xmlns:a="http://schemas.openxmlformats.org/drawingml/2006/main">
              <a:ext uri="{FF2B5EF4-FFF2-40B4-BE49-F238E27FC236}">
                <a16:creationId xmlns:a16="http://schemas.microsoft.com/office/drawing/2014/main" id="{63EBCE04-C936-41D3-B4BD-782A3AEB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981200"/>
            <a:ext cx="400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92">
            <a:extLst xmlns:a="http://schemas.openxmlformats.org/drawingml/2006/main">
              <a:ext uri="{FF2B5EF4-FFF2-40B4-BE49-F238E27FC236}">
                <a16:creationId xmlns:a16="http://schemas.microsoft.com/office/drawing/2014/main" id="{730001B3-ADC6-46BB-A44B-CEA44764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作者回应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补证；否则降级 review</a:t>
            </a:r>
          </a:p>
        </p:txBody>
      </p:sp>
      <p:sp>
        <p:nvSpPr>
          <p:cNvPr id="12" name="p9a2">
            <a:extLst xmlns:a="http://schemas.openxmlformats.org/drawingml/2006/main">
              <a:ext uri="{FF2B5EF4-FFF2-40B4-BE49-F238E27FC236}">
                <a16:creationId xmlns:a16="http://schemas.microsoft.com/office/drawing/2014/main" id="{F0E81083-672F-46C4-A6F7-4AD47A2C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81200"/>
            <a:ext cx="400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p93">
            <a:extLst xmlns:a="http://schemas.openxmlformats.org/drawingml/2006/main">
              <a:ext uri="{FF2B5EF4-FFF2-40B4-BE49-F238E27FC236}">
                <a16:creationId xmlns:a16="http://schemas.microsoft.com/office/drawing/2014/main" id="{5CAEC03F-7D8D-4495-868B-1A39C3C1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81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影响工件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证据地图 + 追踪表</a:t>
            </a:r>
          </a:p>
        </p:txBody>
      </p:sp>
      <p:sp>
        <p:nvSpPr>
          <p:cNvPr id="14" name="p9trace">
            <a:extLst xmlns:a="http://schemas.openxmlformats.org/drawingml/2006/main">
              <a:ext uri="{FF2B5EF4-FFF2-40B4-BE49-F238E27FC236}">
                <a16:creationId xmlns:a16="http://schemas.microsoft.com/office/drawing/2014/main" id="{909270D5-30D1-4F0F-BA04-99525488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10439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回应六字段：补证｜理由=stable 原则上两项独立｜边界=当前样本｜依据=同伴 B + 短文 §4｜待验证=复标｜影响=两项工件</a:t>
            </a:r>
          </a:p>
        </p:txBody>
      </p:sp>
      <p:sp>
        <p:nvSpPr>
          <p:cNvPr id="15" name="p9c">
            <a:extLst xmlns:a="http://schemas.openxmlformats.org/drawingml/2006/main">
              <a:ext uri="{FF2B5EF4-FFF2-40B4-BE49-F238E27FC236}">
                <a16:creationId xmlns:a16="http://schemas.microsoft.com/office/drawing/2014/main" id="{4496AE85-C751-42A3-B053-92490DEB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演示的是评审 trace，不是实验结果。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同伴交叉评审：15 分钟完成一轮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49177650-FAC3-4091-AC85-40B92387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3143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4800" b="1">
                <a:solidFill>
                  <a:srgbClr val="C8161E"/>
                </a:solidFill>
              </a:defRPr>
            </a:pPr>
            <a:r>
              <a:rPr sz="48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15:00</a:t>
            </a:r>
          </a:p>
        </p:txBody>
      </p:sp>
      <p:sp>
        <p:nvSpPr>
          <p:cNvPr id="7" name="span">
            <a:extLst xmlns:a="http://schemas.openxmlformats.org/drawingml/2006/main">
              <a:ext uri="{FF2B5EF4-FFF2-40B4-BE49-F238E27FC236}">
                <a16:creationId xmlns:a16="http://schemas.microsoft.com/office/drawing/2014/main" id="{E56085B7-9F22-44E0-9F4C-341BD7A9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35:00-50:00｜停留本页</a:t>
            </a:r>
          </a:p>
        </p:txBody>
      </p:sp>
      <p:sp>
        <p:nvSpPr>
          <p:cNvPr id="8" name="p10r0">
            <a:extLst xmlns:a="http://schemas.openxmlformats.org/drawingml/2006/main">
              <a:ext uri="{FF2B5EF4-FFF2-40B4-BE49-F238E27FC236}">
                <a16:creationId xmlns:a16="http://schemas.microsoft.com/office/drawing/2014/main" id="{7E1E9382-DCD1-45A8-9B18-0A6F11BC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257300"/>
            <a:ext cx="2247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→ B</a:t>
            </a:r>
          </a:p>
        </p:txBody>
      </p:sp>
      <p:sp>
        <p:nvSpPr>
          <p:cNvPr id="9" name="p10r1">
            <a:extLst xmlns:a="http://schemas.openxmlformats.org/drawingml/2006/main">
              <a:ext uri="{FF2B5EF4-FFF2-40B4-BE49-F238E27FC236}">
                <a16:creationId xmlns:a16="http://schemas.microsoft.com/office/drawing/2014/main" id="{F97FD890-2FF9-4241-AFBA-678ACC11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257300"/>
            <a:ext cx="2247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→ C</a:t>
            </a:r>
          </a:p>
        </p:txBody>
      </p:sp>
      <p:sp>
        <p:nvSpPr>
          <p:cNvPr id="10" name="p10r2">
            <a:extLst xmlns:a="http://schemas.openxmlformats.org/drawingml/2006/main">
              <a:ext uri="{FF2B5EF4-FFF2-40B4-BE49-F238E27FC236}">
                <a16:creationId xmlns:a16="http://schemas.microsoft.com/office/drawing/2014/main" id="{9E659155-375E-442F-9690-D37D7F74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9800"/>
            <a:ext cx="2247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→ D</a:t>
            </a:r>
          </a:p>
        </p:txBody>
      </p:sp>
      <p:sp>
        <p:nvSpPr>
          <p:cNvPr id="11" name="p10r3">
            <a:extLst xmlns:a="http://schemas.openxmlformats.org/drawingml/2006/main">
              <a:ext uri="{FF2B5EF4-FFF2-40B4-BE49-F238E27FC236}">
                <a16:creationId xmlns:a16="http://schemas.microsoft.com/office/drawing/2014/main" id="{5820F86C-305C-4141-A3DE-2956FA67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09800"/>
            <a:ext cx="2247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 → A</a:t>
            </a:r>
          </a:p>
        </p:txBody>
      </p:sp>
      <p:sp>
        <p:nvSpPr>
          <p:cNvPr id="12" name="p10min">
            <a:extLst xmlns:a="http://schemas.openxmlformats.org/drawingml/2006/main">
              <a:ext uri="{FF2B5EF4-FFF2-40B4-BE49-F238E27FC236}">
                <a16:creationId xmlns:a16="http://schemas.microsoft.com/office/drawing/2014/main" id="{93033F9C-4493-416A-9015-13005958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7239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每人：评 1 位固定同伴｜收 1 位三问｜只记录，不反驳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第二轮为可选课后补充，不是本课最低要求</a:t>
            </a:r>
          </a:p>
        </p:txBody>
      </p:sp>
      <p:sp>
        <p:nvSpPr>
          <p:cNvPr id="13" name="p10c">
            <a:extLst xmlns:a="http://schemas.openxmlformats.org/drawingml/2006/main">
              <a:ext uri="{FF2B5EF4-FFF2-40B4-BE49-F238E27FC236}">
                <a16:creationId xmlns:a16="http://schemas.microsoft.com/office/drawing/2014/main" id="{8F5B2DB6-4B9A-4D81-98BB-039D4754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无网络：纸面 / Markdown 完成同一三问。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作者回应不是辩论，而是有记录的判断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116725B3-7323-4F8E-87E4-E833BE5F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382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50:00-65:00｜作者回写</a:t>
            </a:r>
          </a:p>
        </p:txBody>
      </p:sp>
      <p:sp>
        <p:nvSpPr>
          <p:cNvPr id="7" name="p11a0">
            <a:extLst xmlns:a="http://schemas.openxmlformats.org/drawingml/2006/main">
              <a:ext uri="{FF2B5EF4-FFF2-40B4-BE49-F238E27FC236}">
                <a16:creationId xmlns:a16="http://schemas.microsoft.com/office/drawing/2014/main" id="{7599A669-7769-4988-8AEC-61D9E60E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43050"/>
            <a:ext cx="2381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8" name="p11b0">
            <a:extLst xmlns:a="http://schemas.openxmlformats.org/drawingml/2006/main">
              <a:ext uri="{FF2B5EF4-FFF2-40B4-BE49-F238E27FC236}">
                <a16:creationId xmlns:a16="http://schemas.microsoft.com/office/drawing/2014/main" id="{CF1C0FA6-885E-4CC4-A502-9A96D099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做最小修改</a:t>
            </a:r>
          </a:p>
        </p:txBody>
      </p:sp>
      <p:sp>
        <p:nvSpPr>
          <p:cNvPr id="9" name="p11a1">
            <a:extLst xmlns:a="http://schemas.openxmlformats.org/drawingml/2006/main">
              <a:ext uri="{FF2B5EF4-FFF2-40B4-BE49-F238E27FC236}">
                <a16:creationId xmlns:a16="http://schemas.microsoft.com/office/drawing/2014/main" id="{BEF88B02-5487-4121-90A6-132F5EB1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43050"/>
            <a:ext cx="2381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澄清</a:t>
            </a:r>
          </a:p>
        </p:txBody>
      </p:sp>
      <p:sp>
        <p:nvSpPr>
          <p:cNvPr id="10" name="p11b1">
            <a:extLst xmlns:a="http://schemas.openxmlformats.org/drawingml/2006/main">
              <a:ext uri="{FF2B5EF4-FFF2-40B4-BE49-F238E27FC236}">
                <a16:creationId xmlns:a16="http://schemas.microsoft.com/office/drawing/2014/main" id="{0345E621-0D15-4662-9772-7FD45C17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669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F638A"/>
                </a:solidFill>
              </a:defRPr>
            </a:pPr>
            <a:r>
              <a:rPr sz="15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改表达，不改判断</a:t>
            </a:r>
          </a:p>
        </p:txBody>
      </p:sp>
      <p:sp>
        <p:nvSpPr>
          <p:cNvPr id="11" name="p11a2">
            <a:extLst xmlns:a="http://schemas.openxmlformats.org/drawingml/2006/main">
              <a:ext uri="{FF2B5EF4-FFF2-40B4-BE49-F238E27FC236}">
                <a16:creationId xmlns:a16="http://schemas.microsoft.com/office/drawing/2014/main" id="{0E710C4B-CA4B-4130-8367-4D3687F9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43050"/>
            <a:ext cx="2381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补证</a:t>
            </a:r>
          </a:p>
        </p:txBody>
      </p:sp>
      <p:sp>
        <p:nvSpPr>
          <p:cNvPr id="12" name="p11b2">
            <a:extLst xmlns:a="http://schemas.openxmlformats.org/drawingml/2006/main">
              <a:ext uri="{FF2B5EF4-FFF2-40B4-BE49-F238E27FC236}">
                <a16:creationId xmlns:a16="http://schemas.microsoft.com/office/drawing/2014/main" id="{70C24EA3-988F-4FF1-85C2-B2BDE4F9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标待验证 / 降级</a:t>
            </a:r>
          </a:p>
        </p:txBody>
      </p:sp>
      <p:sp>
        <p:nvSpPr>
          <p:cNvPr id="13" name="p11a3">
            <a:extLst xmlns:a="http://schemas.openxmlformats.org/drawingml/2006/main">
              <a:ext uri="{FF2B5EF4-FFF2-40B4-BE49-F238E27FC236}">
                <a16:creationId xmlns:a16="http://schemas.microsoft.com/office/drawing/2014/main" id="{E74C47E3-0C93-4C82-AE1E-9A33478F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543050"/>
            <a:ext cx="2381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保留异议</a:t>
            </a:r>
          </a:p>
        </p:txBody>
      </p:sp>
      <p:sp>
        <p:nvSpPr>
          <p:cNvPr id="14" name="p11b3">
            <a:extLst xmlns:a="http://schemas.openxmlformats.org/drawingml/2006/main">
              <a:ext uri="{FF2B5EF4-FFF2-40B4-BE49-F238E27FC236}">
                <a16:creationId xmlns:a16="http://schemas.microsoft.com/office/drawing/2014/main" id="{F7E48A1E-96BD-4D9C-AA5B-E2359FBC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66950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写具体条目与理由</a:t>
            </a:r>
          </a:p>
        </p:txBody>
      </p:sp>
      <p:sp>
        <p:nvSpPr>
          <p:cNvPr id="15" name="p11fields">
            <a:extLst xmlns:a="http://schemas.openxmlformats.org/drawingml/2006/main">
              <a:ext uri="{FF2B5EF4-FFF2-40B4-BE49-F238E27FC236}">
                <a16:creationId xmlns:a16="http://schemas.microsoft.com/office/drawing/2014/main" id="{36460CD8-53AF-4693-B4E1-46EC6CDC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76650"/>
            <a:ext cx="971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至少 2 条完整六字段：类别｜理由｜边界｜依据｜待验证｜影响工件</a:t>
            </a:r>
          </a:p>
        </p:txBody>
      </p:sp>
      <p:sp>
        <p:nvSpPr>
          <p:cNvPr id="16" name="p11c">
            <a:extLst xmlns:a="http://schemas.openxmlformats.org/drawingml/2006/main">
              <a:ext uri="{FF2B5EF4-FFF2-40B4-BE49-F238E27FC236}">
                <a16:creationId xmlns:a16="http://schemas.microsoft.com/office/drawing/2014/main" id="{7822BEFA-A051-45B2-BAB5-7869F23B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同伴只提供输入；作者本人决定采纳、拒绝或如何修改。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Checkpoint 4 十项条件逐项预检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n0">
            <a:extLst xmlns:a="http://schemas.openxmlformats.org/drawingml/2006/main">
              <a:ext uri="{FF2B5EF4-FFF2-40B4-BE49-F238E27FC236}">
                <a16:creationId xmlns:a16="http://schemas.microsoft.com/office/drawing/2014/main" id="{5E66815D-35A5-4012-B9A3-52143533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9525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2t0">
            <a:extLst xmlns:a="http://schemas.openxmlformats.org/drawingml/2006/main">
              <a:ext uri="{FF2B5EF4-FFF2-40B4-BE49-F238E27FC236}">
                <a16:creationId xmlns:a16="http://schemas.microsoft.com/office/drawing/2014/main" id="{95FFAC9D-3A45-425D-946C-2CF32682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525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短文完整</a:t>
            </a:r>
          </a:p>
        </p:txBody>
      </p:sp>
      <p:sp>
        <p:nvSpPr>
          <p:cNvPr id="8" name="p12s0">
            <a:extLst xmlns:a="http://schemas.openxmlformats.org/drawingml/2006/main">
              <a:ext uri="{FF2B5EF4-FFF2-40B4-BE49-F238E27FC236}">
                <a16:creationId xmlns:a16="http://schemas.microsoft.com/office/drawing/2014/main" id="{D4B4A904-B9E6-4831-90DD-327CD743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9525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9" name="p12n1">
            <a:extLst xmlns:a="http://schemas.openxmlformats.org/drawingml/2006/main">
              <a:ext uri="{FF2B5EF4-FFF2-40B4-BE49-F238E27FC236}">
                <a16:creationId xmlns:a16="http://schemas.microsoft.com/office/drawing/2014/main" id="{FB39A45E-65E1-403F-A818-D435EB38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2t1">
            <a:extLst xmlns:a="http://schemas.openxmlformats.org/drawingml/2006/main">
              <a:ext uri="{FF2B5EF4-FFF2-40B4-BE49-F238E27FC236}">
                <a16:creationId xmlns:a16="http://schemas.microsoft.com/office/drawing/2014/main" id="{4BB5266B-5219-4AD5-84D5-8E4EC78B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结果可追溯</a:t>
            </a:r>
          </a:p>
        </p:txBody>
      </p:sp>
      <p:sp>
        <p:nvSpPr>
          <p:cNvPr id="11" name="p12s1">
            <a:extLst xmlns:a="http://schemas.openxmlformats.org/drawingml/2006/main">
              <a:ext uri="{FF2B5EF4-FFF2-40B4-BE49-F238E27FC236}">
                <a16:creationId xmlns:a16="http://schemas.microsoft.com/office/drawing/2014/main" id="{229BDF5D-B4D3-4668-9CB3-E314EAB2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3355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12" name="p12n2">
            <a:extLst xmlns:a="http://schemas.openxmlformats.org/drawingml/2006/main">
              <a:ext uri="{FF2B5EF4-FFF2-40B4-BE49-F238E27FC236}">
                <a16:creationId xmlns:a16="http://schemas.microsoft.com/office/drawing/2014/main" id="{593A4F5B-5A83-4074-B3A4-1619EC11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146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12t2">
            <a:extLst xmlns:a="http://schemas.openxmlformats.org/drawingml/2006/main">
              <a:ext uri="{FF2B5EF4-FFF2-40B4-BE49-F238E27FC236}">
                <a16:creationId xmlns:a16="http://schemas.microsoft.com/office/drawing/2014/main" id="{5D532592-1798-49DC-B9E3-016F663A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146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有效性 / 威胁分析</a:t>
            </a:r>
          </a:p>
        </p:txBody>
      </p:sp>
      <p:sp>
        <p:nvSpPr>
          <p:cNvPr id="14" name="p12s2">
            <a:extLst xmlns:a="http://schemas.openxmlformats.org/drawingml/2006/main">
              <a:ext uri="{FF2B5EF4-FFF2-40B4-BE49-F238E27FC236}">
                <a16:creationId xmlns:a16="http://schemas.microsoft.com/office/drawing/2014/main" id="{035B563D-EC41-4A95-B0E6-D445A993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146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15" name="p12n3">
            <a:extLst xmlns:a="http://schemas.openxmlformats.org/drawingml/2006/main">
              <a:ext uri="{FF2B5EF4-FFF2-40B4-BE49-F238E27FC236}">
                <a16:creationId xmlns:a16="http://schemas.microsoft.com/office/drawing/2014/main" id="{2519557D-63FC-4D85-8D35-CD1349F8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9565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p12t3">
            <a:extLst xmlns:a="http://schemas.openxmlformats.org/drawingml/2006/main">
              <a:ext uri="{FF2B5EF4-FFF2-40B4-BE49-F238E27FC236}">
                <a16:creationId xmlns:a16="http://schemas.microsoft.com/office/drawing/2014/main" id="{A1407799-B09B-4AD6-A54F-09B23BC6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956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第15课评审已处理</a:t>
            </a:r>
          </a:p>
        </p:txBody>
      </p:sp>
      <p:sp>
        <p:nvSpPr>
          <p:cNvPr id="17" name="p12s3">
            <a:extLst xmlns:a="http://schemas.openxmlformats.org/drawingml/2006/main">
              <a:ext uri="{FF2B5EF4-FFF2-40B4-BE49-F238E27FC236}">
                <a16:creationId xmlns:a16="http://schemas.microsoft.com/office/drawing/2014/main" id="{123DCD6B-9218-4D73-96C6-BE30AB18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9565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18" name="p12n4">
            <a:extLst xmlns:a="http://schemas.openxmlformats.org/drawingml/2006/main">
              <a:ext uri="{FF2B5EF4-FFF2-40B4-BE49-F238E27FC236}">
                <a16:creationId xmlns:a16="http://schemas.microsoft.com/office/drawing/2014/main" id="{D0DABE71-BE4C-4FB4-872F-2D0E474D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767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9" name="p12t4">
            <a:extLst xmlns:a="http://schemas.openxmlformats.org/drawingml/2006/main">
              <a:ext uri="{FF2B5EF4-FFF2-40B4-BE49-F238E27FC236}">
                <a16:creationId xmlns:a16="http://schemas.microsoft.com/office/drawing/2014/main" id="{E0F14660-AC52-4980-9672-BF3A2A65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关键结论绑定证据+判断</a:t>
            </a:r>
          </a:p>
        </p:txBody>
      </p:sp>
      <p:sp>
        <p:nvSpPr>
          <p:cNvPr id="20" name="p12s4">
            <a:extLst xmlns:a="http://schemas.openxmlformats.org/drawingml/2006/main">
              <a:ext uri="{FF2B5EF4-FFF2-40B4-BE49-F238E27FC236}">
                <a16:creationId xmlns:a16="http://schemas.microsoft.com/office/drawing/2014/main" id="{B3D11D2F-B306-429D-8786-492A8A67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767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21" name="p12n5">
            <a:extLst xmlns:a="http://schemas.openxmlformats.org/drawingml/2006/main">
              <a:ext uri="{FF2B5EF4-FFF2-40B4-BE49-F238E27FC236}">
                <a16:creationId xmlns:a16="http://schemas.microsoft.com/office/drawing/2014/main" id="{0C33AAB9-DFCC-40AA-AD10-1E1A25C4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9525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2" name="p12t5">
            <a:extLst xmlns:a="http://schemas.openxmlformats.org/drawingml/2006/main">
              <a:ext uri="{FF2B5EF4-FFF2-40B4-BE49-F238E27FC236}">
                <a16:creationId xmlns:a16="http://schemas.microsoft.com/office/drawing/2014/main" id="{BE25F8F4-9905-4D16-8250-43D3EAA4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9525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stable 两项独立或降级</a:t>
            </a:r>
          </a:p>
        </p:txBody>
      </p:sp>
      <p:sp>
        <p:nvSpPr>
          <p:cNvPr id="23" name="p12s5">
            <a:extLst xmlns:a="http://schemas.openxmlformats.org/drawingml/2006/main">
              <a:ext uri="{FF2B5EF4-FFF2-40B4-BE49-F238E27FC236}">
                <a16:creationId xmlns:a16="http://schemas.microsoft.com/office/drawing/2014/main" id="{954F09E7-F8B8-40B5-B6C5-0D485B7C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9525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24" name="p12n6">
            <a:extLst xmlns:a="http://schemas.openxmlformats.org/drawingml/2006/main">
              <a:ext uri="{FF2B5EF4-FFF2-40B4-BE49-F238E27FC236}">
                <a16:creationId xmlns:a16="http://schemas.microsoft.com/office/drawing/2014/main" id="{356936F9-198A-43BD-B411-A4BE4DD9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3355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5" name="p12t6">
            <a:extLst xmlns:a="http://schemas.openxmlformats.org/drawingml/2006/main">
              <a:ext uri="{FF2B5EF4-FFF2-40B4-BE49-F238E27FC236}">
                <a16:creationId xmlns:a16="http://schemas.microsoft.com/office/drawing/2014/main" id="{492F33C9-F1AD-4066-91CA-62D6B167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335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Workflow 运行/权限/评价/失败</a:t>
            </a:r>
          </a:p>
        </p:txBody>
      </p:sp>
      <p:sp>
        <p:nvSpPr>
          <p:cNvPr id="26" name="p12s6">
            <a:extLst xmlns:a="http://schemas.openxmlformats.org/drawingml/2006/main">
              <a:ext uri="{FF2B5EF4-FFF2-40B4-BE49-F238E27FC236}">
                <a16:creationId xmlns:a16="http://schemas.microsoft.com/office/drawing/2014/main" id="{F0711EBF-323D-49E2-8E41-5CA5A015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173355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27" name="p12n7">
            <a:extLst xmlns:a="http://schemas.openxmlformats.org/drawingml/2006/main">
              <a:ext uri="{FF2B5EF4-FFF2-40B4-BE49-F238E27FC236}">
                <a16:creationId xmlns:a16="http://schemas.microsoft.com/office/drawing/2014/main" id="{4378724C-7FE3-4759-834C-9ED1BE2B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146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8" name="p12t7">
            <a:extLst xmlns:a="http://schemas.openxmlformats.org/drawingml/2006/main">
              <a:ext uri="{FF2B5EF4-FFF2-40B4-BE49-F238E27FC236}">
                <a16:creationId xmlns:a16="http://schemas.microsoft.com/office/drawing/2014/main" id="{D2DE1324-1F98-45E4-84C6-8DBB8716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146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伦理/许可/贡献/AI 披露</a:t>
            </a:r>
          </a:p>
        </p:txBody>
      </p:sp>
      <p:sp>
        <p:nvSpPr>
          <p:cNvPr id="29" name="p12s7">
            <a:extLst xmlns:a="http://schemas.openxmlformats.org/drawingml/2006/main">
              <a:ext uri="{FF2B5EF4-FFF2-40B4-BE49-F238E27FC236}">
                <a16:creationId xmlns:a16="http://schemas.microsoft.com/office/drawing/2014/main" id="{7670D988-A7C3-4397-939E-F054FEAD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5146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30" name="p12n8">
            <a:extLst xmlns:a="http://schemas.openxmlformats.org/drawingml/2006/main">
              <a:ext uri="{FF2B5EF4-FFF2-40B4-BE49-F238E27FC236}">
                <a16:creationId xmlns:a16="http://schemas.microsoft.com/office/drawing/2014/main" id="{D1274768-6D1F-4AE9-99C2-469F9DE0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9565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1" name="p12t8">
            <a:extLst xmlns:a="http://schemas.openxmlformats.org/drawingml/2006/main">
              <a:ext uri="{FF2B5EF4-FFF2-40B4-BE49-F238E27FC236}">
                <a16:creationId xmlns:a16="http://schemas.microsoft.com/office/drawing/2014/main" id="{8C305C73-C408-405F-91B8-9BD2A838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956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工件状态一致</a:t>
            </a:r>
          </a:p>
        </p:txBody>
      </p:sp>
      <p:sp>
        <p:nvSpPr>
          <p:cNvPr id="32" name="p12s8">
            <a:extLst xmlns:a="http://schemas.openxmlformats.org/drawingml/2006/main">
              <a:ext uri="{FF2B5EF4-FFF2-40B4-BE49-F238E27FC236}">
                <a16:creationId xmlns:a16="http://schemas.microsoft.com/office/drawing/2014/main" id="{D5C1DD5B-E6A8-4EA9-8C82-965A0930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9565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33" name="p12n9">
            <a:extLst xmlns:a="http://schemas.openxmlformats.org/drawingml/2006/main">
              <a:ext uri="{FF2B5EF4-FFF2-40B4-BE49-F238E27FC236}">
                <a16:creationId xmlns:a16="http://schemas.microsoft.com/office/drawing/2014/main" id="{1DCBEDC6-B9E3-43B7-A434-C5B84295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57200" cy="495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4" name="p12t9">
            <a:extLst xmlns:a="http://schemas.openxmlformats.org/drawingml/2006/main">
              <a:ext uri="{FF2B5EF4-FFF2-40B4-BE49-F238E27FC236}">
                <a16:creationId xmlns:a16="http://schemas.microsoft.com/office/drawing/2014/main" id="{806FFC32-F896-4F72-8EB1-2C11539B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767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展示/复现抽查/复盘</a:t>
            </a:r>
          </a:p>
        </p:txBody>
      </p:sp>
      <p:sp>
        <p:nvSpPr>
          <p:cNvPr id="35" name="p12s9">
            <a:extLst xmlns:a="http://schemas.openxmlformats.org/drawingml/2006/main">
              <a:ext uri="{FF2B5EF4-FFF2-40B4-BE49-F238E27FC236}">
                <a16:creationId xmlns:a16="http://schemas.microsoft.com/office/drawing/2014/main" id="{B57D53A6-3444-4F79-A641-AE22C575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4076700"/>
            <a:ext cx="99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667684"/>
                </a:solidFill>
              </a:defRPr>
            </a:pPr>
            <a:r>
              <a:rPr sz="9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□ 满足  □ 部分  □ 未覆盖</a:t>
            </a:r>
          </a:p>
        </p:txBody>
      </p:sp>
      <p:sp>
        <p:nvSpPr>
          <p:cNvPr id="36" name="p12c">
            <a:extLst xmlns:a="http://schemas.openxmlformats.org/drawingml/2006/main">
              <a:ext uri="{FF2B5EF4-FFF2-40B4-BE49-F238E27FC236}">
                <a16:creationId xmlns:a16="http://schemas.microsoft.com/office/drawing/2014/main" id="{6974DADA-312A-48F3-85C5-CF793025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这是形成性预检；第 16 课才进行正式门检查。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先修致命项，再带缺口进入第 16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a0">
            <a:extLst xmlns:a="http://schemas.openxmlformats.org/drawingml/2006/main">
              <a:ext uri="{FF2B5EF4-FFF2-40B4-BE49-F238E27FC236}">
                <a16:creationId xmlns:a16="http://schemas.microsoft.com/office/drawing/2014/main" id="{31520F62-C755-4B54-BDF8-B0AF7646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35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致命</a:t>
            </a:r>
          </a:p>
        </p:txBody>
      </p:sp>
      <p:sp>
        <p:nvSpPr>
          <p:cNvPr id="7" name="p13b0">
            <a:extLst xmlns:a="http://schemas.openxmlformats.org/drawingml/2006/main">
              <a:ext uri="{FF2B5EF4-FFF2-40B4-BE49-F238E27FC236}">
                <a16:creationId xmlns:a16="http://schemas.microsoft.com/office/drawing/2014/main" id="{7ECF5DC8-3DA8-402F-B4D8-CB454991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0015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论证门不满足；第16课前修复</a:t>
            </a:r>
          </a:p>
        </p:txBody>
      </p:sp>
      <p:sp>
        <p:nvSpPr>
          <p:cNvPr id="8" name="p13a1">
            <a:extLst xmlns:a="http://schemas.openxmlformats.org/drawingml/2006/main">
              <a:ext uri="{FF2B5EF4-FFF2-40B4-BE49-F238E27FC236}">
                <a16:creationId xmlns:a16="http://schemas.microsoft.com/office/drawing/2014/main" id="{DC1889EC-C20B-44F7-8912-6D50DB59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135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重要</a:t>
            </a:r>
          </a:p>
        </p:txBody>
      </p:sp>
      <p:sp>
        <p:nvSpPr>
          <p:cNvPr id="9" name="p13b1">
            <a:extLst xmlns:a="http://schemas.openxmlformats.org/drawingml/2006/main">
              <a:ext uri="{FF2B5EF4-FFF2-40B4-BE49-F238E27FC236}">
                <a16:creationId xmlns:a16="http://schemas.microsoft.com/office/drawing/2014/main" id="{E5C1FA54-23A4-45C0-B9E6-D58ADE60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0505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有缺口；尽量修复或标待验证</a:t>
            </a:r>
          </a:p>
        </p:txBody>
      </p:sp>
      <p:sp>
        <p:nvSpPr>
          <p:cNvPr id="10" name="p13a2">
            <a:extLst xmlns:a="http://schemas.openxmlformats.org/drawingml/2006/main">
              <a:ext uri="{FF2B5EF4-FFF2-40B4-BE49-F238E27FC236}">
                <a16:creationId xmlns:a16="http://schemas.microsoft.com/office/drawing/2014/main" id="{D40381C7-89E3-4E4A-BBAF-2112EF68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9950"/>
            <a:ext cx="135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11" name="p13b2">
            <a:extLst xmlns:a="http://schemas.openxmlformats.org/drawingml/2006/main">
              <a:ext uri="{FF2B5EF4-FFF2-40B4-BE49-F238E27FC236}">
                <a16:creationId xmlns:a16="http://schemas.microsoft.com/office/drawing/2014/main" id="{36370901-EDCE-4211-A084-FF9FE18F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40995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论证成立；展示前打磨</a:t>
            </a:r>
          </a:p>
        </p:txBody>
      </p:sp>
      <p:sp>
        <p:nvSpPr>
          <p:cNvPr id="12" name="p13mid">
            <a:extLst xmlns:a="http://schemas.openxmlformats.org/drawingml/2006/main">
              <a:ext uri="{FF2B5EF4-FFF2-40B4-BE49-F238E27FC236}">
                <a16:creationId xmlns:a16="http://schemas.microsoft.com/office/drawing/2014/main" id="{76A2B145-FB6F-46B9-A2FB-CD6E50AC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14900" y="2771775"/>
            <a:ext cx="331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3right">
            <a:extLst xmlns:a="http://schemas.openxmlformats.org/drawingml/2006/main">
              <a:ext uri="{FF2B5EF4-FFF2-40B4-BE49-F238E27FC236}">
                <a16:creationId xmlns:a16="http://schemas.microsoft.com/office/drawing/2014/main" id="{C538441A-70D8-4FBF-A9B5-8398650C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104900"/>
            <a:ext cx="40386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16 课合并检查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论文式短文定稿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同行评审处理记录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复现与 Workflow 材料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伦理 / AI 披露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个人展示与抽查</a:t>
            </a:r>
          </a:p>
        </p:txBody>
      </p:sp>
      <p:sp>
        <p:nvSpPr>
          <p:cNvPr id="14" name="p13c">
            <a:extLst xmlns:a="http://schemas.openxmlformats.org/drawingml/2006/main">
              <a:ext uri="{FF2B5EF4-FFF2-40B4-BE49-F238E27FC236}">
                <a16:creationId xmlns:a16="http://schemas.microsoft.com/office/drawing/2014/main" id="{AD2A0BA9-F00E-4E85-9C17-25441682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本课不正式提交；保存当前个人项目版本与缺口清单。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备用：实践轮次与工件写回索引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35C69D92-4AF3-4506-A4F2-3C1DF5D9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838200"/>
            <a:ext cx="2419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备用页｜不计入主节奏</a:t>
            </a:r>
          </a:p>
        </p:txBody>
      </p:sp>
      <p:sp>
        <p:nvSpPr>
          <p:cNvPr id="7" name="p140a">
            <a:extLst xmlns:a="http://schemas.openxmlformats.org/drawingml/2006/main">
              <a:ext uri="{FF2B5EF4-FFF2-40B4-BE49-F238E27FC236}">
                <a16:creationId xmlns:a16="http://schemas.microsoft.com/office/drawing/2014/main" id="{A356B163-70FC-4724-A656-81044A30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35-50</a:t>
            </a:r>
          </a:p>
        </p:txBody>
      </p:sp>
      <p:sp>
        <p:nvSpPr>
          <p:cNvPr id="8" name="p140b">
            <a:extLst xmlns:a="http://schemas.openxmlformats.org/drawingml/2006/main">
              <a:ext uri="{FF2B5EF4-FFF2-40B4-BE49-F238E27FC236}">
                <a16:creationId xmlns:a16="http://schemas.microsoft.com/office/drawing/2014/main" id="{C9DD963C-4F8E-45B7-8195-883AC00B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18110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 1 位固定同伴  →  peer-review-log.md</a:t>
            </a:r>
          </a:p>
        </p:txBody>
      </p:sp>
      <p:sp>
        <p:nvSpPr>
          <p:cNvPr id="9" name="p141a">
            <a:extLst xmlns:a="http://schemas.openxmlformats.org/drawingml/2006/main">
              <a:ext uri="{FF2B5EF4-FFF2-40B4-BE49-F238E27FC236}">
                <a16:creationId xmlns:a16="http://schemas.microsoft.com/office/drawing/2014/main" id="{7BD410D6-1764-410F-999D-E8B80F19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50-65</a:t>
            </a:r>
          </a:p>
        </p:txBody>
      </p:sp>
      <p:sp>
        <p:nvSpPr>
          <p:cNvPr id="10" name="p141b">
            <a:extLst xmlns:a="http://schemas.openxmlformats.org/drawingml/2006/main">
              <a:ext uri="{FF2B5EF4-FFF2-40B4-BE49-F238E27FC236}">
                <a16:creationId xmlns:a16="http://schemas.microsoft.com/office/drawing/2014/main" id="{0B835427-402E-4C6C-8A8B-FB4B7DE5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1455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≥2 条回应  →  response-log.md</a:t>
            </a:r>
          </a:p>
        </p:txBody>
      </p:sp>
      <p:sp>
        <p:nvSpPr>
          <p:cNvPr id="11" name="p142a">
            <a:extLst xmlns:a="http://schemas.openxmlformats.org/drawingml/2006/main">
              <a:ext uri="{FF2B5EF4-FFF2-40B4-BE49-F238E27FC236}">
                <a16:creationId xmlns:a16="http://schemas.microsoft.com/office/drawing/2014/main" id="{4EA47A2D-CFB4-40C6-94D2-3FA2F259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65-82</a:t>
            </a:r>
          </a:p>
        </p:txBody>
      </p:sp>
      <p:sp>
        <p:nvSpPr>
          <p:cNvPr id="12" name="p142b">
            <a:extLst xmlns:a="http://schemas.openxmlformats.org/drawingml/2006/main">
              <a:ext uri="{FF2B5EF4-FFF2-40B4-BE49-F238E27FC236}">
                <a16:creationId xmlns:a16="http://schemas.microsoft.com/office/drawing/2014/main" id="{D0453F1F-4328-4A48-BE65-5FEF2D1D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十项预检  →  notes/argument-gate.md</a:t>
            </a:r>
          </a:p>
        </p:txBody>
      </p:sp>
      <p:sp>
        <p:nvSpPr>
          <p:cNvPr id="13" name="p143a">
            <a:extLst xmlns:a="http://schemas.openxmlformats.org/drawingml/2006/main">
              <a:ext uri="{FF2B5EF4-FFF2-40B4-BE49-F238E27FC236}">
                <a16:creationId xmlns:a16="http://schemas.microsoft.com/office/drawing/2014/main" id="{333F3583-1902-44EA-AA0E-55341F83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142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82-90</a:t>
            </a:r>
          </a:p>
        </p:txBody>
      </p:sp>
      <p:sp>
        <p:nvSpPr>
          <p:cNvPr id="14" name="p143b">
            <a:extLst xmlns:a="http://schemas.openxmlformats.org/drawingml/2006/main">
              <a:ext uri="{FF2B5EF4-FFF2-40B4-BE49-F238E27FC236}">
                <a16:creationId xmlns:a16="http://schemas.microsoft.com/office/drawing/2014/main" id="{929D659E-787F-4889-A59F-A15491C0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8145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排致命/重要/表达  →  revision-priority.md</a:t>
            </a:r>
          </a:p>
        </p:txBody>
      </p:sp>
      <p:sp>
        <p:nvSpPr>
          <p:cNvPr id="15" name="p14c">
            <a:extLst xmlns:a="http://schemas.openxmlformats.org/drawingml/2006/main">
              <a:ext uri="{FF2B5EF4-FFF2-40B4-BE49-F238E27FC236}">
                <a16:creationId xmlns:a16="http://schemas.microsoft.com/office/drawing/2014/main" id="{504F16E3-2E78-4D19-8C13-474866BF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所有工件写回个人项目，不形成共同提交。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备用：把泛化评审改写为可执行意见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314EBDAD-FBC2-4A83-99C0-704B01BE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8382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教师构造反例｜非真实评审</a:t>
            </a:r>
          </a:p>
        </p:txBody>
      </p:sp>
      <p:sp>
        <p:nvSpPr>
          <p:cNvPr id="7" name="bad">
            <a:extLst xmlns:a="http://schemas.openxmlformats.org/drawingml/2006/main">
              <a:ext uri="{FF2B5EF4-FFF2-40B4-BE49-F238E27FC236}">
                <a16:creationId xmlns:a16="http://schemas.microsoft.com/office/drawing/2014/main" id="{96168B76-E149-42F2-90CD-C25D5C9A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000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“论证不严谨。”</a:t>
            </a:r>
          </a:p>
        </p:txBody>
      </p:sp>
      <p:sp>
        <p:nvSpPr>
          <p:cNvPr id="8" name="arr">
            <a:extLst xmlns:a="http://schemas.openxmlformats.org/drawingml/2006/main">
              <a:ext uri="{FF2B5EF4-FFF2-40B4-BE49-F238E27FC236}">
                <a16:creationId xmlns:a16="http://schemas.microsoft.com/office/drawing/2014/main" id="{94A5934C-2AD5-44EB-89B7-68503DBF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097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good">
            <a:extLst xmlns:a="http://schemas.openxmlformats.org/drawingml/2006/main">
              <a:ext uri="{FF2B5EF4-FFF2-40B4-BE49-F238E27FC236}">
                <a16:creationId xmlns:a16="http://schemas.microsoft.com/office/drawing/2014/main" id="{6D27F73E-2F09-4890-A792-BEC0064D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390650"/>
            <a:ext cx="51625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“短文 §3 的主结论没有绑定实验 ID；结果不可追溯，可能挡住论证门。建议先补 ID 与结论追踪表链接。”</a:t>
            </a:r>
          </a:p>
        </p:txBody>
      </p:sp>
      <p:sp>
        <p:nvSpPr>
          <p:cNvPr id="10" name="p150">
            <a:extLst xmlns:a="http://schemas.openxmlformats.org/drawingml/2006/main">
              <a:ext uri="{FF2B5EF4-FFF2-40B4-BE49-F238E27FC236}">
                <a16:creationId xmlns:a16="http://schemas.microsoft.com/office/drawing/2014/main" id="{7020D210-5579-4449-9E7B-05B05FC7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84810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具体条目</a:t>
            </a:r>
          </a:p>
        </p:txBody>
      </p:sp>
      <p:sp>
        <p:nvSpPr>
          <p:cNvPr id="11" name="p151">
            <a:extLst xmlns:a="http://schemas.openxmlformats.org/drawingml/2006/main">
              <a:ext uri="{FF2B5EF4-FFF2-40B4-BE49-F238E27FC236}">
                <a16:creationId xmlns:a16="http://schemas.microsoft.com/office/drawing/2014/main" id="{A207AF31-2958-4F22-8B63-A0D9CCC0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4810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rubric 维度</a:t>
            </a:r>
          </a:p>
        </p:txBody>
      </p:sp>
      <p:sp>
        <p:nvSpPr>
          <p:cNvPr id="12" name="p152">
            <a:extLst xmlns:a="http://schemas.openxmlformats.org/drawingml/2006/main">
              <a:ext uri="{FF2B5EF4-FFF2-40B4-BE49-F238E27FC236}">
                <a16:creationId xmlns:a16="http://schemas.microsoft.com/office/drawing/2014/main" id="{78F5D01F-F582-46D4-935F-E8B2EF88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4810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风险等级</a:t>
            </a:r>
          </a:p>
        </p:txBody>
      </p:sp>
      <p:sp>
        <p:nvSpPr>
          <p:cNvPr id="13" name="p153">
            <a:extLst xmlns:a="http://schemas.openxmlformats.org/drawingml/2006/main">
              <a:ext uri="{FF2B5EF4-FFF2-40B4-BE49-F238E27FC236}">
                <a16:creationId xmlns:a16="http://schemas.microsoft.com/office/drawing/2014/main" id="{2A5BC915-F47E-40EA-B78E-3AE334D1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4810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可执行动作</a:t>
            </a:r>
          </a:p>
        </p:txBody>
      </p:sp>
      <p:sp>
        <p:nvSpPr>
          <p:cNvPr id="14" name="p15c">
            <a:extLst xmlns:a="http://schemas.openxmlformats.org/drawingml/2006/main">
              <a:ext uri="{FF2B5EF4-FFF2-40B4-BE49-F238E27FC236}">
                <a16:creationId xmlns:a16="http://schemas.microsoft.com/office/drawing/2014/main" id="{49E46225-9B7A-49BE-9A76-0119E5A6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从评价人，改为描述工作、风险与最小动作。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备用退出卡：作者保留最终决定权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lab">
            <a:extLst xmlns:a="http://schemas.openxmlformats.org/drawingml/2006/main">
              <a:ext uri="{FF2B5EF4-FFF2-40B4-BE49-F238E27FC236}">
                <a16:creationId xmlns:a16="http://schemas.microsoft.com/office/drawing/2014/main" id="{9DF75D07-E65C-4826-9683-A4B663CA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838200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备用页｜退出卡</a:t>
            </a:r>
          </a:p>
        </p:txBody>
      </p:sp>
      <p:sp>
        <p:nvSpPr>
          <p:cNvPr id="7" name="p160a">
            <a:extLst xmlns:a="http://schemas.openxmlformats.org/drawingml/2006/main">
              <a:ext uri="{FF2B5EF4-FFF2-40B4-BE49-F238E27FC236}">
                <a16:creationId xmlns:a16="http://schemas.microsoft.com/office/drawing/2014/main" id="{731333FF-D877-457E-AA12-40BD31B3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95400"/>
            <a:ext cx="552450" cy="6286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60b">
            <a:extLst xmlns:a="http://schemas.openxmlformats.org/drawingml/2006/main">
              <a:ext uri="{FF2B5EF4-FFF2-40B4-BE49-F238E27FC236}">
                <a16:creationId xmlns:a16="http://schemas.microsoft.com/office/drawing/2014/main" id="{AFC38B01-73C0-4011-A686-2AC4A9E6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2954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哪条反馈最可能挡住论证门？</a:t>
            </a:r>
          </a:p>
        </p:txBody>
      </p:sp>
      <p:sp>
        <p:nvSpPr>
          <p:cNvPr id="9" name="p161a">
            <a:extLst xmlns:a="http://schemas.openxmlformats.org/drawingml/2006/main">
              <a:ext uri="{FF2B5EF4-FFF2-40B4-BE49-F238E27FC236}">
                <a16:creationId xmlns:a16="http://schemas.microsoft.com/office/drawing/2014/main" id="{5968AFC7-4F04-4A59-9486-F0D885EC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52450" cy="6286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61b">
            <a:extLst xmlns:a="http://schemas.openxmlformats.org/drawingml/2006/main">
              <a:ext uri="{FF2B5EF4-FFF2-40B4-BE49-F238E27FC236}">
                <a16:creationId xmlns:a16="http://schemas.microsoft.com/office/drawing/2014/main" id="{5ECB4697-EB34-4F6C-9200-1052B12A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860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你决定采纳、澄清、补证还是保留异议？</a:t>
            </a:r>
          </a:p>
        </p:txBody>
      </p:sp>
      <p:sp>
        <p:nvSpPr>
          <p:cNvPr id="11" name="p162a">
            <a:extLst xmlns:a="http://schemas.openxmlformats.org/drawingml/2006/main">
              <a:ext uri="{FF2B5EF4-FFF2-40B4-BE49-F238E27FC236}">
                <a16:creationId xmlns:a16="http://schemas.microsoft.com/office/drawing/2014/main" id="{C2E9BAA7-1555-4C98-9D9B-D080BFF1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552450" cy="6286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62b">
            <a:extLst xmlns:a="http://schemas.openxmlformats.org/drawingml/2006/main">
              <a:ext uri="{FF2B5EF4-FFF2-40B4-BE49-F238E27FC236}">
                <a16:creationId xmlns:a16="http://schemas.microsoft.com/office/drawing/2014/main" id="{E81BCFA0-5BD6-49B7-B81C-8AF4148D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766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16 课前先修哪个致命项？</a:t>
            </a:r>
          </a:p>
        </p:txBody>
      </p:sp>
      <p:sp>
        <p:nvSpPr>
          <p:cNvPr id="13" name="p16c">
            <a:extLst xmlns:a="http://schemas.openxmlformats.org/drawingml/2006/main">
              <a:ext uri="{FF2B5EF4-FFF2-40B4-BE49-F238E27FC236}">
                <a16:creationId xmlns:a16="http://schemas.microsoft.com/office/drawing/2014/main" id="{3E750AEF-324F-4EA5-A58C-B453B283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同伴提供输入；作者记录理由并承担最终决定。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2026-08-07T11:24:55.4870000Z</dcterms:created>
  <dcterms:modified xsi:type="dcterms:W3CDTF">2026-08-07T11:24:55.4870000Z</dcterms:modified>
</coreProperties>
</file>