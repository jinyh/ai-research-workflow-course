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ba47094c242b1" /><Relationship Type="http://schemas.openxmlformats.org/officeDocument/2006/relationships/extended-properties" Target="/docProps/app.xml" Id="Re9706e581f324d0f" /><Relationship Type="http://schemas.openxmlformats.org/officeDocument/2006/relationships/officeDocument" Target="/ppt/presentation.xml" Id="R9a9acf88651740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8262c1066b4b23"/>
  </p:sldMasterIdLst>
  <p:notesMasterIdLst>
    <p:notesMasterId xmlns:r="http://schemas.openxmlformats.org/officeDocument/2006/relationships" r:id="R018dfb3b4bdd49fd"/>
  </p:notesMasterIdLst>
  <p:sldIdLst>
    <p:sldId xmlns:r="http://schemas.openxmlformats.org/officeDocument/2006/relationships" id="256" r:id="Rbd61a9d5ec5948a1"/>
    <p:sldId xmlns:r="http://schemas.openxmlformats.org/officeDocument/2006/relationships" id="257" r:id="R2a7ac120d18d4197"/>
    <p:sldId xmlns:r="http://schemas.openxmlformats.org/officeDocument/2006/relationships" id="258" r:id="R86a442a670e84c95"/>
    <p:sldId xmlns:r="http://schemas.openxmlformats.org/officeDocument/2006/relationships" id="259" r:id="R95a566ea17b4495e"/>
    <p:sldId xmlns:r="http://schemas.openxmlformats.org/officeDocument/2006/relationships" id="260" r:id="R066702982680484b"/>
    <p:sldId xmlns:r="http://schemas.openxmlformats.org/officeDocument/2006/relationships" id="261" r:id="R9cecf2647a4f43f0"/>
    <p:sldId xmlns:r="http://schemas.openxmlformats.org/officeDocument/2006/relationships" id="262" r:id="Rab91cee0814e40a3"/>
    <p:sldId xmlns:r="http://schemas.openxmlformats.org/officeDocument/2006/relationships" id="263" r:id="Rc9db7136f1ec4cfb"/>
    <p:sldId xmlns:r="http://schemas.openxmlformats.org/officeDocument/2006/relationships" id="264" r:id="R992a091be1c34576"/>
    <p:sldId xmlns:r="http://schemas.openxmlformats.org/officeDocument/2006/relationships" id="265" r:id="Rde8dea8c413648b7"/>
    <p:sldId xmlns:r="http://schemas.openxmlformats.org/officeDocument/2006/relationships" id="266" r:id="R50a182b695ab4686"/>
    <p:sldId xmlns:r="http://schemas.openxmlformats.org/officeDocument/2006/relationships" id="267" r:id="Rad8fb1fd1452462e"/>
    <p:sldId xmlns:r="http://schemas.openxmlformats.org/officeDocument/2006/relationships" id="268" r:id="R9cc274dfc23549a2"/>
    <p:sldId xmlns:r="http://schemas.openxmlformats.org/officeDocument/2006/relationships" id="269" r:id="R0d4c221022094bfc"/>
    <p:sldId xmlns:r="http://schemas.openxmlformats.org/officeDocument/2006/relationships" id="270" r:id="R20da18d0fe5145ac"/>
    <p:sldId xmlns:r="http://schemas.openxmlformats.org/officeDocument/2006/relationships" id="271" r:id="Ra67fd41c5fa940a4"/>
    <p:sldId xmlns:r="http://schemas.openxmlformats.org/officeDocument/2006/relationships" id="272" r:id="R4a19ad1ae729447b"/>
    <p:sldId xmlns:r="http://schemas.openxmlformats.org/officeDocument/2006/relationships" id="273" r:id="R4edd06f0a0734472"/>
    <p:sldId xmlns:r="http://schemas.openxmlformats.org/officeDocument/2006/relationships" id="274" r:id="Re90c380dbef448dd"/>
    <p:sldId xmlns:r="http://schemas.openxmlformats.org/officeDocument/2006/relationships" id="275" r:id="R6630d9d75fd14e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d6f446879948f2" /><Relationship Type="http://schemas.openxmlformats.org/officeDocument/2006/relationships/slideMaster" Target="/ppt/slideMasters/slideMaster1.xml" Id="R1b8262c1066b4b23" /><Relationship Type="http://schemas.openxmlformats.org/officeDocument/2006/relationships/notesMaster" Target="/ppt/notesMasters/notesMaster1.xml" Id="R018dfb3b4bdd49fd" /><Relationship Type="http://schemas.openxmlformats.org/officeDocument/2006/relationships/presProps" Target="/ppt/presProps.xml" Id="Rd6142ce56e684af0" /><Relationship Type="http://schemas.openxmlformats.org/officeDocument/2006/relationships/viewProps" Target="/ppt/viewProps.xml" Id="Rec56cdeea51b419f" /><Relationship Type="http://schemas.openxmlformats.org/officeDocument/2006/relationships/tableStyles" Target="/ppt/tableStyles.xml" Id="Rbd9d8faf741a4755" /><Relationship Type="http://schemas.openxmlformats.org/officeDocument/2006/relationships/slide" Target="/ppt/slides/slide1.xml" Id="Rbd61a9d5ec5948a1" /><Relationship Type="http://schemas.openxmlformats.org/officeDocument/2006/relationships/slide" Target="/ppt/slides/slide2.xml" Id="R2a7ac120d18d4197" /><Relationship Type="http://schemas.openxmlformats.org/officeDocument/2006/relationships/slide" Target="/ppt/slides/slide3.xml" Id="R86a442a670e84c95" /><Relationship Type="http://schemas.openxmlformats.org/officeDocument/2006/relationships/slide" Target="/ppt/slides/slide4.xml" Id="R95a566ea17b4495e" /><Relationship Type="http://schemas.openxmlformats.org/officeDocument/2006/relationships/slide" Target="/ppt/slides/slide5.xml" Id="R066702982680484b" /><Relationship Type="http://schemas.openxmlformats.org/officeDocument/2006/relationships/slide" Target="/ppt/slides/slide6.xml" Id="R9cecf2647a4f43f0" /><Relationship Type="http://schemas.openxmlformats.org/officeDocument/2006/relationships/slide" Target="/ppt/slides/slide7.xml" Id="Rab91cee0814e40a3" /><Relationship Type="http://schemas.openxmlformats.org/officeDocument/2006/relationships/slide" Target="/ppt/slides/slide8.xml" Id="Rc9db7136f1ec4cfb" /><Relationship Type="http://schemas.openxmlformats.org/officeDocument/2006/relationships/slide" Target="/ppt/slides/slide9.xml" Id="R992a091be1c34576" /><Relationship Type="http://schemas.openxmlformats.org/officeDocument/2006/relationships/slide" Target="/ppt/slides/slide10.xml" Id="Rde8dea8c413648b7" /><Relationship Type="http://schemas.openxmlformats.org/officeDocument/2006/relationships/slide" Target="/ppt/slides/slide11.xml" Id="R50a182b695ab4686" /><Relationship Type="http://schemas.openxmlformats.org/officeDocument/2006/relationships/slide" Target="/ppt/slides/slide12.xml" Id="Rad8fb1fd1452462e" /><Relationship Type="http://schemas.openxmlformats.org/officeDocument/2006/relationships/slide" Target="/ppt/slides/slide13.xml" Id="R9cc274dfc23549a2" /><Relationship Type="http://schemas.openxmlformats.org/officeDocument/2006/relationships/slide" Target="/ppt/slides/slide14.xml" Id="R0d4c221022094bfc" /><Relationship Type="http://schemas.openxmlformats.org/officeDocument/2006/relationships/slide" Target="/ppt/slides/slide15.xml" Id="R20da18d0fe5145ac" /><Relationship Type="http://schemas.openxmlformats.org/officeDocument/2006/relationships/slide" Target="/ppt/slides/slide16.xml" Id="Ra67fd41c5fa940a4" /><Relationship Type="http://schemas.openxmlformats.org/officeDocument/2006/relationships/slide" Target="/ppt/slides/slide17.xml" Id="R4a19ad1ae729447b" /><Relationship Type="http://schemas.openxmlformats.org/officeDocument/2006/relationships/slide" Target="/ppt/slides/slide18.xml" Id="R4edd06f0a0734472" /><Relationship Type="http://schemas.openxmlformats.org/officeDocument/2006/relationships/slide" Target="/ppt/slides/slide19.xml" Id="Re90c380dbef448dd" /><Relationship Type="http://schemas.openxmlformats.org/officeDocument/2006/relationships/slide" Target="/ppt/slides/slide20.xml" Id="R6630d9d75fd14e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15a466a86348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30337011e644ae" /><Relationship Type="http://schemas.openxmlformats.org/officeDocument/2006/relationships/notesMaster" Target="/ppt/notesMasters/notesMaster1.xml" Id="Rf63d402ed88647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0077fd0246492b" /><Relationship Type="http://schemas.openxmlformats.org/officeDocument/2006/relationships/notesMaster" Target="/ppt/notesMasters/notesMaster1.xml" Id="R8196ec7c1cb64f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c3dc98fb8d4bc1" /><Relationship Type="http://schemas.openxmlformats.org/officeDocument/2006/relationships/notesMaster" Target="/ppt/notesMasters/notesMaster1.xml" Id="R23249f6c4eb640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97b1dcbf294bec" /><Relationship Type="http://schemas.openxmlformats.org/officeDocument/2006/relationships/notesMaster" Target="/ppt/notesMasters/notesMaster1.xml" Id="Rb82775cbb49846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3a904f3c63451d" /><Relationship Type="http://schemas.openxmlformats.org/officeDocument/2006/relationships/notesMaster" Target="/ppt/notesMasters/notesMaster1.xml" Id="R0d4887c9a25d4d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5ba0e54b0244b9" /><Relationship Type="http://schemas.openxmlformats.org/officeDocument/2006/relationships/notesMaster" Target="/ppt/notesMasters/notesMaster1.xml" Id="R0ddc3dcd899e4b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666326d53b41db" /><Relationship Type="http://schemas.openxmlformats.org/officeDocument/2006/relationships/notesMaster" Target="/ppt/notesMasters/notesMaster1.xml" Id="Rbb8d14fd0f8946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72dbd0e8be4abb" /><Relationship Type="http://schemas.openxmlformats.org/officeDocument/2006/relationships/notesMaster" Target="/ppt/notesMasters/notesMaster1.xml" Id="Rb1a68706b5954f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a68b53526d4c95" /><Relationship Type="http://schemas.openxmlformats.org/officeDocument/2006/relationships/notesMaster" Target="/ppt/notesMasters/notesMaster1.xml" Id="Re9011b8ba8514c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3365cb807e47f8" /><Relationship Type="http://schemas.openxmlformats.org/officeDocument/2006/relationships/notesMaster" Target="/ppt/notesMasters/notesMaster1.xml" Id="R1a0d6a9cdc1b42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cd2cf4189e40fb" /><Relationship Type="http://schemas.openxmlformats.org/officeDocument/2006/relationships/notesMaster" Target="/ppt/notesMasters/notesMaster1.xml" Id="R2cd20101a1d44b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f64e48235f4b4a" /><Relationship Type="http://schemas.openxmlformats.org/officeDocument/2006/relationships/notesMaster" Target="/ppt/notesMasters/notesMaster1.xml" Id="R41ac1a4dd3214b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93d34cc0c54576" /><Relationship Type="http://schemas.openxmlformats.org/officeDocument/2006/relationships/notesMaster" Target="/ppt/notesMasters/notesMaster1.xml" Id="R0a18df1e3c5b46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51545da0774a9d" /><Relationship Type="http://schemas.openxmlformats.org/officeDocument/2006/relationships/notesMaster" Target="/ppt/notesMasters/notesMaster1.xml" Id="Rc6657a58dae04b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1a6d4f9dc547db" /><Relationship Type="http://schemas.openxmlformats.org/officeDocument/2006/relationships/notesMaster" Target="/ppt/notesMasters/notesMaster1.xml" Id="Rca79102edab54ba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7211cd83a5488c" /><Relationship Type="http://schemas.openxmlformats.org/officeDocument/2006/relationships/notesMaster" Target="/ppt/notesMasters/notesMaster1.xml" Id="R965013fa2c1141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a77994e79974751" /><Relationship Type="http://schemas.openxmlformats.org/officeDocument/2006/relationships/notesMaster" Target="/ppt/notesMasters/notesMaster1.xml" Id="Rd6b080e248b245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4edc6ff6e864022" /><Relationship Type="http://schemas.openxmlformats.org/officeDocument/2006/relationships/notesMaster" Target="/ppt/notesMasters/notesMaster1.xml" Id="R12b3f6889b79468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81d87d92f274423" /><Relationship Type="http://schemas.openxmlformats.org/officeDocument/2006/relationships/notesMaster" Target="/ppt/notesMasters/notesMaster1.xml" Id="R56aad4f6f9eb42f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7f55b0e1ea4d0d" /><Relationship Type="http://schemas.openxmlformats.org/officeDocument/2006/relationships/notesMaster" Target="/ppt/notesMasters/notesMaster1.xml" Id="Rd7b8cc6da9ba4d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课留下实验规格草图，第 8 课留下同伴反馈；本课把它们补成可复现、可检查的判断门材料。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快问停止条件和随机种子是否已写，只听回答。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本课完成材料初版，不要求课堂内全部自查通过。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让学生先判断自己的 baseline 属于哪一类；没有者沿用贯穿案例。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Pineau et al. (2021). Improving Reproducibility in Machine Learning Research. JMLR 22(164).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请学生用自己的 baseline 对照五项并标记缺口。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 et al. (2021). Accounting for Variance in Machine Learning Benchmarks. MLSys 3.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五个反例用于快速诊断，不把 ACM Badging 当作新的评分规则。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先让学生指出缺口，再逐项展示。案例明确为虚构教学反例。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example, not empirical evidence.</a:t>
            </a:r>
          </a:p>
          <a:p xmlns:a="http://schemas.openxmlformats.org/drawingml/2006/main">
            <a:r>
              <a:t>- Wilson et al. (2017). Good Enough Practices in Scientific Computing.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请学生在自己的草图上标出七字段已填与缺失项。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Wilson et al. (2017). Good Enough Practices in Scientific Computing. DOI: 10.1371/journal.pcbi.1005510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要求学生写自己的停止条件与至少三种失败预案。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请学生把自己的指标写成一个可重算的操作定义。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让学生对照六类标注自己的复现说明缺哪一类。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Sandve et al. (2013). Ten Simple Rules for Reproducible Computational Research. DOI: 10.1371/journal.pcbi.1003285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检查学生的关键比较运行次数和标准差记录。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 et al. (2021). Accounting for Variance in Machine Learning Benchmarks. MLSys 3.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让学生标注自己的材料当前达到哪一档。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分钟开始个人补全段；先对照迁移表标记已搬与未搬字段。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八项必须与 assignments.md Checkpoint 2 一一对应；判断门检查当前项目版本。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演示如何把第 8 课反馈转成 J2 和可检查的处理记录。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/Users/bright/Projects/courses/graduate/lessons/lesson-08/README.md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说明两分钟后开始个人补全；教师只处理共同卡点。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本页停留到 60 分钟，学生可照着核对文件结构。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人数为奇数时组成三人组；反馈不要求当场全部修改。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课后完成自查并提交判断门材料包；第一次未通过按课程规则修订。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Wilson et al. (2017). Good Enough Practices in Scientific Computing.</a:t>
            </a:r>
          </a:p>
          <a:p xmlns:a="http://schemas.openxmlformats.org/drawingml/2006/main">
            <a:r>
              <a:t>- Pineau et al. (2021). Improving Reproducibility in Machine Learning Research.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Bouthillier et al. (2021). Accounting for Variance in Machine Learning Benchmarks.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0bbf357a6b4972" /><Relationship Type="http://schemas.openxmlformats.org/officeDocument/2006/relationships/image" Target="/ppt/media/image.png" Id="R09b3e1f5dc4c4248" /><Relationship Type="http://schemas.openxmlformats.org/officeDocument/2006/relationships/image" Target="/ppt/media/image2.png" Id="R2f819cbcc5b14950" /><Relationship Type="http://schemas.openxmlformats.org/officeDocument/2006/relationships/image" Target="/ppt/media/image3.png" Id="R9b99bbfeafeb47aa" /><Relationship Type="http://schemas.openxmlformats.org/officeDocument/2006/relationships/image" Target="/ppt/media/image4.png" Id="R0f299f2fc3c646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62e2c5598345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b0f22058094c59" /><Relationship Type="http://schemas.openxmlformats.org/officeDocument/2006/relationships/image" Target="/ppt/media/image2.png" Id="R507875f3b0674a85" /><Relationship Type="http://schemas.openxmlformats.org/officeDocument/2006/relationships/image" Target="/ppt/media/image5.png" Id="R0e09ef031473464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770b0a65f94492" /><Relationship Type="http://schemas.openxmlformats.org/officeDocument/2006/relationships/image" Target="/ppt/media/image.png" Id="R0237d69c59ac4446" /><Relationship Type="http://schemas.openxmlformats.org/officeDocument/2006/relationships/image" Target="/ppt/media/image3.png" Id="Re7ca7b706e6b4035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3e1f5dc4c4248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819cbcc5b14950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99bbfeafeb47aa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99f2fc3c6465d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7875f3b0674a85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09ef03147346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7d69c59ac444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ca7b706e6b4035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115760959a45d0" /><Relationship Type="http://schemas.openxmlformats.org/officeDocument/2006/relationships/slideLayout" Target="/ppt/slideLayouts/slideLayout1.xml" Id="R86560956852a4fd4" /><Relationship Type="http://schemas.openxmlformats.org/officeDocument/2006/relationships/slideLayout" Target="/ppt/slideLayouts/slideLayout2.xml" Id="Rd5775811abd54495" /><Relationship Type="http://schemas.openxmlformats.org/officeDocument/2006/relationships/slideLayout" Target="/ppt/slideLayouts/slideLayout3.xml" Id="Rf35a47168ce24fc5" /><Relationship Type="http://schemas.openxmlformats.org/officeDocument/2006/relationships/slideLayout" Target="/ppt/slideLayouts/slideLayout4.xml" Id="R6831f833e91c4a4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560956852a4fd4"/>
    <p:sldLayoutId xmlns:r="http://schemas.openxmlformats.org/officeDocument/2006/relationships" id="2147483650" r:id="Rd5775811abd54495"/>
    <p:sldLayoutId xmlns:r="http://schemas.openxmlformats.org/officeDocument/2006/relationships" id="2147483651" r:id="Rf35a47168ce24fc5"/>
    <p:sldLayoutId xmlns:r="http://schemas.openxmlformats.org/officeDocument/2006/relationships" id="2147483652" r:id="R6831f833e91c4a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fba44db0448f3" /><Relationship Type="http://schemas.openxmlformats.org/officeDocument/2006/relationships/notesSlide" Target="/ppt/notesSlides/notesSlide1.xml" Id="Rfb5e2518d20e43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269d91915064703" /><Relationship Type="http://schemas.openxmlformats.org/officeDocument/2006/relationships/notesSlide" Target="/ppt/notesSlides/notesSlide2.xml" Id="R2b9672a663b544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63d65a13ef44157" /><Relationship Type="http://schemas.openxmlformats.org/officeDocument/2006/relationships/notesSlide" Target="/ppt/notesSlides/notesSlide3.xml" Id="R3dcffbd519e949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256cc6b3f745aa" /><Relationship Type="http://schemas.openxmlformats.org/officeDocument/2006/relationships/notesSlide" Target="/ppt/notesSlides/notesSlide4.xml" Id="R21b7c90f56db42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57520a5929a49ca" /><Relationship Type="http://schemas.openxmlformats.org/officeDocument/2006/relationships/notesSlide" Target="/ppt/notesSlides/notesSlide5.xml" Id="R920cf8e876d343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c946fcb10254d78" /><Relationship Type="http://schemas.openxmlformats.org/officeDocument/2006/relationships/notesSlide" Target="/ppt/notesSlides/notesSlide6.xml" Id="Reaf19fca024648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49c03bc32de49b2" /><Relationship Type="http://schemas.openxmlformats.org/officeDocument/2006/relationships/notesSlide" Target="/ppt/notesSlides/notesSlide7.xml" Id="R1ea685b355a54e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8cb8a8ade94faa" /><Relationship Type="http://schemas.openxmlformats.org/officeDocument/2006/relationships/notesSlide" Target="/ppt/notesSlides/notesSlide8.xml" Id="R6b54b6e147934f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c8e1c19e2634dd8" /><Relationship Type="http://schemas.openxmlformats.org/officeDocument/2006/relationships/notesSlide" Target="/ppt/notesSlides/notesSlide9.xml" Id="R30e90f05ab8541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1bbb6af6ae49ee" /><Relationship Type="http://schemas.openxmlformats.org/officeDocument/2006/relationships/notesSlide" Target="/ppt/notesSlides/notesSlide10.xml" Id="R7cb9c59bb27847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de568eddb1040b3" /><Relationship Type="http://schemas.openxmlformats.org/officeDocument/2006/relationships/notesSlide" Target="/ppt/notesSlides/notesSlide11.xml" Id="R2815350c072c42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bdae38ff4742b8" /><Relationship Type="http://schemas.openxmlformats.org/officeDocument/2006/relationships/notesSlide" Target="/ppt/notesSlides/notesSlide12.xml" Id="R84012aacaeb64b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413f375102443d8" /><Relationship Type="http://schemas.openxmlformats.org/officeDocument/2006/relationships/notesSlide" Target="/ppt/notesSlides/notesSlide13.xml" Id="R779ab4bf19414f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12efe03a54c4596" /><Relationship Type="http://schemas.openxmlformats.org/officeDocument/2006/relationships/notesSlide" Target="/ppt/notesSlides/notesSlide14.xml" Id="R5cca59d523304e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64692050a84c89" /><Relationship Type="http://schemas.openxmlformats.org/officeDocument/2006/relationships/notesSlide" Target="/ppt/notesSlides/notesSlide15.xml" Id="R12280d2c40614d1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fc792a590b461a" /><Relationship Type="http://schemas.openxmlformats.org/officeDocument/2006/relationships/notesSlide" Target="/ppt/notesSlides/notesSlide16.xml" Id="R77170a365a4a49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aed89e34564111" /><Relationship Type="http://schemas.openxmlformats.org/officeDocument/2006/relationships/notesSlide" Target="/ppt/notesSlides/notesSlide17.xml" Id="Rf965c47790d34c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22b0d70be84cac" /><Relationship Type="http://schemas.openxmlformats.org/officeDocument/2006/relationships/notesSlide" Target="/ppt/notesSlides/notesSlide18.xml" Id="R243e702833d74a2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b95af6ca954e97" /><Relationship Type="http://schemas.openxmlformats.org/officeDocument/2006/relationships/notesSlide" Target="/ppt/notesSlides/notesSlide19.xml" Id="Rbce6a419d7af49d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21fd1c9a5444fd" /><Relationship Type="http://schemas.openxmlformats.org/officeDocument/2006/relationships/notesSlide" Target="/ppt/notesSlides/notesSlide20.xml" Id="R3466f3c56e584c1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200150" y="3067050"/>
            <a:ext cx="9791700" cy="23241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实验规格草图 → 公平 baseline → 可复现记录 → 判断门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草图能跑，不等于别人能复现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第九讲｜阶段六：研究判断成案 + 阶段七：原型验证起始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219200"/>
            <a:ext cx="10172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Baseline、实验规格、可复现性与判断门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7-8 课之后，草图离判断门还差六项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E86E6935-820E-4624-943E-4750F6D8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21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已建立</a:t>
            </a:r>
          </a:p>
        </p:txBody>
      </p:sp>
      <p:sp>
        <p:nvSpPr>
          <p:cNvPr id="7" name="p02-l-0">
            <a:extLst xmlns:a="http://schemas.openxmlformats.org/drawingml/2006/main">
              <a:ext uri="{FF2B5EF4-FFF2-40B4-BE49-F238E27FC236}">
                <a16:creationId xmlns:a16="http://schemas.microsoft.com/office/drawing/2014/main" id="{E186AF6B-6725-42B5-A1E6-60F534C3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机制假设列表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主假设 + 替代 + 反证</a:t>
            </a:r>
          </a:p>
        </p:txBody>
      </p:sp>
      <p:sp>
        <p:nvSpPr>
          <p:cNvPr id="8" name="p02-l-1">
            <a:extLst xmlns:a="http://schemas.openxmlformats.org/drawingml/2006/main">
              <a:ext uri="{FF2B5EF4-FFF2-40B4-BE49-F238E27FC236}">
                <a16:creationId xmlns:a16="http://schemas.microsoft.com/office/drawing/2014/main" id="{209B1D89-48AA-40ED-88D4-790CCBAE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研究判断 J1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六字段</a:t>
            </a:r>
          </a:p>
        </p:txBody>
      </p:sp>
      <p:sp>
        <p:nvSpPr>
          <p:cNvPr id="9" name="p02-l-2">
            <a:extLst xmlns:a="http://schemas.openxmlformats.org/drawingml/2006/main">
              <a:ext uri="{FF2B5EF4-FFF2-40B4-BE49-F238E27FC236}">
                <a16:creationId xmlns:a16="http://schemas.microsoft.com/office/drawing/2014/main" id="{02AEB78E-A8F1-419B-9A83-7D753B77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实验规格草图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变量清单</a:t>
            </a:r>
          </a:p>
        </p:txBody>
      </p:sp>
      <p:sp>
        <p:nvSpPr>
          <p:cNvPr id="10" name="p02-l-3">
            <a:extLst xmlns:a="http://schemas.openxmlformats.org/drawingml/2006/main">
              <a:ext uri="{FF2B5EF4-FFF2-40B4-BE49-F238E27FC236}">
                <a16:creationId xmlns:a16="http://schemas.microsoft.com/office/drawing/2014/main" id="{DB0AB5F8-324E-41B7-8726-8097561F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第 8 课反馈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结构化记录</a:t>
            </a:r>
          </a:p>
        </p:txBody>
      </p:sp>
      <p:sp>
        <p:nvSpPr>
          <p:cNvPr id="11" name="p02-mid">
            <a:extLst xmlns:a="http://schemas.openxmlformats.org/drawingml/2006/main">
              <a:ext uri="{FF2B5EF4-FFF2-40B4-BE49-F238E27FC236}">
                <a16:creationId xmlns:a16="http://schemas.microsoft.com/office/drawing/2014/main" id="{74E08252-8936-43CC-AE66-2ABCE40A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48150" y="2990850"/>
            <a:ext cx="3695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2-arrow">
            <a:extLst xmlns:a="http://schemas.openxmlformats.org/drawingml/2006/main">
              <a:ext uri="{FF2B5EF4-FFF2-40B4-BE49-F238E27FC236}">
                <a16:creationId xmlns:a16="http://schemas.microsoft.com/office/drawing/2014/main" id="{D40B8153-C32B-45F3-854F-30011201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67000"/>
            <a:ext cx="876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276E0CCE-6FBE-47D5-B497-4B8E0976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009650"/>
            <a:ext cx="421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待补</a:t>
            </a:r>
          </a:p>
        </p:txBody>
      </p:sp>
      <p:sp>
        <p:nvSpPr>
          <p:cNvPr id="14" name="p02-n-0">
            <a:extLst xmlns:a="http://schemas.openxmlformats.org/drawingml/2006/main">
              <a:ext uri="{FF2B5EF4-FFF2-40B4-BE49-F238E27FC236}">
                <a16:creationId xmlns:a16="http://schemas.microsoft.com/office/drawing/2014/main" id="{A5B4EE79-826D-48C5-8C57-1499F676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p02-r-0">
            <a:extLst xmlns:a="http://schemas.openxmlformats.org/drawingml/2006/main">
              <a:ext uri="{FF2B5EF4-FFF2-40B4-BE49-F238E27FC236}">
                <a16:creationId xmlns:a16="http://schemas.microsoft.com/office/drawing/2014/main" id="{552C9650-2838-47E2-87F1-DF0B3221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811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类型与公平性</a:t>
            </a:r>
          </a:p>
        </p:txBody>
      </p:sp>
      <p:sp>
        <p:nvSpPr>
          <p:cNvPr id="16" name="p02-n-1">
            <a:extLst xmlns:a="http://schemas.openxmlformats.org/drawingml/2006/main">
              <a:ext uri="{FF2B5EF4-FFF2-40B4-BE49-F238E27FC236}">
                <a16:creationId xmlns:a16="http://schemas.microsoft.com/office/drawing/2014/main" id="{A8F57D14-5293-4D52-BF2D-6AF54020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526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p02-r-1">
            <a:extLst xmlns:a="http://schemas.openxmlformats.org/drawingml/2006/main">
              <a:ext uri="{FF2B5EF4-FFF2-40B4-BE49-F238E27FC236}">
                <a16:creationId xmlns:a16="http://schemas.microsoft.com/office/drawing/2014/main" id="{0C8CCBA5-91E2-4D05-9F73-231593F5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526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停止条件、随机化、失败预案</a:t>
            </a:r>
          </a:p>
        </p:txBody>
      </p:sp>
      <p:sp>
        <p:nvSpPr>
          <p:cNvPr id="18" name="p02-n-2">
            <a:extLst xmlns:a="http://schemas.openxmlformats.org/drawingml/2006/main">
              <a:ext uri="{FF2B5EF4-FFF2-40B4-BE49-F238E27FC236}">
                <a16:creationId xmlns:a16="http://schemas.microsoft.com/office/drawing/2014/main" id="{46CA16A4-C126-420D-8EAA-42B0E501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p02-r-2">
            <a:extLst xmlns:a="http://schemas.openxmlformats.org/drawingml/2006/main">
              <a:ext uri="{FF2B5EF4-FFF2-40B4-BE49-F238E27FC236}">
                <a16:creationId xmlns:a16="http://schemas.microsoft.com/office/drawing/2014/main" id="{C0258C84-B4FF-429E-A812-F287B213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环境、配置、种子与数据</a:t>
            </a:r>
          </a:p>
        </p:txBody>
      </p:sp>
      <p:sp>
        <p:nvSpPr>
          <p:cNvPr id="20" name="p02-n-3">
            <a:extLst xmlns:a="http://schemas.openxmlformats.org/drawingml/2006/main">
              <a:ext uri="{FF2B5EF4-FFF2-40B4-BE49-F238E27FC236}">
                <a16:creationId xmlns:a16="http://schemas.microsoft.com/office/drawing/2014/main" id="{9352C013-3F64-4DE2-AEEC-F00CB214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p02-r-3">
            <a:extLst xmlns:a="http://schemas.openxmlformats.org/drawingml/2006/main">
              <a:ext uri="{FF2B5EF4-FFF2-40B4-BE49-F238E27FC236}">
                <a16:creationId xmlns:a16="http://schemas.microsoft.com/office/drawing/2014/main" id="{A038FE85-8C7B-4583-A64C-7EC8059F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956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课反馈逐条处理</a:t>
            </a:r>
          </a:p>
        </p:txBody>
      </p:sp>
      <p:sp>
        <p:nvSpPr>
          <p:cNvPr id="22" name="p02-n-4">
            <a:extLst xmlns:a="http://schemas.openxmlformats.org/drawingml/2006/main">
              <a:ext uri="{FF2B5EF4-FFF2-40B4-BE49-F238E27FC236}">
                <a16:creationId xmlns:a16="http://schemas.microsoft.com/office/drawing/2014/main" id="{E92B4B19-2148-456A-9EF9-3C43E4D7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67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2-r-4">
            <a:extLst xmlns:a="http://schemas.openxmlformats.org/drawingml/2006/main">
              <a:ext uri="{FF2B5EF4-FFF2-40B4-BE49-F238E27FC236}">
                <a16:creationId xmlns:a16="http://schemas.microsoft.com/office/drawing/2014/main" id="{86349F51-4EC2-4ABB-B9C9-61E7F085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8671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第二条研究判断 J2</a:t>
            </a:r>
          </a:p>
        </p:txBody>
      </p:sp>
      <p:sp>
        <p:nvSpPr>
          <p:cNvPr id="24" name="p02-n-5">
            <a:extLst xmlns:a="http://schemas.openxmlformats.org/drawingml/2006/main">
              <a:ext uri="{FF2B5EF4-FFF2-40B4-BE49-F238E27FC236}">
                <a16:creationId xmlns:a16="http://schemas.microsoft.com/office/drawing/2014/main" id="{6A2EFAC0-E827-4C51-9D30-16571460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" name="p02-r-5">
            <a:extLst xmlns:a="http://schemas.openxmlformats.org/drawingml/2006/main">
              <a:ext uri="{FF2B5EF4-FFF2-40B4-BE49-F238E27FC236}">
                <a16:creationId xmlns:a16="http://schemas.microsoft.com/office/drawing/2014/main" id="{45E7E262-5C3B-4067-AFA0-E1262CBB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386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迁移完整项目模板</a:t>
            </a:r>
          </a:p>
        </p:txBody>
      </p:sp>
      <p:sp>
        <p:nvSpPr>
          <p:cNvPr id="26" name="p02-bottom">
            <a:extLst xmlns:a="http://schemas.openxmlformats.org/drawingml/2006/main">
              <a:ext uri="{FF2B5EF4-FFF2-40B4-BE49-F238E27FC236}">
                <a16:creationId xmlns:a16="http://schemas.microsoft.com/office/drawing/2014/main" id="{652DB947-3DCE-441C-96F0-818271E4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草图能跑 ≠ 别人能复现；判断门检查的是可复现材料。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本课产出是可复现的判断门材料初版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-0">
            <a:extLst xmlns:a="http://schemas.openxmlformats.org/drawingml/2006/main">
              <a:ext uri="{FF2B5EF4-FFF2-40B4-BE49-F238E27FC236}">
                <a16:creationId xmlns:a16="http://schemas.microsoft.com/office/drawing/2014/main" id="{1956D6DC-9278-4753-8CEE-9820E0F4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22A31AD1-6125-4E29-ADAD-3744D78D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0668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选公平 baseline</a:t>
            </a:r>
          </a:p>
        </p:txBody>
      </p:sp>
      <p:sp>
        <p:nvSpPr>
          <p:cNvPr id="8" name="p03-n-1">
            <a:extLst xmlns:a="http://schemas.openxmlformats.org/drawingml/2006/main">
              <a:ext uri="{FF2B5EF4-FFF2-40B4-BE49-F238E27FC236}">
                <a16:creationId xmlns:a16="http://schemas.microsoft.com/office/drawing/2014/main" id="{A68AB3C7-D612-4A2C-BE11-6E56B38D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066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0513DF7F-35A3-414B-8BC3-F1922E35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0668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补七字段规格</a:t>
            </a:r>
          </a:p>
        </p:txBody>
      </p:sp>
      <p:sp>
        <p:nvSpPr>
          <p:cNvPr id="10" name="p03-n-2">
            <a:extLst xmlns:a="http://schemas.openxmlformats.org/drawingml/2006/main">
              <a:ext uri="{FF2B5EF4-FFF2-40B4-BE49-F238E27FC236}">
                <a16:creationId xmlns:a16="http://schemas.microsoft.com/office/drawing/2014/main" id="{F4546635-9448-4F3D-8119-AF5FBF5E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F8F2032D-91A6-4EDD-8F59-6E1602DF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050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写六类复现说明</a:t>
            </a:r>
          </a:p>
        </p:txBody>
      </p:sp>
      <p:sp>
        <p:nvSpPr>
          <p:cNvPr id="12" name="p03-n-3">
            <a:extLst xmlns:a="http://schemas.openxmlformats.org/drawingml/2006/main">
              <a:ext uri="{FF2B5EF4-FFF2-40B4-BE49-F238E27FC236}">
                <a16:creationId xmlns:a16="http://schemas.microsoft.com/office/drawing/2014/main" id="{515612C7-39D4-4119-AAB1-50E84688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AEA363A9-2332-43FE-9F88-2C0DA0D4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050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处理方差与种子</a:t>
            </a:r>
          </a:p>
        </p:txBody>
      </p:sp>
      <p:sp>
        <p:nvSpPr>
          <p:cNvPr id="14" name="p03-n-4">
            <a:extLst xmlns:a="http://schemas.openxmlformats.org/drawingml/2006/main">
              <a:ext uri="{FF2B5EF4-FFF2-40B4-BE49-F238E27FC236}">
                <a16:creationId xmlns:a16="http://schemas.microsoft.com/office/drawing/2014/main" id="{57256785-2F99-496C-8FA2-DB32F4AD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FD87C5F3-C3F9-4ACC-90BE-0EFB7F84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逐条处理同伴反馈</a:t>
            </a:r>
          </a:p>
        </p:txBody>
      </p:sp>
      <p:sp>
        <p:nvSpPr>
          <p:cNvPr id="16" name="p03-n-5">
            <a:extLst xmlns:a="http://schemas.openxmlformats.org/drawingml/2006/main">
              <a:ext uri="{FF2B5EF4-FFF2-40B4-BE49-F238E27FC236}">
                <a16:creationId xmlns:a16="http://schemas.microsoft.com/office/drawing/2014/main" id="{77FEDE8E-850B-4F2F-9C00-AFEC2DD7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4E38E295-D0B2-48FE-AB0B-3B2B6C34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432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迁移模板不丢记录</a:t>
            </a:r>
          </a:p>
        </p:txBody>
      </p:sp>
      <p:sp>
        <p:nvSpPr>
          <p:cNvPr id="18" name="p03-n-6">
            <a:extLst xmlns:a="http://schemas.openxmlformats.org/drawingml/2006/main">
              <a:ext uri="{FF2B5EF4-FFF2-40B4-BE49-F238E27FC236}">
                <a16:creationId xmlns:a16="http://schemas.microsoft.com/office/drawing/2014/main" id="{6A14B352-0331-419D-80E8-C6DF3499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p03-g-6">
            <a:extLst xmlns:a="http://schemas.openxmlformats.org/drawingml/2006/main">
              <a:ext uri="{FF2B5EF4-FFF2-40B4-BE49-F238E27FC236}">
                <a16:creationId xmlns:a16="http://schemas.microsoft.com/office/drawing/2014/main" id="{A0137CA9-14DE-478E-A04E-1F5ED442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对照八项门条件</a:t>
            </a:r>
          </a:p>
        </p:txBody>
      </p:sp>
      <p:sp>
        <p:nvSpPr>
          <p:cNvPr id="20" name="p03-sep">
            <a:extLst xmlns:a="http://schemas.openxmlformats.org/drawingml/2006/main">
              <a:ext uri="{FF2B5EF4-FFF2-40B4-BE49-F238E27FC236}">
                <a16:creationId xmlns:a16="http://schemas.microsoft.com/office/drawing/2014/main" id="{A22E0297-5BD4-4271-9963-DA438D32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191250" y="2752725"/>
            <a:ext cx="331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3-out-title">
            <a:extLst xmlns:a="http://schemas.openxmlformats.org/drawingml/2006/main">
              <a:ext uri="{FF2B5EF4-FFF2-40B4-BE49-F238E27FC236}">
                <a16:creationId xmlns:a16="http://schemas.microsoft.com/office/drawing/2014/main" id="{69E53466-FF3A-48E2-B428-10DD8F81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12395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课堂最小产出</a:t>
            </a:r>
          </a:p>
        </p:txBody>
      </p:sp>
      <p:sp>
        <p:nvSpPr>
          <p:cNvPr id="22" name="p03-out">
            <a:extLst xmlns:a="http://schemas.openxmlformats.org/drawingml/2006/main">
              <a:ext uri="{FF2B5EF4-FFF2-40B4-BE49-F238E27FC236}">
                <a16:creationId xmlns:a16="http://schemas.microsoft.com/office/drawing/2014/main" id="{5C2BE00A-B72D-4F2D-95DD-D16911E1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4861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experiment-spec.md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七字段 + 复现说明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hypothesis-and-judgment.md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J2 六字段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peer-review.md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反馈处理 + 失败预案</a:t>
            </a:r>
          </a:p>
        </p:txBody>
      </p:sp>
      <p:sp>
        <p:nvSpPr>
          <p:cNvPr id="23" name="p03-bottom">
            <a:extLst xmlns:a="http://schemas.openxmlformats.org/drawingml/2006/main">
              <a:ext uri="{FF2B5EF4-FFF2-40B4-BE49-F238E27FC236}">
                <a16:creationId xmlns:a16="http://schemas.microsoft.com/office/drawing/2014/main" id="{7F281AA3-DC9E-4EC1-B6E9-CAD0FBA0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课后提交当前个人项目版本；条件以 assignments.md Checkpoint 2 为准。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 是检验机制效应的公平参照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def">
            <a:extLst xmlns:a="http://schemas.openxmlformats.org/drawingml/2006/main">
              <a:ext uri="{FF2B5EF4-FFF2-40B4-BE49-F238E27FC236}">
                <a16:creationId xmlns:a16="http://schemas.microsoft.com/office/drawing/2014/main" id="{84CE6332-90F4-4CE9-8151-C5B99199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990600"/>
            <a:ext cx="9867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 = 用来回答‘方法效应是否真的来自假设机制’的公平参照</a:t>
            </a:r>
          </a:p>
        </p:txBody>
      </p:sp>
      <p:sp>
        <p:nvSpPr>
          <p:cNvPr id="7" name="p04-l-0">
            <a:extLst xmlns:a="http://schemas.openxmlformats.org/drawingml/2006/main">
              <a:ext uri="{FF2B5EF4-FFF2-40B4-BE49-F238E27FC236}">
                <a16:creationId xmlns:a16="http://schemas.microsoft.com/office/drawing/2014/main" id="{B29FABAE-A4CE-4AB6-8B3D-36FFD3FF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朴素</a:t>
            </a:r>
          </a:p>
        </p:txBody>
      </p:sp>
      <p:sp>
        <p:nvSpPr>
          <p:cNvPr id="8" name="p04-t-0">
            <a:extLst xmlns:a="http://schemas.openxmlformats.org/drawingml/2006/main">
              <a:ext uri="{FF2B5EF4-FFF2-40B4-BE49-F238E27FC236}">
                <a16:creationId xmlns:a16="http://schemas.microsoft.com/office/drawing/2014/main" id="{8F701B98-D7A3-4AAF-8438-99DFEC7B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不使用目标机制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贯穿案例：自由摘要</a:t>
            </a:r>
          </a:p>
        </p:txBody>
      </p:sp>
      <p:sp>
        <p:nvSpPr>
          <p:cNvPr id="9" name="p04-l-1">
            <a:extLst xmlns:a="http://schemas.openxmlformats.org/drawingml/2006/main">
              <a:ext uri="{FF2B5EF4-FFF2-40B4-BE49-F238E27FC236}">
                <a16:creationId xmlns:a16="http://schemas.microsoft.com/office/drawing/2014/main" id="{AB282627-38FF-4DE2-AA11-E9A5213B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</a:t>
            </a:r>
          </a:p>
        </p:txBody>
      </p:sp>
      <p:sp>
        <p:nvSpPr>
          <p:cNvPr id="10" name="p04-t-1">
            <a:extLst xmlns:a="http://schemas.openxmlformats.org/drawingml/2006/main">
              <a:ext uri="{FF2B5EF4-FFF2-40B4-BE49-F238E27FC236}">
                <a16:creationId xmlns:a16="http://schemas.microsoft.com/office/drawing/2014/main" id="{CC0522D5-0260-4E5F-8AAE-1D7DDB22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公开、可比的现成方法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贯穿案例：few-shot 摘要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本课周期外</a:t>
            </a:r>
          </a:p>
        </p:txBody>
      </p:sp>
      <p:sp>
        <p:nvSpPr>
          <p:cNvPr id="11" name="p04-l-2">
            <a:extLst xmlns:a="http://schemas.openxmlformats.org/drawingml/2006/main">
              <a:ext uri="{FF2B5EF4-FFF2-40B4-BE49-F238E27FC236}">
                <a16:creationId xmlns:a16="http://schemas.microsoft.com/office/drawing/2014/main" id="{B83F9347-E046-4B9E-BC8D-C337564F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消融</a:t>
            </a:r>
          </a:p>
        </p:txBody>
      </p:sp>
      <p:sp>
        <p:nvSpPr>
          <p:cNvPr id="12" name="p04-t-2">
            <a:extLst xmlns:a="http://schemas.openxmlformats.org/drawingml/2006/main">
              <a:ext uri="{FF2B5EF4-FFF2-40B4-BE49-F238E27FC236}">
                <a16:creationId xmlns:a16="http://schemas.microsoft.com/office/drawing/2014/main" id="{E479E208-6A04-4993-84A7-B6B73174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去掉一个关键模块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贯穿案例：阅读卡去原文位置</a:t>
            </a:r>
          </a:p>
        </p:txBody>
      </p:sp>
      <p:sp>
        <p:nvSpPr>
          <p:cNvPr id="13" name="p04-bottom">
            <a:extLst xmlns:a="http://schemas.openxmlformats.org/drawingml/2006/main">
              <a:ext uri="{FF2B5EF4-FFF2-40B4-BE49-F238E27FC236}">
                <a16:creationId xmlns:a16="http://schemas.microsoft.com/office/drawing/2014/main" id="{689208CF-9AC9-4DBF-B3EE-124FFEA5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19650"/>
            <a:ext cx="7543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判断门至少需要 1 个可执行 baseline，并说明它为什么公平。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公平 baseline 要求五项条件同时对等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n-0">
            <a:extLst xmlns:a="http://schemas.openxmlformats.org/drawingml/2006/main">
              <a:ext uri="{FF2B5EF4-FFF2-40B4-BE49-F238E27FC236}">
                <a16:creationId xmlns:a16="http://schemas.microsoft.com/office/drawing/2014/main" id="{43194346-DD28-4695-B36D-E12B6152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5-main-0">
            <a:extLst xmlns:a="http://schemas.openxmlformats.org/drawingml/2006/main">
              <a:ext uri="{FF2B5EF4-FFF2-40B4-BE49-F238E27FC236}">
                <a16:creationId xmlns:a16="http://schemas.microsoft.com/office/drawing/2014/main" id="{D7B2253E-60D1-42F9-B441-5CA0EC2A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0668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同一批数据 / 论文 / 任务</a:t>
            </a:r>
          </a:p>
        </p:txBody>
      </p:sp>
      <p:sp>
        <p:nvSpPr>
          <p:cNvPr id="8" name="p05-why-0">
            <a:extLst xmlns:a="http://schemas.openxmlformats.org/drawingml/2006/main">
              <a:ext uri="{FF2B5EF4-FFF2-40B4-BE49-F238E27FC236}">
                <a16:creationId xmlns:a16="http://schemas.microsoft.com/office/drawing/2014/main" id="{C9B46E63-249E-46E8-9971-7E72772C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避免难度差异</a:t>
            </a:r>
          </a:p>
        </p:txBody>
      </p:sp>
      <p:sp>
        <p:nvSpPr>
          <p:cNvPr id="9" name="p05-n-1">
            <a:extLst xmlns:a="http://schemas.openxmlformats.org/drawingml/2006/main">
              <a:ext uri="{FF2B5EF4-FFF2-40B4-BE49-F238E27FC236}">
                <a16:creationId xmlns:a16="http://schemas.microsoft.com/office/drawing/2014/main" id="{6F3351C4-9CDD-4703-BF6E-5067D3D6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5-main-1">
            <a:extLst xmlns:a="http://schemas.openxmlformats.org/drawingml/2006/main">
              <a:ext uri="{FF2B5EF4-FFF2-40B4-BE49-F238E27FC236}">
                <a16:creationId xmlns:a16="http://schemas.microsoft.com/office/drawing/2014/main" id="{8C088235-73F7-4732-AA0B-C5A58C70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859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模型、参数与种子一致</a:t>
            </a:r>
          </a:p>
        </p:txBody>
      </p:sp>
      <p:sp>
        <p:nvSpPr>
          <p:cNvPr id="11" name="p05-why-1">
            <a:extLst xmlns:a="http://schemas.openxmlformats.org/drawingml/2006/main">
              <a:ext uri="{FF2B5EF4-FFF2-40B4-BE49-F238E27FC236}">
                <a16:creationId xmlns:a16="http://schemas.microsoft.com/office/drawing/2014/main" id="{869FFA2D-A629-456A-8D6E-0C165F4F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859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避免配置差异</a:t>
            </a:r>
          </a:p>
        </p:txBody>
      </p:sp>
      <p:sp>
        <p:nvSpPr>
          <p:cNvPr id="12" name="p05-n-2">
            <a:extLst xmlns:a="http://schemas.openxmlformats.org/drawingml/2006/main">
              <a:ext uri="{FF2B5EF4-FFF2-40B4-BE49-F238E27FC236}">
                <a16:creationId xmlns:a16="http://schemas.microsoft.com/office/drawing/2014/main" id="{E232E359-CAAA-44F3-AFA8-472D5CB4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5-main-2">
            <a:extLst xmlns:a="http://schemas.openxmlformats.org/drawingml/2006/main">
              <a:ext uri="{FF2B5EF4-FFF2-40B4-BE49-F238E27FC236}">
                <a16:creationId xmlns:a16="http://schemas.microsoft.com/office/drawing/2014/main" id="{31BE3411-2014-4E80-84E1-D696E567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同一评价协议与计算口径</a:t>
            </a:r>
          </a:p>
        </p:txBody>
      </p:sp>
      <p:sp>
        <p:nvSpPr>
          <p:cNvPr id="14" name="p05-why-2">
            <a:extLst xmlns:a="http://schemas.openxmlformats.org/drawingml/2006/main">
              <a:ext uri="{FF2B5EF4-FFF2-40B4-BE49-F238E27FC236}">
                <a16:creationId xmlns:a16="http://schemas.microsoft.com/office/drawing/2014/main" id="{102DC252-4B41-4A85-B836-064813AC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避免评价者偏倚</a:t>
            </a:r>
          </a:p>
        </p:txBody>
      </p:sp>
      <p:sp>
        <p:nvSpPr>
          <p:cNvPr id="15" name="p05-n-3">
            <a:extLst xmlns:a="http://schemas.openxmlformats.org/drawingml/2006/main">
              <a:ext uri="{FF2B5EF4-FFF2-40B4-BE49-F238E27FC236}">
                <a16:creationId xmlns:a16="http://schemas.microsoft.com/office/drawing/2014/main" id="{B3A263AE-FECD-4089-8E5A-7C100DB5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5-main-3">
            <a:extLst xmlns:a="http://schemas.openxmlformats.org/drawingml/2006/main">
              <a:ext uri="{FF2B5EF4-FFF2-40B4-BE49-F238E27FC236}">
                <a16:creationId xmlns:a16="http://schemas.microsoft.com/office/drawing/2014/main" id="{4C5AAA0B-3902-4FB7-9B34-445469FB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运行次数与停止条件相同</a:t>
            </a:r>
          </a:p>
        </p:txBody>
      </p:sp>
      <p:sp>
        <p:nvSpPr>
          <p:cNvPr id="17" name="p05-why-3">
            <a:extLst xmlns:a="http://schemas.openxmlformats.org/drawingml/2006/main">
              <a:ext uri="{FF2B5EF4-FFF2-40B4-BE49-F238E27FC236}">
                <a16:creationId xmlns:a16="http://schemas.microsoft.com/office/drawing/2014/main" id="{7D4785D8-D62B-477E-9DE6-0220E0B7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242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避免噪声差异</a:t>
            </a:r>
          </a:p>
        </p:txBody>
      </p:sp>
      <p:sp>
        <p:nvSpPr>
          <p:cNvPr id="18" name="p05-n-4">
            <a:extLst xmlns:a="http://schemas.openxmlformats.org/drawingml/2006/main">
              <a:ext uri="{FF2B5EF4-FFF2-40B4-BE49-F238E27FC236}">
                <a16:creationId xmlns:a16="http://schemas.microsoft.com/office/drawing/2014/main" id="{F5A6C75D-4B7E-4B6E-AC77-039D03FD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05-main-4">
            <a:extLst xmlns:a="http://schemas.openxmlformats.org/drawingml/2006/main">
              <a:ext uri="{FF2B5EF4-FFF2-40B4-BE49-F238E27FC236}">
                <a16:creationId xmlns:a16="http://schemas.microsoft.com/office/drawing/2014/main" id="{7DF0FDA0-4D40-43CB-A21D-C40067F3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失败完整记录</a:t>
            </a:r>
          </a:p>
        </p:txBody>
      </p:sp>
      <p:sp>
        <p:nvSpPr>
          <p:cNvPr id="20" name="p05-why-4">
            <a:extLst xmlns:a="http://schemas.openxmlformats.org/drawingml/2006/main">
              <a:ext uri="{FF2B5EF4-FFF2-40B4-BE49-F238E27FC236}">
                <a16:creationId xmlns:a16="http://schemas.microsoft.com/office/drawing/2014/main" id="{AA5788D7-4C6F-44A5-A9B6-044217F5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434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避免选择性删除</a:t>
            </a:r>
          </a:p>
        </p:txBody>
      </p:sp>
      <p:sp>
        <p:nvSpPr>
          <p:cNvPr id="21" name="p05-bottom">
            <a:extLst xmlns:a="http://schemas.openxmlformats.org/drawingml/2006/main">
              <a:ext uri="{FF2B5EF4-FFF2-40B4-BE49-F238E27FC236}">
                <a16:creationId xmlns:a16="http://schemas.microsoft.com/office/drawing/2014/main" id="{A22548CC-E4C2-48D8-BBB1-BD8BD4CF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95900"/>
            <a:ext cx="7391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控制变量一致 + 混杂变量可识别，才有资格比较。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五类不公平做法都会把偏倚写成效应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table-h-0">
            <a:extLst xmlns:a="http://schemas.openxmlformats.org/drawingml/2006/main">
              <a:ext uri="{FF2B5EF4-FFF2-40B4-BE49-F238E27FC236}">
                <a16:creationId xmlns:a16="http://schemas.microsoft.com/office/drawing/2014/main" id="{00A13377-10C0-46E5-9A1E-1719C8F5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</a:t>
            </a:r>
          </a:p>
        </p:txBody>
      </p:sp>
      <p:sp>
        <p:nvSpPr>
          <p:cNvPr id="7" name="p06-table-h-1">
            <a:extLst xmlns:a="http://schemas.openxmlformats.org/drawingml/2006/main">
              <a:ext uri="{FF2B5EF4-FFF2-40B4-BE49-F238E27FC236}">
                <a16:creationId xmlns:a16="http://schemas.microsoft.com/office/drawing/2014/main" id="{0E7614E4-6206-4633-A45B-F8D1D680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066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不公平点</a:t>
            </a:r>
          </a:p>
        </p:txBody>
      </p:sp>
      <p:sp>
        <p:nvSpPr>
          <p:cNvPr id="8" name="p06-table-h-2">
            <a:extLst xmlns:a="http://schemas.openxmlformats.org/drawingml/2006/main">
              <a:ext uri="{FF2B5EF4-FFF2-40B4-BE49-F238E27FC236}">
                <a16:creationId xmlns:a16="http://schemas.microsoft.com/office/drawing/2014/main" id="{B0213C31-3E48-4731-81D6-19369562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06680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结果为何不可解释</a:t>
            </a:r>
          </a:p>
        </p:txBody>
      </p:sp>
      <p:sp>
        <p:nvSpPr>
          <p:cNvPr id="9" name="p06-table-r0-0">
            <a:extLst xmlns:a="http://schemas.openxmlformats.org/drawingml/2006/main">
              <a:ext uri="{FF2B5EF4-FFF2-40B4-BE49-F238E27FC236}">
                <a16:creationId xmlns:a16="http://schemas.microsoft.com/office/drawing/2014/main" id="{4885C0C8-63A7-4A32-8602-90E13CE4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数据不一致</a:t>
            </a:r>
          </a:p>
        </p:txBody>
      </p:sp>
      <p:sp>
        <p:nvSpPr>
          <p:cNvPr id="10" name="p06-table-r0-1">
            <a:extLst xmlns:a="http://schemas.openxmlformats.org/drawingml/2006/main">
              <a:ext uri="{FF2B5EF4-FFF2-40B4-BE49-F238E27FC236}">
                <a16:creationId xmlns:a16="http://schemas.microsoft.com/office/drawing/2014/main" id="{A0EB4424-1CD7-4706-961B-15FA0902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524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 集 vs B 集</a:t>
            </a:r>
          </a:p>
        </p:txBody>
      </p:sp>
      <p:sp>
        <p:nvSpPr>
          <p:cNvPr id="11" name="p06-table-r0-2">
            <a:extLst xmlns:a="http://schemas.openxmlformats.org/drawingml/2006/main">
              <a:ext uri="{FF2B5EF4-FFF2-40B4-BE49-F238E27FC236}">
                <a16:creationId xmlns:a16="http://schemas.microsoft.com/office/drawing/2014/main" id="{F54DC6BD-FC82-422F-A9B6-D0BB7960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240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差异可能来自难度</a:t>
            </a:r>
          </a:p>
        </p:txBody>
      </p:sp>
      <p:sp>
        <p:nvSpPr>
          <p:cNvPr id="12" name="p06-table-r1-0">
            <a:extLst xmlns:a="http://schemas.openxmlformats.org/drawingml/2006/main">
              <a:ext uri="{FF2B5EF4-FFF2-40B4-BE49-F238E27FC236}">
                <a16:creationId xmlns:a16="http://schemas.microsoft.com/office/drawing/2014/main" id="{A21DC2C4-412F-48B4-90C3-17234859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超参不对等</a:t>
            </a:r>
          </a:p>
        </p:txBody>
      </p:sp>
      <p:sp>
        <p:nvSpPr>
          <p:cNvPr id="13" name="p06-table-r1-1">
            <a:extLst xmlns:a="http://schemas.openxmlformats.org/drawingml/2006/main">
              <a:ext uri="{FF2B5EF4-FFF2-40B4-BE49-F238E27FC236}">
                <a16:creationId xmlns:a16="http://schemas.microsoft.com/office/drawing/2014/main" id="{6A112E4F-2D5F-4DBE-9C1F-DE64803D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098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只给实验组调参</a:t>
            </a:r>
          </a:p>
        </p:txBody>
      </p:sp>
      <p:sp>
        <p:nvSpPr>
          <p:cNvPr id="14" name="p06-table-r1-2">
            <a:extLst xmlns:a="http://schemas.openxmlformats.org/drawingml/2006/main">
              <a:ext uri="{FF2B5EF4-FFF2-40B4-BE49-F238E27FC236}">
                <a16:creationId xmlns:a16="http://schemas.microsoft.com/office/drawing/2014/main" id="{F2CDAA39-E5F9-4A51-AE3F-8C57C1BC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比较的是调参投入</a:t>
            </a:r>
          </a:p>
        </p:txBody>
      </p:sp>
      <p:sp>
        <p:nvSpPr>
          <p:cNvPr id="15" name="p06-table-r2-0">
            <a:extLst xmlns:a="http://schemas.openxmlformats.org/drawingml/2006/main">
              <a:ext uri="{FF2B5EF4-FFF2-40B4-BE49-F238E27FC236}">
                <a16:creationId xmlns:a16="http://schemas.microsoft.com/office/drawing/2014/main" id="{F99EACE3-0CBB-484C-907A-6D12FAD5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评价不一致</a:t>
            </a:r>
          </a:p>
        </p:txBody>
      </p:sp>
      <p:sp>
        <p:nvSpPr>
          <p:cNvPr id="16" name="p06-table-r2-1">
            <a:extLst xmlns:a="http://schemas.openxmlformats.org/drawingml/2006/main">
              <a:ext uri="{FF2B5EF4-FFF2-40B4-BE49-F238E27FC236}">
                <a16:creationId xmlns:a16="http://schemas.microsoft.com/office/drawing/2014/main" id="{1CA958D4-1F15-4CE6-9601-9AAF100F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956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盲评 vs 非盲评</a:t>
            </a:r>
          </a:p>
        </p:txBody>
      </p:sp>
      <p:sp>
        <p:nvSpPr>
          <p:cNvPr id="17" name="p06-table-r2-2">
            <a:extLst xmlns:a="http://schemas.openxmlformats.org/drawingml/2006/main">
              <a:ext uri="{FF2B5EF4-FFF2-40B4-BE49-F238E27FC236}">
                <a16:creationId xmlns:a16="http://schemas.microsoft.com/office/drawing/2014/main" id="{529DFC5F-8982-452E-AC8B-94723EBA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混入评价者偏倚</a:t>
            </a:r>
          </a:p>
        </p:txBody>
      </p:sp>
      <p:sp>
        <p:nvSpPr>
          <p:cNvPr id="18" name="p06-table-r3-0">
            <a:extLst xmlns:a="http://schemas.openxmlformats.org/drawingml/2006/main">
              <a:ext uri="{FF2B5EF4-FFF2-40B4-BE49-F238E27FC236}">
                <a16:creationId xmlns:a16="http://schemas.microsoft.com/office/drawing/2014/main" id="{E5AEDF72-18D2-4A91-8BE3-D7779990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81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次数不对等</a:t>
            </a:r>
          </a:p>
        </p:txBody>
      </p:sp>
      <p:sp>
        <p:nvSpPr>
          <p:cNvPr id="19" name="p06-table-r3-1">
            <a:extLst xmlns:a="http://schemas.openxmlformats.org/drawingml/2006/main">
              <a:ext uri="{FF2B5EF4-FFF2-40B4-BE49-F238E27FC236}">
                <a16:creationId xmlns:a16="http://schemas.microsoft.com/office/drawing/2014/main" id="{066A8EA8-BC00-463D-AF8E-8AB24044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814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次均值 vs 1 次</a:t>
            </a:r>
          </a:p>
        </p:txBody>
      </p:sp>
      <p:sp>
        <p:nvSpPr>
          <p:cNvPr id="20" name="p06-table-r3-2">
            <a:extLst xmlns:a="http://schemas.openxmlformats.org/drawingml/2006/main">
              <a:ext uri="{FF2B5EF4-FFF2-40B4-BE49-F238E27FC236}">
                <a16:creationId xmlns:a16="http://schemas.microsoft.com/office/drawing/2014/main" id="{DF6F25F4-07AE-460E-A2A9-A2613906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814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混入随机噪声</a:t>
            </a:r>
          </a:p>
        </p:txBody>
      </p:sp>
      <p:sp>
        <p:nvSpPr>
          <p:cNvPr id="21" name="p06-table-r4-0">
            <a:extLst xmlns:a="http://schemas.openxmlformats.org/drawingml/2006/main">
              <a:ext uri="{FF2B5EF4-FFF2-40B4-BE49-F238E27FC236}">
                <a16:creationId xmlns:a16="http://schemas.microsoft.com/office/drawing/2014/main" id="{E6DEBD74-FF9F-4115-B9F3-5C188764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失败被删除</a:t>
            </a:r>
          </a:p>
        </p:txBody>
      </p:sp>
      <p:sp>
        <p:nvSpPr>
          <p:cNvPr id="22" name="p06-table-r4-1">
            <a:extLst xmlns:a="http://schemas.openxmlformats.org/drawingml/2006/main">
              <a:ext uri="{FF2B5EF4-FFF2-40B4-BE49-F238E27FC236}">
                <a16:creationId xmlns:a16="http://schemas.microsoft.com/office/drawing/2014/main" id="{C5CFAF2A-8BEE-412F-AE4D-6386D1F5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672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只留成功运行</a:t>
            </a:r>
          </a:p>
        </p:txBody>
      </p:sp>
      <p:sp>
        <p:nvSpPr>
          <p:cNvPr id="23" name="p06-table-r4-2">
            <a:extLst xmlns:a="http://schemas.openxmlformats.org/drawingml/2006/main">
              <a:ext uri="{FF2B5EF4-FFF2-40B4-BE49-F238E27FC236}">
                <a16:creationId xmlns:a16="http://schemas.microsoft.com/office/drawing/2014/main" id="{D5D65DD6-D02F-45F0-AF6B-29925AC9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672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形成选择性报告</a:t>
            </a:r>
          </a:p>
        </p:txBody>
      </p:sp>
      <p:sp>
        <p:nvSpPr>
          <p:cNvPr id="24" name="p06-bottom">
            <a:extLst xmlns:a="http://schemas.openxmlformats.org/drawingml/2006/main">
              <a:ext uri="{FF2B5EF4-FFF2-40B4-BE49-F238E27FC236}">
                <a16:creationId xmlns:a16="http://schemas.microsoft.com/office/drawing/2014/main" id="{1FD722C1-0852-49CD-8951-D2528515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86350"/>
            <a:ext cx="704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 必须可执行；失败仍是实验记录的一部分。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一句‘方法有效’无法证明实验可复现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watermark">
            <a:extLst xmlns:a="http://schemas.openxmlformats.org/drawingml/2006/main">
              <a:ext uri="{FF2B5EF4-FFF2-40B4-BE49-F238E27FC236}">
                <a16:creationId xmlns:a16="http://schemas.microsoft.com/office/drawing/2014/main" id="{84B93B58-324B-46A2-B5F3-5981F1D0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虚构教学反例｜非真实实验结果</a:t>
            </a:r>
          </a:p>
        </p:txBody>
      </p:sp>
      <p:sp>
        <p:nvSpPr>
          <p:cNvPr id="7" name="p07-claim">
            <a:extLst xmlns:a="http://schemas.openxmlformats.org/drawingml/2006/main">
              <a:ext uri="{FF2B5EF4-FFF2-40B4-BE49-F238E27FC236}">
                <a16:creationId xmlns:a16="http://schemas.microsoft.com/office/drawing/2014/main" id="{5B80FC82-8849-44CA-94B6-C393848E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49530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“用 GPT-4 生成摘要。阅读卡组遗漏率更低，所以方法有效。”</a:t>
            </a:r>
          </a:p>
        </p:txBody>
      </p:sp>
      <p:sp>
        <p:nvSpPr>
          <p:cNvPr id="8" name="p07-question">
            <a:extLst xmlns:a="http://schemas.openxmlformats.org/drawingml/2006/main">
              <a:ext uri="{FF2B5EF4-FFF2-40B4-BE49-F238E27FC236}">
                <a16:creationId xmlns:a16="http://schemas.microsoft.com/office/drawing/2014/main" id="{145B6087-BA28-4029-B7DA-2FF147D2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76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这句话缺了什么？</a:t>
            </a:r>
          </a:p>
        </p:txBody>
      </p:sp>
      <p:sp>
        <p:nvSpPr>
          <p:cNvPr id="9" name="p07-judgment">
            <a:extLst xmlns:a="http://schemas.openxmlformats.org/drawingml/2006/main">
              <a:ext uri="{FF2B5EF4-FFF2-40B4-BE49-F238E27FC236}">
                <a16:creationId xmlns:a16="http://schemas.microsoft.com/office/drawing/2014/main" id="{A9EBBF98-2558-489B-98AC-D58DDC56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4533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没有运行条件，‘有效’无法被复核。</a:t>
            </a:r>
          </a:p>
        </p:txBody>
      </p:sp>
      <p:sp>
        <p:nvSpPr>
          <p:cNvPr id="10" name="p07-n-0">
            <a:extLst xmlns:a="http://schemas.openxmlformats.org/drawingml/2006/main">
              <a:ext uri="{FF2B5EF4-FFF2-40B4-BE49-F238E27FC236}">
                <a16:creationId xmlns:a16="http://schemas.microsoft.com/office/drawing/2014/main" id="{4BF09B79-0CA9-44C9-A3A7-7F202A4C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00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1" name="p07-m-0">
            <a:extLst xmlns:a="http://schemas.openxmlformats.org/drawingml/2006/main">
              <a:ext uri="{FF2B5EF4-FFF2-40B4-BE49-F238E27FC236}">
                <a16:creationId xmlns:a16="http://schemas.microsoft.com/office/drawing/2014/main" id="{73BE2D73-128A-4C58-B8F4-379ECF10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20015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模型版本 / snapshot</a:t>
            </a:r>
          </a:p>
        </p:txBody>
      </p:sp>
      <p:sp>
        <p:nvSpPr>
          <p:cNvPr id="12" name="p07-n-1">
            <a:extLst xmlns:a="http://schemas.openxmlformats.org/drawingml/2006/main">
              <a:ext uri="{FF2B5EF4-FFF2-40B4-BE49-F238E27FC236}">
                <a16:creationId xmlns:a16="http://schemas.microsoft.com/office/drawing/2014/main" id="{4FDF9587-3EFF-4F17-8A34-49E5E205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3" name="p07-m-1">
            <a:extLst xmlns:a="http://schemas.openxmlformats.org/drawingml/2006/main">
              <a:ext uri="{FF2B5EF4-FFF2-40B4-BE49-F238E27FC236}">
                <a16:creationId xmlns:a16="http://schemas.microsoft.com/office/drawing/2014/main" id="{AD83CD28-2691-4DEB-9F66-B37761B9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6212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温度、max_tokens、prompt</a:t>
            </a:r>
          </a:p>
        </p:txBody>
      </p:sp>
      <p:sp>
        <p:nvSpPr>
          <p:cNvPr id="14" name="p07-n-2">
            <a:extLst xmlns:a="http://schemas.openxmlformats.org/drawingml/2006/main">
              <a:ext uri="{FF2B5EF4-FFF2-40B4-BE49-F238E27FC236}">
                <a16:creationId xmlns:a16="http://schemas.microsoft.com/office/drawing/2014/main" id="{A0A0F471-99B8-428D-8625-57D16BF3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5" name="p07-m-2">
            <a:extLst xmlns:a="http://schemas.openxmlformats.org/drawingml/2006/main">
              <a:ext uri="{FF2B5EF4-FFF2-40B4-BE49-F238E27FC236}">
                <a16:creationId xmlns:a16="http://schemas.microsoft.com/office/drawing/2014/main" id="{3FE69235-21A7-4281-B0D5-B4BD90A8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随机种子</a:t>
            </a:r>
          </a:p>
        </p:txBody>
      </p:sp>
      <p:sp>
        <p:nvSpPr>
          <p:cNvPr id="16" name="p07-n-3">
            <a:extLst xmlns:a="http://schemas.openxmlformats.org/drawingml/2006/main">
              <a:ext uri="{FF2B5EF4-FFF2-40B4-BE49-F238E27FC236}">
                <a16:creationId xmlns:a16="http://schemas.microsoft.com/office/drawing/2014/main" id="{9445F247-562B-4717-AF8E-98E5ACCE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8607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7" name="p07-m-3">
            <a:extLst xmlns:a="http://schemas.openxmlformats.org/drawingml/2006/main">
              <a:ext uri="{FF2B5EF4-FFF2-40B4-BE49-F238E27FC236}">
                <a16:creationId xmlns:a16="http://schemas.microsoft.com/office/drawing/2014/main" id="{26C7E97E-F2F5-46E9-B36A-E0C5D6A8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8607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篇论文来源与快照</a:t>
            </a:r>
          </a:p>
        </p:txBody>
      </p:sp>
      <p:sp>
        <p:nvSpPr>
          <p:cNvPr id="18" name="p07-n-4">
            <a:extLst xmlns:a="http://schemas.openxmlformats.org/drawingml/2006/main">
              <a:ext uri="{FF2B5EF4-FFF2-40B4-BE49-F238E27FC236}">
                <a16:creationId xmlns:a16="http://schemas.microsoft.com/office/drawing/2014/main" id="{ED72D0FC-B4EB-4EF9-9595-3E8BF53E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p07-m-4">
            <a:extLst xmlns:a="http://schemas.openxmlformats.org/drawingml/2006/main">
              <a:ext uri="{FF2B5EF4-FFF2-40B4-BE49-F238E27FC236}">
                <a16:creationId xmlns:a16="http://schemas.microsoft.com/office/drawing/2014/main" id="{02EBC3C0-1E8B-4F9E-83F6-29E3D18C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运行次数</a:t>
            </a:r>
          </a:p>
        </p:txBody>
      </p:sp>
      <p:sp>
        <p:nvSpPr>
          <p:cNvPr id="20" name="p07-n-5">
            <a:extLst xmlns:a="http://schemas.openxmlformats.org/drawingml/2006/main">
              <a:ext uri="{FF2B5EF4-FFF2-40B4-BE49-F238E27FC236}">
                <a16:creationId xmlns:a16="http://schemas.microsoft.com/office/drawing/2014/main" id="{8D4D2814-BEE5-4C70-98FF-79B87C18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002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p07-m-5">
            <a:extLst xmlns:a="http://schemas.openxmlformats.org/drawingml/2006/main">
              <a:ext uri="{FF2B5EF4-FFF2-40B4-BE49-F238E27FC236}">
                <a16:creationId xmlns:a16="http://schemas.microsoft.com/office/drawing/2014/main" id="{3B1ECB19-8175-4977-9998-87603201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1002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rubric、标注者、kappa</a:t>
            </a:r>
          </a:p>
        </p:txBody>
      </p:sp>
      <p:sp>
        <p:nvSpPr>
          <p:cNvPr id="22" name="p07-n-6">
            <a:extLst xmlns:a="http://schemas.openxmlformats.org/drawingml/2006/main">
              <a:ext uri="{FF2B5EF4-FFF2-40B4-BE49-F238E27FC236}">
                <a16:creationId xmlns:a16="http://schemas.microsoft.com/office/drawing/2014/main" id="{7C878B2F-3BAF-4A27-AAAC-90AB7858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3" name="p07-m-6">
            <a:extLst xmlns:a="http://schemas.openxmlformats.org/drawingml/2006/main">
              <a:ext uri="{FF2B5EF4-FFF2-40B4-BE49-F238E27FC236}">
                <a16:creationId xmlns:a16="http://schemas.microsoft.com/office/drawing/2014/main" id="{C6735BE1-417E-4FAC-90DB-02DC787F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是否同条件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FB8894A9-2085-49FC-AFB4-EE00CA75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19700"/>
            <a:ext cx="803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缺配置与种子 = 不可复现｜单次运行 = 不能把噪声写成结论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七字段把假设、对照与停止规则锁在一起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table-h-0">
            <a:extLst xmlns:a="http://schemas.openxmlformats.org/drawingml/2006/main">
              <a:ext uri="{FF2B5EF4-FFF2-40B4-BE49-F238E27FC236}">
                <a16:creationId xmlns:a16="http://schemas.microsoft.com/office/drawing/2014/main" id="{66BA173B-50CA-4003-95B3-AB7821F9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2500"/>
            <a:ext cx="2209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7" name="p08-table-h-1">
            <a:extLst xmlns:a="http://schemas.openxmlformats.org/drawingml/2006/main">
              <a:ext uri="{FF2B5EF4-FFF2-40B4-BE49-F238E27FC236}">
                <a16:creationId xmlns:a16="http://schemas.microsoft.com/office/drawing/2014/main" id="{90D5E8DF-1977-4C27-A37A-F90B4E47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952500"/>
            <a:ext cx="893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贯穿案例最小写法</a:t>
            </a:r>
          </a:p>
        </p:txBody>
      </p:sp>
      <p:sp>
        <p:nvSpPr>
          <p:cNvPr id="8" name="p08-table-r0-0">
            <a:extLst xmlns:a="http://schemas.openxmlformats.org/drawingml/2006/main">
              <a:ext uri="{FF2B5EF4-FFF2-40B4-BE49-F238E27FC236}">
                <a16:creationId xmlns:a16="http://schemas.microsoft.com/office/drawing/2014/main" id="{2796BB43-0A1F-4995-9242-67C8F4EC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假设对应</a:t>
            </a:r>
          </a:p>
        </p:txBody>
      </p:sp>
      <p:sp>
        <p:nvSpPr>
          <p:cNvPr id="9" name="p08-table-r0-1">
            <a:extLst xmlns:a="http://schemas.openxmlformats.org/drawingml/2006/main">
              <a:ext uri="{FF2B5EF4-FFF2-40B4-BE49-F238E27FC236}">
                <a16:creationId xmlns:a16="http://schemas.microsoft.com/office/drawing/2014/main" id="{B5429897-FF15-48FD-B562-388A8D10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716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H1：字段约束 → 强制标注 → 错读更易暴露</a:t>
            </a:r>
          </a:p>
        </p:txBody>
      </p:sp>
      <p:sp>
        <p:nvSpPr>
          <p:cNvPr id="10" name="p08-table-r1-0">
            <a:extLst xmlns:a="http://schemas.openxmlformats.org/drawingml/2006/main">
              <a:ext uri="{FF2B5EF4-FFF2-40B4-BE49-F238E27FC236}">
                <a16:creationId xmlns:a16="http://schemas.microsoft.com/office/drawing/2014/main" id="{30E22E3E-62F9-42AF-AB9A-7C92027B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变量</a:t>
            </a:r>
          </a:p>
        </p:txBody>
      </p:sp>
      <p:sp>
        <p:nvSpPr>
          <p:cNvPr id="11" name="p08-table-r1-1">
            <a:extLst xmlns:a="http://schemas.openxmlformats.org/drawingml/2006/main">
              <a:ext uri="{FF2B5EF4-FFF2-40B4-BE49-F238E27FC236}">
                <a16:creationId xmlns:a16="http://schemas.microsoft.com/office/drawing/2014/main" id="{87F00992-2F68-43EA-8731-F45F9187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621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自：是否阅读卡｜因：遗漏率｜控：模型/温度/论文｜混：结构/标注者</a:t>
            </a:r>
          </a:p>
        </p:txBody>
      </p:sp>
      <p:sp>
        <p:nvSpPr>
          <p:cNvPr id="12" name="p08-table-r2-0">
            <a:extLst xmlns:a="http://schemas.openxmlformats.org/drawingml/2006/main">
              <a:ext uri="{FF2B5EF4-FFF2-40B4-BE49-F238E27FC236}">
                <a16:creationId xmlns:a16="http://schemas.microsoft.com/office/drawing/2014/main" id="{3E11D883-F6B7-4BD1-BEC7-38C7A35A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13" name="p08-table-r2-1">
            <a:extLst xmlns:a="http://schemas.openxmlformats.org/drawingml/2006/main">
              <a:ext uri="{FF2B5EF4-FFF2-40B4-BE49-F238E27FC236}">
                <a16:creationId xmlns:a16="http://schemas.microsoft.com/office/drawing/2014/main" id="{57E67F7F-F0FE-4E88-A765-0C50A478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527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抽 20 篇 → 随机分组 → 生成 → 盲评 → 计算</a:t>
            </a:r>
          </a:p>
        </p:txBody>
      </p:sp>
      <p:sp>
        <p:nvSpPr>
          <p:cNvPr id="14" name="p08-table-r3-0">
            <a:extLst xmlns:a="http://schemas.openxmlformats.org/drawingml/2006/main">
              <a:ext uri="{FF2B5EF4-FFF2-40B4-BE49-F238E27FC236}">
                <a16:creationId xmlns:a16="http://schemas.microsoft.com/office/drawing/2014/main" id="{2CD95061-35FD-4F33-989E-6385E86F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度量标准</a:t>
            </a:r>
          </a:p>
        </p:txBody>
      </p:sp>
      <p:sp>
        <p:nvSpPr>
          <p:cNvPr id="15" name="p08-table-r3-1">
            <a:extLst xmlns:a="http://schemas.openxmlformats.org/drawingml/2006/main">
              <a:ext uri="{FF2B5EF4-FFF2-40B4-BE49-F238E27FC236}">
                <a16:creationId xmlns:a16="http://schemas.microsoft.com/office/drawing/2014/main" id="{9240B3F3-D6EE-4EA5-9BF9-DBBFB8CD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432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遗漏率 = 缺失字段数 / 应有字段数；kappa ≥ 0.7</a:t>
            </a:r>
          </a:p>
        </p:txBody>
      </p:sp>
      <p:sp>
        <p:nvSpPr>
          <p:cNvPr id="16" name="p08-table-r4-0">
            <a:extLst xmlns:a="http://schemas.openxmlformats.org/drawingml/2006/main">
              <a:ext uri="{FF2B5EF4-FFF2-40B4-BE49-F238E27FC236}">
                <a16:creationId xmlns:a16="http://schemas.microsoft.com/office/drawing/2014/main" id="{05C08EE5-0260-418A-ABF1-DF5DAF24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7" name="p08-table-r4-1">
            <a:extLst xmlns:a="http://schemas.openxmlformats.org/drawingml/2006/main">
              <a:ext uri="{FF2B5EF4-FFF2-40B4-BE49-F238E27FC236}">
                <a16:creationId xmlns:a16="http://schemas.microsoft.com/office/drawing/2014/main" id="{1571109C-6BC9-472B-9BDC-ACA47312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338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自由摘要；同模型、论文、参数、rubric 与次数</a:t>
            </a:r>
          </a:p>
        </p:txBody>
      </p:sp>
      <p:sp>
        <p:nvSpPr>
          <p:cNvPr id="18" name="p08-table-r5-0">
            <a:extLst xmlns:a="http://schemas.openxmlformats.org/drawingml/2006/main">
              <a:ext uri="{FF2B5EF4-FFF2-40B4-BE49-F238E27FC236}">
                <a16:creationId xmlns:a16="http://schemas.microsoft.com/office/drawing/2014/main" id="{865D3C49-80AD-4407-90DB-5A9E0589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随机化与重复</a:t>
            </a:r>
          </a:p>
        </p:txBody>
      </p:sp>
      <p:sp>
        <p:nvSpPr>
          <p:cNvPr id="19" name="p08-table-r5-1">
            <a:extLst xmlns:a="http://schemas.openxmlformats.org/drawingml/2006/main">
              <a:ext uri="{FF2B5EF4-FFF2-40B4-BE49-F238E27FC236}">
                <a16:creationId xmlns:a16="http://schemas.microsoft.com/office/drawing/2014/main" id="{1F741817-54F5-493F-9302-CF9D158B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243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split_seed=42；run_seeds=[100,200,300]</a:t>
            </a:r>
          </a:p>
        </p:txBody>
      </p:sp>
      <p:sp>
        <p:nvSpPr>
          <p:cNvPr id="20" name="p08-table-r6-0">
            <a:extLst xmlns:a="http://schemas.openxmlformats.org/drawingml/2006/main">
              <a:ext uri="{FF2B5EF4-FFF2-40B4-BE49-F238E27FC236}">
                <a16:creationId xmlns:a16="http://schemas.microsoft.com/office/drawing/2014/main" id="{1D4CEC7D-E165-489C-9A1A-ED10D50D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149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21" name="p08-table-r6-1">
            <a:extLst xmlns:a="http://schemas.openxmlformats.org/drawingml/2006/main">
              <a:ext uri="{FF2B5EF4-FFF2-40B4-BE49-F238E27FC236}">
                <a16:creationId xmlns:a16="http://schemas.microsoft.com/office/drawing/2014/main" id="{6801F6C5-0D18-45FB-9917-E81C11BA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次 × 2 组；协议错误时提前停</a:t>
            </a:r>
          </a:p>
        </p:txBody>
      </p:sp>
      <p:sp>
        <p:nvSpPr>
          <p:cNvPr id="22" name="p08-bottom">
            <a:extLst xmlns:a="http://schemas.openxmlformats.org/drawingml/2006/main">
              <a:ext uri="{FF2B5EF4-FFF2-40B4-BE49-F238E27FC236}">
                <a16:creationId xmlns:a16="http://schemas.microsoft.com/office/drawing/2014/main" id="{9B3D38A7-48A8-4057-BBEA-8FD19C05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43550"/>
            <a:ext cx="929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度量要写计算口径；种子要写具体值；停止条件要在看结果前写。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停止条件与失败预案必须在看结果前写明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stop-title">
            <a:extLst xmlns:a="http://schemas.openxmlformats.org/drawingml/2006/main">
              <a:ext uri="{FF2B5EF4-FFF2-40B4-BE49-F238E27FC236}">
                <a16:creationId xmlns:a16="http://schemas.microsoft.com/office/drawing/2014/main" id="{12948B65-03B7-426D-A54F-7725FD67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7" name="p09-stop">
            <a:extLst xmlns:a="http://schemas.openxmlformats.org/drawingml/2006/main">
              <a:ext uri="{FF2B5EF4-FFF2-40B4-BE49-F238E27FC236}">
                <a16:creationId xmlns:a16="http://schemas.microsoft.com/office/drawing/2014/main" id="{25DC0C6F-CEC2-40D2-9868-21B80A0C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495300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预先承诺：5 次 × 2 组 = 10 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允许提前停：标注协议错误、数据污染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不允许提前停：结果不利、尚未显著</a:t>
            </a:r>
          </a:p>
        </p:txBody>
      </p:sp>
      <p:sp>
        <p:nvSpPr>
          <p:cNvPr id="8" name="p09-fail-title">
            <a:extLst xmlns:a="http://schemas.openxmlformats.org/drawingml/2006/main">
              <a:ext uri="{FF2B5EF4-FFF2-40B4-BE49-F238E27FC236}">
                <a16:creationId xmlns:a16="http://schemas.microsoft.com/office/drawing/2014/main" id="{83DED1BF-38B5-4575-B45E-02EDDD52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0287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失败预案</a:t>
            </a:r>
          </a:p>
        </p:txBody>
      </p:sp>
      <p:sp>
        <p:nvSpPr>
          <p:cNvPr id="9" name="p09-i-0">
            <a:extLst xmlns:a="http://schemas.openxmlformats.org/drawingml/2006/main">
              <a:ext uri="{FF2B5EF4-FFF2-40B4-BE49-F238E27FC236}">
                <a16:creationId xmlns:a16="http://schemas.microsoft.com/office/drawing/2014/main" id="{4D6C1ED2-7D8E-4558-A4A3-4DB0F778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7640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 跑不通</a:t>
            </a:r>
          </a:p>
        </p:txBody>
      </p:sp>
      <p:sp>
        <p:nvSpPr>
          <p:cNvPr id="10" name="p09-p-0">
            <a:extLst xmlns:a="http://schemas.openxmlformats.org/drawingml/2006/main">
              <a:ext uri="{FF2B5EF4-FFF2-40B4-BE49-F238E27FC236}">
                <a16:creationId xmlns:a16="http://schemas.microsoft.com/office/drawing/2014/main" id="{08E72173-3955-4159-818F-0D10CCC4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7640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缩小样本，回到最小验证</a:t>
            </a:r>
          </a:p>
        </p:txBody>
      </p:sp>
      <p:sp>
        <p:nvSpPr>
          <p:cNvPr id="11" name="p09-i-1">
            <a:extLst xmlns:a="http://schemas.openxmlformats.org/drawingml/2006/main">
              <a:ext uri="{FF2B5EF4-FFF2-40B4-BE49-F238E27FC236}">
                <a16:creationId xmlns:a16="http://schemas.microsoft.com/office/drawing/2014/main" id="{4AC4462A-5489-46D4-9351-84F76A3C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结果不支持 H1</a:t>
            </a:r>
          </a:p>
        </p:txBody>
      </p:sp>
      <p:sp>
        <p:nvSpPr>
          <p:cNvPr id="12" name="p09-p-1">
            <a:extLst xmlns:a="http://schemas.openxmlformats.org/drawingml/2006/main">
              <a:ext uri="{FF2B5EF4-FFF2-40B4-BE49-F238E27FC236}">
                <a16:creationId xmlns:a16="http://schemas.microsoft.com/office/drawing/2014/main" id="{5AB31EB0-0101-4825-BACC-00900A85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5745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检查替代假设，保留待验证</a:t>
            </a:r>
          </a:p>
        </p:txBody>
      </p:sp>
      <p:sp>
        <p:nvSpPr>
          <p:cNvPr id="13" name="p09-i-2">
            <a:extLst xmlns:a="http://schemas.openxmlformats.org/drawingml/2006/main">
              <a:ext uri="{FF2B5EF4-FFF2-40B4-BE49-F238E27FC236}">
                <a16:creationId xmlns:a16="http://schemas.microsoft.com/office/drawing/2014/main" id="{A52A5083-114B-47AD-8278-AFEE163A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数据不可用</a:t>
            </a:r>
          </a:p>
        </p:txBody>
      </p:sp>
      <p:sp>
        <p:nvSpPr>
          <p:cNvPr id="14" name="p09-p-2">
            <a:extLst xmlns:a="http://schemas.openxmlformats.org/drawingml/2006/main">
              <a:ext uri="{FF2B5EF4-FFF2-40B4-BE49-F238E27FC236}">
                <a16:creationId xmlns:a16="http://schemas.microsoft.com/office/drawing/2014/main" id="{76291E2D-6809-4C4C-B892-5193EB8C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3850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换公开替代并声明限制</a:t>
            </a:r>
          </a:p>
        </p:txBody>
      </p:sp>
      <p:sp>
        <p:nvSpPr>
          <p:cNvPr id="15" name="p09-i-3">
            <a:extLst xmlns:a="http://schemas.openxmlformats.org/drawingml/2006/main">
              <a:ext uri="{FF2B5EF4-FFF2-40B4-BE49-F238E27FC236}">
                <a16:creationId xmlns:a16="http://schemas.microsoft.com/office/drawing/2014/main" id="{37D338D2-6DA8-416C-B7A0-9ECACED9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1955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kappa &lt; 0.7</a:t>
            </a:r>
          </a:p>
        </p:txBody>
      </p:sp>
      <p:sp>
        <p:nvSpPr>
          <p:cNvPr id="16" name="p09-p-3">
            <a:extLst xmlns:a="http://schemas.openxmlformats.org/drawingml/2006/main">
              <a:ext uri="{FF2B5EF4-FFF2-40B4-BE49-F238E27FC236}">
                <a16:creationId xmlns:a16="http://schemas.microsoft.com/office/drawing/2014/main" id="{FDAC5FD3-AB7A-433D-847C-5757F9CF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1955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训练标注者、修订 rubric、降级结论</a:t>
            </a:r>
          </a:p>
        </p:txBody>
      </p:sp>
      <p:sp>
        <p:nvSpPr>
          <p:cNvPr id="17" name="p09-bottom">
            <a:extLst xmlns:a="http://schemas.openxmlformats.org/drawingml/2006/main">
              <a:ext uri="{FF2B5EF4-FFF2-40B4-BE49-F238E27FC236}">
                <a16:creationId xmlns:a16="http://schemas.microsoft.com/office/drawing/2014/main" id="{631A10F9-1880-45AA-BBCD-6BD5CA5C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53000"/>
            <a:ext cx="7620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失败预案让失败可分析；删除失败记录是学术规范红线。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度量必须写出从原始数据到数字的口径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l-0">
            <a:extLst xmlns:a="http://schemas.openxmlformats.org/drawingml/2006/main">
              <a:ext uri="{FF2B5EF4-FFF2-40B4-BE49-F238E27FC236}">
                <a16:creationId xmlns:a16="http://schemas.microsoft.com/office/drawing/2014/main" id="{BC8CB6FC-61AF-4DBA-AB46-8931937B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操作定义</a:t>
            </a:r>
          </a:p>
        </p:txBody>
      </p:sp>
      <p:sp>
        <p:nvSpPr>
          <p:cNvPr id="7" name="p10-d-0">
            <a:extLst xmlns:a="http://schemas.openxmlformats.org/drawingml/2006/main">
              <a:ext uri="{FF2B5EF4-FFF2-40B4-BE49-F238E27FC236}">
                <a16:creationId xmlns:a16="http://schemas.microsoft.com/office/drawing/2014/main" id="{AA826B87-CB2B-4C35-AA5D-144290E7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公式或步骤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从原始数据到指标</a:t>
            </a:r>
          </a:p>
        </p:txBody>
      </p:sp>
      <p:sp>
        <p:nvSpPr>
          <p:cNvPr id="8" name="p10-l-1">
            <a:extLst xmlns:a="http://schemas.openxmlformats.org/drawingml/2006/main">
              <a:ext uri="{FF2B5EF4-FFF2-40B4-BE49-F238E27FC236}">
                <a16:creationId xmlns:a16="http://schemas.microsoft.com/office/drawing/2014/main" id="{A7DC6344-B774-41CF-81EB-08B10E5A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计算口径</a:t>
            </a:r>
          </a:p>
        </p:txBody>
      </p:sp>
      <p:sp>
        <p:nvSpPr>
          <p:cNvPr id="9" name="p10-d-1">
            <a:extLst xmlns:a="http://schemas.openxmlformats.org/drawingml/2006/main">
              <a:ext uri="{FF2B5EF4-FFF2-40B4-BE49-F238E27FC236}">
                <a16:creationId xmlns:a16="http://schemas.microsoft.com/office/drawing/2014/main" id="{9315F225-FA88-4186-8DEE-3011ACAB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分子、分母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缺失值处理</a:t>
            </a:r>
          </a:p>
        </p:txBody>
      </p:sp>
      <p:sp>
        <p:nvSpPr>
          <p:cNvPr id="10" name="p10-l-2">
            <a:extLst xmlns:a="http://schemas.openxmlformats.org/drawingml/2006/main">
              <a:ext uri="{FF2B5EF4-FFF2-40B4-BE49-F238E27FC236}">
                <a16:creationId xmlns:a16="http://schemas.microsoft.com/office/drawing/2014/main" id="{89DD27E3-7C98-469B-869C-DE920BE4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标注协议</a:t>
            </a:r>
          </a:p>
        </p:txBody>
      </p:sp>
      <p:sp>
        <p:nvSpPr>
          <p:cNvPr id="11" name="p10-d-2">
            <a:extLst xmlns:a="http://schemas.openxmlformats.org/drawingml/2006/main">
              <a:ext uri="{FF2B5EF4-FFF2-40B4-BE49-F238E27FC236}">
                <a16:creationId xmlns:a16="http://schemas.microsoft.com/office/drawing/2014/main" id="{55A68708-395F-490B-91F0-22715325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人数、训练、盲评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分歧解决</a:t>
            </a:r>
          </a:p>
        </p:txBody>
      </p:sp>
      <p:sp>
        <p:nvSpPr>
          <p:cNvPr id="12" name="p10-l-3">
            <a:extLst xmlns:a="http://schemas.openxmlformats.org/drawingml/2006/main">
              <a:ext uri="{FF2B5EF4-FFF2-40B4-BE49-F238E27FC236}">
                <a16:creationId xmlns:a16="http://schemas.microsoft.com/office/drawing/2014/main" id="{A3F8DD7C-AFB0-4C46-8FF3-B34DD3C4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一致性指标</a:t>
            </a:r>
          </a:p>
        </p:txBody>
      </p:sp>
      <p:sp>
        <p:nvSpPr>
          <p:cNvPr id="13" name="p10-d-3">
            <a:extLst xmlns:a="http://schemas.openxmlformats.org/drawingml/2006/main">
              <a:ext uri="{FF2B5EF4-FFF2-40B4-BE49-F238E27FC236}">
                <a16:creationId xmlns:a16="http://schemas.microsoft.com/office/drawing/2014/main" id="{B57E6C28-B160-43B1-AF53-01F33A38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kappa / alpha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未计算要说明理由</a:t>
            </a:r>
          </a:p>
        </p:txBody>
      </p:sp>
      <p:sp>
        <p:nvSpPr>
          <p:cNvPr id="14" name="p10-case-title">
            <a:extLst xmlns:a="http://schemas.openxmlformats.org/drawingml/2006/main">
              <a:ext uri="{FF2B5EF4-FFF2-40B4-BE49-F238E27FC236}">
                <a16:creationId xmlns:a16="http://schemas.microsoft.com/office/drawing/2014/main" id="{5687C371-D8EF-4FF2-8B46-4FA9FDAA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</a:t>
            </a:r>
          </a:p>
        </p:txBody>
      </p:sp>
      <p:sp>
        <p:nvSpPr>
          <p:cNvPr id="15" name="p10-case">
            <a:extLst xmlns:a="http://schemas.openxmlformats.org/drawingml/2006/main">
              <a:ext uri="{FF2B5EF4-FFF2-40B4-BE49-F238E27FC236}">
                <a16:creationId xmlns:a16="http://schemas.microsoft.com/office/drawing/2014/main" id="{3906F806-976C-4FE4-AFC1-CADEC3F3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76600"/>
            <a:ext cx="8248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限定条件字段缺失率 = 缺失字段数 / 应有限定条件字段数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名标注者双盲；分歧协商；Cohen's kappa ≥ 0.7</a:t>
            </a:r>
          </a:p>
        </p:txBody>
      </p:sp>
      <p:sp>
        <p:nvSpPr>
          <p:cNvPr id="16" name="p10-bottom">
            <a:extLst xmlns:a="http://schemas.openxmlformats.org/drawingml/2006/main">
              <a:ext uri="{FF2B5EF4-FFF2-40B4-BE49-F238E27FC236}">
                <a16:creationId xmlns:a16="http://schemas.microsoft.com/office/drawing/2014/main" id="{C6D586D4-3B11-4A8F-9C6D-5E9E0BE1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19650"/>
            <a:ext cx="8001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只写‘用遗漏率’不够；别人必须能够按同一口径重算。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六类记录共同构成最小复现集合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line-0">
            <a:extLst xmlns:a="http://schemas.openxmlformats.org/drawingml/2006/main">
              <a:ext uri="{FF2B5EF4-FFF2-40B4-BE49-F238E27FC236}">
                <a16:creationId xmlns:a16="http://schemas.microsoft.com/office/drawing/2014/main" id="{CBE583E0-A9E0-48F9-8EA9-F6665475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1-line-1">
            <a:extLst xmlns:a="http://schemas.openxmlformats.org/drawingml/2006/main">
              <a:ext uri="{FF2B5EF4-FFF2-40B4-BE49-F238E27FC236}">
                <a16:creationId xmlns:a16="http://schemas.microsoft.com/office/drawing/2014/main" id="{C44696B3-8AAF-45B9-B2F6-27F37C6E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2">
            <a:extLst xmlns:a="http://schemas.openxmlformats.org/drawingml/2006/main">
              <a:ext uri="{FF2B5EF4-FFF2-40B4-BE49-F238E27FC236}">
                <a16:creationId xmlns:a16="http://schemas.microsoft.com/office/drawing/2014/main" id="{33FB3749-7514-4586-AB94-7DD632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3">
            <a:extLst xmlns:a="http://schemas.openxmlformats.org/drawingml/2006/main">
              <a:ext uri="{FF2B5EF4-FFF2-40B4-BE49-F238E27FC236}">
                <a16:creationId xmlns:a16="http://schemas.microsoft.com/office/drawing/2014/main" id="{8AD3AFFC-9282-4BEC-96F6-ED2AA9C3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line-4">
            <a:extLst xmlns:a="http://schemas.openxmlformats.org/drawingml/2006/main">
              <a:ext uri="{FF2B5EF4-FFF2-40B4-BE49-F238E27FC236}">
                <a16:creationId xmlns:a16="http://schemas.microsoft.com/office/drawing/2014/main" id="{E746D260-258F-44F1-B49E-43F0CCF0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1-label-0">
            <a:extLst xmlns:a="http://schemas.openxmlformats.org/drawingml/2006/main">
              <a:ext uri="{FF2B5EF4-FFF2-40B4-BE49-F238E27FC236}">
                <a16:creationId xmlns:a16="http://schemas.microsoft.com/office/drawing/2014/main" id="{D7E6A999-0816-4812-9839-6FAE382C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12" name="p11-detail-0">
            <a:extLst xmlns:a="http://schemas.openxmlformats.org/drawingml/2006/main">
              <a:ext uri="{FF2B5EF4-FFF2-40B4-BE49-F238E27FC236}">
                <a16:creationId xmlns:a16="http://schemas.microsoft.com/office/drawing/2014/main" id="{02C646A6-3AC6-49B5-81C3-E5FC7973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 3.10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SDK 0.34.0</a:t>
            </a:r>
          </a:p>
        </p:txBody>
      </p:sp>
      <p:sp>
        <p:nvSpPr>
          <p:cNvPr id="13" name="p11-label-1">
            <a:extLst xmlns:a="http://schemas.openxmlformats.org/drawingml/2006/main">
              <a:ext uri="{FF2B5EF4-FFF2-40B4-BE49-F238E27FC236}">
                <a16:creationId xmlns:a16="http://schemas.microsoft.com/office/drawing/2014/main" id="{7BC87018-0647-4CB8-A5F7-29251B03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4" name="p11-detail-1">
            <a:extLst xmlns:a="http://schemas.openxmlformats.org/drawingml/2006/main">
              <a:ext uri="{FF2B5EF4-FFF2-40B4-BE49-F238E27FC236}">
                <a16:creationId xmlns:a16="http://schemas.microsoft.com/office/drawing/2014/main" id="{3C6ADF62-8659-4990-9BE0-1FD1A9F2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 snapshot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temperature=0</a:t>
            </a:r>
          </a:p>
        </p:txBody>
      </p:sp>
      <p:sp>
        <p:nvSpPr>
          <p:cNvPr id="15" name="p11-label-2">
            <a:extLst xmlns:a="http://schemas.openxmlformats.org/drawingml/2006/main">
              <a:ext uri="{FF2B5EF4-FFF2-40B4-BE49-F238E27FC236}">
                <a16:creationId xmlns:a16="http://schemas.microsoft.com/office/drawing/2014/main" id="{4AD453C4-CED9-4667-BF06-96A39FA4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种子</a:t>
            </a:r>
          </a:p>
        </p:txBody>
      </p:sp>
      <p:sp>
        <p:nvSpPr>
          <p:cNvPr id="16" name="p11-detail-2">
            <a:extLst xmlns:a="http://schemas.openxmlformats.org/drawingml/2006/main">
              <a:ext uri="{FF2B5EF4-FFF2-40B4-BE49-F238E27FC236}">
                <a16:creationId xmlns:a16="http://schemas.microsoft.com/office/drawing/2014/main" id="{DB368EEA-4F8B-41E2-A958-80D5BA52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split=42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run seeds: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100,200,300</a:t>
            </a:r>
          </a:p>
        </p:txBody>
      </p:sp>
      <p:sp>
        <p:nvSpPr>
          <p:cNvPr id="17" name="p11-label-3">
            <a:extLst xmlns:a="http://schemas.openxmlformats.org/drawingml/2006/main">
              <a:ext uri="{FF2B5EF4-FFF2-40B4-BE49-F238E27FC236}">
                <a16:creationId xmlns:a16="http://schemas.microsoft.com/office/drawing/2014/main" id="{518873ED-3F26-467B-83FC-751EEDAD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18" name="p11-detail-3">
            <a:extLst xmlns:a="http://schemas.openxmlformats.org/drawingml/2006/main">
              <a:ext uri="{FF2B5EF4-FFF2-40B4-BE49-F238E27FC236}">
                <a16:creationId xmlns:a16="http://schemas.microsoft.com/office/drawing/2014/main" id="{4FADE9D0-CD20-4340-A5EA-A926B0DB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ACL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快照 + 使用限制</a:t>
            </a:r>
          </a:p>
        </p:txBody>
      </p:sp>
      <p:sp>
        <p:nvSpPr>
          <p:cNvPr id="19" name="p11-label-4">
            <a:extLst xmlns:a="http://schemas.openxmlformats.org/drawingml/2006/main">
              <a:ext uri="{FF2B5EF4-FFF2-40B4-BE49-F238E27FC236}">
                <a16:creationId xmlns:a16="http://schemas.microsoft.com/office/drawing/2014/main" id="{4E9191BB-EBA1-4CAA-B306-944AAA8F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</a:t>
            </a:r>
          </a:p>
        </p:txBody>
      </p:sp>
      <p:sp>
        <p:nvSpPr>
          <p:cNvPr id="20" name="p11-detail-4">
            <a:extLst xmlns:a="http://schemas.openxmlformats.org/drawingml/2006/main">
              <a:ext uri="{FF2B5EF4-FFF2-40B4-BE49-F238E27FC236}">
                <a16:creationId xmlns:a16="http://schemas.microsoft.com/office/drawing/2014/main" id="{268894A6-B98F-4B24-B3CB-1DDE580B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commit abc123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21" name="p11-label-5">
            <a:extLst xmlns:a="http://schemas.openxmlformats.org/drawingml/2006/main">
              <a:ext uri="{FF2B5EF4-FFF2-40B4-BE49-F238E27FC236}">
                <a16:creationId xmlns:a16="http://schemas.microsoft.com/office/drawing/2014/main" id="{0C6C9B25-C4EB-4F78-BC7B-2821C3EE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2" name="p11-detail-5">
            <a:extLst xmlns:a="http://schemas.openxmlformats.org/drawingml/2006/main">
              <a:ext uri="{FF2B5EF4-FFF2-40B4-BE49-F238E27FC236}">
                <a16:creationId xmlns:a16="http://schemas.microsoft.com/office/drawing/2014/main" id="{4396F54B-A7E9-4E1B-AAEE-C200EE80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log.jsonl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results.csv</a:t>
            </a:r>
          </a:p>
        </p:txBody>
      </p:sp>
      <p:sp>
        <p:nvSpPr>
          <p:cNvPr id="23" name="p11-def">
            <a:extLst xmlns:a="http://schemas.openxmlformats.org/drawingml/2006/main">
              <a:ext uri="{FF2B5EF4-FFF2-40B4-BE49-F238E27FC236}">
                <a16:creationId xmlns:a16="http://schemas.microsoft.com/office/drawing/2014/main" id="{372620BB-5931-4B94-A66C-5DC70774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600450"/>
            <a:ext cx="8648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另一位研究者｜另一台机器｜同一运行入口｜得到可比结果</a:t>
            </a:r>
          </a:p>
        </p:txBody>
      </p:sp>
      <p:sp>
        <p:nvSpPr>
          <p:cNvPr id="24" name="p11-limit">
            <a:extLst xmlns:a="http://schemas.openxmlformats.org/drawingml/2006/main">
              <a:ext uri="{FF2B5EF4-FFF2-40B4-BE49-F238E27FC236}">
                <a16:creationId xmlns:a16="http://schemas.microsoft.com/office/drawing/2014/main" id="{241F1A7E-5561-426F-8959-E2BAE56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33900"/>
            <a:ext cx="9105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数据限制也要可追溯：许可证、敏感内容、是否允许上传外部 API。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单次运行不能直接写成方法效应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src-0">
            <a:extLst xmlns:a="http://schemas.openxmlformats.org/drawingml/2006/main">
              <a:ext uri="{FF2B5EF4-FFF2-40B4-BE49-F238E27FC236}">
                <a16:creationId xmlns:a16="http://schemas.microsoft.com/office/drawing/2014/main" id="{B8714BB0-6664-46D5-AF50-FFE53865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数据划分</a:t>
            </a:r>
          </a:p>
        </p:txBody>
      </p:sp>
      <p:sp>
        <p:nvSpPr>
          <p:cNvPr id="7" name="p12-src-1">
            <a:extLst xmlns:a="http://schemas.openxmlformats.org/drawingml/2006/main">
              <a:ext uri="{FF2B5EF4-FFF2-40B4-BE49-F238E27FC236}">
                <a16:creationId xmlns:a16="http://schemas.microsoft.com/office/drawing/2014/main" id="{EAB2231C-DA3B-434A-8665-70AF76B2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模型初始化</a:t>
            </a:r>
          </a:p>
        </p:txBody>
      </p:sp>
      <p:sp>
        <p:nvSpPr>
          <p:cNvPr id="8" name="p12-src-2">
            <a:extLst xmlns:a="http://schemas.openxmlformats.org/drawingml/2006/main">
              <a:ext uri="{FF2B5EF4-FFF2-40B4-BE49-F238E27FC236}">
                <a16:creationId xmlns:a16="http://schemas.microsoft.com/office/drawing/2014/main" id="{B834C3DE-2B68-44B0-9EE2-FFDD74FB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采样</a:t>
            </a:r>
          </a:p>
        </p:txBody>
      </p:sp>
      <p:sp>
        <p:nvSpPr>
          <p:cNvPr id="9" name="p12-src-3">
            <a:extLst xmlns:a="http://schemas.openxmlformats.org/drawingml/2006/main">
              <a:ext uri="{FF2B5EF4-FFF2-40B4-BE49-F238E27FC236}">
                <a16:creationId xmlns:a16="http://schemas.microsoft.com/office/drawing/2014/main" id="{945746C8-477D-4C36-9D2E-CCA08D72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解码</a:t>
            </a:r>
          </a:p>
        </p:txBody>
      </p:sp>
      <p:sp>
        <p:nvSpPr>
          <p:cNvPr id="10" name="p12-line-0">
            <a:extLst xmlns:a="http://schemas.openxmlformats.org/drawingml/2006/main">
              <a:ext uri="{FF2B5EF4-FFF2-40B4-BE49-F238E27FC236}">
                <a16:creationId xmlns:a16="http://schemas.microsoft.com/office/drawing/2014/main" id="{2C216FC8-3E34-439A-A65D-05E255A5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line-1">
            <a:extLst xmlns:a="http://schemas.openxmlformats.org/drawingml/2006/main">
              <a:ext uri="{FF2B5EF4-FFF2-40B4-BE49-F238E27FC236}">
                <a16:creationId xmlns:a16="http://schemas.microsoft.com/office/drawing/2014/main" id="{FE547DD9-6476-498A-855C-D5AC3767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9582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2-line-2">
            <a:extLst xmlns:a="http://schemas.openxmlformats.org/drawingml/2006/main">
              <a:ext uri="{FF2B5EF4-FFF2-40B4-BE49-F238E27FC236}">
                <a16:creationId xmlns:a16="http://schemas.microsoft.com/office/drawing/2014/main" id="{9C55E340-651E-4199-8EEB-1278526F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38187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2-line-3">
            <a:extLst xmlns:a="http://schemas.openxmlformats.org/drawingml/2006/main">
              <a:ext uri="{FF2B5EF4-FFF2-40B4-BE49-F238E27FC236}">
                <a16:creationId xmlns:a16="http://schemas.microsoft.com/office/drawing/2014/main" id="{51E73766-FDF3-456E-8025-B4940158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06792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2-finding">
            <a:extLst xmlns:a="http://schemas.openxmlformats.org/drawingml/2006/main">
              <a:ext uri="{FF2B5EF4-FFF2-40B4-BE49-F238E27FC236}">
                <a16:creationId xmlns:a16="http://schemas.microsoft.com/office/drawing/2014/main" id="{EC30B975-9A60-41D8-8892-3716E617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33650"/>
            <a:ext cx="647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单次运行的噪声可能大于方法间差异</a:t>
            </a:r>
          </a:p>
        </p:txBody>
      </p:sp>
      <p:sp>
        <p:nvSpPr>
          <p:cNvPr id="15" name="p12-n-0">
            <a:extLst xmlns:a="http://schemas.openxmlformats.org/drawingml/2006/main">
              <a:ext uri="{FF2B5EF4-FFF2-40B4-BE49-F238E27FC236}">
                <a16:creationId xmlns:a16="http://schemas.microsoft.com/office/drawing/2014/main" id="{82E8EEC4-55EB-4F0F-88D9-3EFD8845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p12-s-0">
            <a:extLst xmlns:a="http://schemas.openxmlformats.org/drawingml/2006/main">
              <a:ext uri="{FF2B5EF4-FFF2-40B4-BE49-F238E27FC236}">
                <a16:creationId xmlns:a16="http://schemas.microsoft.com/office/drawing/2014/main" id="{4F9252A6-B041-4974-89F4-467CC56D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00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记录所有种子来源与具体值</a:t>
            </a:r>
          </a:p>
        </p:txBody>
      </p:sp>
      <p:sp>
        <p:nvSpPr>
          <p:cNvPr id="17" name="p12-n-1">
            <a:extLst xmlns:a="http://schemas.openxmlformats.org/drawingml/2006/main">
              <a:ext uri="{FF2B5EF4-FFF2-40B4-BE49-F238E27FC236}">
                <a16:creationId xmlns:a16="http://schemas.microsoft.com/office/drawing/2014/main" id="{41077ECD-B09B-42DF-A850-AA96D345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p12-s-1">
            <a:extLst xmlns:a="http://schemas.openxmlformats.org/drawingml/2006/main">
              <a:ext uri="{FF2B5EF4-FFF2-40B4-BE49-F238E27FC236}">
                <a16:creationId xmlns:a16="http://schemas.microsoft.com/office/drawing/2014/main" id="{F51F4798-D609-49C6-A2EF-99CA9D85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00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关键比较至少 3 次不同种子</a:t>
            </a:r>
          </a:p>
        </p:txBody>
      </p:sp>
      <p:sp>
        <p:nvSpPr>
          <p:cNvPr id="19" name="p12-n-2">
            <a:extLst xmlns:a="http://schemas.openxmlformats.org/drawingml/2006/main">
              <a:ext uri="{FF2B5EF4-FFF2-40B4-BE49-F238E27FC236}">
                <a16:creationId xmlns:a16="http://schemas.microsoft.com/office/drawing/2014/main" id="{D78C955B-12AB-44AF-9603-88FC8CDC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p12-s-2">
            <a:extLst xmlns:a="http://schemas.openxmlformats.org/drawingml/2006/main">
              <a:ext uri="{FF2B5EF4-FFF2-40B4-BE49-F238E27FC236}">
                <a16:creationId xmlns:a16="http://schemas.microsoft.com/office/drawing/2014/main" id="{C742F75D-F4D2-4C48-A21D-65D1FC2A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386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报告均值与标准差</a:t>
            </a:r>
          </a:p>
        </p:txBody>
      </p:sp>
      <p:sp>
        <p:nvSpPr>
          <p:cNvPr id="21" name="p12-n-3">
            <a:extLst xmlns:a="http://schemas.openxmlformats.org/drawingml/2006/main">
              <a:ext uri="{FF2B5EF4-FFF2-40B4-BE49-F238E27FC236}">
                <a16:creationId xmlns:a16="http://schemas.microsoft.com/office/drawing/2014/main" id="{3386109C-6078-4BD7-9863-A36748E5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p12-s-3">
            <a:extLst xmlns:a="http://schemas.openxmlformats.org/drawingml/2006/main">
              <a:ext uri="{FF2B5EF4-FFF2-40B4-BE49-F238E27FC236}">
                <a16:creationId xmlns:a16="http://schemas.microsoft.com/office/drawing/2014/main" id="{96764B63-87E6-4A98-A920-598E44F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386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只有 1 次时：说明原因，标记待验证</a:t>
            </a:r>
          </a:p>
        </p:txBody>
      </p:sp>
      <p:sp>
        <p:nvSpPr>
          <p:cNvPr id="23" name="p12-bottom">
            <a:extLst xmlns:a="http://schemas.openxmlformats.org/drawingml/2006/main">
              <a:ext uri="{FF2B5EF4-FFF2-40B4-BE49-F238E27FC236}">
                <a16:creationId xmlns:a16="http://schemas.microsoft.com/office/drawing/2014/main" id="{0319D1E8-6B4D-4B40-9DD2-E693445B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57800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把单次差异写成稳定结论，会把种子噪声误当成方法效应。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判断门先做到 documented、consistent、exercisable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l-0">
            <a:extLst xmlns:a="http://schemas.openxmlformats.org/drawingml/2006/main">
              <a:ext uri="{FF2B5EF4-FFF2-40B4-BE49-F238E27FC236}">
                <a16:creationId xmlns:a16="http://schemas.microsoft.com/office/drawing/2014/main" id="{F5B575C1-1329-45E6-B345-A7BB4FEE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documented</a:t>
            </a:r>
          </a:p>
        </p:txBody>
      </p:sp>
      <p:sp>
        <p:nvSpPr>
          <p:cNvPr id="7" name="p13-d-0">
            <a:extLst xmlns:a="http://schemas.openxmlformats.org/drawingml/2006/main">
              <a:ext uri="{FF2B5EF4-FFF2-40B4-BE49-F238E27FC236}">
                <a16:creationId xmlns:a16="http://schemas.microsoft.com/office/drawing/2014/main" id="{39C29C7F-4A0B-4F40-9F39-85787E02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基本运行说明存在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判断门：实验规格</a:t>
            </a:r>
          </a:p>
        </p:txBody>
      </p:sp>
      <p:sp>
        <p:nvSpPr>
          <p:cNvPr id="8" name="p13-l-1">
            <a:extLst xmlns:a="http://schemas.openxmlformats.org/drawingml/2006/main">
              <a:ext uri="{FF2B5EF4-FFF2-40B4-BE49-F238E27FC236}">
                <a16:creationId xmlns:a16="http://schemas.microsoft.com/office/drawing/2014/main" id="{4E2671A9-C7E5-4D6D-9D12-5F00FB39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consistent</a:t>
            </a:r>
          </a:p>
        </p:txBody>
      </p:sp>
      <p:sp>
        <p:nvSpPr>
          <p:cNvPr id="9" name="p13-d-1">
            <a:extLst xmlns:a="http://schemas.openxmlformats.org/drawingml/2006/main">
              <a:ext uri="{FF2B5EF4-FFF2-40B4-BE49-F238E27FC236}">
                <a16:creationId xmlns:a16="http://schemas.microsoft.com/office/drawing/2014/main" id="{C49E0011-EEB4-4F20-A1E4-749E9CB3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说明与代码行为一致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判断门：复现说明 ↔ 代码</a:t>
            </a:r>
          </a:p>
        </p:txBody>
      </p:sp>
      <p:sp>
        <p:nvSpPr>
          <p:cNvPr id="10" name="p13-l-2">
            <a:extLst xmlns:a="http://schemas.openxmlformats.org/drawingml/2006/main">
              <a:ext uri="{FF2B5EF4-FFF2-40B4-BE49-F238E27FC236}">
                <a16:creationId xmlns:a16="http://schemas.microsoft.com/office/drawing/2014/main" id="{0CF1A92A-F677-44BD-B228-B5EFB4DC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exercisable</a:t>
            </a:r>
          </a:p>
        </p:txBody>
      </p:sp>
      <p:sp>
        <p:nvSpPr>
          <p:cNvPr id="11" name="p13-d-2">
            <a:extLst xmlns:a="http://schemas.openxmlformats.org/drawingml/2006/main">
              <a:ext uri="{FF2B5EF4-FFF2-40B4-BE49-F238E27FC236}">
                <a16:creationId xmlns:a16="http://schemas.microsoft.com/office/drawing/2014/main" id="{FAFECCDB-139F-475B-B2C9-9079E751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工件能被独立运行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判断门：可执行 baseline</a:t>
            </a:r>
          </a:p>
        </p:txBody>
      </p:sp>
      <p:sp>
        <p:nvSpPr>
          <p:cNvPr id="12" name="p13-arrow-1">
            <a:extLst xmlns:a="http://schemas.openxmlformats.org/drawingml/2006/main">
              <a:ext uri="{FF2B5EF4-FFF2-40B4-BE49-F238E27FC236}">
                <a16:creationId xmlns:a16="http://schemas.microsoft.com/office/drawing/2014/main" id="{CC4EC26F-176A-465D-A8C9-01820621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25431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-arrow-2">
            <a:extLst xmlns:a="http://schemas.openxmlformats.org/drawingml/2006/main">
              <a:ext uri="{FF2B5EF4-FFF2-40B4-BE49-F238E27FC236}">
                <a16:creationId xmlns:a16="http://schemas.microsoft.com/office/drawing/2014/main" id="{1A9EDB50-9830-40D8-AF07-AFA4F27D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5431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3-higher">
            <a:extLst xmlns:a="http://schemas.openxmlformats.org/drawingml/2006/main">
              <a:ext uri="{FF2B5EF4-FFF2-40B4-BE49-F238E27FC236}">
                <a16:creationId xmlns:a16="http://schemas.microsoft.com/office/drawing/2014/main" id="{0DA4A542-1E1B-4EA7-A5AE-B6AEA518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38600"/>
            <a:ext cx="94869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更高档 complete / available / results validated 留给验证门与论证门，本课不要求。</a:t>
            </a:r>
          </a:p>
        </p:txBody>
      </p:sp>
      <p:sp>
        <p:nvSpPr>
          <p:cNvPr id="15" name="p13-bottom">
            <a:extLst xmlns:a="http://schemas.openxmlformats.org/drawingml/2006/main">
              <a:ext uri="{FF2B5EF4-FFF2-40B4-BE49-F238E27FC236}">
                <a16:creationId xmlns:a16="http://schemas.microsoft.com/office/drawing/2014/main" id="{79D801B1-7CEA-4B3C-BD94-980BF811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143500"/>
            <a:ext cx="662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这些等级是自查视角，不另立课程评分规则。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模板迁移补字段，但不能丢历史记录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map-h-0">
            <a:extLst xmlns:a="http://schemas.openxmlformats.org/drawingml/2006/main">
              <a:ext uri="{FF2B5EF4-FFF2-40B4-BE49-F238E27FC236}">
                <a16:creationId xmlns:a16="http://schemas.microsoft.com/office/drawing/2014/main" id="{D717AEAD-661C-45CC-9220-2AFDAD74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starter 字段</a:t>
            </a:r>
          </a:p>
        </p:txBody>
      </p:sp>
      <p:sp>
        <p:nvSpPr>
          <p:cNvPr id="7" name="p14-map-h-1">
            <a:extLst xmlns:a="http://schemas.openxmlformats.org/drawingml/2006/main">
              <a:ext uri="{FF2B5EF4-FFF2-40B4-BE49-F238E27FC236}">
                <a16:creationId xmlns:a16="http://schemas.microsoft.com/office/drawing/2014/main" id="{A612A0AB-49B1-4C7F-A885-00354E5D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066800"/>
            <a:ext cx="3524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project 位置</a:t>
            </a:r>
          </a:p>
        </p:txBody>
      </p:sp>
      <p:sp>
        <p:nvSpPr>
          <p:cNvPr id="8" name="p14-map-h-2">
            <a:extLst xmlns:a="http://schemas.openxmlformats.org/drawingml/2006/main">
              <a:ext uri="{FF2B5EF4-FFF2-40B4-BE49-F238E27FC236}">
                <a16:creationId xmlns:a16="http://schemas.microsoft.com/office/drawing/2014/main" id="{9A4C1AE9-97BB-48C8-8AF9-EE876BD6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0668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迁移动作</a:t>
            </a:r>
          </a:p>
        </p:txBody>
      </p:sp>
      <p:sp>
        <p:nvSpPr>
          <p:cNvPr id="9" name="p14-map-r0-0">
            <a:extLst xmlns:a="http://schemas.openxmlformats.org/drawingml/2006/main">
              <a:ext uri="{FF2B5EF4-FFF2-40B4-BE49-F238E27FC236}">
                <a16:creationId xmlns:a16="http://schemas.microsoft.com/office/drawing/2014/main" id="{F2FE9FFF-9BAC-4640-B91F-0DE68912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项目概览</a:t>
            </a:r>
          </a:p>
        </p:txBody>
      </p:sp>
      <p:sp>
        <p:nvSpPr>
          <p:cNvPr id="10" name="p14-map-r0-1">
            <a:extLst xmlns:a="http://schemas.openxmlformats.org/drawingml/2006/main">
              <a:ext uri="{FF2B5EF4-FFF2-40B4-BE49-F238E27FC236}">
                <a16:creationId xmlns:a16="http://schemas.microsoft.com/office/drawing/2014/main" id="{6E898482-1602-40A6-BC15-A5FCF389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2400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§1 项目信息</a:t>
            </a:r>
          </a:p>
        </p:txBody>
      </p:sp>
      <p:sp>
        <p:nvSpPr>
          <p:cNvPr id="11" name="p14-map-r0-2">
            <a:extLst xmlns:a="http://schemas.openxmlformats.org/drawingml/2006/main">
              <a:ext uri="{FF2B5EF4-FFF2-40B4-BE49-F238E27FC236}">
                <a16:creationId xmlns:a16="http://schemas.microsoft.com/office/drawing/2014/main" id="{C7EA0B2F-55BA-40E3-A0B3-CF972151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240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补仓库 URL</a:t>
            </a:r>
          </a:p>
        </p:txBody>
      </p:sp>
      <p:sp>
        <p:nvSpPr>
          <p:cNvPr id="12" name="p14-map-r1-0">
            <a:extLst xmlns:a="http://schemas.openxmlformats.org/drawingml/2006/main">
              <a:ext uri="{FF2B5EF4-FFF2-40B4-BE49-F238E27FC236}">
                <a16:creationId xmlns:a16="http://schemas.microsoft.com/office/drawing/2014/main" id="{21B337F9-0F35-4B53-8D02-0EEACF4D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</a:t>
            </a:r>
          </a:p>
        </p:txBody>
      </p:sp>
      <p:sp>
        <p:nvSpPr>
          <p:cNvPr id="13" name="p14-map-r1-1">
            <a:extLst xmlns:a="http://schemas.openxmlformats.org/drawingml/2006/main">
              <a:ext uri="{FF2B5EF4-FFF2-40B4-BE49-F238E27FC236}">
                <a16:creationId xmlns:a16="http://schemas.microsoft.com/office/drawing/2014/main" id="{FD24C9DD-2BB6-41AA-AB27-9B050C02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5265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ai-usage-log.md</a:t>
            </a:r>
          </a:p>
        </p:txBody>
      </p:sp>
      <p:sp>
        <p:nvSpPr>
          <p:cNvPr id="14" name="p14-map-r1-2">
            <a:extLst xmlns:a="http://schemas.openxmlformats.org/drawingml/2006/main">
              <a:ext uri="{FF2B5EF4-FFF2-40B4-BE49-F238E27FC236}">
                <a16:creationId xmlns:a16="http://schemas.microsoft.com/office/drawing/2014/main" id="{0E8C0A1C-EBD3-4D8A-B8DF-5D6211A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526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保留全部条目</a:t>
            </a:r>
          </a:p>
        </p:txBody>
      </p:sp>
      <p:sp>
        <p:nvSpPr>
          <p:cNvPr id="15" name="p14-map-r2-0">
            <a:extLst xmlns:a="http://schemas.openxmlformats.org/drawingml/2006/main">
              <a:ext uri="{FF2B5EF4-FFF2-40B4-BE49-F238E27FC236}">
                <a16:creationId xmlns:a16="http://schemas.microsoft.com/office/drawing/2014/main" id="{5BE0717F-0E24-4F24-AC43-1FF0A912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伦理检查</a:t>
            </a:r>
          </a:p>
        </p:txBody>
      </p:sp>
      <p:sp>
        <p:nvSpPr>
          <p:cNvPr id="16" name="p14-map-r2-1">
            <a:extLst xmlns:a="http://schemas.openxmlformats.org/drawingml/2006/main">
              <a:ext uri="{FF2B5EF4-FFF2-40B4-BE49-F238E27FC236}">
                <a16:creationId xmlns:a16="http://schemas.microsoft.com/office/drawing/2014/main" id="{28E12065-1C97-420F-BD13-0FEB35CA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ethics-and-compliance.md</a:t>
            </a:r>
          </a:p>
        </p:txBody>
      </p:sp>
      <p:sp>
        <p:nvSpPr>
          <p:cNvPr id="17" name="p14-map-r2-2">
            <a:extLst xmlns:a="http://schemas.openxmlformats.org/drawingml/2006/main">
              <a:ext uri="{FF2B5EF4-FFF2-40B4-BE49-F238E27FC236}">
                <a16:creationId xmlns:a16="http://schemas.microsoft.com/office/drawing/2014/main" id="{7DEEAF75-A367-4886-B33F-B74B5B1C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813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补数据使用限制</a:t>
            </a:r>
          </a:p>
        </p:txBody>
      </p:sp>
      <p:sp>
        <p:nvSpPr>
          <p:cNvPr id="18" name="p14-map-r3-0">
            <a:extLst xmlns:a="http://schemas.openxmlformats.org/drawingml/2006/main">
              <a:ext uri="{FF2B5EF4-FFF2-40B4-BE49-F238E27FC236}">
                <a16:creationId xmlns:a16="http://schemas.microsoft.com/office/drawing/2014/main" id="{BD2D2375-786A-400D-9943-7040B5A5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9" name="p14-map-r3-1">
            <a:extLst xmlns:a="http://schemas.openxmlformats.org/drawingml/2006/main">
              <a:ext uri="{FF2B5EF4-FFF2-40B4-BE49-F238E27FC236}">
                <a16:creationId xmlns:a16="http://schemas.microsoft.com/office/drawing/2014/main" id="{CB95ED3E-8C6E-4A54-95CE-AA1EE8FA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0995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§6 Agent Workflow</a:t>
            </a:r>
          </a:p>
        </p:txBody>
      </p:sp>
      <p:sp>
        <p:nvSpPr>
          <p:cNvPr id="20" name="p14-map-r3-2">
            <a:extLst xmlns:a="http://schemas.openxmlformats.org/drawingml/2006/main">
              <a:ext uri="{FF2B5EF4-FFF2-40B4-BE49-F238E27FC236}">
                <a16:creationId xmlns:a16="http://schemas.microsoft.com/office/drawing/2014/main" id="{05110549-B77D-485F-A082-D571C9E4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099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搬当前边界</a:t>
            </a:r>
          </a:p>
        </p:txBody>
      </p:sp>
      <p:sp>
        <p:nvSpPr>
          <p:cNvPr id="21" name="p14-new-title">
            <a:extLst xmlns:a="http://schemas.openxmlformats.org/drawingml/2006/main">
              <a:ext uri="{FF2B5EF4-FFF2-40B4-BE49-F238E27FC236}">
                <a16:creationId xmlns:a16="http://schemas.microsoft.com/office/drawing/2014/main" id="{173D4D58-DE5E-4F77-821D-01E77B45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本课新增</a:t>
            </a:r>
          </a:p>
        </p:txBody>
      </p:sp>
      <p:sp>
        <p:nvSpPr>
          <p:cNvPr id="22" name="p14-new">
            <a:extLst xmlns:a="http://schemas.openxmlformats.org/drawingml/2006/main">
              <a:ext uri="{FF2B5EF4-FFF2-40B4-BE49-F238E27FC236}">
                <a16:creationId xmlns:a16="http://schemas.microsoft.com/office/drawing/2014/main" id="{B4C5482D-3B5E-4392-8C82-96EE5018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48150"/>
            <a:ext cx="8801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§4.2 baseline｜§4.6 七字段规格｜§5 至少两条研究判断｜§7 一行实验记录｜同伴反馈处理</a:t>
            </a:r>
          </a:p>
        </p:txBody>
      </p:sp>
      <p:sp>
        <p:nvSpPr>
          <p:cNvPr id="23" name="p14-bottom">
            <a:extLst xmlns:a="http://schemas.openxmlformats.org/drawingml/2006/main">
              <a:ext uri="{FF2B5EF4-FFF2-40B4-BE49-F238E27FC236}">
                <a16:creationId xmlns:a16="http://schemas.microsoft.com/office/drawing/2014/main" id="{09778A7C-09C4-41BE-AB7C-404B5856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迁移不是重写：补齐新增字段，同时保留第 1-8 课所有记录。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判断门检查当前个人项目版本的八项条件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n-0">
            <a:extLst xmlns:a="http://schemas.openxmlformats.org/drawingml/2006/main">
              <a:ext uri="{FF2B5EF4-FFF2-40B4-BE49-F238E27FC236}">
                <a16:creationId xmlns:a16="http://schemas.microsoft.com/office/drawing/2014/main" id="{52BDAE00-B4E3-4FA3-978C-405E2B55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5-g-0">
            <a:extLst xmlns:a="http://schemas.openxmlformats.org/drawingml/2006/main">
              <a:ext uri="{FF2B5EF4-FFF2-40B4-BE49-F238E27FC236}">
                <a16:creationId xmlns:a16="http://schemas.microsoft.com/office/drawing/2014/main" id="{0DBA15E4-D742-4A90-A029-CB066ABA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906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可执行 baseline 或最小验证原型</a:t>
            </a:r>
          </a:p>
        </p:txBody>
      </p:sp>
      <p:sp>
        <p:nvSpPr>
          <p:cNvPr id="8" name="p15-n-1">
            <a:extLst xmlns:a="http://schemas.openxmlformats.org/drawingml/2006/main">
              <a:ext uri="{FF2B5EF4-FFF2-40B4-BE49-F238E27FC236}">
                <a16:creationId xmlns:a16="http://schemas.microsoft.com/office/drawing/2014/main" id="{55E5B220-E8EA-442E-A41A-95397404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287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15-g-1">
            <a:extLst xmlns:a="http://schemas.openxmlformats.org/drawingml/2006/main">
              <a:ext uri="{FF2B5EF4-FFF2-40B4-BE49-F238E27FC236}">
                <a16:creationId xmlns:a16="http://schemas.microsoft.com/office/drawing/2014/main" id="{FCC21AE3-79CA-40D6-8914-B1F7F223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9906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数据、材料、指标和使用限制</a:t>
            </a:r>
          </a:p>
        </p:txBody>
      </p:sp>
      <p:sp>
        <p:nvSpPr>
          <p:cNvPr id="10" name="p15-n-2">
            <a:extLst xmlns:a="http://schemas.openxmlformats.org/drawingml/2006/main">
              <a:ext uri="{FF2B5EF4-FFF2-40B4-BE49-F238E27FC236}">
                <a16:creationId xmlns:a16="http://schemas.microsoft.com/office/drawing/2014/main" id="{53B3E3E1-06D8-4BC5-A875-AF29F904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15-g-2">
            <a:extLst xmlns:a="http://schemas.openxmlformats.org/drawingml/2006/main">
              <a:ext uri="{FF2B5EF4-FFF2-40B4-BE49-F238E27FC236}">
                <a16:creationId xmlns:a16="http://schemas.microsoft.com/office/drawing/2014/main" id="{9238896E-E172-4EFE-BE21-C15A8C71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621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环境、配置、种子或等价复现条件</a:t>
            </a:r>
          </a:p>
        </p:txBody>
      </p:sp>
      <p:sp>
        <p:nvSpPr>
          <p:cNvPr id="12" name="p15-n-3">
            <a:extLst xmlns:a="http://schemas.openxmlformats.org/drawingml/2006/main">
              <a:ext uri="{FF2B5EF4-FFF2-40B4-BE49-F238E27FC236}">
                <a16:creationId xmlns:a16="http://schemas.microsoft.com/office/drawing/2014/main" id="{50965312-7B7C-4240-968E-56D3DE85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15-g-3">
            <a:extLst xmlns:a="http://schemas.openxmlformats.org/drawingml/2006/main">
              <a:ext uri="{FF2B5EF4-FFF2-40B4-BE49-F238E27FC236}">
                <a16:creationId xmlns:a16="http://schemas.microsoft.com/office/drawing/2014/main" id="{3CFCC917-D3B3-4D2B-A954-A9ABE95E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≥2 条六字段研究判断</a:t>
            </a:r>
          </a:p>
        </p:txBody>
      </p:sp>
      <p:sp>
        <p:nvSpPr>
          <p:cNvPr id="14" name="p15-n-4">
            <a:extLst xmlns:a="http://schemas.openxmlformats.org/drawingml/2006/main">
              <a:ext uri="{FF2B5EF4-FFF2-40B4-BE49-F238E27FC236}">
                <a16:creationId xmlns:a16="http://schemas.microsoft.com/office/drawing/2014/main" id="{35DCBD7A-DF6C-4192-AEFB-2B2335A0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718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15-g-4">
            <a:extLst xmlns:a="http://schemas.openxmlformats.org/drawingml/2006/main">
              <a:ext uri="{FF2B5EF4-FFF2-40B4-BE49-F238E27FC236}">
                <a16:creationId xmlns:a16="http://schemas.microsoft.com/office/drawing/2014/main" id="{BCFFFA34-BD56-4D21-852C-D5841694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337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完整实验规格：假设/变量/步骤/度量/对照/停止</a:t>
            </a:r>
          </a:p>
        </p:txBody>
      </p:sp>
      <p:sp>
        <p:nvSpPr>
          <p:cNvPr id="16" name="p15-n-5">
            <a:extLst xmlns:a="http://schemas.openxmlformats.org/drawingml/2006/main">
              <a:ext uri="{FF2B5EF4-FFF2-40B4-BE49-F238E27FC236}">
                <a16:creationId xmlns:a16="http://schemas.microsoft.com/office/drawing/2014/main" id="{7DD01C41-ED0C-473C-908C-43D5DEB4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15-g-5">
            <a:extLst xmlns:a="http://schemas.openxmlformats.org/drawingml/2006/main">
              <a:ext uri="{FF2B5EF4-FFF2-40B4-BE49-F238E27FC236}">
                <a16:creationId xmlns:a16="http://schemas.microsoft.com/office/drawing/2014/main" id="{3190B755-201E-4B3C-89CB-0020BE7E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337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课同伴反馈处理记录</a:t>
            </a:r>
          </a:p>
        </p:txBody>
      </p:sp>
      <p:sp>
        <p:nvSpPr>
          <p:cNvPr id="18" name="p15-n-6">
            <a:extLst xmlns:a="http://schemas.openxmlformats.org/drawingml/2006/main">
              <a:ext uri="{FF2B5EF4-FFF2-40B4-BE49-F238E27FC236}">
                <a16:creationId xmlns:a16="http://schemas.microsoft.com/office/drawing/2014/main" id="{4448C351-4378-440F-B87C-A030E188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p15-g-6">
            <a:extLst xmlns:a="http://schemas.openxmlformats.org/drawingml/2006/main">
              <a:ext uri="{FF2B5EF4-FFF2-40B4-BE49-F238E27FC236}">
                <a16:creationId xmlns:a16="http://schemas.microsoft.com/office/drawing/2014/main" id="{6A929B13-E30D-42D6-B444-7E8AC9EF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052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当前最大风险和失败预案</a:t>
            </a:r>
          </a:p>
        </p:txBody>
      </p:sp>
      <p:sp>
        <p:nvSpPr>
          <p:cNvPr id="20" name="p15-n-7">
            <a:extLst xmlns:a="http://schemas.openxmlformats.org/drawingml/2006/main">
              <a:ext uri="{FF2B5EF4-FFF2-40B4-BE49-F238E27FC236}">
                <a16:creationId xmlns:a16="http://schemas.microsoft.com/office/drawing/2014/main" id="{9EE85293-4D4D-4DBF-8A25-5B003FBA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433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1" name="p15-g-7">
            <a:extLst xmlns:a="http://schemas.openxmlformats.org/drawingml/2006/main">
              <a:ext uri="{FF2B5EF4-FFF2-40B4-BE49-F238E27FC236}">
                <a16:creationId xmlns:a16="http://schemas.microsoft.com/office/drawing/2014/main" id="{1B105996-AFE7-43DF-9D83-2A4A270D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052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迁移完整模板且不丢 AI/伦理记录</a:t>
            </a:r>
          </a:p>
        </p:txBody>
      </p:sp>
      <p:sp>
        <p:nvSpPr>
          <p:cNvPr id="22" name="p15-scope">
            <a:extLst xmlns:a="http://schemas.openxmlformats.org/drawingml/2006/main">
              <a:ext uri="{FF2B5EF4-FFF2-40B4-BE49-F238E27FC236}">
                <a16:creationId xmlns:a16="http://schemas.microsoft.com/office/drawing/2014/main" id="{6D531A7E-3D51-4CE2-A5CC-3AB917F1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91100"/>
            <a:ext cx="6705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本课重点补全：1 / 2 / 3 / 5 / 7｜整理：4 / 6 / 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J2 把 baseline 取舍和同伴反馈写进判断记录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j2-title">
            <a:extLst xmlns:a="http://schemas.openxmlformats.org/drawingml/2006/main">
              <a:ext uri="{FF2B5EF4-FFF2-40B4-BE49-F238E27FC236}">
                <a16:creationId xmlns:a16="http://schemas.microsoft.com/office/drawing/2014/main" id="{45A4202D-91E7-4AC6-AEF9-BE36DA3C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636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J2：选择朴素 baseline，而不是强 baseline</a:t>
            </a:r>
          </a:p>
        </p:txBody>
      </p:sp>
      <p:sp>
        <p:nvSpPr>
          <p:cNvPr id="7" name="p16-j2-h-0">
            <a:extLst xmlns:a="http://schemas.openxmlformats.org/drawingml/2006/main">
              <a:ext uri="{FF2B5EF4-FFF2-40B4-BE49-F238E27FC236}">
                <a16:creationId xmlns:a16="http://schemas.microsoft.com/office/drawing/2014/main" id="{2FD79501-01D3-48D0-BCFD-B83BBA6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8" name="p16-j2-h-1">
            <a:extLst xmlns:a="http://schemas.openxmlformats.org/drawingml/2006/main">
              <a:ext uri="{FF2B5EF4-FFF2-40B4-BE49-F238E27FC236}">
                <a16:creationId xmlns:a16="http://schemas.microsoft.com/office/drawing/2014/main" id="{BBA15E23-B8B0-4EDB-AE30-A6F2E6DF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5735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9" name="p16-j2-r0-0">
            <a:extLst xmlns:a="http://schemas.openxmlformats.org/drawingml/2006/main">
              <a:ext uri="{FF2B5EF4-FFF2-40B4-BE49-F238E27FC236}">
                <a16:creationId xmlns:a16="http://schemas.microsoft.com/office/drawing/2014/main" id="{7022CB12-6F68-4D53-B153-54D957FD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取舍理由</a:t>
            </a:r>
          </a:p>
        </p:txBody>
      </p:sp>
      <p:sp>
        <p:nvSpPr>
          <p:cNvPr id="10" name="p16-j2-r0-1">
            <a:extLst xmlns:a="http://schemas.openxmlformats.org/drawingml/2006/main">
              <a:ext uri="{FF2B5EF4-FFF2-40B4-BE49-F238E27FC236}">
                <a16:creationId xmlns:a16="http://schemas.microsoft.com/office/drawing/2014/main" id="{27085893-6D13-4FEC-927C-E4C44CC2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764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 baseline 需要外部 prompt 集，超出周期</a:t>
            </a:r>
          </a:p>
        </p:txBody>
      </p:sp>
      <p:sp>
        <p:nvSpPr>
          <p:cNvPr id="11" name="p16-j2-r1-0">
            <a:extLst xmlns:a="http://schemas.openxmlformats.org/drawingml/2006/main">
              <a:ext uri="{FF2B5EF4-FFF2-40B4-BE49-F238E27FC236}">
                <a16:creationId xmlns:a16="http://schemas.microsoft.com/office/drawing/2014/main" id="{0AC0F83D-96ED-4F1B-808B-C9D3D797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12" name="p16-j2-r1-1">
            <a:extLst xmlns:a="http://schemas.openxmlformats.org/drawingml/2006/main">
              <a:ext uri="{FF2B5EF4-FFF2-40B4-BE49-F238E27FC236}">
                <a16:creationId xmlns:a16="http://schemas.microsoft.com/office/drawing/2014/main" id="{A1C20F4F-7D0A-4743-B9BB-FE086C7A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289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只支持字段约束 vs 无约束</a:t>
            </a:r>
          </a:p>
        </p:txBody>
      </p:sp>
      <p:sp>
        <p:nvSpPr>
          <p:cNvPr id="13" name="p16-j2-r2-0">
            <a:extLst xmlns:a="http://schemas.openxmlformats.org/drawingml/2006/main">
              <a:ext uri="{FF2B5EF4-FFF2-40B4-BE49-F238E27FC236}">
                <a16:creationId xmlns:a16="http://schemas.microsoft.com/office/drawing/2014/main" id="{A12D1872-69CD-4A59-899E-310A1343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4" name="p16-j2-r2-1">
            <a:extLst xmlns:a="http://schemas.openxmlformats.org/drawingml/2006/main">
              <a:ext uri="{FF2B5EF4-FFF2-40B4-BE49-F238E27FC236}">
                <a16:creationId xmlns:a16="http://schemas.microsoft.com/office/drawing/2014/main" id="{F0024579-0E62-47BB-BCD1-E1E6B92E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813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 + 主张必须定位原文</a:t>
            </a:r>
          </a:p>
        </p:txBody>
      </p:sp>
      <p:sp>
        <p:nvSpPr>
          <p:cNvPr id="15" name="p16-j2-r3-0">
            <a:extLst xmlns:a="http://schemas.openxmlformats.org/drawingml/2006/main">
              <a:ext uri="{FF2B5EF4-FFF2-40B4-BE49-F238E27FC236}">
                <a16:creationId xmlns:a16="http://schemas.microsoft.com/office/drawing/2014/main" id="{21E68B4E-F148-4AB8-AEEA-ECAAFC57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16" name="p16-j2-r3-1">
            <a:extLst xmlns:a="http://schemas.openxmlformats.org/drawingml/2006/main">
              <a:ext uri="{FF2B5EF4-FFF2-40B4-BE49-F238E27FC236}">
                <a16:creationId xmlns:a16="http://schemas.microsoft.com/office/drawing/2014/main" id="{FDF7ACFA-87BD-4B66-A65B-03AE57F7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338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 baseline 留作后续工作</a:t>
            </a:r>
          </a:p>
        </p:txBody>
      </p:sp>
      <p:sp>
        <p:nvSpPr>
          <p:cNvPr id="17" name="p16-j2-r4-0">
            <a:extLst xmlns:a="http://schemas.openxmlformats.org/drawingml/2006/main">
              <a:ext uri="{FF2B5EF4-FFF2-40B4-BE49-F238E27FC236}">
                <a16:creationId xmlns:a16="http://schemas.microsoft.com/office/drawing/2014/main" id="{C6370992-CC64-40FA-A33B-638FD61D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</p:txBody>
      </p:sp>
      <p:sp>
        <p:nvSpPr>
          <p:cNvPr id="18" name="p16-j2-r4-1">
            <a:extLst xmlns:a="http://schemas.openxmlformats.org/drawingml/2006/main">
              <a:ext uri="{FF2B5EF4-FFF2-40B4-BE49-F238E27FC236}">
                <a16:creationId xmlns:a16="http://schemas.microsoft.com/office/drawing/2014/main" id="{9F99DC8D-2413-4592-B0CC-64949519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862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实验规格：对照 + 失败预案</a:t>
            </a:r>
          </a:p>
        </p:txBody>
      </p:sp>
      <p:sp>
        <p:nvSpPr>
          <p:cNvPr id="19" name="p16-peer-title">
            <a:extLst xmlns:a="http://schemas.openxmlformats.org/drawingml/2006/main">
              <a:ext uri="{FF2B5EF4-FFF2-40B4-BE49-F238E27FC236}">
                <a16:creationId xmlns:a16="http://schemas.microsoft.com/office/drawing/2014/main" id="{9C07D848-309A-44CC-91AC-841E6C74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096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同伴反馈处理</a:t>
            </a:r>
          </a:p>
        </p:txBody>
      </p:sp>
      <p:sp>
        <p:nvSpPr>
          <p:cNvPr id="20" name="p16-f-0">
            <a:extLst xmlns:a="http://schemas.openxmlformats.org/drawingml/2006/main">
              <a:ext uri="{FF2B5EF4-FFF2-40B4-BE49-F238E27FC236}">
                <a16:creationId xmlns:a16="http://schemas.microsoft.com/office/drawing/2014/main" id="{9F54C485-5744-4272-9CEB-E72732F6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7335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增加强 baseline</a:t>
            </a:r>
          </a:p>
        </p:txBody>
      </p:sp>
      <p:sp>
        <p:nvSpPr>
          <p:cNvPr id="21" name="p16-s-0">
            <a:extLst xmlns:a="http://schemas.openxmlformats.org/drawingml/2006/main">
              <a:ext uri="{FF2B5EF4-FFF2-40B4-BE49-F238E27FC236}">
                <a16:creationId xmlns:a16="http://schemas.microsoft.com/office/drawing/2014/main" id="{F41BAA9B-C7EC-4B5B-878A-0FAC7AE7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335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拒绝｜超出周期</a:t>
            </a:r>
          </a:p>
        </p:txBody>
      </p:sp>
      <p:sp>
        <p:nvSpPr>
          <p:cNvPr id="22" name="p16-f-1">
            <a:extLst xmlns:a="http://schemas.openxmlformats.org/drawingml/2006/main">
              <a:ext uri="{FF2B5EF4-FFF2-40B4-BE49-F238E27FC236}">
                <a16:creationId xmlns:a16="http://schemas.microsoft.com/office/drawing/2014/main" id="{9313E240-6A23-4CF7-A202-8F2A16A1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报告方差</a:t>
            </a:r>
          </a:p>
        </p:txBody>
      </p:sp>
      <p:sp>
        <p:nvSpPr>
          <p:cNvPr id="23" name="p16-s-1">
            <a:extLst xmlns:a="http://schemas.openxmlformats.org/drawingml/2006/main">
              <a:ext uri="{FF2B5EF4-FFF2-40B4-BE49-F238E27FC236}">
                <a16:creationId xmlns:a16="http://schemas.microsoft.com/office/drawing/2014/main" id="{E8927455-40AE-413C-95F2-78B6A885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670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采纳｜3 次 + 标准差</a:t>
            </a:r>
          </a:p>
        </p:txBody>
      </p:sp>
      <p:sp>
        <p:nvSpPr>
          <p:cNvPr id="24" name="p16-f-2">
            <a:extLst xmlns:a="http://schemas.openxmlformats.org/drawingml/2006/main">
              <a:ext uri="{FF2B5EF4-FFF2-40B4-BE49-F238E27FC236}">
                <a16:creationId xmlns:a16="http://schemas.microsoft.com/office/drawing/2014/main" id="{463381B4-3466-4DC5-AC74-0A2BB375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004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样本量过小</a:t>
            </a:r>
          </a:p>
        </p:txBody>
      </p:sp>
      <p:sp>
        <p:nvSpPr>
          <p:cNvPr id="25" name="p16-s-2">
            <a:extLst xmlns:a="http://schemas.openxmlformats.org/drawingml/2006/main">
              <a:ext uri="{FF2B5EF4-FFF2-40B4-BE49-F238E27FC236}">
                <a16:creationId xmlns:a16="http://schemas.microsoft.com/office/drawing/2014/main" id="{7B25CD1E-44DE-47D7-A90E-A8AD3A2B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04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暂缓｜小样本初步证据</a:t>
            </a:r>
          </a:p>
        </p:txBody>
      </p:sp>
      <p:sp>
        <p:nvSpPr>
          <p:cNvPr id="26" name="p16-bottom">
            <a:extLst xmlns:a="http://schemas.openxmlformats.org/drawingml/2006/main">
              <a:ext uri="{FF2B5EF4-FFF2-40B4-BE49-F238E27FC236}">
                <a16:creationId xmlns:a16="http://schemas.microsoft.com/office/drawing/2014/main" id="{98CA791E-37F4-440D-B8D1-5F849567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29200"/>
            <a:ext cx="868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拒绝反馈也必须写依据；作者保留决定权，但决定必须可追溯。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个人实践：启动判断门材料的最小闭环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7F78CEBD-4B93-4B01-A5B5-39EEFAF0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8572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52:00–60:00｜启动个人补全</a:t>
            </a:r>
          </a:p>
        </p:txBody>
      </p:sp>
      <p:sp>
        <p:nvSpPr>
          <p:cNvPr id="7" name="p17-n-0">
            <a:extLst xmlns:a="http://schemas.openxmlformats.org/drawingml/2006/main">
              <a:ext uri="{FF2B5EF4-FFF2-40B4-BE49-F238E27FC236}">
                <a16:creationId xmlns:a16="http://schemas.microsoft.com/office/drawing/2014/main" id="{E7168834-DC6D-4EC1-B295-8705E8DF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7-t-0">
            <a:extLst xmlns:a="http://schemas.openxmlformats.org/drawingml/2006/main">
              <a:ext uri="{FF2B5EF4-FFF2-40B4-BE49-F238E27FC236}">
                <a16:creationId xmlns:a16="http://schemas.microsoft.com/office/drawing/2014/main" id="{642B275A-EB71-4E56-9450-B58D455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2001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 baseline：类型 + 公平性</a:t>
            </a:r>
          </a:p>
        </p:txBody>
      </p:sp>
      <p:sp>
        <p:nvSpPr>
          <p:cNvPr id="9" name="p17-n-1">
            <a:extLst xmlns:a="http://schemas.openxmlformats.org/drawingml/2006/main">
              <a:ext uri="{FF2B5EF4-FFF2-40B4-BE49-F238E27FC236}">
                <a16:creationId xmlns:a16="http://schemas.microsoft.com/office/drawing/2014/main" id="{7574F507-6DEB-4639-8480-3114599B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7-t-1">
            <a:extLst xmlns:a="http://schemas.openxmlformats.org/drawingml/2006/main">
              <a:ext uri="{FF2B5EF4-FFF2-40B4-BE49-F238E27FC236}">
                <a16:creationId xmlns:a16="http://schemas.microsoft.com/office/drawing/2014/main" id="{19D5170F-4239-496B-9EAF-FF5C32A3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001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补七字段：停止、随机化、失败预案</a:t>
            </a:r>
          </a:p>
        </p:txBody>
      </p:sp>
      <p:sp>
        <p:nvSpPr>
          <p:cNvPr id="11" name="p17-n-2">
            <a:extLst xmlns:a="http://schemas.openxmlformats.org/drawingml/2006/main">
              <a:ext uri="{FF2B5EF4-FFF2-40B4-BE49-F238E27FC236}">
                <a16:creationId xmlns:a16="http://schemas.microsoft.com/office/drawing/2014/main" id="{19A1D08E-38EE-45BF-A80A-0F8CF45A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19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7-t-2">
            <a:extLst xmlns:a="http://schemas.openxmlformats.org/drawingml/2006/main">
              <a:ext uri="{FF2B5EF4-FFF2-40B4-BE49-F238E27FC236}">
                <a16:creationId xmlns:a16="http://schemas.microsoft.com/office/drawing/2014/main" id="{87531649-AA36-4554-99C8-6566B8FA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193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写六类复现说明：齐到种子</a:t>
            </a:r>
          </a:p>
        </p:txBody>
      </p:sp>
      <p:sp>
        <p:nvSpPr>
          <p:cNvPr id="13" name="p17-n-3">
            <a:extLst xmlns:a="http://schemas.openxmlformats.org/drawingml/2006/main">
              <a:ext uri="{FF2B5EF4-FFF2-40B4-BE49-F238E27FC236}">
                <a16:creationId xmlns:a16="http://schemas.microsoft.com/office/drawing/2014/main" id="{7A5E4669-6BF4-485E-959F-E1A91D34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7-t-3">
            <a:extLst xmlns:a="http://schemas.openxmlformats.org/drawingml/2006/main">
              <a:ext uri="{FF2B5EF4-FFF2-40B4-BE49-F238E27FC236}">
                <a16:creationId xmlns:a16="http://schemas.microsoft.com/office/drawing/2014/main" id="{4AD2D70A-8440-4C77-8E00-1E7884C0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193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关键比较 ≥3 次，或说明为何 1 次</a:t>
            </a:r>
          </a:p>
        </p:txBody>
      </p:sp>
      <p:sp>
        <p:nvSpPr>
          <p:cNvPr id="15" name="p17-n-4">
            <a:extLst xmlns:a="http://schemas.openxmlformats.org/drawingml/2006/main">
              <a:ext uri="{FF2B5EF4-FFF2-40B4-BE49-F238E27FC236}">
                <a16:creationId xmlns:a16="http://schemas.microsoft.com/office/drawing/2014/main" id="{0CB16DEB-ADA6-4C0F-9A11-14B6E448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38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7-t-4">
            <a:extLst xmlns:a="http://schemas.openxmlformats.org/drawingml/2006/main">
              <a:ext uri="{FF2B5EF4-FFF2-40B4-BE49-F238E27FC236}">
                <a16:creationId xmlns:a16="http://schemas.microsoft.com/office/drawing/2014/main" id="{0F939864-88B4-4618-B01E-F6EA1A1A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J2 六字段</a:t>
            </a:r>
          </a:p>
        </p:txBody>
      </p:sp>
      <p:sp>
        <p:nvSpPr>
          <p:cNvPr id="17" name="p17-n-5">
            <a:extLst xmlns:a="http://schemas.openxmlformats.org/drawingml/2006/main">
              <a:ext uri="{FF2B5EF4-FFF2-40B4-BE49-F238E27FC236}">
                <a16:creationId xmlns:a16="http://schemas.microsoft.com/office/drawing/2014/main" id="{CAFA0421-CAAC-4BD1-9728-A131F418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7-t-5">
            <a:extLst xmlns:a="http://schemas.openxmlformats.org/drawingml/2006/main">
              <a:ext uri="{FF2B5EF4-FFF2-40B4-BE49-F238E27FC236}">
                <a16:creationId xmlns:a16="http://schemas.microsoft.com/office/drawing/2014/main" id="{F6AB0142-12CE-4FC0-B480-4D0B812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38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反馈逐条采纳 / 拒绝 / 暂缓</a:t>
            </a:r>
          </a:p>
        </p:txBody>
      </p:sp>
      <p:sp>
        <p:nvSpPr>
          <p:cNvPr id="19" name="p17-n-6">
            <a:extLst xmlns:a="http://schemas.openxmlformats.org/drawingml/2006/main">
              <a:ext uri="{FF2B5EF4-FFF2-40B4-BE49-F238E27FC236}">
                <a16:creationId xmlns:a16="http://schemas.microsoft.com/office/drawing/2014/main" id="{A1821CEA-2FF0-4427-968E-5E982088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p17-t-6">
            <a:extLst xmlns:a="http://schemas.openxmlformats.org/drawingml/2006/main">
              <a:ext uri="{FF2B5EF4-FFF2-40B4-BE49-F238E27FC236}">
                <a16:creationId xmlns:a16="http://schemas.microsoft.com/office/drawing/2014/main" id="{7685C5F6-C402-49DB-815C-7E10F23B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启动模板迁移，不丢 AI 记录</a:t>
            </a:r>
          </a:p>
        </p:txBody>
      </p:sp>
      <p:sp>
        <p:nvSpPr>
          <p:cNvPr id="21" name="p17-n-7">
            <a:extLst xmlns:a="http://schemas.openxmlformats.org/drawingml/2006/main">
              <a:ext uri="{FF2B5EF4-FFF2-40B4-BE49-F238E27FC236}">
                <a16:creationId xmlns:a16="http://schemas.microsoft.com/office/drawing/2014/main" id="{605A33B7-6EA7-4056-89D8-6AE4BD92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57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p17-t-7">
            <a:extLst xmlns:a="http://schemas.openxmlformats.org/drawingml/2006/main">
              <a:ext uri="{FF2B5EF4-FFF2-40B4-BE49-F238E27FC236}">
                <a16:creationId xmlns:a16="http://schemas.microsoft.com/office/drawing/2014/main" id="{D88D33DE-C3B5-4B1B-94D3-D7FDFFBF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对照八项门条件标状态</a:t>
            </a:r>
          </a:p>
        </p:txBody>
      </p:sp>
      <p:sp>
        <p:nvSpPr>
          <p:cNvPr id="23" name="p17-path">
            <a:extLst xmlns:a="http://schemas.openxmlformats.org/drawingml/2006/main">
              <a:ext uri="{FF2B5EF4-FFF2-40B4-BE49-F238E27FC236}">
                <a16:creationId xmlns:a16="http://schemas.microsoft.com/office/drawing/2014/main" id="{8AD8D882-EB83-4789-ADF8-C23A6A1F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743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优先顺序：本人真实项目 → 贯穿案例</a:t>
            </a:r>
          </a:p>
        </p:txBody>
      </p:sp>
      <p:sp>
        <p:nvSpPr>
          <p:cNvPr id="24" name="p17-files">
            <a:extLst xmlns:a="http://schemas.openxmlformats.org/drawingml/2006/main">
              <a:ext uri="{FF2B5EF4-FFF2-40B4-BE49-F238E27FC236}">
                <a16:creationId xmlns:a16="http://schemas.microsoft.com/office/drawing/2014/main" id="{8739DBC2-B6D5-4BF1-89D6-891AAFE7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14850"/>
            <a:ext cx="5676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写入：experiment-spec.md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hypothesis-and-judgment.md｜peer-review.md</a:t>
            </a:r>
          </a:p>
        </p:txBody>
      </p:sp>
      <p:sp>
        <p:nvSpPr>
          <p:cNvPr id="25" name="p17-fallback">
            <a:extLst xmlns:a="http://schemas.openxmlformats.org/drawingml/2006/main">
              <a:ext uri="{FF2B5EF4-FFF2-40B4-BE49-F238E27FC236}">
                <a16:creationId xmlns:a16="http://schemas.microsoft.com/office/drawing/2014/main" id="{626723E8-DEF5-4505-B6BD-0234A774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无真实草图：沿用贯穿案例；无网络：在 Markdown 或纸面完成同一工件。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迁移验收要同时看工件状态与文件结构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time">
            <a:extLst xmlns:a="http://schemas.openxmlformats.org/drawingml/2006/main">
              <a:ext uri="{FF2B5EF4-FFF2-40B4-BE49-F238E27FC236}">
                <a16:creationId xmlns:a16="http://schemas.microsoft.com/office/drawing/2014/main" id="{DC93A4B5-4537-4641-A166-89E18DCA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56:00–60:00｜实践停留页</a:t>
            </a:r>
          </a:p>
        </p:txBody>
      </p:sp>
      <p:sp>
        <p:nvSpPr>
          <p:cNvPr id="7" name="p18-check-title">
            <a:extLst xmlns:a="http://schemas.openxmlformats.org/drawingml/2006/main">
              <a:ext uri="{FF2B5EF4-FFF2-40B4-BE49-F238E27FC236}">
                <a16:creationId xmlns:a16="http://schemas.microsoft.com/office/drawing/2014/main" id="{7E10E114-D05A-42FF-99D8-1A2111E8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287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迁移验收</a:t>
            </a:r>
          </a:p>
        </p:txBody>
      </p:sp>
      <p:sp>
        <p:nvSpPr>
          <p:cNvPr id="8" name="p18-c-0">
            <a:extLst xmlns:a="http://schemas.openxmlformats.org/drawingml/2006/main">
              <a:ext uri="{FF2B5EF4-FFF2-40B4-BE49-F238E27FC236}">
                <a16:creationId xmlns:a16="http://schemas.microsoft.com/office/drawing/2014/main" id="{0654B100-ABE7-4013-9D73-A143CEBA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9" name="p18-t-0">
            <a:extLst xmlns:a="http://schemas.openxmlformats.org/drawingml/2006/main">
              <a:ext uri="{FF2B5EF4-FFF2-40B4-BE49-F238E27FC236}">
                <a16:creationId xmlns:a16="http://schemas.microsoft.com/office/drawing/2014/main" id="{55787CCA-D528-45B5-A26F-93DD1D08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002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approved / stable 字段都有对应位置</a:t>
            </a:r>
          </a:p>
        </p:txBody>
      </p:sp>
      <p:sp>
        <p:nvSpPr>
          <p:cNvPr id="10" name="p18-c-1">
            <a:extLst xmlns:a="http://schemas.openxmlformats.org/drawingml/2006/main">
              <a:ext uri="{FF2B5EF4-FFF2-40B4-BE49-F238E27FC236}">
                <a16:creationId xmlns:a16="http://schemas.microsoft.com/office/drawing/2014/main" id="{412E08B2-BEB5-423C-ABA9-6585CBC3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1" name="p18-t-1">
            <a:extLst xmlns:a="http://schemas.openxmlformats.org/drawingml/2006/main">
              <a:ext uri="{FF2B5EF4-FFF2-40B4-BE49-F238E27FC236}">
                <a16:creationId xmlns:a16="http://schemas.microsoft.com/office/drawing/2014/main" id="{B60601C8-37BF-43B6-A017-FA6DF89A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使用记录条目不减少</a:t>
            </a:r>
          </a:p>
        </p:txBody>
      </p:sp>
      <p:sp>
        <p:nvSpPr>
          <p:cNvPr id="12" name="p18-c-2">
            <a:extLst xmlns:a="http://schemas.openxmlformats.org/drawingml/2006/main">
              <a:ext uri="{FF2B5EF4-FFF2-40B4-BE49-F238E27FC236}">
                <a16:creationId xmlns:a16="http://schemas.microsoft.com/office/drawing/2014/main" id="{0FFAA00B-1811-458C-9A4E-44D59B12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p18-t-2">
            <a:extLst xmlns:a="http://schemas.openxmlformats.org/drawingml/2006/main">
              <a:ext uri="{FF2B5EF4-FFF2-40B4-BE49-F238E27FC236}">
                <a16:creationId xmlns:a16="http://schemas.microsoft.com/office/drawing/2014/main" id="{ADEEE05F-EA4A-4815-AD18-48A7ABF6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718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伦理说明含数据使用限制</a:t>
            </a:r>
          </a:p>
        </p:txBody>
      </p:sp>
      <p:sp>
        <p:nvSpPr>
          <p:cNvPr id="14" name="p18-c-3">
            <a:extLst xmlns:a="http://schemas.openxmlformats.org/drawingml/2006/main">
              <a:ext uri="{FF2B5EF4-FFF2-40B4-BE49-F238E27FC236}">
                <a16:creationId xmlns:a16="http://schemas.microsoft.com/office/drawing/2014/main" id="{65AD6238-6763-4100-A37E-2DD00888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5" name="p18-t-3">
            <a:extLst xmlns:a="http://schemas.openxmlformats.org/drawingml/2006/main">
              <a:ext uri="{FF2B5EF4-FFF2-40B4-BE49-F238E27FC236}">
                <a16:creationId xmlns:a16="http://schemas.microsoft.com/office/drawing/2014/main" id="{0E49C347-E0E9-4572-B141-21E51629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576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判断门工件到 review / approved</a:t>
            </a:r>
          </a:p>
        </p:txBody>
      </p:sp>
      <p:sp>
        <p:nvSpPr>
          <p:cNvPr id="16" name="p18-c-4">
            <a:extLst xmlns:a="http://schemas.openxmlformats.org/drawingml/2006/main">
              <a:ext uri="{FF2B5EF4-FFF2-40B4-BE49-F238E27FC236}">
                <a16:creationId xmlns:a16="http://schemas.microsoft.com/office/drawing/2014/main" id="{A7C79C5E-93C2-4093-BD40-98C8C44A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7" name="p18-t-4">
            <a:extLst xmlns:a="http://schemas.openxmlformats.org/drawingml/2006/main">
              <a:ext uri="{FF2B5EF4-FFF2-40B4-BE49-F238E27FC236}">
                <a16:creationId xmlns:a16="http://schemas.microsoft.com/office/drawing/2014/main" id="{6DAA8364-815C-4C05-95D0-7D4E3FE3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434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实验记录至少 1 行可追溯</a:t>
            </a:r>
          </a:p>
        </p:txBody>
      </p:sp>
      <p:sp>
        <p:nvSpPr>
          <p:cNvPr id="18" name="p18-tree-title">
            <a:extLst xmlns:a="http://schemas.openxmlformats.org/drawingml/2006/main">
              <a:ext uri="{FF2B5EF4-FFF2-40B4-BE49-F238E27FC236}">
                <a16:creationId xmlns:a16="http://schemas.microsoft.com/office/drawing/2014/main" id="{D715F09C-5AD0-481C-BEF3-B8CD68BB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028700"/>
            <a:ext cx="441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判断门材料骨架</a:t>
            </a:r>
          </a:p>
        </p:txBody>
      </p:sp>
      <p:sp>
        <p:nvSpPr>
          <p:cNvPr id="19" name="p18-tree">
            <a:extLst xmlns:a="http://schemas.openxmlformats.org/drawingml/2006/main">
              <a:ext uri="{FF2B5EF4-FFF2-40B4-BE49-F238E27FC236}">
                <a16:creationId xmlns:a16="http://schemas.microsoft.com/office/drawing/2014/main" id="{47E96D23-7A94-4C9F-859E-E88D4357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19250"/>
            <a:ext cx="46291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76200" rIns="114300" bIns="76200" anchor="ctr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project/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README.md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problem-definition.md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proposal.md / evidence-map.md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hypothesis-and-judgment.md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experiment-spec.md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ai-usage-log.md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ethics-and-compliance.md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artifact-tracking.md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peer-review.md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src/  experiments/  notes/</a:t>
            </a:r>
          </a:p>
        </p:txBody>
      </p:sp>
      <p:sp>
        <p:nvSpPr>
          <p:cNvPr id="20" name="p18-bottom">
            <a:extLst xmlns:a="http://schemas.openxmlformats.org/drawingml/2006/main">
              <a:ext uri="{FF2B5EF4-FFF2-40B4-BE49-F238E27FC236}">
                <a16:creationId xmlns:a16="http://schemas.microsoft.com/office/drawing/2014/main" id="{9F4838BB-C664-43FA-9455-18F0C101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86350"/>
            <a:ext cx="8115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使用记录最小字段：工具/模型｜用途｜Context｜输出用途｜人工核验｜问题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同伴只按门条件提问题，作者保留决定权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time">
            <a:extLst xmlns:a="http://schemas.openxmlformats.org/drawingml/2006/main">
              <a:ext uri="{FF2B5EF4-FFF2-40B4-BE49-F238E27FC236}">
                <a16:creationId xmlns:a16="http://schemas.microsoft.com/office/drawing/2014/main" id="{7DE1E884-B612-41FF-9AC3-05EA8CCA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60:00–78:00｜2–3 人互查</a:t>
            </a:r>
          </a:p>
        </p:txBody>
      </p:sp>
      <p:sp>
        <p:nvSpPr>
          <p:cNvPr id="7" name="p19-n-0">
            <a:extLst xmlns:a="http://schemas.openxmlformats.org/drawingml/2006/main">
              <a:ext uri="{FF2B5EF4-FFF2-40B4-BE49-F238E27FC236}">
                <a16:creationId xmlns:a16="http://schemas.microsoft.com/office/drawing/2014/main" id="{AA6865D7-0D73-4C3A-B8CE-C1919775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9-q-0">
            <a:extLst xmlns:a="http://schemas.openxmlformats.org/drawingml/2006/main">
              <a:ext uri="{FF2B5EF4-FFF2-40B4-BE49-F238E27FC236}">
                <a16:creationId xmlns:a16="http://schemas.microsoft.com/office/drawing/2014/main" id="{C102442D-1F20-4347-ACE4-432DC84E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2001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类型与公平性？</a:t>
            </a:r>
          </a:p>
        </p:txBody>
      </p:sp>
      <p:sp>
        <p:nvSpPr>
          <p:cNvPr id="9" name="p19-n-1">
            <a:extLst xmlns:a="http://schemas.openxmlformats.org/drawingml/2006/main">
              <a:ext uri="{FF2B5EF4-FFF2-40B4-BE49-F238E27FC236}">
                <a16:creationId xmlns:a16="http://schemas.microsoft.com/office/drawing/2014/main" id="{7F9C77AE-AC81-45BD-9C8E-A62F0C55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q-1">
            <a:extLst xmlns:a="http://schemas.openxmlformats.org/drawingml/2006/main">
              <a:ext uri="{FF2B5EF4-FFF2-40B4-BE49-F238E27FC236}">
                <a16:creationId xmlns:a16="http://schemas.microsoft.com/office/drawing/2014/main" id="{1C22DF0F-1608-4073-926C-F48698EC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2001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复现说明齐到种子？</a:t>
            </a:r>
          </a:p>
        </p:txBody>
      </p:sp>
      <p:sp>
        <p:nvSpPr>
          <p:cNvPr id="11" name="p19-n-2">
            <a:extLst xmlns:a="http://schemas.openxmlformats.org/drawingml/2006/main">
              <a:ext uri="{FF2B5EF4-FFF2-40B4-BE49-F238E27FC236}">
                <a16:creationId xmlns:a16="http://schemas.microsoft.com/office/drawing/2014/main" id="{DA4B2988-C962-4ACF-9887-1F48F443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9-q-2">
            <a:extLst xmlns:a="http://schemas.openxmlformats.org/drawingml/2006/main">
              <a:ext uri="{FF2B5EF4-FFF2-40B4-BE49-F238E27FC236}">
                <a16:creationId xmlns:a16="http://schemas.microsoft.com/office/drawing/2014/main" id="{19428F41-B94E-4789-8FAB-D4D58A75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次并报告方差？</a:t>
            </a:r>
          </a:p>
        </p:txBody>
      </p:sp>
      <p:sp>
        <p:nvSpPr>
          <p:cNvPr id="13" name="p19-n-3">
            <a:extLst xmlns:a="http://schemas.openxmlformats.org/drawingml/2006/main">
              <a:ext uri="{FF2B5EF4-FFF2-40B4-BE49-F238E27FC236}">
                <a16:creationId xmlns:a16="http://schemas.microsoft.com/office/drawing/2014/main" id="{D7BDECF0-84B7-44C2-A057-F6E83CA7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9-q-3">
            <a:extLst xmlns:a="http://schemas.openxmlformats.org/drawingml/2006/main">
              <a:ext uri="{FF2B5EF4-FFF2-40B4-BE49-F238E27FC236}">
                <a16:creationId xmlns:a16="http://schemas.microsoft.com/office/drawing/2014/main" id="{91FE443D-1137-490B-B14F-8F4598E5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812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停止条件预先写明？</a:t>
            </a:r>
          </a:p>
        </p:txBody>
      </p:sp>
      <p:sp>
        <p:nvSpPr>
          <p:cNvPr id="15" name="p19-n-4">
            <a:extLst xmlns:a="http://schemas.openxmlformats.org/drawingml/2006/main">
              <a:ext uri="{FF2B5EF4-FFF2-40B4-BE49-F238E27FC236}">
                <a16:creationId xmlns:a16="http://schemas.microsoft.com/office/drawing/2014/main" id="{DE88EDA2-BADA-4D2B-A5AE-DDA37CAB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622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9-q-4">
            <a:extLst xmlns:a="http://schemas.openxmlformats.org/drawingml/2006/main">
              <a:ext uri="{FF2B5EF4-FFF2-40B4-BE49-F238E27FC236}">
                <a16:creationId xmlns:a16="http://schemas.microsoft.com/office/drawing/2014/main" id="{9D7D109E-E7ED-4EBC-A1C6-FC5F1FAC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J2 六字段含适用边界？</a:t>
            </a:r>
          </a:p>
        </p:txBody>
      </p:sp>
      <p:sp>
        <p:nvSpPr>
          <p:cNvPr id="17" name="p19-n-5">
            <a:extLst xmlns:a="http://schemas.openxmlformats.org/drawingml/2006/main">
              <a:ext uri="{FF2B5EF4-FFF2-40B4-BE49-F238E27FC236}">
                <a16:creationId xmlns:a16="http://schemas.microsoft.com/office/drawing/2014/main" id="{05AB839C-EBAF-4751-BA6B-364640FA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622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9-q-5">
            <a:extLst xmlns:a="http://schemas.openxmlformats.org/drawingml/2006/main">
              <a:ext uri="{FF2B5EF4-FFF2-40B4-BE49-F238E27FC236}">
                <a16:creationId xmlns:a16="http://schemas.microsoft.com/office/drawing/2014/main" id="{FB00730E-9449-40F7-8016-B2E39C27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622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拒绝反馈有依据？</a:t>
            </a:r>
          </a:p>
        </p:txBody>
      </p:sp>
      <p:sp>
        <p:nvSpPr>
          <p:cNvPr id="19" name="p19-n-6">
            <a:extLst xmlns:a="http://schemas.openxmlformats.org/drawingml/2006/main">
              <a:ext uri="{FF2B5EF4-FFF2-40B4-BE49-F238E27FC236}">
                <a16:creationId xmlns:a16="http://schemas.microsoft.com/office/drawing/2014/main" id="{0657BB02-E14A-406D-8697-CE11B6A5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p19-q-6">
            <a:extLst xmlns:a="http://schemas.openxmlformats.org/drawingml/2006/main">
              <a:ext uri="{FF2B5EF4-FFF2-40B4-BE49-F238E27FC236}">
                <a16:creationId xmlns:a16="http://schemas.microsoft.com/office/drawing/2014/main" id="{F3D50A90-2460-4B57-83AF-35A1289C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失败预案至少三种？</a:t>
            </a:r>
          </a:p>
        </p:txBody>
      </p:sp>
      <p:sp>
        <p:nvSpPr>
          <p:cNvPr id="21" name="p19-n-7">
            <a:extLst xmlns:a="http://schemas.openxmlformats.org/drawingml/2006/main">
              <a:ext uri="{FF2B5EF4-FFF2-40B4-BE49-F238E27FC236}">
                <a16:creationId xmlns:a16="http://schemas.microsoft.com/office/drawing/2014/main" id="{8DA16509-CB56-452B-88DA-6454E510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p19-q-7">
            <a:extLst xmlns:a="http://schemas.openxmlformats.org/drawingml/2006/main">
              <a:ext uri="{FF2B5EF4-FFF2-40B4-BE49-F238E27FC236}">
                <a16:creationId xmlns:a16="http://schemas.microsoft.com/office/drawing/2014/main" id="{456C1184-C5A2-4AA9-82FC-1965CC3C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433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迁移未丢 AI / 伦理记录？</a:t>
            </a:r>
          </a:p>
        </p:txBody>
      </p:sp>
      <p:sp>
        <p:nvSpPr>
          <p:cNvPr id="23" name="p19-author">
            <a:extLst xmlns:a="http://schemas.openxmlformats.org/drawingml/2006/main">
              <a:ext uri="{FF2B5EF4-FFF2-40B4-BE49-F238E27FC236}">
                <a16:creationId xmlns:a16="http://schemas.microsoft.com/office/drawing/2014/main" id="{968273A1-8ACD-4592-9B00-76F1D09D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52950"/>
            <a:ext cx="508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作者记录：采纳｜暂不采纳｜待核验</a:t>
            </a:r>
          </a:p>
        </p:txBody>
      </p:sp>
      <p:sp>
        <p:nvSpPr>
          <p:cNvPr id="24" name="p19-rule">
            <a:extLst xmlns:a="http://schemas.openxmlformats.org/drawingml/2006/main">
              <a:ext uri="{FF2B5EF4-FFF2-40B4-BE49-F238E27FC236}">
                <a16:creationId xmlns:a16="http://schemas.microsoft.com/office/drawing/2014/main" id="{EB07A6C3-3A44-4759-811D-EB6A7859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52950"/>
            <a:ext cx="4819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同伴只提问题；不替作者修改，不形成共同提交。</a:t>
            </a:r>
          </a:p>
        </p:txBody>
      </p:sp>
      <p:sp>
        <p:nvSpPr>
          <p:cNvPr id="25" name="p19-format">
            <a:extLst xmlns:a="http://schemas.openxmlformats.org/drawingml/2006/main">
              <a:ext uri="{FF2B5EF4-FFF2-40B4-BE49-F238E27FC236}">
                <a16:creationId xmlns:a16="http://schemas.microsoft.com/office/drawing/2014/main" id="{80D5167C-0872-4964-96AF-6747E000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34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baseline + 七字段 + 反馈处理；同伴按八项检查。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提交当前项目版本，并把规格交给第 10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submit-title">
            <a:extLst xmlns:a="http://schemas.openxmlformats.org/drawingml/2006/main">
              <a:ext uri="{FF2B5EF4-FFF2-40B4-BE49-F238E27FC236}">
                <a16:creationId xmlns:a16="http://schemas.microsoft.com/office/drawing/2014/main" id="{EB859FBC-54F3-47FF-831C-930EC5F0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提交当前个人项目版本</a:t>
            </a:r>
          </a:p>
        </p:txBody>
      </p:sp>
      <p:sp>
        <p:nvSpPr>
          <p:cNvPr id="7" name="p20-submit">
            <a:extLst xmlns:a="http://schemas.openxmlformats.org/drawingml/2006/main">
              <a:ext uri="{FF2B5EF4-FFF2-40B4-BE49-F238E27FC236}">
                <a16:creationId xmlns:a16="http://schemas.microsoft.com/office/drawing/2014/main" id="{BAD6D0E2-B8E6-4C81-AB57-2444322C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4838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链接｜tag｜压缩包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不另做与项目仓库分离的汇报文档</a:t>
            </a:r>
          </a:p>
        </p:txBody>
      </p:sp>
      <p:sp>
        <p:nvSpPr>
          <p:cNvPr id="8" name="p20-back-title">
            <a:extLst xmlns:a="http://schemas.openxmlformats.org/drawingml/2006/main">
              <a:ext uri="{FF2B5EF4-FFF2-40B4-BE49-F238E27FC236}">
                <a16:creationId xmlns:a16="http://schemas.microsoft.com/office/drawing/2014/main" id="{EDEC5DF1-7B0F-4813-B391-EFB8CCA6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未通过：按根因回退</a:t>
            </a:r>
          </a:p>
        </p:txBody>
      </p:sp>
      <p:sp>
        <p:nvSpPr>
          <p:cNvPr id="9" name="p20-back">
            <a:extLst xmlns:a="http://schemas.openxmlformats.org/drawingml/2006/main">
              <a:ext uri="{FF2B5EF4-FFF2-40B4-BE49-F238E27FC236}">
                <a16:creationId xmlns:a16="http://schemas.microsoft.com/office/drawing/2014/main" id="{513F0E7D-076E-4440-B99D-FF331DF5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648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→ 公平性 / 缩小范围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 → §三·2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种子 → §四·1–2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判断不足 → 补 J2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反馈未处理 → 第 8 课记录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迁移丢记录 → 迁移验收</a:t>
            </a:r>
          </a:p>
        </p:txBody>
      </p:sp>
      <p:sp>
        <p:nvSpPr>
          <p:cNvPr id="10" name="p20-next-title">
            <a:extLst xmlns:a="http://schemas.openxmlformats.org/drawingml/2006/main">
              <a:ext uri="{FF2B5EF4-FFF2-40B4-BE49-F238E27FC236}">
                <a16:creationId xmlns:a16="http://schemas.microsoft.com/office/drawing/2014/main" id="{BE28D5E0-8302-41A7-BD79-5098AA35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990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直接交给第 10 课</a:t>
            </a:r>
          </a:p>
        </p:txBody>
      </p:sp>
      <p:sp>
        <p:nvSpPr>
          <p:cNvPr id="11" name="p20-l1">
            <a:extLst xmlns:a="http://schemas.openxmlformats.org/drawingml/2006/main">
              <a:ext uri="{FF2B5EF4-FFF2-40B4-BE49-F238E27FC236}">
                <a16:creationId xmlns:a16="http://schemas.microsoft.com/office/drawing/2014/main" id="{932F9A48-C5CB-4B52-A907-089D4E43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26670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20-l2">
            <a:extLst xmlns:a="http://schemas.openxmlformats.org/drawingml/2006/main">
              <a:ext uri="{FF2B5EF4-FFF2-40B4-BE49-F238E27FC236}">
                <a16:creationId xmlns:a16="http://schemas.microsoft.com/office/drawing/2014/main" id="{F2E0C6AF-1E12-4ABC-B14D-5D2A44B8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41148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20-a">
            <a:extLst xmlns:a="http://schemas.openxmlformats.org/drawingml/2006/main">
              <a:ext uri="{FF2B5EF4-FFF2-40B4-BE49-F238E27FC236}">
                <a16:creationId xmlns:a16="http://schemas.microsoft.com/office/drawing/2014/main" id="{A766ED5E-EE11-464D-9094-A70E8BD3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619250"/>
            <a:ext cx="3848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experiment-spec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七字段 + 复现说明</a:t>
            </a:r>
          </a:p>
        </p:txBody>
      </p:sp>
      <p:sp>
        <p:nvSpPr>
          <p:cNvPr id="14" name="p20-b">
            <a:extLst xmlns:a="http://schemas.openxmlformats.org/drawingml/2006/main">
              <a:ext uri="{FF2B5EF4-FFF2-40B4-BE49-F238E27FC236}">
                <a16:creationId xmlns:a16="http://schemas.microsoft.com/office/drawing/2014/main" id="{8B7FEF85-AFFC-48CF-95A0-EC7A1733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52750"/>
            <a:ext cx="3848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标出 Agent 可做步骤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与必须人工决定点</a:t>
            </a:r>
          </a:p>
        </p:txBody>
      </p:sp>
      <p:sp>
        <p:nvSpPr>
          <p:cNvPr id="15" name="p20-c">
            <a:extLst xmlns:a="http://schemas.openxmlformats.org/drawingml/2006/main">
              <a:ext uri="{FF2B5EF4-FFF2-40B4-BE49-F238E27FC236}">
                <a16:creationId xmlns:a16="http://schemas.microsoft.com/office/drawing/2014/main" id="{9C482A61-7CA7-40D8-A4C3-167DA585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00550"/>
            <a:ext cx="3848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10 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受限 Agent 任务契约</a:t>
            </a:r>
          </a:p>
        </p:txBody>
      </p:sp>
      <p:sp>
        <p:nvSpPr>
          <p:cNvPr id="16" name="p20-bottom">
            <a:extLst xmlns:a="http://schemas.openxmlformats.org/drawingml/2006/main">
              <a:ext uri="{FF2B5EF4-FFF2-40B4-BE49-F238E27FC236}">
                <a16:creationId xmlns:a16="http://schemas.microsoft.com/office/drawing/2014/main" id="{0B594CD0-D80B-4DC8-98E3-B0115B2F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86400"/>
            <a:ext cx="960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退出卡：你的 baseline 为什么公平？复现说明齐到种子了吗？哪项门条件最可能不通过？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2026-08-07T10:29:38.4210000Z</dcterms:created>
  <dcterms:modified xsi:type="dcterms:W3CDTF">2026-08-07T10:29:38.4210000Z</dcterms:modified>
</coreProperties>
</file>