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bc478a304f4ad9" /><Relationship Type="http://schemas.openxmlformats.org/officeDocument/2006/relationships/extended-properties" Target="/docProps/app.xml" Id="Ra1040b1463384cd0" /><Relationship Type="http://schemas.openxmlformats.org/officeDocument/2006/relationships/officeDocument" Target="/ppt/presentation.xml" Id="Rae04536155824b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682036dab449c8"/>
  </p:sldMasterIdLst>
  <p:notesMasterIdLst>
    <p:notesMasterId xmlns:r="http://schemas.openxmlformats.org/officeDocument/2006/relationships" r:id="Ra9650c0613c444f0"/>
  </p:notesMasterIdLst>
  <p:sldIdLst>
    <p:sldId xmlns:r="http://schemas.openxmlformats.org/officeDocument/2006/relationships" id="256" r:id="R158db47936804db4"/>
    <p:sldId xmlns:r="http://schemas.openxmlformats.org/officeDocument/2006/relationships" id="257" r:id="R8d0239400f174fdb"/>
    <p:sldId xmlns:r="http://schemas.openxmlformats.org/officeDocument/2006/relationships" id="258" r:id="R93980e396b544f56"/>
    <p:sldId xmlns:r="http://schemas.openxmlformats.org/officeDocument/2006/relationships" id="259" r:id="Re1c714e770204b17"/>
    <p:sldId xmlns:r="http://schemas.openxmlformats.org/officeDocument/2006/relationships" id="260" r:id="Refb9204506c9408a"/>
    <p:sldId xmlns:r="http://schemas.openxmlformats.org/officeDocument/2006/relationships" id="261" r:id="Recb7562a25e2421c"/>
    <p:sldId xmlns:r="http://schemas.openxmlformats.org/officeDocument/2006/relationships" id="262" r:id="R9cd6ac006e004aa3"/>
    <p:sldId xmlns:r="http://schemas.openxmlformats.org/officeDocument/2006/relationships" id="263" r:id="R5e8e430b89724d3a"/>
    <p:sldId xmlns:r="http://schemas.openxmlformats.org/officeDocument/2006/relationships" id="264" r:id="R3b78e5620ca34f2f"/>
    <p:sldId xmlns:r="http://schemas.openxmlformats.org/officeDocument/2006/relationships" id="265" r:id="R459b4f3eb6bc4e34"/>
    <p:sldId xmlns:r="http://schemas.openxmlformats.org/officeDocument/2006/relationships" id="266" r:id="R019bc02ef23e4ee8"/>
    <p:sldId xmlns:r="http://schemas.openxmlformats.org/officeDocument/2006/relationships" id="267" r:id="R40791c4de86c4142"/>
    <p:sldId xmlns:r="http://schemas.openxmlformats.org/officeDocument/2006/relationships" id="268" r:id="Rd45116cf5f7a447f"/>
    <p:sldId xmlns:r="http://schemas.openxmlformats.org/officeDocument/2006/relationships" id="269" r:id="R1161973d044e4b7b"/>
    <p:sldId xmlns:r="http://schemas.openxmlformats.org/officeDocument/2006/relationships" id="270" r:id="R7e717a62c6fe4cb4"/>
    <p:sldId xmlns:r="http://schemas.openxmlformats.org/officeDocument/2006/relationships" id="271" r:id="R0cfa5092a9df4a5e"/>
    <p:sldId xmlns:r="http://schemas.openxmlformats.org/officeDocument/2006/relationships" id="272" r:id="Rab10df556b9548dd"/>
    <p:sldId xmlns:r="http://schemas.openxmlformats.org/officeDocument/2006/relationships" id="273" r:id="R7de4ada7268341be"/>
    <p:sldId xmlns:r="http://schemas.openxmlformats.org/officeDocument/2006/relationships" id="274" r:id="R330e48dccca240d6"/>
    <p:sldId xmlns:r="http://schemas.openxmlformats.org/officeDocument/2006/relationships" id="275" r:id="Rf6e2f9357fb843c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fde916050c4e8d" /><Relationship Type="http://schemas.openxmlformats.org/officeDocument/2006/relationships/slideMaster" Target="/ppt/slideMasters/slideMaster1.xml" Id="R09682036dab449c8" /><Relationship Type="http://schemas.openxmlformats.org/officeDocument/2006/relationships/notesMaster" Target="/ppt/notesMasters/notesMaster1.xml" Id="Ra9650c0613c444f0" /><Relationship Type="http://schemas.openxmlformats.org/officeDocument/2006/relationships/presProps" Target="/ppt/presProps.xml" Id="Re28972f3a3484b1e" /><Relationship Type="http://schemas.openxmlformats.org/officeDocument/2006/relationships/viewProps" Target="/ppt/viewProps.xml" Id="R810318b207894b4c" /><Relationship Type="http://schemas.openxmlformats.org/officeDocument/2006/relationships/tableStyles" Target="/ppt/tableStyles.xml" Id="R63909240cf944827" /><Relationship Type="http://schemas.openxmlformats.org/officeDocument/2006/relationships/slide" Target="/ppt/slides/slide1.xml" Id="R158db47936804db4" /><Relationship Type="http://schemas.openxmlformats.org/officeDocument/2006/relationships/slide" Target="/ppt/slides/slide2.xml" Id="R8d0239400f174fdb" /><Relationship Type="http://schemas.openxmlformats.org/officeDocument/2006/relationships/slide" Target="/ppt/slides/slide3.xml" Id="R93980e396b544f56" /><Relationship Type="http://schemas.openxmlformats.org/officeDocument/2006/relationships/slide" Target="/ppt/slides/slide4.xml" Id="Re1c714e770204b17" /><Relationship Type="http://schemas.openxmlformats.org/officeDocument/2006/relationships/slide" Target="/ppt/slides/slide5.xml" Id="Refb9204506c9408a" /><Relationship Type="http://schemas.openxmlformats.org/officeDocument/2006/relationships/slide" Target="/ppt/slides/slide6.xml" Id="Recb7562a25e2421c" /><Relationship Type="http://schemas.openxmlformats.org/officeDocument/2006/relationships/slide" Target="/ppt/slides/slide7.xml" Id="R9cd6ac006e004aa3" /><Relationship Type="http://schemas.openxmlformats.org/officeDocument/2006/relationships/slide" Target="/ppt/slides/slide8.xml" Id="R5e8e430b89724d3a" /><Relationship Type="http://schemas.openxmlformats.org/officeDocument/2006/relationships/slide" Target="/ppt/slides/slide9.xml" Id="R3b78e5620ca34f2f" /><Relationship Type="http://schemas.openxmlformats.org/officeDocument/2006/relationships/slide" Target="/ppt/slides/slide10.xml" Id="R459b4f3eb6bc4e34" /><Relationship Type="http://schemas.openxmlformats.org/officeDocument/2006/relationships/slide" Target="/ppt/slides/slide11.xml" Id="R019bc02ef23e4ee8" /><Relationship Type="http://schemas.openxmlformats.org/officeDocument/2006/relationships/slide" Target="/ppt/slides/slide12.xml" Id="R40791c4de86c4142" /><Relationship Type="http://schemas.openxmlformats.org/officeDocument/2006/relationships/slide" Target="/ppt/slides/slide13.xml" Id="Rd45116cf5f7a447f" /><Relationship Type="http://schemas.openxmlformats.org/officeDocument/2006/relationships/slide" Target="/ppt/slides/slide14.xml" Id="R1161973d044e4b7b" /><Relationship Type="http://schemas.openxmlformats.org/officeDocument/2006/relationships/slide" Target="/ppt/slides/slide15.xml" Id="R7e717a62c6fe4cb4" /><Relationship Type="http://schemas.openxmlformats.org/officeDocument/2006/relationships/slide" Target="/ppt/slides/slide16.xml" Id="R0cfa5092a9df4a5e" /><Relationship Type="http://schemas.openxmlformats.org/officeDocument/2006/relationships/slide" Target="/ppt/slides/slide17.xml" Id="Rab10df556b9548dd" /><Relationship Type="http://schemas.openxmlformats.org/officeDocument/2006/relationships/slide" Target="/ppt/slides/slide18.xml" Id="R7de4ada7268341be" /><Relationship Type="http://schemas.openxmlformats.org/officeDocument/2006/relationships/slide" Target="/ppt/slides/slide19.xml" Id="R330e48dccca240d6" /><Relationship Type="http://schemas.openxmlformats.org/officeDocument/2006/relationships/slide" Target="/ppt/slides/slide20.xml" Id="Rf6e2f9357fb843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e7a8a2ba5ab45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fe76f9967f43c4" /><Relationship Type="http://schemas.openxmlformats.org/officeDocument/2006/relationships/notesMaster" Target="/ppt/notesMasters/notesMaster1.xml" Id="R92f6cee701e046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9073501bd14efb" /><Relationship Type="http://schemas.openxmlformats.org/officeDocument/2006/relationships/notesMaster" Target="/ppt/notesMasters/notesMaster1.xml" Id="R94242108eaf3483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ff203ce6f464d73" /><Relationship Type="http://schemas.openxmlformats.org/officeDocument/2006/relationships/notesMaster" Target="/ppt/notesMasters/notesMaster1.xml" Id="R4a1be98c828f46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4bf81c8d6f34911" /><Relationship Type="http://schemas.openxmlformats.org/officeDocument/2006/relationships/notesMaster" Target="/ppt/notesMasters/notesMaster1.xml" Id="Rfb0ee2b5e24c492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b51bb9031624c9b" /><Relationship Type="http://schemas.openxmlformats.org/officeDocument/2006/relationships/notesMaster" Target="/ppt/notesMasters/notesMaster1.xml" Id="R5a333753ca63420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ebaffac1174666" /><Relationship Type="http://schemas.openxmlformats.org/officeDocument/2006/relationships/notesMaster" Target="/ppt/notesMasters/notesMaster1.xml" Id="Re8d4844ba4a246f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3320c3edfa240d3" /><Relationship Type="http://schemas.openxmlformats.org/officeDocument/2006/relationships/notesMaster" Target="/ppt/notesMasters/notesMaster1.xml" Id="Raa0519d9d145445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97202ccdd3543be" /><Relationship Type="http://schemas.openxmlformats.org/officeDocument/2006/relationships/notesMaster" Target="/ppt/notesMasters/notesMaster1.xml" Id="Rf0d07a583f4d415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e2c2346efa24ae6" /><Relationship Type="http://schemas.openxmlformats.org/officeDocument/2006/relationships/notesMaster" Target="/ppt/notesMasters/notesMaster1.xml" Id="R19a3545067054ff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6dbba3d23ac4920" /><Relationship Type="http://schemas.openxmlformats.org/officeDocument/2006/relationships/notesMaster" Target="/ppt/notesMasters/notesMaster1.xml" Id="R1a36dec4366e4af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b38cf9938a54351" /><Relationship Type="http://schemas.openxmlformats.org/officeDocument/2006/relationships/notesMaster" Target="/ppt/notesMasters/notesMaster1.xml" Id="R3fadaae29cb5459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188a8050faf4ae2" /><Relationship Type="http://schemas.openxmlformats.org/officeDocument/2006/relationships/notesMaster" Target="/ppt/notesMasters/notesMaster1.xml" Id="R9952544799f44ac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eb0b5a3d6d34edb" /><Relationship Type="http://schemas.openxmlformats.org/officeDocument/2006/relationships/notesMaster" Target="/ppt/notesMasters/notesMaster1.xml" Id="R376984a3ed094b0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fbe1add38c7460e" /><Relationship Type="http://schemas.openxmlformats.org/officeDocument/2006/relationships/notesMaster" Target="/ppt/notesMasters/notesMaster1.xml" Id="R842858d0b5654bd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d2033d8009d4336" /><Relationship Type="http://schemas.openxmlformats.org/officeDocument/2006/relationships/notesMaster" Target="/ppt/notesMasters/notesMaster1.xml" Id="R37565b49df8242c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e5263be5ba24916" /><Relationship Type="http://schemas.openxmlformats.org/officeDocument/2006/relationships/notesMaster" Target="/ppt/notesMasters/notesMaster1.xml" Id="R32a66f00b4b140d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dd8febfdce84a89" /><Relationship Type="http://schemas.openxmlformats.org/officeDocument/2006/relationships/notesMaster" Target="/ppt/notesMasters/notesMaster1.xml" Id="Rb23742bcc787436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6a5d6b5baca441f" /><Relationship Type="http://schemas.openxmlformats.org/officeDocument/2006/relationships/notesMaster" Target="/ppt/notesMasters/notesMaster1.xml" Id="R8ea3bb1c6726468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489699e6ea04a8f" /><Relationship Type="http://schemas.openxmlformats.org/officeDocument/2006/relationships/notesMaster" Target="/ppt/notesMasters/notesMaster1.xml" Id="R2615c5138b6f45d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57cf3d175524c54" /><Relationship Type="http://schemas.openxmlformats.org/officeDocument/2006/relationships/notesMaster" Target="/ppt/notesMasters/notesMaster1.xml" Id="R1c7f4b4f5f0d46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7 课留下实验规格草图，第 8 课留下同伴反馈；本课把它们补成可复现、可检查的判断门材料。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/Users/bright/Projects/courses/graduate/course/syllabus.md</a:t>
            </a:r>
          </a:p>
          <a:p xmlns:a="http://schemas.openxmlformats.org/drawingml/2006/main">
            <a:r>
              <a:t>- /Users/bright/Projects/courses/graduate/lessons/备课规划.md</a:t>
            </a:r>
          </a:p>
          <a:p xmlns:a="http://schemas.openxmlformats.org/drawingml/2006/main">
            <a:r>
              <a:t>- /Users/bright/Projects/courses/graduate/lessons/lesson-09/slides.md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快问停止条件和随机种子是否已写，只听回答。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/Users/bright/Projects/courses/graduate/lessons/lesson-07/handout.md</a:t>
            </a:r>
          </a:p>
          <a:p xmlns:a="http://schemas.openxmlformats.org/drawingml/2006/main">
            <a:r>
              <a:t>- /Users/bright/Projects/courses/graduate/lessons/lesson-09/handout.md</a:t>
            </a:r>
          </a:p>
          <a:p xmlns:a="http://schemas.openxmlformats.org/drawingml/2006/main">
            <a:r>
              <a:t>- /Users/bright/Projects/courses/graduate/AGENTS.md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本课完成材料初版，不要求课堂内全部自查通过。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/Users/bright/Projects/courses/graduate/lessons/lesson-09/teaching-plan.md</a:t>
            </a:r>
          </a:p>
          <a:p xmlns:a="http://schemas.openxmlformats.org/drawingml/2006/main">
            <a:r>
              <a:t>- /Users/bright/Projects/courses/graduate/course/assignments.md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三个 baseline 仅为虚构教学例，用于区分类型，不声称已运行。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Teaching artifact; fictional examples, not empirical evidence.</a:t>
            </a:r>
          </a:p>
          <a:p xmlns:a="http://schemas.openxmlformats.org/drawingml/2006/main">
            <a:r>
              <a:t>- Pineau et al. (2021). Improving Reproducibility in Machine Learning Research. JMLR 22(164).</a:t>
            </a:r>
          </a:p>
          <a:p xmlns:a="http://schemas.openxmlformats.org/drawingml/2006/main">
            <a:r>
              <a:t>- /Users/bright/Projects/courses/graduate/lessons/lesson-09/handout.md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请学生用自己的 baseline 对照五项并标记缺口。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Bouthillier et al. (2021). Accounting for Variance in Machine Learning Benchmarks. MLSys 3.</a:t>
            </a:r>
          </a:p>
          <a:p xmlns:a="http://schemas.openxmlformats.org/drawingml/2006/main">
            <a:r>
              <a:t>- /Users/bright/Projects/courses/graduate/lessons/lesson-09/handout.md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五个反例用于快速诊断，不把 ACM Badging 当作新的评分规则。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ACM Artifact Review and Badging, Version 1.1 (2020).</a:t>
            </a:r>
          </a:p>
          <a:p xmlns:a="http://schemas.openxmlformats.org/drawingml/2006/main">
            <a:r>
              <a:t>- /Users/bright/Projects/courses/graduate/lessons/lesson-09/handout.md</a:t>
            </a:r>
          </a:p>
          <a:p xmlns:a="http://schemas.openxmlformats.org/drawingml/2006/main">
            <a:r>
              <a:t>- /Users/bright/Projects/courses/graduate/course/assessment.md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先让学生指出缺口，再逐项展示。案例明确为虚构教学反例。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Teaching artifact; fictional example, not empirical evidence.</a:t>
            </a:r>
          </a:p>
          <a:p xmlns:a="http://schemas.openxmlformats.org/drawingml/2006/main">
            <a:r>
              <a:t>- Wilson et al. (2017). Good Enough Practices in Scientific Computing.</a:t>
            </a:r>
          </a:p>
          <a:p xmlns:a="http://schemas.openxmlformats.org/drawingml/2006/main">
            <a:r>
              <a:t>- /Users/bright/Projects/courses/graduate/lessons/lesson-09/handout.md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页内数值是虚构教学规格，只演示七字段写法；请学生标出自己草图的缺失项。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Teaching artifact; fictional values, not empirical evidence.</a:t>
            </a:r>
          </a:p>
          <a:p xmlns:a="http://schemas.openxmlformats.org/drawingml/2006/main">
            <a:r>
              <a:t>- Wilson et al. (2017). Good Enough Practices in Scientific Computing. DOI: 10.1371/journal.pcbi.1005510</a:t>
            </a:r>
          </a:p>
          <a:p xmlns:a="http://schemas.openxmlformats.org/drawingml/2006/main">
            <a:r>
              <a:t>- /Users/bright/Projects/courses/graduate/course/assignments.md</a:t>
            </a:r>
          </a:p>
          <a:p xmlns:a="http://schemas.openxmlformats.org/drawingml/2006/main">
            <a:r>
              <a:t>- /Users/bright/Projects/courses/graduate/lessons/lesson-09/handout.md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页内停止条件和失败路径是虚构教学规格。学生只需为当前最大风险写一条直接对应的可执行预案。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Teaching artifact; fictional values, not empirical evidence.</a:t>
            </a:r>
          </a:p>
          <a:p xmlns:a="http://schemas.openxmlformats.org/drawingml/2006/main">
            <a:r>
              <a:t>- /Users/bright/Projects/courses/graduate/lessons/lesson-09/handout.md</a:t>
            </a:r>
          </a:p>
          <a:p xmlns:a="http://schemas.openxmlformats.org/drawingml/2006/main">
            <a:r>
              <a:t>- /Users/bright/Projects/courses/graduate/course/assessment.md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页内指标数值是虚构教学规格，只演示可重算操作定义。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Teaching artifact; fictional values, not empirical evidence.</a:t>
            </a:r>
          </a:p>
          <a:p xmlns:a="http://schemas.openxmlformats.org/drawingml/2006/main">
            <a:r>
              <a:t>- /Users/bright/Projects/courses/graduate/course/assignments.md</a:t>
            </a:r>
          </a:p>
          <a:p xmlns:a="http://schemas.openxmlformats.org/drawingml/2006/main">
            <a:r>
              <a:t>- /Users/bright/Projects/courses/graduate/lessons/lesson-09/handout.md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现场运行课次本地工件并核对规格、配置、输入、结果与日志。工件真实可运行，输入为合成数据，不构成实证研究结果。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Sandve et al. (2013). Ten Simple Rules for Reproducible Computational Research. DOI: 10.1371/journal.pcbi.1003285</a:t>
            </a:r>
          </a:p>
          <a:p xmlns:a="http://schemas.openxmlformats.org/drawingml/2006/main">
            <a:r>
              <a:t>- /Users/bright/Projects/courses/graduate/lessons/lesson-09/assets/reproducibility-example/experiment-spec.md</a:t>
            </a:r>
          </a:p>
          <a:p xmlns:a="http://schemas.openxmlformats.org/drawingml/2006/main">
            <a:r>
              <a:t>- /Users/bright/Projects/courses/graduate/lessons/lesson-09/assets/reproducibility-example/config.json</a:t>
            </a:r>
          </a:p>
          <a:p xmlns:a="http://schemas.openxmlformats.org/drawingml/2006/main">
            <a:r>
              <a:t>- /Users/bright/Projects/courses/graduate/lessons/lesson-09/assets/reproducibility-example/run.py</a:t>
            </a:r>
          </a:p>
          <a:p xmlns:a="http://schemas.openxmlformats.org/drawingml/2006/main">
            <a:r>
              <a:t>- /Users/bright/Projects/courses/graduate/lessons/lesson-09/assets/reproducibility-example/run-log.jsonl</a:t>
            </a:r>
          </a:p>
          <a:p xmlns:a="http://schemas.openxmlformats.org/drawingml/2006/main">
            <a:r>
              <a:t>- /Users/bright/Projects/courses/graduate/lessons/lesson-09/handout.md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课程不设统一重复次数硬门；检查重复计划是否足以支持主张。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Bouthillier et al. (2021). Accounting for Variance in Machine Learning Benchmarks. MLSys 3.</a:t>
            </a:r>
          </a:p>
          <a:p xmlns:a="http://schemas.openxmlformats.org/drawingml/2006/main">
            <a:r>
              <a:t>- /Users/bright/Projects/courses/graduate/lessons/lesson-09/handout.md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让学生标注自己的材料当前达到哪一档。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ACM Artifact Review and Badging, Version 1.1 (2020).</a:t>
            </a:r>
          </a:p>
          <a:p xmlns:a="http://schemas.openxmlformats.org/drawingml/2006/main">
            <a:r>
              <a:t>- /Users/bright/Projects/courses/graduate/lessons/lesson-09/handout.md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36:00–37:20 作为迁移快速参考；不侵占 40–60 分钟持续实践。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/Users/bright/Projects/courses/graduate/course/starter-template.md</a:t>
            </a:r>
          </a:p>
          <a:p xmlns:a="http://schemas.openxmlformats.org/drawingml/2006/main">
            <a:r>
              <a:t>- /Users/bright/Projects/courses/graduate/course/project-template.md</a:t>
            </a:r>
          </a:p>
          <a:p xmlns:a="http://schemas.openxmlformats.org/drawingml/2006/main">
            <a:r>
              <a:t>- /Users/bright/Projects/courses/graduate/lessons/lesson-09/handout.md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八项必须与 assignments.md Checkpoint 2 一一对应；判断门检查当前项目版本。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/Users/bright/Projects/courses/graduate/course/assignments.md</a:t>
            </a:r>
          </a:p>
          <a:p xmlns:a="http://schemas.openxmlformats.org/drawingml/2006/main">
            <a:r>
              <a:t>- /Users/bright/Projects/courses/graduate/course/project-template.md</a:t>
            </a:r>
          </a:p>
          <a:p xmlns:a="http://schemas.openxmlformats.org/drawingml/2006/main">
            <a:r>
              <a:t>- /Users/bright/Projects/courses/graduate/lessons/lesson-09/handout.md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J2 和三条反馈均为虚构教学工件，只演示决策记录写法。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Teaching artifact; fictional judgment and feedback, not empirical evidence.</a:t>
            </a:r>
          </a:p>
          <a:p xmlns:a="http://schemas.openxmlformats.org/drawingml/2006/main">
            <a:r>
              <a:t>- /Users/bright/Projects/courses/graduate/lessons/lesson-09/handout.md</a:t>
            </a:r>
          </a:p>
          <a:p xmlns:a="http://schemas.openxmlformats.org/drawingml/2006/main">
            <a:r>
              <a:t>- /Users/bright/Projects/courses/graduate/lessons/lesson-08/README.md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说明两分钟后开始个人补全；教师只处理共同卡点。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/Users/bright/Projects/courses/graduate/course/project-template.md</a:t>
            </a:r>
          </a:p>
          <a:p xmlns:a="http://schemas.openxmlformats.org/drawingml/2006/main">
            <a:r>
              <a:t>- /Users/bright/Projects/courses/graduate/lessons/lesson-09/teaching-plan.md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本页停留到 60 分钟，学生可照着核对文件结构。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/Users/bright/Projects/courses/graduate/course/project-template.md</a:t>
            </a:r>
          </a:p>
          <a:p xmlns:a="http://schemas.openxmlformats.org/drawingml/2006/main">
            <a:r>
              <a:t>- /Users/bright/Projects/courses/graduate/course/assignments.md</a:t>
            </a:r>
          </a:p>
          <a:p xmlns:a="http://schemas.openxmlformats.org/drawingml/2006/main">
            <a:r>
              <a:t>- /Users/bright/Projects/courses/graduate/lessons/lesson-09/handout.md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人数为奇数时组成三人组；反馈不要求当场全部修改。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/Users/bright/Projects/courses/graduate/course/assignments.md</a:t>
            </a:r>
          </a:p>
          <a:p xmlns:a="http://schemas.openxmlformats.org/drawingml/2006/main">
            <a:r>
              <a:t>- /Users/bright/Projects/courses/graduate/lessons/lesson-09/teaching-plan.md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课后完成自查并提交判断门材料包；第一次未通过按课程规则修订。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Wilson et al. (2017). Good Enough Practices in Scientific Computing.</a:t>
            </a:r>
          </a:p>
          <a:p xmlns:a="http://schemas.openxmlformats.org/drawingml/2006/main">
            <a:r>
              <a:t>- Pineau et al. (2021). Improving Reproducibility in Machine Learning Research.</a:t>
            </a:r>
          </a:p>
          <a:p xmlns:a="http://schemas.openxmlformats.org/drawingml/2006/main">
            <a:r>
              <a:t>- ACM Artifact Review and Badging, Version 1.1 (2020).</a:t>
            </a:r>
          </a:p>
          <a:p xmlns:a="http://schemas.openxmlformats.org/drawingml/2006/main">
            <a:r>
              <a:t>- Bouthillier et al. (2021). Accounting for Variance in Machine Learning Benchmarks.</a:t>
            </a:r>
          </a:p>
          <a:p xmlns:a="http://schemas.openxmlformats.org/drawingml/2006/main">
            <a:r>
              <a:t>- /Users/bright/Projects/courses/graduate/course/assignments.md</a:t>
            </a:r>
          </a:p>
          <a:p xmlns:a="http://schemas.openxmlformats.org/drawingml/2006/main">
            <a:r>
              <a:t>- /Users/bright/Projects/courses/graduate/lessons/lesson-09/handout.md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36608cb07842d0" /><Relationship Type="http://schemas.openxmlformats.org/officeDocument/2006/relationships/image" Target="/ppt/media/image.png" Id="R4e0fff5735194c9d" /><Relationship Type="http://schemas.openxmlformats.org/officeDocument/2006/relationships/image" Target="/ppt/media/image2.png" Id="R64e8248cdc43438c" /><Relationship Type="http://schemas.openxmlformats.org/officeDocument/2006/relationships/image" Target="/ppt/media/image3.png" Id="R4444395036024068" /><Relationship Type="http://schemas.openxmlformats.org/officeDocument/2006/relationships/image" Target="/ppt/media/image4.png" Id="R59406d894d89443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47007123a5413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7b191bbe374e00" /><Relationship Type="http://schemas.openxmlformats.org/officeDocument/2006/relationships/image" Target="/ppt/media/image2.png" Id="R6077a0d5ddd846e2" /><Relationship Type="http://schemas.openxmlformats.org/officeDocument/2006/relationships/image" Target="/ppt/media/image5.png" Id="R9d737ee0da6c41b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82291fdef544d7" /><Relationship Type="http://schemas.openxmlformats.org/officeDocument/2006/relationships/image" Target="/ppt/media/image.png" Id="R5774b424a07c46fb" /><Relationship Type="http://schemas.openxmlformats.org/officeDocument/2006/relationships/image" Target="/ppt/media/image3.png" Id="R019bbbd9ece2450c" /></Relationships>
</file>

<file path=ppt/slideLayouts/slideLayout1.xml><?xml version="1.0" encoding="utf-8"?>
<p:sldLayout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6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0fff5735194c9d">
            <a:duotone>
              <a:prstClr val="black"/>
              <a:schemeClr val="accent1">
                <a:tint val="45000"/>
                <a:satMod val="400000"/>
              </a:schemeClr>
            </a:duotone>
            <a:alphaModFix amt="5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22" name="标题 1">
            <a:extLst xmlns:a="http://schemas.openxmlformats.org/drawingml/2006/main">
              <a:ext uri="{FF2B5EF4-FFF2-40B4-BE49-F238E27FC236}">
                <a16:creationId xmlns:a16="http://schemas.microsoft.com/office/drawing/2014/main" id="{9AF74CDA-19DD-45C1-88FF-2379736830C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69561" y="2016174"/>
            <a:ext cx="10052879" cy="10608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54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r>
              <a:t>单击此处编辑标题样式</a:t>
            </a:r>
          </a:p>
        </p:txBody>
      </p:sp>
      <p:sp>
        <p:nvSpPr>
          <p:cNvPr id="26" name="内容占位符 25">
            <a:extLst xmlns:a="http://schemas.openxmlformats.org/drawingml/2006/main">
              <a:ext uri="{FF2B5EF4-FFF2-40B4-BE49-F238E27FC236}">
                <a16:creationId xmlns:a16="http://schemas.microsoft.com/office/drawing/2014/main" id="{981273AB-3D30-4A7E-951D-B80D3185213B}"/>
              </a:ext>
            </a:extLst>
          </p:cNvPr>
          <p:cNvSpPr>
            <a:spLocks xmlns:a="http://schemas.openxmlformats.org/drawingml/2006/main" noGrp="1"/>
          </p:cNvSpPr>
          <p:nvPr>
            <p:ph idx="10" hasCustomPrompt="1"/>
          </p:nvPr>
        </p:nvSpPr>
        <p:spPr>
          <a:xfrm xmlns:a="http://schemas.openxmlformats.org/drawingml/2006/main">
            <a:off x="4644345" y="5196924"/>
            <a:ext cx="2903311" cy="454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40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fld id="{DE506FFD-8B27-444A-964F-E64D0BB3DAF0}" type="datetime2">
              <a:t>2019年1月28日</a:t>
            </a:fld>
            <a:endParaRPr/>
          </a:p>
        </p:txBody>
      </p:sp>
      <p:sp>
        <p:nvSpPr>
          <p:cNvPr id="32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F905EEBF-8ACE-4D30-A4F5-C5796F8343A2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4034910" y="4407403"/>
            <a:ext cx="4122181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50" name="图片 3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4e8248cdc43438c"/>
          <a:srcRect xmlns:a="http://schemas.openxmlformats.org/drawingml/2006/main" l="74359" t="0" r="1346" b="0"/>
          <a:stretch xmlns:a="http://schemas.openxmlformats.org/drawingml/2006/main"/>
        </p:blipFill>
        <p:spPr>
          <a:xfrm xmlns:a="http://schemas.openxmlformats.org/drawingml/2006/main">
            <a:off x="8870172" y="274183"/>
            <a:ext cx="3002280" cy="411617"/>
          </a:xfrm>
          <a:prstGeom xmlns:a="http://schemas.openxmlformats.org/drawingml/2006/main" prst="rect">
            <a:avLst/>
          </a:prstGeom>
        </p:spPr>
      </p:pic>
      <p:pic>
        <p:nvPicPr>
          <p:cNvPr id="51" name="图片 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444395036024068">
            <a:alphaModFix amt="35000"/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 rot="0" flipH="0" flipV="0">
            <a:off x="3352562" y="6244170"/>
            <a:ext cx="5486876" cy="406590"/>
          </a:xfrm>
          <a:prstGeom xmlns:a="http://schemas.openxmlformats.org/drawingml/2006/main" prst="rect">
            <a:avLst/>
          </a:prstGeom>
        </p:spPr>
      </p:pic>
      <p:sp>
        <p:nvSpPr>
          <p:cNvPr id="37" name="椭圆 36">
            <a:extLst xmlns:a="http://schemas.openxmlformats.org/drawingml/2006/main">
              <a:ext uri="{FF2B5EF4-FFF2-40B4-BE49-F238E27FC236}">
                <a16:creationId xmlns:a16="http://schemas.microsoft.com/office/drawing/2014/main" id="{53D809C0-A4EF-44AF-AECA-4A85E4BA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51000" y="6430138"/>
            <a:ext cx="90000" cy="9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6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直接连接符 38">
            <a:extLst xmlns:a="http://schemas.openxmlformats.org/drawingml/2006/main">
              <a:ext uri="{FF2B5EF4-FFF2-40B4-BE49-F238E27FC236}">
                <a16:creationId xmlns:a16="http://schemas.microsoft.com/office/drawing/2014/main" id="{31F7CAE3-0209-4DA4-9A92-731CC272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285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直接连接符 40">
            <a:extLst xmlns:a="http://schemas.openxmlformats.org/drawingml/2006/main">
              <a:ext uri="{FF2B5EF4-FFF2-40B4-BE49-F238E27FC236}">
                <a16:creationId xmlns:a16="http://schemas.microsoft.com/office/drawing/2014/main" id="{B3FF25BF-0A81-4E7C-A868-79A201F0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833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直接连接符 11">
            <a:extLst xmlns:a="http://schemas.openxmlformats.org/drawingml/2006/main">
              <a:ext uri="{FF2B5EF4-FFF2-40B4-BE49-F238E27FC236}">
                <a16:creationId xmlns:a16="http://schemas.microsoft.com/office/drawing/2014/main" id="{84931B68-BEBE-4F6A-A7A3-EB2B855A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1712549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26218CD3-8CA7-49E2-A133-F3172441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3428810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57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406d894d894437"/>
          <a:srcRect xmlns:a="http://schemas.openxmlformats.org/drawingml/2006/main" l="0" t="0" r="54251" b="0"/>
          <a:stretch xmlns:a="http://schemas.openxmlformats.org/drawingml/2006/main"/>
        </p:blipFill>
        <p:spPr>
          <a:xfrm xmlns:a="http://schemas.openxmlformats.org/drawingml/2006/main">
            <a:off x="332010" y="251357"/>
            <a:ext cx="1934780" cy="4825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目录-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D1F02EB-A5F5-4A25-8E13-33D76C39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1" y="2455636"/>
            <a:ext cx="2960913" cy="14387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DBDFDE5-938B-46BA-BF04-52626678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736542" y="2389144"/>
            <a:ext cx="97430" cy="296091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E1AFFB6-310A-466D-BAD1-F84A11C9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78991" y="0"/>
            <a:ext cx="9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灯片编号占位符 2">
            <a:extLst xmlns:a="http://schemas.openxmlformats.org/drawingml/2006/main">
              <a:ext uri="{FF2B5EF4-FFF2-40B4-BE49-F238E27FC236}">
                <a16:creationId xmlns:a16="http://schemas.microsoft.com/office/drawing/2014/main" id="{C1D5E491-4859-47A4-8F29-DAACA1914DBE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53781C-E1F6-4315-A39D-61273F2E0596}" type="slidenum">
              <a:t>‹#›</a:t>
            </a:fld>
            <a:endParaRPr/>
          </a:p>
        </p:txBody>
      </p:sp>
      <p:pic>
        <p:nvPicPr>
          <p:cNvPr id="25" name="图片 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077a0d5ddd846e2"/>
          <a:srcRect xmlns:a="http://schemas.openxmlformats.org/drawingml/2006/main" l="0" t="0" r="1346" b="0"/>
          <a:stretch xmlns:a="http://schemas.openxmlformats.org/drawingml/2006/main"/>
        </p:blipFill>
        <p:spPr>
          <a:xfrm xmlns:a="http://schemas.openxmlformats.org/drawingml/2006/main">
            <a:off x="516" y="6041797"/>
            <a:ext cx="12166903" cy="411617"/>
          </a:xfrm>
          <a:prstGeom xmlns:a="http://schemas.openxmlformats.org/drawingml/2006/main" prst="rect">
            <a:avLst/>
          </a:prstGeom>
        </p:spPr>
      </p:pic>
      <p:sp>
        <p:nvSpPr>
          <p:cNvPr id="9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56FC8349-67FC-4E3B-B988-7A27FDAE9D24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19056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85368C87-925C-44AC-B001-5C4EE6F0064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4788940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9" name="平行四边形 18">
            <a:extLst xmlns:a="http://schemas.openxmlformats.org/drawingml/2006/main">
              <a:ext uri="{FF2B5EF4-FFF2-40B4-BE49-F238E27FC236}">
                <a16:creationId xmlns:a16="http://schemas.microsoft.com/office/drawing/2014/main" id="{9AE407FD-1006-4AC4-B10B-CB7686E6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1483" cy="685800"/>
          </a:xfrm>
          <a:prstGeom xmlns:a="http://schemas.openxmlformats.org/drawingml/2006/main" prst="parallelogram">
            <a:avLst>
              <a:gd name="adj" fmla="val 4305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9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737ee0da6c41b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9056" y="73482"/>
            <a:ext cx="538838" cy="538838"/>
          </a:xfrm>
          <a:prstGeom xmlns:a="http://schemas.openxmlformats.org/drawingml/2006/main" prst="rect">
            <a:avLst/>
          </a:prstGeom>
        </p:spPr>
      </p:pic>
      <p:sp>
        <p:nvSpPr>
          <p:cNvPr id="21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C2D49473-9331-4572-8AFC-3A905D765CF9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75351" y="43657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封底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74b424a07c46fb">
            <a:duotone>
              <a:prstClr val="black"/>
              <a:schemeClr val="accent1">
                <a:tint val="45000"/>
                <a:satMod val="400000"/>
              </a:schemeClr>
            </a:duotone>
            <a:alphaModFix amt="2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0F60F5A8-3022-49D5-A1B7-18CDA62C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2989B7D2-D2DE-4D77-870B-585E5185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969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4EB0A957-E3E4-47EE-9713-82509E17FD51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2555162" y="3129756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6000" b="1" spc="6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27" name="图片 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19bbbd9ece2450c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>
            <a:off x="3352562" y="6146610"/>
            <a:ext cx="5486876" cy="406590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821d09536f4f01" /><Relationship Type="http://schemas.openxmlformats.org/officeDocument/2006/relationships/slideLayout" Target="/ppt/slideLayouts/slideLayout1.xml" Id="R64bb2e450bc4457d" /><Relationship Type="http://schemas.openxmlformats.org/officeDocument/2006/relationships/slideLayout" Target="/ppt/slideLayouts/slideLayout2.xml" Id="Rae941e7c87de43de" /><Relationship Type="http://schemas.openxmlformats.org/officeDocument/2006/relationships/slideLayout" Target="/ppt/slideLayouts/slideLayout3.xml" Id="R57c8105c8c28451b" /><Relationship Type="http://schemas.openxmlformats.org/officeDocument/2006/relationships/slideLayout" Target="/ppt/slideLayouts/slideLayout4.xml" Id="R9b1c174a68804c95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F26411B-55E1-4CE5-B9CA-4734B17AE0E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849970" y="6515101"/>
            <a:ext cx="103723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48644C6-89F0-466C-949F-E70AD72679A8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bb2e450bc4457d"/>
    <p:sldLayoutId xmlns:r="http://schemas.openxmlformats.org/officeDocument/2006/relationships" id="2147483650" r:id="Rae941e7c87de43de"/>
    <p:sldLayoutId xmlns:r="http://schemas.openxmlformats.org/officeDocument/2006/relationships" id="2147483651" r:id="R57c8105c8c28451b"/>
    <p:sldLayoutId xmlns:r="http://schemas.openxmlformats.org/officeDocument/2006/relationships" id="2147483652" r:id="R9b1c174a68804c95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192">
          <p15:clr>
            <a:srgbClr xmlns:a="http://schemas.openxmlformats.org/drawingml/2006/main" val="F26B43"/>
          </p15:clr>
        </p15:guide>
        <p15:guide id="2" pos="7488">
          <p15:clr>
            <a:srgbClr xmlns:a="http://schemas.openxmlformats.org/drawingml/2006/main" val="F26B43"/>
          </p15:clr>
        </p15:guide>
        <p15:guide id="3" orient="horz" pos="432">
          <p15:clr>
            <a:srgbClr xmlns:a="http://schemas.openxmlformats.org/drawingml/2006/main" val="F26B43"/>
          </p15:clr>
        </p15:guide>
        <p15:guide id="4" orient="horz" pos="472">
          <p15:clr>
            <a:srgbClr xmlns:a="http://schemas.openxmlformats.org/drawingml/2006/main" val="F26B43"/>
          </p15:clr>
        </p15:guide>
        <p15:guide id="5" orient="horz" pos="4104">
          <p15:clr>
            <a:srgbClr xmlns:a="http://schemas.openxmlformats.org/drawingml/2006/main" val="F26B43"/>
          </p15:clr>
        </p15:guide>
        <p15:guide id="6" orient="horz" pos="4056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388a027c654f31" /><Relationship Type="http://schemas.openxmlformats.org/officeDocument/2006/relationships/notesSlide" Target="/ppt/notesSlides/notesSlide1.xml" Id="R0bcc595a42f546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394cb68a457480a" /><Relationship Type="http://schemas.openxmlformats.org/officeDocument/2006/relationships/notesSlide" Target="/ppt/notesSlides/notesSlide2.xml" Id="R37576fa177ca47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1edea0448ca4632" /><Relationship Type="http://schemas.openxmlformats.org/officeDocument/2006/relationships/notesSlide" Target="/ppt/notesSlides/notesSlide3.xml" Id="R484d9592d7c24d1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40a146052174d2b" /><Relationship Type="http://schemas.openxmlformats.org/officeDocument/2006/relationships/notesSlide" Target="/ppt/notesSlides/notesSlide4.xml" Id="R04ec567ffc60487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678b92b71fa469a" /><Relationship Type="http://schemas.openxmlformats.org/officeDocument/2006/relationships/notesSlide" Target="/ppt/notesSlides/notesSlide5.xml" Id="Rd0e56e19690e40a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ba578e6738f481b" /><Relationship Type="http://schemas.openxmlformats.org/officeDocument/2006/relationships/notesSlide" Target="/ppt/notesSlides/notesSlide6.xml" Id="Rad468bc138b747d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b43645ce0b84efc" /><Relationship Type="http://schemas.openxmlformats.org/officeDocument/2006/relationships/notesSlide" Target="/ppt/notesSlides/notesSlide7.xml" Id="R3626d23419cf40b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5aa1c2d1b3b4bb2" /><Relationship Type="http://schemas.openxmlformats.org/officeDocument/2006/relationships/notesSlide" Target="/ppt/notesSlides/notesSlide8.xml" Id="R687902ae1b33488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2b6f9c474364154" /><Relationship Type="http://schemas.openxmlformats.org/officeDocument/2006/relationships/notesSlide" Target="/ppt/notesSlides/notesSlide9.xml" Id="Rec2bfa79be4e44a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cd9440755764878" /><Relationship Type="http://schemas.openxmlformats.org/officeDocument/2006/relationships/notesSlide" Target="/ppt/notesSlides/notesSlide10.xml" Id="R4565bbe39c7a4c0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f86d4c0957049e7" /><Relationship Type="http://schemas.openxmlformats.org/officeDocument/2006/relationships/notesSlide" Target="/ppt/notesSlides/notesSlide11.xml" Id="Rb6f00bed31db459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b62f3a1d3e34601" /><Relationship Type="http://schemas.openxmlformats.org/officeDocument/2006/relationships/notesSlide" Target="/ppt/notesSlides/notesSlide12.xml" Id="R62564b616a1f41f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b32d1e58634482a" /><Relationship Type="http://schemas.openxmlformats.org/officeDocument/2006/relationships/notesSlide" Target="/ppt/notesSlides/notesSlide13.xml" Id="R421398b534e24ff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73a26dad2484b09" /><Relationship Type="http://schemas.openxmlformats.org/officeDocument/2006/relationships/notesSlide" Target="/ppt/notesSlides/notesSlide14.xml" Id="Rd1ecee2c0ddf4fa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2675c6755664a64" /><Relationship Type="http://schemas.openxmlformats.org/officeDocument/2006/relationships/notesSlide" Target="/ppt/notesSlides/notesSlide15.xml" Id="R73cb8363e7964de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fffdb8dda384a1f" /><Relationship Type="http://schemas.openxmlformats.org/officeDocument/2006/relationships/notesSlide" Target="/ppt/notesSlides/notesSlide16.xml" Id="R93a1893706d042d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879850bf5e84fed" /><Relationship Type="http://schemas.openxmlformats.org/officeDocument/2006/relationships/notesSlide" Target="/ppt/notesSlides/notesSlide17.xml" Id="R08aef13b5edf47a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d9b3988c0b84090" /><Relationship Type="http://schemas.openxmlformats.org/officeDocument/2006/relationships/notesSlide" Target="/ppt/notesSlides/notesSlide18.xml" Id="R51fb2b79491548b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4b66466a5db444d" /><Relationship Type="http://schemas.openxmlformats.org/officeDocument/2006/relationships/notesSlide" Target="/ppt/notesSlides/notesSlide19.xml" Id="Reb599394d3b54fe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15fa11c49554e76" /><Relationship Type="http://schemas.openxmlformats.org/officeDocument/2006/relationships/notesSlide" Target="/ppt/notesSlides/notesSlide20.xml" Id="R5ebdd0c7741d4be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D1D30E0E-D2D5-4C08-A919-2A1C2D5A8D02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1200150" y="3067050"/>
            <a:ext cx="9791700" cy="23241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sz="18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实验规格草图 → 公平 baseline → 可复现记录 → 判断门</a:t>
            </a:r>
            <a:endParaRPr>
              <a:latin typeface="+mn-ea"/>
              <a:ea typeface="+mn-ea"/>
              <a:cs typeface="+mn-ea"/>
            </a:endParaRPr>
          </a:p>
          <a:p xmlns:a="http://schemas.openxmlformats.org/drawingml/2006/main">
            <a:r>
              <a:rPr>
                <a:latin typeface="+mn-ea"/>
                <a:ea typeface="+mn-ea"/>
                <a:cs typeface="+mn-ea"/>
              </a:rPr>
              <a:t/>
            </a:r>
            <a:endParaRPr>
              <a:latin typeface="+mn-ea"/>
              <a:ea typeface="+mn-ea"/>
              <a:cs typeface="+mn-ea"/>
            </a:endParaRPr>
          </a:p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sz="18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草图能跑，不等于别人能复现</a:t>
            </a:r>
            <a:endParaRPr>
              <a:latin typeface="+mn-ea"/>
              <a:ea typeface="+mn-ea"/>
              <a:cs typeface="+mn-ea"/>
            </a:endParaRPr>
          </a:p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sz="18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第九讲｜阶段六：研究判断成案 + 阶段七：原型验证起始</a:t>
            </a:r>
            <a:endParaRPr>
              <a:latin typeface="+mn-ea"/>
              <a:ea typeface="+mn-ea"/>
              <a:cs typeface="+mn-ea"/>
            </a:endParaRPr>
          </a:p>
        </p:txBody>
      </p:sp>
      <p:sp>
        <p:nvSpPr>
          <p:cNvPr id="2" name="矩形 11">
            <a:extLst xmlns:a="http://schemas.openxmlformats.org/drawingml/2006/main">
              <a:ext uri="{FF2B5EF4-FFF2-40B4-BE49-F238E27FC236}">
                <a16:creationId xmlns:a16="http://schemas.microsoft.com/office/drawing/2014/main" id="{27DE90CC-93E2-C662-C202-C5C6993D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219200"/>
            <a:ext cx="10172700" cy="158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28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Baseline、实验规格、可复现性与判断门</a:t>
            </a:r>
            <a:endParaRPr sz="4000" b="1" kern="0" spc="20">
              <a:solidFill>
                <a:srgbClr val="C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5004539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7-8 课之后，草图离判断门还差六项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  <a:endParaRPr/>
          </a:p>
        </p:txBody>
      </p:sp>
      <p:sp>
        <p:nvSpPr>
          <p:cNvPr id="6" name="p02-left-title">
            <a:extLst xmlns:a="http://schemas.openxmlformats.org/drawingml/2006/main">
              <a:ext uri="{FF2B5EF4-FFF2-40B4-BE49-F238E27FC236}">
                <a16:creationId xmlns:a16="http://schemas.microsoft.com/office/drawing/2014/main" id="{1A6C9F8F-9377-48DB-847E-80656D02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9650"/>
            <a:ext cx="421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8745A"/>
                </a:solidFill>
              </a:defRPr>
            </a:pPr>
            <a:r>
              <a:rPr sz="202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已建立</a:t>
            </a:r>
          </a:p>
        </p:txBody>
      </p:sp>
      <p:sp>
        <p:nvSpPr>
          <p:cNvPr id="7" name="p02-l-0">
            <a:extLst xmlns:a="http://schemas.openxmlformats.org/drawingml/2006/main">
              <a:ext uri="{FF2B5EF4-FFF2-40B4-BE49-F238E27FC236}">
                <a16:creationId xmlns:a16="http://schemas.microsoft.com/office/drawing/2014/main" id="{A5697036-A951-4636-871D-BD11BB41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40576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28745A"/>
                </a:solidFill>
              </a:defRPr>
            </a:pPr>
            <a:r>
              <a:rPr sz="142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✓  机制假设列表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28745A"/>
                </a:solidFill>
              </a:defRPr>
            </a:pPr>
            <a:r>
              <a:rPr sz="142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主假设 + 替代 + 反证</a:t>
            </a:r>
          </a:p>
        </p:txBody>
      </p:sp>
      <p:sp>
        <p:nvSpPr>
          <p:cNvPr id="8" name="p02-l-1">
            <a:extLst xmlns:a="http://schemas.openxmlformats.org/drawingml/2006/main">
              <a:ext uri="{FF2B5EF4-FFF2-40B4-BE49-F238E27FC236}">
                <a16:creationId xmlns:a16="http://schemas.microsoft.com/office/drawing/2014/main" id="{5DC5B8C1-F8C8-4643-BE31-191C05C9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40576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28745A"/>
                </a:solidFill>
              </a:defRPr>
            </a:pPr>
            <a:r>
              <a:rPr sz="142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✓  研究判断 J1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28745A"/>
                </a:solidFill>
              </a:defRPr>
            </a:pPr>
            <a:r>
              <a:rPr sz="142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六字段</a:t>
            </a:r>
          </a:p>
        </p:txBody>
      </p:sp>
      <p:sp>
        <p:nvSpPr>
          <p:cNvPr id="9" name="p02-l-2">
            <a:extLst xmlns:a="http://schemas.openxmlformats.org/drawingml/2006/main">
              <a:ext uri="{FF2B5EF4-FFF2-40B4-BE49-F238E27FC236}">
                <a16:creationId xmlns:a16="http://schemas.microsoft.com/office/drawing/2014/main" id="{EF00F88D-96A4-48A0-82CB-996F328F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40576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28745A"/>
                </a:solidFill>
              </a:defRPr>
            </a:pPr>
            <a:r>
              <a:rPr sz="142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✓  实验规格草图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28745A"/>
                </a:solidFill>
              </a:defRPr>
            </a:pPr>
            <a:r>
              <a:rPr sz="142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变量清单</a:t>
            </a:r>
          </a:p>
        </p:txBody>
      </p:sp>
      <p:sp>
        <p:nvSpPr>
          <p:cNvPr id="10" name="p02-l-3">
            <a:extLst xmlns:a="http://schemas.openxmlformats.org/drawingml/2006/main">
              <a:ext uri="{FF2B5EF4-FFF2-40B4-BE49-F238E27FC236}">
                <a16:creationId xmlns:a16="http://schemas.microsoft.com/office/drawing/2014/main" id="{5D48105F-DED2-4A0D-92D1-9A2281AD7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40576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28745A"/>
                </a:solidFill>
              </a:defRPr>
            </a:pPr>
            <a:r>
              <a:rPr sz="142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✓  第 8 课反馈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28745A"/>
                </a:solidFill>
              </a:defRPr>
            </a:pPr>
            <a:r>
              <a:rPr sz="142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结构化记录</a:t>
            </a:r>
          </a:p>
        </p:txBody>
      </p:sp>
      <p:sp>
        <p:nvSpPr>
          <p:cNvPr id="11" name="p02-mid">
            <a:extLst xmlns:a="http://schemas.openxmlformats.org/drawingml/2006/main">
              <a:ext uri="{FF2B5EF4-FFF2-40B4-BE49-F238E27FC236}">
                <a16:creationId xmlns:a16="http://schemas.microsoft.com/office/drawing/2014/main" id="{BB8B98D9-DD7E-4323-BF47-2D340DB9C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248150" y="2990850"/>
            <a:ext cx="3695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02-arrow">
            <a:extLst xmlns:a="http://schemas.openxmlformats.org/drawingml/2006/main">
              <a:ext uri="{FF2B5EF4-FFF2-40B4-BE49-F238E27FC236}">
                <a16:creationId xmlns:a16="http://schemas.microsoft.com/office/drawing/2014/main" id="{F915BE0E-5716-4E9C-8DC6-B8EDB2F7B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667000"/>
            <a:ext cx="8763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8161E"/>
                </a:solidFill>
              </a:defRPr>
            </a:pPr>
            <a:r>
              <a:rPr sz="25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p02-right-title">
            <a:extLst xmlns:a="http://schemas.openxmlformats.org/drawingml/2006/main">
              <a:ext uri="{FF2B5EF4-FFF2-40B4-BE49-F238E27FC236}">
                <a16:creationId xmlns:a16="http://schemas.microsoft.com/office/drawing/2014/main" id="{AB13F838-832B-439B-87F2-94BE56621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009650"/>
            <a:ext cx="421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C8161E"/>
                </a:solidFill>
              </a:defRPr>
            </a:pPr>
            <a:r>
              <a:rPr sz="20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待补</a:t>
            </a:r>
          </a:p>
        </p:txBody>
      </p:sp>
      <p:sp>
        <p:nvSpPr>
          <p:cNvPr id="14" name="p02-n-0">
            <a:extLst xmlns:a="http://schemas.openxmlformats.org/drawingml/2006/main">
              <a:ext uri="{FF2B5EF4-FFF2-40B4-BE49-F238E27FC236}">
                <a16:creationId xmlns:a16="http://schemas.microsoft.com/office/drawing/2014/main" id="{4603244B-3694-4CFB-AED8-8CB29B04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581150"/>
            <a:ext cx="4000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5" name="p02-r-0">
            <a:extLst xmlns:a="http://schemas.openxmlformats.org/drawingml/2006/main">
              <a:ext uri="{FF2B5EF4-FFF2-40B4-BE49-F238E27FC236}">
                <a16:creationId xmlns:a16="http://schemas.microsoft.com/office/drawing/2014/main" id="{1BFEE184-247E-4488-B847-F455282F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581150"/>
            <a:ext cx="3600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baseline 类型与公平性</a:t>
            </a:r>
          </a:p>
        </p:txBody>
      </p:sp>
      <p:sp>
        <p:nvSpPr>
          <p:cNvPr id="16" name="p02-n-1">
            <a:extLst xmlns:a="http://schemas.openxmlformats.org/drawingml/2006/main">
              <a:ext uri="{FF2B5EF4-FFF2-40B4-BE49-F238E27FC236}">
                <a16:creationId xmlns:a16="http://schemas.microsoft.com/office/drawing/2014/main" id="{8359A68B-4C11-48B9-8286-7CF7C7F3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52650"/>
            <a:ext cx="4000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p02-r-1">
            <a:extLst xmlns:a="http://schemas.openxmlformats.org/drawingml/2006/main">
              <a:ext uri="{FF2B5EF4-FFF2-40B4-BE49-F238E27FC236}">
                <a16:creationId xmlns:a16="http://schemas.microsoft.com/office/drawing/2014/main" id="{52F977A0-ED6E-45C3-B8E0-234BF37A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152650"/>
            <a:ext cx="3600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停止条件、随机化、失败预案</a:t>
            </a:r>
          </a:p>
        </p:txBody>
      </p:sp>
      <p:sp>
        <p:nvSpPr>
          <p:cNvPr id="18" name="p02-n-2">
            <a:extLst xmlns:a="http://schemas.openxmlformats.org/drawingml/2006/main">
              <a:ext uri="{FF2B5EF4-FFF2-40B4-BE49-F238E27FC236}">
                <a16:creationId xmlns:a16="http://schemas.microsoft.com/office/drawing/2014/main" id="{5F5446D2-CDD5-49E8-9DD1-8FBBEE72A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24150"/>
            <a:ext cx="4000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p02-r-2">
            <a:extLst xmlns:a="http://schemas.openxmlformats.org/drawingml/2006/main">
              <a:ext uri="{FF2B5EF4-FFF2-40B4-BE49-F238E27FC236}">
                <a16:creationId xmlns:a16="http://schemas.microsoft.com/office/drawing/2014/main" id="{D564BAF4-7F9B-42CE-8BF8-29481399E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24150"/>
            <a:ext cx="3600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环境、配置、种子与数据</a:t>
            </a:r>
          </a:p>
        </p:txBody>
      </p:sp>
      <p:sp>
        <p:nvSpPr>
          <p:cNvPr id="20" name="p02-n-3">
            <a:extLst xmlns:a="http://schemas.openxmlformats.org/drawingml/2006/main">
              <a:ext uri="{FF2B5EF4-FFF2-40B4-BE49-F238E27FC236}">
                <a16:creationId xmlns:a16="http://schemas.microsoft.com/office/drawing/2014/main" id="{054AA6A1-B595-474F-912A-D60672D1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95650"/>
            <a:ext cx="4000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p02-r-3">
            <a:extLst xmlns:a="http://schemas.openxmlformats.org/drawingml/2006/main">
              <a:ext uri="{FF2B5EF4-FFF2-40B4-BE49-F238E27FC236}">
                <a16:creationId xmlns:a16="http://schemas.microsoft.com/office/drawing/2014/main" id="{E19E78E2-861E-4F14-A66A-A28634011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95650"/>
            <a:ext cx="3600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第 8 课反馈逐条处理</a:t>
            </a:r>
          </a:p>
        </p:txBody>
      </p:sp>
      <p:sp>
        <p:nvSpPr>
          <p:cNvPr id="22" name="p02-n-4">
            <a:extLst xmlns:a="http://schemas.openxmlformats.org/drawingml/2006/main">
              <a:ext uri="{FF2B5EF4-FFF2-40B4-BE49-F238E27FC236}">
                <a16:creationId xmlns:a16="http://schemas.microsoft.com/office/drawing/2014/main" id="{70964233-9E6C-426B-9B8C-D89F15A0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67150"/>
            <a:ext cx="4000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3" name="p02-r-4">
            <a:extLst xmlns:a="http://schemas.openxmlformats.org/drawingml/2006/main">
              <a:ext uri="{FF2B5EF4-FFF2-40B4-BE49-F238E27FC236}">
                <a16:creationId xmlns:a16="http://schemas.microsoft.com/office/drawing/2014/main" id="{C562A95C-FD14-4EB0-AB06-CCC900F03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867150"/>
            <a:ext cx="3600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第二条研究判断 J2</a:t>
            </a:r>
          </a:p>
        </p:txBody>
      </p:sp>
      <p:sp>
        <p:nvSpPr>
          <p:cNvPr id="24" name="p02-n-5">
            <a:extLst xmlns:a="http://schemas.openxmlformats.org/drawingml/2006/main">
              <a:ext uri="{FF2B5EF4-FFF2-40B4-BE49-F238E27FC236}">
                <a16:creationId xmlns:a16="http://schemas.microsoft.com/office/drawing/2014/main" id="{EB9E82AC-04B0-42DD-96DA-8642BA73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38650"/>
            <a:ext cx="4000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5" name="p02-r-5">
            <a:extLst xmlns:a="http://schemas.openxmlformats.org/drawingml/2006/main">
              <a:ext uri="{FF2B5EF4-FFF2-40B4-BE49-F238E27FC236}">
                <a16:creationId xmlns:a16="http://schemas.microsoft.com/office/drawing/2014/main" id="{82D7AC51-9221-4633-8470-BAE98597A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438650"/>
            <a:ext cx="3600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迁移完整项目模板</a:t>
            </a:r>
          </a:p>
        </p:txBody>
      </p:sp>
      <p:sp>
        <p:nvSpPr>
          <p:cNvPr id="26" name="p02-bottom">
            <a:extLst xmlns:a="http://schemas.openxmlformats.org/drawingml/2006/main">
              <a:ext uri="{FF2B5EF4-FFF2-40B4-BE49-F238E27FC236}">
                <a16:creationId xmlns:a16="http://schemas.microsoft.com/office/drawing/2014/main" id="{0B40E41E-7037-4F55-B18E-1BDCBCA1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19700"/>
            <a:ext cx="819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8161E"/>
                </a:solidFill>
              </a:defRPr>
            </a:pPr>
            <a:r>
              <a:rPr sz="18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草图能跑 ≠ 别人能复现；判断门检查的是可复现材料。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本课产出是可复现的判断门材料初版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  <a:endParaRPr/>
          </a:p>
        </p:txBody>
      </p:sp>
      <p:sp>
        <p:nvSpPr>
          <p:cNvPr id="6" name="p03-n-0">
            <a:extLst xmlns:a="http://schemas.openxmlformats.org/drawingml/2006/main">
              <a:ext uri="{FF2B5EF4-FFF2-40B4-BE49-F238E27FC236}">
                <a16:creationId xmlns:a16="http://schemas.microsoft.com/office/drawing/2014/main" id="{990310C2-9E65-4B17-A1BC-6C66F07D9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4572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p03-g-0">
            <a:extLst xmlns:a="http://schemas.openxmlformats.org/drawingml/2006/main">
              <a:ext uri="{FF2B5EF4-FFF2-40B4-BE49-F238E27FC236}">
                <a16:creationId xmlns:a16="http://schemas.microsoft.com/office/drawing/2014/main" id="{0F354A95-2ADA-42B0-BA90-F9F7F346F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066800"/>
            <a:ext cx="2838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选公平 baseline</a:t>
            </a:r>
          </a:p>
        </p:txBody>
      </p:sp>
      <p:sp>
        <p:nvSpPr>
          <p:cNvPr id="8" name="p03-n-1">
            <a:extLst xmlns:a="http://schemas.openxmlformats.org/drawingml/2006/main">
              <a:ext uri="{FF2B5EF4-FFF2-40B4-BE49-F238E27FC236}">
                <a16:creationId xmlns:a16="http://schemas.microsoft.com/office/drawing/2014/main" id="{98FE3881-D9B8-479C-818A-5FFA35BAE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066800"/>
            <a:ext cx="4572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p03-g-1">
            <a:extLst xmlns:a="http://schemas.openxmlformats.org/drawingml/2006/main">
              <a:ext uri="{FF2B5EF4-FFF2-40B4-BE49-F238E27FC236}">
                <a16:creationId xmlns:a16="http://schemas.microsoft.com/office/drawing/2014/main" id="{CC0C9BDE-7665-4945-B01A-A37828E9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066800"/>
            <a:ext cx="2838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补七字段规格</a:t>
            </a:r>
          </a:p>
        </p:txBody>
      </p:sp>
      <p:sp>
        <p:nvSpPr>
          <p:cNvPr id="10" name="p03-n-2">
            <a:extLst xmlns:a="http://schemas.openxmlformats.org/drawingml/2006/main">
              <a:ext uri="{FF2B5EF4-FFF2-40B4-BE49-F238E27FC236}">
                <a16:creationId xmlns:a16="http://schemas.microsoft.com/office/drawing/2014/main" id="{1EE7C3C1-05E2-4973-805B-082053C5D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4572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p03-g-2">
            <a:extLst xmlns:a="http://schemas.openxmlformats.org/drawingml/2006/main">
              <a:ext uri="{FF2B5EF4-FFF2-40B4-BE49-F238E27FC236}">
                <a16:creationId xmlns:a16="http://schemas.microsoft.com/office/drawing/2014/main" id="{85E21569-A545-4419-A60E-BA719FA7A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05000"/>
            <a:ext cx="2838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写六类复现说明</a:t>
            </a:r>
          </a:p>
        </p:txBody>
      </p:sp>
      <p:sp>
        <p:nvSpPr>
          <p:cNvPr id="12" name="p03-n-3">
            <a:extLst xmlns:a="http://schemas.openxmlformats.org/drawingml/2006/main">
              <a:ext uri="{FF2B5EF4-FFF2-40B4-BE49-F238E27FC236}">
                <a16:creationId xmlns:a16="http://schemas.microsoft.com/office/drawing/2014/main" id="{C95E3E27-3314-4673-A745-EC8DE6B2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905000"/>
            <a:ext cx="4572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p03-g-3">
            <a:extLst xmlns:a="http://schemas.openxmlformats.org/drawingml/2006/main">
              <a:ext uri="{FF2B5EF4-FFF2-40B4-BE49-F238E27FC236}">
                <a16:creationId xmlns:a16="http://schemas.microsoft.com/office/drawing/2014/main" id="{45276444-CDBC-43EF-AE88-47962AD75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905000"/>
            <a:ext cx="2838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处理方差与种子</a:t>
            </a:r>
          </a:p>
        </p:txBody>
      </p:sp>
      <p:sp>
        <p:nvSpPr>
          <p:cNvPr id="14" name="p03-n-4">
            <a:extLst xmlns:a="http://schemas.openxmlformats.org/drawingml/2006/main">
              <a:ext uri="{FF2B5EF4-FFF2-40B4-BE49-F238E27FC236}">
                <a16:creationId xmlns:a16="http://schemas.microsoft.com/office/drawing/2014/main" id="{4DC4327F-452C-40B2-97EB-DB637FE90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4572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5" name="p03-g-4">
            <a:extLst xmlns:a="http://schemas.openxmlformats.org/drawingml/2006/main">
              <a:ext uri="{FF2B5EF4-FFF2-40B4-BE49-F238E27FC236}">
                <a16:creationId xmlns:a16="http://schemas.microsoft.com/office/drawing/2014/main" id="{E94C70ED-131B-4B0D-91CE-ADCEAAD9A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43200"/>
            <a:ext cx="2838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逐条处理同伴反馈</a:t>
            </a:r>
          </a:p>
        </p:txBody>
      </p:sp>
      <p:sp>
        <p:nvSpPr>
          <p:cNvPr id="16" name="p03-n-5">
            <a:extLst xmlns:a="http://schemas.openxmlformats.org/drawingml/2006/main">
              <a:ext uri="{FF2B5EF4-FFF2-40B4-BE49-F238E27FC236}">
                <a16:creationId xmlns:a16="http://schemas.microsoft.com/office/drawing/2014/main" id="{7E02309C-EA13-4E6A-AFF1-BC01F6BA7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43200"/>
            <a:ext cx="4572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7" name="p03-g-5">
            <a:extLst xmlns:a="http://schemas.openxmlformats.org/drawingml/2006/main">
              <a:ext uri="{FF2B5EF4-FFF2-40B4-BE49-F238E27FC236}">
                <a16:creationId xmlns:a16="http://schemas.microsoft.com/office/drawing/2014/main" id="{FBA4354C-D4F7-4BDE-9273-F949FB39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743200"/>
            <a:ext cx="2838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迁移模板不丢记录</a:t>
            </a:r>
          </a:p>
        </p:txBody>
      </p:sp>
      <p:sp>
        <p:nvSpPr>
          <p:cNvPr id="18" name="p03-n-6">
            <a:extLst xmlns:a="http://schemas.openxmlformats.org/drawingml/2006/main">
              <a:ext uri="{FF2B5EF4-FFF2-40B4-BE49-F238E27FC236}">
                <a16:creationId xmlns:a16="http://schemas.microsoft.com/office/drawing/2014/main" id="{132C5362-4835-4763-8693-558DDCAFC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4572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9" name="p03-g-6">
            <a:extLst xmlns:a="http://schemas.openxmlformats.org/drawingml/2006/main">
              <a:ext uri="{FF2B5EF4-FFF2-40B4-BE49-F238E27FC236}">
                <a16:creationId xmlns:a16="http://schemas.microsoft.com/office/drawing/2014/main" id="{05F042F0-94E5-4D6F-BE52-80451728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81400"/>
            <a:ext cx="2838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对照八项门条件</a:t>
            </a:r>
          </a:p>
        </p:txBody>
      </p:sp>
      <p:sp>
        <p:nvSpPr>
          <p:cNvPr id="20" name="p03-sep">
            <a:extLst xmlns:a="http://schemas.openxmlformats.org/drawingml/2006/main">
              <a:ext uri="{FF2B5EF4-FFF2-40B4-BE49-F238E27FC236}">
                <a16:creationId xmlns:a16="http://schemas.microsoft.com/office/drawing/2014/main" id="{ADA1659C-174B-4B48-87F7-4C7C4F29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191250" y="2752725"/>
            <a:ext cx="331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03-out-title">
            <a:extLst xmlns:a="http://schemas.openxmlformats.org/drawingml/2006/main">
              <a:ext uri="{FF2B5EF4-FFF2-40B4-BE49-F238E27FC236}">
                <a16:creationId xmlns:a16="http://schemas.microsoft.com/office/drawing/2014/main" id="{4DAF74BB-EF61-4D46-B0C3-2A72EDE2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123950"/>
            <a:ext cx="3105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C8161E"/>
                </a:solidFill>
              </a:defRPr>
            </a:pPr>
            <a:r>
              <a:rPr sz="19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课堂最小产出</a:t>
            </a:r>
          </a:p>
        </p:txBody>
      </p:sp>
      <p:sp>
        <p:nvSpPr>
          <p:cNvPr id="22" name="p03-out">
            <a:extLst xmlns:a="http://schemas.openxmlformats.org/drawingml/2006/main">
              <a:ext uri="{FF2B5EF4-FFF2-40B4-BE49-F238E27FC236}">
                <a16:creationId xmlns:a16="http://schemas.microsoft.com/office/drawing/2014/main" id="{79FDE32F-7C9A-4782-9D1C-A9655759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52600"/>
            <a:ext cx="34861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00" b="1">
                <a:solidFill>
                  <a:srgbClr val="18354E"/>
                </a:solidFill>
              </a:defRPr>
            </a:pPr>
            <a:r>
              <a:rPr sz="15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experiment-spec.md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500" b="1">
                <a:solidFill>
                  <a:srgbClr val="18354E"/>
                </a:solidFill>
              </a:defRPr>
            </a:pPr>
            <a:r>
              <a:rPr sz="15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七字段 + 复现说明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500" b="1">
                <a:solidFill>
                  <a:srgbClr val="18354E"/>
                </a:solidFill>
              </a:defRPr>
            </a:pPr>
            <a:r>
              <a:rPr sz="15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hypothesis-and-judgment.md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500" b="1">
                <a:solidFill>
                  <a:srgbClr val="18354E"/>
                </a:solidFill>
              </a:defRPr>
            </a:pPr>
            <a:r>
              <a:rPr sz="15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J2 六字段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500" b="1">
                <a:solidFill>
                  <a:srgbClr val="18354E"/>
                </a:solidFill>
              </a:defRPr>
            </a:pPr>
            <a:r>
              <a:rPr sz="15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peer-review.md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500" b="1">
                <a:solidFill>
                  <a:srgbClr val="18354E"/>
                </a:solidFill>
              </a:defRPr>
            </a:pPr>
            <a:r>
              <a:rPr sz="15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反馈处理 + 失败预案</a:t>
            </a:r>
          </a:p>
        </p:txBody>
      </p:sp>
      <p:sp>
        <p:nvSpPr>
          <p:cNvPr id="23" name="p03-bottom">
            <a:extLst xmlns:a="http://schemas.openxmlformats.org/drawingml/2006/main">
              <a:ext uri="{FF2B5EF4-FFF2-40B4-BE49-F238E27FC236}">
                <a16:creationId xmlns:a16="http://schemas.microsoft.com/office/drawing/2014/main" id="{B9102CE3-F7A3-4830-9743-5F66E242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课后提交当前个人项目版本；条件以 assignments.md Checkpoint 2 为准。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baseline 是检验机制效应的公平参照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  <a:endParaRPr/>
          </a:p>
        </p:txBody>
      </p:sp>
      <p:sp>
        <p:nvSpPr>
          <p:cNvPr id="6" name="p04-def">
            <a:extLst xmlns:a="http://schemas.openxmlformats.org/drawingml/2006/main">
              <a:ext uri="{FF2B5EF4-FFF2-40B4-BE49-F238E27FC236}">
                <a16:creationId xmlns:a16="http://schemas.microsoft.com/office/drawing/2014/main" id="{82B13EF5-5D6F-4AB9-9898-BA317F8DC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990600"/>
            <a:ext cx="9867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8161E"/>
                </a:solidFill>
              </a:defRPr>
            </a:pPr>
            <a:r>
              <a:rPr sz="18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baseline = 用来回答‘方法效应是否真的来自假设机制’的公平参照</a:t>
            </a:r>
          </a:p>
        </p:txBody>
      </p:sp>
      <p:sp>
        <p:nvSpPr>
          <p:cNvPr id="7" name="p04-l-0">
            <a:extLst xmlns:a="http://schemas.openxmlformats.org/drawingml/2006/main">
              <a:ext uri="{FF2B5EF4-FFF2-40B4-BE49-F238E27FC236}">
                <a16:creationId xmlns:a16="http://schemas.microsoft.com/office/drawing/2014/main" id="{4F234D6E-FB89-47B1-ABDA-936F88EB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38350"/>
            <a:ext cx="11049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朴素</a:t>
            </a:r>
          </a:p>
        </p:txBody>
      </p:sp>
      <p:sp>
        <p:nvSpPr>
          <p:cNvPr id="8" name="p04-t-0">
            <a:extLst xmlns:a="http://schemas.openxmlformats.org/drawingml/2006/main">
              <a:ext uri="{FF2B5EF4-FFF2-40B4-BE49-F238E27FC236}">
                <a16:creationId xmlns:a16="http://schemas.microsoft.com/office/drawing/2014/main" id="{D5FB3891-A8BA-41BB-B8E9-B5B87E546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09850"/>
            <a:ext cx="33909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75" b="1">
                <a:solidFill>
                  <a:srgbClr val="18354E"/>
                </a:solidFill>
              </a:defRPr>
            </a:pPr>
            <a:r>
              <a:rPr sz="15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不使用目标机制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575" b="1">
                <a:solidFill>
                  <a:srgbClr val="18354E"/>
                </a:solidFill>
              </a:defRPr>
            </a:pPr>
            <a:r>
              <a:rPr sz="15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贯穿案例：虚构教学例：自由摘要</a:t>
            </a:r>
          </a:p>
        </p:txBody>
      </p:sp>
      <p:sp>
        <p:nvSpPr>
          <p:cNvPr id="9" name="p04-l-1">
            <a:extLst xmlns:a="http://schemas.openxmlformats.org/drawingml/2006/main">
              <a:ext uri="{FF2B5EF4-FFF2-40B4-BE49-F238E27FC236}">
                <a16:creationId xmlns:a16="http://schemas.microsoft.com/office/drawing/2014/main" id="{3AD18C9C-1ECC-4180-85F8-54B51FF3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38350"/>
            <a:ext cx="11049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强</a:t>
            </a:r>
          </a:p>
        </p:txBody>
      </p:sp>
      <p:sp>
        <p:nvSpPr>
          <p:cNvPr id="10" name="p04-t-1">
            <a:extLst xmlns:a="http://schemas.openxmlformats.org/drawingml/2006/main">
              <a:ext uri="{FF2B5EF4-FFF2-40B4-BE49-F238E27FC236}">
                <a16:creationId xmlns:a16="http://schemas.microsoft.com/office/drawing/2014/main" id="{A638C11F-53C5-4A8C-8339-191128FC2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3909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公开、可比的现成方法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贯穿案例：虚构教学例：few-shot 摘要</a:t>
            </a:r>
          </a:p>
        </p:txBody>
      </p:sp>
      <p:sp>
        <p:nvSpPr>
          <p:cNvPr id="11" name="p04-l-2">
            <a:extLst xmlns:a="http://schemas.openxmlformats.org/drawingml/2006/main">
              <a:ext uri="{FF2B5EF4-FFF2-40B4-BE49-F238E27FC236}">
                <a16:creationId xmlns:a16="http://schemas.microsoft.com/office/drawing/2014/main" id="{015E979E-943E-4EB0-AB99-D7F407A0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38350"/>
            <a:ext cx="11049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874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消融</a:t>
            </a:r>
          </a:p>
        </p:txBody>
      </p:sp>
      <p:sp>
        <p:nvSpPr>
          <p:cNvPr id="12" name="p04-t-2">
            <a:extLst xmlns:a="http://schemas.openxmlformats.org/drawingml/2006/main">
              <a:ext uri="{FF2B5EF4-FFF2-40B4-BE49-F238E27FC236}">
                <a16:creationId xmlns:a16="http://schemas.microsoft.com/office/drawing/2014/main" id="{AA2FB49A-BE3B-4C91-B4D9-0C218365F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09850"/>
            <a:ext cx="33909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75" b="1">
                <a:solidFill>
                  <a:srgbClr val="28745A"/>
                </a:solidFill>
              </a:defRPr>
            </a:pPr>
            <a:r>
              <a:rPr sz="157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去掉一个关键模块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575" b="1">
                <a:solidFill>
                  <a:srgbClr val="28745A"/>
                </a:solidFill>
              </a:defRPr>
            </a:pPr>
            <a:r>
              <a:rPr sz="157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贯穿案例：虚构教学例：阅读卡去定位</a:t>
            </a:r>
          </a:p>
        </p:txBody>
      </p:sp>
      <p:sp>
        <p:nvSpPr>
          <p:cNvPr id="13" name="p04-bottom">
            <a:extLst xmlns:a="http://schemas.openxmlformats.org/drawingml/2006/main">
              <a:ext uri="{FF2B5EF4-FFF2-40B4-BE49-F238E27FC236}">
                <a16:creationId xmlns:a16="http://schemas.microsoft.com/office/drawing/2014/main" id="{3506B52A-947B-4F5A-8BC9-92005F51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819650"/>
            <a:ext cx="7543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8161E"/>
                </a:solidFill>
              </a:defRPr>
            </a:pPr>
            <a:r>
              <a:rPr sz="18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判断门至少需要 1 个可执行 baseline，并说明它为什么公平。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公平 baseline 要求五项条件同时对等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/>
          </a:p>
        </p:txBody>
      </p:sp>
      <p:sp>
        <p:nvSpPr>
          <p:cNvPr id="6" name="p05-n-0">
            <a:extLst xmlns:a="http://schemas.openxmlformats.org/drawingml/2006/main">
              <a:ext uri="{FF2B5EF4-FFF2-40B4-BE49-F238E27FC236}">
                <a16:creationId xmlns:a16="http://schemas.microsoft.com/office/drawing/2014/main" id="{D35425B7-6606-4E0C-A8F2-BCB7CB5D8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66800"/>
            <a:ext cx="5143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p05-main-0">
            <a:extLst xmlns:a="http://schemas.openxmlformats.org/drawingml/2006/main">
              <a:ext uri="{FF2B5EF4-FFF2-40B4-BE49-F238E27FC236}">
                <a16:creationId xmlns:a16="http://schemas.microsoft.com/office/drawing/2014/main" id="{34BA12B2-51A7-4F6A-A02A-EEAAC8F7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066800"/>
            <a:ext cx="5391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同一批数据 / 论文 / 任务</a:t>
            </a:r>
          </a:p>
        </p:txBody>
      </p:sp>
      <p:sp>
        <p:nvSpPr>
          <p:cNvPr id="8" name="p05-why-0">
            <a:extLst xmlns:a="http://schemas.openxmlformats.org/drawingml/2006/main">
              <a:ext uri="{FF2B5EF4-FFF2-40B4-BE49-F238E27FC236}">
                <a16:creationId xmlns:a16="http://schemas.microsoft.com/office/drawing/2014/main" id="{3D20078A-E430-4EFF-8DD4-BAAD64C4A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066800"/>
            <a:ext cx="400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7684"/>
                </a:solidFill>
              </a:defRPr>
            </a:pPr>
            <a:r>
              <a:rPr sz="1500" b="1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避免难度差异</a:t>
            </a:r>
          </a:p>
        </p:txBody>
      </p:sp>
      <p:sp>
        <p:nvSpPr>
          <p:cNvPr id="9" name="p05-n-1">
            <a:extLst xmlns:a="http://schemas.openxmlformats.org/drawingml/2006/main">
              <a:ext uri="{FF2B5EF4-FFF2-40B4-BE49-F238E27FC236}">
                <a16:creationId xmlns:a16="http://schemas.microsoft.com/office/drawing/2014/main" id="{B0E1ADA2-8CE0-4335-B4A1-DAA239BA9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5143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p05-main-1">
            <a:extLst xmlns:a="http://schemas.openxmlformats.org/drawingml/2006/main">
              <a:ext uri="{FF2B5EF4-FFF2-40B4-BE49-F238E27FC236}">
                <a16:creationId xmlns:a16="http://schemas.microsoft.com/office/drawing/2014/main" id="{D0D7B4FE-14A2-4A2F-B1BD-56C82F9BA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85950"/>
            <a:ext cx="5391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模型、参数与种子一致</a:t>
            </a:r>
          </a:p>
        </p:txBody>
      </p:sp>
      <p:sp>
        <p:nvSpPr>
          <p:cNvPr id="11" name="p05-why-1">
            <a:extLst xmlns:a="http://schemas.openxmlformats.org/drawingml/2006/main">
              <a:ext uri="{FF2B5EF4-FFF2-40B4-BE49-F238E27FC236}">
                <a16:creationId xmlns:a16="http://schemas.microsoft.com/office/drawing/2014/main" id="{FCFF69ED-8B01-4AE4-AA88-8D5DF48A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885950"/>
            <a:ext cx="400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7684"/>
                </a:solidFill>
              </a:defRPr>
            </a:pPr>
            <a:r>
              <a:rPr sz="1500" b="1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避免配置差异</a:t>
            </a:r>
          </a:p>
        </p:txBody>
      </p:sp>
      <p:sp>
        <p:nvSpPr>
          <p:cNvPr id="12" name="p05-n-2">
            <a:extLst xmlns:a="http://schemas.openxmlformats.org/drawingml/2006/main">
              <a:ext uri="{FF2B5EF4-FFF2-40B4-BE49-F238E27FC236}">
                <a16:creationId xmlns:a16="http://schemas.microsoft.com/office/drawing/2014/main" id="{C9C778CF-E573-40A1-B40A-292A4060B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5143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p05-main-2">
            <a:extLst xmlns:a="http://schemas.openxmlformats.org/drawingml/2006/main">
              <a:ext uri="{FF2B5EF4-FFF2-40B4-BE49-F238E27FC236}">
                <a16:creationId xmlns:a16="http://schemas.microsoft.com/office/drawing/2014/main" id="{031AB1BD-BBF2-48EF-AAEE-4AD1DFD4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05100"/>
            <a:ext cx="5391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同一评价协议与计算口径</a:t>
            </a:r>
          </a:p>
        </p:txBody>
      </p:sp>
      <p:sp>
        <p:nvSpPr>
          <p:cNvPr id="14" name="p05-why-2">
            <a:extLst xmlns:a="http://schemas.openxmlformats.org/drawingml/2006/main">
              <a:ext uri="{FF2B5EF4-FFF2-40B4-BE49-F238E27FC236}">
                <a16:creationId xmlns:a16="http://schemas.microsoft.com/office/drawing/2014/main" id="{88C7B4D3-2274-491E-B55A-1A7BA8C3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05100"/>
            <a:ext cx="400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7684"/>
                </a:solidFill>
              </a:defRPr>
            </a:pPr>
            <a:r>
              <a:rPr sz="1500" b="1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避免评价者偏倚</a:t>
            </a:r>
          </a:p>
        </p:txBody>
      </p:sp>
      <p:sp>
        <p:nvSpPr>
          <p:cNvPr id="15" name="p05-n-3">
            <a:extLst xmlns:a="http://schemas.openxmlformats.org/drawingml/2006/main">
              <a:ext uri="{FF2B5EF4-FFF2-40B4-BE49-F238E27FC236}">
                <a16:creationId xmlns:a16="http://schemas.microsoft.com/office/drawing/2014/main" id="{E307D272-D6D5-4B18-A4E5-DC2974B6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5143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p05-main-3">
            <a:extLst xmlns:a="http://schemas.openxmlformats.org/drawingml/2006/main">
              <a:ext uri="{FF2B5EF4-FFF2-40B4-BE49-F238E27FC236}">
                <a16:creationId xmlns:a16="http://schemas.microsoft.com/office/drawing/2014/main" id="{8F78DF74-FA50-4437-BDBB-33CFCD94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24250"/>
            <a:ext cx="5391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运行次数与停止条件相同</a:t>
            </a:r>
          </a:p>
        </p:txBody>
      </p:sp>
      <p:sp>
        <p:nvSpPr>
          <p:cNvPr id="17" name="p05-why-3">
            <a:extLst xmlns:a="http://schemas.openxmlformats.org/drawingml/2006/main">
              <a:ext uri="{FF2B5EF4-FFF2-40B4-BE49-F238E27FC236}">
                <a16:creationId xmlns:a16="http://schemas.microsoft.com/office/drawing/2014/main" id="{29E73D5A-C59C-46A9-BAAE-B3EE3A2B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524250"/>
            <a:ext cx="400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7684"/>
                </a:solidFill>
              </a:defRPr>
            </a:pPr>
            <a:r>
              <a:rPr sz="1500" b="1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避免噪声差异</a:t>
            </a:r>
          </a:p>
        </p:txBody>
      </p:sp>
      <p:sp>
        <p:nvSpPr>
          <p:cNvPr id="18" name="p05-n-4">
            <a:extLst xmlns:a="http://schemas.openxmlformats.org/drawingml/2006/main">
              <a:ext uri="{FF2B5EF4-FFF2-40B4-BE49-F238E27FC236}">
                <a16:creationId xmlns:a16="http://schemas.microsoft.com/office/drawing/2014/main" id="{19B591A5-AFCC-4EFE-9826-22DEB58B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43400"/>
            <a:ext cx="5143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9" name="p05-main-4">
            <a:extLst xmlns:a="http://schemas.openxmlformats.org/drawingml/2006/main">
              <a:ext uri="{FF2B5EF4-FFF2-40B4-BE49-F238E27FC236}">
                <a16:creationId xmlns:a16="http://schemas.microsoft.com/office/drawing/2014/main" id="{9CC63FEF-526C-44D6-A8F1-E15E969C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43400"/>
            <a:ext cx="5391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失败完整记录</a:t>
            </a:r>
          </a:p>
        </p:txBody>
      </p:sp>
      <p:sp>
        <p:nvSpPr>
          <p:cNvPr id="20" name="p05-why-4">
            <a:extLst xmlns:a="http://schemas.openxmlformats.org/drawingml/2006/main">
              <a:ext uri="{FF2B5EF4-FFF2-40B4-BE49-F238E27FC236}">
                <a16:creationId xmlns:a16="http://schemas.microsoft.com/office/drawing/2014/main" id="{06CA5B73-2863-4448-9F41-916B86EC2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343400"/>
            <a:ext cx="4000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避免选择性删除</a:t>
            </a:r>
          </a:p>
        </p:txBody>
      </p:sp>
      <p:sp>
        <p:nvSpPr>
          <p:cNvPr id="21" name="p05-bottom">
            <a:extLst xmlns:a="http://schemas.openxmlformats.org/drawingml/2006/main">
              <a:ext uri="{FF2B5EF4-FFF2-40B4-BE49-F238E27FC236}">
                <a16:creationId xmlns:a16="http://schemas.microsoft.com/office/drawing/2014/main" id="{6D4AB84F-2D25-4FA0-B7F6-F5AE076F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295900"/>
            <a:ext cx="7391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8161E"/>
                </a:solidFill>
              </a:defRPr>
            </a:pPr>
            <a:r>
              <a:rPr sz="17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控制变量一致 + 混杂变量可识别，才有资格比较。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五类不公平做法都会把偏倚写成效应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  <a:endParaRPr/>
          </a:p>
        </p:txBody>
      </p:sp>
      <p:sp>
        <p:nvSpPr>
          <p:cNvPr id="6" name="p06-table-h-0">
            <a:extLst xmlns:a="http://schemas.openxmlformats.org/drawingml/2006/main">
              <a:ext uri="{FF2B5EF4-FFF2-40B4-BE49-F238E27FC236}">
                <a16:creationId xmlns:a16="http://schemas.microsoft.com/office/drawing/2014/main" id="{675D1066-5F41-46BE-A304-1E4F99A24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反例</a:t>
            </a:r>
          </a:p>
        </p:txBody>
      </p:sp>
      <p:sp>
        <p:nvSpPr>
          <p:cNvPr id="7" name="p06-table-h-1">
            <a:extLst xmlns:a="http://schemas.openxmlformats.org/drawingml/2006/main">
              <a:ext uri="{FF2B5EF4-FFF2-40B4-BE49-F238E27FC236}">
                <a16:creationId xmlns:a16="http://schemas.microsoft.com/office/drawing/2014/main" id="{6CD92C31-7F25-4991-9474-CE3007C68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0668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不公平点</a:t>
            </a:r>
          </a:p>
        </p:txBody>
      </p:sp>
      <p:sp>
        <p:nvSpPr>
          <p:cNvPr id="8" name="p06-table-h-2">
            <a:extLst xmlns:a="http://schemas.openxmlformats.org/drawingml/2006/main">
              <a:ext uri="{FF2B5EF4-FFF2-40B4-BE49-F238E27FC236}">
                <a16:creationId xmlns:a16="http://schemas.microsoft.com/office/drawing/2014/main" id="{505BAE0D-88E6-4E1D-ADDD-EA4B34FBD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066800"/>
            <a:ext cx="533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结果为何不可解释</a:t>
            </a:r>
          </a:p>
        </p:txBody>
      </p:sp>
      <p:sp>
        <p:nvSpPr>
          <p:cNvPr id="9" name="p06-table-r0-0">
            <a:extLst xmlns:a="http://schemas.openxmlformats.org/drawingml/2006/main">
              <a:ext uri="{FF2B5EF4-FFF2-40B4-BE49-F238E27FC236}">
                <a16:creationId xmlns:a16="http://schemas.microsoft.com/office/drawing/2014/main" id="{BA0A83E9-4841-4735-8678-C29229A1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C8161E"/>
                </a:solidFill>
              </a:defRPr>
            </a:pPr>
            <a:r>
              <a:rPr sz="14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数据不一致</a:t>
            </a:r>
          </a:p>
        </p:txBody>
      </p:sp>
      <p:sp>
        <p:nvSpPr>
          <p:cNvPr id="10" name="p06-table-r0-1">
            <a:extLst xmlns:a="http://schemas.openxmlformats.org/drawingml/2006/main">
              <a:ext uri="{FF2B5EF4-FFF2-40B4-BE49-F238E27FC236}">
                <a16:creationId xmlns:a16="http://schemas.microsoft.com/office/drawing/2014/main" id="{BCACF3E2-C437-448A-B711-F4E7D3B3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524000"/>
            <a:ext cx="3333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263746"/>
                </a:solidFill>
              </a:defRPr>
            </a:pPr>
            <a:r>
              <a:rPr sz="14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A 集 vs B 集</a:t>
            </a:r>
          </a:p>
        </p:txBody>
      </p:sp>
      <p:sp>
        <p:nvSpPr>
          <p:cNvPr id="11" name="p06-table-r0-2">
            <a:extLst xmlns:a="http://schemas.openxmlformats.org/drawingml/2006/main">
              <a:ext uri="{FF2B5EF4-FFF2-40B4-BE49-F238E27FC236}">
                <a16:creationId xmlns:a16="http://schemas.microsoft.com/office/drawing/2014/main" id="{25155667-64C6-46E2-88B2-ABF19A508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533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263746"/>
                </a:solidFill>
              </a:defRPr>
            </a:pPr>
            <a:r>
              <a:rPr sz="14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差异可能来自难度</a:t>
            </a:r>
          </a:p>
        </p:txBody>
      </p:sp>
      <p:sp>
        <p:nvSpPr>
          <p:cNvPr id="12" name="p06-table-r1-0">
            <a:extLst xmlns:a="http://schemas.openxmlformats.org/drawingml/2006/main">
              <a:ext uri="{FF2B5EF4-FFF2-40B4-BE49-F238E27FC236}">
                <a16:creationId xmlns:a16="http://schemas.microsoft.com/office/drawing/2014/main" id="{8DB9A505-308E-4877-A2D0-2CBB995A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09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C8161E"/>
                </a:solidFill>
              </a:defRPr>
            </a:pPr>
            <a:r>
              <a:rPr sz="14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超参不对等</a:t>
            </a:r>
          </a:p>
        </p:txBody>
      </p:sp>
      <p:sp>
        <p:nvSpPr>
          <p:cNvPr id="13" name="p06-table-r1-1">
            <a:extLst xmlns:a="http://schemas.openxmlformats.org/drawingml/2006/main">
              <a:ext uri="{FF2B5EF4-FFF2-40B4-BE49-F238E27FC236}">
                <a16:creationId xmlns:a16="http://schemas.microsoft.com/office/drawing/2014/main" id="{6D3C2B7F-F94C-41A9-949B-04537E062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209800"/>
            <a:ext cx="3333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263746"/>
                </a:solidFill>
              </a:defRPr>
            </a:pPr>
            <a:r>
              <a:rPr sz="14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只给实验组调参</a:t>
            </a:r>
          </a:p>
        </p:txBody>
      </p:sp>
      <p:sp>
        <p:nvSpPr>
          <p:cNvPr id="14" name="p06-table-r1-2">
            <a:extLst xmlns:a="http://schemas.openxmlformats.org/drawingml/2006/main">
              <a:ext uri="{FF2B5EF4-FFF2-40B4-BE49-F238E27FC236}">
                <a16:creationId xmlns:a16="http://schemas.microsoft.com/office/drawing/2014/main" id="{1EF15142-C37C-41E1-8676-173E182E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09800"/>
            <a:ext cx="533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263746"/>
                </a:solidFill>
              </a:defRPr>
            </a:pPr>
            <a:r>
              <a:rPr sz="14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比较的是调参投入</a:t>
            </a:r>
          </a:p>
        </p:txBody>
      </p:sp>
      <p:sp>
        <p:nvSpPr>
          <p:cNvPr id="15" name="p06-table-r2-0">
            <a:extLst xmlns:a="http://schemas.openxmlformats.org/drawingml/2006/main">
              <a:ext uri="{FF2B5EF4-FFF2-40B4-BE49-F238E27FC236}">
                <a16:creationId xmlns:a16="http://schemas.microsoft.com/office/drawing/2014/main" id="{DEC8002D-5DC0-4A61-AB69-045D43BB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95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C8161E"/>
                </a:solidFill>
              </a:defRPr>
            </a:pPr>
            <a:r>
              <a:rPr sz="14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评价不一致</a:t>
            </a:r>
          </a:p>
        </p:txBody>
      </p:sp>
      <p:sp>
        <p:nvSpPr>
          <p:cNvPr id="16" name="p06-table-r2-1">
            <a:extLst xmlns:a="http://schemas.openxmlformats.org/drawingml/2006/main">
              <a:ext uri="{FF2B5EF4-FFF2-40B4-BE49-F238E27FC236}">
                <a16:creationId xmlns:a16="http://schemas.microsoft.com/office/drawing/2014/main" id="{F3B93E20-21D7-4406-9D3B-27C1C420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95600"/>
            <a:ext cx="3333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263746"/>
                </a:solidFill>
              </a:defRPr>
            </a:pPr>
            <a:r>
              <a:rPr sz="14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盲评 vs 非盲评</a:t>
            </a:r>
          </a:p>
        </p:txBody>
      </p:sp>
      <p:sp>
        <p:nvSpPr>
          <p:cNvPr id="17" name="p06-table-r2-2">
            <a:extLst xmlns:a="http://schemas.openxmlformats.org/drawingml/2006/main">
              <a:ext uri="{FF2B5EF4-FFF2-40B4-BE49-F238E27FC236}">
                <a16:creationId xmlns:a16="http://schemas.microsoft.com/office/drawing/2014/main" id="{BA466560-CF34-430D-9712-71EFAEC2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95600"/>
            <a:ext cx="533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263746"/>
                </a:solidFill>
              </a:defRPr>
            </a:pPr>
            <a:r>
              <a:rPr sz="14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混入评价者偏倚</a:t>
            </a:r>
          </a:p>
        </p:txBody>
      </p:sp>
      <p:sp>
        <p:nvSpPr>
          <p:cNvPr id="18" name="p06-table-r3-0">
            <a:extLst xmlns:a="http://schemas.openxmlformats.org/drawingml/2006/main">
              <a:ext uri="{FF2B5EF4-FFF2-40B4-BE49-F238E27FC236}">
                <a16:creationId xmlns:a16="http://schemas.microsoft.com/office/drawing/2014/main" id="{09E0095B-15B3-4804-8855-7410E767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1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C8161E"/>
                </a:solidFill>
              </a:defRPr>
            </a:pPr>
            <a:r>
              <a:rPr sz="14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次数不对等</a:t>
            </a:r>
          </a:p>
        </p:txBody>
      </p:sp>
      <p:sp>
        <p:nvSpPr>
          <p:cNvPr id="19" name="p06-table-r3-1">
            <a:extLst xmlns:a="http://schemas.openxmlformats.org/drawingml/2006/main">
              <a:ext uri="{FF2B5EF4-FFF2-40B4-BE49-F238E27FC236}">
                <a16:creationId xmlns:a16="http://schemas.microsoft.com/office/drawing/2014/main" id="{57468FAD-2858-4C61-8CF6-F51A49EE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581400"/>
            <a:ext cx="3333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263746"/>
                </a:solidFill>
              </a:defRPr>
            </a:pPr>
            <a:r>
              <a:rPr sz="14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5 次均值 vs 1 次</a:t>
            </a:r>
          </a:p>
        </p:txBody>
      </p:sp>
      <p:sp>
        <p:nvSpPr>
          <p:cNvPr id="20" name="p06-table-r3-2">
            <a:extLst xmlns:a="http://schemas.openxmlformats.org/drawingml/2006/main">
              <a:ext uri="{FF2B5EF4-FFF2-40B4-BE49-F238E27FC236}">
                <a16:creationId xmlns:a16="http://schemas.microsoft.com/office/drawing/2014/main" id="{0A202907-5377-4F6F-93EF-AD9ECD0C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81400"/>
            <a:ext cx="533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263746"/>
                </a:solidFill>
              </a:defRPr>
            </a:pPr>
            <a:r>
              <a:rPr sz="14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混入随机噪声</a:t>
            </a:r>
          </a:p>
        </p:txBody>
      </p:sp>
      <p:sp>
        <p:nvSpPr>
          <p:cNvPr id="21" name="p06-table-r4-0">
            <a:extLst xmlns:a="http://schemas.openxmlformats.org/drawingml/2006/main">
              <a:ext uri="{FF2B5EF4-FFF2-40B4-BE49-F238E27FC236}">
                <a16:creationId xmlns:a16="http://schemas.microsoft.com/office/drawing/2014/main" id="{F1C6A195-50BF-4B00-8978-B7AFBBE0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67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C8161E"/>
                </a:solidFill>
              </a:defRPr>
            </a:pPr>
            <a:r>
              <a:rPr sz="14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失败被删除</a:t>
            </a:r>
          </a:p>
        </p:txBody>
      </p:sp>
      <p:sp>
        <p:nvSpPr>
          <p:cNvPr id="22" name="p06-table-r4-1">
            <a:extLst xmlns:a="http://schemas.openxmlformats.org/drawingml/2006/main">
              <a:ext uri="{FF2B5EF4-FFF2-40B4-BE49-F238E27FC236}">
                <a16:creationId xmlns:a16="http://schemas.microsoft.com/office/drawing/2014/main" id="{32DC0C3A-EB34-4881-8A96-B45EA6E3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267200"/>
            <a:ext cx="3333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263746"/>
                </a:solidFill>
              </a:defRPr>
            </a:pPr>
            <a:r>
              <a:rPr sz="14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只留成功运行</a:t>
            </a:r>
          </a:p>
        </p:txBody>
      </p:sp>
      <p:sp>
        <p:nvSpPr>
          <p:cNvPr id="23" name="p06-table-r4-2">
            <a:extLst xmlns:a="http://schemas.openxmlformats.org/drawingml/2006/main">
              <a:ext uri="{FF2B5EF4-FFF2-40B4-BE49-F238E27FC236}">
                <a16:creationId xmlns:a16="http://schemas.microsoft.com/office/drawing/2014/main" id="{B27F7246-3760-4F1C-9F6D-68C0CF5C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67200"/>
            <a:ext cx="533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263746"/>
                </a:solidFill>
              </a:defRPr>
            </a:pPr>
            <a:r>
              <a:rPr sz="14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形成选择性报告</a:t>
            </a:r>
          </a:p>
        </p:txBody>
      </p:sp>
      <p:sp>
        <p:nvSpPr>
          <p:cNvPr id="24" name="p06-bottom">
            <a:extLst xmlns:a="http://schemas.openxmlformats.org/drawingml/2006/main">
              <a:ext uri="{FF2B5EF4-FFF2-40B4-BE49-F238E27FC236}">
                <a16:creationId xmlns:a16="http://schemas.microsoft.com/office/drawing/2014/main" id="{3E264FD3-8314-461E-91B7-F5D677C4B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86350"/>
            <a:ext cx="7048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8161E"/>
                </a:solidFill>
              </a:defRPr>
            </a:pPr>
            <a:r>
              <a:rPr sz="17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baseline 必须可执行；失败仍是实验记录的一部分。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一句‘方法有效’无法证明实验可复现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  <a:endParaRPr/>
          </a:p>
        </p:txBody>
      </p:sp>
      <p:sp>
        <p:nvSpPr>
          <p:cNvPr id="6" name="p07-watermark">
            <a:extLst xmlns:a="http://schemas.openxmlformats.org/drawingml/2006/main">
              <a:ext uri="{FF2B5EF4-FFF2-40B4-BE49-F238E27FC236}">
                <a16:creationId xmlns:a16="http://schemas.microsoft.com/office/drawing/2014/main" id="{C1331B18-5E05-4852-AFF1-BB00A96D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76300"/>
            <a:ext cx="3371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虚构教学反例｜非真实实验结果</a:t>
            </a:r>
          </a:p>
        </p:txBody>
      </p:sp>
      <p:sp>
        <p:nvSpPr>
          <p:cNvPr id="7" name="p07-claim">
            <a:extLst xmlns:a="http://schemas.openxmlformats.org/drawingml/2006/main">
              <a:ext uri="{FF2B5EF4-FFF2-40B4-BE49-F238E27FC236}">
                <a16:creationId xmlns:a16="http://schemas.microsoft.com/office/drawing/2014/main" id="{D47E0A9F-340E-420D-A681-D1400A9F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95400"/>
            <a:ext cx="4953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75" b="1">
                <a:solidFill>
                  <a:srgbClr val="C8161E"/>
                </a:solidFill>
              </a:defRPr>
            </a:pPr>
            <a:r>
              <a:rPr sz="18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“用 GPT-4 生成摘要。阅读卡组遗漏率更低，所以方法有效。”</a:t>
            </a:r>
          </a:p>
        </p:txBody>
      </p:sp>
      <p:sp>
        <p:nvSpPr>
          <p:cNvPr id="8" name="p07-question">
            <a:extLst xmlns:a="http://schemas.openxmlformats.org/drawingml/2006/main">
              <a:ext uri="{FF2B5EF4-FFF2-40B4-BE49-F238E27FC236}">
                <a16:creationId xmlns:a16="http://schemas.microsoft.com/office/drawing/2014/main" id="{B8E93CFC-A9ED-4E7B-947A-77CB6ACA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76550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8354E"/>
                </a:solidFill>
              </a:defRPr>
            </a:pPr>
            <a:r>
              <a:rPr sz="19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这句话缺了什么？</a:t>
            </a:r>
          </a:p>
        </p:txBody>
      </p:sp>
      <p:sp>
        <p:nvSpPr>
          <p:cNvPr id="9" name="p07-judgment">
            <a:extLst xmlns:a="http://schemas.openxmlformats.org/drawingml/2006/main">
              <a:ext uri="{FF2B5EF4-FFF2-40B4-BE49-F238E27FC236}">
                <a16:creationId xmlns:a16="http://schemas.microsoft.com/office/drawing/2014/main" id="{8C3254B5-A091-4106-B406-725DB8BF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81400"/>
            <a:ext cx="4533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没有运行条件，‘有效’无法被复核。</a:t>
            </a:r>
          </a:p>
        </p:txBody>
      </p:sp>
      <p:sp>
        <p:nvSpPr>
          <p:cNvPr id="10" name="p07-n-0">
            <a:extLst xmlns:a="http://schemas.openxmlformats.org/drawingml/2006/main">
              <a:ext uri="{FF2B5EF4-FFF2-40B4-BE49-F238E27FC236}">
                <a16:creationId xmlns:a16="http://schemas.microsoft.com/office/drawing/2014/main" id="{907E3005-2465-4416-A4FA-035DAF272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200150"/>
            <a:ext cx="4000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11" name="p07-m-0">
            <a:extLst xmlns:a="http://schemas.openxmlformats.org/drawingml/2006/main">
              <a:ext uri="{FF2B5EF4-FFF2-40B4-BE49-F238E27FC236}">
                <a16:creationId xmlns:a16="http://schemas.microsoft.com/office/drawing/2014/main" id="{794AFECF-4599-4B04-B62E-9358969C8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200150"/>
            <a:ext cx="4514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模型版本 / snapshot</a:t>
            </a:r>
          </a:p>
        </p:txBody>
      </p:sp>
      <p:sp>
        <p:nvSpPr>
          <p:cNvPr id="12" name="p07-n-1">
            <a:extLst xmlns:a="http://schemas.openxmlformats.org/drawingml/2006/main">
              <a:ext uri="{FF2B5EF4-FFF2-40B4-BE49-F238E27FC236}">
                <a16:creationId xmlns:a16="http://schemas.microsoft.com/office/drawing/2014/main" id="{01C11D9B-5B73-44DD-89A4-40335D0CA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4000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13" name="p07-m-1">
            <a:extLst xmlns:a="http://schemas.openxmlformats.org/drawingml/2006/main">
              <a:ext uri="{FF2B5EF4-FFF2-40B4-BE49-F238E27FC236}">
                <a16:creationId xmlns:a16="http://schemas.microsoft.com/office/drawing/2014/main" id="{E562DE7B-D963-4B0B-BC67-8DE20450A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762125"/>
            <a:ext cx="4514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温度、max_tokens、prompt</a:t>
            </a:r>
          </a:p>
        </p:txBody>
      </p:sp>
      <p:sp>
        <p:nvSpPr>
          <p:cNvPr id="14" name="p07-n-2">
            <a:extLst xmlns:a="http://schemas.openxmlformats.org/drawingml/2006/main">
              <a:ext uri="{FF2B5EF4-FFF2-40B4-BE49-F238E27FC236}">
                <a16:creationId xmlns:a16="http://schemas.microsoft.com/office/drawing/2014/main" id="{E1C0A4EC-0AD0-465A-8762-15D774B8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24100"/>
            <a:ext cx="4000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15" name="p07-m-2">
            <a:extLst xmlns:a="http://schemas.openxmlformats.org/drawingml/2006/main">
              <a:ext uri="{FF2B5EF4-FFF2-40B4-BE49-F238E27FC236}">
                <a16:creationId xmlns:a16="http://schemas.microsoft.com/office/drawing/2014/main" id="{D5AEDC31-F8CB-4DE6-9A65-BBB97F118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24100"/>
            <a:ext cx="4514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随机种子</a:t>
            </a:r>
          </a:p>
        </p:txBody>
      </p:sp>
      <p:sp>
        <p:nvSpPr>
          <p:cNvPr id="16" name="p07-n-3">
            <a:extLst xmlns:a="http://schemas.openxmlformats.org/drawingml/2006/main">
              <a:ext uri="{FF2B5EF4-FFF2-40B4-BE49-F238E27FC236}">
                <a16:creationId xmlns:a16="http://schemas.microsoft.com/office/drawing/2014/main" id="{EC5446E6-C508-4F07-B5D1-30BBA5BBF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86075"/>
            <a:ext cx="4000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17" name="p07-m-3">
            <a:extLst xmlns:a="http://schemas.openxmlformats.org/drawingml/2006/main">
              <a:ext uri="{FF2B5EF4-FFF2-40B4-BE49-F238E27FC236}">
                <a16:creationId xmlns:a16="http://schemas.microsoft.com/office/drawing/2014/main" id="{1B59A632-F9EA-4B27-B5BB-21F47D896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86075"/>
            <a:ext cx="4514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20 篇论文来源与快照</a:t>
            </a:r>
          </a:p>
        </p:txBody>
      </p:sp>
      <p:sp>
        <p:nvSpPr>
          <p:cNvPr id="18" name="p07-n-4">
            <a:extLst xmlns:a="http://schemas.openxmlformats.org/drawingml/2006/main">
              <a:ext uri="{FF2B5EF4-FFF2-40B4-BE49-F238E27FC236}">
                <a16:creationId xmlns:a16="http://schemas.microsoft.com/office/drawing/2014/main" id="{3E91F92A-F8B8-43E0-9702-0C5DF2E82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4000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19" name="p07-m-4">
            <a:extLst xmlns:a="http://schemas.openxmlformats.org/drawingml/2006/main">
              <a:ext uri="{FF2B5EF4-FFF2-40B4-BE49-F238E27FC236}">
                <a16:creationId xmlns:a16="http://schemas.microsoft.com/office/drawing/2014/main" id="{B3CB04DE-6C90-47F8-B663-1E12C2E48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48050"/>
            <a:ext cx="4514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运行次数</a:t>
            </a:r>
          </a:p>
        </p:txBody>
      </p:sp>
      <p:sp>
        <p:nvSpPr>
          <p:cNvPr id="20" name="p07-n-5">
            <a:extLst xmlns:a="http://schemas.openxmlformats.org/drawingml/2006/main">
              <a:ext uri="{FF2B5EF4-FFF2-40B4-BE49-F238E27FC236}">
                <a16:creationId xmlns:a16="http://schemas.microsoft.com/office/drawing/2014/main" id="{376E08D8-7129-4ACF-979F-4BC7654B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10025"/>
            <a:ext cx="4000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21" name="p07-m-5">
            <a:extLst xmlns:a="http://schemas.openxmlformats.org/drawingml/2006/main">
              <a:ext uri="{FF2B5EF4-FFF2-40B4-BE49-F238E27FC236}">
                <a16:creationId xmlns:a16="http://schemas.microsoft.com/office/drawing/2014/main" id="{A8E52AAA-B64B-4392-BE7E-C9CDA0B9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10025"/>
            <a:ext cx="4514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rubric、标注者、kappa</a:t>
            </a:r>
          </a:p>
        </p:txBody>
      </p:sp>
      <p:sp>
        <p:nvSpPr>
          <p:cNvPr id="22" name="p07-n-6">
            <a:extLst xmlns:a="http://schemas.openxmlformats.org/drawingml/2006/main">
              <a:ext uri="{FF2B5EF4-FFF2-40B4-BE49-F238E27FC236}">
                <a16:creationId xmlns:a16="http://schemas.microsoft.com/office/drawing/2014/main" id="{83254B64-89B7-4822-914D-63125A24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72000"/>
            <a:ext cx="4000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23" name="p07-m-6">
            <a:extLst xmlns:a="http://schemas.openxmlformats.org/drawingml/2006/main">
              <a:ext uri="{FF2B5EF4-FFF2-40B4-BE49-F238E27FC236}">
                <a16:creationId xmlns:a16="http://schemas.microsoft.com/office/drawing/2014/main" id="{DFD244BE-99B7-4F00-890C-4FD2A2AE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72000"/>
            <a:ext cx="4514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baseline 是否同条件</a:t>
            </a:r>
          </a:p>
        </p:txBody>
      </p:sp>
      <p:sp>
        <p:nvSpPr>
          <p:cNvPr id="24" name="p07-bottom">
            <a:extLst xmlns:a="http://schemas.openxmlformats.org/drawingml/2006/main">
              <a:ext uri="{FF2B5EF4-FFF2-40B4-BE49-F238E27FC236}">
                <a16:creationId xmlns:a16="http://schemas.microsoft.com/office/drawing/2014/main" id="{28D95A17-7ED6-49F0-8532-09113615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219700"/>
            <a:ext cx="803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缺配置与种子 = 不可复现｜单次运行 = 不能把噪声写成结论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七字段把假设、对照与停止规则锁在一起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  <a:endParaRPr/>
          </a:p>
        </p:txBody>
      </p:sp>
      <p:sp>
        <p:nvSpPr>
          <p:cNvPr id="6" name="p08-table-h-0">
            <a:extLst xmlns:a="http://schemas.openxmlformats.org/drawingml/2006/main">
              <a:ext uri="{FF2B5EF4-FFF2-40B4-BE49-F238E27FC236}">
                <a16:creationId xmlns:a16="http://schemas.microsoft.com/office/drawing/2014/main" id="{BA781C06-51B5-4CC7-81FF-D6605EB77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2209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字段</a:t>
            </a:r>
          </a:p>
        </p:txBody>
      </p:sp>
      <p:sp>
        <p:nvSpPr>
          <p:cNvPr id="7" name="p08-table-h-1">
            <a:extLst xmlns:a="http://schemas.openxmlformats.org/drawingml/2006/main">
              <a:ext uri="{FF2B5EF4-FFF2-40B4-BE49-F238E27FC236}">
                <a16:creationId xmlns:a16="http://schemas.microsoft.com/office/drawing/2014/main" id="{5B88325E-89EA-4391-B19F-D9A3B9CCF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952500"/>
            <a:ext cx="8934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贯穿案例最小写法</a:t>
            </a:r>
          </a:p>
        </p:txBody>
      </p:sp>
      <p:sp>
        <p:nvSpPr>
          <p:cNvPr id="8" name="p08-table-r0-0">
            <a:extLst xmlns:a="http://schemas.openxmlformats.org/drawingml/2006/main">
              <a:ext uri="{FF2B5EF4-FFF2-40B4-BE49-F238E27FC236}">
                <a16:creationId xmlns:a16="http://schemas.microsoft.com/office/drawing/2014/main" id="{C36364A1-14A9-4BF5-8424-483758063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2209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假设对应</a:t>
            </a:r>
          </a:p>
        </p:txBody>
      </p:sp>
      <p:sp>
        <p:nvSpPr>
          <p:cNvPr id="9" name="p08-table-r0-1">
            <a:extLst xmlns:a="http://schemas.openxmlformats.org/drawingml/2006/main">
              <a:ext uri="{FF2B5EF4-FFF2-40B4-BE49-F238E27FC236}">
                <a16:creationId xmlns:a16="http://schemas.microsoft.com/office/drawing/2014/main" id="{17CD3342-1CDB-48AA-9E73-51E85E96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371600"/>
            <a:ext cx="8934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H1：字段约束 → 强制标注 → 错读更易暴露</a:t>
            </a:r>
          </a:p>
        </p:txBody>
      </p:sp>
      <p:sp>
        <p:nvSpPr>
          <p:cNvPr id="10" name="p08-table-r1-0">
            <a:extLst xmlns:a="http://schemas.openxmlformats.org/drawingml/2006/main">
              <a:ext uri="{FF2B5EF4-FFF2-40B4-BE49-F238E27FC236}">
                <a16:creationId xmlns:a16="http://schemas.microsoft.com/office/drawing/2014/main" id="{4E26E419-88F7-47D8-9D2D-FFF88F4C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62150"/>
            <a:ext cx="2209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变量</a:t>
            </a:r>
          </a:p>
        </p:txBody>
      </p:sp>
      <p:sp>
        <p:nvSpPr>
          <p:cNvPr id="11" name="p08-table-r1-1">
            <a:extLst xmlns:a="http://schemas.openxmlformats.org/drawingml/2006/main">
              <a:ext uri="{FF2B5EF4-FFF2-40B4-BE49-F238E27FC236}">
                <a16:creationId xmlns:a16="http://schemas.microsoft.com/office/drawing/2014/main" id="{FBF3F12D-3876-4C84-84AC-EBF5F56E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962150"/>
            <a:ext cx="8934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自：是否阅读卡｜因：遗漏率｜控：模型/温度/论文｜混：结构/标注者</a:t>
            </a:r>
          </a:p>
        </p:txBody>
      </p:sp>
      <p:sp>
        <p:nvSpPr>
          <p:cNvPr id="12" name="p08-table-r2-0">
            <a:extLst xmlns:a="http://schemas.openxmlformats.org/drawingml/2006/main">
              <a:ext uri="{FF2B5EF4-FFF2-40B4-BE49-F238E27FC236}">
                <a16:creationId xmlns:a16="http://schemas.microsoft.com/office/drawing/2014/main" id="{EDFCCC34-C8A6-4314-9637-8CEF2FB5A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52700"/>
            <a:ext cx="2209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步骤</a:t>
            </a:r>
          </a:p>
        </p:txBody>
      </p:sp>
      <p:sp>
        <p:nvSpPr>
          <p:cNvPr id="13" name="p08-table-r2-1">
            <a:extLst xmlns:a="http://schemas.openxmlformats.org/drawingml/2006/main">
              <a:ext uri="{FF2B5EF4-FFF2-40B4-BE49-F238E27FC236}">
                <a16:creationId xmlns:a16="http://schemas.microsoft.com/office/drawing/2014/main" id="{CC467191-740B-42F2-861C-048852E5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52700"/>
            <a:ext cx="8934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抽 20 篇 → 随机分组 → 生成 → 盲评 → 计算</a:t>
            </a:r>
          </a:p>
        </p:txBody>
      </p:sp>
      <p:sp>
        <p:nvSpPr>
          <p:cNvPr id="14" name="p08-table-r3-0">
            <a:extLst xmlns:a="http://schemas.openxmlformats.org/drawingml/2006/main">
              <a:ext uri="{FF2B5EF4-FFF2-40B4-BE49-F238E27FC236}">
                <a16:creationId xmlns:a16="http://schemas.microsoft.com/office/drawing/2014/main" id="{0A8933E1-4F2E-4924-80C8-42195447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0"/>
            <a:ext cx="2209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度量标准</a:t>
            </a:r>
          </a:p>
        </p:txBody>
      </p:sp>
      <p:sp>
        <p:nvSpPr>
          <p:cNvPr id="15" name="p08-table-r3-1">
            <a:extLst xmlns:a="http://schemas.openxmlformats.org/drawingml/2006/main">
              <a:ext uri="{FF2B5EF4-FFF2-40B4-BE49-F238E27FC236}">
                <a16:creationId xmlns:a16="http://schemas.microsoft.com/office/drawing/2014/main" id="{5E2F8D6B-D476-48CF-B314-76DBCCEF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143250"/>
            <a:ext cx="8934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遗漏率 = 缺失字段数 / 应有字段数；kappa ≥ 0.7</a:t>
            </a:r>
          </a:p>
        </p:txBody>
      </p:sp>
      <p:sp>
        <p:nvSpPr>
          <p:cNvPr id="16" name="p08-table-r4-0">
            <a:extLst xmlns:a="http://schemas.openxmlformats.org/drawingml/2006/main">
              <a:ext uri="{FF2B5EF4-FFF2-40B4-BE49-F238E27FC236}">
                <a16:creationId xmlns:a16="http://schemas.microsoft.com/office/drawing/2014/main" id="{2E24A04B-99F5-48FD-8C1C-E9450DAE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209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对照</a:t>
            </a:r>
          </a:p>
        </p:txBody>
      </p:sp>
      <p:sp>
        <p:nvSpPr>
          <p:cNvPr id="17" name="p08-table-r4-1">
            <a:extLst xmlns:a="http://schemas.openxmlformats.org/drawingml/2006/main">
              <a:ext uri="{FF2B5EF4-FFF2-40B4-BE49-F238E27FC236}">
                <a16:creationId xmlns:a16="http://schemas.microsoft.com/office/drawing/2014/main" id="{0CF764A4-22F9-46A9-8DCF-3E454294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733800"/>
            <a:ext cx="8934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自由摘要；同模型、论文、参数、rubric 与次数</a:t>
            </a:r>
          </a:p>
        </p:txBody>
      </p:sp>
      <p:sp>
        <p:nvSpPr>
          <p:cNvPr id="18" name="p08-table-r5-0">
            <a:extLst xmlns:a="http://schemas.openxmlformats.org/drawingml/2006/main">
              <a:ext uri="{FF2B5EF4-FFF2-40B4-BE49-F238E27FC236}">
                <a16:creationId xmlns:a16="http://schemas.microsoft.com/office/drawing/2014/main" id="{2E6812A4-1C71-4C4E-AC69-8F98009C4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24350"/>
            <a:ext cx="2209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随机化与重复</a:t>
            </a:r>
          </a:p>
        </p:txBody>
      </p:sp>
      <p:sp>
        <p:nvSpPr>
          <p:cNvPr id="19" name="p08-table-r5-1">
            <a:extLst xmlns:a="http://schemas.openxmlformats.org/drawingml/2006/main">
              <a:ext uri="{FF2B5EF4-FFF2-40B4-BE49-F238E27FC236}">
                <a16:creationId xmlns:a16="http://schemas.microsoft.com/office/drawing/2014/main" id="{72CA9ED3-27B3-4515-8A78-AE98761F2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324350"/>
            <a:ext cx="8934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split_seed=42；run_seeds=[100,200,300]</a:t>
            </a:r>
          </a:p>
        </p:txBody>
      </p:sp>
      <p:sp>
        <p:nvSpPr>
          <p:cNvPr id="20" name="p08-table-r6-0">
            <a:extLst xmlns:a="http://schemas.openxmlformats.org/drawingml/2006/main">
              <a:ext uri="{FF2B5EF4-FFF2-40B4-BE49-F238E27FC236}">
                <a16:creationId xmlns:a16="http://schemas.microsoft.com/office/drawing/2014/main" id="{D915C28E-002D-491F-94AB-BDE29CCC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14900"/>
            <a:ext cx="2209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停止条件</a:t>
            </a:r>
          </a:p>
        </p:txBody>
      </p:sp>
      <p:sp>
        <p:nvSpPr>
          <p:cNvPr id="21" name="p08-table-r6-1">
            <a:extLst xmlns:a="http://schemas.openxmlformats.org/drawingml/2006/main">
              <a:ext uri="{FF2B5EF4-FFF2-40B4-BE49-F238E27FC236}">
                <a16:creationId xmlns:a16="http://schemas.microsoft.com/office/drawing/2014/main" id="{07B4E0F5-F7C3-407D-8E6C-D846B59D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914900"/>
            <a:ext cx="8934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5 次 × 2 组；协议错误时提前停</a:t>
            </a:r>
          </a:p>
        </p:txBody>
      </p:sp>
      <p:sp>
        <p:nvSpPr>
          <p:cNvPr id="22" name="p08-bottom">
            <a:extLst xmlns:a="http://schemas.openxmlformats.org/drawingml/2006/main">
              <a:ext uri="{FF2B5EF4-FFF2-40B4-BE49-F238E27FC236}">
                <a16:creationId xmlns:a16="http://schemas.microsoft.com/office/drawing/2014/main" id="{0763C646-A44F-47E4-BFFF-99BE717F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543550"/>
            <a:ext cx="929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C8161E"/>
                </a:solidFill>
              </a:defRPr>
            </a:pPr>
            <a:r>
              <a:rPr sz="14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虚构教学规格｜度量写口径；种子写具体值；停止条件在看结果前写。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停止条件与失败预案必须在看结果前写明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  <a:endParaRPr/>
          </a:p>
        </p:txBody>
      </p:sp>
      <p:sp>
        <p:nvSpPr>
          <p:cNvPr id="6" name="p09-stop-title">
            <a:extLst xmlns:a="http://schemas.openxmlformats.org/drawingml/2006/main">
              <a:ext uri="{FF2B5EF4-FFF2-40B4-BE49-F238E27FC236}">
                <a16:creationId xmlns:a16="http://schemas.microsoft.com/office/drawing/2014/main" id="{6632A25F-F5E6-495D-8AA0-E81C40D4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C8161E"/>
                </a:solidFill>
              </a:defRPr>
            </a:pPr>
            <a:r>
              <a:rPr sz="20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停止条件</a:t>
            </a:r>
          </a:p>
        </p:txBody>
      </p:sp>
      <p:sp>
        <p:nvSpPr>
          <p:cNvPr id="7" name="p09-stop">
            <a:extLst xmlns:a="http://schemas.openxmlformats.org/drawingml/2006/main">
              <a:ext uri="{FF2B5EF4-FFF2-40B4-BE49-F238E27FC236}">
                <a16:creationId xmlns:a16="http://schemas.microsoft.com/office/drawing/2014/main" id="{10063846-9590-4F35-ADEF-659F1E791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495300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预先承诺：5 次 × 2 组 = 10 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允许提前停：标注协议错误、数据污染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不允许提前停：结果不利、尚未显著</a:t>
            </a:r>
          </a:p>
        </p:txBody>
      </p:sp>
      <p:sp>
        <p:nvSpPr>
          <p:cNvPr id="8" name="p09-fail-title">
            <a:extLst xmlns:a="http://schemas.openxmlformats.org/drawingml/2006/main">
              <a:ext uri="{FF2B5EF4-FFF2-40B4-BE49-F238E27FC236}">
                <a16:creationId xmlns:a16="http://schemas.microsoft.com/office/drawing/2014/main" id="{C8B25B7D-F11A-4C39-A6ED-96F7460AE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0287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8354E"/>
                </a:solidFill>
              </a:defRPr>
            </a:pPr>
            <a:r>
              <a:rPr sz="20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失败预案</a:t>
            </a:r>
          </a:p>
        </p:txBody>
      </p:sp>
      <p:sp>
        <p:nvSpPr>
          <p:cNvPr id="9" name="p09-i-0">
            <a:extLst xmlns:a="http://schemas.openxmlformats.org/drawingml/2006/main">
              <a:ext uri="{FF2B5EF4-FFF2-40B4-BE49-F238E27FC236}">
                <a16:creationId xmlns:a16="http://schemas.microsoft.com/office/drawing/2014/main" id="{5EFD0915-AE04-463C-A8FC-E9E97D21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76400"/>
            <a:ext cx="20764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baseline 跑不通</a:t>
            </a:r>
          </a:p>
        </p:txBody>
      </p:sp>
      <p:sp>
        <p:nvSpPr>
          <p:cNvPr id="10" name="p09-p-0">
            <a:extLst xmlns:a="http://schemas.openxmlformats.org/drawingml/2006/main">
              <a:ext uri="{FF2B5EF4-FFF2-40B4-BE49-F238E27FC236}">
                <a16:creationId xmlns:a16="http://schemas.microsoft.com/office/drawing/2014/main" id="{F64E4E72-6C77-4362-A9A9-C8E472CB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676400"/>
            <a:ext cx="3028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缩小样本，回到最小验证</a:t>
            </a:r>
          </a:p>
        </p:txBody>
      </p:sp>
      <p:sp>
        <p:nvSpPr>
          <p:cNvPr id="11" name="p09-i-1">
            <a:extLst xmlns:a="http://schemas.openxmlformats.org/drawingml/2006/main">
              <a:ext uri="{FF2B5EF4-FFF2-40B4-BE49-F238E27FC236}">
                <a16:creationId xmlns:a16="http://schemas.microsoft.com/office/drawing/2014/main" id="{6073FB61-B906-4887-B8E4-25AE7FB5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57450"/>
            <a:ext cx="20764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结果不支持 H1</a:t>
            </a:r>
          </a:p>
        </p:txBody>
      </p:sp>
      <p:sp>
        <p:nvSpPr>
          <p:cNvPr id="12" name="p09-p-1">
            <a:extLst xmlns:a="http://schemas.openxmlformats.org/drawingml/2006/main">
              <a:ext uri="{FF2B5EF4-FFF2-40B4-BE49-F238E27FC236}">
                <a16:creationId xmlns:a16="http://schemas.microsoft.com/office/drawing/2014/main" id="{A8EE072B-90F5-45A3-8D8A-DAEA64E2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57450"/>
            <a:ext cx="3028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检查替代假设，保留待验证</a:t>
            </a:r>
          </a:p>
        </p:txBody>
      </p:sp>
      <p:sp>
        <p:nvSpPr>
          <p:cNvPr id="13" name="p09-i-2">
            <a:extLst xmlns:a="http://schemas.openxmlformats.org/drawingml/2006/main">
              <a:ext uri="{FF2B5EF4-FFF2-40B4-BE49-F238E27FC236}">
                <a16:creationId xmlns:a16="http://schemas.microsoft.com/office/drawing/2014/main" id="{3A5E2F8A-7B9A-466C-BABF-DCA337861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38500"/>
            <a:ext cx="20764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数据不可用</a:t>
            </a:r>
          </a:p>
        </p:txBody>
      </p:sp>
      <p:sp>
        <p:nvSpPr>
          <p:cNvPr id="14" name="p09-p-2">
            <a:extLst xmlns:a="http://schemas.openxmlformats.org/drawingml/2006/main">
              <a:ext uri="{FF2B5EF4-FFF2-40B4-BE49-F238E27FC236}">
                <a16:creationId xmlns:a16="http://schemas.microsoft.com/office/drawing/2014/main" id="{67177C63-5FFD-4343-80DB-BEBD63C21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38500"/>
            <a:ext cx="3028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换公开替代并声明限制</a:t>
            </a:r>
          </a:p>
        </p:txBody>
      </p:sp>
      <p:sp>
        <p:nvSpPr>
          <p:cNvPr id="15" name="p09-i-3">
            <a:extLst xmlns:a="http://schemas.openxmlformats.org/drawingml/2006/main">
              <a:ext uri="{FF2B5EF4-FFF2-40B4-BE49-F238E27FC236}">
                <a16:creationId xmlns:a16="http://schemas.microsoft.com/office/drawing/2014/main" id="{7F752A57-0E63-4EA8-BC13-BC447B78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19550"/>
            <a:ext cx="20764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kappa &lt; 0.7</a:t>
            </a:r>
          </a:p>
        </p:txBody>
      </p:sp>
      <p:sp>
        <p:nvSpPr>
          <p:cNvPr id="16" name="p09-p-3">
            <a:extLst xmlns:a="http://schemas.openxmlformats.org/drawingml/2006/main">
              <a:ext uri="{FF2B5EF4-FFF2-40B4-BE49-F238E27FC236}">
                <a16:creationId xmlns:a16="http://schemas.microsoft.com/office/drawing/2014/main" id="{C9F52F5D-3537-4A06-AA83-3BC4A7D4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019550"/>
            <a:ext cx="3028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训练标注者、修订 rubric、降级结论</a:t>
            </a:r>
          </a:p>
        </p:txBody>
      </p:sp>
      <p:sp>
        <p:nvSpPr>
          <p:cNvPr id="17" name="p09-bottom">
            <a:extLst xmlns:a="http://schemas.openxmlformats.org/drawingml/2006/main">
              <a:ext uri="{FF2B5EF4-FFF2-40B4-BE49-F238E27FC236}">
                <a16:creationId xmlns:a16="http://schemas.microsoft.com/office/drawing/2014/main" id="{4624AAF6-9113-45A7-B751-146B3DDD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953000"/>
            <a:ext cx="7620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8161E"/>
                </a:solidFill>
              </a:defRPr>
            </a:pPr>
            <a:r>
              <a:rPr sz="17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虚构教学规格｜失败预案让失败可分析；删除失败记录是红线。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度量必须写出从原始数据到数字的口径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  <a:endParaRPr/>
          </a:p>
        </p:txBody>
      </p:sp>
      <p:sp>
        <p:nvSpPr>
          <p:cNvPr id="6" name="p10-l-0">
            <a:extLst xmlns:a="http://schemas.openxmlformats.org/drawingml/2006/main">
              <a:ext uri="{FF2B5EF4-FFF2-40B4-BE49-F238E27FC236}">
                <a16:creationId xmlns:a16="http://schemas.microsoft.com/office/drawing/2014/main" id="{5A20145F-E425-48B0-9338-16E955C9C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4900"/>
            <a:ext cx="25146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操作定义</a:t>
            </a:r>
          </a:p>
        </p:txBody>
      </p:sp>
      <p:sp>
        <p:nvSpPr>
          <p:cNvPr id="7" name="p10-d-0">
            <a:extLst xmlns:a="http://schemas.openxmlformats.org/drawingml/2006/main">
              <a:ext uri="{FF2B5EF4-FFF2-40B4-BE49-F238E27FC236}">
                <a16:creationId xmlns:a16="http://schemas.microsoft.com/office/drawing/2014/main" id="{95F5D93B-786D-487D-9575-1F7EDD6A6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33550"/>
            <a:ext cx="25146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公式或步骤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从原始数据到指标</a:t>
            </a:r>
          </a:p>
        </p:txBody>
      </p:sp>
      <p:sp>
        <p:nvSpPr>
          <p:cNvPr id="8" name="p10-l-1">
            <a:extLst xmlns:a="http://schemas.openxmlformats.org/drawingml/2006/main">
              <a:ext uri="{FF2B5EF4-FFF2-40B4-BE49-F238E27FC236}">
                <a16:creationId xmlns:a16="http://schemas.microsoft.com/office/drawing/2014/main" id="{8344EC74-1D59-40F4-854C-F4368BB4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104900"/>
            <a:ext cx="25146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计算口径</a:t>
            </a:r>
          </a:p>
        </p:txBody>
      </p:sp>
      <p:sp>
        <p:nvSpPr>
          <p:cNvPr id="9" name="p10-d-1">
            <a:extLst xmlns:a="http://schemas.openxmlformats.org/drawingml/2006/main">
              <a:ext uri="{FF2B5EF4-FFF2-40B4-BE49-F238E27FC236}">
                <a16:creationId xmlns:a16="http://schemas.microsoft.com/office/drawing/2014/main" id="{56D34F07-3E42-4E90-BFCC-823F34C7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733550"/>
            <a:ext cx="25146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分子、分母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缺失值处理</a:t>
            </a:r>
          </a:p>
        </p:txBody>
      </p:sp>
      <p:sp>
        <p:nvSpPr>
          <p:cNvPr id="10" name="p10-l-2">
            <a:extLst xmlns:a="http://schemas.openxmlformats.org/drawingml/2006/main">
              <a:ext uri="{FF2B5EF4-FFF2-40B4-BE49-F238E27FC236}">
                <a16:creationId xmlns:a16="http://schemas.microsoft.com/office/drawing/2014/main" id="{75BA32E0-0A86-4593-AA38-822A6B66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104900"/>
            <a:ext cx="25146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标注协议</a:t>
            </a:r>
          </a:p>
        </p:txBody>
      </p:sp>
      <p:sp>
        <p:nvSpPr>
          <p:cNvPr id="11" name="p10-d-2">
            <a:extLst xmlns:a="http://schemas.openxmlformats.org/drawingml/2006/main">
              <a:ext uri="{FF2B5EF4-FFF2-40B4-BE49-F238E27FC236}">
                <a16:creationId xmlns:a16="http://schemas.microsoft.com/office/drawing/2014/main" id="{21758890-0319-40B4-B643-06D5A661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33550"/>
            <a:ext cx="25146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人数、训练、盲评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分歧解决</a:t>
            </a:r>
          </a:p>
        </p:txBody>
      </p:sp>
      <p:sp>
        <p:nvSpPr>
          <p:cNvPr id="12" name="p10-l-3">
            <a:extLst xmlns:a="http://schemas.openxmlformats.org/drawingml/2006/main">
              <a:ext uri="{FF2B5EF4-FFF2-40B4-BE49-F238E27FC236}">
                <a16:creationId xmlns:a16="http://schemas.microsoft.com/office/drawing/2014/main" id="{F6857EDA-72D7-4CD4-AF7E-60B3E578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104900"/>
            <a:ext cx="25146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一致性指标</a:t>
            </a:r>
          </a:p>
        </p:txBody>
      </p:sp>
      <p:sp>
        <p:nvSpPr>
          <p:cNvPr id="13" name="p10-d-3">
            <a:extLst xmlns:a="http://schemas.openxmlformats.org/drawingml/2006/main">
              <a:ext uri="{FF2B5EF4-FFF2-40B4-BE49-F238E27FC236}">
                <a16:creationId xmlns:a16="http://schemas.microsoft.com/office/drawing/2014/main" id="{AEB2DB46-57B7-48E6-B2E7-E08EF9B9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733550"/>
            <a:ext cx="25146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kappa / alpha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未计算要说明理由</a:t>
            </a:r>
          </a:p>
        </p:txBody>
      </p:sp>
      <p:sp>
        <p:nvSpPr>
          <p:cNvPr id="14" name="p10-case-title">
            <a:extLst xmlns:a="http://schemas.openxmlformats.org/drawingml/2006/main">
              <a:ext uri="{FF2B5EF4-FFF2-40B4-BE49-F238E27FC236}">
                <a16:creationId xmlns:a16="http://schemas.microsoft.com/office/drawing/2014/main" id="{4589C024-D117-4050-BB05-5C33DDA2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虚构教学规格</a:t>
            </a:r>
          </a:p>
        </p:txBody>
      </p:sp>
      <p:sp>
        <p:nvSpPr>
          <p:cNvPr id="15" name="p10-case">
            <a:extLst xmlns:a="http://schemas.openxmlformats.org/drawingml/2006/main">
              <a:ext uri="{FF2B5EF4-FFF2-40B4-BE49-F238E27FC236}">
                <a16:creationId xmlns:a16="http://schemas.microsoft.com/office/drawing/2014/main" id="{F1D334BD-2849-4EAF-81B8-7DACB537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76600"/>
            <a:ext cx="82486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限定条件字段缺失率 = 缺失字段数 / 应有限定条件字段数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2 名标注者双盲；分歧协商；Cohen's kappa ≥ 0.7</a:t>
            </a:r>
          </a:p>
        </p:txBody>
      </p:sp>
      <p:sp>
        <p:nvSpPr>
          <p:cNvPr id="16" name="p10-bottom">
            <a:extLst xmlns:a="http://schemas.openxmlformats.org/drawingml/2006/main">
              <a:ext uri="{FF2B5EF4-FFF2-40B4-BE49-F238E27FC236}">
                <a16:creationId xmlns:a16="http://schemas.microsoft.com/office/drawing/2014/main" id="{49E139BF-A3D6-4B9D-8BD7-F4D11F2A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819650"/>
            <a:ext cx="8001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8161E"/>
                </a:solidFill>
              </a:defRPr>
            </a:pPr>
            <a:r>
              <a:rPr sz="17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只写‘用遗漏率’不够；别人必须能够按同一口径重算。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六类记录共同构成最小复现集合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0394428-F1DC-E5F6-DB0C-7DE31F3D8A23}" type="slidenum">
              <a:t>11</a:t>
            </a:fld>
            <a:endParaRPr/>
          </a:p>
        </p:txBody>
      </p:sp>
      <p:sp>
        <p:nvSpPr>
          <p:cNvPr id="6" name="p11-line-0">
            <a:extLst xmlns:a="http://schemas.openxmlformats.org/drawingml/2006/main">
              <a:ext uri="{FF2B5EF4-FFF2-40B4-BE49-F238E27FC236}">
                <a16:creationId xmlns:a16="http://schemas.microsoft.com/office/drawing/2014/main" id="{0FA241AC-C343-475B-BBB9-F8B58411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24050" y="245745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11-line-1">
            <a:extLst xmlns:a="http://schemas.openxmlformats.org/drawingml/2006/main">
              <a:ext uri="{FF2B5EF4-FFF2-40B4-BE49-F238E27FC236}">
                <a16:creationId xmlns:a16="http://schemas.microsoft.com/office/drawing/2014/main" id="{180F732C-1993-460B-813D-480AFDDB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67150" y="245745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11-line-2">
            <a:extLst xmlns:a="http://schemas.openxmlformats.org/drawingml/2006/main">
              <a:ext uri="{FF2B5EF4-FFF2-40B4-BE49-F238E27FC236}">
                <a16:creationId xmlns:a16="http://schemas.microsoft.com/office/drawing/2014/main" id="{08B6533B-0145-4C4E-85EA-6FA92FD5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0" y="245745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11-line-3">
            <a:extLst xmlns:a="http://schemas.openxmlformats.org/drawingml/2006/main">
              <a:ext uri="{FF2B5EF4-FFF2-40B4-BE49-F238E27FC236}">
                <a16:creationId xmlns:a16="http://schemas.microsoft.com/office/drawing/2014/main" id="{F049026B-9EF0-45EE-8939-C60827E4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3350" y="245745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11-line-4">
            <a:extLst xmlns:a="http://schemas.openxmlformats.org/drawingml/2006/main">
              <a:ext uri="{FF2B5EF4-FFF2-40B4-BE49-F238E27FC236}">
                <a16:creationId xmlns:a16="http://schemas.microsoft.com/office/drawing/2014/main" id="{3DE39735-C80C-490B-A26B-89B765208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96450" y="245745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11-label-0">
            <a:extLst xmlns:a="http://schemas.openxmlformats.org/drawingml/2006/main">
              <a:ext uri="{FF2B5EF4-FFF2-40B4-BE49-F238E27FC236}">
                <a16:creationId xmlns:a16="http://schemas.microsoft.com/office/drawing/2014/main" id="{5CC683B1-3023-4947-A9B3-BD57AE64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5811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环境</a:t>
            </a:r>
          </a:p>
        </p:txBody>
      </p:sp>
      <p:sp>
        <p:nvSpPr>
          <p:cNvPr id="12" name="p11-detail-0">
            <a:extLst xmlns:a="http://schemas.openxmlformats.org/drawingml/2006/main">
              <a:ext uri="{FF2B5EF4-FFF2-40B4-BE49-F238E27FC236}">
                <a16:creationId xmlns:a16="http://schemas.microsoft.com/office/drawing/2014/main" id="{1D6ACF10-1CD0-4478-AEE4-FFBA9D40E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57400"/>
            <a:ext cx="15811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Python 3.10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SDK 0.34.0</a:t>
            </a:r>
          </a:p>
        </p:txBody>
      </p:sp>
      <p:sp>
        <p:nvSpPr>
          <p:cNvPr id="13" name="p11-label-1">
            <a:extLst xmlns:a="http://schemas.openxmlformats.org/drawingml/2006/main">
              <a:ext uri="{FF2B5EF4-FFF2-40B4-BE49-F238E27FC236}">
                <a16:creationId xmlns:a16="http://schemas.microsoft.com/office/drawing/2014/main" id="{41B8A68A-1DE1-48B1-8F2E-C84E6680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466850"/>
            <a:ext cx="15811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配置</a:t>
            </a:r>
          </a:p>
        </p:txBody>
      </p:sp>
      <p:sp>
        <p:nvSpPr>
          <p:cNvPr id="14" name="p11-detail-1">
            <a:extLst xmlns:a="http://schemas.openxmlformats.org/drawingml/2006/main">
              <a:ext uri="{FF2B5EF4-FFF2-40B4-BE49-F238E27FC236}">
                <a16:creationId xmlns:a16="http://schemas.microsoft.com/office/drawing/2014/main" id="{30B2D705-1DF4-4E42-8CFA-686979DE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057400"/>
            <a:ext cx="15811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模型 snapshot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temperature=0</a:t>
            </a:r>
          </a:p>
        </p:txBody>
      </p:sp>
      <p:sp>
        <p:nvSpPr>
          <p:cNvPr id="15" name="p11-label-2">
            <a:extLst xmlns:a="http://schemas.openxmlformats.org/drawingml/2006/main">
              <a:ext uri="{FF2B5EF4-FFF2-40B4-BE49-F238E27FC236}">
                <a16:creationId xmlns:a16="http://schemas.microsoft.com/office/drawing/2014/main" id="{AD54EAC6-EAC3-421C-9C6E-4E3E29CC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466850"/>
            <a:ext cx="15811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种子</a:t>
            </a:r>
          </a:p>
        </p:txBody>
      </p:sp>
      <p:sp>
        <p:nvSpPr>
          <p:cNvPr id="16" name="p11-detail-2">
            <a:extLst xmlns:a="http://schemas.openxmlformats.org/drawingml/2006/main">
              <a:ext uri="{FF2B5EF4-FFF2-40B4-BE49-F238E27FC236}">
                <a16:creationId xmlns:a16="http://schemas.microsoft.com/office/drawing/2014/main" id="{B7D0256F-1F4F-4029-A00B-AA6300092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57400"/>
            <a:ext cx="15811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split=42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run seeds: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100,200,300</a:t>
            </a:r>
          </a:p>
        </p:txBody>
      </p:sp>
      <p:sp>
        <p:nvSpPr>
          <p:cNvPr id="17" name="p11-label-3">
            <a:extLst xmlns:a="http://schemas.openxmlformats.org/drawingml/2006/main">
              <a:ext uri="{FF2B5EF4-FFF2-40B4-BE49-F238E27FC236}">
                <a16:creationId xmlns:a16="http://schemas.microsoft.com/office/drawing/2014/main" id="{308FF67E-BE0D-4130-9FB7-17412715F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66850"/>
            <a:ext cx="15811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</p:txBody>
      </p:sp>
      <p:sp>
        <p:nvSpPr>
          <p:cNvPr id="18" name="p11-detail-3">
            <a:extLst xmlns:a="http://schemas.openxmlformats.org/drawingml/2006/main">
              <a:ext uri="{FF2B5EF4-FFF2-40B4-BE49-F238E27FC236}">
                <a16:creationId xmlns:a16="http://schemas.microsoft.com/office/drawing/2014/main" id="{8978E6AD-3592-4B75-BD3C-637EDC93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57400"/>
            <a:ext cx="15811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20 篇 ACL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快照 + 使用限制</a:t>
            </a:r>
          </a:p>
        </p:txBody>
      </p:sp>
      <p:sp>
        <p:nvSpPr>
          <p:cNvPr id="19" name="p11-label-4">
            <a:extLst xmlns:a="http://schemas.openxmlformats.org/drawingml/2006/main">
              <a:ext uri="{FF2B5EF4-FFF2-40B4-BE49-F238E27FC236}">
                <a16:creationId xmlns:a16="http://schemas.microsoft.com/office/drawing/2014/main" id="{E41490EC-32B2-4CC5-BE4D-60918B89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466850"/>
            <a:ext cx="15811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代码</a:t>
            </a:r>
          </a:p>
        </p:txBody>
      </p:sp>
      <p:sp>
        <p:nvSpPr>
          <p:cNvPr id="20" name="p11-detail-4">
            <a:extLst xmlns:a="http://schemas.openxmlformats.org/drawingml/2006/main">
              <a:ext uri="{FF2B5EF4-FFF2-40B4-BE49-F238E27FC236}">
                <a16:creationId xmlns:a16="http://schemas.microsoft.com/office/drawing/2014/main" id="{1663FE64-57E5-4B09-8707-CE4A195B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57400"/>
            <a:ext cx="15811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commit abc123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运行命令</a:t>
            </a:r>
          </a:p>
        </p:txBody>
      </p:sp>
      <p:sp>
        <p:nvSpPr>
          <p:cNvPr id="21" name="p11-label-5">
            <a:extLst xmlns:a="http://schemas.openxmlformats.org/drawingml/2006/main">
              <a:ext uri="{FF2B5EF4-FFF2-40B4-BE49-F238E27FC236}">
                <a16:creationId xmlns:a16="http://schemas.microsoft.com/office/drawing/2014/main" id="{373E65BE-A934-4241-981F-6BCD531F3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466850"/>
            <a:ext cx="15811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22" name="p11-detail-5">
            <a:extLst xmlns:a="http://schemas.openxmlformats.org/drawingml/2006/main">
              <a:ext uri="{FF2B5EF4-FFF2-40B4-BE49-F238E27FC236}">
                <a16:creationId xmlns:a16="http://schemas.microsoft.com/office/drawing/2014/main" id="{770D0328-FA9E-40AE-88CF-6C1FC12E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057400"/>
            <a:ext cx="15811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log.jsonl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results.csv</a:t>
            </a:r>
          </a:p>
        </p:txBody>
      </p:sp>
      <p:sp>
        <p:nvSpPr>
          <p:cNvPr id="23" name="p11-def">
            <a:extLst xmlns:a="http://schemas.openxmlformats.org/drawingml/2006/main">
              <a:ext uri="{FF2B5EF4-FFF2-40B4-BE49-F238E27FC236}">
                <a16:creationId xmlns:a16="http://schemas.microsoft.com/office/drawing/2014/main" id="{1F8041DF-D6F5-4DF8-A7C5-3E853D588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00450"/>
            <a:ext cx="97917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354E"/>
                </a:solidFill>
              </a:defRPr>
            </a:pPr>
            <a:r>
              <a:rPr sz="15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真实可运行课次工件｜experiment-spec.md → config.json → run.py → run-log.jsonl</a:t>
            </a:r>
          </a:p>
        </p:txBody>
      </p:sp>
      <p:sp>
        <p:nvSpPr>
          <p:cNvPr id="24" name="p11-limit">
            <a:extLst xmlns:a="http://schemas.openxmlformats.org/drawingml/2006/main">
              <a:ext uri="{FF2B5EF4-FFF2-40B4-BE49-F238E27FC236}">
                <a16:creationId xmlns:a16="http://schemas.microsoft.com/office/drawing/2014/main" id="{622F40DF-6DA8-4293-91F8-5CF9635E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533900"/>
            <a:ext cx="9105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实跑核验：4 条合成记录｜2 条缺失｜遗漏率 0.5｜非实证研究结论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单次运行不能直接写成方法效应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DB16885-0D3F-A391-B669-3211DB3B26E8}" type="slidenum">
              <a:t>12</a:t>
            </a:fld>
            <a:endParaRPr/>
          </a:p>
        </p:txBody>
      </p:sp>
      <p:sp>
        <p:nvSpPr>
          <p:cNvPr id="6" name="p12-src-0">
            <a:extLst xmlns:a="http://schemas.openxmlformats.org/drawingml/2006/main">
              <a:ext uri="{FF2B5EF4-FFF2-40B4-BE49-F238E27FC236}">
                <a16:creationId xmlns:a16="http://schemas.microsoft.com/office/drawing/2014/main" id="{1679FB45-CB57-4947-9233-C166EE27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2381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18354E"/>
                </a:solidFill>
              </a:defRPr>
            </a:pPr>
            <a:r>
              <a:rPr sz="15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数据划分</a:t>
            </a:r>
          </a:p>
        </p:txBody>
      </p:sp>
      <p:sp>
        <p:nvSpPr>
          <p:cNvPr id="7" name="p12-src-1">
            <a:extLst xmlns:a="http://schemas.openxmlformats.org/drawingml/2006/main">
              <a:ext uri="{FF2B5EF4-FFF2-40B4-BE49-F238E27FC236}">
                <a16:creationId xmlns:a16="http://schemas.microsoft.com/office/drawing/2014/main" id="{D6EA45F0-9D5E-480C-A0AC-CB849F8F6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104900"/>
            <a:ext cx="2381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18354E"/>
                </a:solidFill>
              </a:defRPr>
            </a:pPr>
            <a:r>
              <a:rPr sz="15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模型初始化</a:t>
            </a:r>
          </a:p>
        </p:txBody>
      </p:sp>
      <p:sp>
        <p:nvSpPr>
          <p:cNvPr id="8" name="p12-src-2">
            <a:extLst xmlns:a="http://schemas.openxmlformats.org/drawingml/2006/main">
              <a:ext uri="{FF2B5EF4-FFF2-40B4-BE49-F238E27FC236}">
                <a16:creationId xmlns:a16="http://schemas.microsoft.com/office/drawing/2014/main" id="{22AC1F63-0A54-474C-A12B-3F534376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104900"/>
            <a:ext cx="2381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18354E"/>
                </a:solidFill>
              </a:defRPr>
            </a:pPr>
            <a:r>
              <a:rPr sz="15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采样</a:t>
            </a:r>
          </a:p>
        </p:txBody>
      </p:sp>
      <p:sp>
        <p:nvSpPr>
          <p:cNvPr id="9" name="p12-src-3">
            <a:extLst xmlns:a="http://schemas.openxmlformats.org/drawingml/2006/main">
              <a:ext uri="{FF2B5EF4-FFF2-40B4-BE49-F238E27FC236}">
                <a16:creationId xmlns:a16="http://schemas.microsoft.com/office/drawing/2014/main" id="{79A7DC58-7482-4A2E-98BE-841B55FE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104900"/>
            <a:ext cx="2381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解码</a:t>
            </a:r>
          </a:p>
        </p:txBody>
      </p:sp>
      <p:sp>
        <p:nvSpPr>
          <p:cNvPr id="10" name="p12-line-0">
            <a:extLst xmlns:a="http://schemas.openxmlformats.org/drawingml/2006/main">
              <a:ext uri="{FF2B5EF4-FFF2-40B4-BE49-F238E27FC236}">
                <a16:creationId xmlns:a16="http://schemas.microsoft.com/office/drawing/2014/main" id="{38983E10-3122-4E4E-A71D-D290F782C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009775" y="2185988"/>
            <a:ext cx="628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12-line-1">
            <a:extLst xmlns:a="http://schemas.openxmlformats.org/drawingml/2006/main">
              <a:ext uri="{FF2B5EF4-FFF2-40B4-BE49-F238E27FC236}">
                <a16:creationId xmlns:a16="http://schemas.microsoft.com/office/drawing/2014/main" id="{961D7DA8-EEA5-423D-9B34-E4D80688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695825" y="2185988"/>
            <a:ext cx="628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12-line-2">
            <a:extLst xmlns:a="http://schemas.openxmlformats.org/drawingml/2006/main">
              <a:ext uri="{FF2B5EF4-FFF2-40B4-BE49-F238E27FC236}">
                <a16:creationId xmlns:a16="http://schemas.microsoft.com/office/drawing/2014/main" id="{18E6BCA5-370D-4995-9F2F-2F0CBAA47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381875" y="2185988"/>
            <a:ext cx="628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12-line-3">
            <a:extLst xmlns:a="http://schemas.openxmlformats.org/drawingml/2006/main">
              <a:ext uri="{FF2B5EF4-FFF2-40B4-BE49-F238E27FC236}">
                <a16:creationId xmlns:a16="http://schemas.microsoft.com/office/drawing/2014/main" id="{F8F35CFA-08E5-4735-935B-6890CAA3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067925" y="2185988"/>
            <a:ext cx="628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12-finding">
            <a:extLst xmlns:a="http://schemas.openxmlformats.org/drawingml/2006/main">
              <a:ext uri="{FF2B5EF4-FFF2-40B4-BE49-F238E27FC236}">
                <a16:creationId xmlns:a16="http://schemas.microsoft.com/office/drawing/2014/main" id="{D4B2541D-5484-473B-88B0-87594032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33650"/>
            <a:ext cx="647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8161E"/>
                </a:solidFill>
              </a:defRPr>
            </a:pPr>
            <a:r>
              <a:rPr sz="21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单次运行的噪声可能大于方法间差异</a:t>
            </a:r>
          </a:p>
        </p:txBody>
      </p:sp>
      <p:sp>
        <p:nvSpPr>
          <p:cNvPr id="15" name="p12-n-0">
            <a:extLst xmlns:a="http://schemas.openxmlformats.org/drawingml/2006/main">
              <a:ext uri="{FF2B5EF4-FFF2-40B4-BE49-F238E27FC236}">
                <a16:creationId xmlns:a16="http://schemas.microsoft.com/office/drawing/2014/main" id="{A985027C-ACD8-43EB-8E19-AABCD6D5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004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6" name="p12-s-0">
            <a:extLst xmlns:a="http://schemas.openxmlformats.org/drawingml/2006/main">
              <a:ext uri="{FF2B5EF4-FFF2-40B4-BE49-F238E27FC236}">
                <a16:creationId xmlns:a16="http://schemas.microsoft.com/office/drawing/2014/main" id="{EF903436-902F-45BD-ACFE-C791193C6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00450"/>
            <a:ext cx="485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记录所有种子或等价条件</a:t>
            </a:r>
          </a:p>
        </p:txBody>
      </p:sp>
      <p:sp>
        <p:nvSpPr>
          <p:cNvPr id="17" name="p12-n-1">
            <a:extLst xmlns:a="http://schemas.openxmlformats.org/drawingml/2006/main">
              <a:ext uri="{FF2B5EF4-FFF2-40B4-BE49-F238E27FC236}">
                <a16:creationId xmlns:a16="http://schemas.microsoft.com/office/drawing/2014/main" id="{93D774BB-108C-47B1-AFBD-2E4F3DFF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004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p12-s-1">
            <a:extLst xmlns:a="http://schemas.openxmlformats.org/drawingml/2006/main">
              <a:ext uri="{FF2B5EF4-FFF2-40B4-BE49-F238E27FC236}">
                <a16:creationId xmlns:a16="http://schemas.microsoft.com/office/drawing/2014/main" id="{128CC042-F149-486E-A0D9-2ADF12E92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00450"/>
            <a:ext cx="485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重复计划与主张强度匹配</a:t>
            </a:r>
          </a:p>
        </p:txBody>
      </p:sp>
      <p:sp>
        <p:nvSpPr>
          <p:cNvPr id="19" name="p12-n-2">
            <a:extLst xmlns:a="http://schemas.openxmlformats.org/drawingml/2006/main">
              <a:ext uri="{FF2B5EF4-FFF2-40B4-BE49-F238E27FC236}">
                <a16:creationId xmlns:a16="http://schemas.microsoft.com/office/drawing/2014/main" id="{07430CCD-590E-4C8E-8E7C-973448408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386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p12-s-2">
            <a:extLst xmlns:a="http://schemas.openxmlformats.org/drawingml/2006/main">
              <a:ext uri="{FF2B5EF4-FFF2-40B4-BE49-F238E27FC236}">
                <a16:creationId xmlns:a16="http://schemas.microsoft.com/office/drawing/2014/main" id="{BA373A60-2483-4D89-AC72-10F09A62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38650"/>
            <a:ext cx="485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声称方差时说明汇总方式</a:t>
            </a:r>
          </a:p>
        </p:txBody>
      </p:sp>
      <p:sp>
        <p:nvSpPr>
          <p:cNvPr id="21" name="p12-n-3">
            <a:extLst xmlns:a="http://schemas.openxmlformats.org/drawingml/2006/main">
              <a:ext uri="{FF2B5EF4-FFF2-40B4-BE49-F238E27FC236}">
                <a16:creationId xmlns:a16="http://schemas.microsoft.com/office/drawing/2014/main" id="{5E7C365C-D6E8-459B-86E0-EE0018276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386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p12-s-3">
            <a:extLst xmlns:a="http://schemas.openxmlformats.org/drawingml/2006/main">
              <a:ext uri="{FF2B5EF4-FFF2-40B4-BE49-F238E27FC236}">
                <a16:creationId xmlns:a16="http://schemas.microsoft.com/office/drawing/2014/main" id="{E643874D-EACD-42D9-8530-17C11715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438650"/>
            <a:ext cx="485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只有 1 次时：说明边界，不写稳定结论</a:t>
            </a:r>
          </a:p>
        </p:txBody>
      </p:sp>
      <p:sp>
        <p:nvSpPr>
          <p:cNvPr id="23" name="p12-bottom">
            <a:extLst xmlns:a="http://schemas.openxmlformats.org/drawingml/2006/main">
              <a:ext uri="{FF2B5EF4-FFF2-40B4-BE49-F238E27FC236}">
                <a16:creationId xmlns:a16="http://schemas.microsoft.com/office/drawing/2014/main" id="{AE74D19D-AD92-4EA2-B7B4-1058A10F8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257800"/>
            <a:ext cx="8801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把单次差异写成稳定结论，会把种子噪声误当成方法效应。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判断门先做到 documented、consistent、exercisable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D23107-4986-8758-3A93-3D74F35908CC}" type="slidenum">
              <a:t>13</a:t>
            </a:fld>
            <a:endParaRPr/>
          </a:p>
        </p:txBody>
      </p:sp>
      <p:sp>
        <p:nvSpPr>
          <p:cNvPr id="6" name="p13-l-0">
            <a:extLst xmlns:a="http://schemas.openxmlformats.org/drawingml/2006/main">
              <a:ext uri="{FF2B5EF4-FFF2-40B4-BE49-F238E27FC236}">
                <a16:creationId xmlns:a16="http://schemas.microsoft.com/office/drawing/2014/main" id="{17AB5A89-A854-412A-95A8-036A713E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3390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documented</a:t>
            </a:r>
          </a:p>
        </p:txBody>
      </p:sp>
      <p:sp>
        <p:nvSpPr>
          <p:cNvPr id="7" name="p13-d-0">
            <a:extLst xmlns:a="http://schemas.openxmlformats.org/drawingml/2006/main">
              <a:ext uri="{FF2B5EF4-FFF2-40B4-BE49-F238E27FC236}">
                <a16:creationId xmlns:a16="http://schemas.microsoft.com/office/drawing/2014/main" id="{D1FAF18F-23C7-4C5E-9791-16B8226C6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33909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1">
                <a:solidFill>
                  <a:srgbClr val="18354E"/>
                </a:solidFill>
              </a:defRPr>
            </a:pPr>
            <a:r>
              <a:rPr sz="15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基本运行说明存在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575" b="1">
                <a:solidFill>
                  <a:srgbClr val="18354E"/>
                </a:solidFill>
              </a:defRPr>
            </a:pPr>
            <a:r>
              <a:rPr sz="15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判断门：实验规格</a:t>
            </a:r>
          </a:p>
        </p:txBody>
      </p:sp>
      <p:sp>
        <p:nvSpPr>
          <p:cNvPr id="8" name="p13-l-1">
            <a:extLst xmlns:a="http://schemas.openxmlformats.org/drawingml/2006/main">
              <a:ext uri="{FF2B5EF4-FFF2-40B4-BE49-F238E27FC236}">
                <a16:creationId xmlns:a16="http://schemas.microsoft.com/office/drawing/2014/main" id="{283C9041-1586-4727-95B4-B1681935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257300"/>
            <a:ext cx="3390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consistent</a:t>
            </a:r>
          </a:p>
        </p:txBody>
      </p:sp>
      <p:sp>
        <p:nvSpPr>
          <p:cNvPr id="9" name="p13-d-1">
            <a:extLst xmlns:a="http://schemas.openxmlformats.org/drawingml/2006/main">
              <a:ext uri="{FF2B5EF4-FFF2-40B4-BE49-F238E27FC236}">
                <a16:creationId xmlns:a16="http://schemas.microsoft.com/office/drawing/2014/main" id="{2AB4FD55-71ED-4652-8A49-D1DA008B2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62150"/>
            <a:ext cx="33909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说明与代码行为一致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判断门：复现说明 ↔ 代码</a:t>
            </a:r>
          </a:p>
        </p:txBody>
      </p:sp>
      <p:sp>
        <p:nvSpPr>
          <p:cNvPr id="10" name="p13-l-2">
            <a:extLst xmlns:a="http://schemas.openxmlformats.org/drawingml/2006/main">
              <a:ext uri="{FF2B5EF4-FFF2-40B4-BE49-F238E27FC236}">
                <a16:creationId xmlns:a16="http://schemas.microsoft.com/office/drawing/2014/main" id="{9253B4C0-94FF-4962-8629-2326AB83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257300"/>
            <a:ext cx="3390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874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exercisable</a:t>
            </a:r>
          </a:p>
        </p:txBody>
      </p:sp>
      <p:sp>
        <p:nvSpPr>
          <p:cNvPr id="11" name="p13-d-2">
            <a:extLst xmlns:a="http://schemas.openxmlformats.org/drawingml/2006/main">
              <a:ext uri="{FF2B5EF4-FFF2-40B4-BE49-F238E27FC236}">
                <a16:creationId xmlns:a16="http://schemas.microsoft.com/office/drawing/2014/main" id="{D4805376-3293-4162-974E-868E29906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62150"/>
            <a:ext cx="33909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1">
                <a:solidFill>
                  <a:srgbClr val="28745A"/>
                </a:solidFill>
              </a:defRPr>
            </a:pPr>
            <a:r>
              <a:rPr sz="157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工件能被独立运行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575" b="1">
                <a:solidFill>
                  <a:srgbClr val="28745A"/>
                </a:solidFill>
              </a:defRPr>
            </a:pPr>
            <a:r>
              <a:rPr sz="157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判断门：可执行 baseline</a:t>
            </a:r>
          </a:p>
        </p:txBody>
      </p:sp>
      <p:sp>
        <p:nvSpPr>
          <p:cNvPr id="12" name="p13-arrow-1">
            <a:extLst xmlns:a="http://schemas.openxmlformats.org/drawingml/2006/main">
              <a:ext uri="{FF2B5EF4-FFF2-40B4-BE49-F238E27FC236}">
                <a16:creationId xmlns:a16="http://schemas.microsoft.com/office/drawing/2014/main" id="{A59F4B0B-72D5-4B6E-9D6A-7C685C4C9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19550" y="2543175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13-arrow-2">
            <a:extLst xmlns:a="http://schemas.openxmlformats.org/drawingml/2006/main">
              <a:ext uri="{FF2B5EF4-FFF2-40B4-BE49-F238E27FC236}">
                <a16:creationId xmlns:a16="http://schemas.microsoft.com/office/drawing/2014/main" id="{0EC1B5F5-18BE-4085-ACAE-8DD18A9F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7650" y="2543175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13-higher">
            <a:extLst xmlns:a="http://schemas.openxmlformats.org/drawingml/2006/main">
              <a:ext uri="{FF2B5EF4-FFF2-40B4-BE49-F238E27FC236}">
                <a16:creationId xmlns:a16="http://schemas.microsoft.com/office/drawing/2014/main" id="{CBD97CFB-7B50-4AC0-A022-9762D4149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38600"/>
            <a:ext cx="9486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8354E"/>
                </a:solidFill>
              </a:defRPr>
            </a:pPr>
            <a:r>
              <a:rPr sz="17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更高档 complete / available / results validated 留给验证门与论证门，本课不要求。</a:t>
            </a:r>
          </a:p>
        </p:txBody>
      </p:sp>
      <p:sp>
        <p:nvSpPr>
          <p:cNvPr id="15" name="p13-bottom">
            <a:extLst xmlns:a="http://schemas.openxmlformats.org/drawingml/2006/main">
              <a:ext uri="{FF2B5EF4-FFF2-40B4-BE49-F238E27FC236}">
                <a16:creationId xmlns:a16="http://schemas.microsoft.com/office/drawing/2014/main" id="{D85021AD-1355-4D26-BC36-4A9D1975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143500"/>
            <a:ext cx="662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这些等级是自查视角，不另立课程评分规则。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模板迁移补字段，但不能丢历史记录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7921A4-25C4-3DB4-06B1-32693CEE2241}" type="slidenum">
              <a:t>14</a:t>
            </a:fld>
            <a:endParaRPr/>
          </a:p>
        </p:txBody>
      </p:sp>
      <p:sp>
        <p:nvSpPr>
          <p:cNvPr id="6" name="p14-map-h-0">
            <a:extLst xmlns:a="http://schemas.openxmlformats.org/drawingml/2006/main">
              <a:ext uri="{FF2B5EF4-FFF2-40B4-BE49-F238E27FC236}">
                <a16:creationId xmlns:a16="http://schemas.microsoft.com/office/drawing/2014/main" id="{3F2530EE-A01F-422B-A884-41663835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starter 字段</a:t>
            </a:r>
          </a:p>
        </p:txBody>
      </p:sp>
      <p:sp>
        <p:nvSpPr>
          <p:cNvPr id="7" name="p14-map-h-1">
            <a:extLst xmlns:a="http://schemas.openxmlformats.org/drawingml/2006/main">
              <a:ext uri="{FF2B5EF4-FFF2-40B4-BE49-F238E27FC236}">
                <a16:creationId xmlns:a16="http://schemas.microsoft.com/office/drawing/2014/main" id="{93E5BCCD-DEB8-4571-A950-1F09F86A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066800"/>
            <a:ext cx="3524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project 位置</a:t>
            </a:r>
          </a:p>
        </p:txBody>
      </p:sp>
      <p:sp>
        <p:nvSpPr>
          <p:cNvPr id="8" name="p14-map-h-2">
            <a:extLst xmlns:a="http://schemas.openxmlformats.org/drawingml/2006/main">
              <a:ext uri="{FF2B5EF4-FFF2-40B4-BE49-F238E27FC236}">
                <a16:creationId xmlns:a16="http://schemas.microsoft.com/office/drawing/2014/main" id="{7B277FD0-FD67-4277-804B-1479FD156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06680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迁移动作</a:t>
            </a:r>
          </a:p>
        </p:txBody>
      </p:sp>
      <p:sp>
        <p:nvSpPr>
          <p:cNvPr id="9" name="p14-map-r0-0">
            <a:extLst xmlns:a="http://schemas.openxmlformats.org/drawingml/2006/main">
              <a:ext uri="{FF2B5EF4-FFF2-40B4-BE49-F238E27FC236}">
                <a16:creationId xmlns:a16="http://schemas.microsoft.com/office/drawing/2014/main" id="{8A64D547-4D1B-482A-BDB4-9A27A0B51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2857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C8161E"/>
                </a:solidFill>
              </a:defRPr>
            </a:pPr>
            <a:r>
              <a:rPr sz="14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项目概览</a:t>
            </a:r>
          </a:p>
        </p:txBody>
      </p:sp>
      <p:sp>
        <p:nvSpPr>
          <p:cNvPr id="10" name="p14-map-r0-1">
            <a:extLst xmlns:a="http://schemas.openxmlformats.org/drawingml/2006/main">
              <a:ext uri="{FF2B5EF4-FFF2-40B4-BE49-F238E27FC236}">
                <a16:creationId xmlns:a16="http://schemas.microsoft.com/office/drawing/2014/main" id="{9C3B8688-945C-432F-8E68-CEC4A70BD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524000"/>
            <a:ext cx="3524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263746"/>
                </a:solidFill>
              </a:defRPr>
            </a:pPr>
            <a:r>
              <a:rPr sz="14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§1 项目信息</a:t>
            </a:r>
          </a:p>
        </p:txBody>
      </p:sp>
      <p:sp>
        <p:nvSpPr>
          <p:cNvPr id="11" name="p14-map-r0-2">
            <a:extLst xmlns:a="http://schemas.openxmlformats.org/drawingml/2006/main">
              <a:ext uri="{FF2B5EF4-FFF2-40B4-BE49-F238E27FC236}">
                <a16:creationId xmlns:a16="http://schemas.microsoft.com/office/drawing/2014/main" id="{21241981-0C6F-4572-BC7B-8C60365D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524000"/>
            <a:ext cx="4762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263746"/>
                </a:solidFill>
              </a:defRPr>
            </a:pPr>
            <a:r>
              <a:rPr sz="14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补仓库 URL</a:t>
            </a:r>
          </a:p>
        </p:txBody>
      </p:sp>
      <p:sp>
        <p:nvSpPr>
          <p:cNvPr id="12" name="p14-map-r1-0">
            <a:extLst xmlns:a="http://schemas.openxmlformats.org/drawingml/2006/main">
              <a:ext uri="{FF2B5EF4-FFF2-40B4-BE49-F238E27FC236}">
                <a16:creationId xmlns:a16="http://schemas.microsoft.com/office/drawing/2014/main" id="{19721F14-004A-472A-A09C-A759CA5F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52650"/>
            <a:ext cx="2857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C8161E"/>
                </a:solidFill>
              </a:defRPr>
            </a:pPr>
            <a:r>
              <a:rPr sz="14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AI 使用记录</a:t>
            </a:r>
          </a:p>
        </p:txBody>
      </p:sp>
      <p:sp>
        <p:nvSpPr>
          <p:cNvPr id="13" name="p14-map-r1-1">
            <a:extLst xmlns:a="http://schemas.openxmlformats.org/drawingml/2006/main">
              <a:ext uri="{FF2B5EF4-FFF2-40B4-BE49-F238E27FC236}">
                <a16:creationId xmlns:a16="http://schemas.microsoft.com/office/drawing/2014/main" id="{85FE1411-B4D5-409D-832B-EED65010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152650"/>
            <a:ext cx="3524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263746"/>
                </a:solidFill>
              </a:defRPr>
            </a:pPr>
            <a:r>
              <a:rPr sz="14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ai-usage-log.md</a:t>
            </a:r>
          </a:p>
        </p:txBody>
      </p:sp>
      <p:sp>
        <p:nvSpPr>
          <p:cNvPr id="14" name="p14-map-r1-2">
            <a:extLst xmlns:a="http://schemas.openxmlformats.org/drawingml/2006/main">
              <a:ext uri="{FF2B5EF4-FFF2-40B4-BE49-F238E27FC236}">
                <a16:creationId xmlns:a16="http://schemas.microsoft.com/office/drawing/2014/main" id="{5D91277E-F4E8-44CE-A332-188257B4D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152650"/>
            <a:ext cx="4762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263746"/>
                </a:solidFill>
              </a:defRPr>
            </a:pPr>
            <a:r>
              <a:rPr sz="14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保留全部条目</a:t>
            </a:r>
          </a:p>
        </p:txBody>
      </p:sp>
      <p:sp>
        <p:nvSpPr>
          <p:cNvPr id="15" name="p14-map-r2-0">
            <a:extLst xmlns:a="http://schemas.openxmlformats.org/drawingml/2006/main">
              <a:ext uri="{FF2B5EF4-FFF2-40B4-BE49-F238E27FC236}">
                <a16:creationId xmlns:a16="http://schemas.microsoft.com/office/drawing/2014/main" id="{1ABCCE81-0C43-4F5D-B6E4-448C8F1FD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81300"/>
            <a:ext cx="2857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C8161E"/>
                </a:solidFill>
              </a:defRPr>
            </a:pPr>
            <a:r>
              <a:rPr sz="14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伦理检查</a:t>
            </a:r>
          </a:p>
        </p:txBody>
      </p:sp>
      <p:sp>
        <p:nvSpPr>
          <p:cNvPr id="16" name="p14-map-r2-1">
            <a:extLst xmlns:a="http://schemas.openxmlformats.org/drawingml/2006/main">
              <a:ext uri="{FF2B5EF4-FFF2-40B4-BE49-F238E27FC236}">
                <a16:creationId xmlns:a16="http://schemas.microsoft.com/office/drawing/2014/main" id="{023EE682-2F68-4D98-87DA-F0AF6938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781300"/>
            <a:ext cx="3524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263746"/>
                </a:solidFill>
              </a:defRPr>
            </a:pPr>
            <a:r>
              <a:rPr sz="14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ethics-and-compliance.md</a:t>
            </a:r>
          </a:p>
        </p:txBody>
      </p:sp>
      <p:sp>
        <p:nvSpPr>
          <p:cNvPr id="17" name="p14-map-r2-2">
            <a:extLst xmlns:a="http://schemas.openxmlformats.org/drawingml/2006/main">
              <a:ext uri="{FF2B5EF4-FFF2-40B4-BE49-F238E27FC236}">
                <a16:creationId xmlns:a16="http://schemas.microsoft.com/office/drawing/2014/main" id="{F3D2CFAE-911E-4C80-9B1E-4A805CEB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81300"/>
            <a:ext cx="4762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263746"/>
                </a:solidFill>
              </a:defRPr>
            </a:pPr>
            <a:r>
              <a:rPr sz="14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补数据使用限制</a:t>
            </a:r>
          </a:p>
        </p:txBody>
      </p:sp>
      <p:sp>
        <p:nvSpPr>
          <p:cNvPr id="18" name="p14-map-r3-0">
            <a:extLst xmlns:a="http://schemas.openxmlformats.org/drawingml/2006/main">
              <a:ext uri="{FF2B5EF4-FFF2-40B4-BE49-F238E27FC236}">
                <a16:creationId xmlns:a16="http://schemas.microsoft.com/office/drawing/2014/main" id="{7DC1491F-6F1D-4B30-A4FB-3B48F924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09950"/>
            <a:ext cx="2857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C8161E"/>
                </a:solidFill>
              </a:defRPr>
            </a:pPr>
            <a:r>
              <a:rPr sz="14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权限矩阵</a:t>
            </a:r>
          </a:p>
        </p:txBody>
      </p:sp>
      <p:sp>
        <p:nvSpPr>
          <p:cNvPr id="19" name="p14-map-r3-1">
            <a:extLst xmlns:a="http://schemas.openxmlformats.org/drawingml/2006/main">
              <a:ext uri="{FF2B5EF4-FFF2-40B4-BE49-F238E27FC236}">
                <a16:creationId xmlns:a16="http://schemas.microsoft.com/office/drawing/2014/main" id="{A1768933-2363-4F4E-99A8-2EC641BC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409950"/>
            <a:ext cx="3524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263746"/>
                </a:solidFill>
              </a:defRPr>
            </a:pPr>
            <a:r>
              <a:rPr sz="14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§6 Agent Workflow</a:t>
            </a:r>
          </a:p>
        </p:txBody>
      </p:sp>
      <p:sp>
        <p:nvSpPr>
          <p:cNvPr id="20" name="p14-map-r3-2">
            <a:extLst xmlns:a="http://schemas.openxmlformats.org/drawingml/2006/main">
              <a:ext uri="{FF2B5EF4-FFF2-40B4-BE49-F238E27FC236}">
                <a16:creationId xmlns:a16="http://schemas.microsoft.com/office/drawing/2014/main" id="{81C8767C-CFA6-4CE7-9437-BC7AEC50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09950"/>
            <a:ext cx="4762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263746"/>
                </a:solidFill>
              </a:defRPr>
            </a:pPr>
            <a:r>
              <a:rPr sz="14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搬当前边界</a:t>
            </a:r>
          </a:p>
        </p:txBody>
      </p:sp>
      <p:sp>
        <p:nvSpPr>
          <p:cNvPr id="21" name="p14-new-title">
            <a:extLst xmlns:a="http://schemas.openxmlformats.org/drawingml/2006/main">
              <a:ext uri="{FF2B5EF4-FFF2-40B4-BE49-F238E27FC236}">
                <a16:creationId xmlns:a16="http://schemas.microsoft.com/office/drawing/2014/main" id="{A465C6F6-7479-4731-A29E-59C83468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0530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8161E"/>
                </a:solidFill>
              </a:defRPr>
            </a:pPr>
            <a:r>
              <a:rPr sz="18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本课新增</a:t>
            </a:r>
          </a:p>
        </p:txBody>
      </p:sp>
      <p:sp>
        <p:nvSpPr>
          <p:cNvPr id="22" name="p14-new">
            <a:extLst xmlns:a="http://schemas.openxmlformats.org/drawingml/2006/main">
              <a:ext uri="{FF2B5EF4-FFF2-40B4-BE49-F238E27FC236}">
                <a16:creationId xmlns:a16="http://schemas.microsoft.com/office/drawing/2014/main" id="{E275F0C0-E4C3-4DDA-BA38-373297DE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248150"/>
            <a:ext cx="8801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54E"/>
                </a:solidFill>
              </a:defRPr>
            </a:pPr>
            <a:r>
              <a:rPr sz="15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§4.2 baseline｜§4.6 七字段规格｜§5 至少两条研究判断｜§7 一行实验记录｜同伴反馈处理</a:t>
            </a:r>
          </a:p>
        </p:txBody>
      </p:sp>
      <p:sp>
        <p:nvSpPr>
          <p:cNvPr id="23" name="p14-bottom">
            <a:extLst xmlns:a="http://schemas.openxmlformats.org/drawingml/2006/main">
              <a:ext uri="{FF2B5EF4-FFF2-40B4-BE49-F238E27FC236}">
                <a16:creationId xmlns:a16="http://schemas.microsoft.com/office/drawing/2014/main" id="{86536815-86F8-4141-821B-B9810F5EE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219700"/>
            <a:ext cx="792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迁移不是重写：补齐新增字段，同时保留第 1-8 课所有记录。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判断门检查当前个人项目版本的八项条件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A83FA91-883A-0168-8075-96CEB9DCA3C2}" type="slidenum">
              <a:t>15</a:t>
            </a:fld>
            <a:endParaRPr/>
          </a:p>
        </p:txBody>
      </p:sp>
      <p:sp>
        <p:nvSpPr>
          <p:cNvPr id="6" name="p15-n-0">
            <a:extLst xmlns:a="http://schemas.openxmlformats.org/drawingml/2006/main">
              <a:ext uri="{FF2B5EF4-FFF2-40B4-BE49-F238E27FC236}">
                <a16:creationId xmlns:a16="http://schemas.microsoft.com/office/drawing/2014/main" id="{7E875042-5F86-45EE-9B69-FFE4E0606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p15-g-0">
            <a:extLst xmlns:a="http://schemas.openxmlformats.org/drawingml/2006/main">
              <a:ext uri="{FF2B5EF4-FFF2-40B4-BE49-F238E27FC236}">
                <a16:creationId xmlns:a16="http://schemas.microsoft.com/office/drawing/2014/main" id="{7591E100-0CED-4873-9DD6-6DF311591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990600"/>
            <a:ext cx="4914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可执行 baseline 或最小验证原型</a:t>
            </a:r>
          </a:p>
        </p:txBody>
      </p:sp>
      <p:sp>
        <p:nvSpPr>
          <p:cNvPr id="8" name="p15-n-1">
            <a:extLst xmlns:a="http://schemas.openxmlformats.org/drawingml/2006/main">
              <a:ext uri="{FF2B5EF4-FFF2-40B4-BE49-F238E27FC236}">
                <a16:creationId xmlns:a16="http://schemas.microsoft.com/office/drawing/2014/main" id="{201148DB-C491-4443-9A77-E6CAC0A27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02870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p15-g-1">
            <a:extLst xmlns:a="http://schemas.openxmlformats.org/drawingml/2006/main">
              <a:ext uri="{FF2B5EF4-FFF2-40B4-BE49-F238E27FC236}">
                <a16:creationId xmlns:a16="http://schemas.microsoft.com/office/drawing/2014/main" id="{EDB7E98E-1585-4979-8DCE-F94F4D8E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990600"/>
            <a:ext cx="4914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数据、材料、指标和使用限制</a:t>
            </a:r>
          </a:p>
        </p:txBody>
      </p:sp>
      <p:sp>
        <p:nvSpPr>
          <p:cNvPr id="10" name="p15-n-2">
            <a:extLst xmlns:a="http://schemas.openxmlformats.org/drawingml/2006/main">
              <a:ext uri="{FF2B5EF4-FFF2-40B4-BE49-F238E27FC236}">
                <a16:creationId xmlns:a16="http://schemas.microsoft.com/office/drawing/2014/main" id="{B9EA6223-57FB-4D1F-9B44-E55D9B18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p15-g-2">
            <a:extLst xmlns:a="http://schemas.openxmlformats.org/drawingml/2006/main">
              <a:ext uri="{FF2B5EF4-FFF2-40B4-BE49-F238E27FC236}">
                <a16:creationId xmlns:a16="http://schemas.microsoft.com/office/drawing/2014/main" id="{90A1F1E9-6979-44A2-A288-6726F1AAD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62150"/>
            <a:ext cx="4914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环境、配置、种子或等价复现条件</a:t>
            </a:r>
          </a:p>
        </p:txBody>
      </p:sp>
      <p:sp>
        <p:nvSpPr>
          <p:cNvPr id="12" name="p15-n-3">
            <a:extLst xmlns:a="http://schemas.openxmlformats.org/drawingml/2006/main">
              <a:ext uri="{FF2B5EF4-FFF2-40B4-BE49-F238E27FC236}">
                <a16:creationId xmlns:a16="http://schemas.microsoft.com/office/drawing/2014/main" id="{599FD449-0836-4B75-8615-01EC4CFD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0025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p15-g-3">
            <a:extLst xmlns:a="http://schemas.openxmlformats.org/drawingml/2006/main">
              <a:ext uri="{FF2B5EF4-FFF2-40B4-BE49-F238E27FC236}">
                <a16:creationId xmlns:a16="http://schemas.microsoft.com/office/drawing/2014/main" id="{94F2A8C1-E13C-414A-9A70-3E3250910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962150"/>
            <a:ext cx="4914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≥2 条六字段研究判断</a:t>
            </a:r>
          </a:p>
        </p:txBody>
      </p:sp>
      <p:sp>
        <p:nvSpPr>
          <p:cNvPr id="14" name="p15-n-4">
            <a:extLst xmlns:a="http://schemas.openxmlformats.org/drawingml/2006/main">
              <a:ext uri="{FF2B5EF4-FFF2-40B4-BE49-F238E27FC236}">
                <a16:creationId xmlns:a16="http://schemas.microsoft.com/office/drawing/2014/main" id="{3CD8291D-A949-4D33-B4C6-5E0A12A9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7180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5" name="p15-g-4">
            <a:extLst xmlns:a="http://schemas.openxmlformats.org/drawingml/2006/main">
              <a:ext uri="{FF2B5EF4-FFF2-40B4-BE49-F238E27FC236}">
                <a16:creationId xmlns:a16="http://schemas.microsoft.com/office/drawing/2014/main" id="{E5252B74-598A-496A-95FB-2C1BC912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33700"/>
            <a:ext cx="4914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完整实验规格：假设/变量/步骤/度量/对照/停止</a:t>
            </a:r>
          </a:p>
        </p:txBody>
      </p:sp>
      <p:sp>
        <p:nvSpPr>
          <p:cNvPr id="16" name="p15-n-5">
            <a:extLst xmlns:a="http://schemas.openxmlformats.org/drawingml/2006/main">
              <a:ext uri="{FF2B5EF4-FFF2-40B4-BE49-F238E27FC236}">
                <a16:creationId xmlns:a16="http://schemas.microsoft.com/office/drawing/2014/main" id="{824918DC-54FC-4605-A5C1-F01019B8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7180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7" name="p15-g-5">
            <a:extLst xmlns:a="http://schemas.openxmlformats.org/drawingml/2006/main">
              <a:ext uri="{FF2B5EF4-FFF2-40B4-BE49-F238E27FC236}">
                <a16:creationId xmlns:a16="http://schemas.microsoft.com/office/drawing/2014/main" id="{0F55299B-D614-4706-953F-D4E53D0D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33700"/>
            <a:ext cx="4914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第 8 课同伴反馈处理记录</a:t>
            </a:r>
          </a:p>
        </p:txBody>
      </p:sp>
      <p:sp>
        <p:nvSpPr>
          <p:cNvPr id="18" name="p15-n-6">
            <a:extLst xmlns:a="http://schemas.openxmlformats.org/drawingml/2006/main">
              <a:ext uri="{FF2B5EF4-FFF2-40B4-BE49-F238E27FC236}">
                <a16:creationId xmlns:a16="http://schemas.microsoft.com/office/drawing/2014/main" id="{837EE9A0-9569-403A-8709-D75B723A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9" name="p15-g-6">
            <a:extLst xmlns:a="http://schemas.openxmlformats.org/drawingml/2006/main">
              <a:ext uri="{FF2B5EF4-FFF2-40B4-BE49-F238E27FC236}">
                <a16:creationId xmlns:a16="http://schemas.microsoft.com/office/drawing/2014/main" id="{ED566B1A-1A66-4552-BB08-286FA4B09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05250"/>
            <a:ext cx="4914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当前最大风险和失败预案</a:t>
            </a:r>
          </a:p>
        </p:txBody>
      </p:sp>
      <p:sp>
        <p:nvSpPr>
          <p:cNvPr id="20" name="p15-n-7">
            <a:extLst xmlns:a="http://schemas.openxmlformats.org/drawingml/2006/main">
              <a:ext uri="{FF2B5EF4-FFF2-40B4-BE49-F238E27FC236}">
                <a16:creationId xmlns:a16="http://schemas.microsoft.com/office/drawing/2014/main" id="{FCE25BD8-CDF3-4631-A412-4808592F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4335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1" name="p15-g-7">
            <a:extLst xmlns:a="http://schemas.openxmlformats.org/drawingml/2006/main">
              <a:ext uri="{FF2B5EF4-FFF2-40B4-BE49-F238E27FC236}">
                <a16:creationId xmlns:a16="http://schemas.microsoft.com/office/drawing/2014/main" id="{61D68D2C-C34D-4E2A-BB2E-2A94B71A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905250"/>
            <a:ext cx="4914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迁移完整模板且不丢 AI/伦理记录</a:t>
            </a:r>
          </a:p>
        </p:txBody>
      </p:sp>
      <p:sp>
        <p:nvSpPr>
          <p:cNvPr id="22" name="p15-scope">
            <a:extLst xmlns:a="http://schemas.openxmlformats.org/drawingml/2006/main">
              <a:ext uri="{FF2B5EF4-FFF2-40B4-BE49-F238E27FC236}">
                <a16:creationId xmlns:a16="http://schemas.microsoft.com/office/drawing/2014/main" id="{281B9E2F-0077-44F3-A596-2780D903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91100"/>
            <a:ext cx="6705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8161E"/>
                </a:solidFill>
              </a:defRPr>
            </a:pPr>
            <a:r>
              <a:rPr sz="17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本课重点补全：1 / 2 / 3 / 5 / 7｜整理：4 / 6 / 8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J2 把 baseline 取舍和同伴反馈写进判断记录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9C7607-4BA3-B4DC-A00F-2E67A9FCFF7E}" type="slidenum">
              <a:t>16</a:t>
            </a:fld>
            <a:endParaRPr/>
          </a:p>
        </p:txBody>
      </p:sp>
      <p:sp>
        <p:nvSpPr>
          <p:cNvPr id="6" name="p16-j2-title">
            <a:extLst xmlns:a="http://schemas.openxmlformats.org/drawingml/2006/main">
              <a:ext uri="{FF2B5EF4-FFF2-40B4-BE49-F238E27FC236}">
                <a16:creationId xmlns:a16="http://schemas.microsoft.com/office/drawing/2014/main" id="{D9B14429-C6FE-4ACC-8711-BDD18F18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6362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8161E"/>
                </a:solidFill>
              </a:defRPr>
            </a:pPr>
            <a:r>
              <a:rPr sz="18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虚构教学判断 J2：选朴素 baseline</a:t>
            </a:r>
          </a:p>
        </p:txBody>
      </p:sp>
      <p:sp>
        <p:nvSpPr>
          <p:cNvPr id="7" name="p16-j2-h-0">
            <a:extLst xmlns:a="http://schemas.openxmlformats.org/drawingml/2006/main">
              <a:ext uri="{FF2B5EF4-FFF2-40B4-BE49-F238E27FC236}">
                <a16:creationId xmlns:a16="http://schemas.microsoft.com/office/drawing/2014/main" id="{728CC9BF-DAB8-4DA4-BAFA-C88BBB63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字段</a:t>
            </a:r>
          </a:p>
        </p:txBody>
      </p:sp>
      <p:sp>
        <p:nvSpPr>
          <p:cNvPr id="8" name="p16-j2-h-1">
            <a:extLst xmlns:a="http://schemas.openxmlformats.org/drawingml/2006/main">
              <a:ext uri="{FF2B5EF4-FFF2-40B4-BE49-F238E27FC236}">
                <a16:creationId xmlns:a16="http://schemas.microsoft.com/office/drawing/2014/main" id="{D7B757A1-68C1-4E1A-88A7-3A4B2AEC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657350"/>
            <a:ext cx="457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记录</a:t>
            </a:r>
          </a:p>
        </p:txBody>
      </p:sp>
      <p:sp>
        <p:nvSpPr>
          <p:cNvPr id="9" name="p16-j2-r0-0">
            <a:extLst xmlns:a="http://schemas.openxmlformats.org/drawingml/2006/main">
              <a:ext uri="{FF2B5EF4-FFF2-40B4-BE49-F238E27FC236}">
                <a16:creationId xmlns:a16="http://schemas.microsoft.com/office/drawing/2014/main" id="{223AD9EB-9A3C-4D91-B951-0701AC080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764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取舍理由</a:t>
            </a:r>
          </a:p>
        </p:txBody>
      </p:sp>
      <p:sp>
        <p:nvSpPr>
          <p:cNvPr id="10" name="p16-j2-r0-1">
            <a:extLst xmlns:a="http://schemas.openxmlformats.org/drawingml/2006/main">
              <a:ext uri="{FF2B5EF4-FFF2-40B4-BE49-F238E27FC236}">
                <a16:creationId xmlns:a16="http://schemas.microsoft.com/office/drawing/2014/main" id="{B8A07EC6-AF01-4FDB-8B08-5433FB4C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076450"/>
            <a:ext cx="457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强 baseline 需要外部 prompt 集，超出周期</a:t>
            </a:r>
          </a:p>
        </p:txBody>
      </p:sp>
      <p:sp>
        <p:nvSpPr>
          <p:cNvPr id="11" name="p16-j2-r1-0">
            <a:extLst xmlns:a="http://schemas.openxmlformats.org/drawingml/2006/main">
              <a:ext uri="{FF2B5EF4-FFF2-40B4-BE49-F238E27FC236}">
                <a16:creationId xmlns:a16="http://schemas.microsoft.com/office/drawing/2014/main" id="{022545AF-5A86-4C36-A836-FF9F004B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289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适用边界</a:t>
            </a:r>
          </a:p>
        </p:txBody>
      </p:sp>
      <p:sp>
        <p:nvSpPr>
          <p:cNvPr id="12" name="p16-j2-r1-1">
            <a:extLst xmlns:a="http://schemas.openxmlformats.org/drawingml/2006/main">
              <a:ext uri="{FF2B5EF4-FFF2-40B4-BE49-F238E27FC236}">
                <a16:creationId xmlns:a16="http://schemas.microsoft.com/office/drawing/2014/main" id="{5203B42E-B844-4BAA-872D-89AD3E84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628900"/>
            <a:ext cx="457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只支持字段约束 vs 无约束</a:t>
            </a:r>
          </a:p>
        </p:txBody>
      </p:sp>
      <p:sp>
        <p:nvSpPr>
          <p:cNvPr id="13" name="p16-j2-r2-0">
            <a:extLst xmlns:a="http://schemas.openxmlformats.org/drawingml/2006/main">
              <a:ext uri="{FF2B5EF4-FFF2-40B4-BE49-F238E27FC236}">
                <a16:creationId xmlns:a16="http://schemas.microsoft.com/office/drawing/2014/main" id="{13EB585A-00BE-4763-8D69-E8ED788C9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813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依据</a:t>
            </a:r>
          </a:p>
        </p:txBody>
      </p:sp>
      <p:sp>
        <p:nvSpPr>
          <p:cNvPr id="14" name="p16-j2-r2-1">
            <a:extLst xmlns:a="http://schemas.openxmlformats.org/drawingml/2006/main">
              <a:ext uri="{FF2B5EF4-FFF2-40B4-BE49-F238E27FC236}">
                <a16:creationId xmlns:a16="http://schemas.microsoft.com/office/drawing/2014/main" id="{B14092E0-829D-4C88-A7B5-C0464EDCC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181350"/>
            <a:ext cx="457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第 8 课反馈 + 主张必须定位原文</a:t>
            </a:r>
          </a:p>
        </p:txBody>
      </p:sp>
      <p:sp>
        <p:nvSpPr>
          <p:cNvPr id="15" name="p16-j2-r3-0">
            <a:extLst xmlns:a="http://schemas.openxmlformats.org/drawingml/2006/main">
              <a:ext uri="{FF2B5EF4-FFF2-40B4-BE49-F238E27FC236}">
                <a16:creationId xmlns:a16="http://schemas.microsoft.com/office/drawing/2014/main" id="{CF61474F-8BE0-452E-A07F-4D963F0A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338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待验证</a:t>
            </a:r>
          </a:p>
        </p:txBody>
      </p:sp>
      <p:sp>
        <p:nvSpPr>
          <p:cNvPr id="16" name="p16-j2-r3-1">
            <a:extLst xmlns:a="http://schemas.openxmlformats.org/drawingml/2006/main">
              <a:ext uri="{FF2B5EF4-FFF2-40B4-BE49-F238E27FC236}">
                <a16:creationId xmlns:a16="http://schemas.microsoft.com/office/drawing/2014/main" id="{696BD5C1-7E8A-433A-83B8-EF0D22600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733800"/>
            <a:ext cx="457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强 baseline 留作后续工作</a:t>
            </a:r>
          </a:p>
        </p:txBody>
      </p:sp>
      <p:sp>
        <p:nvSpPr>
          <p:cNvPr id="17" name="p16-j2-r4-0">
            <a:extLst xmlns:a="http://schemas.openxmlformats.org/drawingml/2006/main">
              <a:ext uri="{FF2B5EF4-FFF2-40B4-BE49-F238E27FC236}">
                <a16:creationId xmlns:a16="http://schemas.microsoft.com/office/drawing/2014/main" id="{00AF2C7B-3E4E-4F7D-9C37-56E51BE2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影响工件</a:t>
            </a:r>
          </a:p>
        </p:txBody>
      </p:sp>
      <p:sp>
        <p:nvSpPr>
          <p:cNvPr id="18" name="p16-j2-r4-1">
            <a:extLst xmlns:a="http://schemas.openxmlformats.org/drawingml/2006/main">
              <a:ext uri="{FF2B5EF4-FFF2-40B4-BE49-F238E27FC236}">
                <a16:creationId xmlns:a16="http://schemas.microsoft.com/office/drawing/2014/main" id="{1977F2AF-A4EF-4AB7-8887-68D9FA91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286250"/>
            <a:ext cx="457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实验规格：对照 + 失败预案</a:t>
            </a:r>
          </a:p>
        </p:txBody>
      </p:sp>
      <p:sp>
        <p:nvSpPr>
          <p:cNvPr id="19" name="p16-peer-title">
            <a:extLst xmlns:a="http://schemas.openxmlformats.org/drawingml/2006/main">
              <a:ext uri="{FF2B5EF4-FFF2-40B4-BE49-F238E27FC236}">
                <a16:creationId xmlns:a16="http://schemas.microsoft.com/office/drawing/2014/main" id="{322BB108-2B46-429C-9424-04FADA59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0096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8354E"/>
                </a:solidFill>
              </a:defRPr>
            </a:pPr>
            <a:r>
              <a:rPr sz="17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虚构教学反馈处理</a:t>
            </a:r>
          </a:p>
        </p:txBody>
      </p:sp>
      <p:sp>
        <p:nvSpPr>
          <p:cNvPr id="20" name="p16-f-0">
            <a:extLst xmlns:a="http://schemas.openxmlformats.org/drawingml/2006/main">
              <a:ext uri="{FF2B5EF4-FFF2-40B4-BE49-F238E27FC236}">
                <a16:creationId xmlns:a16="http://schemas.microsoft.com/office/drawing/2014/main" id="{8EDCD461-9414-4ABB-985D-0B0BB2D4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733550"/>
            <a:ext cx="1962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增加强 baseline</a:t>
            </a:r>
          </a:p>
        </p:txBody>
      </p:sp>
      <p:sp>
        <p:nvSpPr>
          <p:cNvPr id="21" name="p16-s-0">
            <a:extLst xmlns:a="http://schemas.openxmlformats.org/drawingml/2006/main">
              <a:ext uri="{FF2B5EF4-FFF2-40B4-BE49-F238E27FC236}">
                <a16:creationId xmlns:a16="http://schemas.microsoft.com/office/drawing/2014/main" id="{A698B4A5-9B97-4C84-A4EF-E29D8CB5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7335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拒绝｜超出周期</a:t>
            </a:r>
          </a:p>
        </p:txBody>
      </p:sp>
      <p:sp>
        <p:nvSpPr>
          <p:cNvPr id="22" name="p16-f-1">
            <a:extLst xmlns:a="http://schemas.openxmlformats.org/drawingml/2006/main">
              <a:ext uri="{FF2B5EF4-FFF2-40B4-BE49-F238E27FC236}">
                <a16:creationId xmlns:a16="http://schemas.microsoft.com/office/drawing/2014/main" id="{969D0B59-A51B-4B7E-A438-3CA93C56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667000"/>
            <a:ext cx="1962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报告方差</a:t>
            </a:r>
          </a:p>
        </p:txBody>
      </p:sp>
      <p:sp>
        <p:nvSpPr>
          <p:cNvPr id="23" name="p16-s-1">
            <a:extLst xmlns:a="http://schemas.openxmlformats.org/drawingml/2006/main">
              <a:ext uri="{FF2B5EF4-FFF2-40B4-BE49-F238E27FC236}">
                <a16:creationId xmlns:a16="http://schemas.microsoft.com/office/drawing/2014/main" id="{F25D56EC-E80B-4BD4-9B23-AF0A2342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6670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8745A"/>
                </a:solidFill>
              </a:defRPr>
            </a:pPr>
            <a:r>
              <a:rPr sz="1350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采纳｜事先写重复计划</a:t>
            </a:r>
          </a:p>
        </p:txBody>
      </p:sp>
      <p:sp>
        <p:nvSpPr>
          <p:cNvPr id="24" name="p16-f-2">
            <a:extLst xmlns:a="http://schemas.openxmlformats.org/drawingml/2006/main">
              <a:ext uri="{FF2B5EF4-FFF2-40B4-BE49-F238E27FC236}">
                <a16:creationId xmlns:a16="http://schemas.microsoft.com/office/drawing/2014/main" id="{C191AAE8-5D84-41C6-B0E3-4AC8F9C9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00450"/>
            <a:ext cx="1962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样本量过小</a:t>
            </a:r>
          </a:p>
        </p:txBody>
      </p:sp>
      <p:sp>
        <p:nvSpPr>
          <p:cNvPr id="25" name="p16-s-2">
            <a:extLst xmlns:a="http://schemas.openxmlformats.org/drawingml/2006/main">
              <a:ext uri="{FF2B5EF4-FFF2-40B4-BE49-F238E27FC236}">
                <a16:creationId xmlns:a16="http://schemas.microsoft.com/office/drawing/2014/main" id="{4BFD1856-9FB1-4E7B-86C4-E893A790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6004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0D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86C12"/>
                </a:solidFill>
              </a:defRPr>
            </a:pPr>
            <a:r>
              <a:rPr sz="1350" b="1">
                <a:solidFill>
                  <a:srgbClr val="A86C12"/>
                </a:solidFill>
                <a:latin typeface="Microsoft YaHei"/>
                <a:ea typeface="Microsoft YaHei"/>
                <a:cs typeface="Microsoft YaHei"/>
              </a:rPr>
              <a:t>暂缓｜小样本初步证据</a:t>
            </a:r>
          </a:p>
        </p:txBody>
      </p:sp>
      <p:sp>
        <p:nvSpPr>
          <p:cNvPr id="26" name="p16-bottom">
            <a:extLst xmlns:a="http://schemas.openxmlformats.org/drawingml/2006/main">
              <a:ext uri="{FF2B5EF4-FFF2-40B4-BE49-F238E27FC236}">
                <a16:creationId xmlns:a16="http://schemas.microsoft.com/office/drawing/2014/main" id="{F92ECA8E-609F-40BB-A71F-0CCC9313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29200"/>
            <a:ext cx="8686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拒绝反馈也必须写依据；作者保留决定权，但决定必须可追溯。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个人实践：启动判断门材料的最小闭环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0F7333B-44AC-F7E9-D49D-FE92F45E0477}" type="slidenum">
              <a:t>17</a:t>
            </a:fld>
            <a:endParaRPr/>
          </a:p>
        </p:txBody>
      </p:sp>
      <p:sp>
        <p:nvSpPr>
          <p:cNvPr id="6" name="p17-time">
            <a:extLst xmlns:a="http://schemas.openxmlformats.org/drawingml/2006/main">
              <a:ext uri="{FF2B5EF4-FFF2-40B4-BE49-F238E27FC236}">
                <a16:creationId xmlns:a16="http://schemas.microsoft.com/office/drawing/2014/main" id="{4E507AB8-E404-49A1-A930-1E37EAB3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857250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40:00–60:00｜持续个人补全</a:t>
            </a:r>
          </a:p>
        </p:txBody>
      </p:sp>
      <p:sp>
        <p:nvSpPr>
          <p:cNvPr id="7" name="p17-n-0">
            <a:extLst xmlns:a="http://schemas.openxmlformats.org/drawingml/2006/main">
              <a:ext uri="{FF2B5EF4-FFF2-40B4-BE49-F238E27FC236}">
                <a16:creationId xmlns:a16="http://schemas.microsoft.com/office/drawing/2014/main" id="{E44F1852-D969-4A16-BB74-EBEEE51D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p17-t-0">
            <a:extLst xmlns:a="http://schemas.openxmlformats.org/drawingml/2006/main">
              <a:ext uri="{FF2B5EF4-FFF2-40B4-BE49-F238E27FC236}">
                <a16:creationId xmlns:a16="http://schemas.microsoft.com/office/drawing/2014/main" id="{A80CC5AB-4647-497C-AC6B-58366B3B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200150"/>
            <a:ext cx="485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选 baseline：类型 + 公平性</a:t>
            </a:r>
          </a:p>
        </p:txBody>
      </p:sp>
      <p:sp>
        <p:nvSpPr>
          <p:cNvPr id="9" name="p17-n-1">
            <a:extLst xmlns:a="http://schemas.openxmlformats.org/drawingml/2006/main">
              <a:ext uri="{FF2B5EF4-FFF2-40B4-BE49-F238E27FC236}">
                <a16:creationId xmlns:a16="http://schemas.microsoft.com/office/drawing/2014/main" id="{C57021BF-128A-48BB-86BA-48CD29A6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2001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p17-t-1">
            <a:extLst xmlns:a="http://schemas.openxmlformats.org/drawingml/2006/main">
              <a:ext uri="{FF2B5EF4-FFF2-40B4-BE49-F238E27FC236}">
                <a16:creationId xmlns:a16="http://schemas.microsoft.com/office/drawing/2014/main" id="{7F1EA745-B4FE-4DDB-91B6-AEC07E73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200150"/>
            <a:ext cx="485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补七字段：停止、随机化、失败预案</a:t>
            </a:r>
          </a:p>
        </p:txBody>
      </p:sp>
      <p:sp>
        <p:nvSpPr>
          <p:cNvPr id="11" name="p17-n-2">
            <a:extLst xmlns:a="http://schemas.openxmlformats.org/drawingml/2006/main">
              <a:ext uri="{FF2B5EF4-FFF2-40B4-BE49-F238E27FC236}">
                <a16:creationId xmlns:a16="http://schemas.microsoft.com/office/drawing/2014/main" id="{E5AC59A4-3A75-4F4A-8F2B-FAB25A4B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193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p17-t-2">
            <a:extLst xmlns:a="http://schemas.openxmlformats.org/drawingml/2006/main">
              <a:ext uri="{FF2B5EF4-FFF2-40B4-BE49-F238E27FC236}">
                <a16:creationId xmlns:a16="http://schemas.microsoft.com/office/drawing/2014/main" id="{15EAEBD9-0CDC-462E-BCF2-9ADB8C677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19300"/>
            <a:ext cx="485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写六类复现说明：种子或等价条件</a:t>
            </a:r>
          </a:p>
        </p:txBody>
      </p:sp>
      <p:sp>
        <p:nvSpPr>
          <p:cNvPr id="13" name="p17-n-3">
            <a:extLst xmlns:a="http://schemas.openxmlformats.org/drawingml/2006/main">
              <a:ext uri="{FF2B5EF4-FFF2-40B4-BE49-F238E27FC236}">
                <a16:creationId xmlns:a16="http://schemas.microsoft.com/office/drawing/2014/main" id="{5C2CD8A7-2324-4B3E-9384-D5C052A8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193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p17-t-3">
            <a:extLst xmlns:a="http://schemas.openxmlformats.org/drawingml/2006/main">
              <a:ext uri="{FF2B5EF4-FFF2-40B4-BE49-F238E27FC236}">
                <a16:creationId xmlns:a16="http://schemas.microsoft.com/office/drawing/2014/main" id="{65BFBBBE-A1BC-45C1-B157-A2B07CA7A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19300"/>
            <a:ext cx="485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重复计划与要声称的强度匹配</a:t>
            </a:r>
          </a:p>
        </p:txBody>
      </p:sp>
      <p:sp>
        <p:nvSpPr>
          <p:cNvPr id="15" name="p17-n-4">
            <a:extLst xmlns:a="http://schemas.openxmlformats.org/drawingml/2006/main">
              <a:ext uri="{FF2B5EF4-FFF2-40B4-BE49-F238E27FC236}">
                <a16:creationId xmlns:a16="http://schemas.microsoft.com/office/drawing/2014/main" id="{0BF4A136-975C-44B1-A80F-7D23AF95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384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6" name="p17-t-4">
            <a:extLst xmlns:a="http://schemas.openxmlformats.org/drawingml/2006/main">
              <a:ext uri="{FF2B5EF4-FFF2-40B4-BE49-F238E27FC236}">
                <a16:creationId xmlns:a16="http://schemas.microsoft.com/office/drawing/2014/main" id="{FE9DBEE4-42EA-42D4-998E-05DF8329D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38450"/>
            <a:ext cx="485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写 J2 六字段</a:t>
            </a:r>
          </a:p>
        </p:txBody>
      </p:sp>
      <p:sp>
        <p:nvSpPr>
          <p:cNvPr id="17" name="p17-n-5">
            <a:extLst xmlns:a="http://schemas.openxmlformats.org/drawingml/2006/main">
              <a:ext uri="{FF2B5EF4-FFF2-40B4-BE49-F238E27FC236}">
                <a16:creationId xmlns:a16="http://schemas.microsoft.com/office/drawing/2014/main" id="{C01711CD-3A26-4D1F-9BD8-A40DD78A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384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8" name="p17-t-5">
            <a:extLst xmlns:a="http://schemas.openxmlformats.org/drawingml/2006/main">
              <a:ext uri="{FF2B5EF4-FFF2-40B4-BE49-F238E27FC236}">
                <a16:creationId xmlns:a16="http://schemas.microsoft.com/office/drawing/2014/main" id="{2C03B49D-7953-43D2-B565-D15C0084A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838450"/>
            <a:ext cx="485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反馈逐条采纳 / 拒绝 / 暂缓</a:t>
            </a:r>
          </a:p>
        </p:txBody>
      </p:sp>
      <p:sp>
        <p:nvSpPr>
          <p:cNvPr id="19" name="p17-n-6">
            <a:extLst xmlns:a="http://schemas.openxmlformats.org/drawingml/2006/main">
              <a:ext uri="{FF2B5EF4-FFF2-40B4-BE49-F238E27FC236}">
                <a16:creationId xmlns:a16="http://schemas.microsoft.com/office/drawing/2014/main" id="{EAB25094-2023-459E-8D99-7C885406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576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0" name="p17-t-6">
            <a:extLst xmlns:a="http://schemas.openxmlformats.org/drawingml/2006/main">
              <a:ext uri="{FF2B5EF4-FFF2-40B4-BE49-F238E27FC236}">
                <a16:creationId xmlns:a16="http://schemas.microsoft.com/office/drawing/2014/main" id="{5B35D9D6-4C5F-4E45-880E-F60431302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57600"/>
            <a:ext cx="485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启动模板迁移，不丢 AI 记录</a:t>
            </a:r>
          </a:p>
        </p:txBody>
      </p:sp>
      <p:sp>
        <p:nvSpPr>
          <p:cNvPr id="21" name="p17-n-7">
            <a:extLst xmlns:a="http://schemas.openxmlformats.org/drawingml/2006/main">
              <a:ext uri="{FF2B5EF4-FFF2-40B4-BE49-F238E27FC236}">
                <a16:creationId xmlns:a16="http://schemas.microsoft.com/office/drawing/2014/main" id="{772BA560-0FE7-4024-A3B1-45520AFD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576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2" name="p17-t-7">
            <a:extLst xmlns:a="http://schemas.openxmlformats.org/drawingml/2006/main">
              <a:ext uri="{FF2B5EF4-FFF2-40B4-BE49-F238E27FC236}">
                <a16:creationId xmlns:a16="http://schemas.microsoft.com/office/drawing/2014/main" id="{663569BC-24B4-4C72-83E9-0D76AF445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57600"/>
            <a:ext cx="485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对照八项门条件标状态</a:t>
            </a:r>
          </a:p>
        </p:txBody>
      </p:sp>
      <p:sp>
        <p:nvSpPr>
          <p:cNvPr id="23" name="p17-path">
            <a:extLst xmlns:a="http://schemas.openxmlformats.org/drawingml/2006/main">
              <a:ext uri="{FF2B5EF4-FFF2-40B4-BE49-F238E27FC236}">
                <a16:creationId xmlns:a16="http://schemas.microsoft.com/office/drawing/2014/main" id="{D50314ED-7102-40B7-8584-BDDFCB5E4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91050"/>
            <a:ext cx="4743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优先顺序：本人真实项目 → 贯穿案例</a:t>
            </a:r>
          </a:p>
        </p:txBody>
      </p:sp>
      <p:sp>
        <p:nvSpPr>
          <p:cNvPr id="24" name="p17-files">
            <a:extLst xmlns:a="http://schemas.openxmlformats.org/drawingml/2006/main">
              <a:ext uri="{FF2B5EF4-FFF2-40B4-BE49-F238E27FC236}">
                <a16:creationId xmlns:a16="http://schemas.microsoft.com/office/drawing/2014/main" id="{59C528B4-94C1-4E2B-8CC3-E5E37BE5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514850"/>
            <a:ext cx="5676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写入：experiment-spec.md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hypothesis-and-judgment.md｜peer-review.md</a:t>
            </a:r>
          </a:p>
        </p:txBody>
      </p:sp>
      <p:sp>
        <p:nvSpPr>
          <p:cNvPr id="25" name="p17-fallback">
            <a:extLst xmlns:a="http://schemas.openxmlformats.org/drawingml/2006/main">
              <a:ext uri="{FF2B5EF4-FFF2-40B4-BE49-F238E27FC236}">
                <a16:creationId xmlns:a16="http://schemas.microsoft.com/office/drawing/2014/main" id="{97AC2F09-D353-4271-881D-05ADF4EE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314950"/>
            <a:ext cx="8839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67684"/>
                </a:solidFill>
              </a:defRPr>
            </a:pPr>
            <a:r>
              <a:rPr sz="1350" b="1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无真实草图：沿用贯穿案例；无网络：在 Markdown 或纸面完成同一工件。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迁移验收要同时看工件状态与文件结构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C6C81E-38B9-7560-621D-5A151A79DF9B}" type="slidenum">
              <a:t>18</a:t>
            </a:fld>
            <a:endParaRPr/>
          </a:p>
        </p:txBody>
      </p:sp>
      <p:sp>
        <p:nvSpPr>
          <p:cNvPr id="6" name="p18-time">
            <a:extLst xmlns:a="http://schemas.openxmlformats.org/drawingml/2006/main">
              <a:ext uri="{FF2B5EF4-FFF2-40B4-BE49-F238E27FC236}">
                <a16:creationId xmlns:a16="http://schemas.microsoft.com/office/drawing/2014/main" id="{41B7BA43-C96B-4636-8499-E2E73857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857250"/>
            <a:ext cx="3105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43:00–60:00｜实践停留页</a:t>
            </a:r>
          </a:p>
        </p:txBody>
      </p:sp>
      <p:sp>
        <p:nvSpPr>
          <p:cNvPr id="7" name="p18-check-title">
            <a:extLst xmlns:a="http://schemas.openxmlformats.org/drawingml/2006/main">
              <a:ext uri="{FF2B5EF4-FFF2-40B4-BE49-F238E27FC236}">
                <a16:creationId xmlns:a16="http://schemas.microsoft.com/office/drawing/2014/main" id="{D1308D87-D5B3-4900-9ED0-CC6DBAAD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487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C8161E"/>
                </a:solidFill>
              </a:defRPr>
            </a:pPr>
            <a:r>
              <a:rPr sz="19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迁移验收</a:t>
            </a:r>
          </a:p>
        </p:txBody>
      </p:sp>
      <p:sp>
        <p:nvSpPr>
          <p:cNvPr id="8" name="p18-c-0">
            <a:extLst xmlns:a="http://schemas.openxmlformats.org/drawingml/2006/main">
              <a:ext uri="{FF2B5EF4-FFF2-40B4-BE49-F238E27FC236}">
                <a16:creationId xmlns:a16="http://schemas.microsoft.com/office/drawing/2014/main" id="{DCAF7152-799E-4275-9D9F-2BC7F1DD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438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874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9" name="p18-t-0">
            <a:extLst xmlns:a="http://schemas.openxmlformats.org/drawingml/2006/main">
              <a:ext uri="{FF2B5EF4-FFF2-40B4-BE49-F238E27FC236}">
                <a16:creationId xmlns:a16="http://schemas.microsoft.com/office/drawing/2014/main" id="{4B6B3AE2-1596-462C-8052-9E4DD987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00200"/>
            <a:ext cx="4324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approved / stable 字段都有对应位置</a:t>
            </a:r>
          </a:p>
        </p:txBody>
      </p:sp>
      <p:sp>
        <p:nvSpPr>
          <p:cNvPr id="10" name="p18-c-1">
            <a:extLst xmlns:a="http://schemas.openxmlformats.org/drawingml/2006/main">
              <a:ext uri="{FF2B5EF4-FFF2-40B4-BE49-F238E27FC236}">
                <a16:creationId xmlns:a16="http://schemas.microsoft.com/office/drawing/2014/main" id="{E7316CEB-8624-4BEB-9D35-B7393663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438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1" name="p18-t-1">
            <a:extLst xmlns:a="http://schemas.openxmlformats.org/drawingml/2006/main">
              <a:ext uri="{FF2B5EF4-FFF2-40B4-BE49-F238E27FC236}">
                <a16:creationId xmlns:a16="http://schemas.microsoft.com/office/drawing/2014/main" id="{A390B4B0-F4A3-4AF2-94DF-F295FABF7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86000"/>
            <a:ext cx="4324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AI 使用记录条目不减少</a:t>
            </a:r>
          </a:p>
        </p:txBody>
      </p:sp>
      <p:sp>
        <p:nvSpPr>
          <p:cNvPr id="12" name="p18-c-2">
            <a:extLst xmlns:a="http://schemas.openxmlformats.org/drawingml/2006/main">
              <a:ext uri="{FF2B5EF4-FFF2-40B4-BE49-F238E27FC236}">
                <a16:creationId xmlns:a16="http://schemas.microsoft.com/office/drawing/2014/main" id="{D1372FF2-8690-46EC-9A4D-CA45F9D00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71800"/>
            <a:ext cx="438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874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3" name="p18-t-2">
            <a:extLst xmlns:a="http://schemas.openxmlformats.org/drawingml/2006/main">
              <a:ext uri="{FF2B5EF4-FFF2-40B4-BE49-F238E27FC236}">
                <a16:creationId xmlns:a16="http://schemas.microsoft.com/office/drawing/2014/main" id="{1F778CBD-58E5-4AC0-8725-052EE706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71800"/>
            <a:ext cx="4324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伦理说明含数据使用限制</a:t>
            </a:r>
          </a:p>
        </p:txBody>
      </p:sp>
      <p:sp>
        <p:nvSpPr>
          <p:cNvPr id="14" name="p18-c-3">
            <a:extLst xmlns:a="http://schemas.openxmlformats.org/drawingml/2006/main">
              <a:ext uri="{FF2B5EF4-FFF2-40B4-BE49-F238E27FC236}">
                <a16:creationId xmlns:a16="http://schemas.microsoft.com/office/drawing/2014/main" id="{BABA5FC3-1C16-485B-969A-DDE4E56E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438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874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5" name="p18-t-3">
            <a:extLst xmlns:a="http://schemas.openxmlformats.org/drawingml/2006/main">
              <a:ext uri="{FF2B5EF4-FFF2-40B4-BE49-F238E27FC236}">
                <a16:creationId xmlns:a16="http://schemas.microsoft.com/office/drawing/2014/main" id="{23AA5DEF-69DB-4C8E-93B9-D178B854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57600"/>
            <a:ext cx="4324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判断门工件到 review / approved</a:t>
            </a:r>
          </a:p>
        </p:txBody>
      </p:sp>
      <p:sp>
        <p:nvSpPr>
          <p:cNvPr id="16" name="p18-c-4">
            <a:extLst xmlns:a="http://schemas.openxmlformats.org/drawingml/2006/main">
              <a:ext uri="{FF2B5EF4-FFF2-40B4-BE49-F238E27FC236}">
                <a16:creationId xmlns:a16="http://schemas.microsoft.com/office/drawing/2014/main" id="{DAFADE7E-F94B-4DDB-9CBE-D5946AC7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43400"/>
            <a:ext cx="4381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874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7" name="p18-t-4">
            <a:extLst xmlns:a="http://schemas.openxmlformats.org/drawingml/2006/main">
              <a:ext uri="{FF2B5EF4-FFF2-40B4-BE49-F238E27FC236}">
                <a16:creationId xmlns:a16="http://schemas.microsoft.com/office/drawing/2014/main" id="{94C50D58-0B82-439B-9205-A1F659B7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43400"/>
            <a:ext cx="4324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实验记录至少 1 行可追溯</a:t>
            </a:r>
          </a:p>
        </p:txBody>
      </p:sp>
      <p:sp>
        <p:nvSpPr>
          <p:cNvPr id="18" name="p18-tree-title">
            <a:extLst xmlns:a="http://schemas.openxmlformats.org/drawingml/2006/main">
              <a:ext uri="{FF2B5EF4-FFF2-40B4-BE49-F238E27FC236}">
                <a16:creationId xmlns:a16="http://schemas.microsoft.com/office/drawing/2014/main" id="{31B1758C-D631-4AA3-B2F5-654F369C4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028700"/>
            <a:ext cx="441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8354E"/>
                </a:solidFill>
              </a:defRPr>
            </a:pPr>
            <a:r>
              <a:rPr sz="19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判断门材料骨架</a:t>
            </a:r>
          </a:p>
        </p:txBody>
      </p:sp>
      <p:sp>
        <p:nvSpPr>
          <p:cNvPr id="19" name="p18-tree">
            <a:extLst xmlns:a="http://schemas.openxmlformats.org/drawingml/2006/main">
              <a:ext uri="{FF2B5EF4-FFF2-40B4-BE49-F238E27FC236}">
                <a16:creationId xmlns:a16="http://schemas.microsoft.com/office/drawing/2014/main" id="{C056CD68-E585-4775-9950-0EDEACFF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19250"/>
            <a:ext cx="4629150" cy="308610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190500" tIns="76200" rIns="114300" bIns="762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425" b="1">
                <a:solidFill>
                  <a:srgbClr val="18354E"/>
                </a:solidFill>
              </a:defRPr>
            </a:pPr>
            <a:r>
              <a:rPr sz="1425" b="1">
                <a:solidFill>
                  <a:srgbClr val="18354E"/>
                </a:solidFill>
                <a:latin typeface="Consolas"/>
                <a:ea typeface="Consolas"/>
                <a:cs typeface="Consolas"/>
              </a:rPr>
              <a:t>project/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425" b="1">
                <a:solidFill>
                  <a:srgbClr val="18354E"/>
                </a:solidFill>
              </a:defRPr>
            </a:pPr>
            <a:r>
              <a:rPr sz="1425" b="1">
                <a:solidFill>
                  <a:srgbClr val="18354E"/>
                </a:solidFill>
                <a:latin typeface="Consolas"/>
                <a:ea typeface="Consolas"/>
                <a:cs typeface="Consolas"/>
              </a:rPr>
              <a:t>├─ README.md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425" b="1">
                <a:solidFill>
                  <a:srgbClr val="18354E"/>
                </a:solidFill>
              </a:defRPr>
            </a:pPr>
            <a:r>
              <a:rPr sz="1425" b="1">
                <a:solidFill>
                  <a:srgbClr val="18354E"/>
                </a:solidFill>
                <a:latin typeface="Consolas"/>
                <a:ea typeface="Consolas"/>
                <a:cs typeface="Consolas"/>
              </a:rPr>
              <a:t>├─ problem-definition.md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425" b="1">
                <a:solidFill>
                  <a:srgbClr val="18354E"/>
                </a:solidFill>
              </a:defRPr>
            </a:pPr>
            <a:r>
              <a:rPr sz="1425" b="1">
                <a:solidFill>
                  <a:srgbClr val="18354E"/>
                </a:solidFill>
                <a:latin typeface="Consolas"/>
                <a:ea typeface="Consolas"/>
                <a:cs typeface="Consolas"/>
              </a:rPr>
              <a:t>├─ proposal.md / evidence-map.md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425" b="1">
                <a:solidFill>
                  <a:srgbClr val="18354E"/>
                </a:solidFill>
              </a:defRPr>
            </a:pPr>
            <a:r>
              <a:rPr sz="1425" b="1">
                <a:solidFill>
                  <a:srgbClr val="18354E"/>
                </a:solidFill>
                <a:latin typeface="Consolas"/>
                <a:ea typeface="Consolas"/>
                <a:cs typeface="Consolas"/>
              </a:rPr>
              <a:t>├─ hypothesis-and-judgment.md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425" b="1">
                <a:solidFill>
                  <a:srgbClr val="18354E"/>
                </a:solidFill>
              </a:defRPr>
            </a:pPr>
            <a:r>
              <a:rPr sz="1425" b="1">
                <a:solidFill>
                  <a:srgbClr val="18354E"/>
                </a:solidFill>
                <a:latin typeface="Consolas"/>
                <a:ea typeface="Consolas"/>
                <a:cs typeface="Consolas"/>
              </a:rPr>
              <a:t>├─ experiment-spec.md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425" b="1">
                <a:solidFill>
                  <a:srgbClr val="18354E"/>
                </a:solidFill>
              </a:defRPr>
            </a:pPr>
            <a:r>
              <a:rPr sz="1425" b="1">
                <a:solidFill>
                  <a:srgbClr val="18354E"/>
                </a:solidFill>
                <a:latin typeface="Consolas"/>
                <a:ea typeface="Consolas"/>
                <a:cs typeface="Consolas"/>
              </a:rPr>
              <a:t>├─ ai-usage-log.md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425" b="1">
                <a:solidFill>
                  <a:srgbClr val="18354E"/>
                </a:solidFill>
              </a:defRPr>
            </a:pPr>
            <a:r>
              <a:rPr sz="1425" b="1">
                <a:solidFill>
                  <a:srgbClr val="18354E"/>
                </a:solidFill>
                <a:latin typeface="Consolas"/>
                <a:ea typeface="Consolas"/>
                <a:cs typeface="Consolas"/>
              </a:rPr>
              <a:t>├─ ethics-and-compliance.md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425" b="1">
                <a:solidFill>
                  <a:srgbClr val="18354E"/>
                </a:solidFill>
              </a:defRPr>
            </a:pPr>
            <a:r>
              <a:rPr sz="1425" b="1">
                <a:solidFill>
                  <a:srgbClr val="18354E"/>
                </a:solidFill>
                <a:latin typeface="Consolas"/>
                <a:ea typeface="Consolas"/>
                <a:cs typeface="Consolas"/>
              </a:rPr>
              <a:t>├─ artifact-tracking.md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425" b="1">
                <a:solidFill>
                  <a:srgbClr val="18354E"/>
                </a:solidFill>
              </a:defRPr>
            </a:pPr>
            <a:r>
              <a:rPr sz="1425" b="1">
                <a:solidFill>
                  <a:srgbClr val="18354E"/>
                </a:solidFill>
                <a:latin typeface="Consolas"/>
                <a:ea typeface="Consolas"/>
                <a:cs typeface="Consolas"/>
              </a:rPr>
              <a:t>├─ peer-review.md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425" b="1">
                <a:solidFill>
                  <a:srgbClr val="18354E"/>
                </a:solidFill>
              </a:defRPr>
            </a:pPr>
            <a:r>
              <a:rPr sz="1425" b="1">
                <a:solidFill>
                  <a:srgbClr val="18354E"/>
                </a:solidFill>
                <a:latin typeface="Consolas"/>
                <a:ea typeface="Consolas"/>
                <a:cs typeface="Consolas"/>
              </a:rPr>
              <a:t>└─ src/  experiments/  notes/</a:t>
            </a:r>
          </a:p>
        </p:txBody>
      </p:sp>
      <p:sp>
        <p:nvSpPr>
          <p:cNvPr id="20" name="p18-bottom">
            <a:extLst xmlns:a="http://schemas.openxmlformats.org/drawingml/2006/main">
              <a:ext uri="{FF2B5EF4-FFF2-40B4-BE49-F238E27FC236}">
                <a16:creationId xmlns:a16="http://schemas.microsoft.com/office/drawing/2014/main" id="{85BFFC04-6A9B-4673-992F-380157C30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086350"/>
            <a:ext cx="8115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C8161E"/>
                </a:solidFill>
              </a:defRPr>
            </a:pPr>
            <a:r>
              <a:rPr sz="14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AI 使用记录最小字段：工具/模型｜用途｜Context｜输出用途｜人工核验｜问题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同伴只按门条件提问题，作者保留决定权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F91274-D221-1BB4-3BF9-836E3AD31EBE}" type="slidenum">
              <a:t>19</a:t>
            </a:fld>
            <a:endParaRPr/>
          </a:p>
        </p:txBody>
      </p:sp>
      <p:sp>
        <p:nvSpPr>
          <p:cNvPr id="6" name="p19-time">
            <a:extLst xmlns:a="http://schemas.openxmlformats.org/drawingml/2006/main">
              <a:ext uri="{FF2B5EF4-FFF2-40B4-BE49-F238E27FC236}">
                <a16:creationId xmlns:a16="http://schemas.microsoft.com/office/drawing/2014/main" id="{80AA0EF1-E8D9-49E9-8FA6-7F66854F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857250"/>
            <a:ext cx="3105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60:00–78:00｜2–3 人互查</a:t>
            </a:r>
          </a:p>
        </p:txBody>
      </p:sp>
      <p:sp>
        <p:nvSpPr>
          <p:cNvPr id="7" name="p19-n-0">
            <a:extLst xmlns:a="http://schemas.openxmlformats.org/drawingml/2006/main">
              <a:ext uri="{FF2B5EF4-FFF2-40B4-BE49-F238E27FC236}">
                <a16:creationId xmlns:a16="http://schemas.microsoft.com/office/drawing/2014/main" id="{5EEA6BBE-EF64-4496-8280-143893C9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p19-q-0">
            <a:extLst xmlns:a="http://schemas.openxmlformats.org/drawingml/2006/main">
              <a:ext uri="{FF2B5EF4-FFF2-40B4-BE49-F238E27FC236}">
                <a16:creationId xmlns:a16="http://schemas.microsoft.com/office/drawing/2014/main" id="{C2B1BC4E-F239-4F59-A520-91507FD4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20015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baseline 类型与公平性？</a:t>
            </a:r>
          </a:p>
        </p:txBody>
      </p:sp>
      <p:sp>
        <p:nvSpPr>
          <p:cNvPr id="9" name="p19-n-1">
            <a:extLst xmlns:a="http://schemas.openxmlformats.org/drawingml/2006/main">
              <a:ext uri="{FF2B5EF4-FFF2-40B4-BE49-F238E27FC236}">
                <a16:creationId xmlns:a16="http://schemas.microsoft.com/office/drawing/2014/main" id="{8E344B58-C4F0-4C1F-B1EC-26C0D6E0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2001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p19-q-1">
            <a:extLst xmlns:a="http://schemas.openxmlformats.org/drawingml/2006/main">
              <a:ext uri="{FF2B5EF4-FFF2-40B4-BE49-F238E27FC236}">
                <a16:creationId xmlns:a16="http://schemas.microsoft.com/office/drawing/2014/main" id="{E0B02935-ADBB-4005-8F86-7FF5A429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20015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种子或等价条件可追溯？</a:t>
            </a:r>
          </a:p>
        </p:txBody>
      </p:sp>
      <p:sp>
        <p:nvSpPr>
          <p:cNvPr id="11" name="p19-n-2">
            <a:extLst xmlns:a="http://schemas.openxmlformats.org/drawingml/2006/main">
              <a:ext uri="{FF2B5EF4-FFF2-40B4-BE49-F238E27FC236}">
                <a16:creationId xmlns:a16="http://schemas.microsoft.com/office/drawing/2014/main" id="{66058F24-3BD9-4154-864F-15CF67108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p19-q-2">
            <a:extLst xmlns:a="http://schemas.openxmlformats.org/drawingml/2006/main">
              <a:ext uri="{FF2B5EF4-FFF2-40B4-BE49-F238E27FC236}">
                <a16:creationId xmlns:a16="http://schemas.microsoft.com/office/drawing/2014/main" id="{6B9CCA46-6ADA-4064-8781-F95722D6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8120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重复计划支持主张强度？</a:t>
            </a:r>
          </a:p>
        </p:txBody>
      </p:sp>
      <p:sp>
        <p:nvSpPr>
          <p:cNvPr id="13" name="p19-n-3">
            <a:extLst xmlns:a="http://schemas.openxmlformats.org/drawingml/2006/main">
              <a:ext uri="{FF2B5EF4-FFF2-40B4-BE49-F238E27FC236}">
                <a16:creationId xmlns:a16="http://schemas.microsoft.com/office/drawing/2014/main" id="{D2B87BA0-195E-46B9-9D78-674675B9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812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p19-q-3">
            <a:extLst xmlns:a="http://schemas.openxmlformats.org/drawingml/2006/main">
              <a:ext uri="{FF2B5EF4-FFF2-40B4-BE49-F238E27FC236}">
                <a16:creationId xmlns:a16="http://schemas.microsoft.com/office/drawing/2014/main" id="{532B4327-D712-43B6-9DEB-383825FEE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98120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停止条件预先写明？</a:t>
            </a:r>
          </a:p>
        </p:txBody>
      </p:sp>
      <p:sp>
        <p:nvSpPr>
          <p:cNvPr id="15" name="p19-n-4">
            <a:extLst xmlns:a="http://schemas.openxmlformats.org/drawingml/2006/main">
              <a:ext uri="{FF2B5EF4-FFF2-40B4-BE49-F238E27FC236}">
                <a16:creationId xmlns:a16="http://schemas.microsoft.com/office/drawing/2014/main" id="{F5582850-2ABA-45EE-8557-7E91E6E4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6" name="p19-q-4">
            <a:extLst xmlns:a="http://schemas.openxmlformats.org/drawingml/2006/main">
              <a:ext uri="{FF2B5EF4-FFF2-40B4-BE49-F238E27FC236}">
                <a16:creationId xmlns:a16="http://schemas.microsoft.com/office/drawing/2014/main" id="{327CEE49-C5DE-4865-87BA-AD6AF10C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6225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J2 六字段含适用边界？</a:t>
            </a:r>
          </a:p>
        </p:txBody>
      </p:sp>
      <p:sp>
        <p:nvSpPr>
          <p:cNvPr id="17" name="p19-n-5">
            <a:extLst xmlns:a="http://schemas.openxmlformats.org/drawingml/2006/main">
              <a:ext uri="{FF2B5EF4-FFF2-40B4-BE49-F238E27FC236}">
                <a16:creationId xmlns:a16="http://schemas.microsoft.com/office/drawing/2014/main" id="{8680C665-D2C4-459B-A97B-F94B89A3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622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8" name="p19-q-5">
            <a:extLst xmlns:a="http://schemas.openxmlformats.org/drawingml/2006/main">
              <a:ext uri="{FF2B5EF4-FFF2-40B4-BE49-F238E27FC236}">
                <a16:creationId xmlns:a16="http://schemas.microsoft.com/office/drawing/2014/main" id="{9BBEA5F7-F154-4539-80B1-906AFDC7E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6225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拒绝反馈有依据？</a:t>
            </a:r>
          </a:p>
        </p:txBody>
      </p:sp>
      <p:sp>
        <p:nvSpPr>
          <p:cNvPr id="19" name="p19-n-6">
            <a:extLst xmlns:a="http://schemas.openxmlformats.org/drawingml/2006/main">
              <a:ext uri="{FF2B5EF4-FFF2-40B4-BE49-F238E27FC236}">
                <a16:creationId xmlns:a16="http://schemas.microsoft.com/office/drawing/2014/main" id="{AFAFC975-26A4-4881-882A-BF406F0C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433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0" name="p19-q-6">
            <a:extLst xmlns:a="http://schemas.openxmlformats.org/drawingml/2006/main">
              <a:ext uri="{FF2B5EF4-FFF2-40B4-BE49-F238E27FC236}">
                <a16:creationId xmlns:a16="http://schemas.microsoft.com/office/drawing/2014/main" id="{E42CD99A-F4C0-4AC5-9098-CA659FC5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4330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最大风险有对应预案？</a:t>
            </a:r>
          </a:p>
        </p:txBody>
      </p:sp>
      <p:sp>
        <p:nvSpPr>
          <p:cNvPr id="21" name="p19-n-7">
            <a:extLst xmlns:a="http://schemas.openxmlformats.org/drawingml/2006/main">
              <a:ext uri="{FF2B5EF4-FFF2-40B4-BE49-F238E27FC236}">
                <a16:creationId xmlns:a16="http://schemas.microsoft.com/office/drawing/2014/main" id="{F251B03E-BD55-4D2B-8CA4-163E1C17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433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2" name="p19-q-7">
            <a:extLst xmlns:a="http://schemas.openxmlformats.org/drawingml/2006/main">
              <a:ext uri="{FF2B5EF4-FFF2-40B4-BE49-F238E27FC236}">
                <a16:creationId xmlns:a16="http://schemas.microsoft.com/office/drawing/2014/main" id="{89FA864A-0693-4CF6-A469-0D9D0C46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54330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迁移未丢 AI / 伦理记录？</a:t>
            </a:r>
          </a:p>
        </p:txBody>
      </p:sp>
      <p:sp>
        <p:nvSpPr>
          <p:cNvPr id="23" name="p19-author">
            <a:extLst xmlns:a="http://schemas.openxmlformats.org/drawingml/2006/main">
              <a:ext uri="{FF2B5EF4-FFF2-40B4-BE49-F238E27FC236}">
                <a16:creationId xmlns:a16="http://schemas.microsoft.com/office/drawing/2014/main" id="{CC3F9FFD-4F87-40D3-9E80-80C003804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52950"/>
            <a:ext cx="5086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8354E"/>
                </a:solidFill>
              </a:defRPr>
            </a:pPr>
            <a:r>
              <a:rPr sz="17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作者记录：采纳｜暂不采纳｜待核验</a:t>
            </a:r>
          </a:p>
        </p:txBody>
      </p:sp>
      <p:sp>
        <p:nvSpPr>
          <p:cNvPr id="24" name="p19-rule">
            <a:extLst xmlns:a="http://schemas.openxmlformats.org/drawingml/2006/main">
              <a:ext uri="{FF2B5EF4-FFF2-40B4-BE49-F238E27FC236}">
                <a16:creationId xmlns:a16="http://schemas.microsoft.com/office/drawing/2014/main" id="{E10DDAC9-7F57-41B6-8A66-5B20CDCA8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52950"/>
            <a:ext cx="4819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同伴只提问题；不替作者修改，不形成共同提交。</a:t>
            </a:r>
          </a:p>
        </p:txBody>
      </p:sp>
      <p:sp>
        <p:nvSpPr>
          <p:cNvPr id="25" name="p19-format">
            <a:extLst xmlns:a="http://schemas.openxmlformats.org/drawingml/2006/main">
              <a:ext uri="{FF2B5EF4-FFF2-40B4-BE49-F238E27FC236}">
                <a16:creationId xmlns:a16="http://schemas.microsoft.com/office/drawing/2014/main" id="{5268AFC8-EEBB-4806-A300-02374A830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340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67684"/>
                </a:solidFill>
              </a:defRPr>
            </a:pPr>
            <a:r>
              <a:rPr sz="1350" b="1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每人 45 秒说明 baseline + 七字段 + 反馈处理；同伴按八项检查。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提交当前项目版本，并把规格交给第 10 课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4E025A-983C-6D44-79C6-4612AACD43FC}" type="slidenum">
              <a:t>20</a:t>
            </a:fld>
            <a:endParaRPr/>
          </a:p>
        </p:txBody>
      </p:sp>
      <p:sp>
        <p:nvSpPr>
          <p:cNvPr id="6" name="p20-submit-title">
            <a:extLst xmlns:a="http://schemas.openxmlformats.org/drawingml/2006/main">
              <a:ext uri="{FF2B5EF4-FFF2-40B4-BE49-F238E27FC236}">
                <a16:creationId xmlns:a16="http://schemas.microsoft.com/office/drawing/2014/main" id="{780C45E9-A0DC-491D-9352-D2299286E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906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C8161E"/>
                </a:solidFill>
              </a:defRPr>
            </a:pPr>
            <a:r>
              <a:rPr sz="19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提交当前个人项目版本</a:t>
            </a:r>
          </a:p>
        </p:txBody>
      </p:sp>
      <p:sp>
        <p:nvSpPr>
          <p:cNvPr id="7" name="p20-submit">
            <a:extLst xmlns:a="http://schemas.openxmlformats.org/drawingml/2006/main">
              <a:ext uri="{FF2B5EF4-FFF2-40B4-BE49-F238E27FC236}">
                <a16:creationId xmlns:a16="http://schemas.microsoft.com/office/drawing/2014/main" id="{D24424FA-B13B-4260-8CD6-346894CC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48387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链接｜tag｜压缩包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不另做与项目仓库分离的汇报文档</a:t>
            </a:r>
          </a:p>
        </p:txBody>
      </p:sp>
      <p:sp>
        <p:nvSpPr>
          <p:cNvPr id="8" name="p20-back-title">
            <a:extLst xmlns:a="http://schemas.openxmlformats.org/drawingml/2006/main">
              <a:ext uri="{FF2B5EF4-FFF2-40B4-BE49-F238E27FC236}">
                <a16:creationId xmlns:a16="http://schemas.microsoft.com/office/drawing/2014/main" id="{90104CD3-0DA2-4DED-821B-CD837EAAC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00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8354E"/>
                </a:solidFill>
              </a:defRPr>
            </a:pPr>
            <a:r>
              <a:rPr sz="19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未通过：按根因回退</a:t>
            </a:r>
          </a:p>
        </p:txBody>
      </p:sp>
      <p:sp>
        <p:nvSpPr>
          <p:cNvPr id="9" name="p20-back">
            <a:extLst xmlns:a="http://schemas.openxmlformats.org/drawingml/2006/main">
              <a:ext uri="{FF2B5EF4-FFF2-40B4-BE49-F238E27FC236}">
                <a16:creationId xmlns:a16="http://schemas.microsoft.com/office/drawing/2014/main" id="{964CDFB7-D546-448D-AABC-E1C0965B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4648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baseline → 公平性 / 缩小范围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停止条件 → §三·2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种子 → §四·1–2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判断不足 → 补 J2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反馈未处理 → 第 8 课记录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迁移丢记录 → 迁移验收</a:t>
            </a:r>
          </a:p>
        </p:txBody>
      </p:sp>
      <p:sp>
        <p:nvSpPr>
          <p:cNvPr id="10" name="p20-next-title">
            <a:extLst xmlns:a="http://schemas.openxmlformats.org/drawingml/2006/main">
              <a:ext uri="{FF2B5EF4-FFF2-40B4-BE49-F238E27FC236}">
                <a16:creationId xmlns:a16="http://schemas.microsoft.com/office/drawing/2014/main" id="{B9D6BBBE-E26A-4766-8984-4F4D81CF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9906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C8161E"/>
                </a:solidFill>
              </a:defRPr>
            </a:pPr>
            <a:r>
              <a:rPr sz="19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直接交给第 10 课</a:t>
            </a:r>
          </a:p>
        </p:txBody>
      </p:sp>
      <p:sp>
        <p:nvSpPr>
          <p:cNvPr id="11" name="p20-l1">
            <a:extLst xmlns:a="http://schemas.openxmlformats.org/drawingml/2006/main">
              <a:ext uri="{FF2B5EF4-FFF2-40B4-BE49-F238E27FC236}">
                <a16:creationId xmlns:a16="http://schemas.microsoft.com/office/drawing/2014/main" id="{28E71B77-A959-46DB-A139-93A2BD0A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801100" y="26670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20-l2">
            <a:extLst xmlns:a="http://schemas.openxmlformats.org/drawingml/2006/main">
              <a:ext uri="{FF2B5EF4-FFF2-40B4-BE49-F238E27FC236}">
                <a16:creationId xmlns:a16="http://schemas.microsoft.com/office/drawing/2014/main" id="{76FF8E22-EEDB-4B81-A07B-D024D6FE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801100" y="41148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20-a">
            <a:extLst xmlns:a="http://schemas.openxmlformats.org/drawingml/2006/main">
              <a:ext uri="{FF2B5EF4-FFF2-40B4-BE49-F238E27FC236}">
                <a16:creationId xmlns:a16="http://schemas.microsoft.com/office/drawing/2014/main" id="{B78E1A35-AE7D-4683-9B4A-8D6A36A7A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619250"/>
            <a:ext cx="38481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18354E"/>
                </a:solidFill>
              </a:defRPr>
            </a:pPr>
            <a:r>
              <a:rPr sz="15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experiment-spec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18354E"/>
                </a:solidFill>
              </a:defRPr>
            </a:pPr>
            <a:r>
              <a:rPr sz="15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七字段 + 复现说明</a:t>
            </a:r>
          </a:p>
        </p:txBody>
      </p:sp>
      <p:sp>
        <p:nvSpPr>
          <p:cNvPr id="14" name="p20-b">
            <a:extLst xmlns:a="http://schemas.openxmlformats.org/drawingml/2006/main">
              <a:ext uri="{FF2B5EF4-FFF2-40B4-BE49-F238E27FC236}">
                <a16:creationId xmlns:a16="http://schemas.microsoft.com/office/drawing/2014/main" id="{A845F660-384B-480E-B48E-60295D55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952750"/>
            <a:ext cx="38481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标出 Agent 可做步骤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与必须人工决定点</a:t>
            </a:r>
          </a:p>
        </p:txBody>
      </p:sp>
      <p:sp>
        <p:nvSpPr>
          <p:cNvPr id="15" name="p20-c">
            <a:extLst xmlns:a="http://schemas.openxmlformats.org/drawingml/2006/main">
              <a:ext uri="{FF2B5EF4-FFF2-40B4-BE49-F238E27FC236}">
                <a16:creationId xmlns:a16="http://schemas.microsoft.com/office/drawing/2014/main" id="{42DD95C1-26BD-4E11-95A5-DCC220815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400550"/>
            <a:ext cx="38481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28745A"/>
                </a:solidFill>
              </a:defRPr>
            </a:pPr>
            <a:r>
              <a:rPr sz="157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第 10 课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28745A"/>
                </a:solidFill>
              </a:defRPr>
            </a:pPr>
            <a:r>
              <a:rPr sz="157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受限 Agent 任务契约</a:t>
            </a:r>
          </a:p>
        </p:txBody>
      </p:sp>
      <p:sp>
        <p:nvSpPr>
          <p:cNvPr id="16" name="p20-bottom">
            <a:extLst xmlns:a="http://schemas.openxmlformats.org/drawingml/2006/main">
              <a:ext uri="{FF2B5EF4-FFF2-40B4-BE49-F238E27FC236}">
                <a16:creationId xmlns:a16="http://schemas.microsoft.com/office/drawing/2014/main" id="{BD7ED5D6-9085-4926-A091-51996FAFA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486400"/>
            <a:ext cx="960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退出卡：你的 baseline 为什么公平？复现说明齐到种子了吗？哪项门条件最可能不通过？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2026-08-07T15:37:24.9880000Z</dcterms:created>
  <dcterms:modified xsi:type="dcterms:W3CDTF">2026-08-07T15:37:24.9880000Z</dcterms:modified>
</coreProperties>
</file>