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5a655327fd43f0" /><Relationship Type="http://schemas.openxmlformats.org/officeDocument/2006/relationships/extended-properties" Target="/docProps/app.xml" Id="R6b3835a3d3d34f34" /><Relationship Type="http://schemas.openxmlformats.org/officeDocument/2006/relationships/officeDocument" Target="/ppt/presentation.xml" Id="R46fc0ad119ea4e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438a80f33a4bf6"/>
  </p:sldMasterIdLst>
  <p:notesMasterIdLst>
    <p:notesMasterId xmlns:r="http://schemas.openxmlformats.org/officeDocument/2006/relationships" r:id="Rd40a7e99995d4dff"/>
  </p:notesMasterIdLst>
  <p:sldIdLst>
    <p:sldId xmlns:r="http://schemas.openxmlformats.org/officeDocument/2006/relationships" id="256" r:id="Rd1f2639c63a6402a"/>
    <p:sldId xmlns:r="http://schemas.openxmlformats.org/officeDocument/2006/relationships" id="257" r:id="Re0d023a2af754d74"/>
    <p:sldId xmlns:r="http://schemas.openxmlformats.org/officeDocument/2006/relationships" id="258" r:id="Rc8f2eb16d5c0486e"/>
    <p:sldId xmlns:r="http://schemas.openxmlformats.org/officeDocument/2006/relationships" id="259" r:id="R66c292d981f24605"/>
    <p:sldId xmlns:r="http://schemas.openxmlformats.org/officeDocument/2006/relationships" id="260" r:id="R659afb4cfe92462e"/>
    <p:sldId xmlns:r="http://schemas.openxmlformats.org/officeDocument/2006/relationships" id="261" r:id="R776c9c737c6d45e6"/>
    <p:sldId xmlns:r="http://schemas.openxmlformats.org/officeDocument/2006/relationships" id="262" r:id="Rada751ec4b8040b0"/>
    <p:sldId xmlns:r="http://schemas.openxmlformats.org/officeDocument/2006/relationships" id="263" r:id="R8d86a782a28f49ec"/>
    <p:sldId xmlns:r="http://schemas.openxmlformats.org/officeDocument/2006/relationships" id="264" r:id="R8156f8cbeb804b40"/>
    <p:sldId xmlns:r="http://schemas.openxmlformats.org/officeDocument/2006/relationships" id="265" r:id="R0b1c0ae4711b4b29"/>
    <p:sldId xmlns:r="http://schemas.openxmlformats.org/officeDocument/2006/relationships" id="266" r:id="R91c4c702077b4dea"/>
    <p:sldId xmlns:r="http://schemas.openxmlformats.org/officeDocument/2006/relationships" id="267" r:id="Rcbdac95b78b64248"/>
    <p:sldId xmlns:r="http://schemas.openxmlformats.org/officeDocument/2006/relationships" id="268" r:id="R780d3161b3994b94"/>
    <p:sldId xmlns:r="http://schemas.openxmlformats.org/officeDocument/2006/relationships" id="269" r:id="R6b68f2ee389142bc"/>
    <p:sldId xmlns:r="http://schemas.openxmlformats.org/officeDocument/2006/relationships" id="270" r:id="R927650d7412c4514"/>
    <p:sldId xmlns:r="http://schemas.openxmlformats.org/officeDocument/2006/relationships" id="271" r:id="R3a4fd862d40d43fc"/>
    <p:sldId xmlns:r="http://schemas.openxmlformats.org/officeDocument/2006/relationships" id="272" r:id="Re97b68ab42b64287"/>
    <p:sldId xmlns:r="http://schemas.openxmlformats.org/officeDocument/2006/relationships" id="273" r:id="R74b4d8c5b776459d"/>
    <p:sldId xmlns:r="http://schemas.openxmlformats.org/officeDocument/2006/relationships" id="274" r:id="R0cba286e26c844cf"/>
    <p:sldId xmlns:r="http://schemas.openxmlformats.org/officeDocument/2006/relationships" id="275" r:id="Rf39d97c515c341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abdfe180764f2f" /><Relationship Type="http://schemas.openxmlformats.org/officeDocument/2006/relationships/slideMaster" Target="/ppt/slideMasters/slideMaster1.xml" Id="R91438a80f33a4bf6" /><Relationship Type="http://schemas.openxmlformats.org/officeDocument/2006/relationships/notesMaster" Target="/ppt/notesMasters/notesMaster1.xml" Id="Rd40a7e99995d4dff" /><Relationship Type="http://schemas.openxmlformats.org/officeDocument/2006/relationships/presProps" Target="/ppt/presProps.xml" Id="Re24eb3c87f704d9e" /><Relationship Type="http://schemas.openxmlformats.org/officeDocument/2006/relationships/viewProps" Target="/ppt/viewProps.xml" Id="R367eab1d0d5f4610" /><Relationship Type="http://schemas.openxmlformats.org/officeDocument/2006/relationships/tableStyles" Target="/ppt/tableStyles.xml" Id="R19d8d996057a463e" /><Relationship Type="http://schemas.openxmlformats.org/officeDocument/2006/relationships/slide" Target="/ppt/slides/slide1.xml" Id="Rd1f2639c63a6402a" /><Relationship Type="http://schemas.openxmlformats.org/officeDocument/2006/relationships/slide" Target="/ppt/slides/slide2.xml" Id="Re0d023a2af754d74" /><Relationship Type="http://schemas.openxmlformats.org/officeDocument/2006/relationships/slide" Target="/ppt/slides/slide3.xml" Id="Rc8f2eb16d5c0486e" /><Relationship Type="http://schemas.openxmlformats.org/officeDocument/2006/relationships/slide" Target="/ppt/slides/slide4.xml" Id="R66c292d981f24605" /><Relationship Type="http://schemas.openxmlformats.org/officeDocument/2006/relationships/slide" Target="/ppt/slides/slide5.xml" Id="R659afb4cfe92462e" /><Relationship Type="http://schemas.openxmlformats.org/officeDocument/2006/relationships/slide" Target="/ppt/slides/slide6.xml" Id="R776c9c737c6d45e6" /><Relationship Type="http://schemas.openxmlformats.org/officeDocument/2006/relationships/slide" Target="/ppt/slides/slide7.xml" Id="Rada751ec4b8040b0" /><Relationship Type="http://schemas.openxmlformats.org/officeDocument/2006/relationships/slide" Target="/ppt/slides/slide8.xml" Id="R8d86a782a28f49ec" /><Relationship Type="http://schemas.openxmlformats.org/officeDocument/2006/relationships/slide" Target="/ppt/slides/slide9.xml" Id="R8156f8cbeb804b40" /><Relationship Type="http://schemas.openxmlformats.org/officeDocument/2006/relationships/slide" Target="/ppt/slides/slide10.xml" Id="R0b1c0ae4711b4b29" /><Relationship Type="http://schemas.openxmlformats.org/officeDocument/2006/relationships/slide" Target="/ppt/slides/slide11.xml" Id="R91c4c702077b4dea" /><Relationship Type="http://schemas.openxmlformats.org/officeDocument/2006/relationships/slide" Target="/ppt/slides/slide12.xml" Id="Rcbdac95b78b64248" /><Relationship Type="http://schemas.openxmlformats.org/officeDocument/2006/relationships/slide" Target="/ppt/slides/slide13.xml" Id="R780d3161b3994b94" /><Relationship Type="http://schemas.openxmlformats.org/officeDocument/2006/relationships/slide" Target="/ppt/slides/slide14.xml" Id="R6b68f2ee389142bc" /><Relationship Type="http://schemas.openxmlformats.org/officeDocument/2006/relationships/slide" Target="/ppt/slides/slide15.xml" Id="R927650d7412c4514" /><Relationship Type="http://schemas.openxmlformats.org/officeDocument/2006/relationships/slide" Target="/ppt/slides/slide16.xml" Id="R3a4fd862d40d43fc" /><Relationship Type="http://schemas.openxmlformats.org/officeDocument/2006/relationships/slide" Target="/ppt/slides/slide17.xml" Id="Re97b68ab42b64287" /><Relationship Type="http://schemas.openxmlformats.org/officeDocument/2006/relationships/slide" Target="/ppt/slides/slide18.xml" Id="R74b4d8c5b776459d" /><Relationship Type="http://schemas.openxmlformats.org/officeDocument/2006/relationships/slide" Target="/ppt/slides/slide19.xml" Id="R0cba286e26c844cf" /><Relationship Type="http://schemas.openxmlformats.org/officeDocument/2006/relationships/slide" Target="/ppt/slides/slide20.xml" Id="Rf39d97c515c341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8cd877257545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e2b70e123e4420" /><Relationship Type="http://schemas.openxmlformats.org/officeDocument/2006/relationships/notesMaster" Target="/ppt/notesMasters/notesMaster1.xml" Id="R6f9564c24c3446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d60199d5844789" /><Relationship Type="http://schemas.openxmlformats.org/officeDocument/2006/relationships/notesMaster" Target="/ppt/notesMasters/notesMaster1.xml" Id="R457504afb5a64b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4b755883f04a2c" /><Relationship Type="http://schemas.openxmlformats.org/officeDocument/2006/relationships/notesMaster" Target="/ppt/notesMasters/notesMaster1.xml" Id="R14a83af1c09e4c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5ebe03d8a24b38" /><Relationship Type="http://schemas.openxmlformats.org/officeDocument/2006/relationships/notesMaster" Target="/ppt/notesMasters/notesMaster1.xml" Id="R743368142b294d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d8fe5fd6ac460a" /><Relationship Type="http://schemas.openxmlformats.org/officeDocument/2006/relationships/notesMaster" Target="/ppt/notesMasters/notesMaster1.xml" Id="Rb2d3828d1ac54f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a77db474c443b3" /><Relationship Type="http://schemas.openxmlformats.org/officeDocument/2006/relationships/notesMaster" Target="/ppt/notesMasters/notesMaster1.xml" Id="Re113a224326f41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8cf4edf254431d" /><Relationship Type="http://schemas.openxmlformats.org/officeDocument/2006/relationships/notesMaster" Target="/ppt/notesMasters/notesMaster1.xml" Id="Rbe6c01c9ada942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e54f50b03e4c23" /><Relationship Type="http://schemas.openxmlformats.org/officeDocument/2006/relationships/notesMaster" Target="/ppt/notesMasters/notesMaster1.xml" Id="R11445c8587e64b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0ad153f6a64a14" /><Relationship Type="http://schemas.openxmlformats.org/officeDocument/2006/relationships/notesMaster" Target="/ppt/notesMasters/notesMaster1.xml" Id="R2de6e9274fa644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c502ce98234ec1" /><Relationship Type="http://schemas.openxmlformats.org/officeDocument/2006/relationships/notesMaster" Target="/ppt/notesMasters/notesMaster1.xml" Id="R83bfd324ef894c5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950578ce47b4e2a" /><Relationship Type="http://schemas.openxmlformats.org/officeDocument/2006/relationships/notesMaster" Target="/ppt/notesMasters/notesMaster1.xml" Id="Rc94eaa082c7040b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baff3bfde494cca" /><Relationship Type="http://schemas.openxmlformats.org/officeDocument/2006/relationships/notesMaster" Target="/ppt/notesMasters/notesMaster1.xml" Id="R0ce2cd97d2ac4ed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f04334983644280" /><Relationship Type="http://schemas.openxmlformats.org/officeDocument/2006/relationships/notesMaster" Target="/ppt/notesMasters/notesMaster1.xml" Id="R43725c5d846d481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a257f784cd643a4" /><Relationship Type="http://schemas.openxmlformats.org/officeDocument/2006/relationships/notesMaster" Target="/ppt/notesMasters/notesMaster1.xml" Id="Ra2403630b072421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b167ed099d747e8" /><Relationship Type="http://schemas.openxmlformats.org/officeDocument/2006/relationships/notesMaster" Target="/ppt/notesMasters/notesMaster1.xml" Id="Rccedd2840337478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8e511fc7b384d55" /><Relationship Type="http://schemas.openxmlformats.org/officeDocument/2006/relationships/notesMaster" Target="/ppt/notesMasters/notesMaster1.xml" Id="Re1fd31f08066460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7635cae189741a9" /><Relationship Type="http://schemas.openxmlformats.org/officeDocument/2006/relationships/notesMaster" Target="/ppt/notesMasters/notesMaster1.xml" Id="R354eb384bf8e4a7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ecbec3a08e24b15" /><Relationship Type="http://schemas.openxmlformats.org/officeDocument/2006/relationships/notesMaster" Target="/ppt/notesMasters/notesMaster1.xml" Id="Rae3398d046514db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7a7ae6d70b449a2" /><Relationship Type="http://schemas.openxmlformats.org/officeDocument/2006/relationships/notesMaster" Target="/ppt/notesMasters/notesMaster1.xml" Id="Rd69fbe5aa5c440b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034b560abc74a47" /><Relationship Type="http://schemas.openxmlformats.org/officeDocument/2006/relationships/notesMaster" Target="/ppt/notesMasters/notesMaster1.xml" Id="R3d5828aec16d40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本课把第 5 课的研究空白候选收敛为可检验问题，并完成问题门材料初版。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/Users/bright/Projects/courses/graduate/course/syllabus.md</a:t>
            </a:r>
          </a:p>
          <a:p xmlns:a="http://schemas.openxmlformats.org/drawingml/2006/main">
            <a:r>
              <a:t>- /Users/bright/Projects/courses/graduate/lessons/备课规划.md</a:t>
            </a:r>
          </a:p>
          <a:p xmlns:a="http://schemas.openxmlformats.org/drawingml/2006/main">
            <a:r>
              <a:t>- /Users/bright/Projects/courses/graduate/lessons/lesson-06/slides.md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2:30 进行第一次短互动。只听学生说出自己的空白候选，不在此处评价完整性。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/Users/bright/Projects/courses/graduate/lessons/lesson-05/handout.md</a:t>
            </a:r>
          </a:p>
          <a:p xmlns:a="http://schemas.openxmlformats.org/drawingml/2006/main">
            <a:r>
              <a:t>- /Users/bright/Projects/courses/graduate/lessons/lesson-06/teaching-plan.md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本课完成材料初版，不要求课堂内把八项全部补齐。问题门条件以 assignments.md 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/Users/bright/Projects/courses/graduate/lessons/lesson-06/handout.md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让学生判断自己当前表述属于哪一层。表中案例用于方法教学，不构成实证结论。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/Users/bright/Projects/courses/graduate/lessons/lesson-06/handout.md</a:t>
            </a:r>
          </a:p>
          <a:p xmlns:a="http://schemas.openxmlformats.org/drawingml/2006/main">
            <a:r>
              <a:t>- /Users/bright/Projects/courses/graduate/course/reading-list.md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虚构教学样例｜非真实论文、检索或实证证据。G1 只训练从空格描述到结构性问题的改写，真实性仍待真实窄检索。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/Users/bright/Projects/courses/graduate/lessons/lesson-06/handout.md</a:t>
            </a:r>
          </a:p>
          <a:p xmlns:a="http://schemas.openxmlformats.org/drawingml/2006/main">
            <a:r>
              <a:t>- /Users/bright/Projects/courses/graduate/lessons/lesson-05/handout.md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请学生为自己的问题各写一条知识后果和实际后果。若答案只是“很新”，要求回到证据地图。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/Users/bright/Projects/courses/graduate/lessons/lesson-06/handout.md</a:t>
            </a:r>
          </a:p>
          <a:p xmlns:a="http://schemas.openxmlformats.org/drawingml/2006/main">
            <a:r>
              <a:t>- /Users/bright/Projects/courses/graduate/course/reading-list.md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非例不是随意排除，而是与包含范围共同形成可判断的边界。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/Users/bright/Projects/courses/graduate/lessons/lesson-06/handout.md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让学生诊断一条非例并修改。强调“为什么不算”必须可解释。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/Users/bright/Projects/courses/graduate/lessons/lesson-06/handout.md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本页训练命题结构，不声称样例效果真实存在。Platt 用于竞争假设与排除逻辑。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/Users/bright/Projects/courses/graduate/lessons/lesson-06/handout.md</a:t>
            </a:r>
          </a:p>
          <a:p xmlns:a="http://schemas.openxmlformats.org/drawingml/2006/main">
            <a:r>
              <a:t>- https://pubmed.ncbi.nlm.nih.gov/17739513/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课程项目不要求实现完整三组实验，但问题定义必须能说出替代解释和区分方法。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/Users/bright/Projects/courses/graduate/lessons/lesson-06/handout.md</a:t>
            </a:r>
          </a:p>
          <a:p xmlns:a="http://schemas.openxmlformats.org/drawingml/2006/main">
            <a:r>
              <a:t>- https://pubmed.ncbi.nlm.nih.gov/17739513/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第一性原理只用于识别基本约束、作用机制和不可违背条件；AI 输出和推导本身都不构成证据。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/Users/bright/Projects/courses/graduate/lessons/备课规划.md</a:t>
            </a:r>
          </a:p>
          <a:p xmlns:a="http://schemas.openxmlformats.org/drawingml/2006/main">
            <a:r>
              <a:t>- /Users/bright/Projects/courses/graduate/AGENTS.md</a:t>
            </a:r>
          </a:p>
          <a:p xmlns:a="http://schemas.openxmlformats.org/drawingml/2006/main">
            <a:r>
              <a:t>- /Users/bright/Projects/courses/graduate/lessons/lesson-06/handout.md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口头提问：如果主张成立，哪些条件必须满足？只收集约束，不急着讨论工具。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/Users/bright/Projects/courses/graduate/lessons/lesson-06/handout.md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虚构教学样例｜非真实论文、检索或实证证据。四步推导依赖第 5 课证据地图，输出仍需外部证据检验。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/Users/bright/Projects/courses/graduate/lessons/lesson-06/handout.md</a:t>
            </a:r>
          </a:p>
          <a:p xmlns:a="http://schemas.openxmlformats.org/drawingml/2006/main">
            <a:r>
              <a:t>- /Users/bright/Projects/courses/graduate/lessons/lesson-05/handout.md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逐项讲清八项权威条件。AI 偏差字段允许记录发现的问题，也允许记录已检查风险及核验依据，不得虚构错误。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/Users/bright/Projects/courses/graduate/lessons/lesson-06/handout.md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虚构教学样例｜门条件状态仅演示核对方法。第 1-4 项来自累计工件，不能宣称在某一课自动完成。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/Users/bright/Projects/courses/graduate/lessons/lesson-06/handout.md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40:00-43:00 讲清六步和写入位置；没有真实课题者可用虚构样例，但必须改换问题表述或子问题分解。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/Users/bright/Projects/courses/graduate/lessons/lesson-06/teaching-plan.md</a:t>
            </a:r>
          </a:p>
          <a:p xmlns:a="http://schemas.openxmlformats.org/drawingml/2006/main">
            <a:r>
              <a:t>- /Users/bright/Projects/courses/graduate/course/starter-template.md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43:00-60:00 停留本页。巡视只处理共同卡点；课前累计文献、精读卡和地图只核对状态，不重做。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/Users/bright/Projects/courses/graduate/lessons/lesson-06/teaching-plan.md</a:t>
            </a:r>
          </a:p>
          <a:p xmlns:a="http://schemas.openxmlformats.org/drawingml/2006/main">
            <a:r>
              <a:t>- /Users/bright/Projects/courses/graduate/course/starter-template.md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60:00-78:00 进行 2-3 人互查。按八项门条件提问，但不替作者改写或决定。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/Users/bright/Projects/courses/graduate/lessons/lesson-06/teaching-plan.md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提交方式、八项条件和未通过处理均以 assignments.md 为准。第一次未通过不直接扣重分，但未按期修订影响对应评分维度。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/Users/bright/Projects/courses/graduate/course/assessment.md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收束本课：问题门通过后，待验证前提进入第 7 课机制假设；不把推导直接当成结论或实验结果。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/Users/bright/Projects/courses/graduate/course/syllabus.md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/Users/bright/Projects/courses/graduate/course/reading-list.md</a:t>
            </a:r>
          </a:p>
          <a:p xmlns:a="http://schemas.openxmlformats.org/drawingml/2006/main">
            <a:r>
              <a:t>- /Users/bright/Projects/courses/graduate/lessons/lesson-06/slides.md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1d86f517e649b4" /><Relationship Type="http://schemas.openxmlformats.org/officeDocument/2006/relationships/image" Target="/ppt/media/image.png" Id="Re29472d6d7b14842" /><Relationship Type="http://schemas.openxmlformats.org/officeDocument/2006/relationships/image" Target="/ppt/media/image2.png" Id="R64bdcfc87e874f61" /><Relationship Type="http://schemas.openxmlformats.org/officeDocument/2006/relationships/image" Target="/ppt/media/image3.png" Id="Rcbd79f7997424a95" /><Relationship Type="http://schemas.openxmlformats.org/officeDocument/2006/relationships/image" Target="/ppt/media/image4.png" Id="R69c0be63a844423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bdfd5230864ea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97447f69644ae0" /><Relationship Type="http://schemas.openxmlformats.org/officeDocument/2006/relationships/image" Target="/ppt/media/image2.png" Id="Reab508102f78435b" /><Relationship Type="http://schemas.openxmlformats.org/officeDocument/2006/relationships/image" Target="/ppt/media/image5.png" Id="R7efd3e240189487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bfdde143d34256" /><Relationship Type="http://schemas.openxmlformats.org/officeDocument/2006/relationships/image" Target="/ppt/media/image.png" Id="R7b5acde2946543ff" /><Relationship Type="http://schemas.openxmlformats.org/officeDocument/2006/relationships/image" Target="/ppt/media/image3.png" Id="R61d7e896ce1f420d" /></Relationships>
</file>

<file path=ppt/slideLayouts/slideLayout1.xml><?xml version="1.0" encoding="utf-8"?>
<p:sldLayout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9472d6d7b14842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22" name="标题 1">
            <a:extLst xmlns:a="http://schemas.openxmlformats.org/drawingml/2006/main"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69561" y="2016174"/>
            <a:ext cx="10052879" cy="1060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54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单击此处编辑标题样式</a:t>
            </a:r>
          </a:p>
        </p:txBody>
      </p:sp>
      <p:sp>
        <p:nvSpPr>
          <p:cNvPr id="26" name="内容占位符 25">
            <a:extLst xmlns:a="http://schemas.openxmlformats.org/drawingml/2006/main"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4644345" y="5196924"/>
            <a:ext cx="2903311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fld id="{DE506FFD-8B27-444A-964F-E64D0BB3DAF0}" type="datetime2">
              <a:t>2019年1月28日</a:t>
            </a:fld>
            <a:endParaRPr/>
          </a:p>
        </p:txBody>
      </p:sp>
      <p:sp>
        <p:nvSpPr>
          <p:cNvPr id="32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034910" y="4407403"/>
            <a:ext cx="4122181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50" name="图片 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4bdcfc87e874f61"/>
          <a:srcRect xmlns:a="http://schemas.openxmlformats.org/drawingml/2006/main" l="74359" t="0" r="1346" b="0"/>
          <a:stretch xmlns:a="http://schemas.openxmlformats.org/drawingml/2006/main"/>
        </p:blipFill>
        <p:spPr>
          <a:xfrm xmlns:a="http://schemas.openxmlformats.org/drawingml/2006/main">
            <a:off x="8870172" y="274183"/>
            <a:ext cx="3002280" cy="411617"/>
          </a:xfrm>
          <a:prstGeom xmlns:a="http://schemas.openxmlformats.org/drawingml/2006/main" prst="rect">
            <a:avLst/>
          </a:prstGeom>
        </p:spPr>
      </p:pic>
      <p:pic>
        <p:nvPicPr>
          <p:cNvPr id="51" name="图片 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bd79f7997424a95">
            <a:alphaModFix amt="35000"/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 rot="0" flipH="0" flipV="0">
            <a:off x="3352562" y="6244170"/>
            <a:ext cx="5486876" cy="406590"/>
          </a:xfrm>
          <a:prstGeom xmlns:a="http://schemas.openxmlformats.org/drawingml/2006/main" prst="rect">
            <a:avLst/>
          </a:prstGeom>
        </p:spPr>
      </p:pic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53D809C0-A4EF-44AF-AECA-4A85E4BA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51000" y="6430138"/>
            <a:ext cx="90000" cy="9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31F7CAE3-0209-4DA4-9A92-731CC272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85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B3FF25BF-0A81-4E7C-A868-79A201F0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33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84931B68-BEBE-4F6A-A7A3-EB2B855A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1712549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26218CD3-8CA7-49E2-A133-F3172441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3428810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c0be63a844423a"/>
          <a:srcRect xmlns:a="http://schemas.openxmlformats.org/drawingml/2006/main" l="0" t="0" r="54251" b="0"/>
          <a:stretch xmlns:a="http://schemas.openxmlformats.org/drawingml/2006/main"/>
        </p:blipFill>
        <p:spPr>
          <a:xfrm xmlns:a="http://schemas.openxmlformats.org/drawingml/2006/main">
            <a:off x="332010" y="251357"/>
            <a:ext cx="1934780" cy="4825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1" y="2455636"/>
            <a:ext cx="2960913" cy="14387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736542" y="2389144"/>
            <a:ext cx="97430" cy="29609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8991" y="0"/>
            <a:ext cx="9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53781C-E1F6-4315-A39D-61273F2E0596}" type="slidenum">
              <a:t>‹#›</a:t>
            </a:fld>
            <a:endParaRPr/>
          </a:p>
        </p:txBody>
      </p:sp>
      <p:pic>
        <p:nvPicPr>
          <p:cNvPr id="25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ab508102f78435b"/>
          <a:srcRect xmlns:a="http://schemas.openxmlformats.org/drawingml/2006/main" l="0" t="0" r="1346" b="0"/>
          <a:stretch xmlns:a="http://schemas.openxmlformats.org/drawingml/2006/main"/>
        </p:blipFill>
        <p:spPr>
          <a:xfrm xmlns:a="http://schemas.openxmlformats.org/drawingml/2006/main">
            <a:off x="516" y="6041797"/>
            <a:ext cx="12166903" cy="411617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19056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788940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9" name="平行四边形 18">
            <a:extLst xmlns:a="http://schemas.openxmlformats.org/drawingml/2006/main"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1483" cy="685800"/>
          </a:xfrm>
          <a:prstGeom xmlns:a="http://schemas.openxmlformats.org/drawingml/2006/main" prst="parallelogram">
            <a:avLst>
              <a:gd name="adj" fmla="val 4305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fd3e24018948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9056" y="73482"/>
            <a:ext cx="538838" cy="538838"/>
          </a:xfrm>
          <a:prstGeom xmlns:a="http://schemas.openxmlformats.org/drawingml/2006/main" prst="rect">
            <a:avLst/>
          </a:prstGeom>
        </p:spPr>
      </p:pic>
      <p:sp>
        <p:nvSpPr>
          <p:cNvPr id="21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75351" y="43657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封底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5acde2946543ff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F60F5A8-3022-49D5-A1B7-18CDA62C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2989B7D2-D2DE-4D77-870B-585E5185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69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555162" y="3129756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27" name="图片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1d7e896ce1f420d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>
            <a:off x="3352562" y="6146610"/>
            <a:ext cx="5486876" cy="40659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17db993f3b487e" /><Relationship Type="http://schemas.openxmlformats.org/officeDocument/2006/relationships/slideLayout" Target="/ppt/slideLayouts/slideLayout1.xml" Id="Rd774ebe437674de0" /><Relationship Type="http://schemas.openxmlformats.org/officeDocument/2006/relationships/slideLayout" Target="/ppt/slideLayouts/slideLayout2.xml" Id="R85acbd123a7e4024" /><Relationship Type="http://schemas.openxmlformats.org/officeDocument/2006/relationships/slideLayout" Target="/ppt/slideLayouts/slideLayout3.xml" Id="R754765c87315458e" /><Relationship Type="http://schemas.openxmlformats.org/officeDocument/2006/relationships/slideLayout" Target="/ppt/slideLayouts/slideLayout4.xml" Id="R6eea5ddc1fdd4802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49970" y="6515101"/>
            <a:ext cx="103723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48644C6-89F0-466C-949F-E70AD72679A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74ebe437674de0"/>
    <p:sldLayoutId xmlns:r="http://schemas.openxmlformats.org/officeDocument/2006/relationships" id="2147483650" r:id="R85acbd123a7e4024"/>
    <p:sldLayoutId xmlns:r="http://schemas.openxmlformats.org/officeDocument/2006/relationships" id="2147483651" r:id="R754765c87315458e"/>
    <p:sldLayoutId xmlns:r="http://schemas.openxmlformats.org/officeDocument/2006/relationships" id="2147483652" r:id="R6eea5ddc1fdd4802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xmlns:a="http://schemas.openxmlformats.org/drawingml/2006/main" val="F26B43"/>
          </p15:clr>
        </p15:guide>
        <p15:guide id="2" pos="7488">
          <p15:clr>
            <a:srgbClr xmlns:a="http://schemas.openxmlformats.org/drawingml/2006/main" val="F26B43"/>
          </p15:clr>
        </p15:guide>
        <p15:guide id="3" orient="horz" pos="432">
          <p15:clr>
            <a:srgbClr xmlns:a="http://schemas.openxmlformats.org/drawingml/2006/main" val="F26B43"/>
          </p15:clr>
        </p15:guide>
        <p15:guide id="4" orient="horz" pos="472">
          <p15:clr>
            <a:srgbClr xmlns:a="http://schemas.openxmlformats.org/drawingml/2006/main" val="F26B43"/>
          </p15:clr>
        </p15:guide>
        <p15:guide id="5" orient="horz" pos="4104">
          <p15:clr>
            <a:srgbClr xmlns:a="http://schemas.openxmlformats.org/drawingml/2006/main" val="F26B43"/>
          </p15:clr>
        </p15:guide>
        <p15:guide id="6" orient="horz" pos="4056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f403ef4ccc4959" /><Relationship Type="http://schemas.openxmlformats.org/officeDocument/2006/relationships/notesSlide" Target="/ppt/notesSlides/notesSlide1.xml" Id="R14e2ae59776f47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c143a7cd8fd4714" /><Relationship Type="http://schemas.openxmlformats.org/officeDocument/2006/relationships/notesSlide" Target="/ppt/notesSlides/notesSlide2.xml" Id="Rc691393920af4c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f3630e69c1a49a9" /><Relationship Type="http://schemas.openxmlformats.org/officeDocument/2006/relationships/notesSlide" Target="/ppt/notesSlides/notesSlide3.xml" Id="Rbf975a1a79484a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17cc3a4da084aa6" /><Relationship Type="http://schemas.openxmlformats.org/officeDocument/2006/relationships/notesSlide" Target="/ppt/notesSlides/notesSlide4.xml" Id="Rc06a704bc5d141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671a2e1fc69435f" /><Relationship Type="http://schemas.openxmlformats.org/officeDocument/2006/relationships/notesSlide" Target="/ppt/notesSlides/notesSlide5.xml" Id="Rbd3cc81e67974d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bdc997ab3f94f50" /><Relationship Type="http://schemas.openxmlformats.org/officeDocument/2006/relationships/notesSlide" Target="/ppt/notesSlides/notesSlide6.xml" Id="Rce7646d8526442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2d1d848b8954694" /><Relationship Type="http://schemas.openxmlformats.org/officeDocument/2006/relationships/notesSlide" Target="/ppt/notesSlides/notesSlide7.xml" Id="R1ae312c129e741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e1f6af083dc4708" /><Relationship Type="http://schemas.openxmlformats.org/officeDocument/2006/relationships/notesSlide" Target="/ppt/notesSlides/notesSlide8.xml" Id="R2eb4b62174ea412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e0fe9c8befa4f0a" /><Relationship Type="http://schemas.openxmlformats.org/officeDocument/2006/relationships/notesSlide" Target="/ppt/notesSlides/notesSlide9.xml" Id="Rb1ad5d2b921f424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42c3098ac334c79" /><Relationship Type="http://schemas.openxmlformats.org/officeDocument/2006/relationships/notesSlide" Target="/ppt/notesSlides/notesSlide10.xml" Id="R13ccf948579b4ad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27f9359d0704836" /><Relationship Type="http://schemas.openxmlformats.org/officeDocument/2006/relationships/notesSlide" Target="/ppt/notesSlides/notesSlide11.xml" Id="Rfd7e10a26815474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4312b9906dc4bbc" /><Relationship Type="http://schemas.openxmlformats.org/officeDocument/2006/relationships/notesSlide" Target="/ppt/notesSlides/notesSlide12.xml" Id="R91bcfaff07df41d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21c6666dfc844b4" /><Relationship Type="http://schemas.openxmlformats.org/officeDocument/2006/relationships/notesSlide" Target="/ppt/notesSlides/notesSlide13.xml" Id="R0a5e88ddb278439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1f896a5768a441d" /><Relationship Type="http://schemas.openxmlformats.org/officeDocument/2006/relationships/notesSlide" Target="/ppt/notesSlides/notesSlide14.xml" Id="R693a5e0b5cd549c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511a261c25e4f40" /><Relationship Type="http://schemas.openxmlformats.org/officeDocument/2006/relationships/notesSlide" Target="/ppt/notesSlides/notesSlide15.xml" Id="Rda1dff3787674d5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5b27e7eeb974b61" /><Relationship Type="http://schemas.openxmlformats.org/officeDocument/2006/relationships/notesSlide" Target="/ppt/notesSlides/notesSlide16.xml" Id="R3d5f7ddf0d9c4b7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c7855eee5994b21" /><Relationship Type="http://schemas.openxmlformats.org/officeDocument/2006/relationships/notesSlide" Target="/ppt/notesSlides/notesSlide17.xml" Id="R62651a9b1133401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77a6593081e400d" /><Relationship Type="http://schemas.openxmlformats.org/officeDocument/2006/relationships/notesSlide" Target="/ppt/notesSlides/notesSlide18.xml" Id="Ra9098454401f48e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44f1828d386410b" /><Relationship Type="http://schemas.openxmlformats.org/officeDocument/2006/relationships/notesSlide" Target="/ppt/notesSlides/notesSlide19.xml" Id="Rcf9afe38eb37420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52b3ecdc6474951" /><Relationship Type="http://schemas.openxmlformats.org/officeDocument/2006/relationships/notesSlide" Target="/ppt/notesSlides/notesSlide20.xml" Id="Rade33fc47fbc469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1D30E0E-D2D5-4C08-A919-2A1C2D5A8D02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066800" y="3009900"/>
            <a:ext cx="10058400" cy="22860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空白候选 → 结构性问题 → 第一性原理 → 问题门</a:t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r>
              <a:rPr>
                <a:latin typeface="+mn-ea"/>
                <a:ea typeface="+mn-ea"/>
                <a:cs typeface="+mn-ea"/>
              </a:rPr>
              <a:t/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pPr algn="ctr">
              <a:lnSpc>
                <a:spcPct val="124000"/>
              </a:lnSpc>
              <a:buNone/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从“还没有人做过”转向“什么观察会推翻它”</a:t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pPr algn="ctr">
              <a:lnSpc>
                <a:spcPct val="124000"/>
              </a:lnSpc>
              <a:buNone/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第六讲｜阶段一 + 阶段二 → 第一次正式提交</a:t>
            </a:r>
            <a:endParaRPr>
              <a:latin typeface="+mn-ea"/>
              <a:ea typeface="+mn-ea"/>
              <a:cs typeface="+mn-ea"/>
            </a:endParaRPr>
          </a:p>
        </p:txBody>
      </p:sp>
      <p:sp>
        <p:nvSpPr>
          <p:cNvPr id="2" name="矩形 11">
            <a:extLst xmlns:a="http://schemas.openxmlformats.org/drawingml/2006/main">
              <a:ext uri="{FF2B5EF4-FFF2-40B4-BE49-F238E27FC236}">
                <a16:creationId xmlns:a16="http://schemas.microsoft.com/office/drawing/2014/main" id="{27DE90CC-93E2-C662-C202-C5C6993D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200150"/>
            <a:ext cx="9753600" cy="1645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30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问题定义、第一性原理与问题门</a:t>
            </a:r>
            <a:endParaRPr sz="4000" b="1" kern="0" spc="2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00453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5 课之后，研究空白候选如何变成问题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6" name="p02-have">
            <a:extLst xmlns:a="http://schemas.openxmlformats.org/drawingml/2006/main">
              <a:ext uri="{FF2B5EF4-FFF2-40B4-BE49-F238E27FC236}">
                <a16:creationId xmlns:a16="http://schemas.microsoft.com/office/drawing/2014/main" id="{2157C3D2-1ACD-4B88-B4A2-30ACFEBA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71550"/>
            <a:ext cx="447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8745A"/>
                </a:solidFill>
              </a:defRPr>
            </a:pPr>
            <a:r>
              <a:rPr sz="17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第 5 课已经建立</a:t>
            </a:r>
          </a:p>
        </p:txBody>
      </p:sp>
      <p:sp>
        <p:nvSpPr>
          <p:cNvPr id="7" name="p02-h0">
            <a:extLst xmlns:a="http://schemas.openxmlformats.org/drawingml/2006/main">
              <a:ext uri="{FF2B5EF4-FFF2-40B4-BE49-F238E27FC236}">
                <a16:creationId xmlns:a16="http://schemas.microsoft.com/office/drawing/2014/main" id="{73403954-F67E-4556-80F5-7ABFEF4D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4191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证据地图：直接 / 补充 / 冲突 / 空白</a:t>
            </a:r>
          </a:p>
        </p:txBody>
      </p:sp>
      <p:sp>
        <p:nvSpPr>
          <p:cNvPr id="8" name="p02-h1">
            <a:extLst xmlns:a="http://schemas.openxmlformats.org/drawingml/2006/main">
              <a:ext uri="{FF2B5EF4-FFF2-40B4-BE49-F238E27FC236}">
                <a16:creationId xmlns:a16="http://schemas.microsoft.com/office/drawing/2014/main" id="{4B13C1C9-963E-4BEB-A445-CD6FA9B4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43200"/>
            <a:ext cx="4191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空白候选：真实性 / 重要性 / 可行性</a:t>
            </a:r>
          </a:p>
        </p:txBody>
      </p:sp>
      <p:sp>
        <p:nvSpPr>
          <p:cNvPr id="9" name="p02-a">
            <a:extLst xmlns:a="http://schemas.openxmlformats.org/drawingml/2006/main">
              <a:ext uri="{FF2B5EF4-FFF2-40B4-BE49-F238E27FC236}">
                <a16:creationId xmlns:a16="http://schemas.microsoft.com/office/drawing/2014/main" id="{EFAE6C1A-C4DF-4FC8-8246-F3CAB172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717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667684"/>
                </a:solidFill>
              </a:defRPr>
            </a:pPr>
            <a:r>
              <a:rPr sz="2175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p02-miss">
            <a:extLst xmlns:a="http://schemas.openxmlformats.org/drawingml/2006/main">
              <a:ext uri="{FF2B5EF4-FFF2-40B4-BE49-F238E27FC236}">
                <a16:creationId xmlns:a16="http://schemas.microsoft.com/office/drawing/2014/main" id="{D2119665-2BA8-4B15-A740-AB58A5B1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971550"/>
            <a:ext cx="447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本课仍需回答</a:t>
            </a:r>
          </a:p>
        </p:txBody>
      </p:sp>
      <p:sp>
        <p:nvSpPr>
          <p:cNvPr id="11" name="p02-m0">
            <a:extLst xmlns:a="http://schemas.openxmlformats.org/drawingml/2006/main">
              <a:ext uri="{FF2B5EF4-FFF2-40B4-BE49-F238E27FC236}">
                <a16:creationId xmlns:a16="http://schemas.microsoft.com/office/drawing/2014/main" id="{01E399A6-7C87-419E-A62C-B80501E9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619250"/>
            <a:ext cx="4191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?  问什么？边界在哪里？</a:t>
            </a:r>
          </a:p>
        </p:txBody>
      </p:sp>
      <p:sp>
        <p:nvSpPr>
          <p:cNvPr id="12" name="p02-m1">
            <a:extLst xmlns:a="http://schemas.openxmlformats.org/drawingml/2006/main">
              <a:ext uri="{FF2B5EF4-FFF2-40B4-BE49-F238E27FC236}">
                <a16:creationId xmlns:a16="http://schemas.microsoft.com/office/drawing/2014/main" id="{6EF70F56-EBD0-48C5-AC78-A4A0942E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28875"/>
            <a:ext cx="4191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?  什么结果会推翻主张？</a:t>
            </a:r>
          </a:p>
        </p:txBody>
      </p:sp>
      <p:sp>
        <p:nvSpPr>
          <p:cNvPr id="13" name="p02-m2">
            <a:extLst xmlns:a="http://schemas.openxmlformats.org/drawingml/2006/main">
              <a:ext uri="{FF2B5EF4-FFF2-40B4-BE49-F238E27FC236}">
                <a16:creationId xmlns:a16="http://schemas.microsoft.com/office/drawing/2014/main" id="{3E670B62-D002-4D3B-BF4B-F2C8ACD9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238500"/>
            <a:ext cx="4191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?  哪些前提仍待外部检验？</a:t>
            </a:r>
          </a:p>
        </p:txBody>
      </p:sp>
      <p:sp>
        <p:nvSpPr>
          <p:cNvPr id="14" name="p02-bottom">
            <a:extLst xmlns:a="http://schemas.openxmlformats.org/drawingml/2006/main">
              <a:ext uri="{FF2B5EF4-FFF2-40B4-BE49-F238E27FC236}">
                <a16:creationId xmlns:a16="http://schemas.microsoft.com/office/drawing/2014/main" id="{71DE00CF-987E-43FD-A8E2-2D460FE8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00625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2:30 快问：你的候选现在是“空格描述”，还是“可检验问题”？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本课目标与课堂产出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6" name="p03-n0">
            <a:extLst xmlns:a="http://schemas.openxmlformats.org/drawingml/2006/main">
              <a:ext uri="{FF2B5EF4-FFF2-40B4-BE49-F238E27FC236}">
                <a16:creationId xmlns:a16="http://schemas.microsoft.com/office/drawing/2014/main" id="{74315B65-B025-470E-90E9-67E45B3A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p03-g0">
            <a:extLst xmlns:a="http://schemas.openxmlformats.org/drawingml/2006/main">
              <a:ext uri="{FF2B5EF4-FFF2-40B4-BE49-F238E27FC236}">
                <a16:creationId xmlns:a16="http://schemas.microsoft.com/office/drawing/2014/main" id="{2271C0A2-006D-4E5C-AE09-3BA5A254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123950"/>
            <a:ext cx="21431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结构性问题</a:t>
            </a:r>
          </a:p>
        </p:txBody>
      </p:sp>
      <p:sp>
        <p:nvSpPr>
          <p:cNvPr id="8" name="p03-n1">
            <a:extLst xmlns:a="http://schemas.openxmlformats.org/drawingml/2006/main">
              <a:ext uri="{FF2B5EF4-FFF2-40B4-BE49-F238E27FC236}">
                <a16:creationId xmlns:a16="http://schemas.microsoft.com/office/drawing/2014/main" id="{52DD0B7E-D109-4921-8D08-007BCB09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001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p03-g1">
            <a:extLst xmlns:a="http://schemas.openxmlformats.org/drawingml/2006/main">
              <a:ext uri="{FF2B5EF4-FFF2-40B4-BE49-F238E27FC236}">
                <a16:creationId xmlns:a16="http://schemas.microsoft.com/office/drawing/2014/main" id="{5D24FCA6-D03B-4F68-9D8B-C5FFBAFE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123950"/>
            <a:ext cx="21431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非例边界</a:t>
            </a:r>
          </a:p>
        </p:txBody>
      </p:sp>
      <p:sp>
        <p:nvSpPr>
          <p:cNvPr id="10" name="p03-n2">
            <a:extLst xmlns:a="http://schemas.openxmlformats.org/drawingml/2006/main">
              <a:ext uri="{FF2B5EF4-FFF2-40B4-BE49-F238E27FC236}">
                <a16:creationId xmlns:a16="http://schemas.microsoft.com/office/drawing/2014/main" id="{CC9E2D45-47D8-4AE0-9FF0-2251C73B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001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1" name="p03-g2">
            <a:extLst xmlns:a="http://schemas.openxmlformats.org/drawingml/2006/main">
              <a:ext uri="{FF2B5EF4-FFF2-40B4-BE49-F238E27FC236}">
                <a16:creationId xmlns:a16="http://schemas.microsoft.com/office/drawing/2014/main" id="{CC48C0ED-6D1F-4093-B533-D6EF4103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123950"/>
            <a:ext cx="21431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可证伪命题</a:t>
            </a:r>
          </a:p>
        </p:txBody>
      </p:sp>
      <p:sp>
        <p:nvSpPr>
          <p:cNvPr id="12" name="p03-n3">
            <a:extLst xmlns:a="http://schemas.openxmlformats.org/drawingml/2006/main">
              <a:ext uri="{FF2B5EF4-FFF2-40B4-BE49-F238E27FC236}">
                <a16:creationId xmlns:a16="http://schemas.microsoft.com/office/drawing/2014/main" id="{8BC0C916-EF1E-4541-9799-78376DBD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526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3" name="p03-g3">
            <a:extLst xmlns:a="http://schemas.openxmlformats.org/drawingml/2006/main">
              <a:ext uri="{FF2B5EF4-FFF2-40B4-BE49-F238E27FC236}">
                <a16:creationId xmlns:a16="http://schemas.microsoft.com/office/drawing/2014/main" id="{A9DD4FC0-D6E7-48E5-AA72-6982C33B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76450"/>
            <a:ext cx="21431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第一性原理推导</a:t>
            </a:r>
          </a:p>
        </p:txBody>
      </p:sp>
      <p:sp>
        <p:nvSpPr>
          <p:cNvPr id="14" name="p03-n4">
            <a:extLst xmlns:a="http://schemas.openxmlformats.org/drawingml/2006/main">
              <a:ext uri="{FF2B5EF4-FFF2-40B4-BE49-F238E27FC236}">
                <a16:creationId xmlns:a16="http://schemas.microsoft.com/office/drawing/2014/main" id="{19E9DA1F-93B5-4CB9-BBB8-0DE88DAA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526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5" name="p03-g4">
            <a:extLst xmlns:a="http://schemas.openxmlformats.org/drawingml/2006/main">
              <a:ext uri="{FF2B5EF4-FFF2-40B4-BE49-F238E27FC236}">
                <a16:creationId xmlns:a16="http://schemas.microsoft.com/office/drawing/2014/main" id="{A48E7B22-9816-4A28-87CE-2DFA4D96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076450"/>
            <a:ext cx="21431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重要性检查</a:t>
            </a:r>
          </a:p>
        </p:txBody>
      </p:sp>
      <p:sp>
        <p:nvSpPr>
          <p:cNvPr id="16" name="p03-n5">
            <a:extLst xmlns:a="http://schemas.openxmlformats.org/drawingml/2006/main">
              <a:ext uri="{FF2B5EF4-FFF2-40B4-BE49-F238E27FC236}">
                <a16:creationId xmlns:a16="http://schemas.microsoft.com/office/drawing/2014/main" id="{CF88E3CE-934D-49E8-8884-9048ABA6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526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7" name="p03-g5">
            <a:extLst xmlns:a="http://schemas.openxmlformats.org/drawingml/2006/main">
              <a:ext uri="{FF2B5EF4-FFF2-40B4-BE49-F238E27FC236}">
                <a16:creationId xmlns:a16="http://schemas.microsoft.com/office/drawing/2014/main" id="{4E9BCE20-AC76-46FD-92D5-CFD90ED2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76450"/>
            <a:ext cx="21431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八项门条件自查</a:t>
            </a:r>
          </a:p>
        </p:txBody>
      </p:sp>
      <p:sp>
        <p:nvSpPr>
          <p:cNvPr id="18" name="p03-output">
            <a:extLst xmlns:a="http://schemas.openxmlformats.org/drawingml/2006/main">
              <a:ext uri="{FF2B5EF4-FFF2-40B4-BE49-F238E27FC236}">
                <a16:creationId xmlns:a16="http://schemas.microsoft.com/office/drawing/2014/main" id="{66DC1D7E-93FE-4004-BF11-7324DA27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143000"/>
            <a:ext cx="2476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课堂最小产出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problem-definition.md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更新版 +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第一性原理推导初版</a:t>
            </a:r>
          </a:p>
        </p:txBody>
      </p:sp>
      <p:sp>
        <p:nvSpPr>
          <p:cNvPr id="19" name="p03-gate">
            <a:extLst xmlns:a="http://schemas.openxmlformats.org/drawingml/2006/main">
              <a:ext uri="{FF2B5EF4-FFF2-40B4-BE49-F238E27FC236}">
                <a16:creationId xmlns:a16="http://schemas.microsoft.com/office/drawing/2014/main" id="{68BC6715-139A-4A73-AFD6-B1B0002F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905250"/>
            <a:ext cx="8858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课后只提交一次问题门材料包；不重做已通过的累计工件。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主题、研究问题还是待验证主张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6" name="p04-h0">
            <a:extLst xmlns:a="http://schemas.openxmlformats.org/drawingml/2006/main">
              <a:ext uri="{FF2B5EF4-FFF2-40B4-BE49-F238E27FC236}">
                <a16:creationId xmlns:a16="http://schemas.microsoft.com/office/drawing/2014/main" id="{DC7B4CF6-1A9B-46B3-AD05-0AED98C2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38250"/>
            <a:ext cx="1619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层次</a:t>
            </a:r>
          </a:p>
        </p:txBody>
      </p:sp>
      <p:sp>
        <p:nvSpPr>
          <p:cNvPr id="7" name="p04-h1">
            <a:extLst xmlns:a="http://schemas.openxmlformats.org/drawingml/2006/main">
              <a:ext uri="{FF2B5EF4-FFF2-40B4-BE49-F238E27FC236}">
                <a16:creationId xmlns:a16="http://schemas.microsoft.com/office/drawing/2014/main" id="{ABCC5797-3DC1-484C-8893-3391EFE4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238250"/>
            <a:ext cx="619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典型表述</a:t>
            </a:r>
          </a:p>
        </p:txBody>
      </p:sp>
      <p:sp>
        <p:nvSpPr>
          <p:cNvPr id="8" name="p04-h2">
            <a:extLst xmlns:a="http://schemas.openxmlformats.org/drawingml/2006/main">
              <a:ext uri="{FF2B5EF4-FFF2-40B4-BE49-F238E27FC236}">
                <a16:creationId xmlns:a16="http://schemas.microsoft.com/office/drawing/2014/main" id="{B3D358B3-EDD9-4AE8-A248-1B8D244A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238250"/>
            <a:ext cx="3143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仍缺什么</a:t>
            </a:r>
          </a:p>
        </p:txBody>
      </p:sp>
      <p:sp>
        <p:nvSpPr>
          <p:cNvPr id="9" name="p04-r0-0">
            <a:extLst xmlns:a="http://schemas.openxmlformats.org/drawingml/2006/main">
              <a:ext uri="{FF2B5EF4-FFF2-40B4-BE49-F238E27FC236}">
                <a16:creationId xmlns:a16="http://schemas.microsoft.com/office/drawing/2014/main" id="{4EFE2F84-D2A9-4F50-B553-059D9982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1619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主题</a:t>
            </a:r>
          </a:p>
        </p:txBody>
      </p:sp>
      <p:sp>
        <p:nvSpPr>
          <p:cNvPr id="10" name="p04-r0-1">
            <a:extLst xmlns:a="http://schemas.openxmlformats.org/drawingml/2006/main">
              <a:ext uri="{FF2B5EF4-FFF2-40B4-BE49-F238E27FC236}">
                <a16:creationId xmlns:a16="http://schemas.microsoft.com/office/drawing/2014/main" id="{EFB08624-31F1-46E2-8D85-185BC7DA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666875"/>
            <a:ext cx="6191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AI 辅助论文阅读</a:t>
            </a:r>
          </a:p>
        </p:txBody>
      </p:sp>
      <p:sp>
        <p:nvSpPr>
          <p:cNvPr id="11" name="p04-r0-2">
            <a:extLst xmlns:a="http://schemas.openxmlformats.org/drawingml/2006/main">
              <a:ext uri="{FF2B5EF4-FFF2-40B4-BE49-F238E27FC236}">
                <a16:creationId xmlns:a16="http://schemas.microsoft.com/office/drawing/2014/main" id="{08CCB516-6872-48E3-883B-CB6AFE17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66875"/>
            <a:ext cx="3143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范围、条件、可比对象</a:t>
            </a:r>
          </a:p>
        </p:txBody>
      </p:sp>
      <p:sp>
        <p:nvSpPr>
          <p:cNvPr id="12" name="p04-r1-0">
            <a:extLst xmlns:a="http://schemas.openxmlformats.org/drawingml/2006/main">
              <a:ext uri="{FF2B5EF4-FFF2-40B4-BE49-F238E27FC236}">
                <a16:creationId xmlns:a16="http://schemas.microsoft.com/office/drawing/2014/main" id="{1537BB71-D7AB-421A-BE2E-FDF8B87D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1619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13" name="p04-r1-1">
            <a:extLst xmlns:a="http://schemas.openxmlformats.org/drawingml/2006/main">
              <a:ext uri="{FF2B5EF4-FFF2-40B4-BE49-F238E27FC236}">
                <a16:creationId xmlns:a16="http://schemas.microsoft.com/office/drawing/2014/main" id="{0C034D5F-37CC-40B6-B998-AFE1FCFC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571750"/>
            <a:ext cx="6191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在逐条核验引用的 CS 阅读中，阅读卡是否降低遗漏率？</a:t>
            </a:r>
          </a:p>
        </p:txBody>
      </p:sp>
      <p:sp>
        <p:nvSpPr>
          <p:cNvPr id="14" name="p04-r1-2">
            <a:extLst xmlns:a="http://schemas.openxmlformats.org/drawingml/2006/main">
              <a:ext uri="{FF2B5EF4-FFF2-40B4-BE49-F238E27FC236}">
                <a16:creationId xmlns:a16="http://schemas.microsoft.com/office/drawing/2014/main" id="{E917E2A0-1131-4581-A9D9-52D51C79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71750"/>
            <a:ext cx="3143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候选答案、可证伪性</a:t>
            </a:r>
          </a:p>
        </p:txBody>
      </p:sp>
      <p:sp>
        <p:nvSpPr>
          <p:cNvPr id="15" name="p04-r2-0">
            <a:extLst xmlns:a="http://schemas.openxmlformats.org/drawingml/2006/main">
              <a:ext uri="{FF2B5EF4-FFF2-40B4-BE49-F238E27FC236}">
                <a16:creationId xmlns:a16="http://schemas.microsoft.com/office/drawing/2014/main" id="{C1C7958C-53EA-4016-9BEC-4CD590F4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76625"/>
            <a:ext cx="1619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待验证主张</a:t>
            </a:r>
          </a:p>
        </p:txBody>
      </p:sp>
      <p:sp>
        <p:nvSpPr>
          <p:cNvPr id="16" name="p04-r2-1">
            <a:extLst xmlns:a="http://schemas.openxmlformats.org/drawingml/2006/main">
              <a:ext uri="{FF2B5EF4-FFF2-40B4-BE49-F238E27FC236}">
                <a16:creationId xmlns:a16="http://schemas.microsoft.com/office/drawing/2014/main" id="{C24B9C35-0ED0-4064-B8AA-5588C3D6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476625"/>
            <a:ext cx="6191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若强制定位原文且评价标准固定，则差异可归因于阅读卡结构</a:t>
            </a:r>
          </a:p>
        </p:txBody>
      </p:sp>
      <p:sp>
        <p:nvSpPr>
          <p:cNvPr id="17" name="p04-r2-2">
            <a:extLst xmlns:a="http://schemas.openxmlformats.org/drawingml/2006/main">
              <a:ext uri="{FF2B5EF4-FFF2-40B4-BE49-F238E27FC236}">
                <a16:creationId xmlns:a16="http://schemas.microsoft.com/office/drawing/2014/main" id="{4DE5A93D-846B-48C0-8746-3683E7A0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476625"/>
            <a:ext cx="3143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实验、竞争假设排除</a:t>
            </a:r>
          </a:p>
        </p:txBody>
      </p:sp>
      <p:sp>
        <p:nvSpPr>
          <p:cNvPr id="18" name="p04-bottom">
            <a:extLst xmlns:a="http://schemas.openxmlformats.org/drawingml/2006/main">
              <a:ext uri="{FF2B5EF4-FFF2-40B4-BE49-F238E27FC236}">
                <a16:creationId xmlns:a16="http://schemas.microsoft.com/office/drawing/2014/main" id="{09F291F0-5E24-4461-BBFE-501DC1EB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05375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研究问题不是把主题缩小一点，而是补全条件—对象—干预—结果—比较。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从研究空白到结构性问题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6" name="p05-virtual">
            <a:extLst xmlns:a="http://schemas.openxmlformats.org/drawingml/2006/main">
              <a:ext uri="{FF2B5EF4-FFF2-40B4-BE49-F238E27FC236}">
                <a16:creationId xmlns:a16="http://schemas.microsoft.com/office/drawing/2014/main" id="{A430DD6C-B7EF-46C8-BA28-D9F943A0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76300"/>
            <a:ext cx="7429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虚构教学样例｜非真实论文、检索或实证证据</a:t>
            </a:r>
          </a:p>
        </p:txBody>
      </p:sp>
      <p:sp>
        <p:nvSpPr>
          <p:cNvPr id="7" name="p05-gap">
            <a:extLst xmlns:a="http://schemas.openxmlformats.org/drawingml/2006/main">
              <a:ext uri="{FF2B5EF4-FFF2-40B4-BE49-F238E27FC236}">
                <a16:creationId xmlns:a16="http://schemas.microsoft.com/office/drawing/2014/main" id="{15C70E5B-E303-4C35-A722-C68B39E7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524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G1 空白候选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阅读卡是否强制定位原文 → 降低遗漏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状态：待真实窄检索</a:t>
            </a:r>
          </a:p>
        </p:txBody>
      </p:sp>
      <p:sp>
        <p:nvSpPr>
          <p:cNvPr id="8" name="p05-a">
            <a:extLst xmlns:a="http://schemas.openxmlformats.org/drawingml/2006/main">
              <a:ext uri="{FF2B5EF4-FFF2-40B4-BE49-F238E27FC236}">
                <a16:creationId xmlns:a16="http://schemas.microsoft.com/office/drawing/2014/main" id="{54460272-CE55-45A9-8992-5322A706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C8161E"/>
                </a:solidFill>
              </a:defRPr>
            </a:pPr>
            <a:r>
              <a:rPr sz="2175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p05-q">
            <a:extLst xmlns:a="http://schemas.openxmlformats.org/drawingml/2006/main">
              <a:ext uri="{FF2B5EF4-FFF2-40B4-BE49-F238E27FC236}">
                <a16:creationId xmlns:a16="http://schemas.microsoft.com/office/drawing/2014/main" id="{BF149394-3979-4378-A707-47648015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76375"/>
            <a:ext cx="6000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C8161E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在需要逐条核验引用的 CS 论文阅读任务中，结构化阅读卡是否比自由摘要更能降低限定条件遗漏率？</a:t>
            </a:r>
          </a:p>
        </p:txBody>
      </p:sp>
      <p:sp>
        <p:nvSpPr>
          <p:cNvPr id="10" name="p05-e0">
            <a:extLst xmlns:a="http://schemas.openxmlformats.org/drawingml/2006/main">
              <a:ext uri="{FF2B5EF4-FFF2-40B4-BE49-F238E27FC236}">
                <a16:creationId xmlns:a16="http://schemas.microsoft.com/office/drawing/2014/main" id="{7595C5E1-AF2F-47F6-B628-C1FEC2D0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05250"/>
            <a:ext cx="1428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条件</a:t>
            </a:r>
          </a:p>
        </p:txBody>
      </p:sp>
      <p:sp>
        <p:nvSpPr>
          <p:cNvPr id="11" name="p05-e1">
            <a:extLst xmlns:a="http://schemas.openxmlformats.org/drawingml/2006/main">
              <a:ext uri="{FF2B5EF4-FFF2-40B4-BE49-F238E27FC236}">
                <a16:creationId xmlns:a16="http://schemas.microsoft.com/office/drawing/2014/main" id="{12B950CF-3B2F-4CB5-917A-5AD02D51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905250"/>
            <a:ext cx="1428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F638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12" name="p05-e2">
            <a:extLst xmlns:a="http://schemas.openxmlformats.org/drawingml/2006/main">
              <a:ext uri="{FF2B5EF4-FFF2-40B4-BE49-F238E27FC236}">
                <a16:creationId xmlns:a16="http://schemas.microsoft.com/office/drawing/2014/main" id="{A6047853-106C-4B0E-B2A4-3C9F0C6D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05250"/>
            <a:ext cx="1428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干预</a:t>
            </a:r>
          </a:p>
        </p:txBody>
      </p:sp>
      <p:sp>
        <p:nvSpPr>
          <p:cNvPr id="13" name="p05-e3">
            <a:extLst xmlns:a="http://schemas.openxmlformats.org/drawingml/2006/main">
              <a:ext uri="{FF2B5EF4-FFF2-40B4-BE49-F238E27FC236}">
                <a16:creationId xmlns:a16="http://schemas.microsoft.com/office/drawing/2014/main" id="{FD0E1C88-4C48-4FF0-AB29-7F39ED91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905250"/>
            <a:ext cx="1428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A86C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14" name="p05-e4">
            <a:extLst xmlns:a="http://schemas.openxmlformats.org/drawingml/2006/main">
              <a:ext uri="{FF2B5EF4-FFF2-40B4-BE49-F238E27FC236}">
                <a16:creationId xmlns:a16="http://schemas.microsoft.com/office/drawing/2014/main" id="{0446E219-5925-439D-BD30-00D4290D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05250"/>
            <a:ext cx="1428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比较</a:t>
            </a:r>
          </a:p>
        </p:txBody>
      </p:sp>
      <p:sp>
        <p:nvSpPr>
          <p:cNvPr id="15" name="p05-bottom">
            <a:extLst xmlns:a="http://schemas.openxmlformats.org/drawingml/2006/main">
              <a:ext uri="{FF2B5EF4-FFF2-40B4-BE49-F238E27FC236}">
                <a16:creationId xmlns:a16="http://schemas.microsoft.com/office/drawing/2014/main" id="{722E5326-277F-4F3C-A0B8-26E03F1A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5300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补全结构，不等于证明结论；真实项目必须填写自己的检索与核验状态。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 So what? / Who cares? 检查重要性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6" name="p06-so-h">
            <a:extLst xmlns:a="http://schemas.openxmlformats.org/drawingml/2006/main">
              <a:ext uri="{FF2B5EF4-FFF2-40B4-BE49-F238E27FC236}">
                <a16:creationId xmlns:a16="http://schemas.microsoft.com/office/drawing/2014/main" id="{9FF2AEE9-44AC-43FD-A124-456A201D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90625"/>
            <a:ext cx="476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So what?｜知识后果</a:t>
            </a:r>
          </a:p>
        </p:txBody>
      </p:sp>
      <p:sp>
        <p:nvSpPr>
          <p:cNvPr id="7" name="p06-so-d">
            <a:extLst xmlns:a="http://schemas.openxmlformats.org/drawingml/2006/main">
              <a:ext uri="{FF2B5EF4-FFF2-40B4-BE49-F238E27FC236}">
                <a16:creationId xmlns:a16="http://schemas.microsoft.com/office/drawing/2014/main" id="{320C8546-C8C7-4316-9073-8402CBA7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28775"/>
            <a:ext cx="4762500" cy="1990725"/>
          </a:xfrm>
          <a:prstGeom xmlns:a="http://schemas.openxmlformats.org/drawingml/2006/main" prst="roundRect">
            <a:avLst>
              <a:gd name="adj" fmla="val 3828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不回答它，哪条证据链或机制假设无法成立？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回答后，能解释什么之前无法解释的现象？</a:t>
            </a:r>
          </a:p>
        </p:txBody>
      </p:sp>
      <p:sp>
        <p:nvSpPr>
          <p:cNvPr id="8" name="p06-who-h">
            <a:extLst xmlns:a="http://schemas.openxmlformats.org/drawingml/2006/main">
              <a:ext uri="{FF2B5EF4-FFF2-40B4-BE49-F238E27FC236}">
                <a16:creationId xmlns:a16="http://schemas.microsoft.com/office/drawing/2014/main" id="{A3E90AD5-D0FD-4C37-8DB2-01ECF30F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190625"/>
            <a:ext cx="476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Who cares?｜实际后果</a:t>
            </a:r>
          </a:p>
        </p:txBody>
      </p:sp>
      <p:sp>
        <p:nvSpPr>
          <p:cNvPr id="9" name="p06-who-d">
            <a:extLst xmlns:a="http://schemas.openxmlformats.org/drawingml/2006/main">
              <a:ext uri="{FF2B5EF4-FFF2-40B4-BE49-F238E27FC236}">
                <a16:creationId xmlns:a16="http://schemas.microsoft.com/office/drawing/2014/main" id="{2D82E2C9-86E0-4156-AF78-46FA3890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628775"/>
            <a:ext cx="4762500" cy="1990725"/>
          </a:xfrm>
          <a:prstGeom xmlns:a="http://schemas.openxmlformats.org/drawingml/2006/main" prst="roundRect">
            <a:avLst>
              <a:gd name="adj" fmla="val 3828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谁会从答案中受益？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答案会改变什么科研动作、工具选择或判断？</a:t>
            </a:r>
          </a:p>
        </p:txBody>
      </p:sp>
      <p:sp>
        <p:nvSpPr>
          <p:cNvPr id="10" name="p06-example">
            <a:extLst xmlns:a="http://schemas.openxmlformats.org/drawingml/2006/main">
              <a:ext uri="{FF2B5EF4-FFF2-40B4-BE49-F238E27FC236}">
                <a16:creationId xmlns:a16="http://schemas.microsoft.com/office/drawing/2014/main" id="{63A8A711-88B4-4599-91EF-41B49F82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38625"/>
            <a:ext cx="8572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AF0DD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C8161E"/>
                </a:solidFill>
              </a:defRPr>
            </a:pPr>
            <a:r>
              <a:rPr sz="20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重要性来自问题在论证链上的位置，不来自“新颖”这个标签。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用非例界定问题边界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6" name="p07-scope">
            <a:extLst xmlns:a="http://schemas.openxmlformats.org/drawingml/2006/main">
              <a:ext uri="{FF2B5EF4-FFF2-40B4-BE49-F238E27FC236}">
                <a16:creationId xmlns:a16="http://schemas.microsoft.com/office/drawing/2014/main" id="{2370A538-457B-4A86-9EB2-C4656BF6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66800"/>
            <a:ext cx="342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8745A"/>
                </a:solidFill>
              </a:defRPr>
            </a:pPr>
            <a:r>
              <a:rPr sz="17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包含范围</a:t>
            </a:r>
          </a:p>
        </p:txBody>
      </p:sp>
      <p:sp>
        <p:nvSpPr>
          <p:cNvPr id="7" name="p07-in0">
            <a:extLst xmlns:a="http://schemas.openxmlformats.org/drawingml/2006/main">
              <a:ext uri="{FF2B5EF4-FFF2-40B4-BE49-F238E27FC236}">
                <a16:creationId xmlns:a16="http://schemas.microsoft.com/office/drawing/2014/main" id="{6D370C0E-4598-4F3A-95B0-8F9E3AF6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3143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✓  任务：逐条核验引用</a:t>
            </a:r>
          </a:p>
        </p:txBody>
      </p:sp>
      <p:sp>
        <p:nvSpPr>
          <p:cNvPr id="8" name="p07-in1">
            <a:extLst xmlns:a="http://schemas.openxmlformats.org/drawingml/2006/main">
              <a:ext uri="{FF2B5EF4-FFF2-40B4-BE49-F238E27FC236}">
                <a16:creationId xmlns:a16="http://schemas.microsoft.com/office/drawing/2014/main" id="{AB1E8946-7620-427D-8D17-1915E164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3143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✓  材料：公开 CS 论文</a:t>
            </a:r>
          </a:p>
        </p:txBody>
      </p:sp>
      <p:sp>
        <p:nvSpPr>
          <p:cNvPr id="9" name="p07-in2">
            <a:extLst xmlns:a="http://schemas.openxmlformats.org/drawingml/2006/main">
              <a:ext uri="{FF2B5EF4-FFF2-40B4-BE49-F238E27FC236}">
                <a16:creationId xmlns:a16="http://schemas.microsoft.com/office/drawing/2014/main" id="{87270BDF-2E0C-4376-A502-5B5DAFAE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3143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✓  指标：限定条件遗漏率</a:t>
            </a:r>
          </a:p>
        </p:txBody>
      </p:sp>
      <p:sp>
        <p:nvSpPr>
          <p:cNvPr id="10" name="p07-non">
            <a:extLst xmlns:a="http://schemas.openxmlformats.org/drawingml/2006/main">
              <a:ext uri="{FF2B5EF4-FFF2-40B4-BE49-F238E27FC236}">
                <a16:creationId xmlns:a16="http://schemas.microsoft.com/office/drawing/2014/main" id="{DEC83067-7B93-4838-9994-35DE93F8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066800"/>
            <a:ext cx="342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明确非例</a:t>
            </a:r>
          </a:p>
        </p:txBody>
      </p:sp>
      <p:sp>
        <p:nvSpPr>
          <p:cNvPr id="11" name="p07-out0">
            <a:extLst xmlns:a="http://schemas.openxmlformats.org/drawingml/2006/main">
              <a:ext uri="{FF2B5EF4-FFF2-40B4-BE49-F238E27FC236}">
                <a16:creationId xmlns:a16="http://schemas.microsoft.com/office/drawing/2014/main" id="{FF5D0FFB-E4E7-43A7-93A3-BD14910E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143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×  通用写作质量｜不同层面</a:t>
            </a:r>
          </a:p>
        </p:txBody>
      </p:sp>
      <p:sp>
        <p:nvSpPr>
          <p:cNvPr id="12" name="p07-out1">
            <a:extLst xmlns:a="http://schemas.openxmlformats.org/drawingml/2006/main">
              <a:ext uri="{FF2B5EF4-FFF2-40B4-BE49-F238E27FC236}">
                <a16:creationId xmlns:a16="http://schemas.microsoft.com/office/drawing/2014/main" id="{B2C80565-DD84-4506-AE7B-BCE96ED6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90800"/>
            <a:ext cx="3143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×  语言美感｜不同指标</a:t>
            </a:r>
          </a:p>
        </p:txBody>
      </p:sp>
      <p:sp>
        <p:nvSpPr>
          <p:cNvPr id="13" name="p07-out2">
            <a:extLst xmlns:a="http://schemas.openxmlformats.org/drawingml/2006/main">
              <a:ext uri="{FF2B5EF4-FFF2-40B4-BE49-F238E27FC236}">
                <a16:creationId xmlns:a16="http://schemas.microsoft.com/office/drawing/2014/main" id="{A9A2A716-EC97-414C-84CA-74DA87B3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71850"/>
            <a:ext cx="3143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×  需专业设备的学科｜超出周期</a:t>
            </a:r>
          </a:p>
        </p:txBody>
      </p:sp>
      <p:sp>
        <p:nvSpPr>
          <p:cNvPr id="14" name="p07-boundary">
            <a:extLst xmlns:a="http://schemas.openxmlformats.org/drawingml/2006/main">
              <a:ext uri="{FF2B5EF4-FFF2-40B4-BE49-F238E27FC236}">
                <a16:creationId xmlns:a16="http://schemas.microsoft.com/office/drawing/2014/main" id="{2BF83377-70B7-4615-9B26-133CE39D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3333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正边界  +  负边界</a:t>
            </a:r>
          </a:p>
        </p:txBody>
      </p:sp>
      <p:sp>
        <p:nvSpPr>
          <p:cNvPr id="15" name="p07-bottom">
            <a:extLst xmlns:a="http://schemas.openxmlformats.org/drawingml/2006/main">
              <a:ext uri="{FF2B5EF4-FFF2-40B4-BE49-F238E27FC236}">
                <a16:creationId xmlns:a16="http://schemas.microsoft.com/office/drawing/2014/main" id="{2ED76CDB-2E2F-43D1-8A1C-ADB8D1B2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577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非例必须说明“为什么不算”，才能阻止项目随检索膨胀。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非例的三种常见错误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6" name="p08-0-h">
            <a:extLst xmlns:a="http://schemas.openxmlformats.org/drawingml/2006/main">
              <a:ext uri="{FF2B5EF4-FFF2-40B4-BE49-F238E27FC236}">
                <a16:creationId xmlns:a16="http://schemas.microsoft.com/office/drawing/2014/main" id="{DE379BF7-0789-4EE7-9DCE-6B8035B3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33500"/>
            <a:ext cx="3333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A86C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过宽</a:t>
            </a:r>
          </a:p>
        </p:txBody>
      </p:sp>
      <p:sp>
        <p:nvSpPr>
          <p:cNvPr id="7" name="p08-0-d">
            <a:extLst xmlns:a="http://schemas.openxmlformats.org/drawingml/2006/main">
              <a:ext uri="{FF2B5EF4-FFF2-40B4-BE49-F238E27FC236}">
                <a16:creationId xmlns:a16="http://schemas.microsoft.com/office/drawing/2014/main" id="{06413A3D-5764-4C1D-81F1-C6324257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71650"/>
            <a:ext cx="333375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AF0DD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不做无关研究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后果：没有实质约束</a:t>
            </a:r>
          </a:p>
        </p:txBody>
      </p:sp>
      <p:sp>
        <p:nvSpPr>
          <p:cNvPr id="8" name="p08-1-h">
            <a:extLst xmlns:a="http://schemas.openxmlformats.org/drawingml/2006/main">
              <a:ext uri="{FF2B5EF4-FFF2-40B4-BE49-F238E27FC236}">
                <a16:creationId xmlns:a16="http://schemas.microsoft.com/office/drawing/2014/main" id="{F11D4B69-CF11-4768-A86D-3558A907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33500"/>
            <a:ext cx="3333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F638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过窄</a:t>
            </a:r>
          </a:p>
        </p:txBody>
      </p:sp>
      <p:sp>
        <p:nvSpPr>
          <p:cNvPr id="9" name="p08-1-d">
            <a:extLst xmlns:a="http://schemas.openxmlformats.org/drawingml/2006/main">
              <a:ext uri="{FF2B5EF4-FFF2-40B4-BE49-F238E27FC236}">
                <a16:creationId xmlns:a16="http://schemas.microsoft.com/office/drawing/2014/main" id="{B4F9406F-C14E-4715-814F-AF125A5C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71650"/>
            <a:ext cx="333375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不使用数据集 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后果：只排除实现细节</a:t>
            </a:r>
          </a:p>
        </p:txBody>
      </p:sp>
      <p:sp>
        <p:nvSpPr>
          <p:cNvPr id="10" name="p08-2-h">
            <a:extLst xmlns:a="http://schemas.openxmlformats.org/drawingml/2006/main">
              <a:ext uri="{FF2B5EF4-FFF2-40B4-BE49-F238E27FC236}">
                <a16:creationId xmlns:a16="http://schemas.microsoft.com/office/drawing/2014/main" id="{4020EF9F-786C-4D02-A098-A87B68E9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333500"/>
            <a:ext cx="3333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与命题矛盾</a:t>
            </a:r>
          </a:p>
        </p:txBody>
      </p:sp>
      <p:sp>
        <p:nvSpPr>
          <p:cNvPr id="11" name="p08-2-d">
            <a:extLst xmlns:a="http://schemas.openxmlformats.org/drawingml/2006/main">
              <a:ext uri="{FF2B5EF4-FFF2-40B4-BE49-F238E27FC236}">
                <a16:creationId xmlns:a16="http://schemas.microsoft.com/office/drawing/2014/main" id="{2266C000-EF20-4B49-934F-D0087E76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71650"/>
            <a:ext cx="333375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排除必要检验条件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后果：命题无法被检验</a:t>
            </a:r>
          </a:p>
        </p:txBody>
      </p:sp>
      <p:sp>
        <p:nvSpPr>
          <p:cNvPr id="12" name="p08-test">
            <a:extLst xmlns:a="http://schemas.openxmlformats.org/drawingml/2006/main">
              <a:ext uri="{FF2B5EF4-FFF2-40B4-BE49-F238E27FC236}">
                <a16:creationId xmlns:a16="http://schemas.microsoft.com/office/drawing/2014/main" id="{26410501-F230-40FD-9A83-3EECA7D7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81500"/>
            <a:ext cx="933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快速测试：给同伴一个“看似相关”的方向，他能否仅凭范围与非例判断纳入/排除？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把宽泛主张改写为可证伪命题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6" name="p09-bad">
            <a:extLst xmlns:a="http://schemas.openxmlformats.org/drawingml/2006/main">
              <a:ext uri="{FF2B5EF4-FFF2-40B4-BE49-F238E27FC236}">
                <a16:creationId xmlns:a16="http://schemas.microsoft.com/office/drawing/2014/main" id="{4046FB51-446F-4E37-88AB-C3B3A77C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3714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C8161E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不可证伪</a:t>
            </a:r>
          </a:p>
          <a:p xmlns:a="http://schemas.openxmlformats.org/drawingml/2006/main">
            <a:pPr algn="ctr"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“结构化阅读卡是有用的”</a:t>
            </a:r>
          </a:p>
        </p:txBody>
      </p:sp>
      <p:sp>
        <p:nvSpPr>
          <p:cNvPr id="7" name="p09-a">
            <a:extLst xmlns:a="http://schemas.openxmlformats.org/drawingml/2006/main">
              <a:ext uri="{FF2B5EF4-FFF2-40B4-BE49-F238E27FC236}">
                <a16:creationId xmlns:a16="http://schemas.microsoft.com/office/drawing/2014/main" id="{C305DC05-8397-44C3-BB3A-48637333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6212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C8161E"/>
                </a:solidFill>
              </a:defRPr>
            </a:pPr>
            <a:r>
              <a:rPr sz="2175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p09-good">
            <a:extLst xmlns:a="http://schemas.openxmlformats.org/drawingml/2006/main">
              <a:ext uri="{FF2B5EF4-FFF2-40B4-BE49-F238E27FC236}">
                <a16:creationId xmlns:a16="http://schemas.microsoft.com/office/drawing/2014/main" id="{4E8A6568-9CB0-426D-B57A-9B341444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43000"/>
            <a:ext cx="5619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9525">
            <a:solidFill>
              <a:srgbClr val="28745A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28745A"/>
                </a:solidFill>
              </a:defRPr>
            </a:pPr>
            <a:r>
              <a:rPr sz="17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可证伪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28745A"/>
                </a:solidFill>
              </a:defRPr>
            </a:pPr>
            <a:r>
              <a:rPr sz="17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在固定任务与评价标准下，阅读卡组相较自由摘要组的遗漏率更低；若未下降，主张不成立。</a:t>
            </a:r>
          </a:p>
        </p:txBody>
      </p:sp>
      <p:sp>
        <p:nvSpPr>
          <p:cNvPr id="9" name="p09-e0">
            <a:extLst xmlns:a="http://schemas.openxmlformats.org/drawingml/2006/main">
              <a:ext uri="{FF2B5EF4-FFF2-40B4-BE49-F238E27FC236}">
                <a16:creationId xmlns:a16="http://schemas.microsoft.com/office/drawing/2014/main" id="{4DCE24B9-80C4-40D0-A45D-5A7CEDBA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条件</a:t>
            </a:r>
          </a:p>
        </p:txBody>
      </p:sp>
      <p:sp>
        <p:nvSpPr>
          <p:cNvPr id="10" name="p09-e1">
            <a:extLst xmlns:a="http://schemas.openxmlformats.org/drawingml/2006/main">
              <a:ext uri="{FF2B5EF4-FFF2-40B4-BE49-F238E27FC236}">
                <a16:creationId xmlns:a16="http://schemas.microsoft.com/office/drawing/2014/main" id="{FC399E88-E427-4796-91C8-A33FC7D8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242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干预</a:t>
            </a:r>
          </a:p>
        </p:txBody>
      </p:sp>
      <p:sp>
        <p:nvSpPr>
          <p:cNvPr id="11" name="p09-e2">
            <a:extLst xmlns:a="http://schemas.openxmlformats.org/drawingml/2006/main">
              <a:ext uri="{FF2B5EF4-FFF2-40B4-BE49-F238E27FC236}">
                <a16:creationId xmlns:a16="http://schemas.microsoft.com/office/drawing/2014/main" id="{6C1B6C04-30FC-4EE4-AE8A-CDC9E529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242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12" name="p09-e3">
            <a:extLst xmlns:a="http://schemas.openxmlformats.org/drawingml/2006/main">
              <a:ext uri="{FF2B5EF4-FFF2-40B4-BE49-F238E27FC236}">
                <a16:creationId xmlns:a16="http://schemas.microsoft.com/office/drawing/2014/main" id="{0729020B-C770-4A46-9A8D-2382B094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242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对照</a:t>
            </a:r>
          </a:p>
        </p:txBody>
      </p:sp>
      <p:sp>
        <p:nvSpPr>
          <p:cNvPr id="13" name="p09-e4">
            <a:extLst xmlns:a="http://schemas.openxmlformats.org/drawingml/2006/main">
              <a:ext uri="{FF2B5EF4-FFF2-40B4-BE49-F238E27FC236}">
                <a16:creationId xmlns:a16="http://schemas.microsoft.com/office/drawing/2014/main" id="{31543A1B-02F1-45D6-891D-A6ACDBE5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242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推翻条件</a:t>
            </a:r>
          </a:p>
        </p:txBody>
      </p:sp>
      <p:sp>
        <p:nvSpPr>
          <p:cNvPr id="14" name="p09-bottom">
            <a:extLst xmlns:a="http://schemas.openxmlformats.org/drawingml/2006/main">
              <a:ext uri="{FF2B5EF4-FFF2-40B4-BE49-F238E27FC236}">
                <a16:creationId xmlns:a16="http://schemas.microsoft.com/office/drawing/2014/main" id="{F5041D7C-6C58-456E-A12E-D894EA29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6250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能指出什么观察会使主张不成立，才进入可检验状态。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竞争假设与区分实验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6" name="p10-h1-h">
            <a:extLst xmlns:a="http://schemas.openxmlformats.org/drawingml/2006/main">
              <a:ext uri="{FF2B5EF4-FFF2-40B4-BE49-F238E27FC236}">
                <a16:creationId xmlns:a16="http://schemas.microsoft.com/office/drawing/2014/main" id="{439EBD4E-1A47-406B-B7A3-2AF54CD1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43000"/>
            <a:ext cx="3333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H1｜结构机制</a:t>
            </a:r>
          </a:p>
        </p:txBody>
      </p:sp>
      <p:sp>
        <p:nvSpPr>
          <p:cNvPr id="7" name="p10-h1-d">
            <a:extLst xmlns:a="http://schemas.openxmlformats.org/drawingml/2006/main">
              <a:ext uri="{FF2B5EF4-FFF2-40B4-BE49-F238E27FC236}">
                <a16:creationId xmlns:a16="http://schemas.microsoft.com/office/drawing/2014/main" id="{672BDC23-F76B-43C4-BC59-1148CB08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81150"/>
            <a:ext cx="33337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阅读卡强制定位原文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→ 减少模型新增内容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→ 遗漏率下降</a:t>
            </a:r>
          </a:p>
        </p:txBody>
      </p:sp>
      <p:sp>
        <p:nvSpPr>
          <p:cNvPr id="8" name="p10-h2-h">
            <a:extLst xmlns:a="http://schemas.openxmlformats.org/drawingml/2006/main">
              <a:ext uri="{FF2B5EF4-FFF2-40B4-BE49-F238E27FC236}">
                <a16:creationId xmlns:a16="http://schemas.microsoft.com/office/drawing/2014/main" id="{5C706671-3FE7-40B8-AE3A-CDD10374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143000"/>
            <a:ext cx="3333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A86C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H2｜时间解释</a:t>
            </a:r>
          </a:p>
        </p:txBody>
      </p:sp>
      <p:sp>
        <p:nvSpPr>
          <p:cNvPr id="9" name="p10-h2-d">
            <a:extLst xmlns:a="http://schemas.openxmlformats.org/drawingml/2006/main">
              <a:ext uri="{FF2B5EF4-FFF2-40B4-BE49-F238E27FC236}">
                <a16:creationId xmlns:a16="http://schemas.microsoft.com/office/drawing/2014/main" id="{92BC376D-A63A-44D9-B128-20F234EA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81150"/>
            <a:ext cx="33337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AF0DD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阅读卡只是增加用时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→ 更多检查时间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→ 遗漏率下降</a:t>
            </a:r>
          </a:p>
        </p:txBody>
      </p:sp>
      <p:sp>
        <p:nvSpPr>
          <p:cNvPr id="10" name="p10-test-h">
            <a:extLst xmlns:a="http://schemas.openxmlformats.org/drawingml/2006/main">
              <a:ext uri="{FF2B5EF4-FFF2-40B4-BE49-F238E27FC236}">
                <a16:creationId xmlns:a16="http://schemas.microsoft.com/office/drawing/2014/main" id="{955FEA59-DE3D-463D-93AD-F7F39431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143000"/>
            <a:ext cx="3333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区分实验</a:t>
            </a:r>
          </a:p>
        </p:txBody>
      </p:sp>
      <p:sp>
        <p:nvSpPr>
          <p:cNvPr id="11" name="p10-test-d">
            <a:extLst xmlns:a="http://schemas.openxmlformats.org/drawingml/2006/main">
              <a:ext uri="{FF2B5EF4-FFF2-40B4-BE49-F238E27FC236}">
                <a16:creationId xmlns:a16="http://schemas.microsoft.com/office/drawing/2014/main" id="{D913FD28-83C8-4384-A655-3FD687B0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81150"/>
            <a:ext cx="33337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自由摘要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阅读卡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自由摘要 + 等量时间</a:t>
            </a:r>
          </a:p>
        </p:txBody>
      </p:sp>
      <p:sp>
        <p:nvSpPr>
          <p:cNvPr id="12" name="p10-a1">
            <a:extLst xmlns:a="http://schemas.openxmlformats.org/drawingml/2006/main">
              <a:ext uri="{FF2B5EF4-FFF2-40B4-BE49-F238E27FC236}">
                <a16:creationId xmlns:a16="http://schemas.microsoft.com/office/drawing/2014/main" id="{C4C8DE57-E03D-486B-8AA4-EBB74039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81375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54E"/>
                </a:solidFill>
              </a:defRPr>
            </a:pPr>
            <a:r>
              <a:rPr sz="13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进入比较</a:t>
            </a:r>
          </a:p>
        </p:txBody>
      </p:sp>
      <p:sp>
        <p:nvSpPr>
          <p:cNvPr id="13" name="p10-a2">
            <a:extLst xmlns:a="http://schemas.openxmlformats.org/drawingml/2006/main">
              <a:ext uri="{FF2B5EF4-FFF2-40B4-BE49-F238E27FC236}">
                <a16:creationId xmlns:a16="http://schemas.microsoft.com/office/drawing/2014/main" id="{CBBD2287-DF8D-48C5-8A19-AF69E1C6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381375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54E"/>
                </a:solidFill>
              </a:defRPr>
            </a:pPr>
            <a:r>
              <a:rPr sz="13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进入比较</a:t>
            </a:r>
          </a:p>
        </p:txBody>
      </p:sp>
      <p:sp>
        <p:nvSpPr>
          <p:cNvPr id="14" name="p10-result">
            <a:extLst xmlns:a="http://schemas.openxmlformats.org/drawingml/2006/main">
              <a:ext uri="{FF2B5EF4-FFF2-40B4-BE49-F238E27FC236}">
                <a16:creationId xmlns:a16="http://schemas.microsoft.com/office/drawing/2014/main" id="{B9B4DEE9-E797-49C8-B79C-BAA220D6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95750"/>
            <a:ext cx="7810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若只有阅读卡组下降，才更有力地排除“仅仅多花时间”的解释。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第一性原理不是脱离证据的捷径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6" name="p11-0-h">
            <a:extLst xmlns:a="http://schemas.openxmlformats.org/drawingml/2006/main">
              <a:ext uri="{FF2B5EF4-FFF2-40B4-BE49-F238E27FC236}">
                <a16:creationId xmlns:a16="http://schemas.microsoft.com/office/drawing/2014/main" id="{88E99D86-550A-4DB1-99CE-67126E65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5143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不替代检索</a:t>
            </a:r>
          </a:p>
        </p:txBody>
      </p:sp>
      <p:sp>
        <p:nvSpPr>
          <p:cNvPr id="7" name="p11-0-d">
            <a:extLst xmlns:a="http://schemas.openxmlformats.org/drawingml/2006/main">
              <a:ext uri="{FF2B5EF4-FFF2-40B4-BE49-F238E27FC236}">
                <a16:creationId xmlns:a16="http://schemas.microsoft.com/office/drawing/2014/main" id="{A7A4B2B6-940E-4444-8C28-D98D0B73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33525"/>
            <a:ext cx="5143500" cy="847725"/>
          </a:xfrm>
          <a:prstGeom xmlns:a="http://schemas.openxmlformats.org/drawingml/2006/main" prst="roundRect">
            <a:avLst>
              <a:gd name="adj" fmla="val 8989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待验证前提仍要回到文献与证据地图</a:t>
            </a:r>
          </a:p>
        </p:txBody>
      </p:sp>
      <p:sp>
        <p:nvSpPr>
          <p:cNvPr id="8" name="p11-1-h">
            <a:extLst xmlns:a="http://schemas.openxmlformats.org/drawingml/2006/main">
              <a:ext uri="{FF2B5EF4-FFF2-40B4-BE49-F238E27FC236}">
                <a16:creationId xmlns:a16="http://schemas.microsoft.com/office/drawing/2014/main" id="{BE2C7E3D-B10B-4552-8EF0-8FFC3042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095375"/>
            <a:ext cx="5143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不脱离既有工作</a:t>
            </a:r>
          </a:p>
        </p:txBody>
      </p:sp>
      <p:sp>
        <p:nvSpPr>
          <p:cNvPr id="9" name="p11-1-d">
            <a:extLst xmlns:a="http://schemas.openxmlformats.org/drawingml/2006/main">
              <a:ext uri="{FF2B5EF4-FFF2-40B4-BE49-F238E27FC236}">
                <a16:creationId xmlns:a16="http://schemas.microsoft.com/office/drawing/2014/main" id="{0862160D-F38A-4DA8-8026-6E1EF0EB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33525"/>
            <a:ext cx="5143500" cy="847725"/>
          </a:xfrm>
          <a:prstGeom xmlns:a="http://schemas.openxmlformats.org/drawingml/2006/main" prst="roundRect">
            <a:avLst>
              <a:gd name="adj" fmla="val 8989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从已核验材料与空白出发</a:t>
            </a:r>
          </a:p>
        </p:txBody>
      </p:sp>
      <p:sp>
        <p:nvSpPr>
          <p:cNvPr id="10" name="p11-2-h">
            <a:extLst xmlns:a="http://schemas.openxmlformats.org/drawingml/2006/main">
              <a:ext uri="{FF2B5EF4-FFF2-40B4-BE49-F238E27FC236}">
                <a16:creationId xmlns:a16="http://schemas.microsoft.com/office/drawing/2014/main" id="{00944415-A3C3-4007-B118-6E4F20DF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5143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不自动成立</a:t>
            </a:r>
          </a:p>
        </p:txBody>
      </p:sp>
      <p:sp>
        <p:nvSpPr>
          <p:cNvPr id="11" name="p11-2-d">
            <a:extLst xmlns:a="http://schemas.openxmlformats.org/drawingml/2006/main">
              <a:ext uri="{FF2B5EF4-FFF2-40B4-BE49-F238E27FC236}">
                <a16:creationId xmlns:a16="http://schemas.microsoft.com/office/drawing/2014/main" id="{D0590C0B-5C10-41ED-97D2-0D287BA2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5143500" cy="847725"/>
          </a:xfrm>
          <a:prstGeom xmlns:a="http://schemas.openxmlformats.org/drawingml/2006/main" prst="roundRect">
            <a:avLst>
              <a:gd name="adj" fmla="val 8989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推导不是证明，必须接受外部检验</a:t>
            </a:r>
          </a:p>
        </p:txBody>
      </p:sp>
      <p:sp>
        <p:nvSpPr>
          <p:cNvPr id="12" name="p11-3-h">
            <a:extLst xmlns:a="http://schemas.openxmlformats.org/drawingml/2006/main">
              <a:ext uri="{FF2B5EF4-FFF2-40B4-BE49-F238E27FC236}">
                <a16:creationId xmlns:a16="http://schemas.microsoft.com/office/drawing/2014/main" id="{2AEC39F6-F6F2-4C20-BC11-B2CA55AA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62250"/>
            <a:ext cx="5143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不追求穷举</a:t>
            </a:r>
          </a:p>
        </p:txBody>
      </p:sp>
      <p:sp>
        <p:nvSpPr>
          <p:cNvPr id="13" name="p11-3-d">
            <a:extLst xmlns:a="http://schemas.openxmlformats.org/drawingml/2006/main">
              <a:ext uri="{FF2B5EF4-FFF2-40B4-BE49-F238E27FC236}">
                <a16:creationId xmlns:a16="http://schemas.microsoft.com/office/drawing/2014/main" id="{E391268F-F8A6-4375-9128-FFB5E2E6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00400"/>
            <a:ext cx="5143500" cy="847725"/>
          </a:xfrm>
          <a:prstGeom xmlns:a="http://schemas.openxmlformats.org/drawingml/2006/main" prst="roundRect">
            <a:avLst>
              <a:gd name="adj" fmla="val 8989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只推导当前关键机制与约束</a:t>
            </a:r>
          </a:p>
        </p:txBody>
      </p:sp>
      <p:sp>
        <p:nvSpPr>
          <p:cNvPr id="14" name="p11-loop">
            <a:extLst xmlns:a="http://schemas.openxmlformats.org/drawingml/2006/main">
              <a:ext uri="{FF2B5EF4-FFF2-40B4-BE49-F238E27FC236}">
                <a16:creationId xmlns:a16="http://schemas.microsoft.com/office/drawing/2014/main" id="{78524559-8FAF-437D-B971-09041C97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10125"/>
            <a:ext cx="942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证据地图  →  基本约束 / 机制  →  待验证前提  →  外部证据检验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第一性原理四步推导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6" name="p12-n0">
            <a:extLst xmlns:a="http://schemas.openxmlformats.org/drawingml/2006/main">
              <a:ext uri="{FF2B5EF4-FFF2-40B4-BE49-F238E27FC236}">
                <a16:creationId xmlns:a16="http://schemas.microsoft.com/office/drawing/2014/main" id="{54BF52D4-168B-471F-94FF-1C963280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p12-h0">
            <a:extLst xmlns:a="http://schemas.openxmlformats.org/drawingml/2006/main">
              <a:ext uri="{FF2B5EF4-FFF2-40B4-BE49-F238E27FC236}">
                <a16:creationId xmlns:a16="http://schemas.microsoft.com/office/drawing/2014/main" id="{984F422A-6DCF-493A-9AA1-570AA39E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028700"/>
            <a:ext cx="2381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基本约束</a:t>
            </a:r>
          </a:p>
        </p:txBody>
      </p:sp>
      <p:sp>
        <p:nvSpPr>
          <p:cNvPr id="8" name="p12-d0">
            <a:extLst xmlns:a="http://schemas.openxmlformats.org/drawingml/2006/main">
              <a:ext uri="{FF2B5EF4-FFF2-40B4-BE49-F238E27FC236}">
                <a16:creationId xmlns:a16="http://schemas.microsoft.com/office/drawing/2014/main" id="{65BA271A-0D1E-4F7A-9574-C9CEB66A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028700"/>
            <a:ext cx="7048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主张成立必须满足什么？</a:t>
            </a:r>
          </a:p>
        </p:txBody>
      </p:sp>
      <p:sp>
        <p:nvSpPr>
          <p:cNvPr id="9" name="p12-n1">
            <a:extLst xmlns:a="http://schemas.openxmlformats.org/drawingml/2006/main">
              <a:ext uri="{FF2B5EF4-FFF2-40B4-BE49-F238E27FC236}">
                <a16:creationId xmlns:a16="http://schemas.microsoft.com/office/drawing/2014/main" id="{2688F41B-EFFA-46E2-BE3B-80A78646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F638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p12-h1">
            <a:extLst xmlns:a="http://schemas.openxmlformats.org/drawingml/2006/main">
              <a:ext uri="{FF2B5EF4-FFF2-40B4-BE49-F238E27FC236}">
                <a16:creationId xmlns:a16="http://schemas.microsoft.com/office/drawing/2014/main" id="{FBDE25B2-D277-46BE-BEFB-3A511D61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57400"/>
            <a:ext cx="2381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38A"/>
                </a:solidFill>
              </a:defRPr>
            </a:pPr>
            <a:r>
              <a:rPr sz="1650" b="1">
                <a:solidFill>
                  <a:srgbClr val="2F638A"/>
                </a:solidFill>
                <a:latin typeface="Microsoft YaHei"/>
                <a:ea typeface="Microsoft YaHei"/>
                <a:cs typeface="Microsoft YaHei"/>
              </a:rPr>
              <a:t>作用机制</a:t>
            </a:r>
          </a:p>
        </p:txBody>
      </p:sp>
      <p:sp>
        <p:nvSpPr>
          <p:cNvPr id="11" name="p12-d1">
            <a:extLst xmlns:a="http://schemas.openxmlformats.org/drawingml/2006/main">
              <a:ext uri="{FF2B5EF4-FFF2-40B4-BE49-F238E27FC236}">
                <a16:creationId xmlns:a16="http://schemas.microsoft.com/office/drawing/2014/main" id="{E950B33C-3AEB-40BD-B897-AB909AF5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57400"/>
            <a:ext cx="7048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干预通过什么中间过程起作用？</a:t>
            </a:r>
          </a:p>
        </p:txBody>
      </p:sp>
      <p:sp>
        <p:nvSpPr>
          <p:cNvPr id="12" name="p12-n2">
            <a:extLst xmlns:a="http://schemas.openxmlformats.org/drawingml/2006/main">
              <a:ext uri="{FF2B5EF4-FFF2-40B4-BE49-F238E27FC236}">
                <a16:creationId xmlns:a16="http://schemas.microsoft.com/office/drawing/2014/main" id="{FD7BF6BF-F6B6-4699-A439-3EBCE080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242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A86C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3" name="p12-h2">
            <a:extLst xmlns:a="http://schemas.openxmlformats.org/drawingml/2006/main">
              <a:ext uri="{FF2B5EF4-FFF2-40B4-BE49-F238E27FC236}">
                <a16:creationId xmlns:a16="http://schemas.microsoft.com/office/drawing/2014/main" id="{0F017285-CBE1-46D8-BF36-800FCA99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86100"/>
            <a:ext cx="2381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86C12"/>
                </a:solidFill>
              </a:defRPr>
            </a:pPr>
            <a:r>
              <a:rPr sz="1650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不可违背条件</a:t>
            </a:r>
          </a:p>
        </p:txBody>
      </p:sp>
      <p:sp>
        <p:nvSpPr>
          <p:cNvPr id="14" name="p12-d2">
            <a:extLst xmlns:a="http://schemas.openxmlformats.org/drawingml/2006/main">
              <a:ext uri="{FF2B5EF4-FFF2-40B4-BE49-F238E27FC236}">
                <a16:creationId xmlns:a16="http://schemas.microsoft.com/office/drawing/2014/main" id="{4BF4D2D4-2538-4FD3-A491-5BCD4D63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86100"/>
            <a:ext cx="7048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怎样比较才公平、可复现？</a:t>
            </a:r>
          </a:p>
        </p:txBody>
      </p:sp>
      <p:sp>
        <p:nvSpPr>
          <p:cNvPr id="15" name="p12-n3">
            <a:extLst xmlns:a="http://schemas.openxmlformats.org/drawingml/2006/main">
              <a:ext uri="{FF2B5EF4-FFF2-40B4-BE49-F238E27FC236}">
                <a16:creationId xmlns:a16="http://schemas.microsoft.com/office/drawing/2014/main" id="{F6246A17-B74A-45A7-8CF7-4FF186DF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529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6" name="p12-h3">
            <a:extLst xmlns:a="http://schemas.openxmlformats.org/drawingml/2006/main">
              <a:ext uri="{FF2B5EF4-FFF2-40B4-BE49-F238E27FC236}">
                <a16:creationId xmlns:a16="http://schemas.microsoft.com/office/drawing/2014/main" id="{41832BAC-274A-4507-81A9-2DD7A402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14800"/>
            <a:ext cx="2381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待验证前提</a:t>
            </a:r>
          </a:p>
        </p:txBody>
      </p:sp>
      <p:sp>
        <p:nvSpPr>
          <p:cNvPr id="17" name="p12-d3">
            <a:extLst xmlns:a="http://schemas.openxmlformats.org/drawingml/2006/main">
              <a:ext uri="{FF2B5EF4-FFF2-40B4-BE49-F238E27FC236}">
                <a16:creationId xmlns:a16="http://schemas.microsoft.com/office/drawing/2014/main" id="{02AFD06C-1F62-44BA-B8E4-02001580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14800"/>
            <a:ext cx="7048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从前三步推出什么可检验陈述？</a:t>
            </a:r>
          </a:p>
        </p:txBody>
      </p:sp>
      <p:sp>
        <p:nvSpPr>
          <p:cNvPr id="18" name="p12-bottom">
            <a:extLst xmlns:a="http://schemas.openxmlformats.org/drawingml/2006/main">
              <a:ext uri="{FF2B5EF4-FFF2-40B4-BE49-F238E27FC236}">
                <a16:creationId xmlns:a16="http://schemas.microsoft.com/office/drawing/2014/main" id="{1C311409-F543-431B-B67F-6C2046E4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197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每一步都标注依据：任务约束、已核验证据或待检验假设。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推导示范：从约束到待验证前提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sp>
        <p:nvSpPr>
          <p:cNvPr id="6" name="p13-virtual">
            <a:extLst xmlns:a="http://schemas.openxmlformats.org/drawingml/2006/main">
              <a:ext uri="{FF2B5EF4-FFF2-40B4-BE49-F238E27FC236}">
                <a16:creationId xmlns:a16="http://schemas.microsoft.com/office/drawing/2014/main" id="{4611EC1C-ED7D-478B-9612-4EFFE1D7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76300"/>
            <a:ext cx="7429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虚构教学样例｜非真实论文、检索或实证证据</a:t>
            </a:r>
          </a:p>
        </p:txBody>
      </p:sp>
      <p:sp>
        <p:nvSpPr>
          <p:cNvPr id="7" name="p13-0-h">
            <a:extLst xmlns:a="http://schemas.openxmlformats.org/drawingml/2006/main">
              <a:ext uri="{FF2B5EF4-FFF2-40B4-BE49-F238E27FC236}">
                <a16:creationId xmlns:a16="http://schemas.microsoft.com/office/drawing/2014/main" id="{B6803275-BA38-40F3-AB50-DFD1B652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2667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基本约束</a:t>
            </a:r>
          </a:p>
        </p:txBody>
      </p:sp>
      <p:sp>
        <p:nvSpPr>
          <p:cNvPr id="8" name="p13-0-d">
            <a:extLst xmlns:a="http://schemas.openxmlformats.org/drawingml/2006/main">
              <a:ext uri="{FF2B5EF4-FFF2-40B4-BE49-F238E27FC236}">
                <a16:creationId xmlns:a16="http://schemas.microsoft.com/office/drawing/2014/main" id="{BB3EDB83-A1E6-40DE-9544-393957ED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62150"/>
            <a:ext cx="266700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主张可定位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来源含支持内容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核验者可区分新增</a:t>
            </a:r>
          </a:p>
        </p:txBody>
      </p:sp>
      <p:sp>
        <p:nvSpPr>
          <p:cNvPr id="9" name="p13-1-h">
            <a:extLst xmlns:a="http://schemas.openxmlformats.org/drawingml/2006/main">
              <a:ext uri="{FF2B5EF4-FFF2-40B4-BE49-F238E27FC236}">
                <a16:creationId xmlns:a16="http://schemas.microsoft.com/office/drawing/2014/main" id="{B38E4962-071F-4A95-9113-084F5DAB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24000"/>
            <a:ext cx="2667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F638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作用机制</a:t>
            </a:r>
          </a:p>
        </p:txBody>
      </p:sp>
      <p:sp>
        <p:nvSpPr>
          <p:cNvPr id="10" name="p13-1-d">
            <a:extLst xmlns:a="http://schemas.openxmlformats.org/drawingml/2006/main">
              <a:ext uri="{FF2B5EF4-FFF2-40B4-BE49-F238E27FC236}">
                <a16:creationId xmlns:a16="http://schemas.microsoft.com/office/drawing/2014/main" id="{3A4110B9-8A75-4401-AB4D-2FA64791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62150"/>
            <a:ext cx="266700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分栏记录任务 / 设置 / 结果 / 局限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使主张绑定来源</a:t>
            </a:r>
          </a:p>
        </p:txBody>
      </p:sp>
      <p:sp>
        <p:nvSpPr>
          <p:cNvPr id="11" name="p13-2-h">
            <a:extLst xmlns:a="http://schemas.openxmlformats.org/drawingml/2006/main">
              <a:ext uri="{FF2B5EF4-FFF2-40B4-BE49-F238E27FC236}">
                <a16:creationId xmlns:a16="http://schemas.microsoft.com/office/drawing/2014/main" id="{DD5CA11F-7A66-4A91-AD97-8A05B15B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24000"/>
            <a:ext cx="2667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A86C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不可违背</a:t>
            </a:r>
          </a:p>
        </p:txBody>
      </p:sp>
      <p:sp>
        <p:nvSpPr>
          <p:cNvPr id="12" name="p13-2-d">
            <a:extLst xmlns:a="http://schemas.openxmlformats.org/drawingml/2006/main">
              <a:ext uri="{FF2B5EF4-FFF2-40B4-BE49-F238E27FC236}">
                <a16:creationId xmlns:a16="http://schemas.microsoft.com/office/drawing/2014/main" id="{B020A3A8-7530-4085-ADC9-05AC8155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62150"/>
            <a:ext cx="266700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FAF0DD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同论文、同模型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固定 rubric、盲评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遗漏有定义</a:t>
            </a:r>
          </a:p>
        </p:txBody>
      </p:sp>
      <p:sp>
        <p:nvSpPr>
          <p:cNvPr id="13" name="p13-3-h">
            <a:extLst xmlns:a="http://schemas.openxmlformats.org/drawingml/2006/main">
              <a:ext uri="{FF2B5EF4-FFF2-40B4-BE49-F238E27FC236}">
                <a16:creationId xmlns:a16="http://schemas.microsoft.com/office/drawing/2014/main" id="{4AD168A9-07DF-4EDE-B7BF-783BA00B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24000"/>
            <a:ext cx="2667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待验证前提</a:t>
            </a:r>
          </a:p>
        </p:txBody>
      </p:sp>
      <p:sp>
        <p:nvSpPr>
          <p:cNvPr id="14" name="p13-3-d">
            <a:extLst xmlns:a="http://schemas.openxmlformats.org/drawingml/2006/main">
              <a:ext uri="{FF2B5EF4-FFF2-40B4-BE49-F238E27FC236}">
                <a16:creationId xmlns:a16="http://schemas.microsoft.com/office/drawing/2014/main" id="{2FF27A56-13C1-40BA-9894-4D04D409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62150"/>
            <a:ext cx="266700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若定位原文且标准固定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则遗漏率可测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差异可归因</a:t>
            </a:r>
          </a:p>
        </p:txBody>
      </p:sp>
      <p:sp>
        <p:nvSpPr>
          <p:cNvPr id="15" name="p13-a0">
            <a:extLst xmlns:a="http://schemas.openxmlformats.org/drawingml/2006/main">
              <a:ext uri="{FF2B5EF4-FFF2-40B4-BE49-F238E27FC236}">
                <a16:creationId xmlns:a16="http://schemas.microsoft.com/office/drawing/2014/main" id="{E77C3D55-3238-4AA3-A518-A200A58F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193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667684"/>
                </a:solidFill>
              </a:defRPr>
            </a:pPr>
            <a:r>
              <a:rPr sz="2175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p13-a1">
            <a:extLst xmlns:a="http://schemas.openxmlformats.org/drawingml/2006/main">
              <a:ext uri="{FF2B5EF4-FFF2-40B4-BE49-F238E27FC236}">
                <a16:creationId xmlns:a16="http://schemas.microsoft.com/office/drawing/2014/main" id="{3311877F-360C-47DB-859A-5C62B75A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6193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667684"/>
                </a:solidFill>
              </a:defRPr>
            </a:pPr>
            <a:r>
              <a:rPr sz="2175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p13-a2">
            <a:extLst xmlns:a="http://schemas.openxmlformats.org/drawingml/2006/main">
              <a:ext uri="{FF2B5EF4-FFF2-40B4-BE49-F238E27FC236}">
                <a16:creationId xmlns:a16="http://schemas.microsoft.com/office/drawing/2014/main" id="{2E23F510-2C06-4258-9AE9-5B88A881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193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667684"/>
                </a:solidFill>
              </a:defRPr>
            </a:pPr>
            <a:r>
              <a:rPr sz="2175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p13-bottom">
            <a:extLst xmlns:a="http://schemas.openxmlformats.org/drawingml/2006/main">
              <a:ext uri="{FF2B5EF4-FFF2-40B4-BE49-F238E27FC236}">
                <a16:creationId xmlns:a16="http://schemas.microsoft.com/office/drawing/2014/main" id="{E6C21C21-EBE7-4D27-86DE-8F6E8189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输出是待验证前提，不是实证结论；第 7 课再转成机制假设。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问题门八项条件自查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  <a:endParaRPr/>
          </a:p>
        </p:txBody>
      </p:sp>
      <p:sp>
        <p:nvSpPr>
          <p:cNvPr id="6" name="p14-n0">
            <a:extLst xmlns:a="http://schemas.openxmlformats.org/drawingml/2006/main">
              <a:ext uri="{FF2B5EF4-FFF2-40B4-BE49-F238E27FC236}">
                <a16:creationId xmlns:a16="http://schemas.microsoft.com/office/drawing/2014/main" id="{22B04D9D-0F48-401F-BF30-21AF253D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477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p14-g0">
            <a:extLst xmlns:a="http://schemas.openxmlformats.org/drawingml/2006/main">
              <a:ext uri="{FF2B5EF4-FFF2-40B4-BE49-F238E27FC236}">
                <a16:creationId xmlns:a16="http://schemas.microsoft.com/office/drawing/2014/main" id="{9FB38B42-2AEE-4399-B5CD-D8460F0C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981075"/>
            <a:ext cx="50958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≥10 篇候选文献 + 证据角色</a:t>
            </a:r>
          </a:p>
        </p:txBody>
      </p:sp>
      <p:sp>
        <p:nvSpPr>
          <p:cNvPr id="8" name="p14-n1">
            <a:extLst xmlns:a="http://schemas.openxmlformats.org/drawingml/2006/main">
              <a:ext uri="{FF2B5EF4-FFF2-40B4-BE49-F238E27FC236}">
                <a16:creationId xmlns:a16="http://schemas.microsoft.com/office/drawing/2014/main" id="{9024143F-5B23-48E9-9674-B711D421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0477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p14-g1">
            <a:extLst xmlns:a="http://schemas.openxmlformats.org/drawingml/2006/main">
              <a:ext uri="{FF2B5EF4-FFF2-40B4-BE49-F238E27FC236}">
                <a16:creationId xmlns:a16="http://schemas.microsoft.com/office/drawing/2014/main" id="{B7003572-4195-437F-8D50-5A543FFA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981075"/>
            <a:ext cx="50958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≥3 张核心材料完整精读卡</a:t>
            </a:r>
          </a:p>
        </p:txBody>
      </p:sp>
      <p:sp>
        <p:nvSpPr>
          <p:cNvPr id="10" name="p14-n2">
            <a:extLst xmlns:a="http://schemas.openxmlformats.org/drawingml/2006/main">
              <a:ext uri="{FF2B5EF4-FFF2-40B4-BE49-F238E27FC236}">
                <a16:creationId xmlns:a16="http://schemas.microsoft.com/office/drawing/2014/main" id="{29894BF4-9465-41EF-9EB0-14F82A8B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526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1" name="p14-g2">
            <a:extLst xmlns:a="http://schemas.openxmlformats.org/drawingml/2006/main">
              <a:ext uri="{FF2B5EF4-FFF2-40B4-BE49-F238E27FC236}">
                <a16:creationId xmlns:a16="http://schemas.microsoft.com/office/drawing/2014/main" id="{FF50FC95-C628-4A84-9636-9A66F830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085975"/>
            <a:ext cx="50958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263746"/>
                </a:solidFill>
              </a:defRPr>
            </a:pPr>
            <a:r>
              <a:rPr sz="12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AI 初始地图 + ≥2 原文位置 + 错误/过度概括/遗漏或已检查风险 + 人工判断</a:t>
            </a:r>
          </a:p>
        </p:txBody>
      </p:sp>
      <p:sp>
        <p:nvSpPr>
          <p:cNvPr id="12" name="p14-n3">
            <a:extLst xmlns:a="http://schemas.openxmlformats.org/drawingml/2006/main">
              <a:ext uri="{FF2B5EF4-FFF2-40B4-BE49-F238E27FC236}">
                <a16:creationId xmlns:a16="http://schemas.microsoft.com/office/drawing/2014/main" id="{456A4B90-5958-4C83-A978-C273E627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526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3" name="p14-g3">
            <a:extLst xmlns:a="http://schemas.openxmlformats.org/drawingml/2006/main">
              <a:ext uri="{FF2B5EF4-FFF2-40B4-BE49-F238E27FC236}">
                <a16:creationId xmlns:a16="http://schemas.microsoft.com/office/drawing/2014/main" id="{AC016DAA-2643-491D-9BC8-80F778EE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085975"/>
            <a:ext cx="50958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证据地图：直接 / 补充 / 冲突 / 空白</a:t>
            </a:r>
          </a:p>
        </p:txBody>
      </p:sp>
      <p:sp>
        <p:nvSpPr>
          <p:cNvPr id="14" name="p14-n4">
            <a:extLst xmlns:a="http://schemas.openxmlformats.org/drawingml/2006/main">
              <a:ext uri="{FF2B5EF4-FFF2-40B4-BE49-F238E27FC236}">
                <a16:creationId xmlns:a16="http://schemas.microsoft.com/office/drawing/2014/main" id="{8C94BE4E-58F5-4363-83F6-943D45F4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575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5" name="p14-g4">
            <a:extLst xmlns:a="http://schemas.openxmlformats.org/drawingml/2006/main">
              <a:ext uri="{FF2B5EF4-FFF2-40B4-BE49-F238E27FC236}">
                <a16:creationId xmlns:a16="http://schemas.microsoft.com/office/drawing/2014/main" id="{B4EE748A-6DB2-40D9-8A92-D22D9B4E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190875"/>
            <a:ext cx="50958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问题含范围、非例、≥1 可证伪命题</a:t>
            </a:r>
          </a:p>
        </p:txBody>
      </p:sp>
      <p:sp>
        <p:nvSpPr>
          <p:cNvPr id="16" name="p14-n5">
            <a:extLst xmlns:a="http://schemas.openxmlformats.org/drawingml/2006/main">
              <a:ext uri="{FF2B5EF4-FFF2-40B4-BE49-F238E27FC236}">
                <a16:creationId xmlns:a16="http://schemas.microsoft.com/office/drawing/2014/main" id="{B0A7AE17-C79C-4FB1-831D-852E68D9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575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7" name="p14-g5">
            <a:extLst xmlns:a="http://schemas.openxmlformats.org/drawingml/2006/main">
              <a:ext uri="{FF2B5EF4-FFF2-40B4-BE49-F238E27FC236}">
                <a16:creationId xmlns:a16="http://schemas.microsoft.com/office/drawing/2014/main" id="{1A458401-F4A1-4728-84D7-956535F5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190875"/>
            <a:ext cx="50958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第一性原理：必要条件 / 关键约束 / 可检验前提</a:t>
            </a:r>
          </a:p>
        </p:txBody>
      </p:sp>
      <p:sp>
        <p:nvSpPr>
          <p:cNvPr id="18" name="p14-n6">
            <a:extLst xmlns:a="http://schemas.openxmlformats.org/drawingml/2006/main">
              <a:ext uri="{FF2B5EF4-FFF2-40B4-BE49-F238E27FC236}">
                <a16:creationId xmlns:a16="http://schemas.microsoft.com/office/drawing/2014/main" id="{C7A2082C-4BCE-4145-8BF2-80E4319A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624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19" name="p14-g6">
            <a:extLst xmlns:a="http://schemas.openxmlformats.org/drawingml/2006/main">
              <a:ext uri="{FF2B5EF4-FFF2-40B4-BE49-F238E27FC236}">
                <a16:creationId xmlns:a16="http://schemas.microsoft.com/office/drawing/2014/main" id="{A903378D-4EE8-4063-A7FC-AEB17EF7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295775"/>
            <a:ext cx="50958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重要性 + 课程周期可行性</a:t>
            </a:r>
          </a:p>
        </p:txBody>
      </p:sp>
      <p:sp>
        <p:nvSpPr>
          <p:cNvPr id="20" name="p14-n7">
            <a:extLst xmlns:a="http://schemas.openxmlformats.org/drawingml/2006/main">
              <a:ext uri="{FF2B5EF4-FFF2-40B4-BE49-F238E27FC236}">
                <a16:creationId xmlns:a16="http://schemas.microsoft.com/office/drawing/2014/main" id="{4FACE0BD-C123-4985-BDD4-6942226A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624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21" name="p14-g7">
            <a:extLst xmlns:a="http://schemas.openxmlformats.org/drawingml/2006/main">
              <a:ext uri="{FF2B5EF4-FFF2-40B4-BE49-F238E27FC236}">
                <a16:creationId xmlns:a16="http://schemas.microsoft.com/office/drawing/2014/main" id="{164AFC81-3870-4711-B704-B1DE9B59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295775"/>
            <a:ext cx="50958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AI 检索 / 阅读 / 改写：来源与人工核验方式</a:t>
            </a:r>
          </a:p>
        </p:txBody>
      </p:sp>
      <p:sp>
        <p:nvSpPr>
          <p:cNvPr id="22" name="p14-bottom">
            <a:extLst xmlns:a="http://schemas.openxmlformats.org/drawingml/2006/main">
              <a:ext uri="{FF2B5EF4-FFF2-40B4-BE49-F238E27FC236}">
                <a16:creationId xmlns:a16="http://schemas.microsoft.com/office/drawing/2014/main" id="{CBD30F10-E147-4429-B062-BA7C5934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00675"/>
            <a:ext cx="942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第 1-5 课工件持续累计；本课重点补第 5-7 项，并继续回写第 8 项。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门条件自查：累计工件与当前缺口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  <a:endParaRPr/>
          </a:p>
        </p:txBody>
      </p:sp>
      <p:sp>
        <p:nvSpPr>
          <p:cNvPr id="6" name="p15-virtual">
            <a:extLst xmlns:a="http://schemas.openxmlformats.org/drawingml/2006/main">
              <a:ext uri="{FF2B5EF4-FFF2-40B4-BE49-F238E27FC236}">
                <a16:creationId xmlns:a16="http://schemas.microsoft.com/office/drawing/2014/main" id="{058FDC36-A2DD-4DAC-BA5D-463E0E4C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76300"/>
            <a:ext cx="7429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虚构教学样例｜门条件状态仅演示核对方法</a:t>
            </a:r>
          </a:p>
        </p:txBody>
      </p:sp>
      <p:sp>
        <p:nvSpPr>
          <p:cNvPr id="7" name="p15-h0">
            <a:extLst xmlns:a="http://schemas.openxmlformats.org/drawingml/2006/main">
              <a:ext uri="{FF2B5EF4-FFF2-40B4-BE49-F238E27FC236}">
                <a16:creationId xmlns:a16="http://schemas.microsoft.com/office/drawing/2014/main" id="{E094CC0A-BB15-42C1-972B-C3213EDC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条件</a:t>
            </a:r>
          </a:p>
        </p:txBody>
      </p:sp>
      <p:sp>
        <p:nvSpPr>
          <p:cNvPr id="8" name="p15-h1">
            <a:extLst xmlns:a="http://schemas.openxmlformats.org/drawingml/2006/main">
              <a:ext uri="{FF2B5EF4-FFF2-40B4-BE49-F238E27FC236}">
                <a16:creationId xmlns:a16="http://schemas.microsoft.com/office/drawing/2014/main" id="{6E2565C9-7631-4B2B-9179-9DCAAE78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42875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累计来源</a:t>
            </a:r>
          </a:p>
        </p:txBody>
      </p:sp>
      <p:sp>
        <p:nvSpPr>
          <p:cNvPr id="9" name="p15-h2">
            <a:extLst xmlns:a="http://schemas.openxmlformats.org/drawingml/2006/main">
              <a:ext uri="{FF2B5EF4-FFF2-40B4-BE49-F238E27FC236}">
                <a16:creationId xmlns:a16="http://schemas.microsoft.com/office/drawing/2014/main" id="{0E450186-5D0C-4E1E-A138-46283BCF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2875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当下要核对</a:t>
            </a:r>
          </a:p>
        </p:txBody>
      </p:sp>
      <p:sp>
        <p:nvSpPr>
          <p:cNvPr id="10" name="p15-r0-0">
            <a:extLst xmlns:a="http://schemas.openxmlformats.org/drawingml/2006/main">
              <a:ext uri="{FF2B5EF4-FFF2-40B4-BE49-F238E27FC236}">
                <a16:creationId xmlns:a16="http://schemas.microsoft.com/office/drawing/2014/main" id="{79D4979C-9915-42E8-9AE1-CC40E0F9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≥10 候选</a:t>
            </a:r>
          </a:p>
        </p:txBody>
      </p:sp>
      <p:sp>
        <p:nvSpPr>
          <p:cNvPr id="11" name="p15-r0-1">
            <a:extLst xmlns:a="http://schemas.openxmlformats.org/drawingml/2006/main">
              <a:ext uri="{FF2B5EF4-FFF2-40B4-BE49-F238E27FC236}">
                <a16:creationId xmlns:a16="http://schemas.microsoft.com/office/drawing/2014/main" id="{323D1894-42EA-4454-A090-EDCF8445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28800"/>
            <a:ext cx="3619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第 3-5 课累计</a:t>
            </a:r>
          </a:p>
        </p:txBody>
      </p:sp>
      <p:sp>
        <p:nvSpPr>
          <p:cNvPr id="12" name="p15-r0-2">
            <a:extLst xmlns:a="http://schemas.openxmlformats.org/drawingml/2006/main">
              <a:ext uri="{FF2B5EF4-FFF2-40B4-BE49-F238E27FC236}">
                <a16:creationId xmlns:a16="http://schemas.microsoft.com/office/drawing/2014/main" id="{6CDCA543-F3B1-4A9C-8AFC-293BD736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2880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数量 / 角色 / 状态</a:t>
            </a:r>
          </a:p>
        </p:txBody>
      </p:sp>
      <p:sp>
        <p:nvSpPr>
          <p:cNvPr id="13" name="p15-r1-0">
            <a:extLst xmlns:a="http://schemas.openxmlformats.org/drawingml/2006/main">
              <a:ext uri="{FF2B5EF4-FFF2-40B4-BE49-F238E27FC236}">
                <a16:creationId xmlns:a16="http://schemas.microsoft.com/office/drawing/2014/main" id="{7642CEC9-F0CA-4357-8222-35AD59DD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≥3 精读卡</a:t>
            </a:r>
          </a:p>
        </p:txBody>
      </p:sp>
      <p:sp>
        <p:nvSpPr>
          <p:cNvPr id="14" name="p15-r1-1">
            <a:extLst xmlns:a="http://schemas.openxmlformats.org/drawingml/2006/main">
              <a:ext uri="{FF2B5EF4-FFF2-40B4-BE49-F238E27FC236}">
                <a16:creationId xmlns:a16="http://schemas.microsoft.com/office/drawing/2014/main" id="{AF8A7F5A-B369-4A80-9E30-04CC3DC1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19350"/>
            <a:ext cx="3619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第 4-5 课累计</a:t>
            </a:r>
          </a:p>
        </p:txBody>
      </p:sp>
      <p:sp>
        <p:nvSpPr>
          <p:cNvPr id="15" name="p15-r1-2">
            <a:extLst xmlns:a="http://schemas.openxmlformats.org/drawingml/2006/main">
              <a:ext uri="{FF2B5EF4-FFF2-40B4-BE49-F238E27FC236}">
                <a16:creationId xmlns:a16="http://schemas.microsoft.com/office/drawing/2014/main" id="{68DB1285-C769-48F4-B80D-29E887DE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1935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完整字段 / 原文位置</a:t>
            </a:r>
          </a:p>
        </p:txBody>
      </p:sp>
      <p:sp>
        <p:nvSpPr>
          <p:cNvPr id="16" name="p15-r2-0">
            <a:extLst xmlns:a="http://schemas.openxmlformats.org/drawingml/2006/main">
              <a:ext uri="{FF2B5EF4-FFF2-40B4-BE49-F238E27FC236}">
                <a16:creationId xmlns:a16="http://schemas.microsoft.com/office/drawing/2014/main" id="{77E07465-B133-4D0B-ACFC-B75F7755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AI 精读字段</a:t>
            </a:r>
          </a:p>
        </p:txBody>
      </p:sp>
      <p:sp>
        <p:nvSpPr>
          <p:cNvPr id="17" name="p15-r2-1">
            <a:extLst xmlns:a="http://schemas.openxmlformats.org/drawingml/2006/main">
              <a:ext uri="{FF2B5EF4-FFF2-40B4-BE49-F238E27FC236}">
                <a16:creationId xmlns:a16="http://schemas.microsoft.com/office/drawing/2014/main" id="{C1C3AD4B-0FE0-444A-9DFC-A8D2E8D7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09900"/>
            <a:ext cx="3619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逐卡累计</a:t>
            </a:r>
          </a:p>
        </p:txBody>
      </p:sp>
      <p:sp>
        <p:nvSpPr>
          <p:cNvPr id="18" name="p15-r2-2">
            <a:extLst xmlns:a="http://schemas.openxmlformats.org/drawingml/2006/main">
              <a:ext uri="{FF2B5EF4-FFF2-40B4-BE49-F238E27FC236}">
                <a16:creationId xmlns:a16="http://schemas.microsoft.com/office/drawing/2014/main" id="{6356D719-3058-4023-B796-4DDA9EAF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0990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偏差或已检查风险</a:t>
            </a:r>
          </a:p>
        </p:txBody>
      </p:sp>
      <p:sp>
        <p:nvSpPr>
          <p:cNvPr id="19" name="p15-r3-0">
            <a:extLst xmlns:a="http://schemas.openxmlformats.org/drawingml/2006/main">
              <a:ext uri="{FF2B5EF4-FFF2-40B4-BE49-F238E27FC236}">
                <a16:creationId xmlns:a16="http://schemas.microsoft.com/office/drawing/2014/main" id="{A6AAC1AF-3289-4948-B6B6-572314CE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证据地图</a:t>
            </a:r>
          </a:p>
        </p:txBody>
      </p:sp>
      <p:sp>
        <p:nvSpPr>
          <p:cNvPr id="20" name="p15-r3-1">
            <a:extLst xmlns:a="http://schemas.openxmlformats.org/drawingml/2006/main">
              <a:ext uri="{FF2B5EF4-FFF2-40B4-BE49-F238E27FC236}">
                <a16:creationId xmlns:a16="http://schemas.microsoft.com/office/drawing/2014/main" id="{7D135A67-C966-476E-BC13-9A581EB3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00450"/>
            <a:ext cx="3619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第 5 课初版</a:t>
            </a:r>
          </a:p>
        </p:txBody>
      </p:sp>
      <p:sp>
        <p:nvSpPr>
          <p:cNvPr id="21" name="p15-r3-2">
            <a:extLst xmlns:a="http://schemas.openxmlformats.org/drawingml/2006/main">
              <a:ext uri="{FF2B5EF4-FFF2-40B4-BE49-F238E27FC236}">
                <a16:creationId xmlns:a16="http://schemas.microsoft.com/office/drawing/2014/main" id="{50A15DA3-71C3-4307-AB2A-A15C34FC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0045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直接 / 补充 / 冲突 / 空白</a:t>
            </a:r>
          </a:p>
        </p:txBody>
      </p:sp>
      <p:sp>
        <p:nvSpPr>
          <p:cNvPr id="22" name="p15-now0">
            <a:extLst xmlns:a="http://schemas.openxmlformats.org/drawingml/2006/main">
              <a:ext uri="{FF2B5EF4-FFF2-40B4-BE49-F238E27FC236}">
                <a16:creationId xmlns:a16="http://schemas.microsoft.com/office/drawing/2014/main" id="{ED7F15A7-0D12-41B6-B657-C904A34E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571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5  问题 + 非例 + 命题</a:t>
            </a:r>
          </a:p>
        </p:txBody>
      </p:sp>
      <p:sp>
        <p:nvSpPr>
          <p:cNvPr id="23" name="p15-now1">
            <a:extLst xmlns:a="http://schemas.openxmlformats.org/drawingml/2006/main">
              <a:ext uri="{FF2B5EF4-FFF2-40B4-BE49-F238E27FC236}">
                <a16:creationId xmlns:a16="http://schemas.microsoft.com/office/drawing/2014/main" id="{E3FB080C-F740-4EA8-AEA1-8DD74800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76750"/>
            <a:ext cx="2571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6  第一性原理推导</a:t>
            </a:r>
          </a:p>
        </p:txBody>
      </p:sp>
      <p:sp>
        <p:nvSpPr>
          <p:cNvPr id="24" name="p15-now2">
            <a:extLst xmlns:a="http://schemas.openxmlformats.org/drawingml/2006/main">
              <a:ext uri="{FF2B5EF4-FFF2-40B4-BE49-F238E27FC236}">
                <a16:creationId xmlns:a16="http://schemas.microsoft.com/office/drawing/2014/main" id="{870CBCFF-9661-4C29-BDE8-56125387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2571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7  重要性 + 周期</a:t>
            </a:r>
          </a:p>
        </p:txBody>
      </p:sp>
      <p:sp>
        <p:nvSpPr>
          <p:cNvPr id="25" name="p15-now3">
            <a:extLst xmlns:a="http://schemas.openxmlformats.org/drawingml/2006/main">
              <a:ext uri="{FF2B5EF4-FFF2-40B4-BE49-F238E27FC236}">
                <a16:creationId xmlns:a16="http://schemas.microsoft.com/office/drawing/2014/main" id="{FEFF92BB-7BF7-4531-8E3F-18D55C1F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76750"/>
            <a:ext cx="2571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54E"/>
                </a:solidFill>
              </a:defRPr>
            </a:pPr>
            <a:r>
              <a:rPr sz="13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8  AI 记录持续回写</a:t>
            </a:r>
          </a:p>
        </p:txBody>
      </p:sp>
      <p:sp>
        <p:nvSpPr>
          <p:cNvPr id="26" name="p15-bottom">
            <a:extLst xmlns:a="http://schemas.openxmlformats.org/drawingml/2006/main">
              <a:ext uri="{FF2B5EF4-FFF2-40B4-BE49-F238E27FC236}">
                <a16:creationId xmlns:a16="http://schemas.microsoft.com/office/drawing/2014/main" id="{806FC076-20EA-496E-BD45-076EC408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257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自查是诚实标记已满足 / 待补全 / 未满足，不是把样例写成“全部完成”。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个人实践：问题重写到门条件自查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9C7607-4BA3-B4DC-A00F-2E67A9FCFF7E}" type="slidenum">
              <a:t>16</a:t>
            </a:fld>
            <a:endParaRPr/>
          </a:p>
        </p:txBody>
      </p:sp>
      <p:sp>
        <p:nvSpPr>
          <p:cNvPr id="6" name="p16-n0">
            <a:extLst xmlns:a="http://schemas.openxmlformats.org/drawingml/2006/main">
              <a:ext uri="{FF2B5EF4-FFF2-40B4-BE49-F238E27FC236}">
                <a16:creationId xmlns:a16="http://schemas.microsoft.com/office/drawing/2014/main" id="{D558472B-9A99-4527-96CF-463E57E0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192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p16-t0">
            <a:extLst xmlns:a="http://schemas.openxmlformats.org/drawingml/2006/main">
              <a:ext uri="{FF2B5EF4-FFF2-40B4-BE49-F238E27FC236}">
                <a16:creationId xmlns:a16="http://schemas.microsoft.com/office/drawing/2014/main" id="{00B6434C-E692-4FBD-9251-D54AC5EA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143000"/>
            <a:ext cx="27146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补五要素</a:t>
            </a:r>
          </a:p>
        </p:txBody>
      </p:sp>
      <p:sp>
        <p:nvSpPr>
          <p:cNvPr id="8" name="p16-n1">
            <a:extLst xmlns:a="http://schemas.openxmlformats.org/drawingml/2006/main">
              <a:ext uri="{FF2B5EF4-FFF2-40B4-BE49-F238E27FC236}">
                <a16:creationId xmlns:a16="http://schemas.microsoft.com/office/drawing/2014/main" id="{D34BBBF2-3909-4640-BCA6-D7C2227F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2192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p16-t1">
            <a:extLst xmlns:a="http://schemas.openxmlformats.org/drawingml/2006/main">
              <a:ext uri="{FF2B5EF4-FFF2-40B4-BE49-F238E27FC236}">
                <a16:creationId xmlns:a16="http://schemas.microsoft.com/office/drawing/2014/main" id="{590859A4-9E2D-4DFD-9C84-A1141727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143000"/>
            <a:ext cx="27146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写一个非例</a:t>
            </a:r>
          </a:p>
        </p:txBody>
      </p:sp>
      <p:sp>
        <p:nvSpPr>
          <p:cNvPr id="10" name="p16-n2">
            <a:extLst xmlns:a="http://schemas.openxmlformats.org/drawingml/2006/main">
              <a:ext uri="{FF2B5EF4-FFF2-40B4-BE49-F238E27FC236}">
                <a16:creationId xmlns:a16="http://schemas.microsoft.com/office/drawing/2014/main" id="{D034D805-4DEE-4200-99FC-5A3AD647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2192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1" name="p16-t2">
            <a:extLst xmlns:a="http://schemas.openxmlformats.org/drawingml/2006/main">
              <a:ext uri="{FF2B5EF4-FFF2-40B4-BE49-F238E27FC236}">
                <a16:creationId xmlns:a16="http://schemas.microsoft.com/office/drawing/2014/main" id="{916AFCC8-B775-437D-8FD6-4358D58B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143000"/>
            <a:ext cx="27146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写推翻条件</a:t>
            </a:r>
          </a:p>
        </p:txBody>
      </p:sp>
      <p:sp>
        <p:nvSpPr>
          <p:cNvPr id="12" name="p16-n3">
            <a:extLst xmlns:a="http://schemas.openxmlformats.org/drawingml/2006/main">
              <a:ext uri="{FF2B5EF4-FFF2-40B4-BE49-F238E27FC236}">
                <a16:creationId xmlns:a16="http://schemas.microsoft.com/office/drawing/2014/main" id="{FC56DDCF-9C6E-45F5-8606-0B50AD75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00325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3" name="p16-t3">
            <a:extLst xmlns:a="http://schemas.openxmlformats.org/drawingml/2006/main">
              <a:ext uri="{FF2B5EF4-FFF2-40B4-BE49-F238E27FC236}">
                <a16:creationId xmlns:a16="http://schemas.microsoft.com/office/drawing/2014/main" id="{5930A964-2E50-4248-A74F-9E018E46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524125"/>
            <a:ext cx="27146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完成四步推导</a:t>
            </a:r>
          </a:p>
        </p:txBody>
      </p:sp>
      <p:sp>
        <p:nvSpPr>
          <p:cNvPr id="14" name="p16-n4">
            <a:extLst xmlns:a="http://schemas.openxmlformats.org/drawingml/2006/main">
              <a:ext uri="{FF2B5EF4-FFF2-40B4-BE49-F238E27FC236}">
                <a16:creationId xmlns:a16="http://schemas.microsoft.com/office/drawing/2014/main" id="{707A1E99-925B-4D89-9831-47956FDD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00325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5" name="p16-t4">
            <a:extLst xmlns:a="http://schemas.openxmlformats.org/drawingml/2006/main">
              <a:ext uri="{FF2B5EF4-FFF2-40B4-BE49-F238E27FC236}">
                <a16:creationId xmlns:a16="http://schemas.microsoft.com/office/drawing/2014/main" id="{0A2B5EED-378C-4288-8667-72E297DF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524125"/>
            <a:ext cx="27146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写 So what / Who cares</a:t>
            </a:r>
          </a:p>
        </p:txBody>
      </p:sp>
      <p:sp>
        <p:nvSpPr>
          <p:cNvPr id="16" name="p16-n5">
            <a:extLst xmlns:a="http://schemas.openxmlformats.org/drawingml/2006/main">
              <a:ext uri="{FF2B5EF4-FFF2-40B4-BE49-F238E27FC236}">
                <a16:creationId xmlns:a16="http://schemas.microsoft.com/office/drawing/2014/main" id="{445037FC-9676-415D-A854-4E618F12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00325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7" name="p16-t5">
            <a:extLst xmlns:a="http://schemas.openxmlformats.org/drawingml/2006/main">
              <a:ext uri="{FF2B5EF4-FFF2-40B4-BE49-F238E27FC236}">
                <a16:creationId xmlns:a16="http://schemas.microsoft.com/office/drawing/2014/main" id="{3561D6D5-384F-445A-93C6-57E8BB67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524125"/>
            <a:ext cx="27146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标八项状态</a:t>
            </a:r>
          </a:p>
        </p:txBody>
      </p:sp>
      <p:sp>
        <p:nvSpPr>
          <p:cNvPr id="18" name="p16-order">
            <a:extLst xmlns:a="http://schemas.openxmlformats.org/drawingml/2006/main">
              <a:ext uri="{FF2B5EF4-FFF2-40B4-BE49-F238E27FC236}">
                <a16:creationId xmlns:a16="http://schemas.microsoft.com/office/drawing/2014/main" id="{E0E30128-4EA0-49BB-BB2A-48D8592D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43375"/>
            <a:ext cx="9715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本人真实问题  →  导师组公开问题  →  课程虚构样例（须改换问题表述）</a:t>
            </a:r>
          </a:p>
        </p:txBody>
      </p:sp>
      <p:sp>
        <p:nvSpPr>
          <p:cNvPr id="19" name="p16-write">
            <a:extLst xmlns:a="http://schemas.openxmlformats.org/drawingml/2006/main">
              <a:ext uri="{FF2B5EF4-FFF2-40B4-BE49-F238E27FC236}">
                <a16:creationId xmlns:a16="http://schemas.microsoft.com/office/drawing/2014/main" id="{EB923752-0C33-4BDA-9DC2-1628C9D7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048250"/>
            <a:ext cx="828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写入：problem-definition.md　｜　40:00 开始，P17 停留到 60:00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实践停留页：问题定义与推导最小闭环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0F7333B-44AC-F7E9-D49D-FE92F45E0477}" type="slidenum">
              <a:t>17</a:t>
            </a:fld>
            <a:endParaRPr/>
          </a:p>
        </p:txBody>
      </p:sp>
      <p:sp>
        <p:nvSpPr>
          <p:cNvPr id="6" name="p17-time">
            <a:extLst xmlns:a="http://schemas.openxmlformats.org/drawingml/2006/main">
              <a:ext uri="{FF2B5EF4-FFF2-40B4-BE49-F238E27FC236}">
                <a16:creationId xmlns:a16="http://schemas.microsoft.com/office/drawing/2014/main" id="{D27161BE-9B88-40FA-B4A5-45C481D8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87630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43:00—60:00｜17 分钟持续实践</a:t>
            </a:r>
          </a:p>
        </p:txBody>
      </p:sp>
      <p:sp>
        <p:nvSpPr>
          <p:cNvPr id="7" name="p17-0-h">
            <a:extLst xmlns:a="http://schemas.openxmlformats.org/drawingml/2006/main">
              <a:ext uri="{FF2B5EF4-FFF2-40B4-BE49-F238E27FC236}">
                <a16:creationId xmlns:a16="http://schemas.microsoft.com/office/drawing/2014/main" id="{9D16CD0C-4916-420F-B691-E1343ACF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5238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 问题 + 非例</a:t>
            </a:r>
          </a:p>
        </p:txBody>
      </p:sp>
      <p:sp>
        <p:nvSpPr>
          <p:cNvPr id="8" name="p17-0-d">
            <a:extLst xmlns:a="http://schemas.openxmlformats.org/drawingml/2006/main">
              <a:ext uri="{FF2B5EF4-FFF2-40B4-BE49-F238E27FC236}">
                <a16:creationId xmlns:a16="http://schemas.microsoft.com/office/drawing/2014/main" id="{A548DEED-BB2D-49C1-93B6-FB661095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14525"/>
            <a:ext cx="5238750" cy="942975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条件 / 对象 / 干预 / 结果 / 比较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一个明确非例</a:t>
            </a:r>
          </a:p>
        </p:txBody>
      </p:sp>
      <p:sp>
        <p:nvSpPr>
          <p:cNvPr id="9" name="p17-1-h">
            <a:extLst xmlns:a="http://schemas.openxmlformats.org/drawingml/2006/main">
              <a:ext uri="{FF2B5EF4-FFF2-40B4-BE49-F238E27FC236}">
                <a16:creationId xmlns:a16="http://schemas.microsoft.com/office/drawing/2014/main" id="{3DF8F387-CD2B-4284-B5A5-13737D44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76375"/>
            <a:ext cx="5238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 可证伪命题</a:t>
            </a:r>
          </a:p>
        </p:txBody>
      </p:sp>
      <p:sp>
        <p:nvSpPr>
          <p:cNvPr id="10" name="p17-1-d">
            <a:extLst xmlns:a="http://schemas.openxmlformats.org/drawingml/2006/main">
              <a:ext uri="{FF2B5EF4-FFF2-40B4-BE49-F238E27FC236}">
                <a16:creationId xmlns:a16="http://schemas.microsoft.com/office/drawing/2014/main" id="{0B0D1FF3-51F8-4CEA-8F02-C94B7918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14525"/>
            <a:ext cx="5238750" cy="942975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五要素 + 一条推翻条件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写出替代解释</a:t>
            </a:r>
          </a:p>
        </p:txBody>
      </p:sp>
      <p:sp>
        <p:nvSpPr>
          <p:cNvPr id="11" name="p17-2-h">
            <a:extLst xmlns:a="http://schemas.openxmlformats.org/drawingml/2006/main">
              <a:ext uri="{FF2B5EF4-FFF2-40B4-BE49-F238E27FC236}">
                <a16:creationId xmlns:a16="http://schemas.microsoft.com/office/drawing/2014/main" id="{7B12C853-63FD-460E-8E4B-198146C6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90875"/>
            <a:ext cx="5238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A86C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 第一性原理</a:t>
            </a:r>
          </a:p>
        </p:txBody>
      </p:sp>
      <p:sp>
        <p:nvSpPr>
          <p:cNvPr id="12" name="p17-2-d">
            <a:extLst xmlns:a="http://schemas.openxmlformats.org/drawingml/2006/main">
              <a:ext uri="{FF2B5EF4-FFF2-40B4-BE49-F238E27FC236}">
                <a16:creationId xmlns:a16="http://schemas.microsoft.com/office/drawing/2014/main" id="{B4C7351A-8D11-4C3E-A1C9-1A1F9552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29025"/>
            <a:ext cx="5238750" cy="942975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FAF0DD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基本约束 / 作用机制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不可违背条件 / 待验证前提</a:t>
            </a:r>
          </a:p>
        </p:txBody>
      </p:sp>
      <p:sp>
        <p:nvSpPr>
          <p:cNvPr id="13" name="p17-3-h">
            <a:extLst xmlns:a="http://schemas.openxmlformats.org/drawingml/2006/main">
              <a:ext uri="{FF2B5EF4-FFF2-40B4-BE49-F238E27FC236}">
                <a16:creationId xmlns:a16="http://schemas.microsoft.com/office/drawing/2014/main" id="{FC1B349D-B815-44DC-A634-8F1731E3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90875"/>
            <a:ext cx="5238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④ 重要性 + 门状态</a:t>
            </a:r>
          </a:p>
        </p:txBody>
      </p:sp>
      <p:sp>
        <p:nvSpPr>
          <p:cNvPr id="14" name="p17-3-d">
            <a:extLst xmlns:a="http://schemas.openxmlformats.org/drawingml/2006/main">
              <a:ext uri="{FF2B5EF4-FFF2-40B4-BE49-F238E27FC236}">
                <a16:creationId xmlns:a16="http://schemas.microsoft.com/office/drawing/2014/main" id="{FA065273-7F19-457F-A8CF-01E5E8D8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29025"/>
            <a:ext cx="5238750" cy="942975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So what? / Who cares? / 周期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八项：满足 / 待补 / 未满足</a:t>
            </a:r>
          </a:p>
        </p:txBody>
      </p:sp>
      <p:sp>
        <p:nvSpPr>
          <p:cNvPr id="15" name="p17-save">
            <a:extLst xmlns:a="http://schemas.openxmlformats.org/drawingml/2006/main">
              <a:ext uri="{FF2B5EF4-FFF2-40B4-BE49-F238E27FC236}">
                <a16:creationId xmlns:a16="http://schemas.microsoft.com/office/drawing/2014/main" id="{3E51A063-2F5E-4A69-8B2D-066AA094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95875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保存到 problem-definition.md　｜　故障时用纸面或 Markdown 模板完成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同伴互查：只提问题，由作者决定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C6C81E-38B9-7560-621D-5A151A79DF9B}" type="slidenum">
              <a:t>18</a:t>
            </a:fld>
            <a:endParaRPr/>
          </a:p>
        </p:txBody>
      </p:sp>
      <p:sp>
        <p:nvSpPr>
          <p:cNvPr id="6" name="p18-n0">
            <a:extLst xmlns:a="http://schemas.openxmlformats.org/drawingml/2006/main">
              <a:ext uri="{FF2B5EF4-FFF2-40B4-BE49-F238E27FC236}">
                <a16:creationId xmlns:a16="http://schemas.microsoft.com/office/drawing/2014/main" id="{CB2EFA26-D294-4385-AC5D-CB34E895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p18-q0">
            <a:extLst xmlns:a="http://schemas.openxmlformats.org/drawingml/2006/main">
              <a:ext uri="{FF2B5EF4-FFF2-40B4-BE49-F238E27FC236}">
                <a16:creationId xmlns:a16="http://schemas.microsoft.com/office/drawing/2014/main" id="{992A64F8-A532-450A-9CCE-FD018130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009650"/>
            <a:ext cx="685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这是问题还是主题？</a:t>
            </a:r>
          </a:p>
        </p:txBody>
      </p:sp>
      <p:sp>
        <p:nvSpPr>
          <p:cNvPr id="8" name="p18-n1">
            <a:extLst xmlns:a="http://schemas.openxmlformats.org/drawingml/2006/main">
              <a:ext uri="{FF2B5EF4-FFF2-40B4-BE49-F238E27FC236}">
                <a16:creationId xmlns:a16="http://schemas.microsoft.com/office/drawing/2014/main" id="{700F2836-CACF-4E4C-80F8-E66ACE3E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p18-q1">
            <a:extLst xmlns:a="http://schemas.openxmlformats.org/drawingml/2006/main">
              <a:ext uri="{FF2B5EF4-FFF2-40B4-BE49-F238E27FC236}">
                <a16:creationId xmlns:a16="http://schemas.microsoft.com/office/drawing/2014/main" id="{D22A9608-AE09-4626-BFF0-BF5BC94A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790700"/>
            <a:ext cx="685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非例能排除什么？</a:t>
            </a:r>
          </a:p>
        </p:txBody>
      </p:sp>
      <p:sp>
        <p:nvSpPr>
          <p:cNvPr id="10" name="p18-n2">
            <a:extLst xmlns:a="http://schemas.openxmlformats.org/drawingml/2006/main">
              <a:ext uri="{FF2B5EF4-FFF2-40B4-BE49-F238E27FC236}">
                <a16:creationId xmlns:a16="http://schemas.microsoft.com/office/drawing/2014/main" id="{F1F11A42-D410-48CA-9F57-DF7BBF99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1" name="p18-q2">
            <a:extLst xmlns:a="http://schemas.openxmlformats.org/drawingml/2006/main">
              <a:ext uri="{FF2B5EF4-FFF2-40B4-BE49-F238E27FC236}">
                <a16:creationId xmlns:a16="http://schemas.microsoft.com/office/drawing/2014/main" id="{4A78D450-06EB-4FAA-9645-B72BB464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71750"/>
            <a:ext cx="685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什么观察会推翻命题？</a:t>
            </a:r>
          </a:p>
        </p:txBody>
      </p:sp>
      <p:sp>
        <p:nvSpPr>
          <p:cNvPr id="12" name="p18-n3">
            <a:extLst xmlns:a="http://schemas.openxmlformats.org/drawingml/2006/main">
              <a:ext uri="{FF2B5EF4-FFF2-40B4-BE49-F238E27FC236}">
                <a16:creationId xmlns:a16="http://schemas.microsoft.com/office/drawing/2014/main" id="{A958DD7B-FF9A-4E4D-9A58-CC4708A6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3" name="p18-q3">
            <a:extLst xmlns:a="http://schemas.openxmlformats.org/drawingml/2006/main">
              <a:ext uri="{FF2B5EF4-FFF2-40B4-BE49-F238E27FC236}">
                <a16:creationId xmlns:a16="http://schemas.microsoft.com/office/drawing/2014/main" id="{43932A7B-AB22-4AAC-8A7E-C2BFDB9F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352800"/>
            <a:ext cx="685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推导哪一步回到证据地图？</a:t>
            </a:r>
          </a:p>
        </p:txBody>
      </p:sp>
      <p:sp>
        <p:nvSpPr>
          <p:cNvPr id="14" name="p18-n4">
            <a:extLst xmlns:a="http://schemas.openxmlformats.org/drawingml/2006/main">
              <a:ext uri="{FF2B5EF4-FFF2-40B4-BE49-F238E27FC236}">
                <a16:creationId xmlns:a16="http://schemas.microsoft.com/office/drawing/2014/main" id="{FBE028B1-AB20-43BE-9879-05CB9274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5" name="p18-q4">
            <a:extLst xmlns:a="http://schemas.openxmlformats.org/drawingml/2006/main">
              <a:ext uri="{FF2B5EF4-FFF2-40B4-BE49-F238E27FC236}">
                <a16:creationId xmlns:a16="http://schemas.microsoft.com/office/drawing/2014/main" id="{8B65D668-14C7-445E-85EF-E5EBB302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133850"/>
            <a:ext cx="685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八项中最可能缺哪项？</a:t>
            </a:r>
          </a:p>
        </p:txBody>
      </p:sp>
      <p:sp>
        <p:nvSpPr>
          <p:cNvPr id="16" name="p18-author">
            <a:extLst xmlns:a="http://schemas.openxmlformats.org/drawingml/2006/main">
              <a:ext uri="{FF2B5EF4-FFF2-40B4-BE49-F238E27FC236}">
                <a16:creationId xmlns:a16="http://schemas.microsoft.com/office/drawing/2014/main" id="{3A22EA35-EB3E-4FB5-8693-B32951C9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0668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作者记录</a:t>
            </a:r>
          </a:p>
        </p:txBody>
      </p:sp>
      <p:sp>
        <p:nvSpPr>
          <p:cNvPr id="17" name="p18-s0">
            <a:extLst xmlns:a="http://schemas.openxmlformats.org/drawingml/2006/main">
              <a:ext uri="{FF2B5EF4-FFF2-40B4-BE49-F238E27FC236}">
                <a16:creationId xmlns:a16="http://schemas.microsoft.com/office/drawing/2014/main" id="{D476BBFA-22F1-4F43-A862-F1FD1094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52625"/>
            <a:ext cx="1809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745A"/>
                </a:solidFill>
              </a:defRPr>
            </a:pPr>
            <a:r>
              <a:rPr sz="150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采纳</a:t>
            </a:r>
          </a:p>
        </p:txBody>
      </p:sp>
      <p:sp>
        <p:nvSpPr>
          <p:cNvPr id="18" name="p18-s1">
            <a:extLst xmlns:a="http://schemas.openxmlformats.org/drawingml/2006/main">
              <a:ext uri="{FF2B5EF4-FFF2-40B4-BE49-F238E27FC236}">
                <a16:creationId xmlns:a16="http://schemas.microsoft.com/office/drawing/2014/main" id="{7D567709-7246-4C4B-A8BA-D5AA03DF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05125"/>
            <a:ext cx="1809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86C12"/>
                </a:solidFill>
              </a:defRPr>
            </a:pPr>
            <a:r>
              <a:rPr sz="1500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暂不采纳</a:t>
            </a:r>
          </a:p>
        </p:txBody>
      </p:sp>
      <p:sp>
        <p:nvSpPr>
          <p:cNvPr id="19" name="p18-s2">
            <a:extLst xmlns:a="http://schemas.openxmlformats.org/drawingml/2006/main">
              <a:ext uri="{FF2B5EF4-FFF2-40B4-BE49-F238E27FC236}">
                <a16:creationId xmlns:a16="http://schemas.microsoft.com/office/drawing/2014/main" id="{6BD7C8BD-161C-4088-8C88-C37B9F07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57625"/>
            <a:ext cx="1809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待核验</a:t>
            </a:r>
          </a:p>
        </p:txBody>
      </p:sp>
      <p:sp>
        <p:nvSpPr>
          <p:cNvPr id="20" name="p18-bottom">
            <a:extLst xmlns:a="http://schemas.openxmlformats.org/drawingml/2006/main">
              <a:ext uri="{FF2B5EF4-FFF2-40B4-BE49-F238E27FC236}">
                <a16:creationId xmlns:a16="http://schemas.microsoft.com/office/drawing/2014/main" id="{883EC5AE-11D6-4CB0-9B3C-073B88FE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91125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同伴只提问题；作者保留最终决定，不形成共同提交。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问题门提交与失败回退路径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F91274-D221-1BB4-3BF9-836E3AD31EBE}" type="slidenum">
              <a:t>19</a:t>
            </a:fld>
            <a:endParaRPr/>
          </a:p>
        </p:txBody>
      </p:sp>
      <p:sp>
        <p:nvSpPr>
          <p:cNvPr id="6" name="p19-submit">
            <a:extLst xmlns:a="http://schemas.openxmlformats.org/drawingml/2006/main">
              <a:ext uri="{FF2B5EF4-FFF2-40B4-BE49-F238E27FC236}">
                <a16:creationId xmlns:a16="http://schemas.microsoft.com/office/drawing/2014/main" id="{F1CF85E1-9CE5-4AB2-B0BA-EF970CC2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一次提交</a:t>
            </a:r>
          </a:p>
        </p:txBody>
      </p:sp>
      <p:sp>
        <p:nvSpPr>
          <p:cNvPr id="7" name="p19-how">
            <a:extLst xmlns:a="http://schemas.openxmlformats.org/drawingml/2006/main">
              <a:ext uri="{FF2B5EF4-FFF2-40B4-BE49-F238E27FC236}">
                <a16:creationId xmlns:a16="http://schemas.microsoft.com/office/drawing/2014/main" id="{A06A8F90-FA08-47BC-8A80-F344BE68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000125"/>
            <a:ext cx="3238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当前个人项目版本</a:t>
            </a:r>
          </a:p>
          <a:p xmlns:a="http://schemas.openxmlformats.org/drawingml/2006/main">
            <a:pPr algn="ctr"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链接 / tag / 压缩包</a:t>
            </a:r>
          </a:p>
        </p:txBody>
      </p:sp>
      <p:sp>
        <p:nvSpPr>
          <p:cNvPr id="8" name="p19-no">
            <a:extLst xmlns:a="http://schemas.openxmlformats.org/drawingml/2006/main">
              <a:ext uri="{FF2B5EF4-FFF2-40B4-BE49-F238E27FC236}">
                <a16:creationId xmlns:a16="http://schemas.microsoft.com/office/drawing/2014/main" id="{21706F83-4C06-4A0A-8E10-8513C3E6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095375"/>
            <a:ext cx="476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不重复制作与项目分离的汇报文档</a:t>
            </a:r>
          </a:p>
        </p:txBody>
      </p:sp>
      <p:sp>
        <p:nvSpPr>
          <p:cNvPr id="9" name="p19-h0">
            <a:extLst xmlns:a="http://schemas.openxmlformats.org/drawingml/2006/main">
              <a:ext uri="{FF2B5EF4-FFF2-40B4-BE49-F238E27FC236}">
                <a16:creationId xmlns:a16="http://schemas.microsoft.com/office/drawing/2014/main" id="{1531BC32-CED7-4AA8-8915-35D1AFED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238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缺直接证据</a:t>
            </a:r>
          </a:p>
        </p:txBody>
      </p:sp>
      <p:sp>
        <p:nvSpPr>
          <p:cNvPr id="10" name="p19-a0">
            <a:extLst xmlns:a="http://schemas.openxmlformats.org/drawingml/2006/main">
              <a:ext uri="{FF2B5EF4-FFF2-40B4-BE49-F238E27FC236}">
                <a16:creationId xmlns:a16="http://schemas.microsoft.com/office/drawing/2014/main" id="{1BBA7874-1D7E-4997-BC56-FEC386DE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30505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667684"/>
                </a:solidFill>
              </a:defRPr>
            </a:pPr>
            <a:r>
              <a:rPr sz="2175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p19-d0">
            <a:extLst xmlns:a="http://schemas.openxmlformats.org/drawingml/2006/main">
              <a:ext uri="{FF2B5EF4-FFF2-40B4-BE49-F238E27FC236}">
                <a16:creationId xmlns:a16="http://schemas.microsoft.com/office/drawing/2014/main" id="{A3F47867-1C07-483B-BD67-647A0E74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38375"/>
            <a:ext cx="6667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回第 3-4 课：检索 / 精读</a:t>
            </a:r>
          </a:p>
        </p:txBody>
      </p:sp>
      <p:sp>
        <p:nvSpPr>
          <p:cNvPr id="12" name="p19-h1">
            <a:extLst xmlns:a="http://schemas.openxmlformats.org/drawingml/2006/main">
              <a:ext uri="{FF2B5EF4-FFF2-40B4-BE49-F238E27FC236}">
                <a16:creationId xmlns:a16="http://schemas.microsoft.com/office/drawing/2014/main" id="{92ED5FB6-116C-42D2-80F1-B887BEF9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24175"/>
            <a:ext cx="238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问题过大</a:t>
            </a:r>
          </a:p>
        </p:txBody>
      </p:sp>
      <p:sp>
        <p:nvSpPr>
          <p:cNvPr id="13" name="p19-a1">
            <a:extLst xmlns:a="http://schemas.openxmlformats.org/drawingml/2006/main">
              <a:ext uri="{FF2B5EF4-FFF2-40B4-BE49-F238E27FC236}">
                <a16:creationId xmlns:a16="http://schemas.microsoft.com/office/drawing/2014/main" id="{9900ED55-B839-418C-BD48-6C3B53E0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99085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667684"/>
                </a:solidFill>
              </a:defRPr>
            </a:pPr>
            <a:r>
              <a:rPr sz="2175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p19-d1">
            <a:extLst xmlns:a="http://schemas.openxmlformats.org/drawingml/2006/main">
              <a:ext uri="{FF2B5EF4-FFF2-40B4-BE49-F238E27FC236}">
                <a16:creationId xmlns:a16="http://schemas.microsoft.com/office/drawing/2014/main" id="{A9DC0CC5-17A7-43E2-8727-96F8B2D5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24175"/>
            <a:ext cx="6667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回本课：问题重写 / 非例</a:t>
            </a:r>
          </a:p>
        </p:txBody>
      </p:sp>
      <p:sp>
        <p:nvSpPr>
          <p:cNvPr id="15" name="p19-h2">
            <a:extLst xmlns:a="http://schemas.openxmlformats.org/drawingml/2006/main">
              <a:ext uri="{FF2B5EF4-FFF2-40B4-BE49-F238E27FC236}">
                <a16:creationId xmlns:a16="http://schemas.microsoft.com/office/drawing/2014/main" id="{134717AD-B76A-4DA7-8A50-725BEB46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09975"/>
            <a:ext cx="238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命题不可证伪</a:t>
            </a:r>
          </a:p>
        </p:txBody>
      </p:sp>
      <p:sp>
        <p:nvSpPr>
          <p:cNvPr id="16" name="p19-a2">
            <a:extLst xmlns:a="http://schemas.openxmlformats.org/drawingml/2006/main">
              <a:ext uri="{FF2B5EF4-FFF2-40B4-BE49-F238E27FC236}">
                <a16:creationId xmlns:a16="http://schemas.microsoft.com/office/drawing/2014/main" id="{923E5D71-BB91-426B-A278-50F2BF2E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67665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667684"/>
                </a:solidFill>
              </a:defRPr>
            </a:pPr>
            <a:r>
              <a:rPr sz="2175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p19-d2">
            <a:extLst xmlns:a="http://schemas.openxmlformats.org/drawingml/2006/main">
              <a:ext uri="{FF2B5EF4-FFF2-40B4-BE49-F238E27FC236}">
                <a16:creationId xmlns:a16="http://schemas.microsoft.com/office/drawing/2014/main" id="{D3BFA344-B795-4707-93A1-2982A8F2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09975"/>
            <a:ext cx="6667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补对照 / 指标 / 推翻条件</a:t>
            </a:r>
          </a:p>
        </p:txBody>
      </p:sp>
      <p:sp>
        <p:nvSpPr>
          <p:cNvPr id="18" name="p19-h3">
            <a:extLst xmlns:a="http://schemas.openxmlformats.org/drawingml/2006/main">
              <a:ext uri="{FF2B5EF4-FFF2-40B4-BE49-F238E27FC236}">
                <a16:creationId xmlns:a16="http://schemas.microsoft.com/office/drawing/2014/main" id="{12DF69CA-DB2B-488C-9FEA-9594BC13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95775"/>
            <a:ext cx="238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推导脱离文献</a:t>
            </a:r>
          </a:p>
        </p:txBody>
      </p:sp>
      <p:sp>
        <p:nvSpPr>
          <p:cNvPr id="19" name="p19-a3">
            <a:extLst xmlns:a="http://schemas.openxmlformats.org/drawingml/2006/main">
              <a:ext uri="{FF2B5EF4-FFF2-40B4-BE49-F238E27FC236}">
                <a16:creationId xmlns:a16="http://schemas.microsoft.com/office/drawing/2014/main" id="{A8725151-C394-4F84-AFCF-5D499D4B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36245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667684"/>
                </a:solidFill>
              </a:defRPr>
            </a:pPr>
            <a:r>
              <a:rPr sz="2175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p19-d3">
            <a:extLst xmlns:a="http://schemas.openxmlformats.org/drawingml/2006/main">
              <a:ext uri="{FF2B5EF4-FFF2-40B4-BE49-F238E27FC236}">
                <a16:creationId xmlns:a16="http://schemas.microsoft.com/office/drawing/2014/main" id="{F749C41B-EFCC-4604-9946-0A1DE576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95775"/>
            <a:ext cx="6667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回第 5 课证据地图</a:t>
            </a:r>
          </a:p>
        </p:txBody>
      </p:sp>
      <p:sp>
        <p:nvSpPr>
          <p:cNvPr id="21" name="p19-bottom">
            <a:extLst xmlns:a="http://schemas.openxmlformats.org/drawingml/2006/main">
              <a:ext uri="{FF2B5EF4-FFF2-40B4-BE49-F238E27FC236}">
                <a16:creationId xmlns:a16="http://schemas.microsoft.com/office/drawing/2014/main" id="{446606E8-5597-4222-AE62-B1CFE182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2387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未通过：只修复缺失条件，一周内重新检查；不重交无关材料。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退出卡与第 7 课预告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4E025A-983C-6D44-79C6-4612AACD43FC}" type="slidenum">
              <a:t>20</a:t>
            </a:fld>
            <a:endParaRPr/>
          </a:p>
        </p:txBody>
      </p:sp>
      <p:sp>
        <p:nvSpPr>
          <p:cNvPr id="6" name="p20-f0">
            <a:extLst xmlns:a="http://schemas.openxmlformats.org/drawingml/2006/main">
              <a:ext uri="{FF2B5EF4-FFF2-40B4-BE49-F238E27FC236}">
                <a16:creationId xmlns:a16="http://schemas.microsoft.com/office/drawing/2014/main" id="{31FB76C7-5E65-4B29-8CC5-572E7FD3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2190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问题门</a:t>
            </a:r>
          </a:p>
        </p:txBody>
      </p:sp>
      <p:sp>
        <p:nvSpPr>
          <p:cNvPr id="7" name="p20-a0">
            <a:extLst xmlns:a="http://schemas.openxmlformats.org/drawingml/2006/main">
              <a:ext uri="{FF2B5EF4-FFF2-40B4-BE49-F238E27FC236}">
                <a16:creationId xmlns:a16="http://schemas.microsoft.com/office/drawing/2014/main" id="{7716449D-7FE5-487F-BCAC-A8C42DE0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192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667684"/>
                </a:solidFill>
              </a:defRPr>
            </a:pPr>
            <a:r>
              <a:rPr sz="2175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p20-f1">
            <a:extLst xmlns:a="http://schemas.openxmlformats.org/drawingml/2006/main">
              <a:ext uri="{FF2B5EF4-FFF2-40B4-BE49-F238E27FC236}">
                <a16:creationId xmlns:a16="http://schemas.microsoft.com/office/drawing/2014/main" id="{48AA655C-9172-47A2-83A7-9B967BA2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381125"/>
            <a:ext cx="2190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AF0DD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待验证前提</a:t>
            </a:r>
          </a:p>
        </p:txBody>
      </p:sp>
      <p:sp>
        <p:nvSpPr>
          <p:cNvPr id="9" name="p20-a1">
            <a:extLst xmlns:a="http://schemas.openxmlformats.org/drawingml/2006/main">
              <a:ext uri="{FF2B5EF4-FFF2-40B4-BE49-F238E27FC236}">
                <a16:creationId xmlns:a16="http://schemas.microsoft.com/office/drawing/2014/main" id="{9440AC3A-9901-4C65-95C7-BD712304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6192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667684"/>
                </a:solidFill>
              </a:defRPr>
            </a:pPr>
            <a:r>
              <a:rPr sz="2175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p20-f2">
            <a:extLst xmlns:a="http://schemas.openxmlformats.org/drawingml/2006/main">
              <a:ext uri="{FF2B5EF4-FFF2-40B4-BE49-F238E27FC236}">
                <a16:creationId xmlns:a16="http://schemas.microsoft.com/office/drawing/2014/main" id="{B7DF4F74-8D20-4F56-9779-0385C7F1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381125"/>
            <a:ext cx="2190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第 7 课</a:t>
            </a:r>
          </a:p>
          <a:p xmlns:a="http://schemas.openxmlformats.org/drawingml/2006/main">
            <a:pPr algn="ctr"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机制假设</a:t>
            </a:r>
          </a:p>
        </p:txBody>
      </p:sp>
      <p:sp>
        <p:nvSpPr>
          <p:cNvPr id="11" name="p20-a2">
            <a:extLst xmlns:a="http://schemas.openxmlformats.org/drawingml/2006/main">
              <a:ext uri="{FF2B5EF4-FFF2-40B4-BE49-F238E27FC236}">
                <a16:creationId xmlns:a16="http://schemas.microsoft.com/office/drawing/2014/main" id="{2F14FF60-F64C-4DC0-8988-D116B6CA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192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667684"/>
                </a:solidFill>
              </a:defRPr>
            </a:pPr>
            <a:r>
              <a:rPr sz="2175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p20-f3">
            <a:extLst xmlns:a="http://schemas.openxmlformats.org/drawingml/2006/main">
              <a:ext uri="{FF2B5EF4-FFF2-40B4-BE49-F238E27FC236}">
                <a16:creationId xmlns:a16="http://schemas.microsoft.com/office/drawing/2014/main" id="{0384E817-3301-47A1-A66E-5ACC17C1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381125"/>
            <a:ext cx="2190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第 9 课</a:t>
            </a:r>
          </a:p>
          <a:p xmlns:a="http://schemas.openxmlformats.org/drawingml/2006/main">
            <a:pPr algn="ctr"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实验规格</a:t>
            </a:r>
          </a:p>
        </p:txBody>
      </p:sp>
      <p:sp>
        <p:nvSpPr>
          <p:cNvPr id="13" name="p20-exit">
            <a:extLst xmlns:a="http://schemas.openxmlformats.org/drawingml/2006/main">
              <a:ext uri="{FF2B5EF4-FFF2-40B4-BE49-F238E27FC236}">
                <a16:creationId xmlns:a16="http://schemas.microsoft.com/office/drawing/2014/main" id="{5A406C44-016E-40B5-A24D-9797A9B8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1714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退出卡</a:t>
            </a:r>
          </a:p>
        </p:txBody>
      </p:sp>
      <p:sp>
        <p:nvSpPr>
          <p:cNvPr id="14" name="p20-q0">
            <a:extLst xmlns:a="http://schemas.openxmlformats.org/drawingml/2006/main">
              <a:ext uri="{FF2B5EF4-FFF2-40B4-BE49-F238E27FC236}">
                <a16:creationId xmlns:a16="http://schemas.microsoft.com/office/drawing/2014/main" id="{6D6D0246-A75C-43DF-91A2-FCD7E775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57500"/>
            <a:ext cx="8096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你最可能缺哪一项门条件？</a:t>
            </a:r>
          </a:p>
        </p:txBody>
      </p:sp>
      <p:sp>
        <p:nvSpPr>
          <p:cNvPr id="15" name="p20-q1">
            <a:extLst xmlns:a="http://schemas.openxmlformats.org/drawingml/2006/main">
              <a:ext uri="{FF2B5EF4-FFF2-40B4-BE49-F238E27FC236}">
                <a16:creationId xmlns:a16="http://schemas.microsoft.com/office/drawing/2014/main" id="{3AF0F92C-8CD7-4FB1-A2BF-2BE67384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38550"/>
            <a:ext cx="8096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哪条待验证前提将进入机制假设？</a:t>
            </a:r>
          </a:p>
        </p:txBody>
      </p:sp>
      <p:sp>
        <p:nvSpPr>
          <p:cNvPr id="16" name="p20-q2">
            <a:extLst xmlns:a="http://schemas.openxmlformats.org/drawingml/2006/main">
              <a:ext uri="{FF2B5EF4-FFF2-40B4-BE49-F238E27FC236}">
                <a16:creationId xmlns:a16="http://schemas.microsoft.com/office/drawing/2014/main" id="{8E458D3C-1CAF-4074-90C1-4066DE13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19600"/>
            <a:ext cx="8096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下一次修改回到哪个文件？</a:t>
            </a:r>
          </a:p>
        </p:txBody>
      </p:sp>
      <p:sp>
        <p:nvSpPr>
          <p:cNvPr id="17" name="p20-bottom">
            <a:extLst xmlns:a="http://schemas.openxmlformats.org/drawingml/2006/main">
              <a:ext uri="{FF2B5EF4-FFF2-40B4-BE49-F238E27FC236}">
                <a16:creationId xmlns:a16="http://schemas.microsoft.com/office/drawing/2014/main" id="{7BE0DA36-1D76-49EA-863E-00753BF7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8162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保存当前项目版本；第 7 课从待验证前提出发，不跳过问题门直接做实验。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2026-08-07T11:12:45.7610000Z</dcterms:created>
  <dcterms:modified xsi:type="dcterms:W3CDTF">2026-08-07T11:12:45.7610000Z</dcterms:modified>
</coreProperties>
</file>