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9a509e9bed497d" /><Relationship Type="http://schemas.openxmlformats.org/officeDocument/2006/relationships/extended-properties" Target="/docProps/app.xml" Id="Ra603a7bb49dc4ba5" /><Relationship Type="http://schemas.openxmlformats.org/officeDocument/2006/relationships/officeDocument" Target="/ppt/presentation.xml" Id="R4a6747674f314b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838b4e428e4fb9"/>
  </p:sldMasterIdLst>
  <p:notesMasterIdLst>
    <p:notesMasterId xmlns:r="http://schemas.openxmlformats.org/officeDocument/2006/relationships" r:id="Rbb7eef7ddd2448ae"/>
  </p:notesMasterIdLst>
  <p:sldIdLst>
    <p:sldId xmlns:r="http://schemas.openxmlformats.org/officeDocument/2006/relationships" id="256" r:id="Rdb13033627e04619"/>
    <p:sldId xmlns:r="http://schemas.openxmlformats.org/officeDocument/2006/relationships" id="257" r:id="Rfc70dd78cc5e4de6"/>
    <p:sldId xmlns:r="http://schemas.openxmlformats.org/officeDocument/2006/relationships" id="258" r:id="R30b6ae8f59734183"/>
    <p:sldId xmlns:r="http://schemas.openxmlformats.org/officeDocument/2006/relationships" id="259" r:id="R8aa93150040c41c7"/>
    <p:sldId xmlns:r="http://schemas.openxmlformats.org/officeDocument/2006/relationships" id="260" r:id="R63ba31038fc14f64"/>
    <p:sldId xmlns:r="http://schemas.openxmlformats.org/officeDocument/2006/relationships" id="261" r:id="R1dbd2705f9754914"/>
    <p:sldId xmlns:r="http://schemas.openxmlformats.org/officeDocument/2006/relationships" id="262" r:id="R98ea63066ae8463a"/>
    <p:sldId xmlns:r="http://schemas.openxmlformats.org/officeDocument/2006/relationships" id="263" r:id="R2bc390c147214064"/>
    <p:sldId xmlns:r="http://schemas.openxmlformats.org/officeDocument/2006/relationships" id="264" r:id="R3b625a989d374515"/>
    <p:sldId xmlns:r="http://schemas.openxmlformats.org/officeDocument/2006/relationships" id="265" r:id="Rc9db28ca118443b3"/>
    <p:sldId xmlns:r="http://schemas.openxmlformats.org/officeDocument/2006/relationships" id="266" r:id="R5f10c521c6064e32"/>
    <p:sldId xmlns:r="http://schemas.openxmlformats.org/officeDocument/2006/relationships" id="267" r:id="R93e3a8c4dc9f456d"/>
    <p:sldId xmlns:r="http://schemas.openxmlformats.org/officeDocument/2006/relationships" id="268" r:id="R77ed1f16011c4b6f"/>
    <p:sldId xmlns:r="http://schemas.openxmlformats.org/officeDocument/2006/relationships" id="269" r:id="Rc01a7cdfdf784814"/>
    <p:sldId xmlns:r="http://schemas.openxmlformats.org/officeDocument/2006/relationships" id="270" r:id="Rc9765a90103f4c13"/>
    <p:sldId xmlns:r="http://schemas.openxmlformats.org/officeDocument/2006/relationships" id="271" r:id="R5594f1e351f34c31"/>
    <p:sldId xmlns:r="http://schemas.openxmlformats.org/officeDocument/2006/relationships" id="272" r:id="Rf076f8884adc4d4b"/>
    <p:sldId xmlns:r="http://schemas.openxmlformats.org/officeDocument/2006/relationships" id="273" r:id="Re50d14790216497a"/>
    <p:sldId xmlns:r="http://schemas.openxmlformats.org/officeDocument/2006/relationships" id="274" r:id="Rdc7ed7219aa64499"/>
    <p:sldId xmlns:r="http://schemas.openxmlformats.org/officeDocument/2006/relationships" id="275" r:id="Rbc033eb956ab4e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6b294c35f84dd1" /><Relationship Type="http://schemas.openxmlformats.org/officeDocument/2006/relationships/slideMaster" Target="/ppt/slideMasters/slideMaster1.xml" Id="R95838b4e428e4fb9" /><Relationship Type="http://schemas.openxmlformats.org/officeDocument/2006/relationships/notesMaster" Target="/ppt/notesMasters/notesMaster1.xml" Id="Rbb7eef7ddd2448ae" /><Relationship Type="http://schemas.openxmlformats.org/officeDocument/2006/relationships/presProps" Target="/ppt/presProps.xml" Id="R1aa618a23916427c" /><Relationship Type="http://schemas.openxmlformats.org/officeDocument/2006/relationships/viewProps" Target="/ppt/viewProps.xml" Id="R40c1cca2ed174177" /><Relationship Type="http://schemas.openxmlformats.org/officeDocument/2006/relationships/tableStyles" Target="/ppt/tableStyles.xml" Id="Rff7cd4c36a314a8b" /><Relationship Type="http://schemas.openxmlformats.org/officeDocument/2006/relationships/slide" Target="/ppt/slides/slide1.xml" Id="Rdb13033627e04619" /><Relationship Type="http://schemas.openxmlformats.org/officeDocument/2006/relationships/slide" Target="/ppt/slides/slide2.xml" Id="Rfc70dd78cc5e4de6" /><Relationship Type="http://schemas.openxmlformats.org/officeDocument/2006/relationships/slide" Target="/ppt/slides/slide3.xml" Id="R30b6ae8f59734183" /><Relationship Type="http://schemas.openxmlformats.org/officeDocument/2006/relationships/slide" Target="/ppt/slides/slide4.xml" Id="R8aa93150040c41c7" /><Relationship Type="http://schemas.openxmlformats.org/officeDocument/2006/relationships/slide" Target="/ppt/slides/slide5.xml" Id="R63ba31038fc14f64" /><Relationship Type="http://schemas.openxmlformats.org/officeDocument/2006/relationships/slide" Target="/ppt/slides/slide6.xml" Id="R1dbd2705f9754914" /><Relationship Type="http://schemas.openxmlformats.org/officeDocument/2006/relationships/slide" Target="/ppt/slides/slide7.xml" Id="R98ea63066ae8463a" /><Relationship Type="http://schemas.openxmlformats.org/officeDocument/2006/relationships/slide" Target="/ppt/slides/slide8.xml" Id="R2bc390c147214064" /><Relationship Type="http://schemas.openxmlformats.org/officeDocument/2006/relationships/slide" Target="/ppt/slides/slide9.xml" Id="R3b625a989d374515" /><Relationship Type="http://schemas.openxmlformats.org/officeDocument/2006/relationships/slide" Target="/ppt/slides/slide10.xml" Id="Rc9db28ca118443b3" /><Relationship Type="http://schemas.openxmlformats.org/officeDocument/2006/relationships/slide" Target="/ppt/slides/slide11.xml" Id="R5f10c521c6064e32" /><Relationship Type="http://schemas.openxmlformats.org/officeDocument/2006/relationships/slide" Target="/ppt/slides/slide12.xml" Id="R93e3a8c4dc9f456d" /><Relationship Type="http://schemas.openxmlformats.org/officeDocument/2006/relationships/slide" Target="/ppt/slides/slide13.xml" Id="R77ed1f16011c4b6f" /><Relationship Type="http://schemas.openxmlformats.org/officeDocument/2006/relationships/slide" Target="/ppt/slides/slide14.xml" Id="Rc01a7cdfdf784814" /><Relationship Type="http://schemas.openxmlformats.org/officeDocument/2006/relationships/slide" Target="/ppt/slides/slide15.xml" Id="Rc9765a90103f4c13" /><Relationship Type="http://schemas.openxmlformats.org/officeDocument/2006/relationships/slide" Target="/ppt/slides/slide16.xml" Id="R5594f1e351f34c31" /><Relationship Type="http://schemas.openxmlformats.org/officeDocument/2006/relationships/slide" Target="/ppt/slides/slide17.xml" Id="Rf076f8884adc4d4b" /><Relationship Type="http://schemas.openxmlformats.org/officeDocument/2006/relationships/slide" Target="/ppt/slides/slide18.xml" Id="Re50d14790216497a" /><Relationship Type="http://schemas.openxmlformats.org/officeDocument/2006/relationships/slide" Target="/ppt/slides/slide19.xml" Id="Rdc7ed7219aa64499" /><Relationship Type="http://schemas.openxmlformats.org/officeDocument/2006/relationships/slide" Target="/ppt/slides/slide20.xml" Id="Rbc033eb956ab4e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df9349ddad4a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c852a4b3e0424f" /><Relationship Type="http://schemas.openxmlformats.org/officeDocument/2006/relationships/notesMaster" Target="/ppt/notesMasters/notesMaster1.xml" Id="Rf3f1a963fe0648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dd8b5277104c64" /><Relationship Type="http://schemas.openxmlformats.org/officeDocument/2006/relationships/notesMaster" Target="/ppt/notesMasters/notesMaster1.xml" Id="Rac072923d39546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036238f83f4b8d" /><Relationship Type="http://schemas.openxmlformats.org/officeDocument/2006/relationships/notesMaster" Target="/ppt/notesMasters/notesMaster1.xml" Id="Ra760a8a9716542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b3aaede5094aa1" /><Relationship Type="http://schemas.openxmlformats.org/officeDocument/2006/relationships/notesMaster" Target="/ppt/notesMasters/notesMaster1.xml" Id="R3ce9367665dc47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0bed4069ee4761" /><Relationship Type="http://schemas.openxmlformats.org/officeDocument/2006/relationships/notesMaster" Target="/ppt/notesMasters/notesMaster1.xml" Id="Rac85172a484043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10a42f8260428d" /><Relationship Type="http://schemas.openxmlformats.org/officeDocument/2006/relationships/notesMaster" Target="/ppt/notesMasters/notesMaster1.xml" Id="Rb4413b21247748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c4c3e7e39f4fbc" /><Relationship Type="http://schemas.openxmlformats.org/officeDocument/2006/relationships/notesMaster" Target="/ppt/notesMasters/notesMaster1.xml" Id="Ra3e606ea999246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fe532b387c42d9" /><Relationship Type="http://schemas.openxmlformats.org/officeDocument/2006/relationships/notesMaster" Target="/ppt/notesMasters/notesMaster1.xml" Id="R93c96f5593d748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dbce4bd5404cc2" /><Relationship Type="http://schemas.openxmlformats.org/officeDocument/2006/relationships/notesMaster" Target="/ppt/notesMasters/notesMaster1.xml" Id="R70557b7290ae4c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876b79f8524122" /><Relationship Type="http://schemas.openxmlformats.org/officeDocument/2006/relationships/notesMaster" Target="/ppt/notesMasters/notesMaster1.xml" Id="Ra9c76c76046c40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230e0b9d2d4632" /><Relationship Type="http://schemas.openxmlformats.org/officeDocument/2006/relationships/notesMaster" Target="/ppt/notesMasters/notesMaster1.xml" Id="Rdd68a4f88c554e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3130a47ddf4252" /><Relationship Type="http://schemas.openxmlformats.org/officeDocument/2006/relationships/notesMaster" Target="/ppt/notesMasters/notesMaster1.xml" Id="R853fd25c1dd84d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2723dcde19841c5" /><Relationship Type="http://schemas.openxmlformats.org/officeDocument/2006/relationships/notesMaster" Target="/ppt/notesMasters/notesMaster1.xml" Id="Rfe244d40584b4d3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e0ae800c50c4eaf" /><Relationship Type="http://schemas.openxmlformats.org/officeDocument/2006/relationships/notesMaster" Target="/ppt/notesMasters/notesMaster1.xml" Id="Ra4ce1383dc1541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da7012af0d74e1a" /><Relationship Type="http://schemas.openxmlformats.org/officeDocument/2006/relationships/notesMaster" Target="/ppt/notesMasters/notesMaster1.xml" Id="Rbc25eb10ed5a4d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6dc9ce36c94bce" /><Relationship Type="http://schemas.openxmlformats.org/officeDocument/2006/relationships/notesMaster" Target="/ppt/notesMasters/notesMaster1.xml" Id="R5bf657402204452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75edb1b18e44b9f" /><Relationship Type="http://schemas.openxmlformats.org/officeDocument/2006/relationships/notesMaster" Target="/ppt/notesMasters/notesMaster1.xml" Id="Rcdb30a99b06a433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15e0a9fcb334d20" /><Relationship Type="http://schemas.openxmlformats.org/officeDocument/2006/relationships/notesMaster" Target="/ppt/notesMasters/notesMaster1.xml" Id="R381414ca83ff45a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fc1171e2534d18" /><Relationship Type="http://schemas.openxmlformats.org/officeDocument/2006/relationships/notesMaster" Target="/ppt/notesMasters/notesMaster1.xml" Id="R4b904e29eee9414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5e7a2c3ee57473c" /><Relationship Type="http://schemas.openxmlformats.org/officeDocument/2006/relationships/notesMaster" Target="/ppt/notesMasters/notesMaster1.xml" Id="R874f850ddfc44d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5 课的研究空白候选收敛为可检验问题，并完成问题门材料初版。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 进行第一次短互动。只听学生说出自己的空白候选，不在此处评价完整性。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本课完成材料初版，不要求课堂内把八项全部补齐。问题门条件以 assignments.md 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让学生判断自己当前表述属于哪一层。表中案例用于方法教学，不构成实证结论。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虚构教学样例｜非真实论文、检索或实证证据。G1 只训练从空格描述到结构性问题的改写，真实性仍待真实窄检索。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请学生为自己的问题各写一条知识后果和实际后果。若答案只是“很新”，要求回到证据地图。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非例不是随意排除，而是与包含范围共同形成可判断的边界。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让学生诊断一条非例并修改。强调“为什么不算”必须可解释。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本页训练命题结构，不声称样例效果真实存在。Platt 用于竞争假设与排除逻辑。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https://pubmed.ncbi.nlm.nih.gov/17739513/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课程项目不要求实现完整三组实验，但问题定义必须能说出替代解释和区分方法。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https://pubmed.ncbi.nlm.nih.gov/17739513/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第一性原理只用于识别基本约束、作用机制和不可违背条件；AI 输出和推导本身都不构成证据。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口头提问：如果主张成立，哪些条件必须满足？只收集约束，不急着讨论工具。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虚构教学样例｜非真实论文、检索或实证证据。四步推导依赖第 5 课证据地图，输出仍需外部证据检验。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逐项讲清八项权威条件。AI 偏差字段允许记录发现的问题，也允许记录已检查风险及核验依据，不得虚构错误。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虚构教学样例｜门条件状态仅演示核对方法。第 1-4 项来自累计工件，不能宣称在某一课自动完成。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40:00-43:00 讲清六步和写入位置；没有真实课题者可用虚构样例，但必须改换问题表述或子问题分解。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43:00-60:00 停留本页。巡视只处理共同卡点；课前累计文献、精读卡和地图只核对状态，不重做。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60:00-78:00 进行 2-3 人互查。按八项门条件提问，但不替作者改写或决定。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提交方式、八项条件和未通过处理均以 assignments.md 为准。第一次未通过不直接扣重分，但未按期修订影响对应评分维度。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收束本课：问题门通过后，待验证前提进入第 7 课机制假设；不把推导直接当成结论或实验结果。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/Users/bright/Projects/courses/graduate/lessons/lesson-06/slides.md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2bc586222740e5" /><Relationship Type="http://schemas.openxmlformats.org/officeDocument/2006/relationships/image" Target="/ppt/media/image.png" Id="Rcfcba201a2a94476" /><Relationship Type="http://schemas.openxmlformats.org/officeDocument/2006/relationships/image" Target="/ppt/media/image2.png" Id="R77663a3b6ed04833" /><Relationship Type="http://schemas.openxmlformats.org/officeDocument/2006/relationships/image" Target="/ppt/media/image3.png" Id="R37a80d93728643af" /><Relationship Type="http://schemas.openxmlformats.org/officeDocument/2006/relationships/image" Target="/ppt/media/image4.png" Id="R8587008354fd4cb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aa8b7ce16c4b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a43851d3c04efc" /><Relationship Type="http://schemas.openxmlformats.org/officeDocument/2006/relationships/image" Target="/ppt/media/image2.png" Id="R71b4dec399ac49a6" /><Relationship Type="http://schemas.openxmlformats.org/officeDocument/2006/relationships/image" Target="/ppt/media/image5.png" Id="R2da6254caf5e40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7f269dfae64c5c" /><Relationship Type="http://schemas.openxmlformats.org/officeDocument/2006/relationships/image" Target="/ppt/media/image.png" Id="R3e54b1c732194122" /><Relationship Type="http://schemas.openxmlformats.org/officeDocument/2006/relationships/image" Target="/ppt/media/image3.png" Id="R64045fca5025404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ba201a2a94476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663a3b6ed04833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a80d93728643af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7008354fd4cb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b4dec399ac49a6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6254caf5e40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4b1c73219412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045fca5025404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1ebf32ebb8474a" /><Relationship Type="http://schemas.openxmlformats.org/officeDocument/2006/relationships/slideLayout" Target="/ppt/slideLayouts/slideLayout1.xml" Id="R9826f27f1c1d4839" /><Relationship Type="http://schemas.openxmlformats.org/officeDocument/2006/relationships/slideLayout" Target="/ppt/slideLayouts/slideLayout2.xml" Id="R836b007514524acf" /><Relationship Type="http://schemas.openxmlformats.org/officeDocument/2006/relationships/slideLayout" Target="/ppt/slideLayouts/slideLayout3.xml" Id="R3ee7fa4b9b2e44a0" /><Relationship Type="http://schemas.openxmlformats.org/officeDocument/2006/relationships/slideLayout" Target="/ppt/slideLayouts/slideLayout4.xml" Id="Rc147b9a8f5464ed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26f27f1c1d4839"/>
    <p:sldLayoutId xmlns:r="http://schemas.openxmlformats.org/officeDocument/2006/relationships" id="2147483650" r:id="R836b007514524acf"/>
    <p:sldLayoutId xmlns:r="http://schemas.openxmlformats.org/officeDocument/2006/relationships" id="2147483651" r:id="R3ee7fa4b9b2e44a0"/>
    <p:sldLayoutId xmlns:r="http://schemas.openxmlformats.org/officeDocument/2006/relationships" id="2147483652" r:id="Rc147b9a8f5464ed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c2c4c8c4b4d66" /><Relationship Type="http://schemas.openxmlformats.org/officeDocument/2006/relationships/notesSlide" Target="/ppt/notesSlides/notesSlide1.xml" Id="R303b50544e764f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937407a1b44689" /><Relationship Type="http://schemas.openxmlformats.org/officeDocument/2006/relationships/notesSlide" Target="/ppt/notesSlides/notesSlide2.xml" Id="R444a4a6f209c41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8ef3e2af454c39" /><Relationship Type="http://schemas.openxmlformats.org/officeDocument/2006/relationships/notesSlide" Target="/ppt/notesSlides/notesSlide3.xml" Id="R8457ae56e05245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1bc023aabb4763" /><Relationship Type="http://schemas.openxmlformats.org/officeDocument/2006/relationships/notesSlide" Target="/ppt/notesSlides/notesSlide4.xml" Id="R7f7fee0ed20447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5ede0acaf5459e" /><Relationship Type="http://schemas.openxmlformats.org/officeDocument/2006/relationships/notesSlide" Target="/ppt/notesSlides/notesSlide5.xml" Id="R89eeeb1d72c242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33adc57ab64f71" /><Relationship Type="http://schemas.openxmlformats.org/officeDocument/2006/relationships/notesSlide" Target="/ppt/notesSlides/notesSlide6.xml" Id="R5a2b6138a6454c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8509b971c4407d" /><Relationship Type="http://schemas.openxmlformats.org/officeDocument/2006/relationships/notesSlide" Target="/ppt/notesSlides/notesSlide7.xml" Id="R66e32870453444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cd64af36584445" /><Relationship Type="http://schemas.openxmlformats.org/officeDocument/2006/relationships/notesSlide" Target="/ppt/notesSlides/notesSlide8.xml" Id="R8265378bd0ae43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59b50ce95041d0" /><Relationship Type="http://schemas.openxmlformats.org/officeDocument/2006/relationships/notesSlide" Target="/ppt/notesSlides/notesSlide9.xml" Id="R4e926d2e11b841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59d6c9605c847ac" /><Relationship Type="http://schemas.openxmlformats.org/officeDocument/2006/relationships/notesSlide" Target="/ppt/notesSlides/notesSlide10.xml" Id="R9b7d39b62f4945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c5f4814989648e2" /><Relationship Type="http://schemas.openxmlformats.org/officeDocument/2006/relationships/notesSlide" Target="/ppt/notesSlides/notesSlide11.xml" Id="Rae17de799f0045d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d14f06599b4612" /><Relationship Type="http://schemas.openxmlformats.org/officeDocument/2006/relationships/notesSlide" Target="/ppt/notesSlides/notesSlide12.xml" Id="R2ae5c6221fe64b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b15ea821ec49c2" /><Relationship Type="http://schemas.openxmlformats.org/officeDocument/2006/relationships/notesSlide" Target="/ppt/notesSlides/notesSlide13.xml" Id="Rb836d0d96ed44dd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9e11be65f44fc1" /><Relationship Type="http://schemas.openxmlformats.org/officeDocument/2006/relationships/notesSlide" Target="/ppt/notesSlides/notesSlide14.xml" Id="R7ca70dc760c64c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159ad4bb994934" /><Relationship Type="http://schemas.openxmlformats.org/officeDocument/2006/relationships/notesSlide" Target="/ppt/notesSlides/notesSlide15.xml" Id="Rb14fef082d5b4d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945f36ac53e4dbc" /><Relationship Type="http://schemas.openxmlformats.org/officeDocument/2006/relationships/notesSlide" Target="/ppt/notesSlides/notesSlide16.xml" Id="R66ff29bf3be447d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5929f19b464ff0" /><Relationship Type="http://schemas.openxmlformats.org/officeDocument/2006/relationships/notesSlide" Target="/ppt/notesSlides/notesSlide17.xml" Id="R2409745de2844a4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9317f7dd3246d9" /><Relationship Type="http://schemas.openxmlformats.org/officeDocument/2006/relationships/notesSlide" Target="/ppt/notesSlides/notesSlide18.xml" Id="R38a0999ccd84478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e1d865521c9481b" /><Relationship Type="http://schemas.openxmlformats.org/officeDocument/2006/relationships/notesSlide" Target="/ppt/notesSlides/notesSlide19.xml" Id="R905f994e476e484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39103fae20477b" /><Relationship Type="http://schemas.openxmlformats.org/officeDocument/2006/relationships/notesSlide" Target="/ppt/notesSlides/notesSlide20.xml" Id="R7d5fb9627467491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066800" y="3009900"/>
            <a:ext cx="10058400" cy="22860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空白候选 → 结构性问题 → 第一性原理 → 问题门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从“还没有人做过”转向“什么观察会推翻它”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第六讲｜阶段一 + 阶段二 → 第一次正式提交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00150"/>
            <a:ext cx="97536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问题定义、第一性原理与问题门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5 课之后，研究空白候选如何变成问题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have">
            <a:extLst xmlns:a="http://schemas.openxmlformats.org/drawingml/2006/main">
              <a:ext uri="{FF2B5EF4-FFF2-40B4-BE49-F238E27FC236}">
                <a16:creationId xmlns:a16="http://schemas.microsoft.com/office/drawing/2014/main" id="{7F1E70F1-B8B6-4EB3-B697-E1990FA6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5 课已经建立</a:t>
            </a:r>
          </a:p>
        </p:txBody>
      </p:sp>
      <p:sp>
        <p:nvSpPr>
          <p:cNvPr id="7" name="p02-h0">
            <a:extLst xmlns:a="http://schemas.openxmlformats.org/drawingml/2006/main">
              <a:ext uri="{FF2B5EF4-FFF2-40B4-BE49-F238E27FC236}">
                <a16:creationId xmlns:a16="http://schemas.microsoft.com/office/drawing/2014/main" id="{8BE62ED5-EF7A-49C8-8BEB-6F6E975A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4191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证据地图：直接 / 补充 / 冲突 / 空白</a:t>
            </a:r>
          </a:p>
        </p:txBody>
      </p:sp>
      <p:sp>
        <p:nvSpPr>
          <p:cNvPr id="8" name="p02-h1">
            <a:extLst xmlns:a="http://schemas.openxmlformats.org/drawingml/2006/main">
              <a:ext uri="{FF2B5EF4-FFF2-40B4-BE49-F238E27FC236}">
                <a16:creationId xmlns:a16="http://schemas.microsoft.com/office/drawing/2014/main" id="{0FF10094-82AA-4254-A9B9-D76159ED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191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空白候选：真实性 / 重要性 / 可行性</a:t>
            </a:r>
          </a:p>
        </p:txBody>
      </p:sp>
      <p:sp>
        <p:nvSpPr>
          <p:cNvPr id="9" name="p02-a">
            <a:extLst xmlns:a="http://schemas.openxmlformats.org/drawingml/2006/main">
              <a:ext uri="{FF2B5EF4-FFF2-40B4-BE49-F238E27FC236}">
                <a16:creationId xmlns:a16="http://schemas.microsoft.com/office/drawing/2014/main" id="{3DCDA6C1-B0AA-4CFC-ACB3-B7BA4A19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71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2-miss">
            <a:extLst xmlns:a="http://schemas.openxmlformats.org/drawingml/2006/main">
              <a:ext uri="{FF2B5EF4-FFF2-40B4-BE49-F238E27FC236}">
                <a16:creationId xmlns:a16="http://schemas.microsoft.com/office/drawing/2014/main" id="{94F44E5E-5767-4D1B-BEE9-85CAC762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71550"/>
            <a:ext cx="4476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本课仍需回答</a:t>
            </a:r>
          </a:p>
        </p:txBody>
      </p:sp>
      <p:sp>
        <p:nvSpPr>
          <p:cNvPr id="11" name="p02-m0">
            <a:extLst xmlns:a="http://schemas.openxmlformats.org/drawingml/2006/main">
              <a:ext uri="{FF2B5EF4-FFF2-40B4-BE49-F238E27FC236}">
                <a16:creationId xmlns:a16="http://schemas.microsoft.com/office/drawing/2014/main" id="{F66059D1-09E1-4A5B-81D9-AEB3E582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19250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问什么？边界在哪里？</a:t>
            </a:r>
          </a:p>
        </p:txBody>
      </p:sp>
      <p:sp>
        <p:nvSpPr>
          <p:cNvPr id="12" name="p02-m1">
            <a:extLst xmlns:a="http://schemas.openxmlformats.org/drawingml/2006/main">
              <a:ext uri="{FF2B5EF4-FFF2-40B4-BE49-F238E27FC236}">
                <a16:creationId xmlns:a16="http://schemas.microsoft.com/office/drawing/2014/main" id="{B68A93A7-1930-4C1F-B71D-EBE85F02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428875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什么结果会推翻主张？</a:t>
            </a:r>
          </a:p>
        </p:txBody>
      </p:sp>
      <p:sp>
        <p:nvSpPr>
          <p:cNvPr id="13" name="p02-m2">
            <a:extLst xmlns:a="http://schemas.openxmlformats.org/drawingml/2006/main">
              <a:ext uri="{FF2B5EF4-FFF2-40B4-BE49-F238E27FC236}">
                <a16:creationId xmlns:a16="http://schemas.microsoft.com/office/drawing/2014/main" id="{96FA89D2-E74B-4F43-9B26-2E56B6D3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38500"/>
            <a:ext cx="4191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哪些前提仍待外部检验？</a:t>
            </a:r>
          </a:p>
        </p:txBody>
      </p:sp>
      <p:sp>
        <p:nvSpPr>
          <p:cNvPr id="14" name="p02-bottom">
            <a:extLst xmlns:a="http://schemas.openxmlformats.org/drawingml/2006/main">
              <a:ext uri="{FF2B5EF4-FFF2-40B4-BE49-F238E27FC236}">
                <a16:creationId xmlns:a16="http://schemas.microsoft.com/office/drawing/2014/main" id="{78E62FDE-CF00-4A40-858D-9D4CD227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00625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2:30 快问：你的候选现在是“空格描述”，还是“可检验问题”？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0">
            <a:extLst xmlns:a="http://schemas.openxmlformats.org/drawingml/2006/main">
              <a:ext uri="{FF2B5EF4-FFF2-40B4-BE49-F238E27FC236}">
                <a16:creationId xmlns:a16="http://schemas.microsoft.com/office/drawing/2014/main" id="{4DC13CD1-8CB0-4BA3-80A7-9750CFB1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3-g0">
            <a:extLst xmlns:a="http://schemas.openxmlformats.org/drawingml/2006/main">
              <a:ext uri="{FF2B5EF4-FFF2-40B4-BE49-F238E27FC236}">
                <a16:creationId xmlns:a16="http://schemas.microsoft.com/office/drawing/2014/main" id="{BAF404CC-1594-4B60-9BD4-B4EBEEB1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结构性问题</a:t>
            </a:r>
          </a:p>
        </p:txBody>
      </p:sp>
      <p:sp>
        <p:nvSpPr>
          <p:cNvPr id="8" name="p03-n1">
            <a:extLst xmlns:a="http://schemas.openxmlformats.org/drawingml/2006/main">
              <a:ext uri="{FF2B5EF4-FFF2-40B4-BE49-F238E27FC236}">
                <a16:creationId xmlns:a16="http://schemas.microsoft.com/office/drawing/2014/main" id="{7ADBC6C0-50B9-45D3-9FF6-4CF7FBA3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03-g1">
            <a:extLst xmlns:a="http://schemas.openxmlformats.org/drawingml/2006/main">
              <a:ext uri="{FF2B5EF4-FFF2-40B4-BE49-F238E27FC236}">
                <a16:creationId xmlns:a16="http://schemas.microsoft.com/office/drawing/2014/main" id="{5AB199C4-1C76-41F0-9C1D-9DC16060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非例边界</a:t>
            </a:r>
          </a:p>
        </p:txBody>
      </p:sp>
      <p:sp>
        <p:nvSpPr>
          <p:cNvPr id="10" name="p03-n2">
            <a:extLst xmlns:a="http://schemas.openxmlformats.org/drawingml/2006/main">
              <a:ext uri="{FF2B5EF4-FFF2-40B4-BE49-F238E27FC236}">
                <a16:creationId xmlns:a16="http://schemas.microsoft.com/office/drawing/2014/main" id="{7180996F-BA5C-4B72-91EF-329046F3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00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03-g2">
            <a:extLst xmlns:a="http://schemas.openxmlformats.org/drawingml/2006/main">
              <a:ext uri="{FF2B5EF4-FFF2-40B4-BE49-F238E27FC236}">
                <a16:creationId xmlns:a16="http://schemas.microsoft.com/office/drawing/2014/main" id="{5D3473A2-1CA4-456B-BCA9-CF9887DA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1239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可证伪命题</a:t>
            </a:r>
          </a:p>
        </p:txBody>
      </p:sp>
      <p:sp>
        <p:nvSpPr>
          <p:cNvPr id="12" name="p03-n3">
            <a:extLst xmlns:a="http://schemas.openxmlformats.org/drawingml/2006/main">
              <a:ext uri="{FF2B5EF4-FFF2-40B4-BE49-F238E27FC236}">
                <a16:creationId xmlns:a16="http://schemas.microsoft.com/office/drawing/2014/main" id="{C0B40340-84DF-454E-B384-79FD5D0E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03-g3">
            <a:extLst xmlns:a="http://schemas.openxmlformats.org/drawingml/2006/main">
              <a:ext uri="{FF2B5EF4-FFF2-40B4-BE49-F238E27FC236}">
                <a16:creationId xmlns:a16="http://schemas.microsoft.com/office/drawing/2014/main" id="{2052D01D-3969-4031-AAAD-3BCD2E6A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第一性原理推导</a:t>
            </a:r>
          </a:p>
        </p:txBody>
      </p:sp>
      <p:sp>
        <p:nvSpPr>
          <p:cNvPr id="14" name="p03-n4">
            <a:extLst xmlns:a="http://schemas.openxmlformats.org/drawingml/2006/main">
              <a:ext uri="{FF2B5EF4-FFF2-40B4-BE49-F238E27FC236}">
                <a16:creationId xmlns:a16="http://schemas.microsoft.com/office/drawing/2014/main" id="{42D3D7C1-22E4-49ED-A6C1-B6D46556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03-g4">
            <a:extLst xmlns:a="http://schemas.openxmlformats.org/drawingml/2006/main">
              <a:ext uri="{FF2B5EF4-FFF2-40B4-BE49-F238E27FC236}">
                <a16:creationId xmlns:a16="http://schemas.microsoft.com/office/drawing/2014/main" id="{AC1F02BE-0801-450D-9DE0-CDB8AB90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重要性检查</a:t>
            </a:r>
          </a:p>
        </p:txBody>
      </p:sp>
      <p:sp>
        <p:nvSpPr>
          <p:cNvPr id="16" name="p03-n5">
            <a:extLst xmlns:a="http://schemas.openxmlformats.org/drawingml/2006/main">
              <a:ext uri="{FF2B5EF4-FFF2-40B4-BE49-F238E27FC236}">
                <a16:creationId xmlns:a16="http://schemas.microsoft.com/office/drawing/2014/main" id="{EAAB08BA-F37E-4BD5-8A1A-7DAB1BE2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03-g5">
            <a:extLst xmlns:a="http://schemas.openxmlformats.org/drawingml/2006/main">
              <a:ext uri="{FF2B5EF4-FFF2-40B4-BE49-F238E27FC236}">
                <a16:creationId xmlns:a16="http://schemas.microsoft.com/office/drawing/2014/main" id="{1DF3C3D7-9C08-4A65-BD5C-EDF1E50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076450"/>
            <a:ext cx="2143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八项门条件自查</a:t>
            </a:r>
          </a:p>
        </p:txBody>
      </p:sp>
      <p:sp>
        <p:nvSpPr>
          <p:cNvPr id="18" name="p03-output">
            <a:extLst xmlns:a="http://schemas.openxmlformats.org/drawingml/2006/main">
              <a:ext uri="{FF2B5EF4-FFF2-40B4-BE49-F238E27FC236}">
                <a16:creationId xmlns:a16="http://schemas.microsoft.com/office/drawing/2014/main" id="{2102DD86-0368-4C32-AC9D-FC54F058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课堂最小产出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problem-definition.md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更新版 +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第一性原理推导初版</a:t>
            </a:r>
          </a:p>
        </p:txBody>
      </p:sp>
      <p:sp>
        <p:nvSpPr>
          <p:cNvPr id="19" name="p03-gate">
            <a:extLst xmlns:a="http://schemas.openxmlformats.org/drawingml/2006/main">
              <a:ext uri="{FF2B5EF4-FFF2-40B4-BE49-F238E27FC236}">
                <a16:creationId xmlns:a16="http://schemas.microsoft.com/office/drawing/2014/main" id="{1EFA6B63-49BA-46EB-87DF-0F956298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05250"/>
            <a:ext cx="8858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课后只提交一次问题门材料包；不重做已通过的累计工件。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主题、研究问题还是待验证主张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h0">
            <a:extLst xmlns:a="http://schemas.openxmlformats.org/drawingml/2006/main">
              <a:ext uri="{FF2B5EF4-FFF2-40B4-BE49-F238E27FC236}">
                <a16:creationId xmlns:a16="http://schemas.microsoft.com/office/drawing/2014/main" id="{460F503B-E34B-4BEE-9BEF-F67C8C68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1619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层次</a:t>
            </a:r>
          </a:p>
        </p:txBody>
      </p:sp>
      <p:sp>
        <p:nvSpPr>
          <p:cNvPr id="7" name="p04-h1">
            <a:extLst xmlns:a="http://schemas.openxmlformats.org/drawingml/2006/main">
              <a:ext uri="{FF2B5EF4-FFF2-40B4-BE49-F238E27FC236}">
                <a16:creationId xmlns:a16="http://schemas.microsoft.com/office/drawing/2014/main" id="{1DB14D74-5E34-468D-BD59-EF812367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238250"/>
            <a:ext cx="6191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典型表述</a:t>
            </a:r>
          </a:p>
        </p:txBody>
      </p:sp>
      <p:sp>
        <p:nvSpPr>
          <p:cNvPr id="8" name="p04-h2">
            <a:extLst xmlns:a="http://schemas.openxmlformats.org/drawingml/2006/main">
              <a:ext uri="{FF2B5EF4-FFF2-40B4-BE49-F238E27FC236}">
                <a16:creationId xmlns:a16="http://schemas.microsoft.com/office/drawing/2014/main" id="{D6442FB8-5B5F-4C29-8E5B-27250A19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2382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仍缺什么</a:t>
            </a:r>
          </a:p>
        </p:txBody>
      </p:sp>
      <p:sp>
        <p:nvSpPr>
          <p:cNvPr id="9" name="p04-r0-0">
            <a:extLst xmlns:a="http://schemas.openxmlformats.org/drawingml/2006/main">
              <a:ext uri="{FF2B5EF4-FFF2-40B4-BE49-F238E27FC236}">
                <a16:creationId xmlns:a16="http://schemas.microsoft.com/office/drawing/2014/main" id="{49CC718B-5224-4B63-9181-BD6E5FAA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主题</a:t>
            </a:r>
          </a:p>
        </p:txBody>
      </p:sp>
      <p:sp>
        <p:nvSpPr>
          <p:cNvPr id="10" name="p04-r0-1">
            <a:extLst xmlns:a="http://schemas.openxmlformats.org/drawingml/2006/main">
              <a:ext uri="{FF2B5EF4-FFF2-40B4-BE49-F238E27FC236}">
                <a16:creationId xmlns:a16="http://schemas.microsoft.com/office/drawing/2014/main" id="{B09E0B0A-F65D-4B28-AA3D-FF92F76D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66875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辅助论文阅读</a:t>
            </a:r>
          </a:p>
        </p:txBody>
      </p:sp>
      <p:sp>
        <p:nvSpPr>
          <p:cNvPr id="11" name="p04-r0-2">
            <a:extLst xmlns:a="http://schemas.openxmlformats.org/drawingml/2006/main">
              <a:ext uri="{FF2B5EF4-FFF2-40B4-BE49-F238E27FC236}">
                <a16:creationId xmlns:a16="http://schemas.microsoft.com/office/drawing/2014/main" id="{64478505-21E2-4DB0-BC48-7FEBBF2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66687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范围、条件、可比对象</a:t>
            </a:r>
          </a:p>
        </p:txBody>
      </p:sp>
      <p:sp>
        <p:nvSpPr>
          <p:cNvPr id="12" name="p04-r1-0">
            <a:extLst xmlns:a="http://schemas.openxmlformats.org/drawingml/2006/main">
              <a:ext uri="{FF2B5EF4-FFF2-40B4-BE49-F238E27FC236}">
                <a16:creationId xmlns:a16="http://schemas.microsoft.com/office/drawing/2014/main" id="{6444F965-BF6E-4FD7-99E8-9F10126F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13" name="p04-r1-1">
            <a:extLst xmlns:a="http://schemas.openxmlformats.org/drawingml/2006/main">
              <a:ext uri="{FF2B5EF4-FFF2-40B4-BE49-F238E27FC236}">
                <a16:creationId xmlns:a16="http://schemas.microsoft.com/office/drawing/2014/main" id="{A63B321E-0B42-4D4A-8BF9-6C88DADA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71750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在逐条核验引用的 CS 阅读中，阅读卡是否降低遗漏率？</a:t>
            </a:r>
          </a:p>
        </p:txBody>
      </p:sp>
      <p:sp>
        <p:nvSpPr>
          <p:cNvPr id="14" name="p04-r1-2">
            <a:extLst xmlns:a="http://schemas.openxmlformats.org/drawingml/2006/main">
              <a:ext uri="{FF2B5EF4-FFF2-40B4-BE49-F238E27FC236}">
                <a16:creationId xmlns:a16="http://schemas.microsoft.com/office/drawing/2014/main" id="{C43FA267-A5DC-4385-8EDB-DDC7BBBA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候选答案、可证伪性</a:t>
            </a:r>
          </a:p>
        </p:txBody>
      </p:sp>
      <p:sp>
        <p:nvSpPr>
          <p:cNvPr id="15" name="p04-r2-0">
            <a:extLst xmlns:a="http://schemas.openxmlformats.org/drawingml/2006/main">
              <a:ext uri="{FF2B5EF4-FFF2-40B4-BE49-F238E27FC236}">
                <a16:creationId xmlns:a16="http://schemas.microsoft.com/office/drawing/2014/main" id="{4533C521-FD69-48F2-986A-C80459E0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619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待验证主张</a:t>
            </a:r>
          </a:p>
        </p:txBody>
      </p:sp>
      <p:sp>
        <p:nvSpPr>
          <p:cNvPr id="16" name="p04-r2-1">
            <a:extLst xmlns:a="http://schemas.openxmlformats.org/drawingml/2006/main">
              <a:ext uri="{FF2B5EF4-FFF2-40B4-BE49-F238E27FC236}">
                <a16:creationId xmlns:a16="http://schemas.microsoft.com/office/drawing/2014/main" id="{2EF006DD-F639-476C-948A-E06853C0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6191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若强制定位原文且评价标准固定，则差异可归因于阅读卡结构</a:t>
            </a:r>
          </a:p>
        </p:txBody>
      </p:sp>
      <p:sp>
        <p:nvSpPr>
          <p:cNvPr id="17" name="p04-r2-2">
            <a:extLst xmlns:a="http://schemas.openxmlformats.org/drawingml/2006/main">
              <a:ext uri="{FF2B5EF4-FFF2-40B4-BE49-F238E27FC236}">
                <a16:creationId xmlns:a16="http://schemas.microsoft.com/office/drawing/2014/main" id="{B86BD58B-91C3-4AF9-B19F-49361E37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实验、竞争假设排除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D7443028-9B55-41DD-BA35-BDE4B09D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05375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研究问题不是把主题缩小一点，而是补全条件—对象—干预—结果—比较。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从研究空白到结构性问题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virtual">
            <a:extLst xmlns:a="http://schemas.openxmlformats.org/drawingml/2006/main">
              <a:ext uri="{FF2B5EF4-FFF2-40B4-BE49-F238E27FC236}">
                <a16:creationId xmlns:a16="http://schemas.microsoft.com/office/drawing/2014/main" id="{2220FCC1-DF5B-446C-BBB7-52A71F89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05-gap">
            <a:extLst xmlns:a="http://schemas.openxmlformats.org/drawingml/2006/main">
              <a:ext uri="{FF2B5EF4-FFF2-40B4-BE49-F238E27FC236}">
                <a16:creationId xmlns:a16="http://schemas.microsoft.com/office/drawing/2014/main" id="{0D83D5D9-AD9A-498C-BC0E-09D8EF03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524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G1 空白候选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阅读卡是否强制定位原文 → 降低遗漏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状态：待真实窄检索</a:t>
            </a:r>
          </a:p>
        </p:txBody>
      </p:sp>
      <p:sp>
        <p:nvSpPr>
          <p:cNvPr id="8" name="p05-a">
            <a:extLst xmlns:a="http://schemas.openxmlformats.org/drawingml/2006/main">
              <a:ext uri="{FF2B5EF4-FFF2-40B4-BE49-F238E27FC236}">
                <a16:creationId xmlns:a16="http://schemas.microsoft.com/office/drawing/2014/main" id="{B33A3182-C0D0-4298-9D1A-5459466A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5-q">
            <a:extLst xmlns:a="http://schemas.openxmlformats.org/drawingml/2006/main">
              <a:ext uri="{FF2B5EF4-FFF2-40B4-BE49-F238E27FC236}">
                <a16:creationId xmlns:a16="http://schemas.microsoft.com/office/drawing/2014/main" id="{D21C16E8-6D6B-44B4-8B1E-91095069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76375"/>
            <a:ext cx="600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在需要逐条核验引用的 CS 论文阅读任务中，结构化阅读卡是否比自由摘要更能降低限定条件遗漏率？</a:t>
            </a:r>
          </a:p>
        </p:txBody>
      </p:sp>
      <p:sp>
        <p:nvSpPr>
          <p:cNvPr id="10" name="p05-e0">
            <a:extLst xmlns:a="http://schemas.openxmlformats.org/drawingml/2006/main">
              <a:ext uri="{FF2B5EF4-FFF2-40B4-BE49-F238E27FC236}">
                <a16:creationId xmlns:a16="http://schemas.microsoft.com/office/drawing/2014/main" id="{0F17FB5A-27F6-46BD-8072-EA37B5EC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1" name="p05-e1">
            <a:extLst xmlns:a="http://schemas.openxmlformats.org/drawingml/2006/main">
              <a:ext uri="{FF2B5EF4-FFF2-40B4-BE49-F238E27FC236}">
                <a16:creationId xmlns:a16="http://schemas.microsoft.com/office/drawing/2014/main" id="{D72C1AB8-ACE8-470D-AD6F-919B6363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12" name="p05-e2">
            <a:extLst xmlns:a="http://schemas.openxmlformats.org/drawingml/2006/main">
              <a:ext uri="{FF2B5EF4-FFF2-40B4-BE49-F238E27FC236}">
                <a16:creationId xmlns:a16="http://schemas.microsoft.com/office/drawing/2014/main" id="{5529DF65-3F7F-4443-89B9-9177F7F4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13" name="p05-e3">
            <a:extLst xmlns:a="http://schemas.openxmlformats.org/drawingml/2006/main">
              <a:ext uri="{FF2B5EF4-FFF2-40B4-BE49-F238E27FC236}">
                <a16:creationId xmlns:a16="http://schemas.microsoft.com/office/drawing/2014/main" id="{0E5119D6-7380-4B4E-856E-CC7AF8B9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4" name="p05-e4">
            <a:extLst xmlns:a="http://schemas.openxmlformats.org/drawingml/2006/main">
              <a:ext uri="{FF2B5EF4-FFF2-40B4-BE49-F238E27FC236}">
                <a16:creationId xmlns:a16="http://schemas.microsoft.com/office/drawing/2014/main" id="{66CCE19D-79A4-43B5-B60E-FAE35CC9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</a:t>
            </a:r>
          </a:p>
        </p:txBody>
      </p:sp>
      <p:sp>
        <p:nvSpPr>
          <p:cNvPr id="15" name="p05-bottom">
            <a:extLst xmlns:a="http://schemas.openxmlformats.org/drawingml/2006/main">
              <a:ext uri="{FF2B5EF4-FFF2-40B4-BE49-F238E27FC236}">
                <a16:creationId xmlns:a16="http://schemas.microsoft.com/office/drawing/2014/main" id="{50938973-8F49-4454-A917-EF20FC4F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530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补全结构，不等于证明结论；真实项目必须填写自己的检索与核验状态。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 So what? / Who cares? 检查重要性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so-h">
            <a:extLst xmlns:a="http://schemas.openxmlformats.org/drawingml/2006/main">
              <a:ext uri="{FF2B5EF4-FFF2-40B4-BE49-F238E27FC236}">
                <a16:creationId xmlns:a16="http://schemas.microsoft.com/office/drawing/2014/main" id="{5B5F033A-1458-4832-A378-48705745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90625"/>
            <a:ext cx="4762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So what?｜知识后果</a:t>
            </a:r>
          </a:p>
        </p:txBody>
      </p:sp>
      <p:sp>
        <p:nvSpPr>
          <p:cNvPr id="7" name="p06-so-d">
            <a:extLst xmlns:a="http://schemas.openxmlformats.org/drawingml/2006/main">
              <a:ext uri="{FF2B5EF4-FFF2-40B4-BE49-F238E27FC236}">
                <a16:creationId xmlns:a16="http://schemas.microsoft.com/office/drawing/2014/main" id="{BE888419-918C-460B-A4D9-31B58F5E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28775"/>
            <a:ext cx="4762500" cy="1990725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不回答它，哪条证据链或机制假设无法成立？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回答后，能解释什么之前无法解释的现象？</a:t>
            </a:r>
          </a:p>
        </p:txBody>
      </p:sp>
      <p:sp>
        <p:nvSpPr>
          <p:cNvPr id="8" name="p06-who-h">
            <a:extLst xmlns:a="http://schemas.openxmlformats.org/drawingml/2006/main">
              <a:ext uri="{FF2B5EF4-FFF2-40B4-BE49-F238E27FC236}">
                <a16:creationId xmlns:a16="http://schemas.microsoft.com/office/drawing/2014/main" id="{23AB2EE4-3083-4EF1-B2FB-D94283D1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190625"/>
            <a:ext cx="4762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Who cares?｜实际后果</a:t>
            </a:r>
          </a:p>
        </p:txBody>
      </p:sp>
      <p:sp>
        <p:nvSpPr>
          <p:cNvPr id="9" name="p06-who-d">
            <a:extLst xmlns:a="http://schemas.openxmlformats.org/drawingml/2006/main">
              <a:ext uri="{FF2B5EF4-FFF2-40B4-BE49-F238E27FC236}">
                <a16:creationId xmlns:a16="http://schemas.microsoft.com/office/drawing/2014/main" id="{3791D4CF-0F5E-4CCF-9BF8-6D4FC46D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28775"/>
            <a:ext cx="4762500" cy="1990725"/>
          </a:xfrm>
          <a:prstGeom xmlns:a="http://schemas.openxmlformats.org/drawingml/2006/main" prst="roundRect">
            <a:avLst>
              <a:gd name="adj" fmla="val 382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谁会从答案中受益？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答案会改变什么科研动作、工具选择或判断？</a:t>
            </a:r>
          </a:p>
        </p:txBody>
      </p:sp>
      <p:sp>
        <p:nvSpPr>
          <p:cNvPr id="10" name="p06-example">
            <a:extLst xmlns:a="http://schemas.openxmlformats.org/drawingml/2006/main">
              <a:ext uri="{FF2B5EF4-FFF2-40B4-BE49-F238E27FC236}">
                <a16:creationId xmlns:a16="http://schemas.microsoft.com/office/drawing/2014/main" id="{56B54118-7E5C-467E-87B2-E74A0113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8572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重要性来自问题在论证链上的位置，不来自“新颖”这个标签。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用非例界定问题边界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scope">
            <a:extLst xmlns:a="http://schemas.openxmlformats.org/drawingml/2006/main">
              <a:ext uri="{FF2B5EF4-FFF2-40B4-BE49-F238E27FC236}">
                <a16:creationId xmlns:a16="http://schemas.microsoft.com/office/drawing/2014/main" id="{5F39B7A8-3AA2-48DC-84E0-8A7B7098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包含范围</a:t>
            </a:r>
          </a:p>
        </p:txBody>
      </p:sp>
      <p:sp>
        <p:nvSpPr>
          <p:cNvPr id="7" name="p07-in0">
            <a:extLst xmlns:a="http://schemas.openxmlformats.org/drawingml/2006/main">
              <a:ext uri="{FF2B5EF4-FFF2-40B4-BE49-F238E27FC236}">
                <a16:creationId xmlns:a16="http://schemas.microsoft.com/office/drawing/2014/main" id="{5AA9E125-2860-4BCA-89CA-13399589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任务：逐条核验引用</a:t>
            </a:r>
          </a:p>
        </p:txBody>
      </p:sp>
      <p:sp>
        <p:nvSpPr>
          <p:cNvPr id="8" name="p07-in1">
            <a:extLst xmlns:a="http://schemas.openxmlformats.org/drawingml/2006/main">
              <a:ext uri="{FF2B5EF4-FFF2-40B4-BE49-F238E27FC236}">
                <a16:creationId xmlns:a16="http://schemas.microsoft.com/office/drawing/2014/main" id="{8362C2C4-C5DC-4EA7-BD8E-C0513CF2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材料：公开 CS 论文</a:t>
            </a:r>
          </a:p>
        </p:txBody>
      </p:sp>
      <p:sp>
        <p:nvSpPr>
          <p:cNvPr id="9" name="p07-in2">
            <a:extLst xmlns:a="http://schemas.openxmlformats.org/drawingml/2006/main">
              <a:ext uri="{FF2B5EF4-FFF2-40B4-BE49-F238E27FC236}">
                <a16:creationId xmlns:a16="http://schemas.microsoft.com/office/drawing/2014/main" id="{CA1A90C1-5488-4808-9D73-26CB9110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指标：限定条件遗漏率</a:t>
            </a:r>
          </a:p>
        </p:txBody>
      </p:sp>
      <p:sp>
        <p:nvSpPr>
          <p:cNvPr id="10" name="p07-non">
            <a:extLst xmlns:a="http://schemas.openxmlformats.org/drawingml/2006/main">
              <a:ext uri="{FF2B5EF4-FFF2-40B4-BE49-F238E27FC236}">
                <a16:creationId xmlns:a16="http://schemas.microsoft.com/office/drawing/2014/main" id="{B986F5B1-CAB8-41A4-B977-D6614749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342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明确非例</a:t>
            </a:r>
          </a:p>
        </p:txBody>
      </p:sp>
      <p:sp>
        <p:nvSpPr>
          <p:cNvPr id="11" name="p07-out0">
            <a:extLst xmlns:a="http://schemas.openxmlformats.org/drawingml/2006/main">
              <a:ext uri="{FF2B5EF4-FFF2-40B4-BE49-F238E27FC236}">
                <a16:creationId xmlns:a16="http://schemas.microsoft.com/office/drawing/2014/main" id="{8A14F7F5-1490-4286-A1C1-C15F86BD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通用写作质量｜不同层面</a:t>
            </a:r>
          </a:p>
        </p:txBody>
      </p:sp>
      <p:sp>
        <p:nvSpPr>
          <p:cNvPr id="12" name="p07-out1">
            <a:extLst xmlns:a="http://schemas.openxmlformats.org/drawingml/2006/main">
              <a:ext uri="{FF2B5EF4-FFF2-40B4-BE49-F238E27FC236}">
                <a16:creationId xmlns:a16="http://schemas.microsoft.com/office/drawing/2014/main" id="{72F63A57-7605-4C9A-9A99-4877B4DD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语言美感｜不同指标</a:t>
            </a:r>
          </a:p>
        </p:txBody>
      </p:sp>
      <p:sp>
        <p:nvSpPr>
          <p:cNvPr id="13" name="p07-out2">
            <a:extLst xmlns:a="http://schemas.openxmlformats.org/drawingml/2006/main">
              <a:ext uri="{FF2B5EF4-FFF2-40B4-BE49-F238E27FC236}">
                <a16:creationId xmlns:a16="http://schemas.microsoft.com/office/drawing/2014/main" id="{D2A9CCBC-0873-4634-802D-7A1594DA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3143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×  需专业设备的学科｜超出周期</a:t>
            </a:r>
          </a:p>
        </p:txBody>
      </p:sp>
      <p:sp>
        <p:nvSpPr>
          <p:cNvPr id="14" name="p07-boundary">
            <a:extLst xmlns:a="http://schemas.openxmlformats.org/drawingml/2006/main">
              <a:ext uri="{FF2B5EF4-FFF2-40B4-BE49-F238E27FC236}">
                <a16:creationId xmlns:a16="http://schemas.microsoft.com/office/drawing/2014/main" id="{B105E8CF-42BA-4A4B-B9A0-11FD818F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3333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正边界  +  负边界</a:t>
            </a:r>
          </a:p>
        </p:txBody>
      </p:sp>
      <p:sp>
        <p:nvSpPr>
          <p:cNvPr id="15" name="p07-bottom">
            <a:extLst xmlns:a="http://schemas.openxmlformats.org/drawingml/2006/main">
              <a:ext uri="{FF2B5EF4-FFF2-40B4-BE49-F238E27FC236}">
                <a16:creationId xmlns:a16="http://schemas.microsoft.com/office/drawing/2014/main" id="{2AF6764F-5495-4449-889F-D951585E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577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非例必须说明“为什么不算”，才能阻止项目随检索膨胀。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非例的三种常见错误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0-h">
            <a:extLst xmlns:a="http://schemas.openxmlformats.org/drawingml/2006/main">
              <a:ext uri="{FF2B5EF4-FFF2-40B4-BE49-F238E27FC236}">
                <a16:creationId xmlns:a16="http://schemas.microsoft.com/office/drawing/2014/main" id="{2C3AD09C-C93C-4184-992D-B622F0FA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过宽</a:t>
            </a:r>
          </a:p>
        </p:txBody>
      </p:sp>
      <p:sp>
        <p:nvSpPr>
          <p:cNvPr id="7" name="p08-0-d">
            <a:extLst xmlns:a="http://schemas.openxmlformats.org/drawingml/2006/main">
              <a:ext uri="{FF2B5EF4-FFF2-40B4-BE49-F238E27FC236}">
                <a16:creationId xmlns:a16="http://schemas.microsoft.com/office/drawing/2014/main" id="{CEF291DB-48A9-4945-B831-EC0315D1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不做无关研究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后果：没有实质约束</a:t>
            </a:r>
          </a:p>
        </p:txBody>
      </p:sp>
      <p:sp>
        <p:nvSpPr>
          <p:cNvPr id="8" name="p08-1-h">
            <a:extLst xmlns:a="http://schemas.openxmlformats.org/drawingml/2006/main">
              <a:ext uri="{FF2B5EF4-FFF2-40B4-BE49-F238E27FC236}">
                <a16:creationId xmlns:a16="http://schemas.microsoft.com/office/drawing/2014/main" id="{6452CA8C-3978-4A86-886D-3713F795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过窄</a:t>
            </a:r>
          </a:p>
        </p:txBody>
      </p:sp>
      <p:sp>
        <p:nvSpPr>
          <p:cNvPr id="9" name="p08-1-d">
            <a:extLst xmlns:a="http://schemas.openxmlformats.org/drawingml/2006/main">
              <a:ext uri="{FF2B5EF4-FFF2-40B4-BE49-F238E27FC236}">
                <a16:creationId xmlns:a16="http://schemas.microsoft.com/office/drawing/2014/main" id="{D87AD400-C689-4AF5-BED8-69560C48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不使用数据集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后果：只排除实现细节</a:t>
            </a:r>
          </a:p>
        </p:txBody>
      </p:sp>
      <p:sp>
        <p:nvSpPr>
          <p:cNvPr id="10" name="p08-2-h">
            <a:extLst xmlns:a="http://schemas.openxmlformats.org/drawingml/2006/main">
              <a:ext uri="{FF2B5EF4-FFF2-40B4-BE49-F238E27FC236}">
                <a16:creationId xmlns:a16="http://schemas.microsoft.com/office/drawing/2014/main" id="{34005588-F711-430C-82CE-86B0843F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335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与命题矛盾</a:t>
            </a:r>
          </a:p>
        </p:txBody>
      </p:sp>
      <p:sp>
        <p:nvSpPr>
          <p:cNvPr id="11" name="p08-2-d">
            <a:extLst xmlns:a="http://schemas.openxmlformats.org/drawingml/2006/main">
              <a:ext uri="{FF2B5EF4-FFF2-40B4-BE49-F238E27FC236}">
                <a16:creationId xmlns:a16="http://schemas.microsoft.com/office/drawing/2014/main" id="{E1B08999-491E-4C4A-8CC1-8D6F1328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71650"/>
            <a:ext cx="33337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排除必要检验条件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后果：命题无法被检验</a:t>
            </a:r>
          </a:p>
        </p:txBody>
      </p:sp>
      <p:sp>
        <p:nvSpPr>
          <p:cNvPr id="12" name="p08-test">
            <a:extLst xmlns:a="http://schemas.openxmlformats.org/drawingml/2006/main">
              <a:ext uri="{FF2B5EF4-FFF2-40B4-BE49-F238E27FC236}">
                <a16:creationId xmlns:a16="http://schemas.microsoft.com/office/drawing/2014/main" id="{F65775BA-2D76-4490-83E7-BEA0FD49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9334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快速测试：给同伴一个“看似相关”的方向，他能否仅凭范围与非例判断纳入/排除？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把宽泛主张改写为可证伪命题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bad">
            <a:extLst xmlns:a="http://schemas.openxmlformats.org/drawingml/2006/main">
              <a:ext uri="{FF2B5EF4-FFF2-40B4-BE49-F238E27FC236}">
                <a16:creationId xmlns:a16="http://schemas.microsoft.com/office/drawing/2014/main" id="{3B6712BC-3452-459F-A70F-06F6F8EB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37147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不可证伪</a:t>
            </a:r>
          </a:p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“结构化阅读卡是有用的”</a:t>
            </a:r>
          </a:p>
        </p:txBody>
      </p:sp>
      <p:sp>
        <p:nvSpPr>
          <p:cNvPr id="7" name="p09-a">
            <a:extLst xmlns:a="http://schemas.openxmlformats.org/drawingml/2006/main">
              <a:ext uri="{FF2B5EF4-FFF2-40B4-BE49-F238E27FC236}">
                <a16:creationId xmlns:a16="http://schemas.microsoft.com/office/drawing/2014/main" id="{BEC00720-9EEB-493D-9697-5A19432D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621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09-good">
            <a:extLst xmlns:a="http://schemas.openxmlformats.org/drawingml/2006/main">
              <a:ext uri="{FF2B5EF4-FFF2-40B4-BE49-F238E27FC236}">
                <a16:creationId xmlns:a16="http://schemas.microsoft.com/office/drawing/2014/main" id="{D9C5A6B0-A92F-499A-9F17-4C05050B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61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可证伪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在固定任务与评价标准下，阅读卡组相较自由摘要组的遗漏率更低；若未下降，主张不成立。</a:t>
            </a:r>
          </a:p>
        </p:txBody>
      </p:sp>
      <p:sp>
        <p:nvSpPr>
          <p:cNvPr id="9" name="p09-e0">
            <a:extLst xmlns:a="http://schemas.openxmlformats.org/drawingml/2006/main">
              <a:ext uri="{FF2B5EF4-FFF2-40B4-BE49-F238E27FC236}">
                <a16:creationId xmlns:a16="http://schemas.microsoft.com/office/drawing/2014/main" id="{B9F414DF-9568-466B-B974-C3EBE4BD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0" name="p09-e1">
            <a:extLst xmlns:a="http://schemas.openxmlformats.org/drawingml/2006/main">
              <a:ext uri="{FF2B5EF4-FFF2-40B4-BE49-F238E27FC236}">
                <a16:creationId xmlns:a16="http://schemas.microsoft.com/office/drawing/2014/main" id="{3835F2FC-FB5C-4EB2-9AD1-5B4FB59C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11" name="p09-e2">
            <a:extLst xmlns:a="http://schemas.openxmlformats.org/drawingml/2006/main">
              <a:ext uri="{FF2B5EF4-FFF2-40B4-BE49-F238E27FC236}">
                <a16:creationId xmlns:a16="http://schemas.microsoft.com/office/drawing/2014/main" id="{FDF14209-4229-4F45-9B2A-08B6DAAE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2" name="p09-e3">
            <a:extLst xmlns:a="http://schemas.openxmlformats.org/drawingml/2006/main">
              <a:ext uri="{FF2B5EF4-FFF2-40B4-BE49-F238E27FC236}">
                <a16:creationId xmlns:a16="http://schemas.microsoft.com/office/drawing/2014/main" id="{3975266A-4542-4DDA-99E8-A76A73F6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3" name="p09-e4">
            <a:extLst xmlns:a="http://schemas.openxmlformats.org/drawingml/2006/main">
              <a:ext uri="{FF2B5EF4-FFF2-40B4-BE49-F238E27FC236}">
                <a16:creationId xmlns:a16="http://schemas.microsoft.com/office/drawing/2014/main" id="{5A4E61C0-A8D1-4F82-BA3A-F6816E84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24250"/>
            <a:ext cx="180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推翻条件</a:t>
            </a:r>
          </a:p>
        </p:txBody>
      </p:sp>
      <p:sp>
        <p:nvSpPr>
          <p:cNvPr id="14" name="p09-bottom">
            <a:extLst xmlns:a="http://schemas.openxmlformats.org/drawingml/2006/main">
              <a:ext uri="{FF2B5EF4-FFF2-40B4-BE49-F238E27FC236}">
                <a16:creationId xmlns:a16="http://schemas.microsoft.com/office/drawing/2014/main" id="{79C353C9-9A4E-4B5F-8CFC-C70DC40A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能指出什么观察会使主张不成立，才进入可检验状态。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竞争假设与区分实验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h1-h">
            <a:extLst xmlns:a="http://schemas.openxmlformats.org/drawingml/2006/main">
              <a:ext uri="{FF2B5EF4-FFF2-40B4-BE49-F238E27FC236}">
                <a16:creationId xmlns:a16="http://schemas.microsoft.com/office/drawing/2014/main" id="{C112B67F-6864-4517-8E78-3B2DBF8C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H1｜结构机制</a:t>
            </a:r>
          </a:p>
        </p:txBody>
      </p:sp>
      <p:sp>
        <p:nvSpPr>
          <p:cNvPr id="7" name="p10-h1-d">
            <a:extLst xmlns:a="http://schemas.openxmlformats.org/drawingml/2006/main">
              <a:ext uri="{FF2B5EF4-FFF2-40B4-BE49-F238E27FC236}">
                <a16:creationId xmlns:a16="http://schemas.microsoft.com/office/drawing/2014/main" id="{9C918CBE-6F67-4B4F-B886-74C82A3F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阅读卡强制定位原文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减少模型新增内容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遗漏率下降</a:t>
            </a:r>
          </a:p>
        </p:txBody>
      </p:sp>
      <p:sp>
        <p:nvSpPr>
          <p:cNvPr id="8" name="p10-h2-h">
            <a:extLst xmlns:a="http://schemas.openxmlformats.org/drawingml/2006/main">
              <a:ext uri="{FF2B5EF4-FFF2-40B4-BE49-F238E27FC236}">
                <a16:creationId xmlns:a16="http://schemas.microsoft.com/office/drawing/2014/main" id="{B90118D9-8D9A-4316-9CBD-BD3F7DED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H2｜时间解释</a:t>
            </a:r>
          </a:p>
        </p:txBody>
      </p:sp>
      <p:sp>
        <p:nvSpPr>
          <p:cNvPr id="9" name="p10-h2-d">
            <a:extLst xmlns:a="http://schemas.openxmlformats.org/drawingml/2006/main">
              <a:ext uri="{FF2B5EF4-FFF2-40B4-BE49-F238E27FC236}">
                <a16:creationId xmlns:a16="http://schemas.microsoft.com/office/drawing/2014/main" id="{2B4171CF-5E6D-4D92-9F07-32EB3B8F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阅读卡只是增加用时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更多检查时间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遗漏率下降</a:t>
            </a:r>
          </a:p>
        </p:txBody>
      </p:sp>
      <p:sp>
        <p:nvSpPr>
          <p:cNvPr id="10" name="p10-test-h">
            <a:extLst xmlns:a="http://schemas.openxmlformats.org/drawingml/2006/main">
              <a:ext uri="{FF2B5EF4-FFF2-40B4-BE49-F238E27FC236}">
                <a16:creationId xmlns:a16="http://schemas.microsoft.com/office/drawing/2014/main" id="{FD171520-9172-4794-8DD2-8D396C9F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143000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区分实验</a:t>
            </a:r>
          </a:p>
        </p:txBody>
      </p:sp>
      <p:sp>
        <p:nvSpPr>
          <p:cNvPr id="11" name="p10-test-d">
            <a:extLst xmlns:a="http://schemas.openxmlformats.org/drawingml/2006/main">
              <a:ext uri="{FF2B5EF4-FFF2-40B4-BE49-F238E27FC236}">
                <a16:creationId xmlns:a16="http://schemas.microsoft.com/office/drawing/2014/main" id="{509597E4-15BF-408A-B590-B36B1ADD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81150"/>
            <a:ext cx="33337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 + 等量时间</a:t>
            </a:r>
          </a:p>
        </p:txBody>
      </p:sp>
      <p:sp>
        <p:nvSpPr>
          <p:cNvPr id="12" name="p10-a1">
            <a:extLst xmlns:a="http://schemas.openxmlformats.org/drawingml/2006/main">
              <a:ext uri="{FF2B5EF4-FFF2-40B4-BE49-F238E27FC236}">
                <a16:creationId xmlns:a16="http://schemas.microsoft.com/office/drawing/2014/main" id="{4108167C-E820-49CC-8625-924F6367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81375"/>
            <a:ext cx="1143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进入比较</a:t>
            </a:r>
          </a:p>
        </p:txBody>
      </p:sp>
      <p:sp>
        <p:nvSpPr>
          <p:cNvPr id="13" name="p10-a2">
            <a:extLst xmlns:a="http://schemas.openxmlformats.org/drawingml/2006/main">
              <a:ext uri="{FF2B5EF4-FFF2-40B4-BE49-F238E27FC236}">
                <a16:creationId xmlns:a16="http://schemas.microsoft.com/office/drawing/2014/main" id="{D79A1E44-F275-4621-825D-A5BC1838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143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进入比较</a:t>
            </a:r>
          </a:p>
        </p:txBody>
      </p:sp>
      <p:sp>
        <p:nvSpPr>
          <p:cNvPr id="14" name="p10-result">
            <a:extLst xmlns:a="http://schemas.openxmlformats.org/drawingml/2006/main">
              <a:ext uri="{FF2B5EF4-FFF2-40B4-BE49-F238E27FC236}">
                <a16:creationId xmlns:a16="http://schemas.microsoft.com/office/drawing/2014/main" id="{55145C8E-F77C-4DC8-A5F6-437793C3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95750"/>
            <a:ext cx="7810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若只有阅读卡组下降，才更有力地排除“仅仅多花时间”的解释。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第一性原理不是脱离证据的捷径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0-h">
            <a:extLst xmlns:a="http://schemas.openxmlformats.org/drawingml/2006/main">
              <a:ext uri="{FF2B5EF4-FFF2-40B4-BE49-F238E27FC236}">
                <a16:creationId xmlns:a16="http://schemas.microsoft.com/office/drawing/2014/main" id="{EAB7CCD0-2073-43BB-984F-8D9167FB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不替代检索</a:t>
            </a:r>
          </a:p>
        </p:txBody>
      </p:sp>
      <p:sp>
        <p:nvSpPr>
          <p:cNvPr id="7" name="p11-0-d">
            <a:extLst xmlns:a="http://schemas.openxmlformats.org/drawingml/2006/main">
              <a:ext uri="{FF2B5EF4-FFF2-40B4-BE49-F238E27FC236}">
                <a16:creationId xmlns:a16="http://schemas.microsoft.com/office/drawing/2014/main" id="{EBAD6A0A-5E6B-4D87-B910-0A45F60B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待验证前提仍要回到文献与证据地图</a:t>
            </a:r>
          </a:p>
        </p:txBody>
      </p:sp>
      <p:sp>
        <p:nvSpPr>
          <p:cNvPr id="8" name="p11-1-h">
            <a:extLst xmlns:a="http://schemas.openxmlformats.org/drawingml/2006/main">
              <a:ext uri="{FF2B5EF4-FFF2-40B4-BE49-F238E27FC236}">
                <a16:creationId xmlns:a16="http://schemas.microsoft.com/office/drawing/2014/main" id="{76B36347-06B8-451F-BBA9-1302A111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95375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不脱离既有工作</a:t>
            </a:r>
          </a:p>
        </p:txBody>
      </p:sp>
      <p:sp>
        <p:nvSpPr>
          <p:cNvPr id="9" name="p11-1-d">
            <a:extLst xmlns:a="http://schemas.openxmlformats.org/drawingml/2006/main">
              <a:ext uri="{FF2B5EF4-FFF2-40B4-BE49-F238E27FC236}">
                <a16:creationId xmlns:a16="http://schemas.microsoft.com/office/drawing/2014/main" id="{9A789A86-EE11-4F1F-82EB-9C79B1D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33525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从已核验材料与空白出发</a:t>
            </a:r>
          </a:p>
        </p:txBody>
      </p:sp>
      <p:sp>
        <p:nvSpPr>
          <p:cNvPr id="10" name="p11-2-h">
            <a:extLst xmlns:a="http://schemas.openxmlformats.org/drawingml/2006/main">
              <a:ext uri="{FF2B5EF4-FFF2-40B4-BE49-F238E27FC236}">
                <a16:creationId xmlns:a16="http://schemas.microsoft.com/office/drawing/2014/main" id="{CA610AD2-46D6-4A60-AD52-7152B089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不自动成立</a:t>
            </a:r>
          </a:p>
        </p:txBody>
      </p:sp>
      <p:sp>
        <p:nvSpPr>
          <p:cNvPr id="11" name="p11-2-d">
            <a:extLst xmlns:a="http://schemas.openxmlformats.org/drawingml/2006/main">
              <a:ext uri="{FF2B5EF4-FFF2-40B4-BE49-F238E27FC236}">
                <a16:creationId xmlns:a16="http://schemas.microsoft.com/office/drawing/2014/main" id="{839709A1-25C4-4DE5-98F9-135AB8C4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推导不是证明，必须接受外部检验</a:t>
            </a:r>
          </a:p>
        </p:txBody>
      </p:sp>
      <p:sp>
        <p:nvSpPr>
          <p:cNvPr id="12" name="p11-3-h">
            <a:extLst xmlns:a="http://schemas.openxmlformats.org/drawingml/2006/main">
              <a:ext uri="{FF2B5EF4-FFF2-40B4-BE49-F238E27FC236}">
                <a16:creationId xmlns:a16="http://schemas.microsoft.com/office/drawing/2014/main" id="{04D87592-F6B1-4503-8E21-BF93D10E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5143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不追求穷举</a:t>
            </a:r>
          </a:p>
        </p:txBody>
      </p:sp>
      <p:sp>
        <p:nvSpPr>
          <p:cNvPr id="13" name="p11-3-d">
            <a:extLst xmlns:a="http://schemas.openxmlformats.org/drawingml/2006/main">
              <a:ext uri="{FF2B5EF4-FFF2-40B4-BE49-F238E27FC236}">
                <a16:creationId xmlns:a16="http://schemas.microsoft.com/office/drawing/2014/main" id="{FD84E5BF-AE02-4237-A36B-4DA0EA60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00400"/>
            <a:ext cx="51435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只推导当前关键机制与约束</a:t>
            </a:r>
          </a:p>
        </p:txBody>
      </p:sp>
      <p:sp>
        <p:nvSpPr>
          <p:cNvPr id="14" name="p11-loop">
            <a:extLst xmlns:a="http://schemas.openxmlformats.org/drawingml/2006/main">
              <a:ext uri="{FF2B5EF4-FFF2-40B4-BE49-F238E27FC236}">
                <a16:creationId xmlns:a16="http://schemas.microsoft.com/office/drawing/2014/main" id="{431F1C63-EEF0-4B88-AE4E-D400C8A3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942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证据地图  →  基本约束 / 机制  →  待验证前提  →  外部证据检验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第一性原理四步推导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n0">
            <a:extLst xmlns:a="http://schemas.openxmlformats.org/drawingml/2006/main">
              <a:ext uri="{FF2B5EF4-FFF2-40B4-BE49-F238E27FC236}">
                <a16:creationId xmlns:a16="http://schemas.microsoft.com/office/drawing/2014/main" id="{E07CC29F-BC4F-40F0-8E3B-A226744C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-h0">
            <a:extLst xmlns:a="http://schemas.openxmlformats.org/drawingml/2006/main">
              <a:ext uri="{FF2B5EF4-FFF2-40B4-BE49-F238E27FC236}">
                <a16:creationId xmlns:a16="http://schemas.microsoft.com/office/drawing/2014/main" id="{37FA2CD5-A016-49A9-9786-E92AA8FA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287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基本约束</a:t>
            </a:r>
          </a:p>
        </p:txBody>
      </p:sp>
      <p:sp>
        <p:nvSpPr>
          <p:cNvPr id="8" name="p12-d0">
            <a:extLst xmlns:a="http://schemas.openxmlformats.org/drawingml/2006/main">
              <a:ext uri="{FF2B5EF4-FFF2-40B4-BE49-F238E27FC236}">
                <a16:creationId xmlns:a16="http://schemas.microsoft.com/office/drawing/2014/main" id="{BB298543-D736-4A51-98FA-D6ED0258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287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主张成立必须满足什么？</a:t>
            </a:r>
          </a:p>
        </p:txBody>
      </p:sp>
      <p:sp>
        <p:nvSpPr>
          <p:cNvPr id="9" name="p12-n1">
            <a:extLst xmlns:a="http://schemas.openxmlformats.org/drawingml/2006/main">
              <a:ext uri="{FF2B5EF4-FFF2-40B4-BE49-F238E27FC236}">
                <a16:creationId xmlns:a16="http://schemas.microsoft.com/office/drawing/2014/main" id="{76FAAD73-12B8-4B76-82BB-F77AAA42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2-h1">
            <a:extLst xmlns:a="http://schemas.openxmlformats.org/drawingml/2006/main">
              <a:ext uri="{FF2B5EF4-FFF2-40B4-BE49-F238E27FC236}">
                <a16:creationId xmlns:a16="http://schemas.microsoft.com/office/drawing/2014/main" id="{E6FB4C60-C859-44DB-A9EB-504A701A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574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作用机制</a:t>
            </a:r>
          </a:p>
        </p:txBody>
      </p:sp>
      <p:sp>
        <p:nvSpPr>
          <p:cNvPr id="11" name="p12-d1">
            <a:extLst xmlns:a="http://schemas.openxmlformats.org/drawingml/2006/main">
              <a:ext uri="{FF2B5EF4-FFF2-40B4-BE49-F238E27FC236}">
                <a16:creationId xmlns:a16="http://schemas.microsoft.com/office/drawing/2014/main" id="{8F68276F-69CA-4427-BE03-8107C916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干预通过什么中间过程起作用？</a:t>
            </a:r>
          </a:p>
        </p:txBody>
      </p:sp>
      <p:sp>
        <p:nvSpPr>
          <p:cNvPr id="12" name="p12-n2">
            <a:extLst xmlns:a="http://schemas.openxmlformats.org/drawingml/2006/main">
              <a:ext uri="{FF2B5EF4-FFF2-40B4-BE49-F238E27FC236}">
                <a16:creationId xmlns:a16="http://schemas.microsoft.com/office/drawing/2014/main" id="{399E3CDF-D23B-44CD-8A27-AFC21C4C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2-h2">
            <a:extLst xmlns:a="http://schemas.openxmlformats.org/drawingml/2006/main">
              <a:ext uri="{FF2B5EF4-FFF2-40B4-BE49-F238E27FC236}">
                <a16:creationId xmlns:a16="http://schemas.microsoft.com/office/drawing/2014/main" id="{D89C4FEF-2B1F-40E9-AB13-98584612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861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不可违背条件</a:t>
            </a:r>
          </a:p>
        </p:txBody>
      </p:sp>
      <p:sp>
        <p:nvSpPr>
          <p:cNvPr id="14" name="p12-d2">
            <a:extLst xmlns:a="http://schemas.openxmlformats.org/drawingml/2006/main">
              <a:ext uri="{FF2B5EF4-FFF2-40B4-BE49-F238E27FC236}">
                <a16:creationId xmlns:a16="http://schemas.microsoft.com/office/drawing/2014/main" id="{E529FBC6-A40F-4C0F-9ECC-8CF77B85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怎样比较才公平、可复现？</a:t>
            </a:r>
          </a:p>
        </p:txBody>
      </p:sp>
      <p:sp>
        <p:nvSpPr>
          <p:cNvPr id="15" name="p12-n3">
            <a:extLst xmlns:a="http://schemas.openxmlformats.org/drawingml/2006/main">
              <a:ext uri="{FF2B5EF4-FFF2-40B4-BE49-F238E27FC236}">
                <a16:creationId xmlns:a16="http://schemas.microsoft.com/office/drawing/2014/main" id="{5FE6F8B6-5C4E-4FB7-924B-A523654C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2-h3">
            <a:extLst xmlns:a="http://schemas.openxmlformats.org/drawingml/2006/main">
              <a:ext uri="{FF2B5EF4-FFF2-40B4-BE49-F238E27FC236}">
                <a16:creationId xmlns:a16="http://schemas.microsoft.com/office/drawing/2014/main" id="{880DDA82-25D6-4562-9C25-E773D327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4800"/>
            <a:ext cx="238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17" name="p12-d3">
            <a:extLst xmlns:a="http://schemas.openxmlformats.org/drawingml/2006/main">
              <a:ext uri="{FF2B5EF4-FFF2-40B4-BE49-F238E27FC236}">
                <a16:creationId xmlns:a16="http://schemas.microsoft.com/office/drawing/2014/main" id="{EB2E7ECA-94F9-4731-A532-17FB1070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14800"/>
            <a:ext cx="7048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从前三步推出什么可检验陈述？</a:t>
            </a:r>
          </a:p>
        </p:txBody>
      </p:sp>
      <p:sp>
        <p:nvSpPr>
          <p:cNvPr id="18" name="p12-bottom">
            <a:extLst xmlns:a="http://schemas.openxmlformats.org/drawingml/2006/main">
              <a:ext uri="{FF2B5EF4-FFF2-40B4-BE49-F238E27FC236}">
                <a16:creationId xmlns:a16="http://schemas.microsoft.com/office/drawing/2014/main" id="{5730FD6E-C7E3-4169-B08F-561C72B6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每一步都标注依据：任务约束、已核验证据或待检验假设。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推导示范：从约束到待验证前提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virtual">
            <a:extLst xmlns:a="http://schemas.openxmlformats.org/drawingml/2006/main">
              <a:ext uri="{FF2B5EF4-FFF2-40B4-BE49-F238E27FC236}">
                <a16:creationId xmlns:a16="http://schemas.microsoft.com/office/drawing/2014/main" id="{B255E6B2-8710-4E07-93FC-8029F625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3-0-h">
            <a:extLst xmlns:a="http://schemas.openxmlformats.org/drawingml/2006/main">
              <a:ext uri="{FF2B5EF4-FFF2-40B4-BE49-F238E27FC236}">
                <a16:creationId xmlns:a16="http://schemas.microsoft.com/office/drawing/2014/main" id="{9F94C346-3742-4B3A-A7D8-038E8077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基本约束</a:t>
            </a:r>
          </a:p>
        </p:txBody>
      </p:sp>
      <p:sp>
        <p:nvSpPr>
          <p:cNvPr id="8" name="p13-0-d">
            <a:extLst xmlns:a="http://schemas.openxmlformats.org/drawingml/2006/main">
              <a:ext uri="{FF2B5EF4-FFF2-40B4-BE49-F238E27FC236}">
                <a16:creationId xmlns:a16="http://schemas.microsoft.com/office/drawing/2014/main" id="{3C95CE52-7D19-45DA-BCBB-F56C9403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主张可定位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来源含支持内容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核验者可区分新增</a:t>
            </a:r>
          </a:p>
        </p:txBody>
      </p:sp>
      <p:sp>
        <p:nvSpPr>
          <p:cNvPr id="9" name="p13-1-h">
            <a:extLst xmlns:a="http://schemas.openxmlformats.org/drawingml/2006/main">
              <a:ext uri="{FF2B5EF4-FFF2-40B4-BE49-F238E27FC236}">
                <a16:creationId xmlns:a16="http://schemas.microsoft.com/office/drawing/2014/main" id="{F5E136FA-A16D-40D2-AD99-C61EDB4B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作用机制</a:t>
            </a:r>
          </a:p>
        </p:txBody>
      </p:sp>
      <p:sp>
        <p:nvSpPr>
          <p:cNvPr id="10" name="p13-1-d">
            <a:extLst xmlns:a="http://schemas.openxmlformats.org/drawingml/2006/main">
              <a:ext uri="{FF2B5EF4-FFF2-40B4-BE49-F238E27FC236}">
                <a16:creationId xmlns:a16="http://schemas.microsoft.com/office/drawing/2014/main" id="{1D8196EC-92DC-4723-9CCE-168B8AED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分栏记录任务 / 设置 / 结果 / 局限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使主张绑定来源</a:t>
            </a:r>
          </a:p>
        </p:txBody>
      </p:sp>
      <p:sp>
        <p:nvSpPr>
          <p:cNvPr id="11" name="p13-2-h">
            <a:extLst xmlns:a="http://schemas.openxmlformats.org/drawingml/2006/main">
              <a:ext uri="{FF2B5EF4-FFF2-40B4-BE49-F238E27FC236}">
                <a16:creationId xmlns:a16="http://schemas.microsoft.com/office/drawing/2014/main" id="{4BB0B72B-3625-451D-95D0-6C145EDB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不可违背</a:t>
            </a:r>
          </a:p>
        </p:txBody>
      </p:sp>
      <p:sp>
        <p:nvSpPr>
          <p:cNvPr id="12" name="p13-2-d">
            <a:extLst xmlns:a="http://schemas.openxmlformats.org/drawingml/2006/main">
              <a:ext uri="{FF2B5EF4-FFF2-40B4-BE49-F238E27FC236}">
                <a16:creationId xmlns:a16="http://schemas.microsoft.com/office/drawing/2014/main" id="{0B1A345B-92BD-462A-AE69-0C2330F6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同论文、同模型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 rubric、盲评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遗漏有定义</a:t>
            </a:r>
          </a:p>
        </p:txBody>
      </p:sp>
      <p:sp>
        <p:nvSpPr>
          <p:cNvPr id="13" name="p13-3-h">
            <a:extLst xmlns:a="http://schemas.openxmlformats.org/drawingml/2006/main">
              <a:ext uri="{FF2B5EF4-FFF2-40B4-BE49-F238E27FC236}">
                <a16:creationId xmlns:a16="http://schemas.microsoft.com/office/drawing/2014/main" id="{2756BA41-B0F7-42EB-922E-DA9A70E9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524000"/>
            <a:ext cx="2667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14" name="p13-3-d">
            <a:extLst xmlns:a="http://schemas.openxmlformats.org/drawingml/2006/main">
              <a:ext uri="{FF2B5EF4-FFF2-40B4-BE49-F238E27FC236}">
                <a16:creationId xmlns:a16="http://schemas.microsoft.com/office/drawing/2014/main" id="{FCB3A255-9FB3-4D5E-B597-FD13BCC4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667000" cy="2228850"/>
          </a:xfrm>
          <a:prstGeom xmlns:a="http://schemas.openxmlformats.org/drawingml/2006/main" prst="roundRect">
            <a:avLst>
              <a:gd name="adj" fmla="val 341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若定位原文且标准固定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则遗漏率可测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差异可归因</a:t>
            </a:r>
          </a:p>
        </p:txBody>
      </p:sp>
      <p:sp>
        <p:nvSpPr>
          <p:cNvPr id="15" name="p13-a0">
            <a:extLst xmlns:a="http://schemas.openxmlformats.org/drawingml/2006/main">
              <a:ext uri="{FF2B5EF4-FFF2-40B4-BE49-F238E27FC236}">
                <a16:creationId xmlns:a16="http://schemas.microsoft.com/office/drawing/2014/main" id="{B32425DF-58EA-4B83-8DE8-3755DABD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19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3-a1">
            <a:extLst xmlns:a="http://schemas.openxmlformats.org/drawingml/2006/main">
              <a:ext uri="{FF2B5EF4-FFF2-40B4-BE49-F238E27FC236}">
                <a16:creationId xmlns:a16="http://schemas.microsoft.com/office/drawing/2014/main" id="{6C80E3BE-70FE-4EAE-851F-C880108A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3-a2">
            <a:extLst xmlns:a="http://schemas.openxmlformats.org/drawingml/2006/main">
              <a:ext uri="{FF2B5EF4-FFF2-40B4-BE49-F238E27FC236}">
                <a16:creationId xmlns:a16="http://schemas.microsoft.com/office/drawing/2014/main" id="{9D46DA23-BB17-4F63-B5AA-5631C4F9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19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13-bottom">
            <a:extLst xmlns:a="http://schemas.openxmlformats.org/drawingml/2006/main">
              <a:ext uri="{FF2B5EF4-FFF2-40B4-BE49-F238E27FC236}">
                <a16:creationId xmlns:a16="http://schemas.microsoft.com/office/drawing/2014/main" id="{D51A9F74-0CD0-44F2-B79A-89D800E9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输出是待验证前提，不是实证结论；第 7 课再转成机制假设。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问题门八项条件自查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0">
            <a:extLst xmlns:a="http://schemas.openxmlformats.org/drawingml/2006/main">
              <a:ext uri="{FF2B5EF4-FFF2-40B4-BE49-F238E27FC236}">
                <a16:creationId xmlns:a16="http://schemas.microsoft.com/office/drawing/2014/main" id="{45E94757-A767-481F-9CDA-E025A49D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477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4-g0">
            <a:extLst xmlns:a="http://schemas.openxmlformats.org/drawingml/2006/main">
              <a:ext uri="{FF2B5EF4-FFF2-40B4-BE49-F238E27FC236}">
                <a16:creationId xmlns:a16="http://schemas.microsoft.com/office/drawing/2014/main" id="{EFE7B06C-FC81-47F1-9B66-5682C5EE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9810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≥10 篇候选文献 + 证据角色</a:t>
            </a:r>
          </a:p>
        </p:txBody>
      </p:sp>
      <p:sp>
        <p:nvSpPr>
          <p:cNvPr id="8" name="p14-n1">
            <a:extLst xmlns:a="http://schemas.openxmlformats.org/drawingml/2006/main">
              <a:ext uri="{FF2B5EF4-FFF2-40B4-BE49-F238E27FC236}">
                <a16:creationId xmlns:a16="http://schemas.microsoft.com/office/drawing/2014/main" id="{048E770B-C6F5-48A8-9AF2-26BAD89C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477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4-g1">
            <a:extLst xmlns:a="http://schemas.openxmlformats.org/drawingml/2006/main">
              <a:ext uri="{FF2B5EF4-FFF2-40B4-BE49-F238E27FC236}">
                <a16:creationId xmlns:a16="http://schemas.microsoft.com/office/drawing/2014/main" id="{B5E6B6C9-E891-4711-9E94-293611A6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9810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张核心材料完整精读卡</a:t>
            </a:r>
          </a:p>
        </p:txBody>
      </p:sp>
      <p:sp>
        <p:nvSpPr>
          <p:cNvPr id="10" name="p14-n2">
            <a:extLst xmlns:a="http://schemas.openxmlformats.org/drawingml/2006/main">
              <a:ext uri="{FF2B5EF4-FFF2-40B4-BE49-F238E27FC236}">
                <a16:creationId xmlns:a16="http://schemas.microsoft.com/office/drawing/2014/main" id="{0B9FFF52-A1B7-4F39-A9F8-03AB457B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4-g2">
            <a:extLst xmlns:a="http://schemas.openxmlformats.org/drawingml/2006/main">
              <a:ext uri="{FF2B5EF4-FFF2-40B4-BE49-F238E27FC236}">
                <a16:creationId xmlns:a16="http://schemas.microsoft.com/office/drawing/2014/main" id="{D7F934DA-2DDE-4241-833E-CD236FBA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859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初始地图 + ≥2 原文位置 + 错误/过度概括/遗漏或已检查风险 + 人工判断</a:t>
            </a:r>
          </a:p>
        </p:txBody>
      </p:sp>
      <p:sp>
        <p:nvSpPr>
          <p:cNvPr id="12" name="p14-n3">
            <a:extLst xmlns:a="http://schemas.openxmlformats.org/drawingml/2006/main">
              <a:ext uri="{FF2B5EF4-FFF2-40B4-BE49-F238E27FC236}">
                <a16:creationId xmlns:a16="http://schemas.microsoft.com/office/drawing/2014/main" id="{1284B0E7-3007-48EF-B8D7-57F8C5F5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52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4-g3">
            <a:extLst xmlns:a="http://schemas.openxmlformats.org/drawingml/2006/main">
              <a:ext uri="{FF2B5EF4-FFF2-40B4-BE49-F238E27FC236}">
                <a16:creationId xmlns:a16="http://schemas.microsoft.com/office/drawing/2014/main" id="{0DFDDC10-8319-48AD-8831-6345022F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0859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证据地图：直接 / 补充 / 冲突 / 空白</a:t>
            </a:r>
          </a:p>
        </p:txBody>
      </p:sp>
      <p:sp>
        <p:nvSpPr>
          <p:cNvPr id="14" name="p14-n4">
            <a:extLst xmlns:a="http://schemas.openxmlformats.org/drawingml/2006/main">
              <a:ext uri="{FF2B5EF4-FFF2-40B4-BE49-F238E27FC236}">
                <a16:creationId xmlns:a16="http://schemas.microsoft.com/office/drawing/2014/main" id="{4B154F0A-F856-4064-A3DA-223FC5C5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4-g4">
            <a:extLst xmlns:a="http://schemas.openxmlformats.org/drawingml/2006/main">
              <a:ext uri="{FF2B5EF4-FFF2-40B4-BE49-F238E27FC236}">
                <a16:creationId xmlns:a16="http://schemas.microsoft.com/office/drawing/2014/main" id="{CB2FD493-51B5-4940-BFB6-251685B9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1908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问题含范围、非例、≥1 可证伪命题</a:t>
            </a:r>
          </a:p>
        </p:txBody>
      </p:sp>
      <p:sp>
        <p:nvSpPr>
          <p:cNvPr id="16" name="p14-n5">
            <a:extLst xmlns:a="http://schemas.openxmlformats.org/drawingml/2006/main">
              <a:ext uri="{FF2B5EF4-FFF2-40B4-BE49-F238E27FC236}">
                <a16:creationId xmlns:a16="http://schemas.microsoft.com/office/drawing/2014/main" id="{C1D4EBF9-128B-4445-96B7-209AF0D2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14-g5">
            <a:extLst xmlns:a="http://schemas.openxmlformats.org/drawingml/2006/main">
              <a:ext uri="{FF2B5EF4-FFF2-40B4-BE49-F238E27FC236}">
                <a16:creationId xmlns:a16="http://schemas.microsoft.com/office/drawing/2014/main" id="{9199512B-285B-43A4-BCB8-35CB2F53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1908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第一性原理：必要条件 / 关键约束 / 可检验前提</a:t>
            </a:r>
          </a:p>
        </p:txBody>
      </p:sp>
      <p:sp>
        <p:nvSpPr>
          <p:cNvPr id="18" name="p14-n6">
            <a:extLst xmlns:a="http://schemas.openxmlformats.org/drawingml/2006/main">
              <a:ext uri="{FF2B5EF4-FFF2-40B4-BE49-F238E27FC236}">
                <a16:creationId xmlns:a16="http://schemas.microsoft.com/office/drawing/2014/main" id="{23645BE0-F710-44EF-AB07-20611DDD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62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9" name="p14-g6">
            <a:extLst xmlns:a="http://schemas.openxmlformats.org/drawingml/2006/main">
              <a:ext uri="{FF2B5EF4-FFF2-40B4-BE49-F238E27FC236}">
                <a16:creationId xmlns:a16="http://schemas.microsoft.com/office/drawing/2014/main" id="{52D6D6FE-A9D0-43AD-96ED-22B1C917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2957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重要性 + 课程周期可行性</a:t>
            </a:r>
          </a:p>
        </p:txBody>
      </p:sp>
      <p:sp>
        <p:nvSpPr>
          <p:cNvPr id="20" name="p14-n7">
            <a:extLst xmlns:a="http://schemas.openxmlformats.org/drawingml/2006/main">
              <a:ext uri="{FF2B5EF4-FFF2-40B4-BE49-F238E27FC236}">
                <a16:creationId xmlns:a16="http://schemas.microsoft.com/office/drawing/2014/main" id="{55EB9F84-8D40-4ED0-AE82-7550726D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62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1" name="p14-g7">
            <a:extLst xmlns:a="http://schemas.openxmlformats.org/drawingml/2006/main">
              <a:ext uri="{FF2B5EF4-FFF2-40B4-BE49-F238E27FC236}">
                <a16:creationId xmlns:a16="http://schemas.microsoft.com/office/drawing/2014/main" id="{9B9CB43C-F9A2-479A-97C5-6A968F31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295775"/>
            <a:ext cx="509587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检索 / 阅读 / 改写：来源与人工核验方式</a:t>
            </a:r>
          </a:p>
        </p:txBody>
      </p:sp>
      <p:sp>
        <p:nvSpPr>
          <p:cNvPr id="22" name="p14-bottom">
            <a:extLst xmlns:a="http://schemas.openxmlformats.org/drawingml/2006/main">
              <a:ext uri="{FF2B5EF4-FFF2-40B4-BE49-F238E27FC236}">
                <a16:creationId xmlns:a16="http://schemas.microsoft.com/office/drawing/2014/main" id="{DD4BB5BE-0FA3-45ED-9656-CA057F23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00675"/>
            <a:ext cx="942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1-5 课工件持续累计；本课重点补第 5-7 项，并继续回写第 8 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门条件自查：累计工件与当前缺口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virtual">
            <a:extLst xmlns:a="http://schemas.openxmlformats.org/drawingml/2006/main">
              <a:ext uri="{FF2B5EF4-FFF2-40B4-BE49-F238E27FC236}">
                <a16:creationId xmlns:a16="http://schemas.microsoft.com/office/drawing/2014/main" id="{A576835C-585A-4533-B59E-D9FA3DAC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虚构教学样例｜门条件状态仅演示核对方法</a:t>
            </a:r>
          </a:p>
        </p:txBody>
      </p:sp>
      <p:sp>
        <p:nvSpPr>
          <p:cNvPr id="7" name="p15-h0">
            <a:extLst xmlns:a="http://schemas.openxmlformats.org/drawingml/2006/main">
              <a:ext uri="{FF2B5EF4-FFF2-40B4-BE49-F238E27FC236}">
                <a16:creationId xmlns:a16="http://schemas.microsoft.com/office/drawing/2014/main" id="{730DC981-8DDD-4F79-9DDE-553B3E74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8" name="p15-h1">
            <a:extLst xmlns:a="http://schemas.openxmlformats.org/drawingml/2006/main">
              <a:ext uri="{FF2B5EF4-FFF2-40B4-BE49-F238E27FC236}">
                <a16:creationId xmlns:a16="http://schemas.microsoft.com/office/drawing/2014/main" id="{2AB6B045-332B-4496-BE55-88E2FA80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287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累计来源</a:t>
            </a:r>
          </a:p>
        </p:txBody>
      </p:sp>
      <p:sp>
        <p:nvSpPr>
          <p:cNvPr id="9" name="p15-h2">
            <a:extLst xmlns:a="http://schemas.openxmlformats.org/drawingml/2006/main">
              <a:ext uri="{FF2B5EF4-FFF2-40B4-BE49-F238E27FC236}">
                <a16:creationId xmlns:a16="http://schemas.microsoft.com/office/drawing/2014/main" id="{AAD4E3D3-714F-473F-BE90-65FC1FEF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当下要核对</a:t>
            </a:r>
          </a:p>
        </p:txBody>
      </p:sp>
      <p:sp>
        <p:nvSpPr>
          <p:cNvPr id="10" name="p15-r0-0">
            <a:extLst xmlns:a="http://schemas.openxmlformats.org/drawingml/2006/main">
              <a:ext uri="{FF2B5EF4-FFF2-40B4-BE49-F238E27FC236}">
                <a16:creationId xmlns:a16="http://schemas.microsoft.com/office/drawing/2014/main" id="{C0A1287A-386F-4E5F-9921-5E22FA95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≥10 候选</a:t>
            </a:r>
          </a:p>
        </p:txBody>
      </p:sp>
      <p:sp>
        <p:nvSpPr>
          <p:cNvPr id="11" name="p15-r0-1">
            <a:extLst xmlns:a="http://schemas.openxmlformats.org/drawingml/2006/main">
              <a:ext uri="{FF2B5EF4-FFF2-40B4-BE49-F238E27FC236}">
                <a16:creationId xmlns:a16="http://schemas.microsoft.com/office/drawing/2014/main" id="{C8F873BE-4FAD-478A-988D-2BCABADA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2880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3-5 课累计</a:t>
            </a:r>
          </a:p>
        </p:txBody>
      </p:sp>
      <p:sp>
        <p:nvSpPr>
          <p:cNvPr id="12" name="p15-r0-2">
            <a:extLst xmlns:a="http://schemas.openxmlformats.org/drawingml/2006/main">
              <a:ext uri="{FF2B5EF4-FFF2-40B4-BE49-F238E27FC236}">
                <a16:creationId xmlns:a16="http://schemas.microsoft.com/office/drawing/2014/main" id="{F38B84D9-2AD4-4CF4-8C16-1E8A2BBF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2880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数量 / 角色 / 状态</a:t>
            </a:r>
          </a:p>
        </p:txBody>
      </p:sp>
      <p:sp>
        <p:nvSpPr>
          <p:cNvPr id="13" name="p15-r1-0">
            <a:extLst xmlns:a="http://schemas.openxmlformats.org/drawingml/2006/main">
              <a:ext uri="{FF2B5EF4-FFF2-40B4-BE49-F238E27FC236}">
                <a16:creationId xmlns:a16="http://schemas.microsoft.com/office/drawing/2014/main" id="{ACD499F4-E6D9-4D94-852E-988576D6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≥3 精读卡</a:t>
            </a:r>
          </a:p>
        </p:txBody>
      </p:sp>
      <p:sp>
        <p:nvSpPr>
          <p:cNvPr id="14" name="p15-r1-1">
            <a:extLst xmlns:a="http://schemas.openxmlformats.org/drawingml/2006/main">
              <a:ext uri="{FF2B5EF4-FFF2-40B4-BE49-F238E27FC236}">
                <a16:creationId xmlns:a16="http://schemas.microsoft.com/office/drawing/2014/main" id="{728F947E-437D-4432-8856-585D26A6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1935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4-5 课累计</a:t>
            </a:r>
          </a:p>
        </p:txBody>
      </p:sp>
      <p:sp>
        <p:nvSpPr>
          <p:cNvPr id="15" name="p15-r1-2">
            <a:extLst xmlns:a="http://schemas.openxmlformats.org/drawingml/2006/main">
              <a:ext uri="{FF2B5EF4-FFF2-40B4-BE49-F238E27FC236}">
                <a16:creationId xmlns:a16="http://schemas.microsoft.com/office/drawing/2014/main" id="{737F0341-6E94-49A1-A7C8-3BBE2886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193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完整字段 / 原文位置</a:t>
            </a:r>
          </a:p>
        </p:txBody>
      </p:sp>
      <p:sp>
        <p:nvSpPr>
          <p:cNvPr id="16" name="p15-r2-0">
            <a:extLst xmlns:a="http://schemas.openxmlformats.org/drawingml/2006/main">
              <a:ext uri="{FF2B5EF4-FFF2-40B4-BE49-F238E27FC236}">
                <a16:creationId xmlns:a16="http://schemas.microsoft.com/office/drawing/2014/main" id="{0C20E31C-C512-44CB-A135-7A43E1CB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精读字段</a:t>
            </a:r>
          </a:p>
        </p:txBody>
      </p:sp>
      <p:sp>
        <p:nvSpPr>
          <p:cNvPr id="17" name="p15-r2-1">
            <a:extLst xmlns:a="http://schemas.openxmlformats.org/drawingml/2006/main">
              <a:ext uri="{FF2B5EF4-FFF2-40B4-BE49-F238E27FC236}">
                <a16:creationId xmlns:a16="http://schemas.microsoft.com/office/drawing/2014/main" id="{3D89147B-6989-449E-9381-66EF83DE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990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逐卡累计</a:t>
            </a:r>
          </a:p>
        </p:txBody>
      </p:sp>
      <p:sp>
        <p:nvSpPr>
          <p:cNvPr id="18" name="p15-r2-2">
            <a:extLst xmlns:a="http://schemas.openxmlformats.org/drawingml/2006/main">
              <a:ext uri="{FF2B5EF4-FFF2-40B4-BE49-F238E27FC236}">
                <a16:creationId xmlns:a16="http://schemas.microsoft.com/office/drawing/2014/main" id="{9F1D0FA1-2385-41A4-BBC9-6D7C266C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偏差或已检查风险</a:t>
            </a:r>
          </a:p>
        </p:txBody>
      </p:sp>
      <p:sp>
        <p:nvSpPr>
          <p:cNvPr id="19" name="p15-r3-0">
            <a:extLst xmlns:a="http://schemas.openxmlformats.org/drawingml/2006/main">
              <a:ext uri="{FF2B5EF4-FFF2-40B4-BE49-F238E27FC236}">
                <a16:creationId xmlns:a16="http://schemas.microsoft.com/office/drawing/2014/main" id="{E183C524-7689-49FE-9F52-65FB368D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</a:t>
            </a:r>
          </a:p>
        </p:txBody>
      </p:sp>
      <p:sp>
        <p:nvSpPr>
          <p:cNvPr id="20" name="p15-r3-1">
            <a:extLst xmlns:a="http://schemas.openxmlformats.org/drawingml/2006/main">
              <a:ext uri="{FF2B5EF4-FFF2-40B4-BE49-F238E27FC236}">
                <a16:creationId xmlns:a16="http://schemas.microsoft.com/office/drawing/2014/main" id="{A68A5056-F6AF-4374-9133-9D969034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3619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5 课初版</a:t>
            </a:r>
          </a:p>
        </p:txBody>
      </p:sp>
      <p:sp>
        <p:nvSpPr>
          <p:cNvPr id="21" name="p15-r3-2">
            <a:extLst xmlns:a="http://schemas.openxmlformats.org/drawingml/2006/main">
              <a:ext uri="{FF2B5EF4-FFF2-40B4-BE49-F238E27FC236}">
                <a16:creationId xmlns:a16="http://schemas.microsoft.com/office/drawing/2014/main" id="{414F4EE9-C344-4EC3-8299-D385C963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004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 / 补充 / 冲突 / 空白</a:t>
            </a:r>
          </a:p>
        </p:txBody>
      </p:sp>
      <p:sp>
        <p:nvSpPr>
          <p:cNvPr id="22" name="p15-now0">
            <a:extLst xmlns:a="http://schemas.openxmlformats.org/drawingml/2006/main">
              <a:ext uri="{FF2B5EF4-FFF2-40B4-BE49-F238E27FC236}">
                <a16:creationId xmlns:a16="http://schemas.microsoft.com/office/drawing/2014/main" id="{588FBE6B-436C-403B-8298-A116F0CE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  问题 + 非例 + 命题</a:t>
            </a:r>
          </a:p>
        </p:txBody>
      </p:sp>
      <p:sp>
        <p:nvSpPr>
          <p:cNvPr id="23" name="p15-now1">
            <a:extLst xmlns:a="http://schemas.openxmlformats.org/drawingml/2006/main">
              <a:ext uri="{FF2B5EF4-FFF2-40B4-BE49-F238E27FC236}">
                <a16:creationId xmlns:a16="http://schemas.microsoft.com/office/drawing/2014/main" id="{1E2F6875-F762-48CA-9CB9-6095EB3F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  第一性原理推导</a:t>
            </a:r>
          </a:p>
        </p:txBody>
      </p:sp>
      <p:sp>
        <p:nvSpPr>
          <p:cNvPr id="24" name="p15-now2">
            <a:extLst xmlns:a="http://schemas.openxmlformats.org/drawingml/2006/main">
              <a:ext uri="{FF2B5EF4-FFF2-40B4-BE49-F238E27FC236}">
                <a16:creationId xmlns:a16="http://schemas.microsoft.com/office/drawing/2014/main" id="{B8E8C07A-A583-4899-8C7F-194A0A2D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7  重要性 + 周期</a:t>
            </a:r>
          </a:p>
        </p:txBody>
      </p:sp>
      <p:sp>
        <p:nvSpPr>
          <p:cNvPr id="25" name="p15-now3">
            <a:extLst xmlns:a="http://schemas.openxmlformats.org/drawingml/2006/main">
              <a:ext uri="{FF2B5EF4-FFF2-40B4-BE49-F238E27FC236}">
                <a16:creationId xmlns:a16="http://schemas.microsoft.com/office/drawing/2014/main" id="{20CAC8EA-EC14-4807-A417-56C18565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76750"/>
            <a:ext cx="2571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8  AI 记录持续回写</a:t>
            </a:r>
          </a:p>
        </p:txBody>
      </p:sp>
      <p:sp>
        <p:nvSpPr>
          <p:cNvPr id="26" name="p15-bottom">
            <a:extLst xmlns:a="http://schemas.openxmlformats.org/drawingml/2006/main">
              <a:ext uri="{FF2B5EF4-FFF2-40B4-BE49-F238E27FC236}">
                <a16:creationId xmlns:a16="http://schemas.microsoft.com/office/drawing/2014/main" id="{E2E0BF48-900B-4294-BE7F-A80F816F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2578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自查是诚实标记已满足 / 待补全 / 未满足，不是把样例写成“全部完成”。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个人实践：问题重写到门条件自查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0">
            <a:extLst xmlns:a="http://schemas.openxmlformats.org/drawingml/2006/main">
              <a:ext uri="{FF2B5EF4-FFF2-40B4-BE49-F238E27FC236}">
                <a16:creationId xmlns:a16="http://schemas.microsoft.com/office/drawing/2014/main" id="{91DBC234-FE99-4D41-A004-C6A3759D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6-t0">
            <a:extLst xmlns:a="http://schemas.openxmlformats.org/drawingml/2006/main">
              <a:ext uri="{FF2B5EF4-FFF2-40B4-BE49-F238E27FC236}">
                <a16:creationId xmlns:a16="http://schemas.microsoft.com/office/drawing/2014/main" id="{D879BF3A-DD12-4177-B572-1AD9816D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1143000"/>
            <a:ext cx="2714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补五要素</a:t>
            </a:r>
          </a:p>
        </p:txBody>
      </p:sp>
      <p:sp>
        <p:nvSpPr>
          <p:cNvPr id="8" name="p16-n1">
            <a:extLst xmlns:a="http://schemas.openxmlformats.org/drawingml/2006/main">
              <a:ext uri="{FF2B5EF4-FFF2-40B4-BE49-F238E27FC236}">
                <a16:creationId xmlns:a16="http://schemas.microsoft.com/office/drawing/2014/main" id="{4C890D0B-9AB3-4911-97D7-C67EA63F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6-t1">
            <a:extLst xmlns:a="http://schemas.openxmlformats.org/drawingml/2006/main">
              <a:ext uri="{FF2B5EF4-FFF2-40B4-BE49-F238E27FC236}">
                <a16:creationId xmlns:a16="http://schemas.microsoft.com/office/drawing/2014/main" id="{1F9E1C3B-6608-48C4-A40D-9F8868D9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143000"/>
            <a:ext cx="2714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写一个非例</a:t>
            </a:r>
          </a:p>
        </p:txBody>
      </p:sp>
      <p:sp>
        <p:nvSpPr>
          <p:cNvPr id="10" name="p16-n2">
            <a:extLst xmlns:a="http://schemas.openxmlformats.org/drawingml/2006/main">
              <a:ext uri="{FF2B5EF4-FFF2-40B4-BE49-F238E27FC236}">
                <a16:creationId xmlns:a16="http://schemas.microsoft.com/office/drawing/2014/main" id="{3F6E66AB-8336-48A7-A1AC-FFF871F3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6-t2">
            <a:extLst xmlns:a="http://schemas.openxmlformats.org/drawingml/2006/main">
              <a:ext uri="{FF2B5EF4-FFF2-40B4-BE49-F238E27FC236}">
                <a16:creationId xmlns:a16="http://schemas.microsoft.com/office/drawing/2014/main" id="{C852C743-612A-44F9-AFE9-80EE15D4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143000"/>
            <a:ext cx="2714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写推翻条件</a:t>
            </a:r>
          </a:p>
        </p:txBody>
      </p:sp>
      <p:sp>
        <p:nvSpPr>
          <p:cNvPr id="12" name="p16-n3">
            <a:extLst xmlns:a="http://schemas.openxmlformats.org/drawingml/2006/main">
              <a:ext uri="{FF2B5EF4-FFF2-40B4-BE49-F238E27FC236}">
                <a16:creationId xmlns:a16="http://schemas.microsoft.com/office/drawing/2014/main" id="{866EA4BB-1C8A-42ED-9B00-7E4595B4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032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6-t3">
            <a:extLst xmlns:a="http://schemas.openxmlformats.org/drawingml/2006/main">
              <a:ext uri="{FF2B5EF4-FFF2-40B4-BE49-F238E27FC236}">
                <a16:creationId xmlns:a16="http://schemas.microsoft.com/office/drawing/2014/main" id="{15293B82-7263-4DF6-9D07-24A096F4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524125"/>
            <a:ext cx="2714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完成四步推导</a:t>
            </a:r>
          </a:p>
        </p:txBody>
      </p:sp>
      <p:sp>
        <p:nvSpPr>
          <p:cNvPr id="14" name="p16-n4">
            <a:extLst xmlns:a="http://schemas.openxmlformats.org/drawingml/2006/main">
              <a:ext uri="{FF2B5EF4-FFF2-40B4-BE49-F238E27FC236}">
                <a16:creationId xmlns:a16="http://schemas.microsoft.com/office/drawing/2014/main" id="{B6C3430A-D405-4365-A11A-06445D5A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0032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6-t4">
            <a:extLst xmlns:a="http://schemas.openxmlformats.org/drawingml/2006/main">
              <a:ext uri="{FF2B5EF4-FFF2-40B4-BE49-F238E27FC236}">
                <a16:creationId xmlns:a16="http://schemas.microsoft.com/office/drawing/2014/main" id="{3B78769F-266D-4A95-AA9B-E59461D2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524125"/>
            <a:ext cx="2714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So what / Who cares</a:t>
            </a:r>
          </a:p>
        </p:txBody>
      </p:sp>
      <p:sp>
        <p:nvSpPr>
          <p:cNvPr id="16" name="p16-n5">
            <a:extLst xmlns:a="http://schemas.openxmlformats.org/drawingml/2006/main">
              <a:ext uri="{FF2B5EF4-FFF2-40B4-BE49-F238E27FC236}">
                <a16:creationId xmlns:a16="http://schemas.microsoft.com/office/drawing/2014/main" id="{A81E49FA-328D-4EC4-BA3E-04CFC86A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60032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7" name="p16-t5">
            <a:extLst xmlns:a="http://schemas.openxmlformats.org/drawingml/2006/main">
              <a:ext uri="{FF2B5EF4-FFF2-40B4-BE49-F238E27FC236}">
                <a16:creationId xmlns:a16="http://schemas.microsoft.com/office/drawing/2014/main" id="{DA2C2897-91AB-4C08-B29A-A65AF5F8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524125"/>
            <a:ext cx="2714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标八项状态</a:t>
            </a:r>
          </a:p>
        </p:txBody>
      </p:sp>
      <p:sp>
        <p:nvSpPr>
          <p:cNvPr id="18" name="p16-order">
            <a:extLst xmlns:a="http://schemas.openxmlformats.org/drawingml/2006/main">
              <a:ext uri="{FF2B5EF4-FFF2-40B4-BE49-F238E27FC236}">
                <a16:creationId xmlns:a16="http://schemas.microsoft.com/office/drawing/2014/main" id="{F03CAA24-29CB-47E2-AFE5-E0EC6C77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43375"/>
            <a:ext cx="9715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  →  导师组公开问题  →  课程虚构样例（须改换问题表述）</a:t>
            </a:r>
          </a:p>
        </p:txBody>
      </p:sp>
      <p:sp>
        <p:nvSpPr>
          <p:cNvPr id="19" name="p16-write">
            <a:extLst xmlns:a="http://schemas.openxmlformats.org/drawingml/2006/main">
              <a:ext uri="{FF2B5EF4-FFF2-40B4-BE49-F238E27FC236}">
                <a16:creationId xmlns:a16="http://schemas.microsoft.com/office/drawing/2014/main" id="{4E5B0C5A-0969-4ADB-B1A3-A3A3694D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048250"/>
            <a:ext cx="828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写入：problem-definition.md　｜　40:00 开始，P17 停留到 60:00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实践停留页：问题定义与推导最小闭环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DAB2DF9B-8246-4CC1-BA8D-90051415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876300"/>
            <a:ext cx="438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43:00—60:00｜17 分钟持续实践</a:t>
            </a:r>
          </a:p>
        </p:txBody>
      </p:sp>
      <p:sp>
        <p:nvSpPr>
          <p:cNvPr id="7" name="p17-0-h">
            <a:extLst xmlns:a="http://schemas.openxmlformats.org/drawingml/2006/main">
              <a:ext uri="{FF2B5EF4-FFF2-40B4-BE49-F238E27FC236}">
                <a16:creationId xmlns:a16="http://schemas.microsoft.com/office/drawing/2014/main" id="{FF2D0104-7F01-441E-9B97-337AC30A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问题 + 非例</a:t>
            </a:r>
          </a:p>
        </p:txBody>
      </p:sp>
      <p:sp>
        <p:nvSpPr>
          <p:cNvPr id="8" name="p17-0-d">
            <a:extLst xmlns:a="http://schemas.openxmlformats.org/drawingml/2006/main">
              <a:ext uri="{FF2B5EF4-FFF2-40B4-BE49-F238E27FC236}">
                <a16:creationId xmlns:a16="http://schemas.microsoft.com/office/drawing/2014/main" id="{BAAA89C8-B41F-43F2-B5AC-243EF283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523875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条件 / 对象 / 干预 / 结果 / 比较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一个明确非例</a:t>
            </a:r>
          </a:p>
        </p:txBody>
      </p:sp>
      <p:sp>
        <p:nvSpPr>
          <p:cNvPr id="9" name="p17-1-h">
            <a:extLst xmlns:a="http://schemas.openxmlformats.org/drawingml/2006/main">
              <a:ext uri="{FF2B5EF4-FFF2-40B4-BE49-F238E27FC236}">
                <a16:creationId xmlns:a16="http://schemas.microsoft.com/office/drawing/2014/main" id="{BDE932BC-379A-43BC-A62A-AF56ACB8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76375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可证伪命题</a:t>
            </a:r>
          </a:p>
        </p:txBody>
      </p:sp>
      <p:sp>
        <p:nvSpPr>
          <p:cNvPr id="10" name="p17-1-d">
            <a:extLst xmlns:a="http://schemas.openxmlformats.org/drawingml/2006/main">
              <a:ext uri="{FF2B5EF4-FFF2-40B4-BE49-F238E27FC236}">
                <a16:creationId xmlns:a16="http://schemas.microsoft.com/office/drawing/2014/main" id="{6C03A12C-21F3-49E7-AABA-01BA72F3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14525"/>
            <a:ext cx="523875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五要素 + 一条推翻条件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写出替代解释</a:t>
            </a:r>
          </a:p>
        </p:txBody>
      </p:sp>
      <p:sp>
        <p:nvSpPr>
          <p:cNvPr id="11" name="p17-2-h">
            <a:extLst xmlns:a="http://schemas.openxmlformats.org/drawingml/2006/main">
              <a:ext uri="{FF2B5EF4-FFF2-40B4-BE49-F238E27FC236}">
                <a16:creationId xmlns:a16="http://schemas.microsoft.com/office/drawing/2014/main" id="{89DF8C70-6197-49FA-832E-C4DCA8D9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90875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第一性原理</a:t>
            </a:r>
          </a:p>
        </p:txBody>
      </p:sp>
      <p:sp>
        <p:nvSpPr>
          <p:cNvPr id="12" name="p17-2-d">
            <a:extLst xmlns:a="http://schemas.openxmlformats.org/drawingml/2006/main">
              <a:ext uri="{FF2B5EF4-FFF2-40B4-BE49-F238E27FC236}">
                <a16:creationId xmlns:a16="http://schemas.microsoft.com/office/drawing/2014/main" id="{2E2FB13C-73A0-4DE4-87E2-C7C8A96B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29025"/>
            <a:ext cx="523875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基本约束 / 作用机制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不可违背条件 / 待验证前提</a:t>
            </a:r>
          </a:p>
        </p:txBody>
      </p:sp>
      <p:sp>
        <p:nvSpPr>
          <p:cNvPr id="13" name="p17-3-h">
            <a:extLst xmlns:a="http://schemas.openxmlformats.org/drawingml/2006/main">
              <a:ext uri="{FF2B5EF4-FFF2-40B4-BE49-F238E27FC236}">
                <a16:creationId xmlns:a16="http://schemas.microsoft.com/office/drawing/2014/main" id="{A1AC59D6-0FBB-422A-B396-689C8295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523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重要性 + 门状态</a:t>
            </a:r>
          </a:p>
        </p:txBody>
      </p:sp>
      <p:sp>
        <p:nvSpPr>
          <p:cNvPr id="14" name="p17-3-d">
            <a:extLst xmlns:a="http://schemas.openxmlformats.org/drawingml/2006/main">
              <a:ext uri="{FF2B5EF4-FFF2-40B4-BE49-F238E27FC236}">
                <a16:creationId xmlns:a16="http://schemas.microsoft.com/office/drawing/2014/main" id="{491CFC71-BBE6-4C4F-9B51-F1CED341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29025"/>
            <a:ext cx="523875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So what? / Who cares? / 周期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八项：满足 / 待补 / 未满足</a:t>
            </a:r>
          </a:p>
        </p:txBody>
      </p:sp>
      <p:sp>
        <p:nvSpPr>
          <p:cNvPr id="15" name="p17-save">
            <a:extLst xmlns:a="http://schemas.openxmlformats.org/drawingml/2006/main">
              <a:ext uri="{FF2B5EF4-FFF2-40B4-BE49-F238E27FC236}">
                <a16:creationId xmlns:a16="http://schemas.microsoft.com/office/drawing/2014/main" id="{DF17F490-009E-460E-9EB0-DA759113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95875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保存到 problem-definition.md　｜　故障时用纸面或 Markdown 模板完成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同伴互查：只提问题，由作者决定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n0">
            <a:extLst xmlns:a="http://schemas.openxmlformats.org/drawingml/2006/main">
              <a:ext uri="{FF2B5EF4-FFF2-40B4-BE49-F238E27FC236}">
                <a16:creationId xmlns:a16="http://schemas.microsoft.com/office/drawing/2014/main" id="{5138BA21-3B92-4ED7-A11D-D29DB37D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8-q0">
            <a:extLst xmlns:a="http://schemas.openxmlformats.org/drawingml/2006/main">
              <a:ext uri="{FF2B5EF4-FFF2-40B4-BE49-F238E27FC236}">
                <a16:creationId xmlns:a16="http://schemas.microsoft.com/office/drawing/2014/main" id="{8BFF8017-0E5A-4E78-999D-B848A58B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096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这是问题还是主题？</a:t>
            </a:r>
          </a:p>
        </p:txBody>
      </p:sp>
      <p:sp>
        <p:nvSpPr>
          <p:cNvPr id="8" name="p18-n1">
            <a:extLst xmlns:a="http://schemas.openxmlformats.org/drawingml/2006/main">
              <a:ext uri="{FF2B5EF4-FFF2-40B4-BE49-F238E27FC236}">
                <a16:creationId xmlns:a16="http://schemas.microsoft.com/office/drawing/2014/main" id="{9A59FA15-5A80-4C14-B7CD-A8F477DC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8-q1">
            <a:extLst xmlns:a="http://schemas.openxmlformats.org/drawingml/2006/main">
              <a:ext uri="{FF2B5EF4-FFF2-40B4-BE49-F238E27FC236}">
                <a16:creationId xmlns:a16="http://schemas.microsoft.com/office/drawing/2014/main" id="{627EC9AD-8612-4B7D-B6FE-33FCB252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非例能排除什么？</a:t>
            </a:r>
          </a:p>
        </p:txBody>
      </p:sp>
      <p:sp>
        <p:nvSpPr>
          <p:cNvPr id="10" name="p18-n2">
            <a:extLst xmlns:a="http://schemas.openxmlformats.org/drawingml/2006/main">
              <a:ext uri="{FF2B5EF4-FFF2-40B4-BE49-F238E27FC236}">
                <a16:creationId xmlns:a16="http://schemas.microsoft.com/office/drawing/2014/main" id="{06507E77-2594-4045-B072-F03EA9FE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8-q2">
            <a:extLst xmlns:a="http://schemas.openxmlformats.org/drawingml/2006/main">
              <a:ext uri="{FF2B5EF4-FFF2-40B4-BE49-F238E27FC236}">
                <a16:creationId xmlns:a16="http://schemas.microsoft.com/office/drawing/2014/main" id="{0C504F06-EE9C-4C0D-913A-137EFA1F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什么观察会推翻命题？</a:t>
            </a:r>
          </a:p>
        </p:txBody>
      </p:sp>
      <p:sp>
        <p:nvSpPr>
          <p:cNvPr id="12" name="p18-n3">
            <a:extLst xmlns:a="http://schemas.openxmlformats.org/drawingml/2006/main">
              <a:ext uri="{FF2B5EF4-FFF2-40B4-BE49-F238E27FC236}">
                <a16:creationId xmlns:a16="http://schemas.microsoft.com/office/drawing/2014/main" id="{BD84EE60-6590-4391-9F66-36FE00DD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8-q3">
            <a:extLst xmlns:a="http://schemas.openxmlformats.org/drawingml/2006/main">
              <a:ext uri="{FF2B5EF4-FFF2-40B4-BE49-F238E27FC236}">
                <a16:creationId xmlns:a16="http://schemas.microsoft.com/office/drawing/2014/main" id="{0D9B5D16-B529-4355-94B7-AD4F3F88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35280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推导哪一步回到证据地图？</a:t>
            </a:r>
          </a:p>
        </p:txBody>
      </p:sp>
      <p:sp>
        <p:nvSpPr>
          <p:cNvPr id="14" name="p18-n4">
            <a:extLst xmlns:a="http://schemas.openxmlformats.org/drawingml/2006/main">
              <a:ext uri="{FF2B5EF4-FFF2-40B4-BE49-F238E27FC236}">
                <a16:creationId xmlns:a16="http://schemas.microsoft.com/office/drawing/2014/main" id="{E3F344D8-AB29-4AD2-AACC-00A6163C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8-q4">
            <a:extLst xmlns:a="http://schemas.openxmlformats.org/drawingml/2006/main">
              <a:ext uri="{FF2B5EF4-FFF2-40B4-BE49-F238E27FC236}">
                <a16:creationId xmlns:a16="http://schemas.microsoft.com/office/drawing/2014/main" id="{EE4A1A7B-7024-4FD7-8518-60150259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33850"/>
            <a:ext cx="685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八项中最可能缺哪项？</a:t>
            </a:r>
          </a:p>
        </p:txBody>
      </p:sp>
      <p:sp>
        <p:nvSpPr>
          <p:cNvPr id="16" name="p18-author">
            <a:extLst xmlns:a="http://schemas.openxmlformats.org/drawingml/2006/main">
              <a:ext uri="{FF2B5EF4-FFF2-40B4-BE49-F238E27FC236}">
                <a16:creationId xmlns:a16="http://schemas.microsoft.com/office/drawing/2014/main" id="{582ECA2D-99F9-458C-9213-F58DAFC6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0668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7" name="p18-s0">
            <a:extLst xmlns:a="http://schemas.openxmlformats.org/drawingml/2006/main">
              <a:ext uri="{FF2B5EF4-FFF2-40B4-BE49-F238E27FC236}">
                <a16:creationId xmlns:a16="http://schemas.microsoft.com/office/drawing/2014/main" id="{5C171A32-10A1-4C8E-81C8-8C4D5073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526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8" name="p18-s1">
            <a:extLst xmlns:a="http://schemas.openxmlformats.org/drawingml/2006/main">
              <a:ext uri="{FF2B5EF4-FFF2-40B4-BE49-F238E27FC236}">
                <a16:creationId xmlns:a16="http://schemas.microsoft.com/office/drawing/2014/main" id="{19D9D03B-0940-41E4-AF2F-49B3A21C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9" name="p18-s2">
            <a:extLst xmlns:a="http://schemas.openxmlformats.org/drawingml/2006/main">
              <a:ext uri="{FF2B5EF4-FFF2-40B4-BE49-F238E27FC236}">
                <a16:creationId xmlns:a16="http://schemas.microsoft.com/office/drawing/2014/main" id="{279C5513-2E9F-47CF-935A-2294BB28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57625"/>
            <a:ext cx="18097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0" name="p18-bottom">
            <a:extLst xmlns:a="http://schemas.openxmlformats.org/drawingml/2006/main">
              <a:ext uri="{FF2B5EF4-FFF2-40B4-BE49-F238E27FC236}">
                <a16:creationId xmlns:a16="http://schemas.microsoft.com/office/drawing/2014/main" id="{0DC92C61-844D-4C96-AC31-3FE1AB2A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问题门提交与失败回退路径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submit">
            <a:extLst xmlns:a="http://schemas.openxmlformats.org/drawingml/2006/main">
              <a:ext uri="{FF2B5EF4-FFF2-40B4-BE49-F238E27FC236}">
                <a16:creationId xmlns:a16="http://schemas.microsoft.com/office/drawing/2014/main" id="{A37E476F-31A5-427D-B928-E071AA87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一次提交</a:t>
            </a:r>
          </a:p>
        </p:txBody>
      </p:sp>
      <p:sp>
        <p:nvSpPr>
          <p:cNvPr id="7" name="p19-how">
            <a:extLst xmlns:a="http://schemas.openxmlformats.org/drawingml/2006/main">
              <a:ext uri="{FF2B5EF4-FFF2-40B4-BE49-F238E27FC236}">
                <a16:creationId xmlns:a16="http://schemas.microsoft.com/office/drawing/2014/main" id="{96DF6A0D-2AB5-4127-AF49-AACA3555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00125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当前个人项目版本</a:t>
            </a:r>
          </a:p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 / tag / 压缩包</a:t>
            </a:r>
          </a:p>
        </p:txBody>
      </p:sp>
      <p:sp>
        <p:nvSpPr>
          <p:cNvPr id="8" name="p19-no">
            <a:extLst xmlns:a="http://schemas.openxmlformats.org/drawingml/2006/main">
              <a:ext uri="{FF2B5EF4-FFF2-40B4-BE49-F238E27FC236}">
                <a16:creationId xmlns:a16="http://schemas.microsoft.com/office/drawing/2014/main" id="{DD498545-F8DA-4821-9F58-CF9A439C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953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不重复制作与项目分离的汇报文档</a:t>
            </a:r>
          </a:p>
        </p:txBody>
      </p:sp>
      <p:sp>
        <p:nvSpPr>
          <p:cNvPr id="9" name="p19-h0">
            <a:extLst xmlns:a="http://schemas.openxmlformats.org/drawingml/2006/main">
              <a:ext uri="{FF2B5EF4-FFF2-40B4-BE49-F238E27FC236}">
                <a16:creationId xmlns:a16="http://schemas.microsoft.com/office/drawing/2014/main" id="{4CFA540F-8FC8-445C-B705-CB114E86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缺直接证据</a:t>
            </a:r>
          </a:p>
        </p:txBody>
      </p:sp>
      <p:sp>
        <p:nvSpPr>
          <p:cNvPr id="10" name="p19-a0">
            <a:extLst xmlns:a="http://schemas.openxmlformats.org/drawingml/2006/main">
              <a:ext uri="{FF2B5EF4-FFF2-40B4-BE49-F238E27FC236}">
                <a16:creationId xmlns:a16="http://schemas.microsoft.com/office/drawing/2014/main" id="{7A07E54A-6C37-4AE5-92CD-A027BB5D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3050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d0">
            <a:extLst xmlns:a="http://schemas.openxmlformats.org/drawingml/2006/main">
              <a:ext uri="{FF2B5EF4-FFF2-40B4-BE49-F238E27FC236}">
                <a16:creationId xmlns:a16="http://schemas.microsoft.com/office/drawing/2014/main" id="{464C2ED2-F6FA-4CD5-B5C3-2A2826E1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38375"/>
            <a:ext cx="6667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回第 3-4 课：检索 / 精读</a:t>
            </a:r>
          </a:p>
        </p:txBody>
      </p:sp>
      <p:sp>
        <p:nvSpPr>
          <p:cNvPr id="12" name="p19-h1">
            <a:extLst xmlns:a="http://schemas.openxmlformats.org/drawingml/2006/main">
              <a:ext uri="{FF2B5EF4-FFF2-40B4-BE49-F238E27FC236}">
                <a16:creationId xmlns:a16="http://schemas.microsoft.com/office/drawing/2014/main" id="{2F8071B0-DE5E-4360-90F7-442D5951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24175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问题过大</a:t>
            </a:r>
          </a:p>
        </p:txBody>
      </p:sp>
      <p:sp>
        <p:nvSpPr>
          <p:cNvPr id="13" name="p19-a1">
            <a:extLst xmlns:a="http://schemas.openxmlformats.org/drawingml/2006/main">
              <a:ext uri="{FF2B5EF4-FFF2-40B4-BE49-F238E27FC236}">
                <a16:creationId xmlns:a16="http://schemas.microsoft.com/office/drawing/2014/main" id="{CFB72B2E-7F6A-4EEA-968D-B0EA69A6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908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9-d1">
            <a:extLst xmlns:a="http://schemas.openxmlformats.org/drawingml/2006/main">
              <a:ext uri="{FF2B5EF4-FFF2-40B4-BE49-F238E27FC236}">
                <a16:creationId xmlns:a16="http://schemas.microsoft.com/office/drawing/2014/main" id="{95846CB0-1D7E-405B-B297-4CC98BEE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24175"/>
            <a:ext cx="6667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回本课：问题重写 / 非例</a:t>
            </a:r>
          </a:p>
        </p:txBody>
      </p:sp>
      <p:sp>
        <p:nvSpPr>
          <p:cNvPr id="15" name="p19-h2">
            <a:extLst xmlns:a="http://schemas.openxmlformats.org/drawingml/2006/main">
              <a:ext uri="{FF2B5EF4-FFF2-40B4-BE49-F238E27FC236}">
                <a16:creationId xmlns:a16="http://schemas.microsoft.com/office/drawing/2014/main" id="{D324A5F9-C53A-4D54-B765-113DC989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09975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命题不可证伪</a:t>
            </a:r>
          </a:p>
        </p:txBody>
      </p:sp>
      <p:sp>
        <p:nvSpPr>
          <p:cNvPr id="16" name="p19-a2">
            <a:extLst xmlns:a="http://schemas.openxmlformats.org/drawingml/2006/main">
              <a:ext uri="{FF2B5EF4-FFF2-40B4-BE49-F238E27FC236}">
                <a16:creationId xmlns:a16="http://schemas.microsoft.com/office/drawing/2014/main" id="{8568882A-B756-4D15-81D8-5283071B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766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9-d2">
            <a:extLst xmlns:a="http://schemas.openxmlformats.org/drawingml/2006/main">
              <a:ext uri="{FF2B5EF4-FFF2-40B4-BE49-F238E27FC236}">
                <a16:creationId xmlns:a16="http://schemas.microsoft.com/office/drawing/2014/main" id="{CBDEF8CF-39D1-4CFF-B3A2-228ACC0E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09975"/>
            <a:ext cx="6667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补对照 / 指标 / 推翻条件</a:t>
            </a:r>
          </a:p>
        </p:txBody>
      </p:sp>
      <p:sp>
        <p:nvSpPr>
          <p:cNvPr id="18" name="p19-h3">
            <a:extLst xmlns:a="http://schemas.openxmlformats.org/drawingml/2006/main">
              <a:ext uri="{FF2B5EF4-FFF2-40B4-BE49-F238E27FC236}">
                <a16:creationId xmlns:a16="http://schemas.microsoft.com/office/drawing/2014/main" id="{C7D3BA21-B04F-4DDE-B53F-5BC6EACC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95775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推导脱离文献</a:t>
            </a:r>
          </a:p>
        </p:txBody>
      </p:sp>
      <p:sp>
        <p:nvSpPr>
          <p:cNvPr id="19" name="p19-a3">
            <a:extLst xmlns:a="http://schemas.openxmlformats.org/drawingml/2006/main">
              <a:ext uri="{FF2B5EF4-FFF2-40B4-BE49-F238E27FC236}">
                <a16:creationId xmlns:a16="http://schemas.microsoft.com/office/drawing/2014/main" id="{6F536348-DF3D-47B3-968A-EBF05A5E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3624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p19-d3">
            <a:extLst xmlns:a="http://schemas.openxmlformats.org/drawingml/2006/main">
              <a:ext uri="{FF2B5EF4-FFF2-40B4-BE49-F238E27FC236}">
                <a16:creationId xmlns:a16="http://schemas.microsoft.com/office/drawing/2014/main" id="{C98D0816-CE8D-4075-8082-105D8726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95775"/>
            <a:ext cx="6667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回第 5 课证据地图</a:t>
            </a:r>
          </a:p>
        </p:txBody>
      </p:sp>
      <p:sp>
        <p:nvSpPr>
          <p:cNvPr id="21" name="p19-bottom">
            <a:extLst xmlns:a="http://schemas.openxmlformats.org/drawingml/2006/main">
              <a:ext uri="{FF2B5EF4-FFF2-40B4-BE49-F238E27FC236}">
                <a16:creationId xmlns:a16="http://schemas.microsoft.com/office/drawing/2014/main" id="{9C02FDAC-D4E4-4A57-8EBE-D41EDD09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23875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未通过：只修复缺失条件，一周内重新检查；不重交无关材料。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7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f0">
            <a:extLst xmlns:a="http://schemas.openxmlformats.org/drawingml/2006/main">
              <a:ext uri="{FF2B5EF4-FFF2-40B4-BE49-F238E27FC236}">
                <a16:creationId xmlns:a16="http://schemas.microsoft.com/office/drawing/2014/main" id="{F25A1A45-4980-4493-8EC4-1189ED23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7" name="p20-a0">
            <a:extLst xmlns:a="http://schemas.openxmlformats.org/drawingml/2006/main">
              <a:ext uri="{FF2B5EF4-FFF2-40B4-BE49-F238E27FC236}">
                <a16:creationId xmlns:a16="http://schemas.microsoft.com/office/drawing/2014/main" id="{D3E849BC-2754-456D-A4EC-24FA5836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20-f1">
            <a:extLst xmlns:a="http://schemas.openxmlformats.org/drawingml/2006/main">
              <a:ext uri="{FF2B5EF4-FFF2-40B4-BE49-F238E27FC236}">
                <a16:creationId xmlns:a16="http://schemas.microsoft.com/office/drawing/2014/main" id="{DD7DFD51-2FD4-4BD6-9F57-2AEC4413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待验证前提</a:t>
            </a:r>
          </a:p>
        </p:txBody>
      </p:sp>
      <p:sp>
        <p:nvSpPr>
          <p:cNvPr id="9" name="p20-a1">
            <a:extLst xmlns:a="http://schemas.openxmlformats.org/drawingml/2006/main">
              <a:ext uri="{FF2B5EF4-FFF2-40B4-BE49-F238E27FC236}">
                <a16:creationId xmlns:a16="http://schemas.microsoft.com/office/drawing/2014/main" id="{DF9A5E19-6E85-4234-B84D-B99754D4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f2">
            <a:extLst xmlns:a="http://schemas.openxmlformats.org/drawingml/2006/main">
              <a:ext uri="{FF2B5EF4-FFF2-40B4-BE49-F238E27FC236}">
                <a16:creationId xmlns:a16="http://schemas.microsoft.com/office/drawing/2014/main" id="{FAC65D1F-8201-4656-A17C-7A49E38E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7 课</a:t>
            </a:r>
          </a:p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1" name="p20-a2">
            <a:extLst xmlns:a="http://schemas.openxmlformats.org/drawingml/2006/main">
              <a:ext uri="{FF2B5EF4-FFF2-40B4-BE49-F238E27FC236}">
                <a16:creationId xmlns:a16="http://schemas.microsoft.com/office/drawing/2014/main" id="{AC53BD5E-960C-4125-AB7C-1BF461FD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20-f3">
            <a:extLst xmlns:a="http://schemas.openxmlformats.org/drawingml/2006/main">
              <a:ext uri="{FF2B5EF4-FFF2-40B4-BE49-F238E27FC236}">
                <a16:creationId xmlns:a16="http://schemas.microsoft.com/office/drawing/2014/main" id="{B61A445B-C56C-498F-9D05-C3BCF04C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381125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9 课</a:t>
            </a:r>
          </a:p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实验规格</a:t>
            </a:r>
          </a:p>
        </p:txBody>
      </p:sp>
      <p:sp>
        <p:nvSpPr>
          <p:cNvPr id="13" name="p20-exit">
            <a:extLst xmlns:a="http://schemas.openxmlformats.org/drawingml/2006/main">
              <a:ext uri="{FF2B5EF4-FFF2-40B4-BE49-F238E27FC236}">
                <a16:creationId xmlns:a16="http://schemas.microsoft.com/office/drawing/2014/main" id="{945A4FE1-7153-4907-9CB3-09448320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14" name="p20-q0">
            <a:extLst xmlns:a="http://schemas.openxmlformats.org/drawingml/2006/main">
              <a:ext uri="{FF2B5EF4-FFF2-40B4-BE49-F238E27FC236}">
                <a16:creationId xmlns:a16="http://schemas.microsoft.com/office/drawing/2014/main" id="{CC0509F1-A011-436E-A7AD-6F343223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5750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你最可能缺哪一项门条件？</a:t>
            </a:r>
          </a:p>
        </p:txBody>
      </p:sp>
      <p:sp>
        <p:nvSpPr>
          <p:cNvPr id="15" name="p20-q1">
            <a:extLst xmlns:a="http://schemas.openxmlformats.org/drawingml/2006/main">
              <a:ext uri="{FF2B5EF4-FFF2-40B4-BE49-F238E27FC236}">
                <a16:creationId xmlns:a16="http://schemas.microsoft.com/office/drawing/2014/main" id="{72D7233A-BE0F-4BEF-904F-1A6E336D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3855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哪条待验证前提将进入机制假设？</a:t>
            </a:r>
          </a:p>
        </p:txBody>
      </p:sp>
      <p:sp>
        <p:nvSpPr>
          <p:cNvPr id="16" name="p20-q2">
            <a:extLst xmlns:a="http://schemas.openxmlformats.org/drawingml/2006/main">
              <a:ext uri="{FF2B5EF4-FFF2-40B4-BE49-F238E27FC236}">
                <a16:creationId xmlns:a16="http://schemas.microsoft.com/office/drawing/2014/main" id="{D24AE0AD-07EF-46A1-A18E-2A03B4BB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8096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下一次修改回到哪个文件？</a:t>
            </a:r>
          </a:p>
        </p:txBody>
      </p:sp>
      <p:sp>
        <p:nvSpPr>
          <p:cNvPr id="17" name="p20-bottom">
            <a:extLst xmlns:a="http://schemas.openxmlformats.org/drawingml/2006/main">
              <a:ext uri="{FF2B5EF4-FFF2-40B4-BE49-F238E27FC236}">
                <a16:creationId xmlns:a16="http://schemas.microsoft.com/office/drawing/2014/main" id="{9713643A-2858-48FD-834B-7DD48506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保存当前项目版本；第 7 课从待验证前提出发，不跳过问题门直接做实验。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2026-08-07T15:04:50.5520000Z</dcterms:created>
  <dcterms:modified xsi:type="dcterms:W3CDTF">2026-08-07T15:04:50.5530000Z</dcterms:modified>
</coreProperties>
</file>