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f3312a21246d9" /><Relationship Type="http://schemas.openxmlformats.org/officeDocument/2006/relationships/extended-properties" Target="/docProps/app.xml" Id="Rf67ee50bfdc74aa6" /><Relationship Type="http://schemas.openxmlformats.org/officeDocument/2006/relationships/officeDocument" Target="/ppt/presentation.xml" Id="Rd287b8b1928d416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82150589e54d9e"/>
  </p:sldMasterIdLst>
  <p:notesMasterIdLst>
    <p:notesMasterId xmlns:r="http://schemas.openxmlformats.org/officeDocument/2006/relationships" r:id="R26ea49e431294a57"/>
  </p:notesMasterIdLst>
  <p:sldIdLst>
    <p:sldId xmlns:r="http://schemas.openxmlformats.org/officeDocument/2006/relationships" id="256" r:id="Rc4359091daf6432e"/>
    <p:sldId xmlns:r="http://schemas.openxmlformats.org/officeDocument/2006/relationships" id="257" r:id="R16419bbbe9e14e17"/>
    <p:sldId xmlns:r="http://schemas.openxmlformats.org/officeDocument/2006/relationships" id="258" r:id="R6d043646a8d84f4d"/>
    <p:sldId xmlns:r="http://schemas.openxmlformats.org/officeDocument/2006/relationships" id="259" r:id="R419cf11033bd4bde"/>
    <p:sldId xmlns:r="http://schemas.openxmlformats.org/officeDocument/2006/relationships" id="260" r:id="R9f25d522d6d54694"/>
    <p:sldId xmlns:r="http://schemas.openxmlformats.org/officeDocument/2006/relationships" id="261" r:id="R454458ae36974238"/>
    <p:sldId xmlns:r="http://schemas.openxmlformats.org/officeDocument/2006/relationships" id="262" r:id="R34a5f3ca36374c33"/>
    <p:sldId xmlns:r="http://schemas.openxmlformats.org/officeDocument/2006/relationships" id="263" r:id="R6a895ea1e1da4dce"/>
    <p:sldId xmlns:r="http://schemas.openxmlformats.org/officeDocument/2006/relationships" id="264" r:id="Rb81d9bf41fd14dc4"/>
    <p:sldId xmlns:r="http://schemas.openxmlformats.org/officeDocument/2006/relationships" id="265" r:id="Ra487f1b2ea86496b"/>
    <p:sldId xmlns:r="http://schemas.openxmlformats.org/officeDocument/2006/relationships" id="266" r:id="Re748f59d7372428c"/>
    <p:sldId xmlns:r="http://schemas.openxmlformats.org/officeDocument/2006/relationships" id="267" r:id="R93247f2f15d444d7"/>
    <p:sldId xmlns:r="http://schemas.openxmlformats.org/officeDocument/2006/relationships" id="268" r:id="Rad6b8b391b9f4122"/>
    <p:sldId xmlns:r="http://schemas.openxmlformats.org/officeDocument/2006/relationships" id="269" r:id="R32e7e3265c974419"/>
    <p:sldId xmlns:r="http://schemas.openxmlformats.org/officeDocument/2006/relationships" id="270" r:id="R5377e450f9ad4c94"/>
    <p:sldId xmlns:r="http://schemas.openxmlformats.org/officeDocument/2006/relationships" id="271" r:id="R301dc1f6fd634ca0"/>
    <p:sldId xmlns:r="http://schemas.openxmlformats.org/officeDocument/2006/relationships" id="272" r:id="R5aea5d82d480492c"/>
    <p:sldId xmlns:r="http://schemas.openxmlformats.org/officeDocument/2006/relationships" id="273" r:id="R59fb779febb84e66"/>
    <p:sldId xmlns:r="http://schemas.openxmlformats.org/officeDocument/2006/relationships" id="274" r:id="R6d9b7bff6da64c03"/>
    <p:sldId xmlns:r="http://schemas.openxmlformats.org/officeDocument/2006/relationships" id="275" r:id="R249ebedbcf87402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25c5c2d1354e5f" /><Relationship Type="http://schemas.openxmlformats.org/officeDocument/2006/relationships/slideMaster" Target="/ppt/slideMasters/slideMaster1.xml" Id="Rba82150589e54d9e" /><Relationship Type="http://schemas.openxmlformats.org/officeDocument/2006/relationships/notesMaster" Target="/ppt/notesMasters/notesMaster1.xml" Id="R26ea49e431294a57" /><Relationship Type="http://schemas.openxmlformats.org/officeDocument/2006/relationships/presProps" Target="/ppt/presProps.xml" Id="R9a81734dd1da4a17" /><Relationship Type="http://schemas.openxmlformats.org/officeDocument/2006/relationships/viewProps" Target="/ppt/viewProps.xml" Id="Rf09e5473a5474e7a" /><Relationship Type="http://schemas.openxmlformats.org/officeDocument/2006/relationships/tableStyles" Target="/ppt/tableStyles.xml" Id="R47859df9d75b4572" /><Relationship Type="http://schemas.openxmlformats.org/officeDocument/2006/relationships/slide" Target="/ppt/slides/slide1.xml" Id="Rc4359091daf6432e" /><Relationship Type="http://schemas.openxmlformats.org/officeDocument/2006/relationships/slide" Target="/ppt/slides/slide2.xml" Id="R16419bbbe9e14e17" /><Relationship Type="http://schemas.openxmlformats.org/officeDocument/2006/relationships/slide" Target="/ppt/slides/slide3.xml" Id="R6d043646a8d84f4d" /><Relationship Type="http://schemas.openxmlformats.org/officeDocument/2006/relationships/slide" Target="/ppt/slides/slide4.xml" Id="R419cf11033bd4bde" /><Relationship Type="http://schemas.openxmlformats.org/officeDocument/2006/relationships/slide" Target="/ppt/slides/slide5.xml" Id="R9f25d522d6d54694" /><Relationship Type="http://schemas.openxmlformats.org/officeDocument/2006/relationships/slide" Target="/ppt/slides/slide6.xml" Id="R454458ae36974238" /><Relationship Type="http://schemas.openxmlformats.org/officeDocument/2006/relationships/slide" Target="/ppt/slides/slide7.xml" Id="R34a5f3ca36374c33" /><Relationship Type="http://schemas.openxmlformats.org/officeDocument/2006/relationships/slide" Target="/ppt/slides/slide8.xml" Id="R6a895ea1e1da4dce" /><Relationship Type="http://schemas.openxmlformats.org/officeDocument/2006/relationships/slide" Target="/ppt/slides/slide9.xml" Id="Rb81d9bf41fd14dc4" /><Relationship Type="http://schemas.openxmlformats.org/officeDocument/2006/relationships/slide" Target="/ppt/slides/slide10.xml" Id="Ra487f1b2ea86496b" /><Relationship Type="http://schemas.openxmlformats.org/officeDocument/2006/relationships/slide" Target="/ppt/slides/slide11.xml" Id="Re748f59d7372428c" /><Relationship Type="http://schemas.openxmlformats.org/officeDocument/2006/relationships/slide" Target="/ppt/slides/slide12.xml" Id="R93247f2f15d444d7" /><Relationship Type="http://schemas.openxmlformats.org/officeDocument/2006/relationships/slide" Target="/ppt/slides/slide13.xml" Id="Rad6b8b391b9f4122" /><Relationship Type="http://schemas.openxmlformats.org/officeDocument/2006/relationships/slide" Target="/ppt/slides/slide14.xml" Id="R32e7e3265c974419" /><Relationship Type="http://schemas.openxmlformats.org/officeDocument/2006/relationships/slide" Target="/ppt/slides/slide15.xml" Id="R5377e450f9ad4c94" /><Relationship Type="http://schemas.openxmlformats.org/officeDocument/2006/relationships/slide" Target="/ppt/slides/slide16.xml" Id="R301dc1f6fd634ca0" /><Relationship Type="http://schemas.openxmlformats.org/officeDocument/2006/relationships/slide" Target="/ppt/slides/slide17.xml" Id="R5aea5d82d480492c" /><Relationship Type="http://schemas.openxmlformats.org/officeDocument/2006/relationships/slide" Target="/ppt/slides/slide18.xml" Id="R59fb779febb84e66" /><Relationship Type="http://schemas.openxmlformats.org/officeDocument/2006/relationships/slide" Target="/ppt/slides/slide19.xml" Id="R6d9b7bff6da64c03" /><Relationship Type="http://schemas.openxmlformats.org/officeDocument/2006/relationships/slide" Target="/ppt/slides/slide20.xml" Id="R249ebedbcf87402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5e940a622e47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05e4145bdf54ff8" /><Relationship Type="http://schemas.openxmlformats.org/officeDocument/2006/relationships/notesMaster" Target="/ppt/notesMasters/notesMaster1.xml" Id="R67e04b594ea149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26cf346dad4a04" /><Relationship Type="http://schemas.openxmlformats.org/officeDocument/2006/relationships/notesMaster" Target="/ppt/notesMasters/notesMaster1.xml" Id="R253eeb977cf34e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3922df5935448a" /><Relationship Type="http://schemas.openxmlformats.org/officeDocument/2006/relationships/notesMaster" Target="/ppt/notesMasters/notesMaster1.xml" Id="R6064bd99195e4d7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b0df913a2f4096" /><Relationship Type="http://schemas.openxmlformats.org/officeDocument/2006/relationships/notesMaster" Target="/ppt/notesMasters/notesMaster1.xml" Id="Re3698ff4716a4e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339627805b47b0" /><Relationship Type="http://schemas.openxmlformats.org/officeDocument/2006/relationships/notesMaster" Target="/ppt/notesMasters/notesMaster1.xml" Id="R3ae5dae385134f4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c4650ff2c54780" /><Relationship Type="http://schemas.openxmlformats.org/officeDocument/2006/relationships/notesMaster" Target="/ppt/notesMasters/notesMaster1.xml" Id="R25f11d972d2448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4004fd71a85443c" /><Relationship Type="http://schemas.openxmlformats.org/officeDocument/2006/relationships/notesMaster" Target="/ppt/notesMasters/notesMaster1.xml" Id="R96fe566df4fc459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e00d7118aa479e" /><Relationship Type="http://schemas.openxmlformats.org/officeDocument/2006/relationships/notesMaster" Target="/ppt/notesMasters/notesMaster1.xml" Id="R10cc3f17c912431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5d6dcb73a52416f" /><Relationship Type="http://schemas.openxmlformats.org/officeDocument/2006/relationships/notesMaster" Target="/ppt/notesMasters/notesMaster1.xml" Id="R81b8b015aef647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2cf3788b814e92" /><Relationship Type="http://schemas.openxmlformats.org/officeDocument/2006/relationships/notesMaster" Target="/ppt/notesMasters/notesMaster1.xml" Id="Redf420a739934b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310347e18c64e17" /><Relationship Type="http://schemas.openxmlformats.org/officeDocument/2006/relationships/notesMaster" Target="/ppt/notesMasters/notesMaster1.xml" Id="R0d3ea09ba69b42a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a94462ea414a39" /><Relationship Type="http://schemas.openxmlformats.org/officeDocument/2006/relationships/notesMaster" Target="/ppt/notesMasters/notesMaster1.xml" Id="R2e1d73f974604e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c79e86c3584561" /><Relationship Type="http://schemas.openxmlformats.org/officeDocument/2006/relationships/notesMaster" Target="/ppt/notesMasters/notesMaster1.xml" Id="Rbd5d5b54be36414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8de8be2fbb84eeb" /><Relationship Type="http://schemas.openxmlformats.org/officeDocument/2006/relationships/notesMaster" Target="/ppt/notesMasters/notesMaster1.xml" Id="Rf6a7b61b3a8444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b10313e8a244e45" /><Relationship Type="http://schemas.openxmlformats.org/officeDocument/2006/relationships/notesMaster" Target="/ppt/notesMasters/notesMaster1.xml" Id="R524a73ebe573420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16cb7c550014f32" /><Relationship Type="http://schemas.openxmlformats.org/officeDocument/2006/relationships/notesMaster" Target="/ppt/notesMasters/notesMaster1.xml" Id="R51dd8d4885b4477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17ebcb75f4c4450" /><Relationship Type="http://schemas.openxmlformats.org/officeDocument/2006/relationships/notesMaster" Target="/ppt/notesMasters/notesMaster1.xml" Id="R4d3b1be601dd49a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202db90f42c4f5d" /><Relationship Type="http://schemas.openxmlformats.org/officeDocument/2006/relationships/notesMaster" Target="/ppt/notesMasters/notesMaster1.xml" Id="R2cc25aa9139d4ae9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3086ecf3bab4006" /><Relationship Type="http://schemas.openxmlformats.org/officeDocument/2006/relationships/notesMaster" Target="/ppt/notesMasters/notesMaster1.xml" Id="Rdcb1ed83e0514c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46a53f1f3b2496a" /><Relationship Type="http://schemas.openxmlformats.org/officeDocument/2006/relationships/notesMaster" Target="/ppt/notesMasters/notesMaster1.xml" Id="Rc198d4c9727a4e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本课把检索从工具操作改写为可复盘的方法，并让每条材料有明确证据角色。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course/syllabus.md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快问学生最近一次直接搬用 AI 引文是什么时候，只听回答，不评价。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lessons/lesson-02/slides.md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目标是流程跑通，不是在课堂里完成文献综述。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lessons/备课规划.md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统计举手后立即转入方法；不要把羞耻感当教学目标。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让学生指出自己项目里哪类材料最多、哪类最缺。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请学生从自己的问题抽三个词，并给一个同义词。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lessons/lesson-01/handout.md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学生用自己的关键词草拟一条检索式，并指出布尔算子。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Kitchenham &amp; Charters, EBSE-2007-01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请学生给一条自己的排除条件，并说明理由。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Kitchenham &amp; Charters, EBSE-2007-01</a:t>
            </a:r>
          </a:p>
          <a:p xmlns:a="http://schemas.openxmlformats.org/drawingml/2006/main">
            <a:r>
              <a:t>- https://www.prisma-statement.org/prisma-2020-statement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强调直接、一手、可核验三个限定。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独立性来自来源、测量、重复实验、对照、消融或分析路径的实质差异。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AGENTS.md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Conceptual diagram; not empirical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让学生把自己曾当成主证据的一条 AI 引文暂时归回探索线索。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lessons/lesson-01/handout.md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逐条讲完七步，再进入演示。四态进入规则以 references/material-contracts.md 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references/material-contracts.md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使用课程演示包中的真实 Crossref 响应。现场网络不可用时直接打开保存的 JSON 与 PDF，不切换到虚构截图。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lessons/lesson-03/source-audit-demo.md</a:t>
            </a:r>
          </a:p>
          <a:p xmlns:a="http://schemas.openxmlformats.org/drawingml/2006/main">
            <a:r>
              <a:t>- https://api.crossref.org/works/10.1145/1273445.1273458</a:t>
            </a:r>
          </a:p>
          <a:p xmlns:a="http://schemas.openxmlformats.org/drawingml/2006/main">
            <a:r>
              <a:t>- https://doi.org/10.1145/1273445.1273458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这是实际 PDF 第一页，不是重绘截图。让学生现场指出题名、作者、DOI 和摘要中的 three-pass approach，并确认原文没有课程构造的量化结果。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lessons/lesson-03/source-audit-demo.md</a:t>
            </a:r>
          </a:p>
          <a:p xmlns:a="http://schemas.openxmlformats.org/drawingml/2006/main">
            <a:r>
              <a:t>- https://www.eecs.harvard.edu/~michaelm/postscripts/ReadPaper.pdf</a:t>
            </a:r>
          </a:p>
          <a:p xmlns:a="http://schemas.openxmlformats.org/drawingml/2006/main">
            <a:r>
              <a:t>- https://doi.org/10.1145/1273445.1273458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展示真实条目如何从来源审计进入候选文献表。状态选择 verified-with-caveat，是因为原文提供方法框架但没有受控效果实验。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lessons/lesson-03/source-audit-demo.md</a:t>
            </a:r>
          </a:p>
          <a:p xmlns:a="http://schemas.openxmlformats.org/drawingml/2006/main">
            <a:r>
              <a:t>- references/material-contracts.md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本页全部引用均为虚构失败案例，不得作为论文事实、DOI 或检索结果引用。请学生给出一条核验步骤，加入改写后的任务契约。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lessons/lesson-03/slides.md</a:t>
            </a:r>
          </a:p>
          <a:p xmlns:a="http://schemas.openxmlformats.org/drawingml/2006/main">
            <a:r>
              <a:t>- Fictional classroom placeholders; not real papers, DOI records, or empirical evidence.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没有真实课题者沿用贯穿案例，但必须改变问题表述或检索词集合。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- lessons/lesson-03/teaching-plan.md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本页停留 27 分钟。教师只处理共同卡点；网络故障走 Markdown 备用路径。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lessons/lesson-03/handout.md</a:t>
            </a:r>
          </a:p>
          <a:p xmlns:a="http://schemas.openxmlformats.org/drawingml/2006/main">
            <a:r>
              <a:t>- course/starter-template.md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奇数人数用三人组，每人缩短说明时间；反馈只形成个人记录。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lessons/lesson-03/teaching-plan.md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回扣 P01：学生已有可复盘起点，不要求当堂完成综述。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course/reading-list.md</a:t>
            </a:r>
          </a:p>
          <a:p xmlns:a="http://schemas.openxmlformats.org/drawingml/2006/main">
            <a:r>
              <a:t>- course/assignments.md</a:t>
            </a:r>
          </a:p>
          <a:p xmlns:a="http://schemas.openxmlformats.org/drawingml/2006/main">
            <a:r>
              <a:t>- course/syllabus.md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6efb6c7ae445a3" /><Relationship Type="http://schemas.openxmlformats.org/officeDocument/2006/relationships/image" Target="/ppt/media/image.png" Id="Rb9aa56e747ec4977" /><Relationship Type="http://schemas.openxmlformats.org/officeDocument/2006/relationships/image" Target="/ppt/media/image2.png" Id="R8447973dda704788" /><Relationship Type="http://schemas.openxmlformats.org/officeDocument/2006/relationships/image" Target="/ppt/media/image3.png" Id="Rbe5d0cbb58564039" /><Relationship Type="http://schemas.openxmlformats.org/officeDocument/2006/relationships/image" Target="/ppt/media/image4.png" Id="R5f7ff67bc6da4b2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eb3b3cb8924a4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2618721b3f4868" /><Relationship Type="http://schemas.openxmlformats.org/officeDocument/2006/relationships/image" Target="/ppt/media/image2.png" Id="Ra539ae04f2c74a22" /><Relationship Type="http://schemas.openxmlformats.org/officeDocument/2006/relationships/image" Target="/ppt/media/image5.png" Id="Rcad9459295df46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cb6223e9e74118" /><Relationship Type="http://schemas.openxmlformats.org/officeDocument/2006/relationships/image" Target="/ppt/media/image.png" Id="R4875b4a94de841a3" /><Relationship Type="http://schemas.openxmlformats.org/officeDocument/2006/relationships/image" Target="/ppt/media/image3.png" Id="Ra561ce828f7f41c0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a56e747ec497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447973dda704788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5d0cbb58564039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ff67bc6da4b2c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39ae04f2c74a22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9459295df46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5b4a94de841a3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61ce828f7f41c0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7a1e2eb0a794111" /><Relationship Type="http://schemas.openxmlformats.org/officeDocument/2006/relationships/slideLayout" Target="/ppt/slideLayouts/slideLayout1.xml" Id="Rc8bd6d867adf4910" /><Relationship Type="http://schemas.openxmlformats.org/officeDocument/2006/relationships/slideLayout" Target="/ppt/slideLayouts/slideLayout2.xml" Id="Re10c002ce0094dce" /><Relationship Type="http://schemas.openxmlformats.org/officeDocument/2006/relationships/slideLayout" Target="/ppt/slideLayouts/slideLayout3.xml" Id="Rc620658405534461" /><Relationship Type="http://schemas.openxmlformats.org/officeDocument/2006/relationships/slideLayout" Target="/ppt/slideLayouts/slideLayout4.xml" Id="Rdf8aac931cf64b47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bd6d867adf4910"/>
    <p:sldLayoutId xmlns:r="http://schemas.openxmlformats.org/officeDocument/2006/relationships" id="2147483650" r:id="Re10c002ce0094dce"/>
    <p:sldLayoutId xmlns:r="http://schemas.openxmlformats.org/officeDocument/2006/relationships" id="2147483651" r:id="Rc620658405534461"/>
    <p:sldLayoutId xmlns:r="http://schemas.openxmlformats.org/officeDocument/2006/relationships" id="2147483652" r:id="Rdf8aac931cf64b47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f7c58908774166" /><Relationship Type="http://schemas.openxmlformats.org/officeDocument/2006/relationships/notesSlide" Target="/ppt/notesSlides/notesSlide1.xml" Id="R5adce228cbe4478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436757dd2264fe5" /><Relationship Type="http://schemas.openxmlformats.org/officeDocument/2006/relationships/notesSlide" Target="/ppt/notesSlides/notesSlide2.xml" Id="Rffbe28b0ea774b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7f9c84c7c284af6" /><Relationship Type="http://schemas.openxmlformats.org/officeDocument/2006/relationships/notesSlide" Target="/ppt/notesSlides/notesSlide3.xml" Id="Rae3ed9dd80f3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91733654c0349b1" /><Relationship Type="http://schemas.openxmlformats.org/officeDocument/2006/relationships/notesSlide" Target="/ppt/notesSlides/notesSlide4.xml" Id="R353686b2394a47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537011a65ba4724" /><Relationship Type="http://schemas.openxmlformats.org/officeDocument/2006/relationships/notesSlide" Target="/ppt/notesSlides/notesSlide5.xml" Id="R5da96c86267043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b57a70569c943b8" /><Relationship Type="http://schemas.openxmlformats.org/officeDocument/2006/relationships/notesSlide" Target="/ppt/notesSlides/notesSlide6.xml" Id="R44e657a3151c4c9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03f2f40ac214342" /><Relationship Type="http://schemas.openxmlformats.org/officeDocument/2006/relationships/notesSlide" Target="/ppt/notesSlides/notesSlide7.xml" Id="R0936ee280d3547e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5b6b5b2a0f84175" /><Relationship Type="http://schemas.openxmlformats.org/officeDocument/2006/relationships/notesSlide" Target="/ppt/notesSlides/notesSlide8.xml" Id="R7723ada18f4d498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67b06e6aafb479d" /><Relationship Type="http://schemas.openxmlformats.org/officeDocument/2006/relationships/notesSlide" Target="/ppt/notesSlides/notesSlide9.xml" Id="R85f68e0d20fd40f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126f74a6114cc3" /><Relationship Type="http://schemas.openxmlformats.org/officeDocument/2006/relationships/notesSlide" Target="/ppt/notesSlides/notesSlide10.xml" Id="Rca083f74e0d340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8de4625ad84100" /><Relationship Type="http://schemas.openxmlformats.org/officeDocument/2006/relationships/notesSlide" Target="/ppt/notesSlides/notesSlide11.xml" Id="R553fec77b91f4f6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5d35c527c8941e1" /><Relationship Type="http://schemas.openxmlformats.org/officeDocument/2006/relationships/notesSlide" Target="/ppt/notesSlides/notesSlide12.xml" Id="R1ba4fc3161524bc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6cd34b33c56456e" /><Relationship Type="http://schemas.openxmlformats.org/officeDocument/2006/relationships/notesSlide" Target="/ppt/notesSlides/notesSlide13.xml" Id="R91ebd9bfd5734d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8ef4ca31fa144e6" /><Relationship Type="http://schemas.openxmlformats.org/officeDocument/2006/relationships/image" Target="/ppt/media/image6.png" Id="R5888944ff8fb4a34" /><Relationship Type="http://schemas.openxmlformats.org/officeDocument/2006/relationships/notesSlide" Target="/ppt/notesSlides/notesSlide14.xml" Id="Reaec354ada4544a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cf180ab662d4a33" /><Relationship Type="http://schemas.openxmlformats.org/officeDocument/2006/relationships/notesSlide" Target="/ppt/notesSlides/notesSlide15.xml" Id="Ra77d985ebe00479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edf5dc442d84bed" /><Relationship Type="http://schemas.openxmlformats.org/officeDocument/2006/relationships/notesSlide" Target="/ppt/notesSlides/notesSlide16.xml" Id="R5c8c20ec638b47b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f01957aeaa04a01" /><Relationship Type="http://schemas.openxmlformats.org/officeDocument/2006/relationships/notesSlide" Target="/ppt/notesSlides/notesSlide17.xml" Id="Rb85ea7cdc03f4a1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bfd4c763cf6491f" /><Relationship Type="http://schemas.openxmlformats.org/officeDocument/2006/relationships/notesSlide" Target="/ppt/notesSlides/notesSlide18.xml" Id="R394220fff93d478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1938bb09c0042a8" /><Relationship Type="http://schemas.openxmlformats.org/officeDocument/2006/relationships/notesSlide" Target="/ppt/notesSlides/notesSlide19.xml" Id="Rc1521dc41b9243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03e50195c3246e7" /><Relationship Type="http://schemas.openxmlformats.org/officeDocument/2006/relationships/notesSlide" Target="/ppt/notesSlides/notesSlide20.xml" Id="Ra5723da7112746f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D1D30E0E-D2D5-4C08-A919-2A1C2D5A8D02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1428750" y="3352800"/>
            <a:ext cx="9334500" cy="200025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问题 → 关键词 → 检索式 → 来源审计 → 候选文献表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r>
              <a:rPr>
                <a:latin typeface="+mn-ea"/>
                <a:ea typeface="+mn-ea"/>
                <a:cs typeface="+mn-ea"/>
              </a:rPr>
              <a:t/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检索不是搜得多，而是可复盘</a:t>
            </a:r>
            <a:endParaRPr>
              <a:latin typeface="+mn-ea"/>
              <a:ea typeface="+mn-ea"/>
              <a:cs typeface="+mn-ea"/>
            </a:endParaRPr>
          </a:p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阶段四：外部输入摄取 → 阶段五：证据整理</a:t>
            </a:r>
            <a:endParaRPr>
              <a:latin typeface="+mn-ea"/>
              <a:ea typeface="+mn-ea"/>
              <a:cs typeface="+mn-ea"/>
            </a:endParaRPr>
          </a:p>
        </p:txBody>
      </p:sp>
      <p:sp>
        <p:nvSpPr>
          <p:cNvPr id="2" name="矩形 11">
            <a:extLst xmlns:a="http://schemas.openxmlformats.org/drawingml/2006/main">
              <a:ext uri="{FF2B5EF4-FFF2-40B4-BE49-F238E27FC236}">
                <a16:creationId xmlns:a16="http://schemas.microsoft.com/office/drawing/2014/main" id="{27DE90CC-93E2-C662-C202-C5C6993D7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428750"/>
            <a:ext cx="8763000" cy="164592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30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文献检索与证据角色</a:t>
            </a:r>
            <a:endParaRPr sz="4000" b="1" kern="0" spc="20">
              <a:solidFill>
                <a:srgbClr val="C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课之后，研究材料为何仍不可信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p02-left-title">
            <a:extLst xmlns:a="http://schemas.openxmlformats.org/drawingml/2006/main">
              <a:ext uri="{FF2B5EF4-FFF2-40B4-BE49-F238E27FC236}">
                <a16:creationId xmlns:a16="http://schemas.microsoft.com/office/drawing/2014/main" id="{84A5E762-1611-496D-A1A8-C4B00F5B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8745A"/>
                </a:solidFill>
              </a:defRPr>
            </a:pPr>
            <a:r>
              <a:rPr sz="21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动作可审计</a:t>
            </a:r>
          </a:p>
        </p:txBody>
      </p:sp>
      <p:sp>
        <p:nvSpPr>
          <p:cNvPr id="7" name="p02-l-0">
            <a:extLst xmlns:a="http://schemas.openxmlformats.org/drawingml/2006/main">
              <a:ext uri="{FF2B5EF4-FFF2-40B4-BE49-F238E27FC236}">
                <a16:creationId xmlns:a16="http://schemas.microsoft.com/office/drawing/2014/main" id="{56D02CD2-CA1C-437E-B03B-A9BB1219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权限矩阵</a:t>
            </a:r>
          </a:p>
        </p:txBody>
      </p:sp>
      <p:sp>
        <p:nvSpPr>
          <p:cNvPr id="8" name="p02-l-1">
            <a:extLst xmlns:a="http://schemas.openxmlformats.org/drawingml/2006/main">
              <a:ext uri="{FF2B5EF4-FFF2-40B4-BE49-F238E27FC236}">
                <a16:creationId xmlns:a16="http://schemas.microsoft.com/office/drawing/2014/main" id="{FB46987E-70BF-4992-96EB-FBBB94ABB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AI 使用记录</a:t>
            </a:r>
          </a:p>
        </p:txBody>
      </p:sp>
      <p:sp>
        <p:nvSpPr>
          <p:cNvPr id="9" name="p02-l-2">
            <a:extLst xmlns:a="http://schemas.openxmlformats.org/drawingml/2006/main">
              <a:ext uri="{FF2B5EF4-FFF2-40B4-BE49-F238E27FC236}">
                <a16:creationId xmlns:a16="http://schemas.microsoft.com/office/drawing/2014/main" id="{D40C324C-7EC2-4B77-B392-428F22E8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8745A"/>
                </a:solidFill>
              </a:defRPr>
            </a:pPr>
            <a:r>
              <a:rPr sz="16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✓  伦理清单</a:t>
            </a:r>
          </a:p>
        </p:txBody>
      </p:sp>
      <p:sp>
        <p:nvSpPr>
          <p:cNvPr id="10" name="p02-gap">
            <a:extLst xmlns:a="http://schemas.openxmlformats.org/drawingml/2006/main">
              <a:ext uri="{FF2B5EF4-FFF2-40B4-BE49-F238E27FC236}">
                <a16:creationId xmlns:a16="http://schemas.microsoft.com/office/drawing/2014/main" id="{BBBD2D3B-7399-4B04-98A1-26FEB8A8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33875" y="2905125"/>
            <a:ext cx="3524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02-gap-label">
            <a:extLst xmlns:a="http://schemas.openxmlformats.org/drawingml/2006/main">
              <a:ext uri="{FF2B5EF4-FFF2-40B4-BE49-F238E27FC236}">
                <a16:creationId xmlns:a16="http://schemas.microsoft.com/office/drawing/2014/main" id="{5358EE48-2F35-47C4-A901-FCEF15D0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5908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仍未回答</a:t>
            </a:r>
          </a:p>
        </p:txBody>
      </p:sp>
      <p:sp>
        <p:nvSpPr>
          <p:cNvPr id="12" name="p02-right-title">
            <a:extLst xmlns:a="http://schemas.openxmlformats.org/drawingml/2006/main">
              <a:ext uri="{FF2B5EF4-FFF2-40B4-BE49-F238E27FC236}">
                <a16:creationId xmlns:a16="http://schemas.microsoft.com/office/drawing/2014/main" id="{631A70E8-EADA-4B08-97A3-FFE2D1C0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668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C8161E"/>
                </a:solidFill>
              </a:defRPr>
            </a:pPr>
            <a:r>
              <a:rPr sz="21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材料可信吗</a:t>
            </a:r>
          </a:p>
        </p:txBody>
      </p:sp>
      <p:sp>
        <p:nvSpPr>
          <p:cNvPr id="13" name="p02-r-0">
            <a:extLst xmlns:a="http://schemas.openxmlformats.org/drawingml/2006/main">
              <a:ext uri="{FF2B5EF4-FFF2-40B4-BE49-F238E27FC236}">
                <a16:creationId xmlns:a16="http://schemas.microsoft.com/office/drawing/2014/main" id="{4FB75B34-0E55-4568-B68B-D0C133F8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097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论文真实存在？</a:t>
            </a:r>
          </a:p>
        </p:txBody>
      </p:sp>
      <p:sp>
        <p:nvSpPr>
          <p:cNvPr id="14" name="p02-r-1">
            <a:extLst xmlns:a="http://schemas.openxmlformats.org/drawingml/2006/main">
              <a:ext uri="{FF2B5EF4-FFF2-40B4-BE49-F238E27FC236}">
                <a16:creationId xmlns:a16="http://schemas.microsoft.com/office/drawing/2014/main" id="{E320E69F-EF1B-4886-8464-7B0E1590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241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题名 / 作者 / DOI 一致？</a:t>
            </a:r>
          </a:p>
        </p:txBody>
      </p:sp>
      <p:sp>
        <p:nvSpPr>
          <p:cNvPr id="15" name="p02-r-2">
            <a:extLst xmlns:a="http://schemas.openxmlformats.org/drawingml/2006/main">
              <a:ext uri="{FF2B5EF4-FFF2-40B4-BE49-F238E27FC236}">
                <a16:creationId xmlns:a16="http://schemas.microsoft.com/office/drawing/2014/main" id="{5E2A3041-DAB7-4168-B78C-E80F4111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38550"/>
            <a:ext cx="388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?  任务和限定条件是什么？</a:t>
            </a:r>
          </a:p>
        </p:txBody>
      </p:sp>
      <p:sp>
        <p:nvSpPr>
          <p:cNvPr id="16" name="p02-bottom">
            <a:extLst xmlns:a="http://schemas.openxmlformats.org/drawingml/2006/main">
              <a:ext uri="{FF2B5EF4-FFF2-40B4-BE49-F238E27FC236}">
                <a16:creationId xmlns:a16="http://schemas.microsoft.com/office/drawing/2014/main" id="{6873C0D4-57D9-4173-9A5A-7E6C6B2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72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权限和披露说明 AI 做过什么；来源核验决定材料能不能信。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本课目标与课堂产出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p03-n-0">
            <a:extLst xmlns:a="http://schemas.openxmlformats.org/drawingml/2006/main">
              <a:ext uri="{FF2B5EF4-FFF2-40B4-BE49-F238E27FC236}">
                <a16:creationId xmlns:a16="http://schemas.microsoft.com/office/drawing/2014/main" id="{514411B0-806F-4AC1-8764-DFB2FC54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p03-g-0">
            <a:extLst xmlns:a="http://schemas.openxmlformats.org/drawingml/2006/main">
              <a:ext uri="{FF2B5EF4-FFF2-40B4-BE49-F238E27FC236}">
                <a16:creationId xmlns:a16="http://schemas.microsoft.com/office/drawing/2014/main" id="{6508703F-5EFE-4557-837A-BD2097B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1811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生成关键词、检索式和筛选条件</a:t>
            </a:r>
          </a:p>
        </p:txBody>
      </p:sp>
      <p:sp>
        <p:nvSpPr>
          <p:cNvPr id="8" name="p03-n-1">
            <a:extLst xmlns:a="http://schemas.openxmlformats.org/drawingml/2006/main">
              <a:ext uri="{FF2B5EF4-FFF2-40B4-BE49-F238E27FC236}">
                <a16:creationId xmlns:a16="http://schemas.microsoft.com/office/drawing/2014/main" id="{428B3031-72B4-4F0D-BE06-90840AC5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p03-g-1">
            <a:extLst xmlns:a="http://schemas.openxmlformats.org/drawingml/2006/main">
              <a:ext uri="{FF2B5EF4-FFF2-40B4-BE49-F238E27FC236}">
                <a16:creationId xmlns:a16="http://schemas.microsoft.com/office/drawing/2014/main" id="{55E9F0B6-AC41-4E81-9475-E2993DD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0574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区分四种证据角色</a:t>
            </a:r>
          </a:p>
        </p:txBody>
      </p:sp>
      <p:sp>
        <p:nvSpPr>
          <p:cNvPr id="10" name="p03-n-2">
            <a:extLst xmlns:a="http://schemas.openxmlformats.org/drawingml/2006/main">
              <a:ext uri="{FF2B5EF4-FFF2-40B4-BE49-F238E27FC236}">
                <a16:creationId xmlns:a16="http://schemas.microsoft.com/office/drawing/2014/main" id="{F8FE3DED-F3D2-4271-B6CF-40EC1A7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p03-g-2">
            <a:extLst xmlns:a="http://schemas.openxmlformats.org/drawingml/2006/main">
              <a:ext uri="{FF2B5EF4-FFF2-40B4-BE49-F238E27FC236}">
                <a16:creationId xmlns:a16="http://schemas.microsoft.com/office/drawing/2014/main" id="{C19DA36C-15B1-4835-9F24-BC854160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9337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执行回原文核验</a:t>
            </a:r>
          </a:p>
        </p:txBody>
      </p:sp>
      <p:sp>
        <p:nvSpPr>
          <p:cNvPr id="12" name="p03-n-3">
            <a:extLst xmlns:a="http://schemas.openxmlformats.org/drawingml/2006/main">
              <a:ext uri="{FF2B5EF4-FFF2-40B4-BE49-F238E27FC236}">
                <a16:creationId xmlns:a16="http://schemas.microsoft.com/office/drawing/2014/main" id="{9D882163-08AD-4919-AD15-52B69444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10000"/>
            <a:ext cx="647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p03-g-3">
            <a:extLst xmlns:a="http://schemas.openxmlformats.org/drawingml/2006/main">
              <a:ext uri="{FF2B5EF4-FFF2-40B4-BE49-F238E27FC236}">
                <a16:creationId xmlns:a16="http://schemas.microsoft.com/office/drawing/2014/main" id="{C81B0AA2-F806-43DA-9331-54F6FB35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10000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建立候选文献表第一版</a:t>
            </a:r>
          </a:p>
        </p:txBody>
      </p:sp>
      <p:sp>
        <p:nvSpPr>
          <p:cNvPr id="14" name="p03-output">
            <a:extLst xmlns:a="http://schemas.openxmlformats.org/drawingml/2006/main">
              <a:ext uri="{FF2B5EF4-FFF2-40B4-BE49-F238E27FC236}">
                <a16:creationId xmlns:a16="http://schemas.microsoft.com/office/drawing/2014/main" id="{323E8F16-4D8E-457C-9948-CFF4EEF8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200150"/>
            <a:ext cx="314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课堂产出</a:t>
            </a:r>
          </a:p>
        </p:txBody>
      </p:sp>
      <p:sp>
        <p:nvSpPr>
          <p:cNvPr id="15" name="p03-output-body">
            <a:extLst xmlns:a="http://schemas.openxmlformats.org/drawingml/2006/main">
              <a:ext uri="{FF2B5EF4-FFF2-40B4-BE49-F238E27FC236}">
                <a16:creationId xmlns:a16="http://schemas.microsoft.com/office/drawing/2014/main" id="{1561A07D-E6B5-49C0-9494-2CA8DA18F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790700"/>
            <a:ext cx="3333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条检索记录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2 条来源审计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 verified / caveat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 条 AI 使用记录</a:t>
            </a:r>
          </a:p>
        </p:txBody>
      </p:sp>
      <p:sp>
        <p:nvSpPr>
          <p:cNvPr id="16" name="p03-bottom">
            <a:extLst xmlns:a="http://schemas.openxmlformats.org/drawingml/2006/main">
              <a:ext uri="{FF2B5EF4-FFF2-40B4-BE49-F238E27FC236}">
                <a16:creationId xmlns:a16="http://schemas.microsoft.com/office/drawing/2014/main" id="{104DAE93-14B2-4B76-9DB4-5B9369EA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02920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本课不正式提交，第 6 课问题门统一检查。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搜得多不等于证据充分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p04-bad">
            <a:extLst xmlns:a="http://schemas.openxmlformats.org/drawingml/2006/main">
              <a:ext uri="{FF2B5EF4-FFF2-40B4-BE49-F238E27FC236}">
                <a16:creationId xmlns:a16="http://schemas.microsoft.com/office/drawing/2014/main" id="{D1058642-F301-4EE5-8CAD-07F0698A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85900"/>
            <a:ext cx="4286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2400" b="1">
                <a:solidFill>
                  <a:srgbClr val="C8161E"/>
                </a:solidFill>
              </a:defRPr>
            </a:pPr>
            <a:r>
              <a:rPr sz="24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50 篇论文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2400" b="1">
                <a:solidFill>
                  <a:srgbClr val="C8161E"/>
                </a:solidFill>
              </a:defRPr>
            </a:pPr>
            <a:r>
              <a:rPr sz="24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全部标成“主证据”</a:t>
            </a:r>
          </a:p>
        </p:txBody>
      </p:sp>
      <p:sp>
        <p:nvSpPr>
          <p:cNvPr id="7" name="p04-x">
            <a:extLst xmlns:a="http://schemas.openxmlformats.org/drawingml/2006/main">
              <a:ext uri="{FF2B5EF4-FFF2-40B4-BE49-F238E27FC236}">
                <a16:creationId xmlns:a16="http://schemas.microsoft.com/office/drawing/2014/main" id="{E24BEAB4-1435-47F8-A512-EA9DF476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14550"/>
            <a:ext cx="140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C8161E"/>
                </a:solidFill>
              </a:defRPr>
            </a:pPr>
            <a:r>
              <a:rPr sz="42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≠</a:t>
            </a:r>
          </a:p>
        </p:txBody>
      </p:sp>
      <p:sp>
        <p:nvSpPr>
          <p:cNvPr id="8" name="p04-good">
            <a:extLst xmlns:a="http://schemas.openxmlformats.org/drawingml/2006/main">
              <a:ext uri="{FF2B5EF4-FFF2-40B4-BE49-F238E27FC236}">
                <a16:creationId xmlns:a16="http://schemas.microsoft.com/office/drawing/2014/main" id="{1A289439-F288-49E3-A6B5-B854CCA9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85900"/>
            <a:ext cx="4286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8354E"/>
                </a:solidFill>
              </a:defRPr>
            </a:pPr>
            <a:r>
              <a:rPr sz="28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证据充分</a:t>
            </a:r>
          </a:p>
        </p:txBody>
      </p:sp>
      <p:sp>
        <p:nvSpPr>
          <p:cNvPr id="9" name="p04-errors">
            <a:extLst xmlns:a="http://schemas.openxmlformats.org/drawingml/2006/main">
              <a:ext uri="{FF2B5EF4-FFF2-40B4-BE49-F238E27FC236}">
                <a16:creationId xmlns:a16="http://schemas.microsoft.com/office/drawing/2014/main" id="{0BECCCFB-D7D5-4298-9A69-CA2BC499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9334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684"/>
                </a:solidFill>
              </a:defRPr>
            </a:pPr>
            <a:r>
              <a:rPr sz="16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直接复制 AI 引文　｜　悄悄排除反例　｜　不记录检索式</a:t>
            </a:r>
          </a:p>
        </p:txBody>
      </p:sp>
      <p:sp>
        <p:nvSpPr>
          <p:cNvPr id="10" name="p04-bottom">
            <a:extLst xmlns:a="http://schemas.openxmlformats.org/drawingml/2006/main">
              <a:ext uri="{FF2B5EF4-FFF2-40B4-BE49-F238E27FC236}">
                <a16:creationId xmlns:a16="http://schemas.microsoft.com/office/drawing/2014/main" id="{6A9DBA45-7885-49C0-8419-754A7B7E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723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充分性来自角色清晰与实质独立，不来自数量。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外部输入不止论文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p05-h-0">
            <a:extLst xmlns:a="http://schemas.openxmlformats.org/drawingml/2006/main">
              <a:ext uri="{FF2B5EF4-FFF2-40B4-BE49-F238E27FC236}">
                <a16:creationId xmlns:a16="http://schemas.microsoft.com/office/drawing/2014/main" id="{43EA654E-3988-4077-9A34-96DF0038E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09650"/>
            <a:ext cx="3143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类型</a:t>
            </a:r>
          </a:p>
        </p:txBody>
      </p:sp>
      <p:sp>
        <p:nvSpPr>
          <p:cNvPr id="7" name="p05-h-1">
            <a:extLst xmlns:a="http://schemas.openxmlformats.org/drawingml/2006/main">
              <a:ext uri="{FF2B5EF4-FFF2-40B4-BE49-F238E27FC236}">
                <a16:creationId xmlns:a16="http://schemas.microsoft.com/office/drawing/2014/main" id="{EA98844E-738A-4238-8FF1-4D692C1A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096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例子</a:t>
            </a:r>
          </a:p>
        </p:txBody>
      </p:sp>
      <p:sp>
        <p:nvSpPr>
          <p:cNvPr id="8" name="p05-h-2">
            <a:extLst xmlns:a="http://schemas.openxmlformats.org/drawingml/2006/main">
              <a:ext uri="{FF2B5EF4-FFF2-40B4-BE49-F238E27FC236}">
                <a16:creationId xmlns:a16="http://schemas.microsoft.com/office/drawing/2014/main" id="{D97A1E63-D593-4527-8AB1-0F46310D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009650"/>
            <a:ext cx="4286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典型角色</a:t>
            </a:r>
          </a:p>
        </p:txBody>
      </p:sp>
      <p:sp>
        <p:nvSpPr>
          <p:cNvPr id="9" name="p05-r0-0">
            <a:extLst xmlns:a="http://schemas.openxmlformats.org/drawingml/2006/main">
              <a:ext uri="{FF2B5EF4-FFF2-40B4-BE49-F238E27FC236}">
                <a16:creationId xmlns:a16="http://schemas.microsoft.com/office/drawing/2014/main" id="{F18FC195-7683-4599-9680-1689A418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859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同行评议论文</a:t>
            </a:r>
          </a:p>
        </p:txBody>
      </p:sp>
      <p:sp>
        <p:nvSpPr>
          <p:cNvPr id="10" name="p05-r0-1">
            <a:extLst xmlns:a="http://schemas.openxmlformats.org/drawingml/2006/main">
              <a:ext uri="{FF2B5EF4-FFF2-40B4-BE49-F238E27FC236}">
                <a16:creationId xmlns:a16="http://schemas.microsoft.com/office/drawing/2014/main" id="{84D32E92-4956-4E0A-9D90-F5BF566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859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期刊、会议</a:t>
            </a:r>
          </a:p>
        </p:txBody>
      </p:sp>
      <p:sp>
        <p:nvSpPr>
          <p:cNvPr id="11" name="p05-r0-2">
            <a:extLst xmlns:a="http://schemas.openxmlformats.org/drawingml/2006/main">
              <a:ext uri="{FF2B5EF4-FFF2-40B4-BE49-F238E27FC236}">
                <a16:creationId xmlns:a16="http://schemas.microsoft.com/office/drawing/2014/main" id="{D30E1650-3609-4D22-9B23-815BA9557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859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主证据 / 对比</a:t>
            </a:r>
          </a:p>
        </p:txBody>
      </p:sp>
      <p:sp>
        <p:nvSpPr>
          <p:cNvPr id="12" name="p05-r1-0">
            <a:extLst xmlns:a="http://schemas.openxmlformats.org/drawingml/2006/main">
              <a:ext uri="{FF2B5EF4-FFF2-40B4-BE49-F238E27FC236}">
                <a16:creationId xmlns:a16="http://schemas.microsoft.com/office/drawing/2014/main" id="{53CE8964-28C5-45BC-AD10-B12B94CE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383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经典书籍选章</a:t>
            </a:r>
          </a:p>
        </p:txBody>
      </p:sp>
      <p:sp>
        <p:nvSpPr>
          <p:cNvPr id="13" name="p05-r1-1">
            <a:extLst xmlns:a="http://schemas.openxmlformats.org/drawingml/2006/main">
              <a:ext uri="{FF2B5EF4-FFF2-40B4-BE49-F238E27FC236}">
                <a16:creationId xmlns:a16="http://schemas.microsoft.com/office/drawing/2014/main" id="{BCF2E6D6-CD89-4B55-8EBB-F0CD06FD8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383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方法论、统计</a:t>
            </a:r>
          </a:p>
        </p:txBody>
      </p:sp>
      <p:sp>
        <p:nvSpPr>
          <p:cNvPr id="14" name="p05-r1-2">
            <a:extLst xmlns:a="http://schemas.openxmlformats.org/drawingml/2006/main">
              <a:ext uri="{FF2B5EF4-FFF2-40B4-BE49-F238E27FC236}">
                <a16:creationId xmlns:a16="http://schemas.microsoft.com/office/drawing/2014/main" id="{39FEC19C-4564-465E-B33D-1DB911E0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主证据 / 补充</a:t>
            </a:r>
          </a:p>
        </p:txBody>
      </p:sp>
      <p:sp>
        <p:nvSpPr>
          <p:cNvPr id="15" name="p05-r2-0">
            <a:extLst xmlns:a="http://schemas.openxmlformats.org/drawingml/2006/main">
              <a:ext uri="{FF2B5EF4-FFF2-40B4-BE49-F238E27FC236}">
                <a16:creationId xmlns:a16="http://schemas.microsoft.com/office/drawing/2014/main" id="{DF0ED3D4-72FD-4A4F-BC4A-60716D3D3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908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正式规范</a:t>
            </a:r>
          </a:p>
        </p:txBody>
      </p:sp>
      <p:sp>
        <p:nvSpPr>
          <p:cNvPr id="16" name="p05-r2-1">
            <a:extLst xmlns:a="http://schemas.openxmlformats.org/drawingml/2006/main">
              <a:ext uri="{FF2B5EF4-FFF2-40B4-BE49-F238E27FC236}">
                <a16:creationId xmlns:a16="http://schemas.microsoft.com/office/drawing/2014/main" id="{08054B5F-3CE2-43F3-9CE1-424A5635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908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PRISMA、ACM Badging</a:t>
            </a:r>
          </a:p>
        </p:txBody>
      </p:sp>
      <p:sp>
        <p:nvSpPr>
          <p:cNvPr id="17" name="p05-r2-2">
            <a:extLst xmlns:a="http://schemas.openxmlformats.org/drawingml/2006/main">
              <a:ext uri="{FF2B5EF4-FFF2-40B4-BE49-F238E27FC236}">
                <a16:creationId xmlns:a16="http://schemas.microsoft.com/office/drawing/2014/main" id="{DDB7ABBA-8869-4DC7-B030-3EBC0733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908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方法依据</a:t>
            </a:r>
          </a:p>
        </p:txBody>
      </p:sp>
      <p:sp>
        <p:nvSpPr>
          <p:cNvPr id="18" name="p05-r3-0">
            <a:extLst xmlns:a="http://schemas.openxmlformats.org/drawingml/2006/main">
              <a:ext uri="{FF2B5EF4-FFF2-40B4-BE49-F238E27FC236}">
                <a16:creationId xmlns:a16="http://schemas.microsoft.com/office/drawing/2014/main" id="{4CFD7B73-2904-433D-82E9-BFF3AAEF0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432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代码与数据集</a:t>
            </a:r>
          </a:p>
        </p:txBody>
      </p:sp>
      <p:sp>
        <p:nvSpPr>
          <p:cNvPr id="19" name="p05-r3-1">
            <a:extLst xmlns:a="http://schemas.openxmlformats.org/drawingml/2006/main">
              <a:ext uri="{FF2B5EF4-FFF2-40B4-BE49-F238E27FC236}">
                <a16:creationId xmlns:a16="http://schemas.microsoft.com/office/drawing/2014/main" id="{03972344-06A6-4D4C-932E-D58011EFB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432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GitHub、数据卡片</a:t>
            </a:r>
          </a:p>
        </p:txBody>
      </p:sp>
      <p:sp>
        <p:nvSpPr>
          <p:cNvPr id="20" name="p05-r3-2">
            <a:extLst xmlns:a="http://schemas.openxmlformats.org/drawingml/2006/main">
              <a:ext uri="{FF2B5EF4-FFF2-40B4-BE49-F238E27FC236}">
                <a16:creationId xmlns:a16="http://schemas.microsoft.com/office/drawing/2014/main" id="{1550F092-F882-48D6-8A27-5CF5450A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1432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复现 / 验证</a:t>
            </a:r>
          </a:p>
        </p:txBody>
      </p:sp>
      <p:sp>
        <p:nvSpPr>
          <p:cNvPr id="21" name="p05-r4-0">
            <a:extLst xmlns:a="http://schemas.openxmlformats.org/drawingml/2006/main">
              <a:ext uri="{FF2B5EF4-FFF2-40B4-BE49-F238E27FC236}">
                <a16:creationId xmlns:a16="http://schemas.microsoft.com/office/drawing/2014/main" id="{6CF45B89-C412-43F8-A56F-3F5A586B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6957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官方文档</a:t>
            </a:r>
          </a:p>
        </p:txBody>
      </p:sp>
      <p:sp>
        <p:nvSpPr>
          <p:cNvPr id="22" name="p05-r4-1">
            <a:extLst xmlns:a="http://schemas.openxmlformats.org/drawingml/2006/main">
              <a:ext uri="{FF2B5EF4-FFF2-40B4-BE49-F238E27FC236}">
                <a16:creationId xmlns:a16="http://schemas.microsoft.com/office/drawing/2014/main" id="{D67FA0F5-6DD1-4906-A722-2059A47F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957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协议、API</a:t>
            </a:r>
          </a:p>
        </p:txBody>
      </p:sp>
      <p:sp>
        <p:nvSpPr>
          <p:cNvPr id="23" name="p05-r4-2">
            <a:extLst xmlns:a="http://schemas.openxmlformats.org/drawingml/2006/main">
              <a:ext uri="{FF2B5EF4-FFF2-40B4-BE49-F238E27FC236}">
                <a16:creationId xmlns:a16="http://schemas.microsoft.com/office/drawing/2014/main" id="{C258E3AA-F33F-43EC-8F6B-2163F817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957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实践证据</a:t>
            </a:r>
          </a:p>
        </p:txBody>
      </p:sp>
      <p:sp>
        <p:nvSpPr>
          <p:cNvPr id="24" name="p05-r5-0">
            <a:extLst xmlns:a="http://schemas.openxmlformats.org/drawingml/2006/main">
              <a:ext uri="{FF2B5EF4-FFF2-40B4-BE49-F238E27FC236}">
                <a16:creationId xmlns:a16="http://schemas.microsoft.com/office/drawing/2014/main" id="{03711B86-1030-4C79-AF41-08F07DA31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4815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工程文章、issue</a:t>
            </a:r>
          </a:p>
        </p:txBody>
      </p:sp>
      <p:sp>
        <p:nvSpPr>
          <p:cNvPr id="25" name="p05-r5-1">
            <a:extLst xmlns:a="http://schemas.openxmlformats.org/drawingml/2006/main">
              <a:ext uri="{FF2B5EF4-FFF2-40B4-BE49-F238E27FC236}">
                <a16:creationId xmlns:a16="http://schemas.microsoft.com/office/drawing/2014/main" id="{6C500B33-3BBA-4146-A625-6F2C822BF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4815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厂商文、失败记录</a:t>
            </a:r>
          </a:p>
        </p:txBody>
      </p:sp>
      <p:sp>
        <p:nvSpPr>
          <p:cNvPr id="26" name="p05-r5-2">
            <a:extLst xmlns:a="http://schemas.openxmlformats.org/drawingml/2006/main">
              <a:ext uri="{FF2B5EF4-FFF2-40B4-BE49-F238E27FC236}">
                <a16:creationId xmlns:a16="http://schemas.microsoft.com/office/drawing/2014/main" id="{5788BC37-7CF4-4478-A171-2CFE26D1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探索线索</a:t>
            </a:r>
          </a:p>
        </p:txBody>
      </p:sp>
      <p:sp>
        <p:nvSpPr>
          <p:cNvPr id="27" name="p05-r6-0">
            <a:extLst xmlns:a="http://schemas.openxmlformats.org/drawingml/2006/main">
              <a:ext uri="{FF2B5EF4-FFF2-40B4-BE49-F238E27FC236}">
                <a16:creationId xmlns:a16="http://schemas.microsoft.com/office/drawing/2014/main" id="{9A468EB4-98DC-4222-A8AF-8DF4FE4A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3143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搜索结果</a:t>
            </a:r>
          </a:p>
        </p:txBody>
      </p:sp>
      <p:sp>
        <p:nvSpPr>
          <p:cNvPr id="28" name="p05-r6-1">
            <a:extLst xmlns:a="http://schemas.openxmlformats.org/drawingml/2006/main">
              <a:ext uri="{FF2B5EF4-FFF2-40B4-BE49-F238E27FC236}">
                <a16:creationId xmlns:a16="http://schemas.microsoft.com/office/drawing/2014/main" id="{7AAE2EE2-7AB9-4332-BBF3-3F886C59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800600"/>
            <a:ext cx="400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模型候选列表</a:t>
            </a:r>
          </a:p>
        </p:txBody>
      </p:sp>
      <p:sp>
        <p:nvSpPr>
          <p:cNvPr id="29" name="p05-r6-2">
            <a:extLst xmlns:a="http://schemas.openxmlformats.org/drawingml/2006/main">
              <a:ext uri="{FF2B5EF4-FFF2-40B4-BE49-F238E27FC236}">
                <a16:creationId xmlns:a16="http://schemas.microsoft.com/office/drawing/2014/main" id="{F122AB0E-4EC6-4CB7-963E-AD76D0A9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00600"/>
            <a:ext cx="4286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探索线索</a:t>
            </a:r>
          </a:p>
        </p:txBody>
      </p:sp>
      <p:sp>
        <p:nvSpPr>
          <p:cNvPr id="30" name="p05-bottom">
            <a:extLst xmlns:a="http://schemas.openxmlformats.org/drawingml/2006/main">
              <a:ext uri="{FF2B5EF4-FFF2-40B4-BE49-F238E27FC236}">
                <a16:creationId xmlns:a16="http://schemas.microsoft.com/office/drawing/2014/main" id="{D01D1EB0-4462-4965-B3B9-4904B076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429250"/>
            <a:ext cx="883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来源类型不自动决定可信度；关键结论必须回到可核验一手材料。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先写问题，再搜材料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p06-topic">
            <a:extLst xmlns:a="http://schemas.openxmlformats.org/drawingml/2006/main">
              <a:ext uri="{FF2B5EF4-FFF2-40B4-BE49-F238E27FC236}">
                <a16:creationId xmlns:a16="http://schemas.microsoft.com/office/drawing/2014/main" id="{0FD5329D-C328-4967-88B9-CE5CE071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95450"/>
            <a:ext cx="25717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宽泛主题</a:t>
            </a:r>
          </a:p>
          <a:p xmlns:a="http://schemas.openxmlformats.org/drawingml/2006/main">
            <a:pPr algn="ctr">
              <a:defRPr sz="1875" b="1">
                <a:solidFill>
                  <a:srgbClr val="667684"/>
                </a:solidFill>
              </a:defRPr>
            </a:pPr>
            <a:r>
              <a:rPr sz="1875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AI 辅助论文阅读</a:t>
            </a:r>
          </a:p>
        </p:txBody>
      </p:sp>
      <p:sp>
        <p:nvSpPr>
          <p:cNvPr id="7" name="p06-a1">
            <a:extLst xmlns:a="http://schemas.openxmlformats.org/drawingml/2006/main">
              <a:ext uri="{FF2B5EF4-FFF2-40B4-BE49-F238E27FC236}">
                <a16:creationId xmlns:a16="http://schemas.microsoft.com/office/drawing/2014/main" id="{182BBB1C-2E5B-4D5E-AA2F-616D4775F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2479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06-question">
            <a:extLst xmlns:a="http://schemas.openxmlformats.org/drawingml/2006/main">
              <a:ext uri="{FF2B5EF4-FFF2-40B4-BE49-F238E27FC236}">
                <a16:creationId xmlns:a16="http://schemas.microsoft.com/office/drawing/2014/main" id="{DF0FD123-82A6-4BBF-9F19-0EACFADF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314450"/>
            <a:ext cx="4762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可操作问题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在逐条核验引用的计算机论文阅读任务中，结构化阅读卡是否降低 AI 摘要的限定条件遗漏率？</a:t>
            </a:r>
          </a:p>
        </p:txBody>
      </p:sp>
      <p:sp>
        <p:nvSpPr>
          <p:cNvPr id="9" name="p06-a2">
            <a:extLst xmlns:a="http://schemas.openxmlformats.org/drawingml/2006/main">
              <a:ext uri="{FF2B5EF4-FFF2-40B4-BE49-F238E27FC236}">
                <a16:creationId xmlns:a16="http://schemas.microsoft.com/office/drawing/2014/main" id="{5FF0BF3C-1EF0-4A03-A52D-CE1EEE65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06-words">
            <a:extLst xmlns:a="http://schemas.openxmlformats.org/drawingml/2006/main">
              <a:ext uri="{FF2B5EF4-FFF2-40B4-BE49-F238E27FC236}">
                <a16:creationId xmlns:a16="http://schemas.microsoft.com/office/drawing/2014/main" id="{B7BB5018-1F10-49DD-8198-BC527345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485900"/>
            <a:ext cx="23241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五个关键词</a:t>
            </a:r>
          </a:p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结构化阅读卡</a:t>
            </a:r>
          </a:p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摘要｜限定条件</a:t>
            </a:r>
          </a:p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遗漏率｜引用核验</a:t>
            </a:r>
          </a:p>
        </p:txBody>
      </p:sp>
      <p:sp>
        <p:nvSpPr>
          <p:cNvPr id="11" name="p06-expand">
            <a:extLst xmlns:a="http://schemas.openxmlformats.org/drawingml/2006/main">
              <a:ext uri="{FF2B5EF4-FFF2-40B4-BE49-F238E27FC236}">
                <a16:creationId xmlns:a16="http://schemas.microsoft.com/office/drawing/2014/main" id="{091DDD3C-FED7-4DB9-968C-5A0DF501C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38650"/>
            <a:ext cx="8877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每个词再扩展：同义词　｜　上位词　｜　下位词　→　检索词网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检索式可被他人复盘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p07-code">
            <a:extLst xmlns:a="http://schemas.openxmlformats.org/drawingml/2006/main">
              <a:ext uri="{FF2B5EF4-FFF2-40B4-BE49-F238E27FC236}">
                <a16:creationId xmlns:a16="http://schemas.microsoft.com/office/drawing/2014/main" id="{7F0094AF-B0BE-4BFC-880F-4C7BD65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23950"/>
            <a:ext cx="10744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228600" tIns="171450" rIns="228600" bIns="171450" anchor="ctr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("reading card" OR "reading template" OR "structured reading")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AND ("AI summary" OR "LLM summary" OR "AI-generated abstract")</a:t>
            </a:r>
          </a:p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AND ("limitation" OR "scope" OR "boundary")</a:t>
            </a:r>
          </a:p>
        </p:txBody>
      </p:sp>
      <p:sp>
        <p:nvSpPr>
          <p:cNvPr id="7" name="p07-tag-0">
            <a:extLst xmlns:a="http://schemas.openxmlformats.org/drawingml/2006/main">
              <a:ext uri="{FF2B5EF4-FFF2-40B4-BE49-F238E27FC236}">
                <a16:creationId xmlns:a16="http://schemas.microsoft.com/office/drawing/2014/main" id="{573DCFE3-6DF4-4667-89EC-3DF849F0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布尔算子</a:t>
            </a:r>
          </a:p>
        </p:txBody>
      </p:sp>
      <p:sp>
        <p:nvSpPr>
          <p:cNvPr id="8" name="p07-tag-1">
            <a:extLst xmlns:a="http://schemas.openxmlformats.org/drawingml/2006/main">
              <a:ext uri="{FF2B5EF4-FFF2-40B4-BE49-F238E27FC236}">
                <a16:creationId xmlns:a16="http://schemas.microsoft.com/office/drawing/2014/main" id="{0CE2112C-7461-42ED-8161-CD471C261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194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字段限定</a:t>
            </a:r>
          </a:p>
        </p:txBody>
      </p:sp>
      <p:sp>
        <p:nvSpPr>
          <p:cNvPr id="9" name="p07-tag-2">
            <a:extLst xmlns:a="http://schemas.openxmlformats.org/drawingml/2006/main">
              <a:ext uri="{FF2B5EF4-FFF2-40B4-BE49-F238E27FC236}">
                <a16:creationId xmlns:a16="http://schemas.microsoft.com/office/drawing/2014/main" id="{7F657574-9276-439B-A4C1-E8B63384F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194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截断通配</a:t>
            </a:r>
          </a:p>
        </p:txBody>
      </p:sp>
      <p:sp>
        <p:nvSpPr>
          <p:cNvPr id="10" name="p07-tag-3">
            <a:extLst xmlns:a="http://schemas.openxmlformats.org/drawingml/2006/main">
              <a:ext uri="{FF2B5EF4-FFF2-40B4-BE49-F238E27FC236}">
                <a16:creationId xmlns:a16="http://schemas.microsoft.com/office/drawing/2014/main" id="{2396633B-FCC8-4CBD-A154-BD1CE211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2194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短语</a:t>
            </a:r>
          </a:p>
        </p:txBody>
      </p:sp>
      <p:sp>
        <p:nvSpPr>
          <p:cNvPr id="11" name="p07-tag-4">
            <a:extLst xmlns:a="http://schemas.openxmlformats.org/drawingml/2006/main">
              <a:ext uri="{FF2B5EF4-FFF2-40B4-BE49-F238E27FC236}">
                <a16:creationId xmlns:a16="http://schemas.microsoft.com/office/drawing/2014/main" id="{1FD0FD71-5A70-4F0F-BE01-F2650DDB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19450"/>
            <a:ext cx="190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时间 / 类型</a:t>
            </a:r>
          </a:p>
        </p:txBody>
      </p:sp>
      <p:sp>
        <p:nvSpPr>
          <p:cNvPr id="12" name="p07-record">
            <a:extLst xmlns:a="http://schemas.openxmlformats.org/drawingml/2006/main">
              <a:ext uri="{FF2B5EF4-FFF2-40B4-BE49-F238E27FC236}">
                <a16:creationId xmlns:a16="http://schemas.microsoft.com/office/drawing/2014/main" id="{ABF6CB6D-E03D-4BC2-AC07-136AC44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0096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检索记录：库　｜　检索式　｜　日期　｜　命中数　｜　纳入排除　｜　筛选数</a:t>
            </a:r>
          </a:p>
        </p:txBody>
      </p:sp>
      <p:sp>
        <p:nvSpPr>
          <p:cNvPr id="13" name="p07-bottom">
            <a:extLst xmlns:a="http://schemas.openxmlformats.org/drawingml/2006/main">
              <a:ext uri="{FF2B5EF4-FFF2-40B4-BE49-F238E27FC236}">
                <a16:creationId xmlns:a16="http://schemas.microsoft.com/office/drawing/2014/main" id="{893E9CE5-72B2-456C-A91A-90980BC9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238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别人能复盘，才算检索方法。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纳入与排除条件检索前先写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p08-a-0">
            <a:extLst xmlns:a="http://schemas.openxmlformats.org/drawingml/2006/main">
              <a:ext uri="{FF2B5EF4-FFF2-40B4-BE49-F238E27FC236}">
                <a16:creationId xmlns:a16="http://schemas.microsoft.com/office/drawing/2014/main" id="{5C28ABE6-4C37-4ED8-B7B4-37AB69F1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04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时间范围</a:t>
            </a:r>
          </a:p>
        </p:txBody>
      </p:sp>
      <p:sp>
        <p:nvSpPr>
          <p:cNvPr id="7" name="p08-arrow-0">
            <a:extLst xmlns:a="http://schemas.openxmlformats.org/drawingml/2006/main">
              <a:ext uri="{FF2B5EF4-FFF2-40B4-BE49-F238E27FC236}">
                <a16:creationId xmlns:a16="http://schemas.microsoft.com/office/drawing/2014/main" id="{369D18AF-C04D-46DE-BA4A-A8A888D7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1811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08-b-0">
            <a:extLst xmlns:a="http://schemas.openxmlformats.org/drawingml/2006/main">
              <a:ext uri="{FF2B5EF4-FFF2-40B4-BE49-F238E27FC236}">
                <a16:creationId xmlns:a16="http://schemas.microsoft.com/office/drawing/2014/main" id="{D170426F-7B0A-48C4-BAB2-CE7C2FCE9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1049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为何从某年开始？</a:t>
            </a:r>
          </a:p>
        </p:txBody>
      </p:sp>
      <p:sp>
        <p:nvSpPr>
          <p:cNvPr id="9" name="p08-a-1">
            <a:extLst xmlns:a="http://schemas.openxmlformats.org/drawingml/2006/main">
              <a:ext uri="{FF2B5EF4-FFF2-40B4-BE49-F238E27FC236}">
                <a16:creationId xmlns:a16="http://schemas.microsoft.com/office/drawing/2014/main" id="{CED0CB33-D1DB-4826-9D7D-81086719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05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文献类型</a:t>
            </a:r>
          </a:p>
        </p:txBody>
      </p:sp>
      <p:sp>
        <p:nvSpPr>
          <p:cNvPr id="10" name="p08-arrow-1">
            <a:extLst xmlns:a="http://schemas.openxmlformats.org/drawingml/2006/main">
              <a:ext uri="{FF2B5EF4-FFF2-40B4-BE49-F238E27FC236}">
                <a16:creationId xmlns:a16="http://schemas.microsoft.com/office/drawing/2014/main" id="{CE177FFB-FFCE-4FEC-AC36-8C92C5E4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9812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1" name="p08-b-1">
            <a:extLst xmlns:a="http://schemas.openxmlformats.org/drawingml/2006/main">
              <a:ext uri="{FF2B5EF4-FFF2-40B4-BE49-F238E27FC236}">
                <a16:creationId xmlns:a16="http://schemas.microsoft.com/office/drawing/2014/main" id="{9807D0B8-E664-4C61-9BFE-93C9F99D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9050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同行评议 / 预印本 / 综述</a:t>
            </a:r>
          </a:p>
        </p:txBody>
      </p:sp>
      <p:sp>
        <p:nvSpPr>
          <p:cNvPr id="12" name="p08-a-2">
            <a:extLst xmlns:a="http://schemas.openxmlformats.org/drawingml/2006/main">
              <a:ext uri="{FF2B5EF4-FFF2-40B4-BE49-F238E27FC236}">
                <a16:creationId xmlns:a16="http://schemas.microsoft.com/office/drawing/2014/main" id="{6F35F6CD-C5C8-434D-8B9E-EF57F756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语言</a:t>
            </a:r>
          </a:p>
        </p:txBody>
      </p:sp>
      <p:sp>
        <p:nvSpPr>
          <p:cNvPr id="13" name="p08-arrow-2">
            <a:extLst xmlns:a="http://schemas.openxmlformats.org/drawingml/2006/main">
              <a:ext uri="{FF2B5EF4-FFF2-40B4-BE49-F238E27FC236}">
                <a16:creationId xmlns:a16="http://schemas.microsoft.com/office/drawing/2014/main" id="{5F786AB4-5329-43F1-92F4-403E9E1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4" name="p08-b-2">
            <a:extLst xmlns:a="http://schemas.openxmlformats.org/drawingml/2006/main">
              <a:ext uri="{FF2B5EF4-FFF2-40B4-BE49-F238E27FC236}">
                <a16:creationId xmlns:a16="http://schemas.microsoft.com/office/drawing/2014/main" id="{4A939DB0-4114-4E57-B6CC-9DF51F35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051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限制语言需说明偏倚</a:t>
            </a:r>
          </a:p>
        </p:txBody>
      </p:sp>
      <p:sp>
        <p:nvSpPr>
          <p:cNvPr id="15" name="p08-a-3">
            <a:extLst xmlns:a="http://schemas.openxmlformats.org/drawingml/2006/main">
              <a:ext uri="{FF2B5EF4-FFF2-40B4-BE49-F238E27FC236}">
                <a16:creationId xmlns:a16="http://schemas.microsoft.com/office/drawing/2014/main" id="{23130F0D-CABA-4888-A703-9C1C7D06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研究类型</a:t>
            </a:r>
          </a:p>
        </p:txBody>
      </p:sp>
      <p:sp>
        <p:nvSpPr>
          <p:cNvPr id="16" name="p08-arrow-3">
            <a:extLst xmlns:a="http://schemas.openxmlformats.org/drawingml/2006/main">
              <a:ext uri="{FF2B5EF4-FFF2-40B4-BE49-F238E27FC236}">
                <a16:creationId xmlns:a16="http://schemas.microsoft.com/office/drawing/2014/main" id="{627F3514-37A9-4898-A749-8EB5818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5814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p08-b-3">
            <a:extLst xmlns:a="http://schemas.openxmlformats.org/drawingml/2006/main">
              <a:ext uri="{FF2B5EF4-FFF2-40B4-BE49-F238E27FC236}">
                <a16:creationId xmlns:a16="http://schemas.microsoft.com/office/drawing/2014/main" id="{EE6A20A1-E551-401A-9514-071946B6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052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实证 / 方法 / 案例 / 综述</a:t>
            </a:r>
          </a:p>
        </p:txBody>
      </p:sp>
      <p:sp>
        <p:nvSpPr>
          <p:cNvPr id="18" name="p08-a-4">
            <a:extLst xmlns:a="http://schemas.openxmlformats.org/drawingml/2006/main">
              <a:ext uri="{FF2B5EF4-FFF2-40B4-BE49-F238E27FC236}">
                <a16:creationId xmlns:a16="http://schemas.microsoft.com/office/drawing/2014/main" id="{E669227C-1E56-4109-871F-97EBE03C5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相关性</a:t>
            </a:r>
          </a:p>
        </p:txBody>
      </p:sp>
      <p:sp>
        <p:nvSpPr>
          <p:cNvPr id="19" name="p08-arrow-4">
            <a:extLst xmlns:a="http://schemas.openxmlformats.org/drawingml/2006/main">
              <a:ext uri="{FF2B5EF4-FFF2-40B4-BE49-F238E27FC236}">
                <a16:creationId xmlns:a16="http://schemas.microsoft.com/office/drawing/2014/main" id="{42647014-3A06-4667-8D31-1FE91A07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81500"/>
            <a:ext cx="4953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667684"/>
                </a:solidFill>
              </a:defRPr>
            </a:pPr>
            <a:r>
              <a:rPr sz="2250" b="1">
                <a:solidFill>
                  <a:srgbClr val="66768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0" name="p08-b-4">
            <a:extLst xmlns:a="http://schemas.openxmlformats.org/drawingml/2006/main">
              <a:ext uri="{FF2B5EF4-FFF2-40B4-BE49-F238E27FC236}">
                <a16:creationId xmlns:a16="http://schemas.microsoft.com/office/drawing/2014/main" id="{01BE622E-81FA-4D28-8B6B-EB6BB5F0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3053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是否对应问题与机制</a:t>
            </a:r>
          </a:p>
        </p:txBody>
      </p:sp>
      <p:sp>
        <p:nvSpPr>
          <p:cNvPr id="21" name="p08-bottom">
            <a:extLst xmlns:a="http://schemas.openxmlformats.org/drawingml/2006/main">
              <a:ext uri="{FF2B5EF4-FFF2-40B4-BE49-F238E27FC236}">
                <a16:creationId xmlns:a16="http://schemas.microsoft.com/office/drawing/2014/main" id="{D0CE0309-921E-4934-8AC7-7E009913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2578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检索前写第一版；检索中调整；排除时必须记录理由。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证据角色：主证据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p09-main">
            <a:extLst xmlns:a="http://schemas.openxmlformats.org/drawingml/2006/main">
              <a:ext uri="{FF2B5EF4-FFF2-40B4-BE49-F238E27FC236}">
                <a16:creationId xmlns:a16="http://schemas.microsoft.com/office/drawing/2014/main" id="{60AB76B1-E1AA-4768-A58C-B7317CE6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333500"/>
            <a:ext cx="85725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C8161E"/>
                </a:solidFill>
              </a:defRPr>
            </a:pPr>
            <a:r>
              <a:rPr sz="31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主证据</a:t>
            </a:r>
          </a:p>
        </p:txBody>
      </p:sp>
      <p:sp>
        <p:nvSpPr>
          <p:cNvPr id="7" name="p09-def">
            <a:extLst xmlns:a="http://schemas.openxmlformats.org/drawingml/2006/main">
              <a:ext uri="{FF2B5EF4-FFF2-40B4-BE49-F238E27FC236}">
                <a16:creationId xmlns:a16="http://schemas.microsoft.com/office/drawing/2014/main" id="{4F364857-886E-4C49-B9D8-01CA90DA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571750"/>
            <a:ext cx="8572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直接支持或反驳当前机制假设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2175" b="1">
                <a:solidFill>
                  <a:srgbClr val="18354E"/>
                </a:solidFill>
              </a:defRPr>
            </a:pPr>
            <a:r>
              <a:rPr sz="21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来自可核验的一手来源</a:t>
            </a:r>
          </a:p>
        </p:txBody>
      </p:sp>
      <p:sp>
        <p:nvSpPr>
          <p:cNvPr id="8" name="p09-can">
            <a:extLst xmlns:a="http://schemas.openxmlformats.org/drawingml/2006/main">
              <a:ext uri="{FF2B5EF4-FFF2-40B4-BE49-F238E27FC236}">
                <a16:creationId xmlns:a16="http://schemas.microsoft.com/office/drawing/2014/main" id="{71A0FA33-5D8E-4C25-97F4-5471D5CB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957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8745A"/>
                </a:solidFill>
              </a:defRPr>
            </a:pPr>
            <a:r>
              <a:rPr sz="18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能做：支撑核心主张</a:t>
            </a:r>
          </a:p>
        </p:txBody>
      </p:sp>
      <p:sp>
        <p:nvSpPr>
          <p:cNvPr id="9" name="p09-cannot">
            <a:extLst xmlns:a="http://schemas.openxmlformats.org/drawingml/2006/main">
              <a:ext uri="{FF2B5EF4-FFF2-40B4-BE49-F238E27FC236}">
                <a16:creationId xmlns:a16="http://schemas.microsoft.com/office/drawing/2014/main" id="{EEECCC07-8849-483E-9AB4-DD4E3A83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95750"/>
            <a:ext cx="4095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不能做：单独支撑外推</a:t>
            </a:r>
          </a:p>
        </p:txBody>
      </p:sp>
      <p:sp>
        <p:nvSpPr>
          <p:cNvPr id="10" name="p09-bottom">
            <a:extLst xmlns:a="http://schemas.openxmlformats.org/drawingml/2006/main">
              <a:ext uri="{FF2B5EF4-FFF2-40B4-BE49-F238E27FC236}">
                <a16:creationId xmlns:a16="http://schemas.microsoft.com/office/drawing/2014/main" id="{CC041FFF-B566-4CD2-8627-A9020B9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19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67684"/>
                </a:solidFill>
              </a:defRPr>
            </a:pPr>
            <a:r>
              <a:rPr sz="1650" b="1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一条材料至少标一个角色。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证据角色：补充证据与对比证据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p10-claim">
            <a:extLst xmlns:a="http://schemas.openxmlformats.org/drawingml/2006/main">
              <a:ext uri="{FF2B5EF4-FFF2-40B4-BE49-F238E27FC236}">
                <a16:creationId xmlns:a16="http://schemas.microsoft.com/office/drawing/2014/main" id="{74ECA777-81EB-4BEA-88A9-239983A4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19350"/>
            <a:ext cx="3238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当前核心主张</a:t>
            </a:r>
          </a:p>
        </p:txBody>
      </p:sp>
      <p:sp>
        <p:nvSpPr>
          <p:cNvPr id="7" name="p10-supp">
            <a:extLst xmlns:a="http://schemas.openxmlformats.org/drawingml/2006/main">
              <a:ext uri="{FF2B5EF4-FFF2-40B4-BE49-F238E27FC236}">
                <a16:creationId xmlns:a16="http://schemas.microsoft.com/office/drawing/2014/main" id="{F42DFDB0-7D3A-460F-A9F1-ACBDB974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补充证据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不同来源 / 测量 / 路径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28745A"/>
                </a:solidFill>
              </a:defRPr>
            </a:pPr>
            <a:r>
              <a:rPr sz="18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提供实质独立性</a:t>
            </a:r>
          </a:p>
        </p:txBody>
      </p:sp>
      <p:sp>
        <p:nvSpPr>
          <p:cNvPr id="8" name="p10-contrast">
            <a:extLst xmlns:a="http://schemas.openxmlformats.org/drawingml/2006/main">
              <a:ext uri="{FF2B5EF4-FFF2-40B4-BE49-F238E27FC236}">
                <a16:creationId xmlns:a16="http://schemas.microsoft.com/office/drawing/2014/main" id="{5370C0C4-D41B-42DF-AB66-60A745AD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42875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对比证据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替代解释 / 竞争假设 / 反例</a:t>
            </a:r>
          </a:p>
          <a:p xmlns:a="http://schemas.openxmlformats.org/drawingml/2006/main">
            <a:pPr algn="ctr">
              <a:lnSpc>
                <a:spcPct val="125000"/>
              </a:lnSpc>
              <a:buNone/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暴露解释边界</a:t>
            </a:r>
          </a:p>
        </p:txBody>
      </p:sp>
      <p:sp>
        <p:nvSpPr>
          <p:cNvPr id="9" name="p10-l1">
            <a:extLst xmlns:a="http://schemas.openxmlformats.org/drawingml/2006/main">
              <a:ext uri="{FF2B5EF4-FFF2-40B4-BE49-F238E27FC236}">
                <a16:creationId xmlns:a16="http://schemas.microsoft.com/office/drawing/2014/main" id="{9D619E91-8CBF-4802-8804-AB4636C3F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48571">
            <a:off x="3830935" y="2619375"/>
            <a:ext cx="7201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4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10-l2">
            <a:extLst xmlns:a="http://schemas.openxmlformats.org/drawingml/2006/main">
              <a:ext uri="{FF2B5EF4-FFF2-40B4-BE49-F238E27FC236}">
                <a16:creationId xmlns:a16="http://schemas.microsoft.com/office/drawing/2014/main" id="{B376782D-2D37-4953-A3A4-3F7A5F3B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48571">
            <a:off x="7640935" y="2619375"/>
            <a:ext cx="72013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10-independent">
            <a:extLst xmlns:a="http://schemas.openxmlformats.org/drawingml/2006/main">
              <a:ext uri="{FF2B5EF4-FFF2-40B4-BE49-F238E27FC236}">
                <a16:creationId xmlns:a16="http://schemas.microsoft.com/office/drawing/2014/main" id="{7C714B1D-B5FB-4A5F-B52E-8D8223AE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428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8354E"/>
                </a:solidFill>
              </a:defRPr>
            </a:pPr>
            <a:r>
              <a:rPr sz="19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独立 ≠ 两个不同网页</a:t>
            </a:r>
          </a:p>
        </p:txBody>
      </p:sp>
      <p:sp>
        <p:nvSpPr>
          <p:cNvPr id="12" name="p10-conflict">
            <a:extLst xmlns:a="http://schemas.openxmlformats.org/drawingml/2006/main">
              <a:ext uri="{FF2B5EF4-FFF2-40B4-BE49-F238E27FC236}">
                <a16:creationId xmlns:a16="http://schemas.microsoft.com/office/drawing/2014/main" id="{6F4AB0E2-306B-4E9D-93B2-AAEABE58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95750"/>
            <a:ext cx="4286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C8161E"/>
                </a:solidFill>
              </a:defRPr>
            </a:pPr>
            <a:r>
              <a:rPr sz="19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冲突证据必须保留</a:t>
            </a:r>
          </a:p>
        </p:txBody>
      </p:sp>
      <p:sp>
        <p:nvSpPr>
          <p:cNvPr id="13" name="p10-note">
            <a:extLst xmlns:a="http://schemas.openxmlformats.org/drawingml/2006/main">
              <a:ext uri="{FF2B5EF4-FFF2-40B4-BE49-F238E27FC236}">
                <a16:creationId xmlns:a16="http://schemas.microsoft.com/office/drawing/2014/main" id="{406F6E5A-263C-4A20-BD1C-0595A431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521970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667684"/>
                </a:solidFill>
              </a:defRPr>
            </a:pPr>
            <a:r>
              <a:rPr sz="1350" b="0">
                <a:solidFill>
                  <a:srgbClr val="667684"/>
                </a:solidFill>
                <a:latin typeface="Microsoft YaHei"/>
                <a:ea typeface="Microsoft YaHei"/>
                <a:cs typeface="Microsoft YaHei"/>
              </a:rPr>
              <a:t>概念示意，非实证结果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证据角色：探索线索（AI 输出归位）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p11-input">
            <a:extLst xmlns:a="http://schemas.openxmlformats.org/drawingml/2006/main">
              <a:ext uri="{FF2B5EF4-FFF2-40B4-BE49-F238E27FC236}">
                <a16:creationId xmlns:a16="http://schemas.microsoft.com/office/drawing/2014/main" id="{583542F6-E3B4-412C-A613-280DE19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C8161E"/>
                </a:solidFill>
              </a:defRPr>
            </a:pPr>
            <a:r>
              <a:rPr sz="23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AI 检索结果</a:t>
            </a:r>
          </a:p>
        </p:txBody>
      </p:sp>
      <p:sp>
        <p:nvSpPr>
          <p:cNvPr id="7" name="p11-a1">
            <a:extLst xmlns:a="http://schemas.openxmlformats.org/drawingml/2006/main">
              <a:ext uri="{FF2B5EF4-FFF2-40B4-BE49-F238E27FC236}">
                <a16:creationId xmlns:a16="http://schemas.microsoft.com/office/drawing/2014/main" id="{45DB5917-6295-43AB-BEF9-F8297CDD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76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p11-line">
            <a:extLst xmlns:a="http://schemas.openxmlformats.org/drawingml/2006/main">
              <a:ext uri="{FF2B5EF4-FFF2-40B4-BE49-F238E27FC236}">
                <a16:creationId xmlns:a16="http://schemas.microsoft.com/office/drawing/2014/main" id="{840042EA-210C-4D00-8515-D5757543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2857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A86C12"/>
                </a:solidFill>
              </a:defRPr>
            </a:pPr>
            <a:r>
              <a:rPr sz="2325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探索线索</a:t>
            </a:r>
          </a:p>
        </p:txBody>
      </p:sp>
      <p:sp>
        <p:nvSpPr>
          <p:cNvPr id="9" name="p11-a2">
            <a:extLst xmlns:a="http://schemas.openxmlformats.org/drawingml/2006/main">
              <a:ext uri="{FF2B5EF4-FFF2-40B4-BE49-F238E27FC236}">
                <a16:creationId xmlns:a16="http://schemas.microsoft.com/office/drawing/2014/main" id="{4DCB82D5-076B-4D5B-A711-DCF57ABE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764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745A"/>
                </a:solidFill>
              </a:defRPr>
            </a:pPr>
            <a:r>
              <a:rPr sz="2250" b="1">
                <a:solidFill>
                  <a:srgbClr val="28745A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0" name="p11-source">
            <a:extLst xmlns:a="http://schemas.openxmlformats.org/drawingml/2006/main">
              <a:ext uri="{FF2B5EF4-FFF2-40B4-BE49-F238E27FC236}">
                <a16:creationId xmlns:a16="http://schemas.microsoft.com/office/drawing/2014/main" id="{EC710780-E272-4C09-A195-61153579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809750"/>
            <a:ext cx="228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8745A"/>
                </a:solidFill>
              </a:defRPr>
            </a:pPr>
            <a:r>
              <a:rPr sz="2175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回原文核验</a:t>
            </a:r>
          </a:p>
        </p:txBody>
      </p:sp>
      <p:sp>
        <p:nvSpPr>
          <p:cNvPr id="11" name="p11-fields">
            <a:extLst xmlns:a="http://schemas.openxmlformats.org/drawingml/2006/main">
              <a:ext uri="{FF2B5EF4-FFF2-40B4-BE49-F238E27FC236}">
                <a16:creationId xmlns:a16="http://schemas.microsoft.com/office/drawing/2014/main" id="{91D43E34-C21C-43F7-B6E5-EFA82363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43300"/>
            <a:ext cx="9067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题名　｜　作者　｜　DOI　｜　原文任务　｜　结果　｜　边界</a:t>
            </a:r>
          </a:p>
        </p:txBody>
      </p:sp>
      <p:sp>
        <p:nvSpPr>
          <p:cNvPr id="12" name="p11-bottom">
            <a:extLst xmlns:a="http://schemas.openxmlformats.org/drawingml/2006/main">
              <a:ext uri="{FF2B5EF4-FFF2-40B4-BE49-F238E27FC236}">
                <a16:creationId xmlns:a16="http://schemas.microsoft.com/office/drawing/2014/main" id="{22DF0D8A-E377-4583-A42F-6FBFDD2F0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876800"/>
            <a:ext cx="6743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人工核验前，不能进入主证据或补充证据。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检索结果回原文核验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p12-n-0">
            <a:extLst xmlns:a="http://schemas.openxmlformats.org/drawingml/2006/main">
              <a:ext uri="{FF2B5EF4-FFF2-40B4-BE49-F238E27FC236}">
                <a16:creationId xmlns:a16="http://schemas.microsoft.com/office/drawing/2014/main" id="{32090127-1A01-47F7-800E-70AAFC96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p12-t-0">
            <a:extLst xmlns:a="http://schemas.openxmlformats.org/drawingml/2006/main">
              <a:ext uri="{FF2B5EF4-FFF2-40B4-BE49-F238E27FC236}">
                <a16:creationId xmlns:a16="http://schemas.microsoft.com/office/drawing/2014/main" id="{F26A89A0-E957-46A7-86DD-25EF8399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9715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存在性与元数据一致</a:t>
            </a:r>
          </a:p>
        </p:txBody>
      </p:sp>
      <p:sp>
        <p:nvSpPr>
          <p:cNvPr id="8" name="p12-n-1">
            <a:extLst xmlns:a="http://schemas.openxmlformats.org/drawingml/2006/main">
              <a:ext uri="{FF2B5EF4-FFF2-40B4-BE49-F238E27FC236}">
                <a16:creationId xmlns:a16="http://schemas.microsoft.com/office/drawing/2014/main" id="{BD39859D-5055-4766-9FB4-99196845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p12-t-1">
            <a:extLst xmlns:a="http://schemas.openxmlformats.org/drawingml/2006/main">
              <a:ext uri="{FF2B5EF4-FFF2-40B4-BE49-F238E27FC236}">
                <a16:creationId xmlns:a16="http://schemas.microsoft.com/office/drawing/2014/main" id="{6E8612A7-E9F6-4BFF-8C1F-E4023229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5811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标题是否被改写 / 拼接</a:t>
            </a:r>
          </a:p>
        </p:txBody>
      </p:sp>
      <p:sp>
        <p:nvSpPr>
          <p:cNvPr id="10" name="p12-n-2">
            <a:extLst xmlns:a="http://schemas.openxmlformats.org/drawingml/2006/main">
              <a:ext uri="{FF2B5EF4-FFF2-40B4-BE49-F238E27FC236}">
                <a16:creationId xmlns:a16="http://schemas.microsoft.com/office/drawing/2014/main" id="{C955AFAE-97D0-4E36-9BD9-C84B8A0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p12-t-2">
            <a:extLst xmlns:a="http://schemas.openxmlformats.org/drawingml/2006/main">
              <a:ext uri="{FF2B5EF4-FFF2-40B4-BE49-F238E27FC236}">
                <a16:creationId xmlns:a16="http://schemas.microsoft.com/office/drawing/2014/main" id="{9472BC8A-7A7B-4AEE-9FED-259988C0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907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任务与设置是否可比</a:t>
            </a:r>
          </a:p>
        </p:txBody>
      </p:sp>
      <p:sp>
        <p:nvSpPr>
          <p:cNvPr id="12" name="p12-n-3">
            <a:extLst xmlns:a="http://schemas.openxmlformats.org/drawingml/2006/main">
              <a:ext uri="{FF2B5EF4-FFF2-40B4-BE49-F238E27FC236}">
                <a16:creationId xmlns:a16="http://schemas.microsoft.com/office/drawing/2014/main" id="{A613E0F5-57DF-4C5E-B981-DB9FB0E4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3" name="p12-t-3">
            <a:extLst xmlns:a="http://schemas.openxmlformats.org/drawingml/2006/main">
              <a:ext uri="{FF2B5EF4-FFF2-40B4-BE49-F238E27FC236}">
                <a16:creationId xmlns:a16="http://schemas.microsoft.com/office/drawing/2014/main" id="{3842123E-7AD2-41A1-819D-F575F225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003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措辞强度是否变化</a:t>
            </a:r>
          </a:p>
        </p:txBody>
      </p:sp>
      <p:sp>
        <p:nvSpPr>
          <p:cNvPr id="14" name="p12-n-4">
            <a:extLst xmlns:a="http://schemas.openxmlformats.org/drawingml/2006/main">
              <a:ext uri="{FF2B5EF4-FFF2-40B4-BE49-F238E27FC236}">
                <a16:creationId xmlns:a16="http://schemas.microsoft.com/office/drawing/2014/main" id="{9907F3FC-FB33-4C8F-ADAE-B9DB42C22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5" name="p12-t-4">
            <a:extLst xmlns:a="http://schemas.openxmlformats.org/drawingml/2006/main">
              <a:ext uri="{FF2B5EF4-FFF2-40B4-BE49-F238E27FC236}">
                <a16:creationId xmlns:a16="http://schemas.microsoft.com/office/drawing/2014/main" id="{FF40826A-CC85-4E0F-BB2B-F4AA65BBC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099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指标、对照与评议状态</a:t>
            </a:r>
          </a:p>
        </p:txBody>
      </p:sp>
      <p:sp>
        <p:nvSpPr>
          <p:cNvPr id="16" name="p12-n-5">
            <a:extLst xmlns:a="http://schemas.openxmlformats.org/drawingml/2006/main">
              <a:ext uri="{FF2B5EF4-FFF2-40B4-BE49-F238E27FC236}">
                <a16:creationId xmlns:a16="http://schemas.microsoft.com/office/drawing/2014/main" id="{80AE4EB4-B75E-46A1-96C2-721E241ED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7" name="p12-t-5">
            <a:extLst xmlns:a="http://schemas.openxmlformats.org/drawingml/2006/main">
              <a:ext uri="{FF2B5EF4-FFF2-40B4-BE49-F238E27FC236}">
                <a16:creationId xmlns:a16="http://schemas.microsoft.com/office/drawing/2014/main" id="{81CA5618-055B-420A-9BC7-CD96117C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0195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适用范围与局限</a:t>
            </a:r>
          </a:p>
        </p:txBody>
      </p:sp>
      <p:sp>
        <p:nvSpPr>
          <p:cNvPr id="18" name="p12-n-6">
            <a:extLst xmlns:a="http://schemas.openxmlformats.org/drawingml/2006/main">
              <a:ext uri="{FF2B5EF4-FFF2-40B4-BE49-F238E27FC236}">
                <a16:creationId xmlns:a16="http://schemas.microsoft.com/office/drawing/2014/main" id="{DD52EBE4-BE36-475A-B795-026EAD59C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457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19" name="p12-t-6">
            <a:extLst xmlns:a="http://schemas.openxmlformats.org/drawingml/2006/main">
              <a:ext uri="{FF2B5EF4-FFF2-40B4-BE49-F238E27FC236}">
                <a16:creationId xmlns:a16="http://schemas.microsoft.com/office/drawing/2014/main" id="{CB502327-7BCE-4570-928D-9FE0C81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29150"/>
            <a:ext cx="619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63746"/>
                </a:solidFill>
              </a:defRPr>
            </a:pPr>
            <a:r>
              <a:rPr sz="15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当前项目中的证据角色</a:t>
            </a:r>
          </a:p>
        </p:txBody>
      </p:sp>
      <p:sp>
        <p:nvSpPr>
          <p:cNvPr id="20" name="p12-status-title">
            <a:extLst xmlns:a="http://schemas.openxmlformats.org/drawingml/2006/main">
              <a:ext uri="{FF2B5EF4-FFF2-40B4-BE49-F238E27FC236}">
                <a16:creationId xmlns:a16="http://schemas.microsoft.com/office/drawing/2014/main" id="{41F4B55A-90AF-4618-B645-582D136C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0096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核验状态</a:t>
            </a:r>
          </a:p>
        </p:txBody>
      </p:sp>
      <p:sp>
        <p:nvSpPr>
          <p:cNvPr id="21" name="p12-s-0">
            <a:extLst xmlns:a="http://schemas.openxmlformats.org/drawingml/2006/main">
              <a:ext uri="{FF2B5EF4-FFF2-40B4-BE49-F238E27FC236}">
                <a16:creationId xmlns:a16="http://schemas.microsoft.com/office/drawing/2014/main" id="{897C9243-27B1-497A-A4BA-047EFE85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0D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86C12"/>
                </a:solidFill>
              </a:defRPr>
            </a:pPr>
            <a:r>
              <a:rPr sz="1500" b="1">
                <a:solidFill>
                  <a:srgbClr val="A86C12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22" name="p12-s-1">
            <a:extLst xmlns:a="http://schemas.openxmlformats.org/drawingml/2006/main">
              <a:ext uri="{FF2B5EF4-FFF2-40B4-BE49-F238E27FC236}">
                <a16:creationId xmlns:a16="http://schemas.microsoft.com/office/drawing/2014/main" id="{FD5F4B93-DC0B-4345-B6FF-AC723440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574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23" name="p12-s-2">
            <a:extLst xmlns:a="http://schemas.openxmlformats.org/drawingml/2006/main">
              <a:ext uri="{FF2B5EF4-FFF2-40B4-BE49-F238E27FC236}">
                <a16:creationId xmlns:a16="http://schemas.microsoft.com/office/drawing/2014/main" id="{452D403F-37B8-4948-B88C-7589293D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638A"/>
                </a:solidFill>
              </a:defRPr>
            </a:pPr>
            <a:r>
              <a:rPr sz="1500" b="1">
                <a:solidFill>
                  <a:srgbClr val="2F638A"/>
                </a:solidFill>
                <a:latin typeface="Microsoft YaHei"/>
                <a:ea typeface="Microsoft YaHei"/>
                <a:cs typeface="Microsoft YaHei"/>
              </a:rPr>
              <a:t>verified-with-caveat</a:t>
            </a:r>
          </a:p>
        </p:txBody>
      </p:sp>
      <p:sp>
        <p:nvSpPr>
          <p:cNvPr id="24" name="p12-s-3">
            <a:extLst xmlns:a="http://schemas.openxmlformats.org/drawingml/2006/main">
              <a:ext uri="{FF2B5EF4-FFF2-40B4-BE49-F238E27FC236}">
                <a16:creationId xmlns:a16="http://schemas.microsoft.com/office/drawing/2014/main" id="{3CE088EA-B020-42AB-B2F1-65A00AC5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3238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rejected</a:t>
            </a:r>
          </a:p>
        </p:txBody>
      </p:sp>
      <p:sp>
        <p:nvSpPr>
          <p:cNvPr id="25" name="p12-bottom">
            <a:extLst xmlns:a="http://schemas.openxmlformats.org/drawingml/2006/main">
              <a:ext uri="{FF2B5EF4-FFF2-40B4-BE49-F238E27FC236}">
                <a16:creationId xmlns:a16="http://schemas.microsoft.com/office/drawing/2014/main" id="{E4E9D5C4-4864-4506-9930-D48F3B97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819650"/>
            <a:ext cx="40386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6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pending 仅线索区｜verified 可进主格｜caveat 必须保留限定且不能单独支撑 stable｜rejected 仅审计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演示：检索记录定位真实论文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p13-a-0">
            <a:extLst xmlns:a="http://schemas.openxmlformats.org/drawingml/2006/main">
              <a:ext uri="{FF2B5EF4-FFF2-40B4-BE49-F238E27FC236}">
                <a16:creationId xmlns:a16="http://schemas.microsoft.com/office/drawing/2014/main" id="{7E1CD9CB-D1E3-4C8A-BFCE-A3E22373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检索</a:t>
            </a:r>
          </a:p>
        </p:txBody>
      </p:sp>
      <p:sp>
        <p:nvSpPr>
          <p:cNvPr id="7" name="p13-b-0">
            <a:extLst xmlns:a="http://schemas.openxmlformats.org/drawingml/2006/main">
              <a:ext uri="{FF2B5EF4-FFF2-40B4-BE49-F238E27FC236}">
                <a16:creationId xmlns:a16="http://schemas.microsoft.com/office/drawing/2014/main" id="{7EC91B27-36FE-4153-B00C-E6E3675A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1924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Crossref API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query.title=How to Read a Paper</a:t>
            </a:r>
          </a:p>
        </p:txBody>
      </p:sp>
      <p:sp>
        <p:nvSpPr>
          <p:cNvPr id="8" name="p13-arr-0">
            <a:extLst xmlns:a="http://schemas.openxmlformats.org/drawingml/2006/main">
              <a:ext uri="{FF2B5EF4-FFF2-40B4-BE49-F238E27FC236}">
                <a16:creationId xmlns:a16="http://schemas.microsoft.com/office/drawing/2014/main" id="{29236716-84A7-4BEB-BCB8-A95F2F92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051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13-a-1">
            <a:extLst xmlns:a="http://schemas.openxmlformats.org/drawingml/2006/main">
              <a:ext uri="{FF2B5EF4-FFF2-40B4-BE49-F238E27FC236}">
                <a16:creationId xmlns:a16="http://schemas.microsoft.com/office/drawing/2014/main" id="{3E8FCA98-1B39-4764-9BE3-772E3CC5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6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元数据</a:t>
            </a:r>
          </a:p>
        </p:txBody>
      </p:sp>
      <p:sp>
        <p:nvSpPr>
          <p:cNvPr id="10" name="p13-b-1">
            <a:extLst xmlns:a="http://schemas.openxmlformats.org/drawingml/2006/main">
              <a:ext uri="{FF2B5EF4-FFF2-40B4-BE49-F238E27FC236}">
                <a16:creationId xmlns:a16="http://schemas.microsoft.com/office/drawing/2014/main" id="{CBD942C1-1365-45B0-B256-FD2F02EE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152650"/>
            <a:ext cx="1924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How to Read a Paper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S. Keshav｜2007</a:t>
            </a:r>
          </a:p>
        </p:txBody>
      </p:sp>
      <p:sp>
        <p:nvSpPr>
          <p:cNvPr id="11" name="p13-arr-1">
            <a:extLst xmlns:a="http://schemas.openxmlformats.org/drawingml/2006/main">
              <a:ext uri="{FF2B5EF4-FFF2-40B4-BE49-F238E27FC236}">
                <a16:creationId xmlns:a16="http://schemas.microsoft.com/office/drawing/2014/main" id="{F15D76AB-35D3-4161-9CCA-EC1384E9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051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p13-a-2">
            <a:extLst xmlns:a="http://schemas.openxmlformats.org/drawingml/2006/main">
              <a:ext uri="{FF2B5EF4-FFF2-40B4-BE49-F238E27FC236}">
                <a16:creationId xmlns:a16="http://schemas.microsoft.com/office/drawing/2014/main" id="{88485487-1D55-4E33-870F-4F6DD80E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6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DOI</a:t>
            </a:r>
          </a:p>
        </p:txBody>
      </p:sp>
      <p:sp>
        <p:nvSpPr>
          <p:cNvPr id="13" name="p13-b-2">
            <a:extLst xmlns:a="http://schemas.openxmlformats.org/drawingml/2006/main">
              <a:ext uri="{FF2B5EF4-FFF2-40B4-BE49-F238E27FC236}">
                <a16:creationId xmlns:a16="http://schemas.microsoft.com/office/drawing/2014/main" id="{8748E5B0-4C62-41C8-A58E-2F7C1090B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152650"/>
            <a:ext cx="1924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10.1145/1273445.1273458</a:t>
            </a:r>
          </a:p>
        </p:txBody>
      </p:sp>
      <p:sp>
        <p:nvSpPr>
          <p:cNvPr id="14" name="p13-arr-2">
            <a:extLst xmlns:a="http://schemas.openxmlformats.org/drawingml/2006/main">
              <a:ext uri="{FF2B5EF4-FFF2-40B4-BE49-F238E27FC236}">
                <a16:creationId xmlns:a16="http://schemas.microsoft.com/office/drawing/2014/main" id="{9AB6CA79-1BF1-4109-BDEF-24F27EB1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051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5" name="p13-a-3">
            <a:extLst xmlns:a="http://schemas.openxmlformats.org/drawingml/2006/main">
              <a:ext uri="{FF2B5EF4-FFF2-40B4-BE49-F238E27FC236}">
                <a16:creationId xmlns:a16="http://schemas.microsoft.com/office/drawing/2014/main" id="{90D8CC27-88B2-4EEB-97EE-64091B72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46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正式来源</a:t>
            </a:r>
          </a:p>
        </p:txBody>
      </p:sp>
      <p:sp>
        <p:nvSpPr>
          <p:cNvPr id="16" name="p13-b-3">
            <a:extLst xmlns:a="http://schemas.openxmlformats.org/drawingml/2006/main">
              <a:ext uri="{FF2B5EF4-FFF2-40B4-BE49-F238E27FC236}">
                <a16:creationId xmlns:a16="http://schemas.microsoft.com/office/drawing/2014/main" id="{972C26C1-9F5F-4493-893D-E68AE36E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52650"/>
            <a:ext cx="1924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ACM SIGCOMM CCR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37(3):83–84</a:t>
            </a:r>
          </a:p>
        </p:txBody>
      </p:sp>
      <p:sp>
        <p:nvSpPr>
          <p:cNvPr id="17" name="p13-arr-3">
            <a:extLst xmlns:a="http://schemas.openxmlformats.org/drawingml/2006/main">
              <a:ext uri="{FF2B5EF4-FFF2-40B4-BE49-F238E27FC236}">
                <a16:creationId xmlns:a16="http://schemas.microsoft.com/office/drawing/2014/main" id="{66A640C2-CCC7-41B2-8FB3-2FA3E6775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38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p13-a-4">
            <a:extLst xmlns:a="http://schemas.openxmlformats.org/drawingml/2006/main">
              <a:ext uri="{FF2B5EF4-FFF2-40B4-BE49-F238E27FC236}">
                <a16:creationId xmlns:a16="http://schemas.microsoft.com/office/drawing/2014/main" id="{20AF59B9-3F4F-4837-BCEB-40506AAA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466850"/>
            <a:ext cx="1924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原文入口</a:t>
            </a:r>
          </a:p>
        </p:txBody>
      </p:sp>
      <p:sp>
        <p:nvSpPr>
          <p:cNvPr id="19" name="p13-b-4">
            <a:extLst xmlns:a="http://schemas.openxmlformats.org/drawingml/2006/main">
              <a:ext uri="{FF2B5EF4-FFF2-40B4-BE49-F238E27FC236}">
                <a16:creationId xmlns:a16="http://schemas.microsoft.com/office/drawing/2014/main" id="{FEF9A76A-21A6-426D-8AC7-6351FE5D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52650"/>
            <a:ext cx="1924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作者公开 PDF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425" b="1">
                <a:solidFill>
                  <a:srgbClr val="263746"/>
                </a:solidFill>
              </a:defRPr>
            </a:pPr>
            <a:r>
              <a:rPr sz="142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保留检索日期与响应</a:t>
            </a:r>
          </a:p>
        </p:txBody>
      </p:sp>
      <p:sp>
        <p:nvSpPr>
          <p:cNvPr id="20" name="p13-predict">
            <a:extLst xmlns:a="http://schemas.openxmlformats.org/drawingml/2006/main">
              <a:ext uri="{FF2B5EF4-FFF2-40B4-BE49-F238E27FC236}">
                <a16:creationId xmlns:a16="http://schemas.microsoft.com/office/drawing/2014/main" id="{DB973EEC-8381-4285-8FE6-06053645B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92583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真实 trace：查询记录 → 正式元数据 → DOI → 正式出版信息 → 原文；每一步保留可复查对象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演示：DOI → 原文第 1 页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pic>
        <p:nvPicPr>
          <p:cNvPr id="27" name="p14-paper-p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88944ff8fb4a34"/>
          <a:stretch xmlns:a="http://schemas.openxmlformats.org/drawingml/2006/main"/>
        </p:blipFill>
        <p:spPr>
          <a:xfrm xmlns:a="http://schemas.openxmlformats.org/drawingml/2006/main">
            <a:off x="850323" y="952500"/>
            <a:ext cx="3385705" cy="4381500"/>
          </a:xfrm>
          <a:prstGeom xmlns:a="http://schemas.openxmlformats.org/drawingml/2006/main" prst="rect">
            <a:avLst/>
          </a:prstGeom>
        </p:spPr>
      </p:pic>
      <p:sp>
        <p:nvSpPr>
          <p:cNvPr id="7" name="p14-real">
            <a:extLst xmlns:a="http://schemas.openxmlformats.org/drawingml/2006/main">
              <a:ext uri="{FF2B5EF4-FFF2-40B4-BE49-F238E27FC236}">
                <a16:creationId xmlns:a16="http://schemas.microsoft.com/office/drawing/2014/main" id="{A101ECF3-53DA-46DC-A054-0B3C54801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9535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8745A"/>
                </a:solidFill>
              </a:defRPr>
            </a:pPr>
            <a:r>
              <a:rPr sz="135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真实原文对象</a:t>
            </a:r>
          </a:p>
        </p:txBody>
      </p:sp>
      <p:sp>
        <p:nvSpPr>
          <p:cNvPr id="8" name="p14-meta">
            <a:extLst xmlns:a="http://schemas.openxmlformats.org/drawingml/2006/main">
              <a:ext uri="{FF2B5EF4-FFF2-40B4-BE49-F238E27FC236}">
                <a16:creationId xmlns:a16="http://schemas.microsoft.com/office/drawing/2014/main" id="{56314AD5-8751-456C-BB71-7F5D97A08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123950"/>
            <a:ext cx="6381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原文第 1 页可直接核验</a:t>
            </a:r>
          </a:p>
        </p:txBody>
      </p:sp>
      <p:sp>
        <p:nvSpPr>
          <p:cNvPr id="9" name="p14-h-0">
            <a:extLst xmlns:a="http://schemas.openxmlformats.org/drawingml/2006/main">
              <a:ext uri="{FF2B5EF4-FFF2-40B4-BE49-F238E27FC236}">
                <a16:creationId xmlns:a16="http://schemas.microsoft.com/office/drawing/2014/main" id="{78B5EEEF-6F68-4A20-9B78-C45DFA2E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05000"/>
            <a:ext cx="171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核验项</a:t>
            </a:r>
          </a:p>
        </p:txBody>
      </p:sp>
      <p:sp>
        <p:nvSpPr>
          <p:cNvPr id="10" name="p14-h-1">
            <a:extLst xmlns:a="http://schemas.openxmlformats.org/drawingml/2006/main">
              <a:ext uri="{FF2B5EF4-FFF2-40B4-BE49-F238E27FC236}">
                <a16:creationId xmlns:a16="http://schemas.microsoft.com/office/drawing/2014/main" id="{9A98173B-E995-4295-98A7-9223255A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原文对象</a:t>
            </a:r>
          </a:p>
        </p:txBody>
      </p:sp>
      <p:sp>
        <p:nvSpPr>
          <p:cNvPr id="11" name="p14-h-2">
            <a:extLst xmlns:a="http://schemas.openxmlformats.org/drawingml/2006/main">
              <a:ext uri="{FF2B5EF4-FFF2-40B4-BE49-F238E27FC236}">
                <a16:creationId xmlns:a16="http://schemas.microsoft.com/office/drawing/2014/main" id="{563AAD06-26DC-4C06-9078-390F7BFD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90500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2" name="p14-r0-0">
            <a:extLst xmlns:a="http://schemas.openxmlformats.org/drawingml/2006/main">
              <a:ext uri="{FF2B5EF4-FFF2-40B4-BE49-F238E27FC236}">
                <a16:creationId xmlns:a16="http://schemas.microsoft.com/office/drawing/2014/main" id="{5DB58C13-BE37-4553-9BA2-41418FFD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622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题名 / 作者</a:t>
            </a:r>
          </a:p>
        </p:txBody>
      </p:sp>
      <p:sp>
        <p:nvSpPr>
          <p:cNvPr id="13" name="p14-r0-1">
            <a:extLst xmlns:a="http://schemas.openxmlformats.org/drawingml/2006/main">
              <a:ext uri="{FF2B5EF4-FFF2-40B4-BE49-F238E27FC236}">
                <a16:creationId xmlns:a16="http://schemas.microsoft.com/office/drawing/2014/main" id="{0F688DFB-E986-4CE0-837A-642E480C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p.83 页眉与正文</a:t>
            </a:r>
          </a:p>
        </p:txBody>
      </p:sp>
      <p:sp>
        <p:nvSpPr>
          <p:cNvPr id="14" name="p14-r0-2">
            <a:extLst xmlns:a="http://schemas.openxmlformats.org/drawingml/2006/main">
              <a:ext uri="{FF2B5EF4-FFF2-40B4-BE49-F238E27FC236}">
                <a16:creationId xmlns:a16="http://schemas.microsoft.com/office/drawing/2014/main" id="{2B569B82-0162-470B-A089-413472A61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622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一致</a:t>
            </a:r>
          </a:p>
        </p:txBody>
      </p:sp>
      <p:sp>
        <p:nvSpPr>
          <p:cNvPr id="15" name="p14-r1-0">
            <a:extLst xmlns:a="http://schemas.openxmlformats.org/drawingml/2006/main">
              <a:ext uri="{FF2B5EF4-FFF2-40B4-BE49-F238E27FC236}">
                <a16:creationId xmlns:a16="http://schemas.microsoft.com/office/drawing/2014/main" id="{FD4F4064-EA2D-437C-90A5-ED31FBB1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099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DOI</a:t>
            </a:r>
          </a:p>
        </p:txBody>
      </p:sp>
      <p:sp>
        <p:nvSpPr>
          <p:cNvPr id="16" name="p14-r1-1">
            <a:extLst xmlns:a="http://schemas.openxmlformats.org/drawingml/2006/main">
              <a:ext uri="{FF2B5EF4-FFF2-40B4-BE49-F238E27FC236}">
                <a16:creationId xmlns:a16="http://schemas.microsoft.com/office/drawing/2014/main" id="{1F47B783-B398-4BBE-971B-158CB145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p.83 左栏</a:t>
            </a:r>
          </a:p>
        </p:txBody>
      </p:sp>
      <p:sp>
        <p:nvSpPr>
          <p:cNvPr id="17" name="p14-r1-2">
            <a:extLst xmlns:a="http://schemas.openxmlformats.org/drawingml/2006/main">
              <a:ext uri="{FF2B5EF4-FFF2-40B4-BE49-F238E27FC236}">
                <a16:creationId xmlns:a16="http://schemas.microsoft.com/office/drawing/2014/main" id="{274C720A-D250-4D06-A4C7-7E0A9F29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99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10.1145/1273445.1273458</a:t>
            </a:r>
          </a:p>
        </p:txBody>
      </p:sp>
      <p:sp>
        <p:nvSpPr>
          <p:cNvPr id="18" name="p14-r2-0">
            <a:extLst xmlns:a="http://schemas.openxmlformats.org/drawingml/2006/main">
              <a:ext uri="{FF2B5EF4-FFF2-40B4-BE49-F238E27FC236}">
                <a16:creationId xmlns:a16="http://schemas.microsoft.com/office/drawing/2014/main" id="{C59493A6-BCB0-42A4-87BB-F667BB0EF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576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方法主张</a:t>
            </a:r>
          </a:p>
        </p:txBody>
      </p:sp>
      <p:sp>
        <p:nvSpPr>
          <p:cNvPr id="19" name="p14-r2-1">
            <a:extLst xmlns:a="http://schemas.openxmlformats.org/drawingml/2006/main">
              <a:ext uri="{FF2B5EF4-FFF2-40B4-BE49-F238E27FC236}">
                <a16:creationId xmlns:a16="http://schemas.microsoft.com/office/drawing/2014/main" id="{8776F001-CCD4-4F84-B934-6EA0749E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576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摘要与 §2</a:t>
            </a:r>
          </a:p>
        </p:txBody>
      </p:sp>
      <p:sp>
        <p:nvSpPr>
          <p:cNvPr id="20" name="p14-r2-2">
            <a:extLst xmlns:a="http://schemas.openxmlformats.org/drawingml/2006/main">
              <a:ext uri="{FF2B5EF4-FFF2-40B4-BE49-F238E27FC236}">
                <a16:creationId xmlns:a16="http://schemas.microsoft.com/office/drawing/2014/main" id="{DA0DFEDA-2859-41F9-8D25-A265B6C4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提出 three-pass approach</a:t>
            </a:r>
          </a:p>
        </p:txBody>
      </p:sp>
      <p:sp>
        <p:nvSpPr>
          <p:cNvPr id="21" name="p14-r3-0">
            <a:extLst xmlns:a="http://schemas.openxmlformats.org/drawingml/2006/main">
              <a:ext uri="{FF2B5EF4-FFF2-40B4-BE49-F238E27FC236}">
                <a16:creationId xmlns:a16="http://schemas.microsoft.com/office/drawing/2014/main" id="{57A9F2A3-9969-4B53-9A9C-8BBFA5BA0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05300"/>
            <a:ext cx="171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量化边界</a:t>
            </a:r>
          </a:p>
        </p:txBody>
      </p:sp>
      <p:sp>
        <p:nvSpPr>
          <p:cNvPr id="22" name="p14-r3-1">
            <a:extLst xmlns:a="http://schemas.openxmlformats.org/drawingml/2006/main">
              <a:ext uri="{FF2B5EF4-FFF2-40B4-BE49-F238E27FC236}">
                <a16:creationId xmlns:a16="http://schemas.microsoft.com/office/drawing/2014/main" id="{BF11AD4F-8D7D-4014-AF12-6BBC927A7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05300"/>
            <a:ext cx="209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263746"/>
                </a:solidFill>
              </a:defRPr>
            </a:pPr>
            <a:r>
              <a:rPr sz="13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全文</a:t>
            </a:r>
          </a:p>
        </p:txBody>
      </p:sp>
      <p:sp>
        <p:nvSpPr>
          <p:cNvPr id="23" name="p14-r3-2">
            <a:extLst xmlns:a="http://schemas.openxmlformats.org/drawingml/2006/main">
              <a:ext uri="{FF2B5EF4-FFF2-40B4-BE49-F238E27FC236}">
                <a16:creationId xmlns:a16="http://schemas.microsoft.com/office/drawing/2014/main" id="{A5293035-6B5E-4880-AD22-01F49838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305300"/>
            <a:ext cx="2571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没有受控实验或“降低 50%”结果</a:t>
            </a:r>
          </a:p>
        </p:txBody>
      </p:sp>
      <p:sp>
        <p:nvSpPr>
          <p:cNvPr id="24" name="p14-bottom">
            <a:extLst xmlns:a="http://schemas.openxmlformats.org/drawingml/2006/main">
              <a:ext uri="{FF2B5EF4-FFF2-40B4-BE49-F238E27FC236}">
                <a16:creationId xmlns:a16="http://schemas.microsoft.com/office/drawing/2014/main" id="{1F339DB6-7FB6-4C77-8F89-4ECCDAAD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953000"/>
            <a:ext cx="6762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从 DOI 到原文后，只记录原文真正支持的主张；未出现的实验结果不能补写。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演示：合格条目进入候选表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p15-entry-title">
            <a:extLst xmlns:a="http://schemas.openxmlformats.org/drawingml/2006/main">
              <a:ext uri="{FF2B5EF4-FFF2-40B4-BE49-F238E27FC236}">
                <a16:creationId xmlns:a16="http://schemas.microsoft.com/office/drawing/2014/main" id="{5D4D89EB-B64A-41D6-8AF6-7822A556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354E"/>
                </a:solidFill>
              </a:defRPr>
            </a:pPr>
            <a:r>
              <a:rPr sz="21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真实候选条目｜Keshav (2007)</a:t>
            </a:r>
          </a:p>
        </p:txBody>
      </p:sp>
      <p:sp>
        <p:nvSpPr>
          <p:cNvPr id="7" name="p15-h-0">
            <a:extLst xmlns:a="http://schemas.openxmlformats.org/drawingml/2006/main">
              <a:ext uri="{FF2B5EF4-FFF2-40B4-BE49-F238E27FC236}">
                <a16:creationId xmlns:a16="http://schemas.microsoft.com/office/drawing/2014/main" id="{D40A1B5A-BC6C-43BF-B3C3-411217A2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095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354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8" name="p15-h-1">
            <a:extLst xmlns:a="http://schemas.openxmlformats.org/drawingml/2006/main">
              <a:ext uri="{FF2B5EF4-FFF2-40B4-BE49-F238E27FC236}">
                <a16:creationId xmlns:a16="http://schemas.microsoft.com/office/drawing/2014/main" id="{92EE1E25-6E77-49E4-A6E8-783A8709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28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核验后写入</a:t>
            </a:r>
          </a:p>
        </p:txBody>
      </p:sp>
      <p:sp>
        <p:nvSpPr>
          <p:cNvPr id="9" name="p15-r0-0">
            <a:extLst xmlns:a="http://schemas.openxmlformats.org/drawingml/2006/main">
              <a:ext uri="{FF2B5EF4-FFF2-40B4-BE49-F238E27FC236}">
                <a16:creationId xmlns:a16="http://schemas.microsoft.com/office/drawing/2014/main" id="{B3835ADC-7A07-4087-BBD2-79D77449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正式来源</a:t>
            </a:r>
          </a:p>
        </p:txBody>
      </p:sp>
      <p:sp>
        <p:nvSpPr>
          <p:cNvPr id="10" name="p15-r0-1">
            <a:extLst xmlns:a="http://schemas.openxmlformats.org/drawingml/2006/main">
              <a:ext uri="{FF2B5EF4-FFF2-40B4-BE49-F238E27FC236}">
                <a16:creationId xmlns:a16="http://schemas.microsoft.com/office/drawing/2014/main" id="{9DE2DA60-77E4-4F28-B723-1822580D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860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ACM SIGCOMM Computer Communication Review 37(3), pp.83–84｜DOI 10.1145/1273445.1273458</a:t>
            </a:r>
          </a:p>
        </p:txBody>
      </p:sp>
      <p:sp>
        <p:nvSpPr>
          <p:cNvPr id="11" name="p15-r1-0">
            <a:extLst xmlns:a="http://schemas.openxmlformats.org/drawingml/2006/main">
              <a:ext uri="{FF2B5EF4-FFF2-40B4-BE49-F238E27FC236}">
                <a16:creationId xmlns:a16="http://schemas.microsoft.com/office/drawing/2014/main" id="{6DC20F11-20BC-4B9C-B442-C3A4DBF1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可用主张</a:t>
            </a:r>
          </a:p>
        </p:txBody>
      </p:sp>
      <p:sp>
        <p:nvSpPr>
          <p:cNvPr id="12" name="p15-r1-1">
            <a:extLst xmlns:a="http://schemas.openxmlformats.org/drawingml/2006/main">
              <a:ext uri="{FF2B5EF4-FFF2-40B4-BE49-F238E27FC236}">
                <a16:creationId xmlns:a16="http://schemas.microsoft.com/office/drawing/2014/main" id="{B00A11C6-BBFB-4BF4-B751-2808CC7B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146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提出 three-pass approach，并给出三遍阅读目标与动作</a:t>
            </a:r>
          </a:p>
        </p:txBody>
      </p:sp>
      <p:sp>
        <p:nvSpPr>
          <p:cNvPr id="13" name="p15-r2-0">
            <a:extLst xmlns:a="http://schemas.openxmlformats.org/drawingml/2006/main">
              <a:ext uri="{FF2B5EF4-FFF2-40B4-BE49-F238E27FC236}">
                <a16:creationId xmlns:a16="http://schemas.microsoft.com/office/drawing/2014/main" id="{67C0316E-F149-4C8C-AAC6-64A10DBE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证据角色</a:t>
            </a:r>
          </a:p>
        </p:txBody>
      </p:sp>
      <p:sp>
        <p:nvSpPr>
          <p:cNvPr id="14" name="p15-r2-1">
            <a:extLst xmlns:a="http://schemas.openxmlformats.org/drawingml/2006/main">
              <a:ext uri="{FF2B5EF4-FFF2-40B4-BE49-F238E27FC236}">
                <a16:creationId xmlns:a16="http://schemas.microsoft.com/office/drawing/2014/main" id="{F4DE113B-BBFF-4657-BAE4-D39D2F3E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4330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方法依据 / 实践框架，不是效果量主证据</a:t>
            </a:r>
          </a:p>
        </p:txBody>
      </p:sp>
      <p:sp>
        <p:nvSpPr>
          <p:cNvPr id="15" name="p15-r3-0">
            <a:extLst xmlns:a="http://schemas.openxmlformats.org/drawingml/2006/main">
              <a:ext uri="{FF2B5EF4-FFF2-40B4-BE49-F238E27FC236}">
                <a16:creationId xmlns:a16="http://schemas.microsoft.com/office/drawing/2014/main" id="{ABCA06E2-5192-4F02-A3A6-A53D53B1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63746"/>
                </a:solidFill>
              </a:defRPr>
            </a:pPr>
            <a:r>
              <a:rPr sz="13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核验状态</a:t>
            </a:r>
          </a:p>
        </p:txBody>
      </p:sp>
      <p:sp>
        <p:nvSpPr>
          <p:cNvPr id="16" name="p15-r3-1">
            <a:extLst xmlns:a="http://schemas.openxmlformats.org/drawingml/2006/main">
              <a:ext uri="{FF2B5EF4-FFF2-40B4-BE49-F238E27FC236}">
                <a16:creationId xmlns:a16="http://schemas.microsoft.com/office/drawing/2014/main" id="{CF9228D0-0906-4945-A4CD-DF23206D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719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verified-with-caveat｜缺少受控效果实验，保留限定</a:t>
            </a:r>
          </a:p>
        </p:txBody>
      </p:sp>
      <p:sp>
        <p:nvSpPr>
          <p:cNvPr id="17" name="p15-path">
            <a:extLst xmlns:a="http://schemas.openxmlformats.org/drawingml/2006/main">
              <a:ext uri="{FF2B5EF4-FFF2-40B4-BE49-F238E27FC236}">
                <a16:creationId xmlns:a16="http://schemas.microsoft.com/office/drawing/2014/main" id="{A7E3E1CA-0EEB-4DC0-9E17-EBD241CA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72050"/>
            <a:ext cx="9563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caveat 条目可进入候选表或主格，但限定必须同行保留，且不得单独支撑 stable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虚构失败案例：不得引用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p16-boundary">
            <a:extLst xmlns:a="http://schemas.openxmlformats.org/drawingml/2006/main">
              <a:ext uri="{FF2B5EF4-FFF2-40B4-BE49-F238E27FC236}">
                <a16:creationId xmlns:a16="http://schemas.microsoft.com/office/drawing/2014/main" id="{67955511-7642-4003-8855-14FC90F59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95350"/>
            <a:ext cx="10363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以下 5 条均为课程构造的占位引用，不对应真实论文、DOI 或实验结果</a:t>
            </a:r>
          </a:p>
        </p:txBody>
      </p:sp>
      <p:sp>
        <p:nvSpPr>
          <p:cNvPr id="7" name="p16-bad">
            <a:extLst xmlns:a="http://schemas.openxmlformats.org/drawingml/2006/main">
              <a:ext uri="{FF2B5EF4-FFF2-40B4-BE49-F238E27FC236}">
                <a16:creationId xmlns:a16="http://schemas.microsoft.com/office/drawing/2014/main" id="{E13B448F-F234-446A-8BAF-955AF683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直接复制 AI 报告的 5 条虚构引文</a:t>
            </a:r>
          </a:p>
        </p:txBody>
      </p:sp>
      <p:sp>
        <p:nvSpPr>
          <p:cNvPr id="8" name="p16-a">
            <a:extLst xmlns:a="http://schemas.openxmlformats.org/drawingml/2006/main">
              <a:ext uri="{FF2B5EF4-FFF2-40B4-BE49-F238E27FC236}">
                <a16:creationId xmlns:a16="http://schemas.microsoft.com/office/drawing/2014/main" id="{2031A32B-1DF9-4248-9942-B9FC43943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4097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8161E"/>
                </a:solidFill>
              </a:defRPr>
            </a:pPr>
            <a:r>
              <a:rPr sz="22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p16-errors">
            <a:extLst xmlns:a="http://schemas.openxmlformats.org/drawingml/2006/main">
              <a:ext uri="{FF2B5EF4-FFF2-40B4-BE49-F238E27FC236}">
                <a16:creationId xmlns:a16="http://schemas.microsoft.com/office/drawing/2014/main" id="{A61F11A8-096D-49C9-B1FD-4DF289E1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66850"/>
            <a:ext cx="600075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虚构｜张冠李戴｜过度改写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263746"/>
                </a:solidFill>
              </a:defRPr>
            </a:pPr>
            <a:r>
              <a:rPr sz="180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限定丢失｜来源不可追溯</a:t>
            </a:r>
          </a:p>
        </p:txBody>
      </p:sp>
      <p:sp>
        <p:nvSpPr>
          <p:cNvPr id="10" name="p16-title">
            <a:extLst xmlns:a="http://schemas.openxmlformats.org/drawingml/2006/main">
              <a:ext uri="{FF2B5EF4-FFF2-40B4-BE49-F238E27FC236}">
                <a16:creationId xmlns:a16="http://schemas.microsoft.com/office/drawing/2014/main" id="{F2D95430-D4CC-4909-ABE0-E46D28BE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24150"/>
            <a:ext cx="266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54E"/>
                </a:solidFill>
              </a:defRPr>
            </a:pPr>
            <a:r>
              <a:rPr sz="18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四个判断点</a:t>
            </a:r>
          </a:p>
        </p:txBody>
      </p:sp>
      <p:sp>
        <p:nvSpPr>
          <p:cNvPr id="11" name="p16-q-0">
            <a:extLst xmlns:a="http://schemas.openxmlformats.org/drawingml/2006/main">
              <a:ext uri="{FF2B5EF4-FFF2-40B4-BE49-F238E27FC236}">
                <a16:creationId xmlns:a16="http://schemas.microsoft.com/office/drawing/2014/main" id="{3B2EB5D0-923F-463C-8CE2-A6D540E7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528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1. 为什么先写问题再搜？</a:t>
            </a:r>
          </a:p>
        </p:txBody>
      </p:sp>
      <p:sp>
        <p:nvSpPr>
          <p:cNvPr id="12" name="p16-q-1">
            <a:extLst xmlns:a="http://schemas.openxmlformats.org/drawingml/2006/main">
              <a:ext uri="{FF2B5EF4-FFF2-40B4-BE49-F238E27FC236}">
                <a16:creationId xmlns:a16="http://schemas.microsoft.com/office/drawing/2014/main" id="{81798757-4254-4462-9236-F38A6CAD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2. 纳入 / 排除何时写？</a:t>
            </a:r>
          </a:p>
        </p:txBody>
      </p:sp>
      <p:sp>
        <p:nvSpPr>
          <p:cNvPr id="13" name="p16-q-2">
            <a:extLst xmlns:a="http://schemas.openxmlformats.org/drawingml/2006/main">
              <a:ext uri="{FF2B5EF4-FFF2-40B4-BE49-F238E27FC236}">
                <a16:creationId xmlns:a16="http://schemas.microsoft.com/office/drawing/2014/main" id="{1272F9A0-42E2-4D9C-B5BD-083FC928D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291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8354E"/>
                </a:solidFill>
              </a:defRPr>
            </a:pPr>
            <a:r>
              <a:rPr sz="157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3. AI 引文何时仍是线索？</a:t>
            </a:r>
          </a:p>
        </p:txBody>
      </p:sp>
      <p:sp>
        <p:nvSpPr>
          <p:cNvPr id="14" name="p16-q-3">
            <a:extLst xmlns:a="http://schemas.openxmlformats.org/drawingml/2006/main">
              <a:ext uri="{FF2B5EF4-FFF2-40B4-BE49-F238E27FC236}">
                <a16:creationId xmlns:a16="http://schemas.microsoft.com/office/drawing/2014/main" id="{26B04052-3FB9-4402-B17D-3242337F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4953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4. caveat 如何进入候选表？</a:t>
            </a:r>
          </a:p>
        </p:txBody>
      </p:sp>
      <p:sp>
        <p:nvSpPr>
          <p:cNvPr id="15" name="p16-bottom">
            <a:extLst xmlns:a="http://schemas.openxmlformats.org/drawingml/2006/main">
              <a:ext uri="{FF2B5EF4-FFF2-40B4-BE49-F238E27FC236}">
                <a16:creationId xmlns:a16="http://schemas.microsoft.com/office/drawing/2014/main" id="{B89777E0-7BF2-4A67-A7C8-39A980532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238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失败不重跑到成功；把核验步骤写回受限流程。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个人实践：跑通一次可复盘检索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p17-time">
            <a:extLst xmlns:a="http://schemas.openxmlformats.org/drawingml/2006/main">
              <a:ext uri="{FF2B5EF4-FFF2-40B4-BE49-F238E27FC236}">
                <a16:creationId xmlns:a16="http://schemas.microsoft.com/office/drawing/2014/main" id="{0ECCB4B1-3478-4B4D-821F-88C5F579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43:00–48:00 任务说明</a:t>
            </a:r>
          </a:p>
        </p:txBody>
      </p:sp>
      <p:sp>
        <p:nvSpPr>
          <p:cNvPr id="7" name="p17-n-0">
            <a:extLst xmlns:a="http://schemas.openxmlformats.org/drawingml/2006/main">
              <a:ext uri="{FF2B5EF4-FFF2-40B4-BE49-F238E27FC236}">
                <a16:creationId xmlns:a16="http://schemas.microsoft.com/office/drawing/2014/main" id="{0BE0DA5C-A211-4C76-8395-CAC0223A9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17-t-0">
            <a:extLst xmlns:a="http://schemas.openxmlformats.org/drawingml/2006/main">
              <a:ext uri="{FF2B5EF4-FFF2-40B4-BE49-F238E27FC236}">
                <a16:creationId xmlns:a16="http://schemas.microsoft.com/office/drawing/2014/main" id="{C3A6C13A-4F0D-4FE5-BC6B-7AFC9D77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162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写问题并抽关键词</a:t>
            </a:r>
          </a:p>
        </p:txBody>
      </p:sp>
      <p:sp>
        <p:nvSpPr>
          <p:cNvPr id="9" name="p17-n-1">
            <a:extLst xmlns:a="http://schemas.openxmlformats.org/drawingml/2006/main">
              <a:ext uri="{FF2B5EF4-FFF2-40B4-BE49-F238E27FC236}">
                <a16:creationId xmlns:a16="http://schemas.microsoft.com/office/drawing/2014/main" id="{FE0FA3C2-5497-4032-BE24-D05AC8B52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p17-t-1">
            <a:extLst xmlns:a="http://schemas.openxmlformats.org/drawingml/2006/main">
              <a:ext uri="{FF2B5EF4-FFF2-40B4-BE49-F238E27FC236}">
                <a16:creationId xmlns:a16="http://schemas.microsoft.com/office/drawing/2014/main" id="{C9C89818-9779-4B32-B87F-2AE3AA371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57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构造检索式</a:t>
            </a:r>
          </a:p>
        </p:txBody>
      </p:sp>
      <p:sp>
        <p:nvSpPr>
          <p:cNvPr id="11" name="p17-n-2">
            <a:extLst xmlns:a="http://schemas.openxmlformats.org/drawingml/2006/main">
              <a:ext uri="{FF2B5EF4-FFF2-40B4-BE49-F238E27FC236}">
                <a16:creationId xmlns:a16="http://schemas.microsoft.com/office/drawing/2014/main" id="{17616D32-0F97-475F-9F08-9568CD1F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p17-t-2">
            <a:extLst xmlns:a="http://schemas.openxmlformats.org/drawingml/2006/main">
              <a:ext uri="{FF2B5EF4-FFF2-40B4-BE49-F238E27FC236}">
                <a16:creationId xmlns:a16="http://schemas.microsoft.com/office/drawing/2014/main" id="{4C282693-6867-459D-87DC-63033F4C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52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保存 1 条检索记录</a:t>
            </a:r>
          </a:p>
        </p:txBody>
      </p:sp>
      <p:sp>
        <p:nvSpPr>
          <p:cNvPr id="13" name="p17-n-3">
            <a:extLst xmlns:a="http://schemas.openxmlformats.org/drawingml/2006/main">
              <a:ext uri="{FF2B5EF4-FFF2-40B4-BE49-F238E27FC236}">
                <a16:creationId xmlns:a16="http://schemas.microsoft.com/office/drawing/2014/main" id="{513888A4-C9EA-41CF-93E7-7B86D9EFC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481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p17-t-3">
            <a:extLst xmlns:a="http://schemas.openxmlformats.org/drawingml/2006/main">
              <a:ext uri="{FF2B5EF4-FFF2-40B4-BE49-F238E27FC236}">
                <a16:creationId xmlns:a16="http://schemas.microsoft.com/office/drawing/2014/main" id="{219105CF-1B4D-4CC7-94CE-9C676641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48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审计至少 2 条来源</a:t>
            </a:r>
          </a:p>
        </p:txBody>
      </p:sp>
      <p:sp>
        <p:nvSpPr>
          <p:cNvPr id="15" name="p17-n-4">
            <a:extLst xmlns:a="http://schemas.openxmlformats.org/drawingml/2006/main">
              <a:ext uri="{FF2B5EF4-FFF2-40B4-BE49-F238E27FC236}">
                <a16:creationId xmlns:a16="http://schemas.microsoft.com/office/drawing/2014/main" id="{816D308E-AD74-422E-99AE-7723BE91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1620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6" name="p17-t-4">
            <a:extLst xmlns:a="http://schemas.openxmlformats.org/drawingml/2006/main">
              <a:ext uri="{FF2B5EF4-FFF2-40B4-BE49-F238E27FC236}">
                <a16:creationId xmlns:a16="http://schemas.microsoft.com/office/drawing/2014/main" id="{EFFFF8D0-0250-4527-80B0-6A89CBF18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1620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保留 1 条 pending/rejected</a:t>
            </a:r>
          </a:p>
        </p:txBody>
      </p:sp>
      <p:sp>
        <p:nvSpPr>
          <p:cNvPr id="17" name="p17-n-5">
            <a:extLst xmlns:a="http://schemas.openxmlformats.org/drawingml/2006/main">
              <a:ext uri="{FF2B5EF4-FFF2-40B4-BE49-F238E27FC236}">
                <a16:creationId xmlns:a16="http://schemas.microsoft.com/office/drawing/2014/main" id="{85ABA1DD-68D7-40B0-898A-413EB0E3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574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8" name="p17-t-5">
            <a:extLst xmlns:a="http://schemas.openxmlformats.org/drawingml/2006/main">
              <a:ext uri="{FF2B5EF4-FFF2-40B4-BE49-F238E27FC236}">
                <a16:creationId xmlns:a16="http://schemas.microsoft.com/office/drawing/2014/main" id="{63585F72-9080-4D2C-B72C-BAB01C764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0574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写入 1 条 verified/caveat</a:t>
            </a:r>
          </a:p>
        </p:txBody>
      </p:sp>
      <p:sp>
        <p:nvSpPr>
          <p:cNvPr id="19" name="p17-n-6">
            <a:extLst xmlns:a="http://schemas.openxmlformats.org/drawingml/2006/main">
              <a:ext uri="{FF2B5EF4-FFF2-40B4-BE49-F238E27FC236}">
                <a16:creationId xmlns:a16="http://schemas.microsoft.com/office/drawing/2014/main" id="{83406C42-275A-4B3A-9520-5CCA6140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5275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0" name="p17-t-6">
            <a:extLst xmlns:a="http://schemas.openxmlformats.org/drawingml/2006/main">
              <a:ext uri="{FF2B5EF4-FFF2-40B4-BE49-F238E27FC236}">
                <a16:creationId xmlns:a16="http://schemas.microsoft.com/office/drawing/2014/main" id="{4EEF6E61-7426-4925-AAA0-991722D5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标证据角色</a:t>
            </a:r>
          </a:p>
        </p:txBody>
      </p:sp>
      <p:sp>
        <p:nvSpPr>
          <p:cNvPr id="21" name="p17-n-7">
            <a:extLst xmlns:a="http://schemas.openxmlformats.org/drawingml/2006/main">
              <a:ext uri="{FF2B5EF4-FFF2-40B4-BE49-F238E27FC236}">
                <a16:creationId xmlns:a16="http://schemas.microsoft.com/office/drawing/2014/main" id="{729DEB1B-D828-46AF-94A8-D25829D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848100"/>
            <a:ext cx="552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2" name="p17-t-7">
            <a:extLst xmlns:a="http://schemas.openxmlformats.org/drawingml/2006/main">
              <a:ext uri="{FF2B5EF4-FFF2-40B4-BE49-F238E27FC236}">
                <a16:creationId xmlns:a16="http://schemas.microsoft.com/office/drawing/2014/main" id="{C8DD235B-1AEC-4E25-8766-6D27E592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848100"/>
            <a:ext cx="333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写 AI 使用记录</a:t>
            </a:r>
          </a:p>
        </p:txBody>
      </p:sp>
      <p:sp>
        <p:nvSpPr>
          <p:cNvPr id="23" name="p17-choice">
            <a:extLst xmlns:a="http://schemas.openxmlformats.org/drawingml/2006/main">
              <a:ext uri="{FF2B5EF4-FFF2-40B4-BE49-F238E27FC236}">
                <a16:creationId xmlns:a16="http://schemas.microsoft.com/office/drawing/2014/main" id="{0541807B-4257-4973-AE84-D3D875C9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390650"/>
            <a:ext cx="2381250" cy="2933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选题顺序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本人真实问题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导师组公开问题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18354E"/>
                </a:solidFill>
              </a:defRPr>
            </a:pPr>
            <a:r>
              <a:rPr sz="165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课程贯穿案例</a:t>
            </a:r>
          </a:p>
        </p:txBody>
      </p:sp>
      <p:sp>
        <p:nvSpPr>
          <p:cNvPr id="24" name="p17-bottom">
            <a:extLst xmlns:a="http://schemas.openxmlformats.org/drawingml/2006/main">
              <a:ext uri="{FF2B5EF4-FFF2-40B4-BE49-F238E27FC236}">
                <a16:creationId xmlns:a16="http://schemas.microsoft.com/office/drawing/2014/main" id="{AA7C408A-5A82-49C4-82C4-4E3A5C351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105400"/>
            <a:ext cx="8839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不得直接复刻演示题；验收看记录、状态、角色与核验理由。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实践停留页：模板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p18-time">
            <a:extLst xmlns:a="http://schemas.openxmlformats.org/drawingml/2006/main">
              <a:ext uri="{FF2B5EF4-FFF2-40B4-BE49-F238E27FC236}">
                <a16:creationId xmlns:a16="http://schemas.microsoft.com/office/drawing/2014/main" id="{BB5537F6-2E8A-46C2-881E-53F6F1F75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876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C8161E"/>
                </a:solidFill>
              </a:defRPr>
            </a:pPr>
            <a:r>
              <a:rPr sz="135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48:00–75:00 个人实践</a:t>
            </a:r>
          </a:p>
        </p:txBody>
      </p:sp>
      <p:sp>
        <p:nvSpPr>
          <p:cNvPr id="7" name="p18-left-title">
            <a:extLst xmlns:a="http://schemas.openxmlformats.org/drawingml/2006/main">
              <a:ext uri="{FF2B5EF4-FFF2-40B4-BE49-F238E27FC236}">
                <a16:creationId xmlns:a16="http://schemas.microsoft.com/office/drawing/2014/main" id="{089835B0-D148-4A78-A8F9-93CAB449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检索记录</a:t>
            </a:r>
          </a:p>
        </p:txBody>
      </p:sp>
      <p:sp>
        <p:nvSpPr>
          <p:cNvPr id="8" name="p18-left">
            <a:extLst xmlns:a="http://schemas.openxmlformats.org/drawingml/2006/main">
              <a:ext uri="{FF2B5EF4-FFF2-40B4-BE49-F238E27FC236}">
                <a16:creationId xmlns:a16="http://schemas.microsoft.com/office/drawing/2014/main" id="{AACDA740-0CC4-40BE-B44A-5EC86680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85775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7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152400" rIns="19050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库：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检索式：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日期：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时间范围：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命中数：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纳入条件：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排除条件：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筛选后：</a:t>
            </a:r>
          </a:p>
        </p:txBody>
      </p:sp>
      <p:sp>
        <p:nvSpPr>
          <p:cNvPr id="9" name="p18-right-title">
            <a:extLst xmlns:a="http://schemas.openxmlformats.org/drawingml/2006/main">
              <a:ext uri="{FF2B5EF4-FFF2-40B4-BE49-F238E27FC236}">
                <a16:creationId xmlns:a16="http://schemas.microsoft.com/office/drawing/2014/main" id="{BC2D24CF-50AC-42F4-B0CE-FFB12482D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066800"/>
            <a:ext cx="5391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候选文献表</a:t>
            </a:r>
          </a:p>
        </p:txBody>
      </p:sp>
      <p:sp>
        <p:nvSpPr>
          <p:cNvPr id="10" name="p18-right">
            <a:extLst xmlns:a="http://schemas.openxmlformats.org/drawingml/2006/main">
              <a:ext uri="{FF2B5EF4-FFF2-40B4-BE49-F238E27FC236}">
                <a16:creationId xmlns:a16="http://schemas.microsoft.com/office/drawing/2014/main" id="{8CC67B80-1F3E-45B0-8B0E-752E41FA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62100"/>
            <a:ext cx="542925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9525">
            <a:solidFill>
              <a:srgbClr val="D6DDE2"/>
            </a:solidFill>
            <a:prstDash val="solid"/>
          </a:ln>
        </p:spPr>
        <p:txBody>
          <a:bodyPr xmlns:a="http://schemas.openxmlformats.org/drawingml/2006/main" lIns="190500" tIns="152400" rIns="190500" bIns="152400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| 编号 | 题名（核验后） |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| 作者 | 年份 |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| 正式来源 | 证据角色 |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| 纳入 / 排除 | 理由 |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263746"/>
                </a:solidFill>
              </a:defRPr>
            </a:pPr>
            <a:r>
              <a:rPr sz="1500" b="0">
                <a:solidFill>
                  <a:srgbClr val="263746"/>
                </a:solidFill>
                <a:latin typeface="Consolas"/>
                <a:ea typeface="Consolas"/>
                <a:cs typeface="Consolas"/>
              </a:rPr>
              <a:t>| 核验状态 |</a:t>
            </a:r>
          </a:p>
        </p:txBody>
      </p:sp>
      <p:sp>
        <p:nvSpPr>
          <p:cNvPr id="11" name="p18-path">
            <a:extLst xmlns:a="http://schemas.openxmlformats.org/drawingml/2006/main">
              <a:ext uri="{FF2B5EF4-FFF2-40B4-BE49-F238E27FC236}">
                <a16:creationId xmlns:a16="http://schemas.microsoft.com/office/drawing/2014/main" id="{68115FF5-0EF7-4B6C-83CE-49689DA4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38600"/>
            <a:ext cx="5429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最低闭环：1 检索记录 + 2 来源审计</a:t>
            </a:r>
          </a:p>
          <a:p xmlns:a="http://schemas.openxmlformats.org/drawingml/2006/main">
            <a:pPr algn="ctr">
              <a:defRPr sz="1500" b="1">
                <a:solidFill>
                  <a:srgbClr val="18354E"/>
                </a:solidFill>
              </a:defRPr>
            </a:pPr>
            <a:r>
              <a:rPr sz="15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+ 1 条 verified/caveat + 1 条 AI 使用记录</a:t>
            </a:r>
          </a:p>
        </p:txBody>
      </p:sp>
      <p:sp>
        <p:nvSpPr>
          <p:cNvPr id="12" name="p18-bottom">
            <a:extLst xmlns:a="http://schemas.openxmlformats.org/drawingml/2006/main">
              <a:ext uri="{FF2B5EF4-FFF2-40B4-BE49-F238E27FC236}">
                <a16:creationId xmlns:a16="http://schemas.microsoft.com/office/drawing/2014/main" id="{E241461C-0DFB-4878-B10B-F62EC428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162550"/>
            <a:ext cx="9067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断网备用：用 Markdown 完成检索式构造和来源审计，不逐台排障。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同伴互查三问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p19-mode">
            <a:extLst xmlns:a="http://schemas.openxmlformats.org/drawingml/2006/main">
              <a:ext uri="{FF2B5EF4-FFF2-40B4-BE49-F238E27FC236}">
                <a16:creationId xmlns:a16="http://schemas.microsoft.com/office/drawing/2014/main" id="{9C67E598-A308-40CD-9ADD-1F8619E0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8161E"/>
                </a:solidFill>
              </a:defRPr>
            </a:pPr>
            <a:r>
              <a:rPr sz="165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两人互查 · 10 分钟</a:t>
            </a:r>
          </a:p>
        </p:txBody>
      </p:sp>
      <p:sp>
        <p:nvSpPr>
          <p:cNvPr id="7" name="p19-qn-0">
            <a:extLst xmlns:a="http://schemas.openxmlformats.org/drawingml/2006/main">
              <a:ext uri="{FF2B5EF4-FFF2-40B4-BE49-F238E27FC236}">
                <a16:creationId xmlns:a16="http://schemas.microsoft.com/office/drawing/2014/main" id="{438120E6-A296-4B4B-909F-90A06FF80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Q1</a:t>
            </a:r>
          </a:p>
        </p:txBody>
      </p:sp>
      <p:sp>
        <p:nvSpPr>
          <p:cNvPr id="8" name="p19-q-0">
            <a:extLst xmlns:a="http://schemas.openxmlformats.org/drawingml/2006/main">
              <a:ext uri="{FF2B5EF4-FFF2-40B4-BE49-F238E27FC236}">
                <a16:creationId xmlns:a16="http://schemas.microsoft.com/office/drawing/2014/main" id="{E6FC83AC-B16B-40F1-8FFE-F3313783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954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检索可复盘吗？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库、式、日期、命中与筛选齐吗？</a:t>
            </a:r>
          </a:p>
        </p:txBody>
      </p:sp>
      <p:sp>
        <p:nvSpPr>
          <p:cNvPr id="9" name="p19-qn-1">
            <a:extLst xmlns:a="http://schemas.openxmlformats.org/drawingml/2006/main">
              <a:ext uri="{FF2B5EF4-FFF2-40B4-BE49-F238E27FC236}">
                <a16:creationId xmlns:a16="http://schemas.microsoft.com/office/drawing/2014/main" id="{8CE35E77-EC22-424B-B3E1-218F51E9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Arial"/>
                <a:ea typeface="Arial"/>
                <a:cs typeface="Arial"/>
              </a:rPr>
              <a:t>Q2</a:t>
            </a:r>
          </a:p>
        </p:txBody>
      </p:sp>
      <p:sp>
        <p:nvSpPr>
          <p:cNvPr id="10" name="p19-q-1">
            <a:extLst xmlns:a="http://schemas.openxmlformats.org/drawingml/2006/main">
              <a:ext uri="{FF2B5EF4-FFF2-40B4-BE49-F238E27FC236}">
                <a16:creationId xmlns:a16="http://schemas.microsoft.com/office/drawing/2014/main" id="{702BE61B-D817-4A31-8CFD-9F0645C3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8003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证据角色清楚吗？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每条 verified 标了角色吗？</a:t>
            </a:r>
          </a:p>
        </p:txBody>
      </p:sp>
      <p:sp>
        <p:nvSpPr>
          <p:cNvPr id="11" name="p19-qn-2">
            <a:extLst xmlns:a="http://schemas.openxmlformats.org/drawingml/2006/main">
              <a:ext uri="{FF2B5EF4-FFF2-40B4-BE49-F238E27FC236}">
                <a16:creationId xmlns:a16="http://schemas.microsoft.com/office/drawing/2014/main" id="{083FF1BD-2376-4504-ABAF-F154D351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5250"/>
            <a:ext cx="857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C8161E"/>
                </a:solidFill>
              </a:defRPr>
            </a:pPr>
            <a:r>
              <a:rPr sz="1800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Q3</a:t>
            </a:r>
          </a:p>
        </p:txBody>
      </p:sp>
      <p:sp>
        <p:nvSpPr>
          <p:cNvPr id="12" name="p19-q-2">
            <a:extLst xmlns:a="http://schemas.openxmlformats.org/drawingml/2006/main">
              <a:ext uri="{FF2B5EF4-FFF2-40B4-BE49-F238E27FC236}">
                <a16:creationId xmlns:a16="http://schemas.microsoft.com/office/drawing/2014/main" id="{B865F0D7-C93F-4A7F-AA40-847DF65F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05250"/>
            <a:ext cx="6191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AI 输出回原文了吗？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1">
                <a:solidFill>
                  <a:srgbClr val="263746"/>
                </a:solidFill>
              </a:defRPr>
            </a:pPr>
            <a:r>
              <a:rPr sz="1650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rejected / pending 有理由吗？</a:t>
            </a:r>
          </a:p>
        </p:txBody>
      </p:sp>
      <p:sp>
        <p:nvSpPr>
          <p:cNvPr id="13" name="p19-state">
            <a:extLst xmlns:a="http://schemas.openxmlformats.org/drawingml/2006/main">
              <a:ext uri="{FF2B5EF4-FFF2-40B4-BE49-F238E27FC236}">
                <a16:creationId xmlns:a16="http://schemas.microsoft.com/office/drawing/2014/main" id="{9A7C31BC-8E1E-4D9A-864C-6D370810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71650"/>
            <a:ext cx="247650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作者记录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采纳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暂不采纳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1800" b="1">
                <a:solidFill>
                  <a:srgbClr val="18354E"/>
                </a:solidFill>
              </a:defRPr>
            </a:pPr>
            <a:r>
              <a:rPr sz="1800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待核验</a:t>
            </a:r>
          </a:p>
        </p:txBody>
      </p:sp>
      <p:sp>
        <p:nvSpPr>
          <p:cNvPr id="14" name="p19-bottom">
            <a:extLst xmlns:a="http://schemas.openxmlformats.org/drawingml/2006/main">
              <a:ext uri="{FF2B5EF4-FFF2-40B4-BE49-F238E27FC236}">
                <a16:creationId xmlns:a16="http://schemas.microsoft.com/office/drawing/2014/main" id="{1DA1BD68-6587-4357-8A3C-104C3FA2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2197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同伴只提问题，不替作者决定，不形成共同提交。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28575"/>
            <a:ext cx="10668000" cy="628650"/>
          </a:xfrm>
        </p:spPr>
        <p:txBody>
          <a:bodyPr xmlns:a="http://schemas.openxmlformats.org/drawingml/2006/main" lIns="76200" tIns="0" rIns="76200" bIns="0" anchor="ctr"/>
          <a:lstStyle xmlns:a="http://schemas.openxmlformats.org/drawingml/2006/main"/>
          <a:p xmlns:a="http://schemas.openxmlformats.org/drawingml/2006/main">
            <a:pPr algn="l"/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退出卡与第 4 课预告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p20-exit-title">
            <a:extLst xmlns:a="http://schemas.openxmlformats.org/drawingml/2006/main">
              <a:ext uri="{FF2B5EF4-FFF2-40B4-BE49-F238E27FC236}">
                <a16:creationId xmlns:a16="http://schemas.microsoft.com/office/drawing/2014/main" id="{734F0913-D379-401F-99A2-44496F0D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354E"/>
                </a:solidFill>
              </a:defRPr>
            </a:pPr>
            <a:r>
              <a:rPr sz="20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退出卡</a:t>
            </a:r>
          </a:p>
        </p:txBody>
      </p:sp>
      <p:sp>
        <p:nvSpPr>
          <p:cNvPr id="7" name="p20-i-0">
            <a:extLst xmlns:a="http://schemas.openxmlformats.org/drawingml/2006/main">
              <a:ext uri="{FF2B5EF4-FFF2-40B4-BE49-F238E27FC236}">
                <a16:creationId xmlns:a16="http://schemas.microsoft.com/office/drawing/2014/main" id="{6FB6CBB5-C80D-4C9C-951C-158357A9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Arial"/>
                <a:ea typeface="Arial"/>
                <a:cs typeface="Arial"/>
              </a:rPr>
              <a:t>01  最清楚的一点</a:t>
            </a:r>
          </a:p>
        </p:txBody>
      </p:sp>
      <p:sp>
        <p:nvSpPr>
          <p:cNvPr id="8" name="p20-i-1">
            <a:extLst xmlns:a="http://schemas.openxmlformats.org/drawingml/2006/main">
              <a:ext uri="{FF2B5EF4-FFF2-40B4-BE49-F238E27FC236}">
                <a16:creationId xmlns:a16="http://schemas.microsoft.com/office/drawing/2014/main" id="{4B13DBA2-9437-4E8E-AEC6-6921106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02  仍然困惑的一点</a:t>
            </a:r>
          </a:p>
        </p:txBody>
      </p:sp>
      <p:sp>
        <p:nvSpPr>
          <p:cNvPr id="9" name="p20-i-2">
            <a:extLst xmlns:a="http://schemas.openxmlformats.org/drawingml/2006/main">
              <a:ext uri="{FF2B5EF4-FFF2-40B4-BE49-F238E27FC236}">
                <a16:creationId xmlns:a16="http://schemas.microsoft.com/office/drawing/2014/main" id="{1E816C64-FCE0-497D-A395-51086EE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03  检索是否可复盘</a:t>
            </a:r>
          </a:p>
        </p:txBody>
      </p:sp>
      <p:sp>
        <p:nvSpPr>
          <p:cNvPr id="10" name="p20-i-3">
            <a:extLst xmlns:a="http://schemas.openxmlformats.org/drawingml/2006/main">
              <a:ext uri="{FF2B5EF4-FFF2-40B4-BE49-F238E27FC236}">
                <a16:creationId xmlns:a16="http://schemas.microsoft.com/office/drawing/2014/main" id="{DF70A616-40C5-4912-864D-479D5BDAA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7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63746"/>
                </a:solidFill>
              </a:defRPr>
            </a:pPr>
            <a:r>
              <a:rPr sz="1575" b="1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04  当前 verified 条数</a:t>
            </a:r>
          </a:p>
        </p:txBody>
      </p:sp>
      <p:sp>
        <p:nvSpPr>
          <p:cNvPr id="11" name="p20-i-4">
            <a:extLst xmlns:a="http://schemas.openxmlformats.org/drawingml/2006/main">
              <a:ext uri="{FF2B5EF4-FFF2-40B4-BE49-F238E27FC236}">
                <a16:creationId xmlns:a16="http://schemas.microsoft.com/office/drawing/2014/main" id="{B6714D77-4BFD-40E6-A8A5-4D4AAF5B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43400"/>
            <a:ext cx="4572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8161E"/>
                </a:solidFill>
              </a:defRPr>
            </a:pPr>
            <a:r>
              <a:rPr sz="157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05  第 4 课需补的案例</a:t>
            </a:r>
          </a:p>
        </p:txBody>
      </p:sp>
      <p:sp>
        <p:nvSpPr>
          <p:cNvPr id="12" name="p20-path-title">
            <a:extLst xmlns:a="http://schemas.openxmlformats.org/drawingml/2006/main">
              <a:ext uri="{FF2B5EF4-FFF2-40B4-BE49-F238E27FC236}">
                <a16:creationId xmlns:a16="http://schemas.microsoft.com/office/drawing/2014/main" id="{FE6F2B45-BDDE-44A6-84F3-BBB22D8C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668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C8161E"/>
                </a:solidFill>
              </a:defRPr>
            </a:pPr>
            <a:r>
              <a:rPr sz="20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接下来</a:t>
            </a:r>
          </a:p>
        </p:txBody>
      </p:sp>
      <p:sp>
        <p:nvSpPr>
          <p:cNvPr id="13" name="p20-p-0">
            <a:extLst xmlns:a="http://schemas.openxmlformats.org/drawingml/2006/main">
              <a:ext uri="{FF2B5EF4-FFF2-40B4-BE49-F238E27FC236}">
                <a16:creationId xmlns:a16="http://schemas.microsoft.com/office/drawing/2014/main" id="{31AC2DC2-2916-4F9E-9315-95C3B06C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候选文献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今天</a:t>
            </a:r>
          </a:p>
        </p:txBody>
      </p:sp>
      <p:sp>
        <p:nvSpPr>
          <p:cNvPr id="14" name="p20-down-0">
            <a:extLst xmlns:a="http://schemas.openxmlformats.org/drawingml/2006/main">
              <a:ext uri="{FF2B5EF4-FFF2-40B4-BE49-F238E27FC236}">
                <a16:creationId xmlns:a16="http://schemas.microsoft.com/office/drawing/2014/main" id="{81A7E2A8-CD04-4CC6-B1F5-E5FE8062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717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5" name="p20-p-1">
            <a:extLst xmlns:a="http://schemas.openxmlformats.org/drawingml/2006/main">
              <a:ext uri="{FF2B5EF4-FFF2-40B4-BE49-F238E27FC236}">
                <a16:creationId xmlns:a16="http://schemas.microsoft.com/office/drawing/2014/main" id="{02928590-9F2D-4E74-A479-2B6050978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F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第 4 课精读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18354E"/>
                </a:solidFill>
              </a:defRPr>
            </a:pPr>
            <a:r>
              <a:rPr sz="1725" b="1">
                <a:solidFill>
                  <a:srgbClr val="18354E"/>
                </a:solidFill>
                <a:latin typeface="Microsoft YaHei"/>
                <a:ea typeface="Microsoft YaHei"/>
                <a:cs typeface="Microsoft YaHei"/>
              </a:rPr>
              <a:t>下一步</a:t>
            </a:r>
          </a:p>
        </p:txBody>
      </p:sp>
      <p:sp>
        <p:nvSpPr>
          <p:cNvPr id="16" name="p20-down-1">
            <a:extLst xmlns:a="http://schemas.openxmlformats.org/drawingml/2006/main">
              <a:ext uri="{FF2B5EF4-FFF2-40B4-BE49-F238E27FC236}">
                <a16:creationId xmlns:a16="http://schemas.microsoft.com/office/drawing/2014/main" id="{BB7D4C56-7D28-4D35-95BC-3A98FF6E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38550"/>
            <a:ext cx="68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8161E"/>
                </a:solidFill>
              </a:defRPr>
            </a:pPr>
            <a:r>
              <a:rPr sz="1875" b="1">
                <a:solidFill>
                  <a:srgbClr val="C8161E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7" name="p20-p-2">
            <a:extLst xmlns:a="http://schemas.openxmlformats.org/drawingml/2006/main">
              <a:ext uri="{FF2B5EF4-FFF2-40B4-BE49-F238E27FC236}">
                <a16:creationId xmlns:a16="http://schemas.microsoft.com/office/drawing/2014/main" id="{27129D3B-7CE5-473E-98FB-8D95D938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3810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9EA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第 6 课问题门</a:t>
            </a:r>
          </a:p>
          <a:p xmlns:a="http://schemas.openxmlformats.org/drawingml/2006/main">
            <a:pPr algn="ctr">
              <a:lnSpc>
                <a:spcPct val="110000"/>
              </a:lnSpc>
              <a:buNone/>
              <a:defRPr sz="1725" b="1">
                <a:solidFill>
                  <a:srgbClr val="C8161E"/>
                </a:solidFill>
              </a:defRPr>
            </a:pPr>
            <a:r>
              <a:rPr sz="1725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统一检查</a:t>
            </a:r>
          </a:p>
        </p:txBody>
      </p:sp>
      <p:sp>
        <p:nvSpPr>
          <p:cNvPr id="18" name="p20-reading">
            <a:extLst xmlns:a="http://schemas.openxmlformats.org/drawingml/2006/main">
              <a:ext uri="{FF2B5EF4-FFF2-40B4-BE49-F238E27FC236}">
                <a16:creationId xmlns:a16="http://schemas.microsoft.com/office/drawing/2014/main" id="{768255EB-0151-40C9-A683-D740C0F90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53000"/>
            <a:ext cx="542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8745A"/>
                </a:solidFill>
              </a:defRPr>
            </a:pPr>
            <a:r>
              <a:rPr sz="1500" b="1">
                <a:solidFill>
                  <a:srgbClr val="28745A"/>
                </a:solidFill>
                <a:latin typeface="Microsoft YaHei"/>
                <a:ea typeface="Microsoft YaHei"/>
                <a:cs typeface="Microsoft YaHei"/>
              </a:rPr>
              <a:t>核心阅读：Booth et al., Chapter 3（约 30 分钟）</a:t>
            </a:r>
          </a:p>
        </p:txBody>
      </p:sp>
      <p:sp>
        <p:nvSpPr>
          <p:cNvPr id="19" name="p20-bottom">
            <a:extLst xmlns:a="http://schemas.openxmlformats.org/drawingml/2006/main">
              <a:ext uri="{FF2B5EF4-FFF2-40B4-BE49-F238E27FC236}">
                <a16:creationId xmlns:a16="http://schemas.microsoft.com/office/drawing/2014/main" id="{5E9F175D-994E-406E-B794-2B3BEC70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864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38100" rIns="76200" bIns="3810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8161E"/>
                </a:solidFill>
              </a:defRPr>
            </a:pPr>
            <a:r>
              <a:rPr sz="1500" b="1">
                <a:solidFill>
                  <a:srgbClr val="C8161E"/>
                </a:solidFill>
                <a:latin typeface="Microsoft YaHei"/>
                <a:ea typeface="Microsoft YaHei"/>
                <a:cs typeface="Microsoft YaHei"/>
              </a:rPr>
              <a:t>持续回写个人项目，不新增课后正式作业。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2026-08-07T15:15:27.8530000Z</dcterms:created>
  <dcterms:modified xsi:type="dcterms:W3CDTF">2026-08-07T15:15:27.8530000Z</dcterms:modified>
</coreProperties>
</file>