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x="12192000" cy="6858000"/>
  <p:notesSz cx="7102475" cy="10233025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xia Zhang" initials="WZ" lastIdx="1" clrIdx="0">
    <p:extLst>
      <p:ext uri="{19B8F6BF-5375-455C-9EA6-DF929625EA0E}">
        <p15:presenceInfo xmlns:p15="http://schemas.microsoft.com/office/powerpoint/2012/main" userId="dd4b013fb83bef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930C"/>
    <a:srgbClr val="25D9CA"/>
    <a:srgbClr val="0000CD"/>
    <a:srgbClr val="F9F9FB"/>
    <a:srgbClr val="DEEBFE"/>
    <a:srgbClr val="F7DC7F"/>
    <a:srgbClr val="0066FF"/>
    <a:srgbClr val="02FFFF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948" autoAdjust="0"/>
    <p:restoredTop sz="85578" autoAdjust="0"/>
  </p:normalViewPr>
  <p:slideViewPr>
    <p:cSldViewPr snapToGrid="0" showGuides="1">
      <p:cViewPr varScale="1">
        <p:scale>
          <a:sx n="106" d="100"/>
          <a:sy n="106" d="100"/>
        </p:scale>
        <p:origin x="216" y="376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6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604"/>
    </p:cViewPr>
  </p:sorterViewPr>
  <p:notesViewPr>
    <p:cSldViewPr snapToGrid="0" showGuides="1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tags" Target="tags/tag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512A60F-63B3-4D54-AA63-B159FADA9F31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8513A3C-D0C5-45C0-BD52-194E7639670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开场先给出课程名称、面向对象和试讲场景。这一页只负责建立课程身份，具体理念放到下一页展开。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这门课的核心定位是科研方法课。AI 在课程中不是目的，而是被纳入可验证、可复现、可追溯科研流程的手段。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为什么现在需要这门课，是因为学生已经在真实科研流程里使用 AI。问题不在于学生会不会用 AI，而在于他们是否知道如何验证 AI 输出、记录 AI 参与过程，并控制它不能越过科研判断边界。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这一页用四门国际课程做对标：Berkeley 提供理论深度和进阶路径参考，Johns Hopkins 提供渐进式能力培养参考，eCornell 提供模块化和降低门槛策略参考，MIT MAS.664 提供前瞻主题和项目制参考。本课程不是简单重复 Agent 工具训练，而是把这些能力纳入研究生科研链路，强调证据链、判断链、留痕链和伦理披露。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这门课的组织原则不是工具清单，而是科研动作。大约七到八成内容是通用科研工作流，二到三成是机器学习实验自动化和 Research Agent 实践。每一个工具都必须回答它服务哪个科研动作。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课程的主线是八阶段研究链路，从问题定义开始，到第一性原理、机制假设、外部输入摄取、证据整理、研究判断、原型验证，最后回写与表达。AI 可以参与每个阶段，但关键研究判断仍然由人负责。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这一页是试讲片段。我会用 Transformer 经典论文做三分钟微型课堂，但不讲模型细节，而是拆科研链路。学生要学习的不是总结论文，而是抽取问题、假设、证据、判断和留痕材料。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三十二学时会组织成六个模块。所有模块都服务同一个贯穿项目，而不是每周做孤立练习。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这门课的先修要求是合理但不拔高的。课程资源优先使用学校已部署、开源、国内可用或课程统一配置的模型资源，厂商免费 token 或教育计划只作为补充。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考核也围绕科研闭环，而不是围绕用了多少 AI 工具。每一项都有可检查提交物，包括问题定义、研究计划、证据地图、实验规格、可运行原型、评价报告、AI 使用记录、科研伦理与合规说明和论文式短文。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为了防止项目最后变成一份看似完整但不可验证的报告，课程设置四个研究门。每个门都要求留下可审查材料，让 AI 参与过程可复盘、可追责。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这一页需要替换为主讲人的真实经历。我建议按三条证据组织：科研方法积累、AI 与 Agent 实践、课程转化能力。这里宁可留待补充，也不虚构履历。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学生学完这门课，应该得到一个可继续发展的研究雏形。这些产出可以继续服务开题准备、组会汇报、论文 idea 打磨、baseline 建设和后续科研项目启动。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课程不是禁止学生使用 AI，而是要求 AI 参与过程可审查、可复盘、可问责。AI 使用记录、工具权限记录、实验留痕、研究判断留痕和伦理边界都要留下证据。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最后回到课程价值。这门课不是教学生把研究外包给 AI，而是教学生把 AI 纳入可验证、可复现、可追溯的科研流程。最终目标是培养能在 AI 时代更可靠地做研究的研究生。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7ABA8D-3632-4FB6-8561-0367E4880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F70B8EC-E67C-4355-9367-9F32C48344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585BA52-95CD-854D-A470-CE76748E806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/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/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66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5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1584000" y="1818000"/>
            <a:ext cx="9036000" cy="1854000"/>
          </a:xfrm>
          <a:prstGeom prst="rect">
            <a:avLst/>
          </a:prstGeom>
          <a:solidFill>
            <a:srgbClr val="C6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54000" y="1998000"/>
            <a:ext cx="8496000" cy="413999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4000" y="2484000"/>
            <a:ext cx="8496000" cy="259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000" y="2826000"/>
            <a:ext cx="8496000" cy="259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主讲人：待补充 · 上海交通大学人工智能研究院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4000" y="3160800"/>
            <a:ext cx="8496000" cy="208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开课评审试讲 · 20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课程简介与设计理念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用 AI 增强科研全过程，而不是用 AI 替代科研判断。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530000"/>
            <a:ext cx="3456000" cy="2106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8000" y="1699200"/>
            <a:ext cx="403200" cy="4032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804031"/>
            <a:ext cx="403200" cy="169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200" y="1735200"/>
            <a:ext cx="2646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160000"/>
            <a:ext cx="2987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430000"/>
            <a:ext cx="2987999" cy="594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面向 CS/AI 研究生</a:t>
            </a:r>
          </a:p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2 学分 · 32 学时</a:t>
            </a:r>
          </a:p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专业选修课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6000" y="1530000"/>
            <a:ext cx="3456000" cy="210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28000" y="1699200"/>
            <a:ext cx="403200" cy="4032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8000" y="1804031"/>
            <a:ext cx="403200" cy="169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1200" y="1735200"/>
            <a:ext cx="2646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核心理念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0000" y="2160000"/>
            <a:ext cx="2987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0000" y="2430000"/>
            <a:ext cx="2987999" cy="594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验证 AI 输出</a:t>
            </a:r>
          </a:p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记录 AI 参与</a:t>
            </a:r>
          </a:p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控制科研边界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000" y="1530000"/>
            <a:ext cx="3456000" cy="2106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08000" y="1699200"/>
            <a:ext cx="403200" cy="4032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8000" y="1804031"/>
            <a:ext cx="403200" cy="169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1200" y="1735200"/>
            <a:ext cx="2646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培养目标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0000" y="2160000"/>
            <a:ext cx="2987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000" y="2430000"/>
            <a:ext cx="2987999" cy="594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形成可验证、可复现</a:t>
            </a:r>
          </a:p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可追溯的科研流程</a:t>
            </a:r>
          </a:p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更可靠地做研究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000" y="4086000"/>
            <a:ext cx="11016000" cy="468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000" y="4183199"/>
            <a:ext cx="10692000" cy="1656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课程训练学生把 AI 纳入科研流程，而不是把科研判断外包给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AI 正在改变研究生的科研工作方式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学生已经自然使用 AI，但未必知道如何验证、记录和控制 AI。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58000"/>
            <a:ext cx="3456000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537199"/>
            <a:ext cx="327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文献检索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810799"/>
            <a:ext cx="3276000" cy="424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从关键词扩展到证据筛选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000" y="1458000"/>
            <a:ext cx="3456000" cy="827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6000" y="1537199"/>
            <a:ext cx="327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论文阅读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000" y="1810799"/>
            <a:ext cx="3276000" cy="424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贡献、证据、局限结构化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000" y="1458000"/>
            <a:ext cx="3456000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6000" y="1537199"/>
            <a:ext cx="327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000" y="1810799"/>
            <a:ext cx="3276000" cy="424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辅助实现，但不能污染实验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000" y="2574000"/>
            <a:ext cx="3456000" cy="827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653200"/>
            <a:ext cx="327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实验迭代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2926800"/>
            <a:ext cx="3276000" cy="424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队列、参数、失败归因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6000" y="2574000"/>
            <a:ext cx="3456000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6000" y="2653200"/>
            <a:ext cx="327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6000" y="2926800"/>
            <a:ext cx="3276000" cy="424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从结果到研究判断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000" y="2574000"/>
            <a:ext cx="3456000" cy="827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6000" y="2653200"/>
            <a:ext cx="327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论文写作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6000" y="2926800"/>
            <a:ext cx="3276000" cy="424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结论必须回到证据链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000" y="4031999"/>
            <a:ext cx="11016000" cy="774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4219200"/>
            <a:ext cx="10512000" cy="306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会用 AI 不等于会做研究，课程要补的是验证、记录和控制能力。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国际课程对标：本课补科研链路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已有课程证明 Agentic AI 已成体系；本课程借鉴其设计，但落点放在研究生科研方法训练。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386000"/>
            <a:ext cx="2592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400" y="1414800"/>
            <a:ext cx="2491200" cy="201599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3078000" y="1386000"/>
            <a:ext cx="1440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8400" y="1414800"/>
            <a:ext cx="1339200" cy="201599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18000" y="1386000"/>
            <a:ext cx="4392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400" y="1414800"/>
            <a:ext cx="4291200" cy="201599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0000" y="1386000"/>
            <a:ext cx="2592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0400" y="1414800"/>
            <a:ext cx="2491200" cy="201599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与本课程的关系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" y="1645200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400" y="1674000"/>
            <a:ext cx="24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CS294/194-196</a:t>
            </a:r>
          </a:p>
          <a:p>
            <a:pPr algn="ctr">
              <a:lnSpc>
                <a:spcPct val="114000"/>
              </a:lnSpc>
            </a:pPr>
            <a:r>
              <a:rPr sz="126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LLM 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8000" y="1645200"/>
            <a:ext cx="1440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8400" y="1674000"/>
            <a:ext cx="1339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UC Berkeley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8000" y="1645200"/>
            <a:ext cx="43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8400" y="1674000"/>
            <a:ext cx="42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2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MOOC；25,000+ 学习者；12 讲覆盖推理、规划、代码、多代理、科学发现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0000" y="1645200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0400" y="1674000"/>
            <a:ext cx="24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理论深度参考；</a:t>
            </a:r>
          </a:p>
          <a:p>
            <a:pPr algn="l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进阶路径设计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000" y="2120400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400" y="2149200"/>
            <a:ext cx="24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  <a:p>
            <a:pPr algn="ctr">
              <a:lnSpc>
                <a:spcPct val="114000"/>
              </a:lnSpc>
            </a:pPr>
            <a:r>
              <a:rPr sz="126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Certificate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78000" y="2120400"/>
            <a:ext cx="1440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28400" y="2149200"/>
            <a:ext cx="1339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Johns Hopkins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8000" y="2120400"/>
            <a:ext cx="43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400" y="2149200"/>
            <a:ext cx="42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2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16 周在线证书；Python→LLM→Agent→项目；感知-规划-学习-行动框架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0000" y="2120400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0400" y="2149200"/>
            <a:ext cx="24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渐进式设计参考；</a:t>
            </a:r>
          </a:p>
          <a:p>
            <a:pPr algn="l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能力框架互补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0" y="2595600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6400" y="2624400"/>
            <a:ext cx="24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  <a:p>
            <a:pPr algn="ctr">
              <a:lnSpc>
                <a:spcPct val="114000"/>
              </a:lnSpc>
            </a:pPr>
            <a:r>
              <a:rPr sz="126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78000" y="2595600"/>
            <a:ext cx="1440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8400" y="2624400"/>
            <a:ext cx="1339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eCornell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8000" y="2595600"/>
            <a:ext cx="43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68400" y="2624400"/>
            <a:ext cx="42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2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模块化证书；非开发者友好；深度使用 Claude Code 和 LangGraph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0000" y="2595600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0400" y="2624400"/>
            <a:ext cx="24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模块化设计参考；</a:t>
            </a:r>
          </a:p>
          <a:p>
            <a:pPr algn="l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降低门槛策略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" y="3070800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6400" y="3099600"/>
            <a:ext cx="24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MAS.664 AI Agents</a:t>
            </a:r>
          </a:p>
          <a:p>
            <a:pPr algn="ctr">
              <a:lnSpc>
                <a:spcPct val="114000"/>
              </a:lnSpc>
            </a:pPr>
            <a:r>
              <a:rPr sz="126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and Agentic Web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78000" y="3070800"/>
            <a:ext cx="1440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8400" y="3099600"/>
            <a:ext cx="1339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18000" y="3070800"/>
            <a:ext cx="43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8400" y="3099600"/>
            <a:ext cx="42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2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项目驱动；身份、信任、声誉、支付、评估、协调；Internet of Agents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10000" y="3070800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0400" y="3099600"/>
            <a:ext cx="2491200" cy="417600"/>
          </a:xfrm>
          <a:prstGeom prst="rect">
            <a:avLst/>
          </a:prstGeom>
          <a:noFill/>
        </p:spPr>
        <p:txBody>
          <a:bodyPr wrap="none" lIns="7200" rIns="7200" t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前瞻性主题参考；</a:t>
            </a:r>
          </a:p>
          <a:p>
            <a:pPr algn="l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项目制模式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000" y="3726000"/>
            <a:ext cx="11016000" cy="1872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对标后的课程定位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6000" y="3978000"/>
            <a:ext cx="11016000" cy="5940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6000" y="4104000"/>
            <a:ext cx="10476000" cy="1944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不是重复 Agent 工具训练，而是把 AI 纳入可审查、可追溯、负责任的科研链路。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AI 增强的科研闭环训练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课程按科研动作组织，而不是按工具清单组织。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58000"/>
            <a:ext cx="3401999" cy="2015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638000"/>
            <a:ext cx="3078000" cy="1872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课程内容比例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962000"/>
            <a:ext cx="30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2178000"/>
            <a:ext cx="3006000" cy="1026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通用科研工作流  70%-80%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自动化 / Agent  20%-30%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6000" y="1458000"/>
            <a:ext cx="3401999" cy="201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8000" y="1638000"/>
            <a:ext cx="3078000" cy="1872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核心原则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000" y="1962000"/>
            <a:ext cx="30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4000" y="2178000"/>
            <a:ext cx="3006000" cy="1026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工具服务科研动作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方法论主线优先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自动化作为强化模块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6000" y="1458000"/>
            <a:ext cx="3401999" cy="2015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000" y="1638000"/>
            <a:ext cx="3078000" cy="1872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000" y="1962000"/>
            <a:ext cx="30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4000" y="2178000"/>
            <a:ext cx="3006000" cy="1026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不是“Agent 自动做任务”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而是“AI 支撑科研链路”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4024800"/>
            <a:ext cx="1745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找证据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54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54000" y="4024800"/>
            <a:ext cx="1745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定问题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88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8000" y="4024800"/>
            <a:ext cx="1745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设假设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22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2000" y="4024800"/>
            <a:ext cx="1745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做实验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56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6000" y="4024800"/>
            <a:ext cx="1745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写论证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八阶段研究链路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 可以参与每个阶段，但不能替代关键判断。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" y="1512000"/>
            <a:ext cx="2520000" cy="2124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6000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1732680"/>
            <a:ext cx="378000" cy="158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4000" y="1648800"/>
            <a:ext cx="1800000" cy="18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定题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999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7999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999" y="2304000"/>
            <a:ext cx="1944000" cy="136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01 问题定义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999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999" y="2800800"/>
            <a:ext cx="1944000" cy="136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02 第一性原理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99" y="3294000"/>
            <a:ext cx="2124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看清问题边界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8800" y="2440800"/>
            <a:ext cx="2088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9199" y="1512000"/>
            <a:ext cx="2520000" cy="21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35199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5199" y="1732680"/>
            <a:ext cx="378000" cy="158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3199" y="1648800"/>
            <a:ext cx="1800000" cy="18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7200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07200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7200" y="2304000"/>
            <a:ext cx="1944000" cy="136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03 机制假设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7200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97200" y="2800800"/>
            <a:ext cx="1944000" cy="136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04 外部输入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7200" y="3294000"/>
            <a:ext cx="2124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形成可检验假设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57999" y="2440800"/>
            <a:ext cx="2088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8399" y="1512000"/>
            <a:ext cx="2520000" cy="2124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14400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4400" y="1732680"/>
            <a:ext cx="378000" cy="158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2399" y="1648800"/>
            <a:ext cx="1800000" cy="18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6399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86399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6399" y="2304000"/>
            <a:ext cx="1944000" cy="136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05 证据整理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6399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6399" y="2800800"/>
            <a:ext cx="1944000" cy="136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06 研究判断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6399" y="3294000"/>
            <a:ext cx="2124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把证据转成判断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7199" y="2440800"/>
            <a:ext cx="2088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7600" y="1512000"/>
            <a:ext cx="2520000" cy="21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093600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3600" y="1732680"/>
            <a:ext cx="378000" cy="158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1600" y="1648800"/>
            <a:ext cx="1800000" cy="18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65600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65600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55600" y="2304000"/>
            <a:ext cx="1944000" cy="136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07 原型验证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5600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55600" y="2800800"/>
            <a:ext cx="1944000" cy="136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08 回写表达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5600" y="3294000"/>
            <a:ext cx="2124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沉淀可追溯成果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000" y="3978000"/>
            <a:ext cx="11016000" cy="522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089600"/>
            <a:ext cx="10692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四个不可外包的判断：问题重要性 · 假设可检验性 · 实验公平性 · 结论证据性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Transformer 论文拆科研闭环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3 分钟微型试讲：不讲模型细节，而是拆问题、假设、证据、判断和留痕。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000" y="1494000"/>
            <a:ext cx="1962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80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000" y="1748160"/>
            <a:ext cx="396000" cy="16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4000" y="1656000"/>
            <a:ext cx="122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60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000" y="2304000"/>
            <a:ext cx="1638000" cy="45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必须依赖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循环 / 卷积？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3096000"/>
            <a:ext cx="1602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0000" y="2494800"/>
            <a:ext cx="1512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2800" y="1494000"/>
            <a:ext cx="1962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088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8800" y="1748160"/>
            <a:ext cx="396000" cy="16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4800" y="1656000"/>
            <a:ext cx="122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68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800" y="2304000"/>
            <a:ext cx="1638000" cy="45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注意力能建模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长距离依赖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800" y="3096000"/>
            <a:ext cx="1602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机制假设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0800" y="2494800"/>
            <a:ext cx="1512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3600" y="1494000"/>
            <a:ext cx="1962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796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9600" y="1748160"/>
            <a:ext cx="396000" cy="16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5600" y="1656000"/>
            <a:ext cx="122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876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5600" y="2304000"/>
            <a:ext cx="1638000" cy="45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翻译结果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训练效率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3600" y="3096000"/>
            <a:ext cx="1602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1600" y="2494800"/>
            <a:ext cx="1512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24400" y="1494000"/>
            <a:ext cx="1962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504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50400" y="1748160"/>
            <a:ext cx="396000" cy="16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6399" y="1656000"/>
            <a:ext cx="122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8399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86399" y="2304000"/>
            <a:ext cx="1638000" cy="45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结构假设被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证据支撑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4400" y="3096000"/>
            <a:ext cx="1602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判断记录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2400" y="2494800"/>
            <a:ext cx="1512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5200" y="1494000"/>
            <a:ext cx="1962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4212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1200" y="1748160"/>
            <a:ext cx="396000" cy="16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7200" y="1656000"/>
            <a:ext cx="122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292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57200" y="2304000"/>
            <a:ext cx="1638000" cy="45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解释性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成本 / 泛化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5200" y="3096000"/>
            <a:ext cx="1602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缺口清单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6000" y="4158000"/>
            <a:ext cx="11016000" cy="432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00" y="4240800"/>
            <a:ext cx="10728000" cy="187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学生不是总结论文，而是抽取证据链、判断链和留痕材料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32 学时如何组织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六个模块共同服务一个贯穿项目，避免每周孤立练习。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000" y="1530000"/>
            <a:ext cx="1674000" cy="190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8000" y="1655999"/>
            <a:ext cx="413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" y="1684800"/>
            <a:ext cx="990000" cy="151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1-2 周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0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000" y="2268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导论伦理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00" y="2646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研究工件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3200" y="2448000"/>
            <a:ext cx="1224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2800" y="1530000"/>
            <a:ext cx="1674000" cy="19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8800" y="1655999"/>
            <a:ext cx="413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800" y="1684800"/>
            <a:ext cx="990000" cy="151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3-5 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08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4800" y="2268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文献证据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4800" y="2646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研究空白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4000" y="2448000"/>
            <a:ext cx="1224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3600" y="1530000"/>
            <a:ext cx="1674000" cy="190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9600" y="1655999"/>
            <a:ext cx="413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600" y="1684800"/>
            <a:ext cx="990000" cy="151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6-7 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16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5600" y="2268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问题假设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5600" y="2646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4800" y="2448000"/>
            <a:ext cx="1224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44400" y="1530000"/>
            <a:ext cx="1674000" cy="19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0400" y="1655999"/>
            <a:ext cx="413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2400" y="1684800"/>
            <a:ext cx="990000" cy="151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8-9 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24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6399" y="2268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数据基线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6399" y="2646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可复现实验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5599" y="2448000"/>
            <a:ext cx="1224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55200" y="1530000"/>
            <a:ext cx="1674000" cy="190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1200" y="1655999"/>
            <a:ext cx="413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3200" y="1684800"/>
            <a:ext cx="990000" cy="151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10-13 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32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7200" y="2268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原型验证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7200" y="2646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实验自动化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6400" y="2448000"/>
            <a:ext cx="1224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66000" y="1530000"/>
            <a:ext cx="1674000" cy="19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92000" y="1655999"/>
            <a:ext cx="413999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4000" y="1684800"/>
            <a:ext cx="990000" cy="151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14-16 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640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8000" y="2268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8000" y="2646000"/>
            <a:ext cx="1350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论文表达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58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12000" y="3715200"/>
            <a:ext cx="1242000" cy="10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94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48000" y="3715200"/>
            <a:ext cx="1242000" cy="10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判断门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0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3999" y="3715200"/>
            <a:ext cx="1242000" cy="10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验证门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66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0000" y="3715200"/>
            <a:ext cx="1242000" cy="10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论证门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6000" y="4086000"/>
            <a:ext cx="11016000" cy="468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000" y="4183199"/>
            <a:ext cx="10620000" cy="1656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一条贯穿项目线：从选题方向到问题门、判断门、验证门、论证门逐步推进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基础要求与资源边界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课程训练的是方法，不把商业工具购买能力作为学习门槛。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58000"/>
            <a:ext cx="3401999" cy="225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000" y="1638000"/>
            <a:ext cx="3041999" cy="1872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学生需要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000" y="1972800"/>
            <a:ext cx="3041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2214000"/>
            <a:ext cx="2970000" cy="9179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Python / 机器学习基础</a:t>
            </a:r>
          </a:p>
          <a:p>
            <a:pPr algn="l">
              <a:lnSpc>
                <a:spcPct val="132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Git 与命令行</a:t>
            </a:r>
          </a:p>
          <a:p>
            <a:pPr algn="l">
              <a:lnSpc>
                <a:spcPct val="132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英文论文阅读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6000" y="1458000"/>
            <a:ext cx="3401999" cy="22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6000" y="1638000"/>
            <a:ext cx="3041999" cy="1872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学生不需要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000" y="1972800"/>
            <a:ext cx="3041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2000" y="2214000"/>
            <a:ext cx="2970000" cy="9179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本地 GPU</a:t>
            </a:r>
          </a:p>
          <a:p>
            <a:pPr algn="l">
              <a:lnSpc>
                <a:spcPct val="132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自费 API token</a:t>
            </a:r>
          </a:p>
          <a:p>
            <a:pPr algn="l">
              <a:lnSpc>
                <a:spcPct val="132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绑定商业工具账号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6000" y="1458000"/>
            <a:ext cx="3401999" cy="225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000" y="1638000"/>
            <a:ext cx="3041999" cy="1872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资源口径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000" y="1972800"/>
            <a:ext cx="3041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2000" y="2214000"/>
            <a:ext cx="2970000" cy="9179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学校已部署资源</a:t>
            </a:r>
          </a:p>
          <a:p>
            <a:pPr algn="l">
              <a:lnSpc>
                <a:spcPct val="132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开源或国内可用资源</a:t>
            </a:r>
          </a:p>
          <a:p>
            <a:pPr algn="l">
              <a:lnSpc>
                <a:spcPct val="132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免费 token 仅作补充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" y="4104000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" y="4197600"/>
            <a:ext cx="10728000" cy="18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课程可持续运行的前提：资源可替代、权限可控、费用不转嫁给学生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课程如何评价学生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评分不是“用了多少 AI 工具”，而是是否形成可验证、可复现、可追溯的科研闭环。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530000"/>
            <a:ext cx="2358000" cy="72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609200"/>
            <a:ext cx="2178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882800"/>
            <a:ext cx="2178000" cy="316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文献与问题定位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0000" y="1530000"/>
            <a:ext cx="2358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0" y="1609200"/>
            <a:ext cx="2178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0" y="1882800"/>
            <a:ext cx="2178000" cy="316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实验设计与可复现性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000" y="2466000"/>
            <a:ext cx="2358000" cy="72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2545200"/>
            <a:ext cx="2178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818800"/>
            <a:ext cx="2178000" cy="316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原型与自动化实践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0000" y="2466000"/>
            <a:ext cx="2358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0" y="2545200"/>
            <a:ext cx="2178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0" y="2818800"/>
            <a:ext cx="2178000" cy="316799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表达、伦理与复盘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2000" y="1494000"/>
            <a:ext cx="489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最终提交物：每项都可检查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2000" y="1854000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1199" y="1918800"/>
            <a:ext cx="2088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7999" y="1854000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7199" y="1918800"/>
            <a:ext cx="2088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2000" y="2340000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1199" y="2404800"/>
            <a:ext cx="2088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77999" y="2340000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7199" y="2404800"/>
            <a:ext cx="2088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实验规格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12000" y="2826000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1199" y="2890800"/>
            <a:ext cx="2088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可运行原型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77999" y="2826000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57199" y="2890800"/>
            <a:ext cx="2088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12000" y="3312000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1199" y="3376800"/>
            <a:ext cx="2088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77999" y="3312000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7199" y="3376800"/>
            <a:ext cx="2088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伦理合规说明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6000" y="4121999"/>
            <a:ext cx="11016000" cy="413999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00" y="4204800"/>
            <a:ext cx="10728000" cy="151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每个评分项都有产物支撑，降低“AI 课不好考核”的担忧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研究门与全过程留痕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研究门不是形式化检查，而是防止最后交一份“看似完整但不可验证”的报告。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512000"/>
            <a:ext cx="2502000" cy="217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8000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000" y="1784448"/>
            <a:ext cx="424800" cy="1784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2000" y="1699200"/>
            <a:ext cx="1692000" cy="1656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0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000" y="2394000"/>
            <a:ext cx="2034000" cy="187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000" y="2790000"/>
            <a:ext cx="2106000" cy="413999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非例 / 可证伪命题</a:t>
            </a:r>
          </a:p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证据地图初版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200" y="2563200"/>
            <a:ext cx="1512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200" y="1512000"/>
            <a:ext cx="2502000" cy="21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9199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9199" y="1784448"/>
            <a:ext cx="424800" cy="1784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3199" y="1699200"/>
            <a:ext cx="1692000" cy="1656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判断门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712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1200" y="2394000"/>
            <a:ext cx="2034000" cy="187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5200" y="2790000"/>
            <a:ext cx="2106000" cy="413999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baseline / 实验规格</a:t>
            </a:r>
          </a:p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取舍理由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2400" y="2563200"/>
            <a:ext cx="1512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8400" y="1512000"/>
            <a:ext cx="2502000" cy="217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60400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0400" y="1784448"/>
            <a:ext cx="424800" cy="1784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4400" y="1699200"/>
            <a:ext cx="1692000" cy="1656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验证门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24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2400" y="2394000"/>
            <a:ext cx="2034000" cy="187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原型验证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6400" y="2790000"/>
            <a:ext cx="2106000" cy="413999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实验日志 / 失败分析</a:t>
            </a:r>
          </a:p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3600" y="2563200"/>
            <a:ext cx="1512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9600" y="1512000"/>
            <a:ext cx="2502000" cy="21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21600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1600" y="1784448"/>
            <a:ext cx="424800" cy="1784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600" y="1699200"/>
            <a:ext cx="1692000" cy="1656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论证门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36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3600" y="2394000"/>
            <a:ext cx="2034000" cy="187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结论表达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7600" y="2790000"/>
            <a:ext cx="2106000" cy="413999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追溯链 / AI 披露</a:t>
            </a:r>
          </a:p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伦理说明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6000" y="4121999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00" y="4219200"/>
            <a:ext cx="10728000" cy="1656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每个门都要求留下可审查材料，让 AI 参与过程可复盘、可追责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主讲人的适配性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保留真实经历待填槽位；不虚构个人履历，不使用空泛形容词。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40000"/>
            <a:ext cx="3456000" cy="2484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519200"/>
            <a:ext cx="327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科研方法积累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792800"/>
            <a:ext cx="3276000" cy="20808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问题定义、文献分析、实验设计、论文表达。</a:t>
            </a:r>
          </a:p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待填真实经历：</a:t>
            </a:r>
          </a:p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研究方向 / 论文 / 项目 / 指导经历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000" y="1440000"/>
            <a:ext cx="3456000" cy="248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6000" y="1519200"/>
            <a:ext cx="327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与 Agent 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000" y="1792800"/>
            <a:ext cx="3276000" cy="20808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 辅助研究、代码生成、实验迭代、Research Agent 工作流。</a:t>
            </a:r>
          </a:p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待填真实经历：</a:t>
            </a:r>
          </a:p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工具链 / Agent 实践 / 自动化实验案例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000" y="1440000"/>
            <a:ext cx="3456000" cy="2484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6000" y="1519200"/>
            <a:ext cx="3276000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课程转化能力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000" y="1792800"/>
            <a:ext cx="3276000" cy="20808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把个人经验转化为模板、作业、门条件和可评分产出。</a:t>
            </a:r>
          </a:p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待填真实经历：</a:t>
            </a:r>
          </a:p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 / 讲座 / 训练营 / 学生指导经历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" y="4158000"/>
            <a:ext cx="11016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" y="4219200"/>
            <a:ext cx="10728000" cy="151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要证明的不是“我熟悉 AI”，而是能把 AI 实践转化为可学习、可操作、可评价的课程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课程产出：研究雏形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学生拿走的不是工具清单，而是一套能延续到自己科研工作的材料和习惯。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4000" y="1872000"/>
            <a:ext cx="3420000" cy="1188000"/>
          </a:xfrm>
          <a:prstGeom prst="roundRect">
            <a:avLst/>
          </a:prstGeom>
          <a:solidFill>
            <a:srgbClr val="C61223"/>
          </a:solidFill>
          <a:ln>
            <a:solidFill>
              <a:srgbClr val="C6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0" y="2095200"/>
            <a:ext cx="2988000" cy="19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可延续的研究雏形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430000"/>
            <a:ext cx="2916000" cy="216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 · 证据 · 实验 · 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2951999" cy="99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609200"/>
            <a:ext cx="2771999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882800"/>
            <a:ext cx="2771999" cy="5868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8000" y="1925999"/>
            <a:ext cx="270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" y="2951999"/>
            <a:ext cx="2951999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3031200"/>
            <a:ext cx="2771999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304800"/>
            <a:ext cx="2771999" cy="5868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文献与空白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8000" y="3347999"/>
            <a:ext cx="270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8000" y="1530000"/>
            <a:ext cx="2951999" cy="99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8000" y="1609200"/>
            <a:ext cx="2771999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实验规格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8000" y="1882800"/>
            <a:ext cx="2771999" cy="5868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baseline / 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000" y="1925999"/>
            <a:ext cx="270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8000" y="2951999"/>
            <a:ext cx="2951999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8000" y="3031200"/>
            <a:ext cx="2771999" cy="198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8000" y="3304800"/>
            <a:ext cx="2771999" cy="5868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论文式短文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000" y="3347999"/>
            <a:ext cx="270000" cy="162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34000" y="3330000"/>
            <a:ext cx="1925999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6000" y="3394800"/>
            <a:ext cx="1782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0000" y="3330000"/>
            <a:ext cx="1925999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2000" y="3394800"/>
            <a:ext cx="1782000" cy="115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伦理合规说明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000" y="4068000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00" y="4158000"/>
            <a:ext cx="10728000" cy="180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目标不是“泛化提升科研能力”，而是产出可延续的研究材料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科研过程必须可审查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rIns="28800" t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课程不是禁止学生用 AI，而是要求 AI 参与过程留下证据和边界。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8000" y="1530000"/>
            <a:ext cx="2538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000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809000"/>
            <a:ext cx="450000" cy="189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8000" y="1692000"/>
            <a:ext cx="167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输入可追溯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2268000"/>
            <a:ext cx="2141999" cy="208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999" y="2844000"/>
            <a:ext cx="1998000" cy="486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提示词 / 来源 / 工具</a:t>
            </a:r>
          </a:p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人工核验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4800" y="2473200"/>
            <a:ext cx="14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4000" y="1530000"/>
            <a:ext cx="2538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56000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000" y="1809000"/>
            <a:ext cx="450000" cy="189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000" y="1692000"/>
            <a:ext cx="167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权限可说明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000" y="2268000"/>
            <a:ext cx="2141999" cy="208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工具权限记录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4000" y="2844000"/>
            <a:ext cx="1998000" cy="486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数据源 / 读写范围</a:t>
            </a:r>
          </a:p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外部服务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0799" y="2473200"/>
            <a:ext cx="14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0000" y="1530000"/>
            <a:ext cx="2538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92000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2000" y="1809000"/>
            <a:ext cx="450000" cy="189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0000" y="1692000"/>
            <a:ext cx="167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实验可复现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8000" y="2268000"/>
            <a:ext cx="2141999" cy="208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实验留痕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6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000" y="2844000"/>
            <a:ext cx="1998000" cy="486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 ID / 配置</a:t>
            </a:r>
          </a:p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代码 / 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6800" y="2473200"/>
            <a:ext cx="14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66000" y="1530000"/>
            <a:ext cx="2538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27999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27999" y="1809000"/>
            <a:ext cx="450000" cy="189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6000" y="1692000"/>
            <a:ext cx="1674000" cy="172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判断可问责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4000" y="2268000"/>
            <a:ext cx="2141999" cy="208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研究判断留痕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72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36000" y="2844000"/>
            <a:ext cx="1998000" cy="486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证据地图 / 判断记录</a:t>
            </a:r>
          </a:p>
          <a:p>
            <a:pPr algn="ctr">
              <a:lnSpc>
                <a:spcPct val="128000"/>
              </a:lnSpc>
            </a:pPr>
            <a:r>
              <a:rPr sz="14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50000" y="3960000"/>
            <a:ext cx="5796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1999" y="4057200"/>
            <a:ext cx="5472000" cy="1512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伦理边界：数据 · 隐私 · 许可 · 署名 · AI 使用披露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6000" y="4680000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000" y="4795200"/>
            <a:ext cx="10728000" cy="1656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不绑定单一商业工具 · 不要求学生自费购买 token · 免费 token 或教育计划只作为补充资源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170000"/>
            <a:ext cx="10008000" cy="2808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638000"/>
            <a:ext cx="9288000" cy="216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0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2340000"/>
            <a:ext cx="9288000" cy="558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培养能在 AI 时代更可靠地做研究的研究生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3096000"/>
            <a:ext cx="8424000" cy="413999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把 AI 纳入可验证、可复现、可追溯的科研流程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518000"/>
            <a:ext cx="12193200" cy="1565999"/>
          </a:xfrm>
          <a:prstGeom prst="rect">
            <a:avLst/>
          </a:prstGeom>
          <a:solidFill>
            <a:srgbClr val="C6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0" y="4986000"/>
            <a:ext cx="9288000" cy="324000"/>
          </a:xfrm>
          <a:prstGeom prst="rect">
            <a:avLst/>
          </a:prstGeom>
          <a:noFill/>
        </p:spPr>
        <p:txBody>
          <a:bodyPr wrap="none" lIns="28800" rIns="28800" t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谢谢批评指正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52387</TotalTime>
  <Words>11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Yaohui Jin</cp:lastModifiedBy>
  <cp:revision>2632</cp:revision>
  <dcterms:created xsi:type="dcterms:W3CDTF">2019-01-23T14:14:04Z</dcterms:created>
  <dcterms:modified xsi:type="dcterms:W3CDTF">2026-06-14T03:29:15Z</dcterms:modified>
</cp:coreProperties>
</file>