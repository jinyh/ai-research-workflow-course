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97b044017e4bc8" /><Relationship Type="http://schemas.openxmlformats.org/officeDocument/2006/relationships/extended-properties" Target="/docProps/app.xml" Id="R4bacf5a53b0d4382" /><Relationship Type="http://schemas.openxmlformats.org/officeDocument/2006/relationships/officeDocument" Target="/ppt/presentation.xml" Id="Re60349d0039e4c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04424316a3438a"/>
  </p:sldMasterIdLst>
  <p:notesMasterIdLst>
    <p:notesMasterId xmlns:r="http://schemas.openxmlformats.org/officeDocument/2006/relationships" r:id="R6d3f600edcf04a61"/>
  </p:notesMasterIdLst>
  <p:sldIdLst>
    <p:sldId xmlns:r="http://schemas.openxmlformats.org/officeDocument/2006/relationships" id="256" r:id="Rb9ef200cc1de40f5"/>
    <p:sldId xmlns:r="http://schemas.openxmlformats.org/officeDocument/2006/relationships" id="257" r:id="R36d9120ab53344ed"/>
    <p:sldId xmlns:r="http://schemas.openxmlformats.org/officeDocument/2006/relationships" id="258" r:id="R073d9e87ce0a441e"/>
    <p:sldId xmlns:r="http://schemas.openxmlformats.org/officeDocument/2006/relationships" id="259" r:id="R93d818589f614c79"/>
    <p:sldId xmlns:r="http://schemas.openxmlformats.org/officeDocument/2006/relationships" id="260" r:id="R3e1196291cd748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ac04dd2fa24d6c" /><Relationship Type="http://schemas.openxmlformats.org/officeDocument/2006/relationships/slideMaster" Target="/ppt/slideMasters/slideMaster1.xml" Id="R9204424316a3438a" /><Relationship Type="http://schemas.openxmlformats.org/officeDocument/2006/relationships/notesMaster" Target="/ppt/notesMasters/notesMaster1.xml" Id="R6d3f600edcf04a61" /><Relationship Type="http://schemas.openxmlformats.org/officeDocument/2006/relationships/presProps" Target="/ppt/presProps.xml" Id="Rff440734476a46ac" /><Relationship Type="http://schemas.openxmlformats.org/officeDocument/2006/relationships/viewProps" Target="/ppt/viewProps.xml" Id="Ra15063d100a244aa" /><Relationship Type="http://schemas.openxmlformats.org/officeDocument/2006/relationships/tableStyles" Target="/ppt/tableStyles.xml" Id="R5d44bb05a9734684" /><Relationship Type="http://schemas.openxmlformats.org/officeDocument/2006/relationships/slide" Target="/ppt/slides/slide1.xml" Id="Rb9ef200cc1de40f5" /><Relationship Type="http://schemas.openxmlformats.org/officeDocument/2006/relationships/slide" Target="/ppt/slides/slide2.xml" Id="R36d9120ab53344ed" /><Relationship Type="http://schemas.openxmlformats.org/officeDocument/2006/relationships/slide" Target="/ppt/slides/slide3.xml" Id="R073d9e87ce0a441e" /><Relationship Type="http://schemas.openxmlformats.org/officeDocument/2006/relationships/slide" Target="/ppt/slides/slide4.xml" Id="R93d818589f614c79" /><Relationship Type="http://schemas.openxmlformats.org/officeDocument/2006/relationships/slide" Target="/ppt/slides/slide5.xml" Id="R3e1196291cd748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5b6783f5ef45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d3d8002ee14f00" /><Relationship Type="http://schemas.openxmlformats.org/officeDocument/2006/relationships/notesMaster" Target="/ppt/notesMasters/notesMaster1.xml" Id="Re31d8f6a1a09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9a21673c6431c" /><Relationship Type="http://schemas.openxmlformats.org/officeDocument/2006/relationships/notesMaster" Target="/ppt/notesMasters/notesMaster1.xml" Id="R7b466509cb0948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c177ad88224f5f" /><Relationship Type="http://schemas.openxmlformats.org/officeDocument/2006/relationships/notesMaster" Target="/ppt/notesMasters/notesMaster1.xml" Id="R89a78e4ad0694e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43a67b8ab849b7" /><Relationship Type="http://schemas.openxmlformats.org/officeDocument/2006/relationships/notesMaster" Target="/ppt/notesMasters/notesMaster1.xml" Id="Rc895eb29bd5c43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50370363a04e13" /><Relationship Type="http://schemas.openxmlformats.org/officeDocument/2006/relationships/notesMaster" Target="/ppt/notesMasters/notesMaster1.xml" Id="R473844c703ac46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https://www.nature.com/nature/volumes/624/issues/7992</a:t>
            </a:r>
          </a:p>
          <a:p xmlns:a="http://schemas.openxmlformats.org/drawingml/2006/main">
            <a:r>
              <a:t>- Cover image: Kim Albrecht / Artificial Worldviews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https://doi.org/10.1038/s41586-026-10265-5</a:t>
            </a:r>
          </a:p>
          <a:p xmlns:a="http://schemas.openxmlformats.org/drawingml/2006/main">
            <a:r>
              <a:t>- Lu et al. (2026), Figure 1,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https://doi.org/10.1038/s41586-023-06221-2, Figure 1</a:t>
            </a:r>
          </a:p>
          <a:p xmlns:a="http://schemas.openxmlformats.org/drawingml/2006/main">
            <a:r>
              <a:t>- https://doi.org/10.1038/s41586-024-07146-0, Figure 1</a:t>
            </a:r>
          </a:p>
          <a:p xmlns:a="http://schemas.openxmlformats.org/drawingml/2006/main">
            <a:r>
              <a:t>- https://doi.org/10.1038/s41586-026-10265-5, Figure 1, CC BY 4.0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https://doi.org/10.1038/s41586-025-09922-y</a:t>
            </a:r>
          </a:p>
          <a:p xmlns:a="http://schemas.openxmlformats.org/drawingml/2006/main">
            <a:r>
              <a:t>- Hao et al. (2026), Figures 2 and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https://doi.org/10.1038/s41586-024-07146-0</a:t>
            </a:r>
          </a:p>
          <a:p xmlns:a="http://schemas.openxmlformats.org/drawingml/2006/main">
            <a:r>
              <a:t>- Messeri &amp; Crockett (2024), Figure 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706ce1d934f1f" /><Relationship Type="http://schemas.openxmlformats.org/officeDocument/2006/relationships/image" Target="/ppt/media/image.png" Id="R40d957f0fc204aa8" /><Relationship Type="http://schemas.openxmlformats.org/officeDocument/2006/relationships/image" Target="/ppt/media/image2.png" Id="R9d5139565d884665" /><Relationship Type="http://schemas.openxmlformats.org/officeDocument/2006/relationships/image" Target="/ppt/media/image3.png" Id="Rab7b65ddd8f5432d" /><Relationship Type="http://schemas.openxmlformats.org/officeDocument/2006/relationships/image" Target="/ppt/media/image4.png" Id="R175ed9ad8d874d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87cc3c4dd4c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f1d04a28f4b6c" /><Relationship Type="http://schemas.openxmlformats.org/officeDocument/2006/relationships/image" Target="/ppt/media/image2.png" Id="R8900a4d5d4ce4902" /><Relationship Type="http://schemas.openxmlformats.org/officeDocument/2006/relationships/image" Target="/ppt/media/image5.png" Id="R2b2a87b8e38842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6eef489304dd3" /><Relationship Type="http://schemas.openxmlformats.org/officeDocument/2006/relationships/image" Target="/ppt/media/image.png" Id="R5ff50dcf406f4e25" /><Relationship Type="http://schemas.openxmlformats.org/officeDocument/2006/relationships/image" Target="/ppt/media/image3.png" Id="R69dc033c0ee24179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957f0fc204aa8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5139565d884665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7b65ddd8f5432d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F5F5BD59-AD18-4963-9F05-2C220FDF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FB692DE-3ECD-4283-B587-98FAEB6C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E84924D-72B6-4433-9520-07ED0BA8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836EC6CB-D2B4-4887-A8F9-D17396F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ed9ad8d874d32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00a4d5d4ce4902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a87b8e38842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f50dcf406f4e25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B514B6F6-D49F-430D-8272-06D89C76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3F523DAD-3A8E-4250-A1DC-2074706D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dc033c0ee24179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ec3945cb3a40db" /><Relationship Type="http://schemas.openxmlformats.org/officeDocument/2006/relationships/slideLayout" Target="/ppt/slideLayouts/slideLayout1.xml" Id="R739aedc989a84f1e" /><Relationship Type="http://schemas.openxmlformats.org/officeDocument/2006/relationships/slideLayout" Target="/ppt/slideLayouts/slideLayout2.xml" Id="R8f77f34cfcca4fb9" /><Relationship Type="http://schemas.openxmlformats.org/officeDocument/2006/relationships/slideLayout" Target="/ppt/slideLayouts/slideLayout3.xml" Id="R374ff94156d04704" /><Relationship Type="http://schemas.openxmlformats.org/officeDocument/2006/relationships/slideLayout" Target="/ppt/slideLayouts/slideLayout4.xml" Id="R0ed6d015eb524d3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9aedc989a84f1e"/>
    <p:sldLayoutId xmlns:r="http://schemas.openxmlformats.org/officeDocument/2006/relationships" id="2147483650" r:id="R8f77f34cfcca4fb9"/>
    <p:sldLayoutId xmlns:r="http://schemas.openxmlformats.org/officeDocument/2006/relationships" id="2147483651" r:id="R374ff94156d04704"/>
    <p:sldLayoutId xmlns:r="http://schemas.openxmlformats.org/officeDocument/2006/relationships" id="2147483652" r:id="R0ed6d015eb524d3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0d2dea307449b" /><Relationship Type="http://schemas.openxmlformats.org/officeDocument/2006/relationships/image" Target="/ppt/media/image6.png" Id="R8721dc13abc2427b" /><Relationship Type="http://schemas.openxmlformats.org/officeDocument/2006/relationships/notesSlide" Target="/ppt/notesSlides/notesSlide1.xml" Id="R1650736ce48749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26b482e76b4db6" /><Relationship Type="http://schemas.openxmlformats.org/officeDocument/2006/relationships/image" Target="/ppt/media/image7.png" Id="R724eda4542f24895" /><Relationship Type="http://schemas.openxmlformats.org/officeDocument/2006/relationships/image" Target="/ppt/media/image8.png" Id="Rbc7fe3c50be44604" /><Relationship Type="http://schemas.openxmlformats.org/officeDocument/2006/relationships/notesSlide" Target="/ppt/notesSlides/notesSlide2.xml" Id="Ra5fda3654c794d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e94a4c00dd404d" /><Relationship Type="http://schemas.openxmlformats.org/officeDocument/2006/relationships/image" Target="/ppt/media/image9.png" Id="Rb98e22d34eb74175" /><Relationship Type="http://schemas.openxmlformats.org/officeDocument/2006/relationships/image" Target="/ppt/media/image10.png" Id="R2ce4ac1672c34c35" /><Relationship Type="http://schemas.openxmlformats.org/officeDocument/2006/relationships/image" Target="/ppt/media/image11.png" Id="R8eeee318971d4e38" /><Relationship Type="http://schemas.openxmlformats.org/officeDocument/2006/relationships/notesSlide" Target="/ppt/notesSlides/notesSlide3.xml" Id="R46937b8a46eb40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8c3eea253d4390" /><Relationship Type="http://schemas.openxmlformats.org/officeDocument/2006/relationships/image" Target="/ppt/media/image12.png" Id="R261a9a099ffd49db" /><Relationship Type="http://schemas.openxmlformats.org/officeDocument/2006/relationships/image" Target="/ppt/media/image13.png" Id="Re288ba4b30f24186" /><Relationship Type="http://schemas.openxmlformats.org/officeDocument/2006/relationships/notesSlide" Target="/ppt/notesSlides/notesSlide4.xml" Id="R0a6775fe84f7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5c27a7bd884736" /><Relationship Type="http://schemas.openxmlformats.org/officeDocument/2006/relationships/image" Target="/ppt/media/image14.png" Id="R50d89edc182c4350" /><Relationship Type="http://schemas.openxmlformats.org/officeDocument/2006/relationships/image" Target="/ppt/media/image15.png" Id="R4b8215f6ddaa4feb" /><Relationship Type="http://schemas.openxmlformats.org/officeDocument/2006/relationships/notesSlide" Target="/ppt/notesSlides/notesSlide5.xml" Id="Rba087b7cefe54e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F0E2F3-C2D8-4E86-AF14-E951E55A7066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838200" y="1714500"/>
            <a:ext cx="6191250" cy="7810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智能科研方法</a:t>
            </a:r>
          </a:p>
        </p:txBody>
      </p:sp>
      <p:sp>
        <p:nvSpPr>
          <p:cNvPr id="4" name="cover-kicker-rule">
            <a:extLst xmlns:a="http://schemas.openxmlformats.org/drawingml/2006/main">
              <a:ext uri="{FF2B5EF4-FFF2-40B4-BE49-F238E27FC236}">
                <a16:creationId xmlns:a16="http://schemas.microsoft.com/office/drawing/2014/main" id="{1B102797-BAB8-4929-8075-7936230B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90625"/>
            <a:ext cx="742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D025D71-11F8-4A02-A1EB-CB68CFEE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 1 课 · AI FOR RESEARCH</a:t>
            </a:r>
          </a:p>
        </p:txBody>
      </p:sp>
      <p:sp>
        <p:nvSpPr>
          <p:cNvPr id="6" name="cover-hook">
            <a:extLst xmlns:a="http://schemas.openxmlformats.org/drawingml/2006/main">
              <a:ext uri="{FF2B5EF4-FFF2-40B4-BE49-F238E27FC236}">
                <a16:creationId xmlns:a16="http://schemas.microsoft.com/office/drawing/2014/main" id="{6A7A4294-D3EF-4567-BC1E-D15078D2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619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5253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52536"/>
                </a:solidFill>
                <a:latin typeface="微软雅黑"/>
                <a:ea typeface="微软雅黑"/>
                <a:cs typeface="微软雅黑"/>
              </a:rPr>
              <a:t>当 Agent 能读代码、跑实验、写论文，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2100" b="1">
                <a:solidFill>
                  <a:srgbClr val="152536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52536"/>
                </a:solidFill>
                <a:latin typeface="微软雅黑"/>
                <a:ea typeface="微软雅黑"/>
                <a:cs typeface="微软雅黑"/>
              </a:rPr>
              <a:t>谁来定义问题、baseline 与停止条件？</a:t>
            </a:r>
          </a:p>
        </p:txBody>
      </p:sp>
      <p:sp>
        <p:nvSpPr>
          <p:cNvPr id="7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9C9793-97F0-4674-951F-B463EC0A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面向 CS/AI 研究生的研究工作流课程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FFEFA76E-E2D7-4E13-8CC6-5748B3DA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75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上海交通大学 · 研究生课程 · 2026</a:t>
            </a:r>
          </a:p>
        </p:txBody>
      </p:sp>
      <p:sp>
        <p:nvSpPr>
          <p:cNvPr id="9" name="cover-frame">
            <a:extLst xmlns:a="http://schemas.openxmlformats.org/drawingml/2006/main">
              <a:ext uri="{FF2B5EF4-FFF2-40B4-BE49-F238E27FC236}">
                <a16:creationId xmlns:a16="http://schemas.microsoft.com/office/drawing/2014/main" id="{FEEC3D60-2C4E-4879-A70E-DABE6B2C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76300"/>
            <a:ext cx="33909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1dc13abc2427b"/>
          <a:stretch xmlns:a="http://schemas.openxmlformats.org/drawingml/2006/main"/>
        </p:blipFill>
        <p:spPr>
          <a:xfrm xmlns:a="http://schemas.openxmlformats.org/drawingml/2006/main">
            <a:off x="8041124" y="990600"/>
            <a:ext cx="3158252" cy="4191000"/>
          </a:xfrm>
          <a:prstGeom xmlns:a="http://schemas.openxmlformats.org/drawingml/2006/main" prst="rect">
            <a:avLst/>
          </a:prstGeom>
        </p:spPr>
      </p:pic>
      <p:sp>
        <p:nvSpPr>
          <p:cNvPr id="11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50F4BCA8-D7E2-4A98-8A60-4B24B0A3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197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Nature · 21/28 Dec 2023</a:t>
            </a:r>
          </a:p>
          <a:p xmlns:a="http://schemas.openxmlformats.org/drawingml/2006/main">
            <a:pPr algn="ctr">
              <a:buNone/>
              <a:defRPr sz="97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Cover: Kim Albrecht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Scientist：ML 研究的可执行循环</a:t>
            </a:r>
          </a:p>
        </p:txBody>
      </p:sp>
      <p:sp>
        <p:nvSpPr>
          <p:cNvPr id="5" name="workflow-figure-frame">
            <a:extLst xmlns:a="http://schemas.openxmlformats.org/drawingml/2006/main">
              <a:ext uri="{FF2B5EF4-FFF2-40B4-BE49-F238E27FC236}">
                <a16:creationId xmlns:a16="http://schemas.microsoft.com/office/drawing/2014/main" id="{10F42124-C6F5-48B3-BCDF-094F205B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096250" cy="449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eda4542f24895"/>
          <a:stretch xmlns:a="http://schemas.openxmlformats.org/drawingml/2006/main"/>
        </p:blipFill>
        <p:spPr>
          <a:xfrm xmlns:a="http://schemas.openxmlformats.org/drawingml/2006/main">
            <a:off x="685800" y="1409129"/>
            <a:ext cx="7829550" cy="3601593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fe3c50be44604"/>
          <a:srcRect xmlns:a="http://schemas.openxmlformats.org/drawingml/2006/main" l="26935" t="0" r="269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15400" y="1009650"/>
            <a:ext cx="2724150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workflow-rail-kicker">
            <a:extLst xmlns:a="http://schemas.openxmlformats.org/drawingml/2006/main">
              <a:ext uri="{FF2B5EF4-FFF2-40B4-BE49-F238E27FC236}">
                <a16:creationId xmlns:a16="http://schemas.microsoft.com/office/drawing/2014/main" id="{8EB1201A-CF9F-4F57-BA82-21609EBE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14450"/>
            <a:ext cx="214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3B6B9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3B6B9"/>
                </a:solidFill>
                <a:latin typeface="微软雅黑"/>
                <a:ea typeface="微软雅黑"/>
                <a:cs typeface="微软雅黑"/>
              </a:rPr>
              <a:t>ML RESEARCH · 2026</a:t>
            </a:r>
          </a:p>
        </p:txBody>
      </p:sp>
      <p:sp>
        <p:nvSpPr>
          <p:cNvPr id="9" name="workflow-rail-title">
            <a:extLst xmlns:a="http://schemas.openxmlformats.org/drawingml/2006/main">
              <a:ext uri="{FF2B5EF4-FFF2-40B4-BE49-F238E27FC236}">
                <a16:creationId xmlns:a16="http://schemas.microsoft.com/office/drawing/2014/main" id="{38CC1A8E-FAA7-48D3-B53A-25A74DB6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62125"/>
            <a:ext cx="21431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Idea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Code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Experiment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Paper</a:t>
            </a:r>
          </a:p>
        </p:txBody>
      </p:sp>
      <p:sp>
        <p:nvSpPr>
          <p:cNvPr id="10" name="workflow-rail-conclusion">
            <a:extLst xmlns:a="http://schemas.openxmlformats.org/drawingml/2006/main">
              <a:ext uri="{FF2B5EF4-FFF2-40B4-BE49-F238E27FC236}">
                <a16:creationId xmlns:a16="http://schemas.microsoft.com/office/drawing/2014/main" id="{361971D1-CFAC-4BB5-B8E6-8944D9D1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71950"/>
            <a:ext cx="23717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rPr>
              <a:t>研究者必须定义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rPr>
              <a:t>问题 · baseline</a:t>
            </a:r>
          </a:p>
          <a:p xmlns:a="http://schemas.openxmlformats.org/drawingml/2006/main">
            <a:pPr algn="ctr">
              <a:lnSpc>
                <a:spcPct val="104000"/>
              </a:lnSpc>
              <a:buNone/>
              <a:defRPr sz="1800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rPr>
              <a:t>评价规则</a:t>
            </a:r>
          </a:p>
        </p:txBody>
      </p:sp>
      <p:sp>
        <p:nvSpPr>
          <p:cNvPr id="11" name="source-rule">
            <a:extLst xmlns:a="http://schemas.openxmlformats.org/drawingml/2006/main">
              <a:ext uri="{FF2B5EF4-FFF2-40B4-BE49-F238E27FC236}">
                <a16:creationId xmlns:a16="http://schemas.microsoft.com/office/drawing/2014/main" id="{6D348FB0-9FB2-41F2-85CE-E571918A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8AB4223-4986-4CD4-AB0C-8DE17F5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Lu et al., Nature 651, 914–919 (2026), Fig. 1 · CC BY 4.0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三篇 Nature 论文界定机会与边界</a:t>
            </a:r>
          </a:p>
        </p:txBody>
      </p:sp>
      <p:sp>
        <p:nvSpPr>
          <p:cNvPr id="5" name="timeline-panel-0">
            <a:extLst xmlns:a="http://schemas.openxmlformats.org/drawingml/2006/main">
              <a:ext uri="{FF2B5EF4-FFF2-40B4-BE49-F238E27FC236}">
                <a16:creationId xmlns:a16="http://schemas.microsoft.com/office/drawing/2014/main" id="{835E5488-655B-4A7C-82EF-A01B62F1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34671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6" name="timeline-year-band-0">
            <a:extLst xmlns:a="http://schemas.openxmlformats.org/drawingml/2006/main">
              <a:ext uri="{FF2B5EF4-FFF2-40B4-BE49-F238E27FC236}">
                <a16:creationId xmlns:a16="http://schemas.microsoft.com/office/drawing/2014/main" id="{737C1204-C89F-4207-BEA3-98E44C2E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imeline-year-0">
            <a:extLst xmlns:a="http://schemas.openxmlformats.org/drawingml/2006/main">
              <a:ext uri="{FF2B5EF4-FFF2-40B4-BE49-F238E27FC236}">
                <a16:creationId xmlns:a16="http://schemas.microsoft.com/office/drawing/2014/main" id="{9B0D0E03-92BA-4C09-8A89-09ED606E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Nature 620 · 2023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e22d34eb74175"/>
          <a:stretch xmlns:a="http://schemas.openxmlformats.org/drawingml/2006/main"/>
        </p:blipFill>
        <p:spPr>
          <a:xfrm xmlns:a="http://schemas.openxmlformats.org/drawingml/2006/main">
            <a:off x="1048988" y="1619250"/>
            <a:ext cx="2474024" cy="2076450"/>
          </a:xfrm>
          <a:prstGeom xmlns:a="http://schemas.openxmlformats.org/drawingml/2006/main" prst="rect">
            <a:avLst/>
          </a:prstGeom>
        </p:spPr>
      </p:pic>
      <p:sp>
        <p:nvSpPr>
          <p:cNvPr id="9" name="timeline-label-0">
            <a:extLst xmlns:a="http://schemas.openxmlformats.org/drawingml/2006/main">
              <a:ext uri="{FF2B5EF4-FFF2-40B4-BE49-F238E27FC236}">
                <a16:creationId xmlns:a16="http://schemas.microsoft.com/office/drawing/2014/main" id="{ADDA6204-63C1-40A0-8AA9-FB4382DA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308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Scientific discovery in the age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of artificial intelligence</a:t>
            </a:r>
          </a:p>
        </p:txBody>
      </p:sp>
      <p:sp>
        <p:nvSpPr>
          <p:cNvPr id="10" name="timeline-detail-0">
            <a:extLst xmlns:a="http://schemas.openxmlformats.org/drawingml/2006/main">
              <a:ext uri="{FF2B5EF4-FFF2-40B4-BE49-F238E27FC236}">
                <a16:creationId xmlns:a16="http://schemas.microsoft.com/office/drawing/2014/main" id="{C15E404E-2729-42F4-A13E-5A011BA6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AI 覆盖假设、实验、数据与解释</a:t>
            </a:r>
          </a:p>
        </p:txBody>
      </p:sp>
      <p:sp>
        <p:nvSpPr>
          <p:cNvPr id="11" name="timeline-panel-1">
            <a:extLst xmlns:a="http://schemas.openxmlformats.org/drawingml/2006/main">
              <a:ext uri="{FF2B5EF4-FFF2-40B4-BE49-F238E27FC236}">
                <a16:creationId xmlns:a16="http://schemas.microsoft.com/office/drawing/2014/main" id="{ECE63DCE-87CB-485A-90C8-2011AB8F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66800"/>
            <a:ext cx="34671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2" name="timeline-year-band-1">
            <a:extLst xmlns:a="http://schemas.openxmlformats.org/drawingml/2006/main">
              <a:ext uri="{FF2B5EF4-FFF2-40B4-BE49-F238E27FC236}">
                <a16:creationId xmlns:a16="http://schemas.microsoft.com/office/drawing/2014/main" id="{8E874709-5199-4A6C-99E8-5EA3478E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0668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imeline-year-1">
            <a:extLst xmlns:a="http://schemas.openxmlformats.org/drawingml/2006/main">
              <a:ext uri="{FF2B5EF4-FFF2-40B4-BE49-F238E27FC236}">
                <a16:creationId xmlns:a16="http://schemas.microsoft.com/office/drawing/2014/main" id="{8AA0BD34-B64F-414B-90D3-85BCACB2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123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Nature 627 · 2024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4ac1672c34c35"/>
          <a:srcRect xmlns:a="http://schemas.openxmlformats.org/drawingml/2006/main" l="0" t="29945" r="0" b="29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619250"/>
            <a:ext cx="3162300" cy="2076450"/>
          </a:xfrm>
          <a:prstGeom xmlns:a="http://schemas.openxmlformats.org/drawingml/2006/main" prst="rect">
            <a:avLst/>
          </a:prstGeom>
        </p:spPr>
      </p:pic>
      <p:sp>
        <p:nvSpPr>
          <p:cNvPr id="15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F47A6965-3EEE-4613-A219-1A5E3588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00475"/>
            <a:ext cx="308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Artificial intelligence and illusions of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understanding in scientific research</a:t>
            </a:r>
          </a:p>
        </p:txBody>
      </p:sp>
      <p:sp>
        <p:nvSpPr>
          <p:cNvPr id="16" name="timeline-detail-1">
            <a:extLst xmlns:a="http://schemas.openxmlformats.org/drawingml/2006/main">
              <a:ext uri="{FF2B5EF4-FFF2-40B4-BE49-F238E27FC236}">
                <a16:creationId xmlns:a16="http://schemas.microsoft.com/office/drawing/2014/main" id="{31EAF0FC-B896-436A-B1FE-C338FC9D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767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更多产出，也可能更少理解</a:t>
            </a:r>
          </a:p>
        </p:txBody>
      </p:sp>
      <p:sp>
        <p:nvSpPr>
          <p:cNvPr id="17" name="timeline-panel-2">
            <a:extLst xmlns:a="http://schemas.openxmlformats.org/drawingml/2006/main">
              <a:ext uri="{FF2B5EF4-FFF2-40B4-BE49-F238E27FC236}">
                <a16:creationId xmlns:a16="http://schemas.microsoft.com/office/drawing/2014/main" id="{63D6C20E-19D6-414F-80CA-68721AFA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3467100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8" name="timeline-year-band-2">
            <a:extLst xmlns:a="http://schemas.openxmlformats.org/drawingml/2006/main">
              <a:ext uri="{FF2B5EF4-FFF2-40B4-BE49-F238E27FC236}">
                <a16:creationId xmlns:a16="http://schemas.microsoft.com/office/drawing/2014/main" id="{30EBEFA1-57C0-4855-8FC7-808A8A7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066800"/>
            <a:ext cx="1638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imeline-year-2">
            <a:extLst xmlns:a="http://schemas.openxmlformats.org/drawingml/2006/main">
              <a:ext uri="{FF2B5EF4-FFF2-40B4-BE49-F238E27FC236}">
                <a16:creationId xmlns:a16="http://schemas.microsoft.com/office/drawing/2014/main" id="{59109578-6324-481F-8D9D-28E04BCE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12395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Nature 651 · 2026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ee318971d4e38"/>
          <a:srcRect xmlns:a="http://schemas.openxmlformats.org/drawingml/2006/main" l="20631" t="0" r="206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4850" y="1619250"/>
            <a:ext cx="3162300" cy="2076450"/>
          </a:xfrm>
          <a:prstGeom xmlns:a="http://schemas.openxmlformats.org/drawingml/2006/main" prst="rect">
            <a:avLst/>
          </a:prstGeom>
        </p:spPr>
      </p:pic>
      <p:sp>
        <p:nvSpPr>
          <p:cNvPr id="21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363F5542-FFF3-49CC-9D08-38509285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00475"/>
            <a:ext cx="308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Towards end-to-end automation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50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02A43"/>
                </a:solidFill>
                <a:latin typeface="微软雅黑"/>
                <a:ea typeface="微软雅黑"/>
                <a:cs typeface="微软雅黑"/>
              </a:rPr>
              <a:t>of AI research</a:t>
            </a:r>
          </a:p>
        </p:txBody>
      </p:sp>
      <p:sp>
        <p:nvSpPr>
          <p:cNvPr id="22" name="timeline-detail-2">
            <a:extLst xmlns:a="http://schemas.openxmlformats.org/drawingml/2006/main">
              <a:ext uri="{FF2B5EF4-FFF2-40B4-BE49-F238E27FC236}">
                <a16:creationId xmlns:a16="http://schemas.microsoft.com/office/drawing/2014/main" id="{82DC486F-199F-46A5-85B9-521A9FFF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76750"/>
            <a:ext cx="308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在 ML 研究中连接代码、实验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25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与写作</a:t>
            </a:r>
          </a:p>
        </p:txBody>
      </p:sp>
      <p:sp>
        <p:nvSpPr>
          <p:cNvPr id="23" name="source-rule">
            <a:extLst xmlns:a="http://schemas.openxmlformats.org/drawingml/2006/main">
              <a:ext uri="{FF2B5EF4-FFF2-40B4-BE49-F238E27FC236}">
                <a16:creationId xmlns:a16="http://schemas.microsoft.com/office/drawing/2014/main" id="{7D2D5AB8-79ED-426F-A0BD-BF0D06F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6D752DC-037F-43DC-9DB9-D3F8CE16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197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125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能力扩展 · 认知风险 · 适用范围：代码化的 ML 研究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使用与高产出、窄范围同时相关</a:t>
            </a:r>
          </a:p>
        </p:txBody>
      </p:sp>
      <p:sp>
        <p:nvSpPr>
          <p:cNvPr id="5" name="stats-left-kicker">
            <a:extLst xmlns:a="http://schemas.openxmlformats.org/drawingml/2006/main">
              <a:ext uri="{FF2B5EF4-FFF2-40B4-BE49-F238E27FC236}">
                <a16:creationId xmlns:a16="http://schemas.microsoft.com/office/drawing/2014/main" id="{E2CD5FA9-7C44-4CDA-8540-FAAFC9E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527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37A5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37A57"/>
                </a:solidFill>
                <a:latin typeface="微软雅黑"/>
                <a:ea typeface="微软雅黑"/>
                <a:cs typeface="微软雅黑"/>
              </a:rPr>
              <a:t>个人影响 ↑</a:t>
            </a:r>
          </a:p>
        </p:txBody>
      </p:sp>
      <p:sp>
        <p:nvSpPr>
          <p:cNvPr id="6" name="stats-right-kicker">
            <a:extLst xmlns:a="http://schemas.openxmlformats.org/drawingml/2006/main">
              <a:ext uri="{FF2B5EF4-FFF2-40B4-BE49-F238E27FC236}">
                <a16:creationId xmlns:a16="http://schemas.microsoft.com/office/drawing/2014/main" id="{9C7B9F4E-DE11-4F2C-9A3F-F6FD815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527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集体范围 ↓</a:t>
            </a:r>
          </a:p>
        </p:txBody>
      </p:sp>
      <p:sp>
        <p:nvSpPr>
          <p:cNvPr id="7" name="left-stat-0">
            <a:extLst xmlns:a="http://schemas.openxmlformats.org/drawingml/2006/main">
              <a:ext uri="{FF2B5EF4-FFF2-40B4-BE49-F238E27FC236}">
                <a16:creationId xmlns:a16="http://schemas.microsoft.com/office/drawing/2014/main" id="{90213EA0-2BAE-4D05-B885-13744D7B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37A5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37A57"/>
                </a:solidFill>
                <a:latin typeface="微软雅黑"/>
                <a:ea typeface="微软雅黑"/>
                <a:cs typeface="微软雅黑"/>
              </a:rPr>
              <a:t>3.02×</a:t>
            </a:r>
          </a:p>
        </p:txBody>
      </p:sp>
      <p:sp>
        <p:nvSpPr>
          <p:cNvPr id="8" name="left-stat-label-0">
            <a:extLst xmlns:a="http://schemas.openxmlformats.org/drawingml/2006/main">
              <a:ext uri="{FF2B5EF4-FFF2-40B4-BE49-F238E27FC236}">
                <a16:creationId xmlns:a16="http://schemas.microsoft.com/office/drawing/2014/main" id="{DE5BB4B9-47DC-443D-9ED8-2A6CC5AA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论文数量</a:t>
            </a:r>
          </a:p>
        </p:txBody>
      </p:sp>
      <p:sp>
        <p:nvSpPr>
          <p:cNvPr id="9" name="left-stat-1">
            <a:extLst xmlns:a="http://schemas.openxmlformats.org/drawingml/2006/main">
              <a:ext uri="{FF2B5EF4-FFF2-40B4-BE49-F238E27FC236}">
                <a16:creationId xmlns:a16="http://schemas.microsoft.com/office/drawing/2014/main" id="{9DDC6B07-70C5-4DAA-BEC3-D7D41F86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62500"/>
            <a:ext cx="161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237A57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237A57"/>
                </a:solidFill>
                <a:latin typeface="微软雅黑"/>
                <a:ea typeface="微软雅黑"/>
                <a:cs typeface="微软雅黑"/>
              </a:rPr>
              <a:t>4.84×</a:t>
            </a:r>
          </a:p>
        </p:txBody>
      </p:sp>
      <p:sp>
        <p:nvSpPr>
          <p:cNvPr id="10" name="left-stat-label-1">
            <a:extLst xmlns:a="http://schemas.openxmlformats.org/drawingml/2006/main">
              <a:ext uri="{FF2B5EF4-FFF2-40B4-BE49-F238E27FC236}">
                <a16:creationId xmlns:a16="http://schemas.microsoft.com/office/drawing/2014/main" id="{708CC198-1B23-4F91-9A51-D0B28127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2863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引用数量</a:t>
            </a:r>
          </a:p>
        </p:txBody>
      </p:sp>
      <p:sp>
        <p:nvSpPr>
          <p:cNvPr id="11" name="right-stat-0">
            <a:extLst xmlns:a="http://schemas.openxmlformats.org/drawingml/2006/main">
              <a:ext uri="{FF2B5EF4-FFF2-40B4-BE49-F238E27FC236}">
                <a16:creationId xmlns:a16="http://schemas.microsoft.com/office/drawing/2014/main" id="{ACA62156-C96D-449D-948E-6E122DF2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7625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−4.63%</a:t>
            </a:r>
          </a:p>
        </p:txBody>
      </p:sp>
      <p:sp>
        <p:nvSpPr>
          <p:cNvPr id="12" name="right-stat-label-0">
            <a:extLst xmlns:a="http://schemas.openxmlformats.org/drawingml/2006/main">
              <a:ext uri="{FF2B5EF4-FFF2-40B4-BE49-F238E27FC236}">
                <a16:creationId xmlns:a16="http://schemas.microsoft.com/office/drawing/2014/main" id="{EE9DA023-8ED9-4911-AE69-990A6F0F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286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研究主题范围</a:t>
            </a:r>
          </a:p>
        </p:txBody>
      </p:sp>
      <p:sp>
        <p:nvSpPr>
          <p:cNvPr id="13" name="right-stat-1">
            <a:extLst xmlns:a="http://schemas.openxmlformats.org/drawingml/2006/main">
              <a:ext uri="{FF2B5EF4-FFF2-40B4-BE49-F238E27FC236}">
                <a16:creationId xmlns:a16="http://schemas.microsoft.com/office/drawing/2014/main" id="{6CDA14A4-2E8B-4870-A82F-91A3A89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62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−22%</a:t>
            </a:r>
          </a:p>
        </p:txBody>
      </p:sp>
      <p:sp>
        <p:nvSpPr>
          <p:cNvPr id="14" name="right-stat-label-1">
            <a:extLst xmlns:a="http://schemas.openxmlformats.org/drawingml/2006/main">
              <a:ext uri="{FF2B5EF4-FFF2-40B4-BE49-F238E27FC236}">
                <a16:creationId xmlns:a16="http://schemas.microsoft.com/office/drawing/2014/main" id="{ED6A2C47-C4C6-4F44-A2C3-3F3CDECF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86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后续参与</a:t>
            </a:r>
          </a:p>
        </p:txBody>
      </p:sp>
      <p:sp>
        <p:nvSpPr>
          <p:cNvPr id="15" name="content-footer">
            <a:extLst xmlns:a="http://schemas.openxmlformats.org/drawingml/2006/main">
              <a:ext uri="{FF2B5EF4-FFF2-40B4-BE49-F238E27FC236}">
                <a16:creationId xmlns:a16="http://schemas.microsoft.com/office/drawing/2014/main" id="{34980CAB-88EF-4CC5-AA64-F06EC7FC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388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41.3M 篇论文｜文本模型识别 AI 使用｜观察性研究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Hao et al., Nature 651 (2026)｜相关不等于因果</a:t>
            </a:r>
          </a:p>
        </p:txBody>
      </p:sp>
      <p:sp>
        <p:nvSpPr>
          <p:cNvPr id="16" name="metric-left-frame">
            <a:extLst xmlns:a="http://schemas.openxmlformats.org/drawingml/2006/main">
              <a:ext uri="{FF2B5EF4-FFF2-40B4-BE49-F238E27FC236}">
                <a16:creationId xmlns:a16="http://schemas.microsoft.com/office/drawing/2014/main" id="{34482F80-96C5-43AF-94E4-F5121E15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5391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sp>
        <p:nvSpPr>
          <p:cNvPr id="17" name="metric-right-frame">
            <a:extLst xmlns:a="http://schemas.openxmlformats.org/drawingml/2006/main">
              <a:ext uri="{FF2B5EF4-FFF2-40B4-BE49-F238E27FC236}">
                <a16:creationId xmlns:a16="http://schemas.microsoft.com/office/drawing/2014/main" id="{DBE49075-0525-43CF-81DE-DEA01B05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990600"/>
            <a:ext cx="53911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a9a099ffd49db"/>
          <a:stretch xmlns:a="http://schemas.openxmlformats.org/drawingml/2006/main"/>
        </p:blipFill>
        <p:spPr>
          <a:xfrm xmlns:a="http://schemas.openxmlformats.org/drawingml/2006/main">
            <a:off x="952500" y="1123950"/>
            <a:ext cx="4514850" cy="300990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8ba4b30f24186"/>
          <a:stretch xmlns:a="http://schemas.openxmlformats.org/drawingml/2006/main"/>
        </p:blipFill>
        <p:spPr>
          <a:xfrm xmlns:a="http://schemas.openxmlformats.org/drawingml/2006/main">
            <a:off x="6929870" y="1123950"/>
            <a:ext cx="4104409" cy="3009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提速后，质量门由谁把守？</a:t>
            </a:r>
          </a:p>
        </p:txBody>
      </p:sp>
      <p:sp>
        <p:nvSpPr>
          <p:cNvPr id="5" name="big-statement">
            <a:extLst xmlns:a="http://schemas.openxmlformats.org/drawingml/2006/main">
              <a:ext uri="{FF2B5EF4-FFF2-40B4-BE49-F238E27FC236}">
                <a16:creationId xmlns:a16="http://schemas.microsoft.com/office/drawing/2014/main" id="{E7BFB971-9E85-421E-81B3-C22DC70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6" name="content-footer">
            <a:extLst xmlns:a="http://schemas.openxmlformats.org/drawingml/2006/main">
              <a:ext uri="{FF2B5EF4-FFF2-40B4-BE49-F238E27FC236}">
                <a16:creationId xmlns:a16="http://schemas.microsoft.com/office/drawing/2014/main" id="{685B81DE-58FF-4F76-BA6D-E78748B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95950"/>
            <a:ext cx="601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Messeri &amp; Crockett, Nature 627, 49–58 (2024), Fig. 1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89edc182c43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47750"/>
            <a:ext cx="5905500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thesis-controls">
            <a:extLst xmlns:a="http://schemas.openxmlformats.org/drawingml/2006/main">
              <a:ext uri="{FF2B5EF4-FFF2-40B4-BE49-F238E27FC236}">
                <a16:creationId xmlns:a16="http://schemas.microsoft.com/office/drawing/2014/main" id="{E4085730-69EF-4CB5-987F-B9C13F87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52197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可以运行研究循环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研究者必须定义问题、baseline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FFB4B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评价规则与停止条件</a:t>
            </a:r>
          </a:p>
        </p:txBody>
      </p:sp>
      <p:sp>
        <p:nvSpPr>
          <p:cNvPr id="9" name="thesis-explanation">
            <a:extLst xmlns:a="http://schemas.openxmlformats.org/drawingml/2006/main">
              <a:ext uri="{FF2B5EF4-FFF2-40B4-BE49-F238E27FC236}">
                <a16:creationId xmlns:a16="http://schemas.microsoft.com/office/drawing/2014/main" id="{E018972A-14B4-4EB1-ABB5-EE1E3FD6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E6EDF4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5A3A8"/>
                </a:solidFill>
                <a:latin typeface="微软雅黑"/>
                <a:ea typeface="微软雅黑"/>
                <a:cs typeface="微软雅黑"/>
              </a:rPr>
              <a:t>可复现 · 公平 baseline · 评价有效性</a:t>
            </a:r>
          </a:p>
          <a:p xmlns:a="http://schemas.openxmlformats.org/drawingml/2006/main">
            <a:pPr algn="l">
              <a:buNone/>
              <a:defRPr sz="1800">
                <a:solidFill>
                  <a:srgbClr val="E6EDF4"/>
                </a:solidFill>
                <a:latin typeface="微软雅黑"/>
                <a:ea typeface="微软雅黑"/>
                <a:cs typeface="微软雅黑"/>
              </a:defRPr>
            </a:pPr>
            <a:r>
              <a:rPr sz="1800">
                <a:solidFill>
                  <a:srgbClr val="E6EDF4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E6EDF4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没有可追溯的证据与决策记录，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800">
                <a:solidFill>
                  <a:srgbClr val="E6EDF4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自动化只会更快地放大偏差。</a:t>
            </a:r>
          </a:p>
        </p:txBody>
      </p:sp>
      <p:sp>
        <p:nvSpPr>
          <p:cNvPr id="10" name="illusion-figure-frame">
            <a:extLst xmlns:a="http://schemas.openxmlformats.org/drawingml/2006/main">
              <a:ext uri="{FF2B5EF4-FFF2-40B4-BE49-F238E27FC236}">
                <a16:creationId xmlns:a16="http://schemas.microsoft.com/office/drawing/2014/main" id="{618BE98B-F1FC-4405-A772-EC96BFF6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09650"/>
            <a:ext cx="462915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EE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215f6ddaa4feb"/>
          <a:stretch xmlns:a="http://schemas.openxmlformats.org/drawingml/2006/main"/>
        </p:blipFill>
        <p:spPr>
          <a:xfrm xmlns:a="http://schemas.openxmlformats.org/drawingml/2006/main">
            <a:off x="8109053" y="1143000"/>
            <a:ext cx="2127045" cy="4152900"/>
          </a:xfrm>
          <a:prstGeom xmlns:a="http://schemas.openxmlformats.org/drawingml/2006/main" prst="rect">
            <a:avLst/>
          </a:prstGeom>
        </p:spPr>
      </p:pic>
      <p:sp>
        <p:nvSpPr>
          <p:cNvPr id="12" name="illusion-figure-label">
            <a:extLst xmlns:a="http://schemas.openxmlformats.org/drawingml/2006/main">
              <a:ext uri="{FF2B5EF4-FFF2-40B4-BE49-F238E27FC236}">
                <a16:creationId xmlns:a16="http://schemas.microsoft.com/office/drawing/2014/main" id="{38308883-028C-4136-8B8E-BAE18E5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86375"/>
            <a:ext cx="421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“生产更多，但理解更少”的风险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2026-07-30T15:41:51.8180000Z</dcterms:created>
  <dcterms:modified xsi:type="dcterms:W3CDTF">2026-07-30T15:41:51.8180000Z</dcterms:modified>
</coreProperties>
</file>