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090f420b914a7c" /><Relationship Type="http://schemas.openxmlformats.org/officeDocument/2006/relationships/extended-properties" Target="/docProps/app.xml" Id="Rd51cb811c0d04088" /><Relationship Type="http://schemas.openxmlformats.org/officeDocument/2006/relationships/officeDocument" Target="/ppt/presentation.xml" Id="R0002e4c6547545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2801a097264563"/>
  </p:sldMasterIdLst>
  <p:notesMasterIdLst>
    <p:notesMasterId xmlns:r="http://schemas.openxmlformats.org/officeDocument/2006/relationships" r:id="R909e66a5fe144284"/>
  </p:notesMasterIdLst>
  <p:sldIdLst>
    <p:sldId xmlns:r="http://schemas.openxmlformats.org/officeDocument/2006/relationships" id="256" r:id="R132b7a6bef81443d"/>
    <p:sldId xmlns:r="http://schemas.openxmlformats.org/officeDocument/2006/relationships" id="257" r:id="Reab5b7694c754db6"/>
    <p:sldId xmlns:r="http://schemas.openxmlformats.org/officeDocument/2006/relationships" id="258" r:id="R15a57953c3914b50"/>
    <p:sldId xmlns:r="http://schemas.openxmlformats.org/officeDocument/2006/relationships" id="259" r:id="R8122213d744546e3"/>
    <p:sldId xmlns:r="http://schemas.openxmlformats.org/officeDocument/2006/relationships" id="260" r:id="R802358b768224b5a"/>
    <p:sldId xmlns:r="http://schemas.openxmlformats.org/officeDocument/2006/relationships" id="261" r:id="Raadac1367a5e4ddf"/>
    <p:sldId xmlns:r="http://schemas.openxmlformats.org/officeDocument/2006/relationships" id="262" r:id="Rd8bf6b498b744e1c"/>
    <p:sldId xmlns:r="http://schemas.openxmlformats.org/officeDocument/2006/relationships" id="263" r:id="R0657a7e819ee4459"/>
    <p:sldId xmlns:r="http://schemas.openxmlformats.org/officeDocument/2006/relationships" id="264" r:id="R58aa508075344ba6"/>
    <p:sldId xmlns:r="http://schemas.openxmlformats.org/officeDocument/2006/relationships" id="265" r:id="R3dd141d172264c13"/>
    <p:sldId xmlns:r="http://schemas.openxmlformats.org/officeDocument/2006/relationships" id="266" r:id="R35fb1064a0e1442a"/>
    <p:sldId xmlns:r="http://schemas.openxmlformats.org/officeDocument/2006/relationships" id="267" r:id="R9530bafcecab46bd"/>
    <p:sldId xmlns:r="http://schemas.openxmlformats.org/officeDocument/2006/relationships" id="268" r:id="R67e560a1a04a40fb"/>
    <p:sldId xmlns:r="http://schemas.openxmlformats.org/officeDocument/2006/relationships" id="269" r:id="R298e7d3bc1e741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63154b8ece4697" /><Relationship Type="http://schemas.openxmlformats.org/officeDocument/2006/relationships/slideMaster" Target="/ppt/slideMasters/slideMaster1.xml" Id="R282801a097264563" /><Relationship Type="http://schemas.openxmlformats.org/officeDocument/2006/relationships/notesMaster" Target="/ppt/notesMasters/notesMaster1.xml" Id="R909e66a5fe144284" /><Relationship Type="http://schemas.openxmlformats.org/officeDocument/2006/relationships/presProps" Target="/ppt/presProps.xml" Id="R47d26c774f224e86" /><Relationship Type="http://schemas.openxmlformats.org/officeDocument/2006/relationships/viewProps" Target="/ppt/viewProps.xml" Id="R8a8fb12fc8594d99" /><Relationship Type="http://schemas.openxmlformats.org/officeDocument/2006/relationships/tableStyles" Target="/ppt/tableStyles.xml" Id="R6e43ad22be5f4bdd" /><Relationship Type="http://schemas.openxmlformats.org/officeDocument/2006/relationships/slide" Target="/ppt/slides/slide1.xml" Id="R132b7a6bef81443d" /><Relationship Type="http://schemas.openxmlformats.org/officeDocument/2006/relationships/slide" Target="/ppt/slides/slide2.xml" Id="Reab5b7694c754db6" /><Relationship Type="http://schemas.openxmlformats.org/officeDocument/2006/relationships/slide" Target="/ppt/slides/slide3.xml" Id="R15a57953c3914b50" /><Relationship Type="http://schemas.openxmlformats.org/officeDocument/2006/relationships/slide" Target="/ppt/slides/slide4.xml" Id="R8122213d744546e3" /><Relationship Type="http://schemas.openxmlformats.org/officeDocument/2006/relationships/slide" Target="/ppt/slides/slide5.xml" Id="R802358b768224b5a" /><Relationship Type="http://schemas.openxmlformats.org/officeDocument/2006/relationships/slide" Target="/ppt/slides/slide6.xml" Id="Raadac1367a5e4ddf" /><Relationship Type="http://schemas.openxmlformats.org/officeDocument/2006/relationships/slide" Target="/ppt/slides/slide7.xml" Id="Rd8bf6b498b744e1c" /><Relationship Type="http://schemas.openxmlformats.org/officeDocument/2006/relationships/slide" Target="/ppt/slides/slide8.xml" Id="R0657a7e819ee4459" /><Relationship Type="http://schemas.openxmlformats.org/officeDocument/2006/relationships/slide" Target="/ppt/slides/slide9.xml" Id="R58aa508075344ba6" /><Relationship Type="http://schemas.openxmlformats.org/officeDocument/2006/relationships/slide" Target="/ppt/slides/slide10.xml" Id="R3dd141d172264c13" /><Relationship Type="http://schemas.openxmlformats.org/officeDocument/2006/relationships/slide" Target="/ppt/slides/slide11.xml" Id="R35fb1064a0e1442a" /><Relationship Type="http://schemas.openxmlformats.org/officeDocument/2006/relationships/slide" Target="/ppt/slides/slide12.xml" Id="R9530bafcecab46bd" /><Relationship Type="http://schemas.openxmlformats.org/officeDocument/2006/relationships/slide" Target="/ppt/slides/slide13.xml" Id="R67e560a1a04a40fb" /><Relationship Type="http://schemas.openxmlformats.org/officeDocument/2006/relationships/slide" Target="/ppt/slides/slide14.xml" Id="R298e7d3bc1e741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2d019d862e42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804b21d82541cf" /><Relationship Type="http://schemas.openxmlformats.org/officeDocument/2006/relationships/notesMaster" Target="/ppt/notesMasters/notesMaster1.xml" Id="Rc0466119836341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7ea11699fd463d" /><Relationship Type="http://schemas.openxmlformats.org/officeDocument/2006/relationships/notesMaster" Target="/ppt/notesMasters/notesMaster1.xml" Id="R1b3fdd17e17c42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59827703b14a80" /><Relationship Type="http://schemas.openxmlformats.org/officeDocument/2006/relationships/notesMaster" Target="/ppt/notesMasters/notesMaster1.xml" Id="R62626d56d17a43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ea37494b764b7c" /><Relationship Type="http://schemas.openxmlformats.org/officeDocument/2006/relationships/notesMaster" Target="/ppt/notesMasters/notesMaster1.xml" Id="Rdce7942125d74a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5aff6081c34b11" /><Relationship Type="http://schemas.openxmlformats.org/officeDocument/2006/relationships/notesMaster" Target="/ppt/notesMasters/notesMaster1.xml" Id="R3479e3f7eae442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4e06cbe22c4b01" /><Relationship Type="http://schemas.openxmlformats.org/officeDocument/2006/relationships/notesMaster" Target="/ppt/notesMasters/notesMaster1.xml" Id="Ra232244e25d048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322c9e226d449d" /><Relationship Type="http://schemas.openxmlformats.org/officeDocument/2006/relationships/notesMaster" Target="/ppt/notesMasters/notesMaster1.xml" Id="Rcdb2b65e4e8c4e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fb2d44dc354b75" /><Relationship Type="http://schemas.openxmlformats.org/officeDocument/2006/relationships/notesMaster" Target="/ppt/notesMasters/notesMaster1.xml" Id="R6a2478a9746a42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e72a13b5034b54" /><Relationship Type="http://schemas.openxmlformats.org/officeDocument/2006/relationships/notesMaster" Target="/ppt/notesMasters/notesMaster1.xml" Id="R28b7c644f7fa44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274e1b8a314e26" /><Relationship Type="http://schemas.openxmlformats.org/officeDocument/2006/relationships/notesMaster" Target="/ppt/notesMasters/notesMaster1.xml" Id="R004c579fe4014a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a3c917aeee4ff0" /><Relationship Type="http://schemas.openxmlformats.org/officeDocument/2006/relationships/notesMaster" Target="/ppt/notesMasters/notesMaster1.xml" Id="R5f65f0d33cb543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ed0cca03bf46b5" /><Relationship Type="http://schemas.openxmlformats.org/officeDocument/2006/relationships/notesMaster" Target="/ppt/notesMasters/notesMaster1.xml" Id="R0cb0d36966674d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1e7c7132bc4c9f" /><Relationship Type="http://schemas.openxmlformats.org/officeDocument/2006/relationships/notesMaster" Target="/ppt/notesMasters/notesMaster1.xml" Id="R075910fc179443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85e8c83a5244d3" /><Relationship Type="http://schemas.openxmlformats.org/officeDocument/2006/relationships/notesMaster" Target="/ppt/notesMasters/notesMaster1.xml" Id="R15daf3f9fa9b40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开场直接划界：课程训练研究可靠性，不以工具熟练度为目标。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/Users/bright/Projects/courses/graduate/ai-research-workflow-course/syllabus.md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举手投票；追问一位选择“证据”或“结论”的学生具体核验动作。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/Users/bright/Projects/courses/graduate/projects/lesson-01-slides.md — original P02 classroom diagnostic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先看系统结构，再问评价边界；不要把本页讲成产品演示。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https://doi.org/10.1038/s41586-026-10265-5</a:t>
            </a:r>
          </a:p>
          <a:p xmlns:a="http://schemas.openxmlformats.org/drawingml/2006/main">
            <a:r>
              <a:t>- Visual: direct crop of Figure 1 from the official open-access Nature PDF.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强调三层判断：完整产物、通过一次 workshop 评审、达到主会议研究标准。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https://doi.org/10.1038/s41586-026-10265-5</a:t>
            </a:r>
          </a:p>
          <a:p xmlns:a="http://schemas.openxmlformats.org/drawingml/2006/main">
            <a:r>
              <a:t>- Nature article: three generated manuscripts were selected for submission; one exceeded the workshop acceptance threshold; none met the main ICLR bar.</a:t>
            </a:r>
          </a:p>
          <a:p xmlns:a="http://schemas.openxmlformats.org/drawingml/2006/main">
            <a:r>
              <a:t>- Visual: direct render of the official article first page.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把个人效率与科学整体范围拆成两个评价问题。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https://doi.org/10.1038/s41586-025-09922-y</a:t>
            </a:r>
          </a:p>
          <a:p xmlns:a="http://schemas.openxmlformats.org/drawingml/2006/main">
            <a:r>
              <a:t>- Hao et al., Nature 649, 1237–1243 (2026), Figures 2 and 3.</a:t>
            </a:r>
          </a:p>
          <a:p xmlns:a="http://schemas.openxmlformats.org/drawingml/2006/main">
            <a:r>
              <a:t>- The reported estimates are observational associations, not causal effects.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把三个术语分开讲清，再用“可审计”作为总称。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/Users/bright/Projects/courses/graduate/ai-research-workflow-course/syllabus.md</a:t>
            </a:r>
          </a:p>
          <a:p xmlns:a="http://schemas.openxmlformats.org/drawingml/2006/main">
            <a:r>
              <a:t>- /Users/bright/Projects/courses/graduate/projects/lesson-01-teaching-plan.md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八阶段是定位系统，不是八份作业，也不是一次走完的瀑布流程。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/Users/bright/Projects/courses/graduate/ai-research-workflow-course/syllabus.md — eight-stage research chain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每个门对应一种典型失败；未通过时回到对应研究阶段，而不是包装材料。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/Users/bright/Projects/courses/graduate/ai-research-workflow-course/assessment.md</a:t>
            </a:r>
          </a:p>
          <a:p xmlns:a="http://schemas.openxmlformats.org/drawingml/2006/main">
            <a:r>
              <a:t>- /Users/bright/Projects/courses/graduate/ai-research-workflow-course/assignments.md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强调第 1 周项目本来就不完整；课程追踪的是成长与判断过程。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/Users/bright/Projects/courses/graduate/ai-research-workflow-course/starter-template.md — minimum file structure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最终不是五份独立作业；报告中的结论需要绑定直接证据或实验结果与上游判断。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/Users/bright/Projects/courses/graduate/ai-research-workflow-course/assessment.md — final deliverables and acceptance criteria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解释四段课程如何对应四个门；前六周的宽度更大，体现实际投入。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/Users/bright/Projects/courses/graduate/ai-research-workflow-course/syllabus.md</a:t>
            </a:r>
          </a:p>
          <a:p xmlns:a="http://schemas.openxmlformats.org/drawingml/2006/main">
            <a:r>
              <a:t>- /Users/bright/Projects/courses/graduate/ai-research-workflow-course/assignments.md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每一项都对应可检查工件；不要把本页讲成纯比例说明。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/Users/bright/Projects/courses/graduate/ai-research-workflow-course/assessment.md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同伴提出问题，不共同维护仓库；反馈处理进入研究判断记录。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/Users/bright/Projects/courses/graduate/ai-research-workflow-course/assignments.md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此页在个人实践开始后继续停留；没有题目的学生使用备用微型问题。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/Users/bright/Projects/courses/graduate/ai-research-workflow-course/starter-template.md</a:t>
            </a:r>
          </a:p>
          <a:p xmlns:a="http://schemas.openxmlformats.org/drawingml/2006/main">
            <a:r>
              <a:t>- /Users/bright/Projects/courses/graduate/projects/lesson-01-teaching-plan.md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f76f473aa4843" /><Relationship Type="http://schemas.openxmlformats.org/officeDocument/2006/relationships/image" Target="/ppt/media/image.png" Id="Rd264f0c449264a00" /><Relationship Type="http://schemas.openxmlformats.org/officeDocument/2006/relationships/image" Target="/ppt/media/image2.png" Id="R9947e271a41144c3" /><Relationship Type="http://schemas.openxmlformats.org/officeDocument/2006/relationships/image" Target="/ppt/media/image3.png" Id="R4829d6a10d3f4ac9" /><Relationship Type="http://schemas.openxmlformats.org/officeDocument/2006/relationships/image" Target="/ppt/media/image4.png" Id="Red15434b564448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dc03eee2de46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5533495034482" /><Relationship Type="http://schemas.openxmlformats.org/officeDocument/2006/relationships/image" Target="/ppt/media/image2.png" Id="R1eb9262991804dbd" /><Relationship Type="http://schemas.openxmlformats.org/officeDocument/2006/relationships/image" Target="/ppt/media/image5.png" Id="R54c49e81ee2b4f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4868c5f8a41aa" /><Relationship Type="http://schemas.openxmlformats.org/officeDocument/2006/relationships/image" Target="/ppt/media/image.png" Id="R65f81e03249d4230" /><Relationship Type="http://schemas.openxmlformats.org/officeDocument/2006/relationships/image" Target="/ppt/media/image3.png" Id="Ra61f02dd9e3f43f1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4f0c449264a00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47e271a41144c3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29d6a10d3f4ac9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74A1DC8F-E8F6-4D19-A022-91462138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CE06932D-DB84-4181-A85A-5629B568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E7F4998A-6AE2-4D7E-8725-2BD530E3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AC9CD0F-62FE-48B3-94CA-B5F293E3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5434b56444859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b9262991804dbd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49e81ee2b4f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81e03249d4230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35008D6A-59C4-402F-BD30-D0E3E526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60055B5A-B5C8-4905-AC87-A417E17C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1f02dd9e3f43f1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e4b632de4c46da" /><Relationship Type="http://schemas.openxmlformats.org/officeDocument/2006/relationships/slideLayout" Target="/ppt/slideLayouts/slideLayout1.xml" Id="Ra89102d4f6df4823" /><Relationship Type="http://schemas.openxmlformats.org/officeDocument/2006/relationships/slideLayout" Target="/ppt/slideLayouts/slideLayout2.xml" Id="R87b380b76e374d39" /><Relationship Type="http://schemas.openxmlformats.org/officeDocument/2006/relationships/slideLayout" Target="/ppt/slideLayouts/slideLayout3.xml" Id="R9498de8f813249d6" /><Relationship Type="http://schemas.openxmlformats.org/officeDocument/2006/relationships/slideLayout" Target="/ppt/slideLayouts/slideLayout4.xml" Id="R741c4b38598642c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9102d4f6df4823"/>
    <p:sldLayoutId xmlns:r="http://schemas.openxmlformats.org/officeDocument/2006/relationships" id="2147483650" r:id="R87b380b76e374d39"/>
    <p:sldLayoutId xmlns:r="http://schemas.openxmlformats.org/officeDocument/2006/relationships" id="2147483651" r:id="R9498de8f813249d6"/>
    <p:sldLayoutId xmlns:r="http://schemas.openxmlformats.org/officeDocument/2006/relationships" id="2147483652" r:id="R741c4b38598642c1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f16e680a64572" /><Relationship Type="http://schemas.openxmlformats.org/officeDocument/2006/relationships/notesSlide" Target="/ppt/notesSlides/notesSlide1.xml" Id="R09beca4b9c2f44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a06695d0e346b4" /><Relationship Type="http://schemas.openxmlformats.org/officeDocument/2006/relationships/notesSlide" Target="/ppt/notesSlides/notesSlide2.xml" Id="Radf0cef66a6549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264a7954d74bf1" /><Relationship Type="http://schemas.openxmlformats.org/officeDocument/2006/relationships/image" Target="/ppt/media/image6.png" Id="Rd277be7c45cf4442" /><Relationship Type="http://schemas.openxmlformats.org/officeDocument/2006/relationships/notesSlide" Target="/ppt/notesSlides/notesSlide3.xml" Id="R80683e669a624c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040fc8fe8334d80" /><Relationship Type="http://schemas.openxmlformats.org/officeDocument/2006/relationships/image" Target="/ppt/media/image7.png" Id="R9029e82135144850" /><Relationship Type="http://schemas.openxmlformats.org/officeDocument/2006/relationships/notesSlide" Target="/ppt/notesSlides/notesSlide4.xml" Id="Rbe9035676d6546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8ba6140d694407d" /><Relationship Type="http://schemas.openxmlformats.org/officeDocument/2006/relationships/image" Target="/ppt/media/image8.png" Id="R660af4c02a5d4cda" /><Relationship Type="http://schemas.openxmlformats.org/officeDocument/2006/relationships/image" Target="/ppt/media/image9.png" Id="R3707ef6381394bf1" /><Relationship Type="http://schemas.openxmlformats.org/officeDocument/2006/relationships/notesSlide" Target="/ppt/notesSlides/notesSlide5.xml" Id="R9ed4b68ae5b541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ee3431215ab4fbd" /><Relationship Type="http://schemas.openxmlformats.org/officeDocument/2006/relationships/notesSlide" Target="/ppt/notesSlides/notesSlide6.xml" Id="R8b6c18b4759748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067c43708347ad" /><Relationship Type="http://schemas.openxmlformats.org/officeDocument/2006/relationships/notesSlide" Target="/ppt/notesSlides/notesSlide7.xml" Id="R40bd5a0064f24a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1aa9ef180e4026" /><Relationship Type="http://schemas.openxmlformats.org/officeDocument/2006/relationships/notesSlide" Target="/ppt/notesSlides/notesSlide8.xml" Id="Rc83018be00974b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c05fc1b2577405b" /><Relationship Type="http://schemas.openxmlformats.org/officeDocument/2006/relationships/notesSlide" Target="/ppt/notesSlides/notesSlide9.xml" Id="R21c73ab79f9c49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3acee648e945ef" /><Relationship Type="http://schemas.openxmlformats.org/officeDocument/2006/relationships/notesSlide" Target="/ppt/notesSlides/notesSlide10.xml" Id="Ra63f8a81736640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10b7ce8d3e49b7" /><Relationship Type="http://schemas.openxmlformats.org/officeDocument/2006/relationships/notesSlide" Target="/ppt/notesSlides/notesSlide11.xml" Id="Rae490f9f02d64b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59df596907439e" /><Relationship Type="http://schemas.openxmlformats.org/officeDocument/2006/relationships/notesSlide" Target="/ppt/notesSlides/notesSlide12.xml" Id="R1b716c37eb2442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d7ebd966cb4f04" /><Relationship Type="http://schemas.openxmlformats.org/officeDocument/2006/relationships/notesSlide" Target="/ppt/notesSlides/notesSlide13.xml" Id="Ra2e7d37daa1647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96d914fb9174a95" /><Relationship Type="http://schemas.openxmlformats.org/officeDocument/2006/relationships/notesSlide" Target="/ppt/notesSlides/notesSlide14.xml" Id="Re4b5379e7e584a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675FD51-EAC3-42D3-B89F-1FB9A65BAEF9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876300" y="1695450"/>
            <a:ext cx="7239000" cy="952500"/>
          </a:xfr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/>
            <a:r>
              <a:rPr sz="4200" b="1">
                <a:solidFill>
                  <a:srgbClr val="102D47"/>
                </a:solidFill>
                <a:latin typeface="Arial Unicode MS"/>
                <a:ea typeface="Arial Unicode MS"/>
                <a:cs typeface="Arial Unicode MS"/>
              </a:rPr>
              <a:t>智能科研方法</a:t>
            </a:r>
          </a:p>
        </p:txBody>
      </p:sp>
      <p:sp>
        <p:nvSpPr>
          <p:cNvPr id="4" name="cover-en">
            <a:extLst xmlns:a="http://schemas.openxmlformats.org/drawingml/2006/main">
              <a:ext uri="{FF2B5EF4-FFF2-40B4-BE49-F238E27FC236}">
                <a16:creationId xmlns:a16="http://schemas.microsoft.com/office/drawing/2014/main" id="{FD07A414-54B2-4077-8FED-6CC2555C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798A"/>
                </a:solidFill>
              </a:defRPr>
            </a:pPr>
            <a:r>
              <a:rPr sz="1800" b="0">
                <a:solidFill>
                  <a:srgbClr val="67798A"/>
                </a:solidFill>
                <a:latin typeface="Arial"/>
                <a:ea typeface="Arial"/>
                <a:cs typeface="Arial"/>
              </a:rPr>
              <a:t>AI for Research: Methods and Practice</a:t>
            </a:r>
          </a:p>
        </p:txBody>
      </p:sp>
      <p:sp>
        <p:nvSpPr>
          <p:cNvPr id="5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70C4B470-D95F-4C08-81D9-D37252B3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A"/>
                </a:solidFill>
              </a:defRPr>
            </a:pPr>
            <a:r>
              <a:rPr sz="225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AI 可以参与科研，研究责任由人承担。</a:t>
            </a:r>
          </a:p>
        </p:txBody>
      </p:sp>
      <p:sp>
        <p:nvSpPr>
          <p:cNvPr id="6" name="cover-rule">
            <a:extLst xmlns:a="http://schemas.openxmlformats.org/drawingml/2006/main">
              <a:ext uri="{FF2B5EF4-FFF2-40B4-BE49-F238E27FC236}">
                <a16:creationId xmlns:a16="http://schemas.microsoft.com/office/drawing/2014/main" id="{801CD177-4464-47FF-89F9-D4011D0B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181475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47B8A758-4593-4AFA-A9A6-8B378C43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98A"/>
                </a:solidFill>
              </a:defRPr>
            </a:pPr>
            <a:r>
              <a:rPr sz="1350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2 学分｜32 学时｜研究生专业选修课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 Unicode MS"/>
                <a:ea typeface="Arial Unicode MS"/>
                <a:cs typeface="Arial Unicode MS"/>
              </a:rPr>
              <a:t>这段 AI 输出，在研究里算什么？</a:t>
            </a:r>
          </a:p>
        </p:txBody>
      </p:sp>
      <p:sp>
        <p:nvSpPr>
          <p:cNvPr id="5" name="p02-kicker">
            <a:extLst xmlns:a="http://schemas.openxmlformats.org/drawingml/2006/main">
              <a:ext uri="{FF2B5EF4-FFF2-40B4-BE49-F238E27FC236}">
                <a16:creationId xmlns:a16="http://schemas.microsoft.com/office/drawing/2014/main" id="{6101A0A3-D21F-4A81-AEED-DA158593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798A"/>
                </a:solidFill>
              </a:defRPr>
            </a:pPr>
            <a:r>
              <a:rPr sz="1500" b="1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最近一次科研相关的 AI 输出</a:t>
            </a:r>
          </a:p>
        </p:txBody>
      </p:sp>
      <p:sp>
        <p:nvSpPr>
          <p:cNvPr id="6" name="p02-axis">
            <a:extLst xmlns:a="http://schemas.openxmlformats.org/drawingml/2006/main">
              <a:ext uri="{FF2B5EF4-FFF2-40B4-BE49-F238E27FC236}">
                <a16:creationId xmlns:a16="http://schemas.microsoft.com/office/drawing/2014/main" id="{DD6133BA-0572-4E90-AD30-617AF733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289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02-线索">
            <a:extLst xmlns:a="http://schemas.openxmlformats.org/drawingml/2006/main">
              <a:ext uri="{FF2B5EF4-FFF2-40B4-BE49-F238E27FC236}">
                <a16:creationId xmlns:a16="http://schemas.microsoft.com/office/drawing/2014/main" id="{C5014CFA-C476-42B8-B6BC-D353D476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67798A"/>
                </a:solidFill>
              </a:defRPr>
            </a:pPr>
            <a:r>
              <a:rPr sz="3900" b="1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线索</a:t>
            </a:r>
          </a:p>
        </p:txBody>
      </p:sp>
      <p:sp>
        <p:nvSpPr>
          <p:cNvPr id="8" name="p02-草稿">
            <a:extLst xmlns:a="http://schemas.openxmlformats.org/drawingml/2006/main">
              <a:ext uri="{FF2B5EF4-FFF2-40B4-BE49-F238E27FC236}">
                <a16:creationId xmlns:a16="http://schemas.microsoft.com/office/drawing/2014/main" id="{1D9DF8CA-854E-420C-BC26-54914D85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7324A"/>
                </a:solidFill>
              </a:defRPr>
            </a:pPr>
            <a:r>
              <a:rPr sz="465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草稿</a:t>
            </a:r>
          </a:p>
        </p:txBody>
      </p:sp>
      <p:sp>
        <p:nvSpPr>
          <p:cNvPr id="9" name="p02-证据">
            <a:extLst xmlns:a="http://schemas.openxmlformats.org/drawingml/2006/main">
              <a:ext uri="{FF2B5EF4-FFF2-40B4-BE49-F238E27FC236}">
                <a16:creationId xmlns:a16="http://schemas.microsoft.com/office/drawing/2014/main" id="{6E59C4A4-3367-4281-A8C1-6B98E71A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C8161E"/>
                </a:solidFill>
              </a:defRPr>
            </a:pPr>
            <a:r>
              <a:rPr sz="5400" b="1">
                <a:solidFill>
                  <a:srgbClr val="C8161E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10" name="p02-结论">
            <a:extLst xmlns:a="http://schemas.openxmlformats.org/drawingml/2006/main">
              <a:ext uri="{FF2B5EF4-FFF2-40B4-BE49-F238E27FC236}">
                <a16:creationId xmlns:a16="http://schemas.microsoft.com/office/drawing/2014/main" id="{B28726F2-5C1B-4CB7-94B7-347137A0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2000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102D47"/>
                </a:solidFill>
              </a:defRPr>
            </a:pPr>
            <a:r>
              <a:rPr sz="6150" b="1">
                <a:solidFill>
                  <a:srgbClr val="102D47"/>
                </a:solidFill>
                <a:latin typeface="Arial Unicode MS"/>
                <a:ea typeface="Arial Unicode MS"/>
                <a:cs typeface="Arial Unicode MS"/>
              </a:rPr>
              <a:t>结论</a:t>
            </a:r>
          </a:p>
        </p:txBody>
      </p:sp>
      <p:sp>
        <p:nvSpPr>
          <p:cNvPr id="11" name="p02-vote-dot">
            <a:extLst xmlns:a="http://schemas.openxmlformats.org/drawingml/2006/main">
              <a:ext uri="{FF2B5EF4-FFF2-40B4-BE49-F238E27FC236}">
                <a16:creationId xmlns:a16="http://schemas.microsoft.com/office/drawing/2014/main" id="{5FEB8BB1-F3B4-4250-93C1-4CA5B7E8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02-question">
            <a:extLst xmlns:a="http://schemas.openxmlformats.org/drawingml/2006/main">
              <a:ext uri="{FF2B5EF4-FFF2-40B4-BE49-F238E27FC236}">
                <a16:creationId xmlns:a16="http://schemas.microsoft.com/office/drawing/2014/main" id="{8AFD75D0-719B-4D9F-994F-184D7A09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24A"/>
                </a:solidFill>
              </a:defRPr>
            </a:pPr>
            <a:r>
              <a:rPr sz="225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你把它升级到下一种角色之前，做过什么核验？</a:t>
            </a:r>
          </a:p>
        </p:txBody>
      </p:sp>
      <p:sp>
        <p:nvSpPr>
          <p:cNvPr id="13" name="p02-note">
            <a:extLst xmlns:a="http://schemas.openxmlformats.org/drawingml/2006/main">
              <a:ext uri="{FF2B5EF4-FFF2-40B4-BE49-F238E27FC236}">
                <a16:creationId xmlns:a16="http://schemas.microsoft.com/office/drawing/2014/main" id="{AF2EA12E-CDF9-4A31-B051-DB4FF668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7798A"/>
                </a:solidFill>
              </a:defRPr>
            </a:pPr>
            <a:r>
              <a:rPr sz="1500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角色不是由语言流畅度决定，而是由核验过程决定。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 Unicode MS"/>
                <a:ea typeface="Arial Unicode MS"/>
                <a:cs typeface="Arial Unicode MS"/>
              </a:rPr>
              <a:t>AI Scientist 已串起完整研究流程</a:t>
            </a:r>
          </a:p>
        </p:txBody>
      </p:sp>
      <p:sp>
        <p:nvSpPr>
          <p:cNvPr id="5" name="p03-figure-border">
            <a:extLst xmlns:a="http://schemas.openxmlformats.org/drawingml/2006/main">
              <a:ext uri="{FF2B5EF4-FFF2-40B4-BE49-F238E27FC236}">
                <a16:creationId xmlns:a16="http://schemas.microsoft.com/office/drawing/2014/main" id="{419BB112-1682-4040-8307-21CE6DF0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4866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pic>
        <p:nvPicPr>
          <p:cNvPr id="17" name="p03-ai-scientist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7be7c45cf4442"/>
          <a:stretch xmlns:a="http://schemas.openxmlformats.org/drawingml/2006/main"/>
        </p:blipFill>
        <p:spPr>
          <a:xfrm xmlns:a="http://schemas.openxmlformats.org/drawingml/2006/main">
            <a:off x="641923" y="1200150"/>
            <a:ext cx="7307705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p03-margin-rule">
            <a:extLst xmlns:a="http://schemas.openxmlformats.org/drawingml/2006/main">
              <a:ext uri="{FF2B5EF4-FFF2-40B4-BE49-F238E27FC236}">
                <a16:creationId xmlns:a16="http://schemas.microsoft.com/office/drawing/2014/main" id="{62286EE0-8E8B-4921-9CD9-7F94EBE7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505575" y="3195638"/>
            <a:ext cx="3829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03-n-01">
            <a:extLst xmlns:a="http://schemas.openxmlformats.org/drawingml/2006/main">
              <a:ext uri="{FF2B5EF4-FFF2-40B4-BE49-F238E27FC236}">
                <a16:creationId xmlns:a16="http://schemas.microsoft.com/office/drawing/2014/main" id="{EF7D30D8-FB21-4408-A420-110923FF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3906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p03-note-01">
            <a:extLst xmlns:a="http://schemas.openxmlformats.org/drawingml/2006/main">
              <a:ext uri="{FF2B5EF4-FFF2-40B4-BE49-F238E27FC236}">
                <a16:creationId xmlns:a16="http://schemas.microsoft.com/office/drawing/2014/main" id="{EAD7EA63-C535-4145-9ED6-9138DE96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71600"/>
            <a:ext cx="222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A"/>
                </a:solidFill>
              </a:defRPr>
            </a:pPr>
            <a:r>
              <a:rPr sz="135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实验使用 tree search</a:t>
            </a:r>
          </a:p>
          <a:p xmlns:a="http://schemas.openxmlformats.org/drawingml/2006/main">
            <a:pPr algn="l">
              <a:defRPr sz="1350" b="0">
                <a:solidFill>
                  <a:srgbClr val="17324A"/>
                </a:solidFill>
              </a:defRPr>
            </a:pPr>
            <a:r>
              <a:rPr sz="135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而不是一次生成</a:t>
            </a:r>
          </a:p>
        </p:txBody>
      </p:sp>
      <p:sp>
        <p:nvSpPr>
          <p:cNvPr id="10" name="p03-n-02">
            <a:extLst xmlns:a="http://schemas.openxmlformats.org/drawingml/2006/main">
              <a:ext uri="{FF2B5EF4-FFF2-40B4-BE49-F238E27FC236}">
                <a16:creationId xmlns:a16="http://schemas.microsoft.com/office/drawing/2014/main" id="{C4C326B9-C75F-4789-A19E-B95EF384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479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p03-note-02">
            <a:extLst xmlns:a="http://schemas.openxmlformats.org/drawingml/2006/main">
              <a:ext uri="{FF2B5EF4-FFF2-40B4-BE49-F238E27FC236}">
                <a16:creationId xmlns:a16="http://schemas.microsoft.com/office/drawing/2014/main" id="{8D894E45-2486-44F7-A45F-FA91456F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28900"/>
            <a:ext cx="222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A"/>
                </a:solidFill>
              </a:defRPr>
            </a:pPr>
            <a:r>
              <a:rPr sz="135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中间结果写入 log</a:t>
            </a:r>
          </a:p>
          <a:p xmlns:a="http://schemas.openxmlformats.org/drawingml/2006/main">
            <a:pPr algn="l">
              <a:defRPr sz="1350" b="0">
                <a:solidFill>
                  <a:srgbClr val="17324A"/>
                </a:solidFill>
              </a:defRPr>
            </a:pPr>
            <a:r>
              <a:rPr sz="135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供后续阶段使用</a:t>
            </a:r>
          </a:p>
        </p:txBody>
      </p:sp>
      <p:sp>
        <p:nvSpPr>
          <p:cNvPr id="12" name="p03-n-03">
            <a:extLst xmlns:a="http://schemas.openxmlformats.org/drawingml/2006/main">
              <a:ext uri="{FF2B5EF4-FFF2-40B4-BE49-F238E27FC236}">
                <a16:creationId xmlns:a16="http://schemas.microsoft.com/office/drawing/2014/main" id="{B407A932-85ED-4667-AFB6-20E6E8C2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03-note-03">
            <a:extLst xmlns:a="http://schemas.openxmlformats.org/drawingml/2006/main">
              <a:ext uri="{FF2B5EF4-FFF2-40B4-BE49-F238E27FC236}">
                <a16:creationId xmlns:a16="http://schemas.microsoft.com/office/drawing/2014/main" id="{858A4919-7229-4D9B-96B5-7DB49582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86200"/>
            <a:ext cx="222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A"/>
                </a:solidFill>
              </a:defRPr>
            </a:pPr>
            <a:r>
              <a:rPr sz="135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评审也由模型组件执行</a:t>
            </a:r>
          </a:p>
          <a:p xmlns:a="http://schemas.openxmlformats.org/drawingml/2006/main">
            <a:pPr algn="l">
              <a:defRPr sz="1350" b="1">
                <a:solidFill>
                  <a:srgbClr val="17324A"/>
                </a:solidFill>
              </a:defRPr>
            </a:pPr>
            <a:r>
              <a:rPr sz="135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评价本身需要被检查</a:t>
            </a:r>
          </a:p>
        </p:txBody>
      </p:sp>
      <p:sp>
        <p:nvSpPr>
          <p:cNvPr id="14" name="p03-source">
            <a:extLst xmlns:a="http://schemas.openxmlformats.org/drawingml/2006/main">
              <a:ext uri="{FF2B5EF4-FFF2-40B4-BE49-F238E27FC236}">
                <a16:creationId xmlns:a16="http://schemas.microsoft.com/office/drawing/2014/main" id="{BAD5612A-9D75-4E4F-A092-8770E286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98A"/>
                </a:solidFill>
              </a:defRPr>
            </a:pPr>
            <a:r>
              <a:rPr sz="975" b="0">
                <a:solidFill>
                  <a:srgbClr val="67798A"/>
                </a:solidFill>
                <a:latin typeface="Arial"/>
                <a:ea typeface="Arial"/>
                <a:cs typeface="Arial"/>
              </a:rPr>
              <a:t>Lu et al. · Nature 651 · 2026 · Fig. 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 Unicode MS"/>
                <a:ea typeface="Arial Unicode MS"/>
                <a:cs typeface="Arial Unicode MS"/>
              </a:rPr>
              <a:t>完整论文产物仍不足以证明研究成立</a:t>
            </a:r>
          </a:p>
        </p:txBody>
      </p:sp>
      <p:sp>
        <p:nvSpPr>
          <p:cNvPr id="5" name="p04-paper-shadow">
            <a:extLst xmlns:a="http://schemas.openxmlformats.org/drawingml/2006/main">
              <a:ext uri="{FF2B5EF4-FFF2-40B4-BE49-F238E27FC236}">
                <a16:creationId xmlns:a16="http://schemas.microsoft.com/office/drawing/2014/main" id="{A30528E2-3F9F-4E18-9A22-AF0604FB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40576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p04-paper-p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9e82135144850"/>
          <a:stretch xmlns:a="http://schemas.openxmlformats.org/drawingml/2006/main"/>
        </p:blipFill>
        <p:spPr>
          <a:xfrm xmlns:a="http://schemas.openxmlformats.org/drawingml/2006/main">
            <a:off x="830519" y="1066800"/>
            <a:ext cx="3882513" cy="4629150"/>
          </a:xfrm>
          <a:prstGeom xmlns:a="http://schemas.openxmlformats.org/drawingml/2006/main" prst="rect">
            <a:avLst/>
          </a:prstGeom>
        </p:spPr>
      </p:pic>
      <p:sp>
        <p:nvSpPr>
          <p:cNvPr id="7" name="p04-big">
            <a:extLst xmlns:a="http://schemas.openxmlformats.org/drawingml/2006/main">
              <a:ext uri="{FF2B5EF4-FFF2-40B4-BE49-F238E27FC236}">
                <a16:creationId xmlns:a16="http://schemas.microsoft.com/office/drawing/2014/main" id="{D46DF488-740D-4C49-A58C-3DD23758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28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C8161E"/>
                </a:solidFill>
              </a:defRPr>
            </a:pPr>
            <a:r>
              <a:rPr sz="57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3  →  1</a:t>
            </a:r>
          </a:p>
        </p:txBody>
      </p:sp>
      <p:sp>
        <p:nvSpPr>
          <p:cNvPr id="8" name="p04-big-label">
            <a:extLst xmlns:a="http://schemas.openxmlformats.org/drawingml/2006/main">
              <a:ext uri="{FF2B5EF4-FFF2-40B4-BE49-F238E27FC236}">
                <a16:creationId xmlns:a16="http://schemas.microsoft.com/office/drawing/2014/main" id="{E34E3B9C-C385-4EBD-B457-1A57F129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7798A"/>
                </a:solidFill>
              </a:defRPr>
            </a:pPr>
            <a:r>
              <a:rPr sz="1500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系统稿件提交　　达到 workshop 接收线</a:t>
            </a:r>
          </a:p>
        </p:txBody>
      </p:sp>
      <p:sp>
        <p:nvSpPr>
          <p:cNvPr id="9" name="p04-rule-1">
            <a:extLst xmlns:a="http://schemas.openxmlformats.org/drawingml/2006/main">
              <a:ext uri="{FF2B5EF4-FFF2-40B4-BE49-F238E27FC236}">
                <a16:creationId xmlns:a16="http://schemas.microsoft.com/office/drawing/2014/main" id="{140E7C63-0B4A-4EFD-BF41-11619677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30003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04-ws">
            <a:extLst xmlns:a="http://schemas.openxmlformats.org/drawingml/2006/main">
              <a:ext uri="{FF2B5EF4-FFF2-40B4-BE49-F238E27FC236}">
                <a16:creationId xmlns:a16="http://schemas.microsoft.com/office/drawing/2014/main" id="{0031E50F-544F-43DB-B3D1-6DA83078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813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D47"/>
                </a:solidFill>
              </a:defRPr>
            </a:pPr>
            <a:r>
              <a:rPr sz="3600" b="1">
                <a:solidFill>
                  <a:srgbClr val="102D47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11" name="p04-ws-label">
            <a:extLst xmlns:a="http://schemas.openxmlformats.org/drawingml/2006/main">
              <a:ext uri="{FF2B5EF4-FFF2-40B4-BE49-F238E27FC236}">
                <a16:creationId xmlns:a16="http://schemas.microsoft.com/office/drawing/2014/main" id="{B902176B-FCD9-4ABB-B5BD-635AA868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766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A"/>
                </a:solidFill>
              </a:defRPr>
            </a:pPr>
            <a:r>
              <a:rPr sz="15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ICBINB workshop 接受率</a:t>
            </a:r>
          </a:p>
        </p:txBody>
      </p:sp>
      <p:sp>
        <p:nvSpPr>
          <p:cNvPr id="12" name="p04-main">
            <a:extLst xmlns:a="http://schemas.openxmlformats.org/drawingml/2006/main">
              <a:ext uri="{FF2B5EF4-FFF2-40B4-BE49-F238E27FC236}">
                <a16:creationId xmlns:a16="http://schemas.microsoft.com/office/drawing/2014/main" id="{C4B38CDC-878E-4786-B361-27686FDD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7798A"/>
                </a:solidFill>
              </a:defRPr>
            </a:pPr>
            <a:r>
              <a:rPr sz="3600" b="1">
                <a:solidFill>
                  <a:srgbClr val="67798A"/>
                </a:solidFill>
                <a:latin typeface="Arial"/>
                <a:ea typeface="Arial"/>
                <a:cs typeface="Arial"/>
              </a:rPr>
              <a:t>32%</a:t>
            </a:r>
          </a:p>
        </p:txBody>
      </p:sp>
      <p:sp>
        <p:nvSpPr>
          <p:cNvPr id="13" name="p04-main-label">
            <a:extLst xmlns:a="http://schemas.openxmlformats.org/drawingml/2006/main">
              <a:ext uri="{FF2B5EF4-FFF2-40B4-BE49-F238E27FC236}">
                <a16:creationId xmlns:a16="http://schemas.microsoft.com/office/drawing/2014/main" id="{114873FF-B6BA-42A6-9A0D-83B6CDC1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A"/>
                </a:solidFill>
              </a:defRPr>
            </a:pPr>
            <a:r>
              <a:rPr sz="15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ICLR 2025 主会议接受率</a:t>
            </a:r>
          </a:p>
        </p:txBody>
      </p:sp>
      <p:sp>
        <p:nvSpPr>
          <p:cNvPr id="14" name="p04-rule-2">
            <a:extLst xmlns:a="http://schemas.openxmlformats.org/drawingml/2006/main">
              <a:ext uri="{FF2B5EF4-FFF2-40B4-BE49-F238E27FC236}">
                <a16:creationId xmlns:a16="http://schemas.microsoft.com/office/drawing/2014/main" id="{95F2C21E-5811-4F0C-95C3-2F92F87C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46767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04-boundary">
            <a:extLst xmlns:a="http://schemas.openxmlformats.org/drawingml/2006/main">
              <a:ext uri="{FF2B5EF4-FFF2-40B4-BE49-F238E27FC236}">
                <a16:creationId xmlns:a16="http://schemas.microsoft.com/office/drawing/2014/main" id="{BE9FC42B-64DC-4B56-A8F7-8CC23EC1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577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Arial Unicode MS"/>
                <a:ea typeface="Arial Unicode MS"/>
                <a:cs typeface="Arial Unicode MS"/>
              </a:rPr>
              <a:t>作者团队的内部判断：</a:t>
            </a:r>
          </a:p>
          <a:p xmlns:a="http://schemas.openxmlformats.org/drawingml/2006/main">
            <a:pPr algn="l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Arial Unicode MS"/>
                <a:ea typeface="Arial Unicode MS"/>
                <a:cs typeface="Arial Unicode MS"/>
              </a:rPr>
              <a:t>3 篇均未达到 ICLR 主会议标准。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 Unicode MS"/>
                <a:ea typeface="Arial Unicode MS"/>
                <a:cs typeface="Arial Unicode MS"/>
              </a:rPr>
              <a:t>更高产，也可能让研究更集中</a:t>
            </a:r>
          </a:p>
        </p:txBody>
      </p:sp>
      <p:sp>
        <p:nvSpPr>
          <p:cNvPr id="5" name="p05-left-label">
            <a:extLst xmlns:a="http://schemas.openxmlformats.org/drawingml/2006/main">
              <a:ext uri="{FF2B5EF4-FFF2-40B4-BE49-F238E27FC236}">
                <a16:creationId xmlns:a16="http://schemas.microsoft.com/office/drawing/2014/main" id="{47CADEC5-CA4D-45A8-A117-D15E0B95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47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B"/>
                </a:solidFill>
              </a:defRPr>
            </a:pPr>
            <a:r>
              <a:rPr sz="1500" b="1">
                <a:solidFill>
                  <a:srgbClr val="2E7D5B"/>
                </a:solidFill>
                <a:latin typeface="Arial Unicode MS"/>
                <a:ea typeface="Arial Unicode MS"/>
                <a:cs typeface="Arial Unicode MS"/>
              </a:rPr>
              <a:t>个人层面</a:t>
            </a:r>
          </a:p>
        </p:txBody>
      </p:sp>
      <p:sp>
        <p:nvSpPr>
          <p:cNvPr id="6" name="p05-right-label">
            <a:extLst xmlns:a="http://schemas.openxmlformats.org/drawingml/2006/main">
              <a:ext uri="{FF2B5EF4-FFF2-40B4-BE49-F238E27FC236}">
                <a16:creationId xmlns:a16="http://schemas.microsoft.com/office/drawing/2014/main" id="{A433FBF8-DEF9-4216-9FFC-76D66EBA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47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Arial Unicode MS"/>
                <a:ea typeface="Arial Unicode MS"/>
                <a:cs typeface="Arial Unicode MS"/>
              </a:rPr>
              <a:t>集体层面</a:t>
            </a:r>
          </a:p>
        </p:txBody>
      </p:sp>
      <p:sp>
        <p:nvSpPr>
          <p:cNvPr id="7" name="p05-left-border">
            <a:extLst xmlns:a="http://schemas.openxmlformats.org/drawingml/2006/main">
              <a:ext uri="{FF2B5EF4-FFF2-40B4-BE49-F238E27FC236}">
                <a16:creationId xmlns:a16="http://schemas.microsoft.com/office/drawing/2014/main" id="{06D3D3AF-979B-4CC9-87E4-8506B72D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219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p05-right-border">
            <a:extLst xmlns:a="http://schemas.openxmlformats.org/drawingml/2006/main">
              <a:ext uri="{FF2B5EF4-FFF2-40B4-BE49-F238E27FC236}">
                <a16:creationId xmlns:a16="http://schemas.microsoft.com/office/drawing/2014/main" id="{BE9042DB-158C-41B7-A05F-C7CD1DE7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09700"/>
            <a:ext cx="5219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pic>
        <p:nvPicPr>
          <p:cNvPr id="21" name="p05-fig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af4c02a5d4cda"/>
          <a:stretch xmlns:a="http://schemas.openxmlformats.org/drawingml/2006/main"/>
        </p:blipFill>
        <p:spPr>
          <a:xfrm xmlns:a="http://schemas.openxmlformats.org/drawingml/2006/main">
            <a:off x="1081088" y="1504950"/>
            <a:ext cx="4429125" cy="2952750"/>
          </a:xfrm>
          <a:prstGeom xmlns:a="http://schemas.openxmlformats.org/drawingml/2006/main" prst="rect">
            <a:avLst/>
          </a:prstGeom>
        </p:spPr>
      </p:pic>
      <p:pic>
        <p:nvPicPr>
          <p:cNvPr id="22" name="p05-fig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7ef6381394bf1"/>
          <a:stretch xmlns:a="http://schemas.openxmlformats.org/drawingml/2006/main"/>
        </p:blipFill>
        <p:spPr>
          <a:xfrm xmlns:a="http://schemas.openxmlformats.org/drawingml/2006/main">
            <a:off x="6864061" y="1504950"/>
            <a:ext cx="4026477" cy="2952750"/>
          </a:xfrm>
          <a:prstGeom xmlns:a="http://schemas.openxmlformats.org/drawingml/2006/main" prst="rect">
            <a:avLst/>
          </a:prstGeom>
        </p:spPr>
      </p:pic>
      <p:sp>
        <p:nvSpPr>
          <p:cNvPr id="11" name="p05-metric-1">
            <a:extLst xmlns:a="http://schemas.openxmlformats.org/drawingml/2006/main">
              <a:ext uri="{FF2B5EF4-FFF2-40B4-BE49-F238E27FC236}">
                <a16:creationId xmlns:a16="http://schemas.microsoft.com/office/drawing/2014/main" id="{0F76E068-50D1-4258-81DA-DC42A68A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E7D5B"/>
                </a:solidFill>
              </a:defRPr>
            </a:pPr>
            <a:r>
              <a:rPr sz="31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3.02×</a:t>
            </a:r>
          </a:p>
        </p:txBody>
      </p:sp>
      <p:sp>
        <p:nvSpPr>
          <p:cNvPr id="12" name="p05-metric-2">
            <a:extLst xmlns:a="http://schemas.openxmlformats.org/drawingml/2006/main">
              <a:ext uri="{FF2B5EF4-FFF2-40B4-BE49-F238E27FC236}">
                <a16:creationId xmlns:a16="http://schemas.microsoft.com/office/drawing/2014/main" id="{DEF38B9E-DE40-4991-9B13-E5CFDBA7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E7D5B"/>
                </a:solidFill>
              </a:defRPr>
            </a:pPr>
            <a:r>
              <a:rPr sz="31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4.84×</a:t>
            </a:r>
          </a:p>
        </p:txBody>
      </p:sp>
      <p:sp>
        <p:nvSpPr>
          <p:cNvPr id="13" name="p05-metric-3">
            <a:extLst xmlns:a="http://schemas.openxmlformats.org/drawingml/2006/main">
              <a:ext uri="{FF2B5EF4-FFF2-40B4-BE49-F238E27FC236}">
                <a16:creationId xmlns:a16="http://schemas.microsoft.com/office/drawing/2014/main" id="{193D1CB8-0FD7-4E48-A977-89FDA57F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053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8161E"/>
                </a:solidFill>
              </a:defRPr>
            </a:pPr>
            <a:r>
              <a:rPr sz="31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−4.63%</a:t>
            </a:r>
          </a:p>
        </p:txBody>
      </p:sp>
      <p:sp>
        <p:nvSpPr>
          <p:cNvPr id="14" name="p05-metric-4">
            <a:extLst xmlns:a="http://schemas.openxmlformats.org/drawingml/2006/main">
              <a:ext uri="{FF2B5EF4-FFF2-40B4-BE49-F238E27FC236}">
                <a16:creationId xmlns:a16="http://schemas.microsoft.com/office/drawing/2014/main" id="{104851EC-4F23-46E5-BE86-E7680D10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053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8161E"/>
                </a:solidFill>
              </a:defRPr>
            </a:pPr>
            <a:r>
              <a:rPr sz="31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−22%</a:t>
            </a:r>
          </a:p>
        </p:txBody>
      </p:sp>
      <p:sp>
        <p:nvSpPr>
          <p:cNvPr id="15" name="p05-qualifier">
            <a:extLst xmlns:a="http://schemas.openxmlformats.org/drawingml/2006/main">
              <a:ext uri="{FF2B5EF4-FFF2-40B4-BE49-F238E27FC236}">
                <a16:creationId xmlns:a16="http://schemas.microsoft.com/office/drawing/2014/main" id="{497E23E5-1830-4F3A-ADDA-4450DC45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673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7798A"/>
                </a:solidFill>
              </a:defRPr>
            </a:pPr>
            <a:r>
              <a:rPr sz="1200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基于 4130 万篇论文的观察性关联｜数字不构成因果证明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 Unicode MS"/>
                <a:ea typeface="Arial Unicode MS"/>
                <a:cs typeface="Arial Unicode MS"/>
              </a:rPr>
              <a:t>研究质量来自三种控制</a:t>
            </a:r>
          </a:p>
        </p:txBody>
      </p:sp>
      <p:sp>
        <p:nvSpPr>
          <p:cNvPr id="5" name="p06-thesis">
            <a:extLst xmlns:a="http://schemas.openxmlformats.org/drawingml/2006/main">
              <a:ext uri="{FF2B5EF4-FFF2-40B4-BE49-F238E27FC236}">
                <a16:creationId xmlns:a16="http://schemas.microsoft.com/office/drawing/2014/main" id="{5AF5152B-3A71-4640-9A3A-037D0A2F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A"/>
                </a:solidFill>
              </a:defRPr>
            </a:pPr>
            <a:r>
              <a:rPr sz="255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AI 扩展候选，研究者控制升级条件。</a:t>
            </a:r>
          </a:p>
        </p:txBody>
      </p:sp>
      <p:sp>
        <p:nvSpPr>
          <p:cNvPr id="6" name="p06-track">
            <a:extLst xmlns:a="http://schemas.openxmlformats.org/drawingml/2006/main">
              <a:ext uri="{FF2B5EF4-FFF2-40B4-BE49-F238E27FC236}">
                <a16:creationId xmlns:a16="http://schemas.microsoft.com/office/drawing/2014/main" id="{00ED7CB3-7F35-4387-82EB-91653EFA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3405188"/>
            <a:ext cx="9448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06-claim-dot">
            <a:extLst xmlns:a="http://schemas.openxmlformats.org/drawingml/2006/main">
              <a:ext uri="{FF2B5EF4-FFF2-40B4-BE49-F238E27FC236}">
                <a16:creationId xmlns:a16="http://schemas.microsoft.com/office/drawing/2014/main" id="{737695A3-E2E4-4467-9BAB-46DC2EE4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28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67798A"/>
            </a:solidFill>
            <a:prstDash val="solid"/>
          </a:ln>
        </p:spPr>
      </p:sp>
      <p:sp>
        <p:nvSpPr>
          <p:cNvPr id="8" name="p06-claim-label">
            <a:extLst xmlns:a="http://schemas.openxmlformats.org/drawingml/2006/main">
              <a:ext uri="{FF2B5EF4-FFF2-40B4-BE49-F238E27FC236}">
                <a16:creationId xmlns:a16="http://schemas.microsoft.com/office/drawing/2014/main" id="{79C91144-482D-451D-B52B-03A9E631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7798A"/>
                </a:solidFill>
              </a:defRPr>
            </a:pPr>
            <a:r>
              <a:rPr sz="1650" b="1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待核验主张</a:t>
            </a:r>
          </a:p>
        </p:txBody>
      </p:sp>
      <p:sp>
        <p:nvSpPr>
          <p:cNvPr id="9" name="p06-evidence-dot">
            <a:extLst xmlns:a="http://schemas.openxmlformats.org/drawingml/2006/main">
              <a:ext uri="{FF2B5EF4-FFF2-40B4-BE49-F238E27FC236}">
                <a16:creationId xmlns:a16="http://schemas.microsoft.com/office/drawing/2014/main" id="{48345231-D9FB-4D45-9038-A5C083DF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38100">
            <a:solidFill>
              <a:srgbClr val="C8161E"/>
            </a:solidFill>
            <a:prstDash val="solid"/>
          </a:ln>
        </p:spPr>
      </p:sp>
      <p:sp>
        <p:nvSpPr>
          <p:cNvPr id="10" name="p06-evidence-label">
            <a:extLst xmlns:a="http://schemas.openxmlformats.org/drawingml/2006/main">
              <a:ext uri="{FF2B5EF4-FFF2-40B4-BE49-F238E27FC236}">
                <a16:creationId xmlns:a16="http://schemas.microsoft.com/office/drawing/2014/main" id="{D3BF8879-A263-47F5-B21A-F391F833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860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Arial Unicode MS"/>
                <a:ea typeface="Arial Unicode MS"/>
                <a:cs typeface="Arial Unicode MS"/>
              </a:rPr>
              <a:t>证据可核验</a:t>
            </a:r>
          </a:p>
        </p:txBody>
      </p:sp>
      <p:sp>
        <p:nvSpPr>
          <p:cNvPr id="11" name="p06-experiment-dot">
            <a:extLst xmlns:a="http://schemas.openxmlformats.org/drawingml/2006/main">
              <a:ext uri="{FF2B5EF4-FFF2-40B4-BE49-F238E27FC236}">
                <a16:creationId xmlns:a16="http://schemas.microsoft.com/office/drawing/2014/main" id="{CAE4DA41-3680-483E-8511-8D5D613C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28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38100">
            <a:solidFill>
              <a:srgbClr val="2E7D5B"/>
            </a:solidFill>
            <a:prstDash val="solid"/>
          </a:ln>
        </p:spPr>
      </p:sp>
      <p:sp>
        <p:nvSpPr>
          <p:cNvPr id="12" name="p06-experiment-label">
            <a:extLst xmlns:a="http://schemas.openxmlformats.org/drawingml/2006/main">
              <a:ext uri="{FF2B5EF4-FFF2-40B4-BE49-F238E27FC236}">
                <a16:creationId xmlns:a16="http://schemas.microsoft.com/office/drawing/2014/main" id="{F150A107-1BA6-4078-8E4C-7613AC77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5B"/>
                </a:solidFill>
              </a:defRPr>
            </a:pPr>
            <a:r>
              <a:rPr sz="1650" b="1">
                <a:solidFill>
                  <a:srgbClr val="2E7D5B"/>
                </a:solidFill>
                <a:latin typeface="Arial Unicode MS"/>
                <a:ea typeface="Arial Unicode MS"/>
                <a:cs typeface="Arial Unicode MS"/>
              </a:rPr>
              <a:t>实验可复现</a:t>
            </a:r>
          </a:p>
        </p:txBody>
      </p:sp>
      <p:sp>
        <p:nvSpPr>
          <p:cNvPr id="13" name="p06-trace-dot">
            <a:extLst xmlns:a="http://schemas.openxmlformats.org/drawingml/2006/main">
              <a:ext uri="{FF2B5EF4-FFF2-40B4-BE49-F238E27FC236}">
                <a16:creationId xmlns:a16="http://schemas.microsoft.com/office/drawing/2014/main" id="{12C499E3-2A57-4040-BC3A-AD0840D5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8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47"/>
          </a:solidFill>
          <a:ln xmlns:a="http://schemas.openxmlformats.org/drawingml/2006/main" w="38100">
            <a:solidFill>
              <a:srgbClr val="102D47"/>
            </a:solidFill>
            <a:prstDash val="solid"/>
          </a:ln>
        </p:spPr>
      </p:sp>
      <p:sp>
        <p:nvSpPr>
          <p:cNvPr id="14" name="p06-trace-label">
            <a:extLst xmlns:a="http://schemas.openxmlformats.org/drawingml/2006/main">
              <a:ext uri="{FF2B5EF4-FFF2-40B4-BE49-F238E27FC236}">
                <a16:creationId xmlns:a16="http://schemas.microsoft.com/office/drawing/2014/main" id="{BED0FF0A-3B0E-4FB1-8D6A-32EF6845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D47"/>
                </a:solidFill>
              </a:defRPr>
            </a:pPr>
            <a:r>
              <a:rPr sz="1650" b="1">
                <a:solidFill>
                  <a:srgbClr val="102D47"/>
                </a:solidFill>
                <a:latin typeface="Arial Unicode MS"/>
                <a:ea typeface="Arial Unicode MS"/>
                <a:cs typeface="Arial Unicode MS"/>
              </a:rPr>
              <a:t>过程可追溯</a:t>
            </a:r>
          </a:p>
        </p:txBody>
      </p:sp>
      <p:sp>
        <p:nvSpPr>
          <p:cNvPr id="15" name="p06-arrow">
            <a:extLst xmlns:a="http://schemas.openxmlformats.org/drawingml/2006/main">
              <a:ext uri="{FF2B5EF4-FFF2-40B4-BE49-F238E27FC236}">
                <a16:creationId xmlns:a16="http://schemas.microsoft.com/office/drawing/2014/main" id="{BFD4CD65-1F5C-44C5-B94D-25D8FFC3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086100"/>
            <a:ext cx="590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C8161E"/>
                </a:solidFill>
              </a:defRPr>
            </a:pPr>
            <a:r>
              <a:rPr sz="3750" b="1">
                <a:solidFill>
                  <a:srgbClr val="C8161E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6" name="p06-outcome">
            <a:extLst xmlns:a="http://schemas.openxmlformats.org/drawingml/2006/main">
              <a:ext uri="{FF2B5EF4-FFF2-40B4-BE49-F238E27FC236}">
                <a16:creationId xmlns:a16="http://schemas.microsoft.com/office/drawing/2014/main" id="{828B7B65-5D3E-486E-AC53-2C298A1A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529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Arial Unicode MS"/>
                <a:ea typeface="Arial Unicode MS"/>
                <a:cs typeface="Arial Unicode MS"/>
              </a:rPr>
              <a:t>可审计的研究闭环</a:t>
            </a:r>
          </a:p>
        </p:txBody>
      </p:sp>
      <p:sp>
        <p:nvSpPr>
          <p:cNvPr id="17" name="p06-definition">
            <a:extLst xmlns:a="http://schemas.openxmlformats.org/drawingml/2006/main">
              <a:ext uri="{FF2B5EF4-FFF2-40B4-BE49-F238E27FC236}">
                <a16:creationId xmlns:a16="http://schemas.microsoft.com/office/drawing/2014/main" id="{407CFB4E-8A7C-42D2-9616-B89612FE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292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7798A"/>
                </a:solidFill>
              </a:defRPr>
            </a:pPr>
            <a:r>
              <a:rPr sz="1350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可核验回答“依据在哪里”｜可复现回答“能否重做”｜可追溯回答“谁做了什么判断”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 Unicode MS"/>
                <a:ea typeface="Arial Unicode MS"/>
                <a:cs typeface="Arial Unicode MS"/>
              </a:rPr>
              <a:t>用一条 claim 走完整个研究闭环</a:t>
            </a:r>
          </a:p>
        </p:txBody>
      </p:sp>
      <p:sp>
        <p:nvSpPr>
          <p:cNvPr id="5" name="p07-claim">
            <a:extLst xmlns:a="http://schemas.openxmlformats.org/drawingml/2006/main">
              <a:ext uri="{FF2B5EF4-FFF2-40B4-BE49-F238E27FC236}">
                <a16:creationId xmlns:a16="http://schemas.microsoft.com/office/drawing/2014/main" id="{E5DDD775-5DEF-478C-9ABA-565A9114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A"/>
                </a:solidFill>
              </a:defRPr>
            </a:pPr>
            <a:r>
              <a:rPr sz="210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示例 claim：方法 A 在条件 C 下优于 baseline B。</a:t>
            </a:r>
          </a:p>
        </p:txBody>
      </p:sp>
      <p:sp>
        <p:nvSpPr>
          <p:cNvPr id="6" name="p07-edge-1">
            <a:extLst xmlns:a="http://schemas.openxmlformats.org/drawingml/2006/main">
              <a:ext uri="{FF2B5EF4-FFF2-40B4-BE49-F238E27FC236}">
                <a16:creationId xmlns:a16="http://schemas.microsoft.com/office/drawing/2014/main" id="{CCCA8AFD-952B-4D37-834B-D1A538FC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2538413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07-edge-2">
            <a:extLst xmlns:a="http://schemas.openxmlformats.org/drawingml/2006/main">
              <a:ext uri="{FF2B5EF4-FFF2-40B4-BE49-F238E27FC236}">
                <a16:creationId xmlns:a16="http://schemas.microsoft.com/office/drawing/2014/main" id="{9BD0602D-4708-4579-BE00-0A2FEDF4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2538413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07-edge-3">
            <a:extLst xmlns:a="http://schemas.openxmlformats.org/drawingml/2006/main">
              <a:ext uri="{FF2B5EF4-FFF2-40B4-BE49-F238E27FC236}">
                <a16:creationId xmlns:a16="http://schemas.microsoft.com/office/drawing/2014/main" id="{634CBDFF-860B-4E16-929F-15375B06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2150" y="2538413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07-edge-4">
            <a:extLst xmlns:a="http://schemas.openxmlformats.org/drawingml/2006/main">
              <a:ext uri="{FF2B5EF4-FFF2-40B4-BE49-F238E27FC236}">
                <a16:creationId xmlns:a16="http://schemas.microsoft.com/office/drawing/2014/main" id="{C19C9A7C-DB81-4418-A3D2-39D02B04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71374">
            <a:off x="7626462" y="3395663"/>
            <a:ext cx="252072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07-edge-5">
            <a:extLst xmlns:a="http://schemas.openxmlformats.org/drawingml/2006/main">
              <a:ext uri="{FF2B5EF4-FFF2-40B4-BE49-F238E27FC236}">
                <a16:creationId xmlns:a16="http://schemas.microsoft.com/office/drawing/2014/main" id="{3141177D-0047-4722-845A-BF04E443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620000" y="4252913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07-edge-6">
            <a:extLst xmlns:a="http://schemas.openxmlformats.org/drawingml/2006/main">
              <a:ext uri="{FF2B5EF4-FFF2-40B4-BE49-F238E27FC236}">
                <a16:creationId xmlns:a16="http://schemas.microsoft.com/office/drawing/2014/main" id="{AE6E8B14-B57F-4F2B-A5D6-53B75063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429250" y="4252913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07-edge-7">
            <a:extLst xmlns:a="http://schemas.openxmlformats.org/drawingml/2006/main">
              <a:ext uri="{FF2B5EF4-FFF2-40B4-BE49-F238E27FC236}">
                <a16:creationId xmlns:a16="http://schemas.microsoft.com/office/drawing/2014/main" id="{66F7D1EF-AC3F-46CB-A203-6E43C3FD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238500" y="4252913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07-return-1">
            <a:extLst xmlns:a="http://schemas.openxmlformats.org/drawingml/2006/main">
              <a:ext uri="{FF2B5EF4-FFF2-40B4-BE49-F238E27FC236}">
                <a16:creationId xmlns:a16="http://schemas.microsoft.com/office/drawing/2014/main" id="{5FC3019F-D56F-4C98-87F4-D1B823A6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356062">
            <a:off x="1525856" y="4691063"/>
            <a:ext cx="214893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07-return-2">
            <a:extLst xmlns:a="http://schemas.openxmlformats.org/drawingml/2006/main">
              <a:ext uri="{FF2B5EF4-FFF2-40B4-BE49-F238E27FC236}">
                <a16:creationId xmlns:a16="http://schemas.microsoft.com/office/drawing/2014/main" id="{806EFE15-0AF7-49D0-BB97-FA40D016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753438">
            <a:off x="288904" y="3929063"/>
            <a:ext cx="241304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07-node-1">
            <a:extLst xmlns:a="http://schemas.openxmlformats.org/drawingml/2006/main">
              <a:ext uri="{FF2B5EF4-FFF2-40B4-BE49-F238E27FC236}">
                <a16:creationId xmlns:a16="http://schemas.microsoft.com/office/drawing/2014/main" id="{621CFA91-F13E-4DD4-84B9-56DBC0C2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28575">
            <a:solidFill>
              <a:srgbClr val="C8161E"/>
            </a:solidFill>
            <a:prstDash val="solid"/>
          </a:ln>
        </p:spPr>
      </p:sp>
      <p:sp>
        <p:nvSpPr>
          <p:cNvPr id="16" name="p07-num-1">
            <a:extLst xmlns:a="http://schemas.openxmlformats.org/drawingml/2006/main">
              <a:ext uri="{FF2B5EF4-FFF2-40B4-BE49-F238E27FC236}">
                <a16:creationId xmlns:a16="http://schemas.microsoft.com/office/drawing/2014/main" id="{5FA91716-EC1C-4824-92C0-DC212E4E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p07-label-1">
            <a:extLst xmlns:a="http://schemas.openxmlformats.org/drawingml/2006/main">
              <a:ext uri="{FF2B5EF4-FFF2-40B4-BE49-F238E27FC236}">
                <a16:creationId xmlns:a16="http://schemas.microsoft.com/office/drawing/2014/main" id="{F51657F4-FD2F-47CC-AB9B-C97C9453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A"/>
                </a:solidFill>
              </a:defRPr>
            </a:pPr>
            <a:r>
              <a:rPr sz="135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问题定义</a:t>
            </a:r>
          </a:p>
        </p:txBody>
      </p:sp>
      <p:sp>
        <p:nvSpPr>
          <p:cNvPr id="18" name="p07-node-2">
            <a:extLst xmlns:a="http://schemas.openxmlformats.org/drawingml/2006/main">
              <a:ext uri="{FF2B5EF4-FFF2-40B4-BE49-F238E27FC236}">
                <a16:creationId xmlns:a16="http://schemas.microsoft.com/office/drawing/2014/main" id="{0D659C8D-EB73-4D09-B976-29A36AA4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2D47"/>
            </a:solidFill>
            <a:prstDash val="solid"/>
          </a:ln>
        </p:spPr>
      </p:sp>
      <p:sp>
        <p:nvSpPr>
          <p:cNvPr id="19" name="p07-num-2">
            <a:extLst xmlns:a="http://schemas.openxmlformats.org/drawingml/2006/main">
              <a:ext uri="{FF2B5EF4-FFF2-40B4-BE49-F238E27FC236}">
                <a16:creationId xmlns:a16="http://schemas.microsoft.com/office/drawing/2014/main" id="{0608C73A-084B-450F-A0D2-AEE4581A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907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D47"/>
                </a:solidFill>
              </a:defRPr>
            </a:pPr>
            <a:r>
              <a:rPr sz="1275" b="1">
                <a:solidFill>
                  <a:srgbClr val="102D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07-label-2">
            <a:extLst xmlns:a="http://schemas.openxmlformats.org/drawingml/2006/main">
              <a:ext uri="{FF2B5EF4-FFF2-40B4-BE49-F238E27FC236}">
                <a16:creationId xmlns:a16="http://schemas.microsoft.com/office/drawing/2014/main" id="{292B1622-3336-407F-9903-8901A5E0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38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A"/>
                </a:solidFill>
              </a:defRPr>
            </a:pPr>
            <a:r>
              <a:rPr sz="135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第一性原理</a:t>
            </a:r>
          </a:p>
        </p:txBody>
      </p:sp>
      <p:sp>
        <p:nvSpPr>
          <p:cNvPr id="21" name="p07-node-3">
            <a:extLst xmlns:a="http://schemas.openxmlformats.org/drawingml/2006/main">
              <a:ext uri="{FF2B5EF4-FFF2-40B4-BE49-F238E27FC236}">
                <a16:creationId xmlns:a16="http://schemas.microsoft.com/office/drawing/2014/main" id="{5923EEE0-8061-4594-9B84-4B68E149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2D47"/>
            </a:solidFill>
            <a:prstDash val="solid"/>
          </a:ln>
        </p:spPr>
      </p:sp>
      <p:sp>
        <p:nvSpPr>
          <p:cNvPr id="22" name="p07-num-3">
            <a:extLst xmlns:a="http://schemas.openxmlformats.org/drawingml/2006/main">
              <a:ext uri="{FF2B5EF4-FFF2-40B4-BE49-F238E27FC236}">
                <a16:creationId xmlns:a16="http://schemas.microsoft.com/office/drawing/2014/main" id="{E887DA0D-08AB-4645-A70B-E478B285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907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D47"/>
                </a:solidFill>
              </a:defRPr>
            </a:pPr>
            <a:r>
              <a:rPr sz="1275" b="1">
                <a:solidFill>
                  <a:srgbClr val="102D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p07-label-3">
            <a:extLst xmlns:a="http://schemas.openxmlformats.org/drawingml/2006/main">
              <a:ext uri="{FF2B5EF4-FFF2-40B4-BE49-F238E27FC236}">
                <a16:creationId xmlns:a16="http://schemas.microsoft.com/office/drawing/2014/main" id="{AA5380D9-4AC5-458E-A6F7-01B734A4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38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A"/>
                </a:solidFill>
              </a:defRPr>
            </a:pPr>
            <a:r>
              <a:rPr sz="135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机制假设</a:t>
            </a:r>
          </a:p>
        </p:txBody>
      </p:sp>
      <p:sp>
        <p:nvSpPr>
          <p:cNvPr id="24" name="p07-node-4">
            <a:extLst xmlns:a="http://schemas.openxmlformats.org/drawingml/2006/main">
              <a:ext uri="{FF2B5EF4-FFF2-40B4-BE49-F238E27FC236}">
                <a16:creationId xmlns:a16="http://schemas.microsoft.com/office/drawing/2014/main" id="{885A3990-C100-4FDA-B496-68D38E4C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2D47"/>
            </a:solidFill>
            <a:prstDash val="solid"/>
          </a:ln>
        </p:spPr>
      </p:sp>
      <p:sp>
        <p:nvSpPr>
          <p:cNvPr id="25" name="p07-num-4">
            <a:extLst xmlns:a="http://schemas.openxmlformats.org/drawingml/2006/main">
              <a:ext uri="{FF2B5EF4-FFF2-40B4-BE49-F238E27FC236}">
                <a16:creationId xmlns:a16="http://schemas.microsoft.com/office/drawing/2014/main" id="{454908C9-DBC7-4DDC-B9F7-F8EBC11B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907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D47"/>
                </a:solidFill>
              </a:defRPr>
            </a:pPr>
            <a:r>
              <a:rPr sz="1275" b="1">
                <a:solidFill>
                  <a:srgbClr val="102D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p07-label-4">
            <a:extLst xmlns:a="http://schemas.openxmlformats.org/drawingml/2006/main">
              <a:ext uri="{FF2B5EF4-FFF2-40B4-BE49-F238E27FC236}">
                <a16:creationId xmlns:a16="http://schemas.microsoft.com/office/drawing/2014/main" id="{3B0216B1-4836-470C-ACF8-9FC67B87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38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A"/>
                </a:solidFill>
              </a:defRPr>
            </a:pPr>
            <a:r>
              <a:rPr sz="135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外部输入</a:t>
            </a:r>
          </a:p>
        </p:txBody>
      </p:sp>
      <p:sp>
        <p:nvSpPr>
          <p:cNvPr id="27" name="p07-node-5">
            <a:extLst xmlns:a="http://schemas.openxmlformats.org/drawingml/2006/main">
              <a:ext uri="{FF2B5EF4-FFF2-40B4-BE49-F238E27FC236}">
                <a16:creationId xmlns:a16="http://schemas.microsoft.com/office/drawing/2014/main" id="{C8E44BC8-2AF2-4CE2-9B44-B3DF6FE2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2D47"/>
            </a:solidFill>
            <a:prstDash val="solid"/>
          </a:ln>
        </p:spPr>
      </p:sp>
      <p:sp>
        <p:nvSpPr>
          <p:cNvPr id="28" name="p07-num-5">
            <a:extLst xmlns:a="http://schemas.openxmlformats.org/drawingml/2006/main">
              <a:ext uri="{FF2B5EF4-FFF2-40B4-BE49-F238E27FC236}">
                <a16:creationId xmlns:a16="http://schemas.microsoft.com/office/drawing/2014/main" id="{88B1E5F4-CE30-4AEE-AC09-79C44EDF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052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D47"/>
                </a:solidFill>
              </a:defRPr>
            </a:pPr>
            <a:r>
              <a:rPr sz="1275" b="1">
                <a:solidFill>
                  <a:srgbClr val="102D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p07-label-5">
            <a:extLst xmlns:a="http://schemas.openxmlformats.org/drawingml/2006/main">
              <a:ext uri="{FF2B5EF4-FFF2-40B4-BE49-F238E27FC236}">
                <a16:creationId xmlns:a16="http://schemas.microsoft.com/office/drawing/2014/main" id="{DD92400F-E95A-45CE-AE74-A57C06C7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529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A"/>
                </a:solidFill>
              </a:defRPr>
            </a:pPr>
            <a:r>
              <a:rPr sz="135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证据整理</a:t>
            </a:r>
          </a:p>
        </p:txBody>
      </p:sp>
      <p:sp>
        <p:nvSpPr>
          <p:cNvPr id="30" name="p07-node-6">
            <a:extLst xmlns:a="http://schemas.openxmlformats.org/drawingml/2006/main">
              <a:ext uri="{FF2B5EF4-FFF2-40B4-BE49-F238E27FC236}">
                <a16:creationId xmlns:a16="http://schemas.microsoft.com/office/drawing/2014/main" id="{B7F7FD28-7FD7-4149-BF45-9EF7BBBD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2D47"/>
            </a:solidFill>
            <a:prstDash val="solid"/>
          </a:ln>
        </p:spPr>
      </p:sp>
      <p:sp>
        <p:nvSpPr>
          <p:cNvPr id="31" name="p07-num-6">
            <a:extLst xmlns:a="http://schemas.openxmlformats.org/drawingml/2006/main">
              <a:ext uri="{FF2B5EF4-FFF2-40B4-BE49-F238E27FC236}">
                <a16:creationId xmlns:a16="http://schemas.microsoft.com/office/drawing/2014/main" id="{46CEC449-ACE8-4C5A-8350-78BE0B6C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D47"/>
                </a:solidFill>
              </a:defRPr>
            </a:pPr>
            <a:r>
              <a:rPr sz="1275" b="1">
                <a:solidFill>
                  <a:srgbClr val="102D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2" name="p07-label-6">
            <a:extLst xmlns:a="http://schemas.openxmlformats.org/drawingml/2006/main">
              <a:ext uri="{FF2B5EF4-FFF2-40B4-BE49-F238E27FC236}">
                <a16:creationId xmlns:a16="http://schemas.microsoft.com/office/drawing/2014/main" id="{47967C12-9BF9-4CA8-8356-4A9CCFE5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529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A"/>
                </a:solidFill>
              </a:defRPr>
            </a:pPr>
            <a:r>
              <a:rPr sz="135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研究判断</a:t>
            </a:r>
          </a:p>
        </p:txBody>
      </p:sp>
      <p:sp>
        <p:nvSpPr>
          <p:cNvPr id="33" name="p07-node-7">
            <a:extLst xmlns:a="http://schemas.openxmlformats.org/drawingml/2006/main">
              <a:ext uri="{FF2B5EF4-FFF2-40B4-BE49-F238E27FC236}">
                <a16:creationId xmlns:a16="http://schemas.microsoft.com/office/drawing/2014/main" id="{FA39923A-FC0D-4413-91B9-EBB9BE45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2D47"/>
            </a:solidFill>
            <a:prstDash val="solid"/>
          </a:ln>
        </p:spPr>
      </p:sp>
      <p:sp>
        <p:nvSpPr>
          <p:cNvPr id="34" name="p07-num-7">
            <a:extLst xmlns:a="http://schemas.openxmlformats.org/drawingml/2006/main">
              <a:ext uri="{FF2B5EF4-FFF2-40B4-BE49-F238E27FC236}">
                <a16:creationId xmlns:a16="http://schemas.microsoft.com/office/drawing/2014/main" id="{70D545F0-4B00-40B4-A685-7ADE93B3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D47"/>
                </a:solidFill>
              </a:defRPr>
            </a:pPr>
            <a:r>
              <a:rPr sz="1275" b="1">
                <a:solidFill>
                  <a:srgbClr val="102D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5" name="p07-label-7">
            <a:extLst xmlns:a="http://schemas.openxmlformats.org/drawingml/2006/main">
              <a:ext uri="{FF2B5EF4-FFF2-40B4-BE49-F238E27FC236}">
                <a16:creationId xmlns:a16="http://schemas.microsoft.com/office/drawing/2014/main" id="{A8BE0847-2356-442B-8670-A9FDE8FF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529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A"/>
                </a:solidFill>
              </a:defRPr>
            </a:pPr>
            <a:r>
              <a:rPr sz="135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原型验证</a:t>
            </a:r>
          </a:p>
        </p:txBody>
      </p:sp>
      <p:sp>
        <p:nvSpPr>
          <p:cNvPr id="36" name="p07-node-8">
            <a:extLst xmlns:a="http://schemas.openxmlformats.org/drawingml/2006/main">
              <a:ext uri="{FF2B5EF4-FFF2-40B4-BE49-F238E27FC236}">
                <a16:creationId xmlns:a16="http://schemas.microsoft.com/office/drawing/2014/main" id="{8F569166-C162-4B45-A997-5E621C11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2D47"/>
            </a:solidFill>
            <a:prstDash val="solid"/>
          </a:ln>
        </p:spPr>
      </p:sp>
      <p:sp>
        <p:nvSpPr>
          <p:cNvPr id="37" name="p07-num-8">
            <a:extLst xmlns:a="http://schemas.openxmlformats.org/drawingml/2006/main">
              <a:ext uri="{FF2B5EF4-FFF2-40B4-BE49-F238E27FC236}">
                <a16:creationId xmlns:a16="http://schemas.microsoft.com/office/drawing/2014/main" id="{1BB784CC-3FB1-4834-A449-6814B1E7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052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D47"/>
                </a:solidFill>
              </a:defRPr>
            </a:pPr>
            <a:r>
              <a:rPr sz="1275" b="1">
                <a:solidFill>
                  <a:srgbClr val="102D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8" name="p07-label-8">
            <a:extLst xmlns:a="http://schemas.openxmlformats.org/drawingml/2006/main">
              <a:ext uri="{FF2B5EF4-FFF2-40B4-BE49-F238E27FC236}">
                <a16:creationId xmlns:a16="http://schemas.microsoft.com/office/drawing/2014/main" id="{05CEFFE4-FC0A-48D9-9536-77FF80E2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529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A"/>
                </a:solidFill>
              </a:defRPr>
            </a:pPr>
            <a:r>
              <a:rPr sz="135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回写表达</a:t>
            </a:r>
          </a:p>
        </p:txBody>
      </p:sp>
      <p:sp>
        <p:nvSpPr>
          <p:cNvPr id="39" name="p07-return-label">
            <a:extLst xmlns:a="http://schemas.openxmlformats.org/drawingml/2006/main">
              <a:ext uri="{FF2B5EF4-FFF2-40B4-BE49-F238E27FC236}">
                <a16:creationId xmlns:a16="http://schemas.microsoft.com/office/drawing/2014/main" id="{4258C153-8807-4559-9D35-B44192E5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Arial Unicode MS"/>
                <a:ea typeface="Arial Unicode MS"/>
                <a:cs typeface="Arial Unicode MS"/>
              </a:rPr>
              <a:t>失败后回到上游判断，不是重跑到成功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 Unicode MS"/>
                <a:ea typeface="Arial Unicode MS"/>
                <a:cs typeface="Arial Unicode MS"/>
              </a:rPr>
              <a:t>四个研究门分别拦住四类错误</a:t>
            </a:r>
          </a:p>
        </p:txBody>
      </p:sp>
      <p:sp>
        <p:nvSpPr>
          <p:cNvPr id="5" name="p08-intro">
            <a:extLst xmlns:a="http://schemas.openxmlformats.org/drawingml/2006/main">
              <a:ext uri="{FF2B5EF4-FFF2-40B4-BE49-F238E27FC236}">
                <a16:creationId xmlns:a16="http://schemas.microsoft.com/office/drawing/2014/main" id="{D74F2FC0-B15D-43AA-8623-09D792FB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A"/>
                </a:solidFill>
              </a:defRPr>
            </a:pPr>
            <a:r>
              <a:rPr sz="2025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门的作用：在错误进入下一阶段前，要求补证据或退回修改。</a:t>
            </a:r>
          </a:p>
        </p:txBody>
      </p:sp>
      <p:sp>
        <p:nvSpPr>
          <p:cNvPr id="6" name="p08-path">
            <a:extLst xmlns:a="http://schemas.openxmlformats.org/drawingml/2006/main">
              <a:ext uri="{FF2B5EF4-FFF2-40B4-BE49-F238E27FC236}">
                <a16:creationId xmlns:a16="http://schemas.microsoft.com/office/drawing/2014/main" id="{40B00A25-2296-4056-93A6-1068887A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519488"/>
            <a:ext cx="981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08-gate-line-0">
            <a:extLst xmlns:a="http://schemas.openxmlformats.org/drawingml/2006/main">
              <a:ext uri="{FF2B5EF4-FFF2-40B4-BE49-F238E27FC236}">
                <a16:creationId xmlns:a16="http://schemas.microsoft.com/office/drawing/2014/main" id="{AAD7C06F-48C8-448A-8036-6819F9AF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4425" y="3490913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08-gate-line-1">
            <a:extLst xmlns:a="http://schemas.openxmlformats.org/drawingml/2006/main">
              <a:ext uri="{FF2B5EF4-FFF2-40B4-BE49-F238E27FC236}">
                <a16:creationId xmlns:a16="http://schemas.microsoft.com/office/drawing/2014/main" id="{73F7210E-BAA1-405A-9575-8107E858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90925" y="3490913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08-gate-line-2">
            <a:extLst xmlns:a="http://schemas.openxmlformats.org/drawingml/2006/main">
              <a:ext uri="{FF2B5EF4-FFF2-40B4-BE49-F238E27FC236}">
                <a16:creationId xmlns:a16="http://schemas.microsoft.com/office/drawing/2014/main" id="{652B31CA-5D4B-4C2F-9FCC-9D661A35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57925" y="3490913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08-gate-line-3">
            <a:extLst xmlns:a="http://schemas.openxmlformats.org/drawingml/2006/main">
              <a:ext uri="{FF2B5EF4-FFF2-40B4-BE49-F238E27FC236}">
                <a16:creationId xmlns:a16="http://schemas.microsoft.com/office/drawing/2014/main" id="{42A4880B-7C16-41EB-AFE8-3C814FA0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734425" y="3476625"/>
            <a:ext cx="2724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08-code-0">
            <a:extLst xmlns:a="http://schemas.openxmlformats.org/drawingml/2006/main">
              <a:ext uri="{FF2B5EF4-FFF2-40B4-BE49-F238E27FC236}">
                <a16:creationId xmlns:a16="http://schemas.microsoft.com/office/drawing/2014/main" id="{9A91C854-4AB9-45ED-BF6D-9C655330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47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G1 · W6</a:t>
            </a:r>
          </a:p>
        </p:txBody>
      </p:sp>
      <p:sp>
        <p:nvSpPr>
          <p:cNvPr id="12" name="p08-label-0">
            <a:extLst xmlns:a="http://schemas.openxmlformats.org/drawingml/2006/main">
              <a:ext uri="{FF2B5EF4-FFF2-40B4-BE49-F238E27FC236}">
                <a16:creationId xmlns:a16="http://schemas.microsoft.com/office/drawing/2014/main" id="{EC42FEBD-263E-4B50-AD05-59278145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3622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D47"/>
                </a:solidFill>
              </a:defRPr>
            </a:pPr>
            <a:r>
              <a:rPr sz="1800" b="1">
                <a:solidFill>
                  <a:srgbClr val="102D47"/>
                </a:solidFill>
                <a:latin typeface="Arial Unicode MS"/>
                <a:ea typeface="Arial Unicode MS"/>
                <a:cs typeface="Arial Unicode MS"/>
              </a:rPr>
              <a:t>问题门</a:t>
            </a:r>
          </a:p>
        </p:txBody>
      </p:sp>
      <p:sp>
        <p:nvSpPr>
          <p:cNvPr id="13" name="p08-failure-0">
            <a:extLst xmlns:a="http://schemas.openxmlformats.org/drawingml/2006/main">
              <a:ext uri="{FF2B5EF4-FFF2-40B4-BE49-F238E27FC236}">
                <a16:creationId xmlns:a16="http://schemas.microsoft.com/office/drawing/2014/main" id="{A28ED441-7A92-46B7-848C-95FA3FE8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7798A"/>
                </a:solidFill>
              </a:defRPr>
            </a:pPr>
            <a:r>
              <a:rPr sz="1275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不可证伪 / 证据不足</a:t>
            </a:r>
          </a:p>
        </p:txBody>
      </p:sp>
      <p:sp>
        <p:nvSpPr>
          <p:cNvPr id="14" name="p08-code-1">
            <a:extLst xmlns:a="http://schemas.openxmlformats.org/drawingml/2006/main">
              <a:ext uri="{FF2B5EF4-FFF2-40B4-BE49-F238E27FC236}">
                <a16:creationId xmlns:a16="http://schemas.microsoft.com/office/drawing/2014/main" id="{723139E3-A099-42FF-8FA4-9D796A61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G2 · W9</a:t>
            </a:r>
          </a:p>
        </p:txBody>
      </p:sp>
      <p:sp>
        <p:nvSpPr>
          <p:cNvPr id="15" name="p08-label-1">
            <a:extLst xmlns:a="http://schemas.openxmlformats.org/drawingml/2006/main">
              <a:ext uri="{FF2B5EF4-FFF2-40B4-BE49-F238E27FC236}">
                <a16:creationId xmlns:a16="http://schemas.microsoft.com/office/drawing/2014/main" id="{6C37320B-EC8F-46E2-8058-93FD12B6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622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D47"/>
                </a:solidFill>
              </a:defRPr>
            </a:pPr>
            <a:r>
              <a:rPr sz="1800" b="1">
                <a:solidFill>
                  <a:srgbClr val="102D47"/>
                </a:solidFill>
                <a:latin typeface="Arial Unicode MS"/>
                <a:ea typeface="Arial Unicode MS"/>
                <a:cs typeface="Arial Unicode MS"/>
              </a:rPr>
              <a:t>判断门</a:t>
            </a:r>
          </a:p>
        </p:txBody>
      </p:sp>
      <p:sp>
        <p:nvSpPr>
          <p:cNvPr id="16" name="p08-failure-1">
            <a:extLst xmlns:a="http://schemas.openxmlformats.org/drawingml/2006/main">
              <a:ext uri="{FF2B5EF4-FFF2-40B4-BE49-F238E27FC236}">
                <a16:creationId xmlns:a16="http://schemas.microsoft.com/office/drawing/2014/main" id="{80DEB634-BF07-4672-BC66-57C1D153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9530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7798A"/>
                </a:solidFill>
              </a:defRPr>
            </a:pPr>
            <a:r>
              <a:rPr sz="1275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baseline / 实验规格不成立</a:t>
            </a:r>
          </a:p>
        </p:txBody>
      </p:sp>
      <p:sp>
        <p:nvSpPr>
          <p:cNvPr id="17" name="p08-code-2">
            <a:extLst xmlns:a="http://schemas.openxmlformats.org/drawingml/2006/main">
              <a:ext uri="{FF2B5EF4-FFF2-40B4-BE49-F238E27FC236}">
                <a16:creationId xmlns:a16="http://schemas.microsoft.com/office/drawing/2014/main" id="{C2C96FDF-9FF6-4390-BD4F-BAA2798F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47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G3 · W13</a:t>
            </a:r>
          </a:p>
        </p:txBody>
      </p:sp>
      <p:sp>
        <p:nvSpPr>
          <p:cNvPr id="18" name="p08-label-2">
            <a:extLst xmlns:a="http://schemas.openxmlformats.org/drawingml/2006/main">
              <a:ext uri="{FF2B5EF4-FFF2-40B4-BE49-F238E27FC236}">
                <a16:creationId xmlns:a16="http://schemas.microsoft.com/office/drawing/2014/main" id="{678195B4-87D2-4E85-8CB7-CA5DADB1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622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D47"/>
                </a:solidFill>
              </a:defRPr>
            </a:pPr>
            <a:r>
              <a:rPr sz="1800" b="1">
                <a:solidFill>
                  <a:srgbClr val="102D47"/>
                </a:solidFill>
                <a:latin typeface="Arial Unicode MS"/>
                <a:ea typeface="Arial Unicode MS"/>
                <a:cs typeface="Arial Unicode MS"/>
              </a:rPr>
              <a:t>验证门</a:t>
            </a:r>
          </a:p>
        </p:txBody>
      </p:sp>
      <p:sp>
        <p:nvSpPr>
          <p:cNvPr id="19" name="p08-failure-2">
            <a:extLst xmlns:a="http://schemas.openxmlformats.org/drawingml/2006/main">
              <a:ext uri="{FF2B5EF4-FFF2-40B4-BE49-F238E27FC236}">
                <a16:creationId xmlns:a16="http://schemas.microsoft.com/office/drawing/2014/main" id="{6F3C9D35-30AA-4EAF-A710-93A26877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530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7798A"/>
                </a:solidFill>
              </a:defRPr>
            </a:pPr>
            <a:r>
              <a:rPr sz="1275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工作流没有改善研究动作</a:t>
            </a:r>
          </a:p>
        </p:txBody>
      </p:sp>
      <p:sp>
        <p:nvSpPr>
          <p:cNvPr id="20" name="p08-code-3">
            <a:extLst xmlns:a="http://schemas.openxmlformats.org/drawingml/2006/main">
              <a:ext uri="{FF2B5EF4-FFF2-40B4-BE49-F238E27FC236}">
                <a16:creationId xmlns:a16="http://schemas.microsoft.com/office/drawing/2014/main" id="{18167A38-1652-470A-B64D-BA9AA9AD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47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G4 · W16</a:t>
            </a:r>
          </a:p>
        </p:txBody>
      </p:sp>
      <p:sp>
        <p:nvSpPr>
          <p:cNvPr id="21" name="p08-label-3">
            <a:extLst xmlns:a="http://schemas.openxmlformats.org/drawingml/2006/main">
              <a:ext uri="{FF2B5EF4-FFF2-40B4-BE49-F238E27FC236}">
                <a16:creationId xmlns:a16="http://schemas.microsoft.com/office/drawing/2014/main" id="{156761D0-A43D-4BD8-AAE0-D6F4F93C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622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D47"/>
                </a:solidFill>
              </a:defRPr>
            </a:pPr>
            <a:r>
              <a:rPr sz="1800" b="1">
                <a:solidFill>
                  <a:srgbClr val="102D47"/>
                </a:solidFill>
                <a:latin typeface="Arial Unicode MS"/>
                <a:ea typeface="Arial Unicode MS"/>
                <a:cs typeface="Arial Unicode MS"/>
              </a:rPr>
              <a:t>论证门</a:t>
            </a:r>
          </a:p>
        </p:txBody>
      </p:sp>
      <p:sp>
        <p:nvSpPr>
          <p:cNvPr id="22" name="p08-failure-3">
            <a:extLst xmlns:a="http://schemas.openxmlformats.org/drawingml/2006/main">
              <a:ext uri="{FF2B5EF4-FFF2-40B4-BE49-F238E27FC236}">
                <a16:creationId xmlns:a16="http://schemas.microsoft.com/office/drawing/2014/main" id="{B2440154-73FD-4D3E-8349-D83BBB76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7798A"/>
                </a:solidFill>
              </a:defRPr>
            </a:pPr>
            <a:r>
              <a:rPr sz="1275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结论无法反向追溯</a:t>
            </a:r>
          </a:p>
        </p:txBody>
      </p:sp>
      <p:sp>
        <p:nvSpPr>
          <p:cNvPr id="23" name="p08-start">
            <a:extLst xmlns:a="http://schemas.openxmlformats.org/drawingml/2006/main">
              <a:ext uri="{FF2B5EF4-FFF2-40B4-BE49-F238E27FC236}">
                <a16:creationId xmlns:a16="http://schemas.microsoft.com/office/drawing/2014/main" id="{6B45CBC0-B486-4BF8-8823-444CB385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7798A"/>
                </a:solidFill>
              </a:defRPr>
            </a:pPr>
            <a:r>
              <a:rPr sz="1350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问题</a:t>
            </a:r>
          </a:p>
        </p:txBody>
      </p:sp>
      <p:sp>
        <p:nvSpPr>
          <p:cNvPr id="24" name="p08-end">
            <a:extLst xmlns:a="http://schemas.openxmlformats.org/drawingml/2006/main">
              <a:ext uri="{FF2B5EF4-FFF2-40B4-BE49-F238E27FC236}">
                <a16:creationId xmlns:a16="http://schemas.microsoft.com/office/drawing/2014/main" id="{986A8EE3-6164-4884-A6E8-5BD019C2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695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7798A"/>
                </a:solidFill>
              </a:defRPr>
            </a:pPr>
            <a:r>
              <a:rPr sz="1350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论证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 Unicode MS"/>
                <a:ea typeface="Arial Unicode MS"/>
                <a:cs typeface="Arial Unicode MS"/>
              </a:rPr>
              <a:t>16 周只维护一个个人项目</a:t>
            </a:r>
          </a:p>
        </p:txBody>
      </p:sp>
      <p:sp>
        <p:nvSpPr>
          <p:cNvPr id="5" name="p09-source-label">
            <a:extLst xmlns:a="http://schemas.openxmlformats.org/drawingml/2006/main">
              <a:ext uri="{FF2B5EF4-FFF2-40B4-BE49-F238E27FC236}">
                <a16:creationId xmlns:a16="http://schemas.microsoft.com/office/drawing/2014/main" id="{A4AEE589-C10B-4AAB-AA5D-9B8FCBBD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starter-template.md · 最小文件结构</a:t>
            </a:r>
          </a:p>
        </p:txBody>
      </p:sp>
      <p:sp>
        <p:nvSpPr>
          <p:cNvPr id="6" name="p09-paper">
            <a:extLst xmlns:a="http://schemas.openxmlformats.org/drawingml/2006/main">
              <a:ext uri="{FF2B5EF4-FFF2-40B4-BE49-F238E27FC236}">
                <a16:creationId xmlns:a16="http://schemas.microsoft.com/office/drawing/2014/main" id="{BB8A03D1-2726-4254-B025-781A2FD2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56388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7" name="p09-paper-rule">
            <a:extLst xmlns:a="http://schemas.openxmlformats.org/drawingml/2006/main">
              <a:ext uri="{FF2B5EF4-FFF2-40B4-BE49-F238E27FC236}">
                <a16:creationId xmlns:a16="http://schemas.microsoft.com/office/drawing/2014/main" id="{0A8C8E98-7EFD-4E73-A98B-C5C20A64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381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09-tree">
            <a:extLst xmlns:a="http://schemas.openxmlformats.org/drawingml/2006/main">
              <a:ext uri="{FF2B5EF4-FFF2-40B4-BE49-F238E27FC236}">
                <a16:creationId xmlns:a16="http://schemas.microsoft.com/office/drawing/2014/main" id="{DDE82675-3464-418F-8A55-B7098878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76400"/>
            <a:ext cx="4857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76200" rIns="381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A"/>
                </a:solidFill>
              </a:defRPr>
            </a:pPr>
            <a:r>
              <a:rPr sz="17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project/</a:t>
            </a:r>
          </a:p>
          <a:p xmlns:a="http://schemas.openxmlformats.org/drawingml/2006/main">
            <a:pPr algn="l">
              <a:defRPr sz="1725" b="0">
                <a:solidFill>
                  <a:srgbClr val="17324A"/>
                </a:solidFill>
              </a:defRPr>
            </a:pPr>
            <a:r>
              <a:rPr sz="17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├── problem-definition.md</a:t>
            </a:r>
          </a:p>
          <a:p xmlns:a="http://schemas.openxmlformats.org/drawingml/2006/main">
            <a:pPr algn="l">
              <a:defRPr sz="1725" b="0">
                <a:solidFill>
                  <a:srgbClr val="17324A"/>
                </a:solidFill>
              </a:defRPr>
            </a:pPr>
            <a:r>
              <a:rPr sz="17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├── reading-cards.md</a:t>
            </a:r>
          </a:p>
          <a:p xmlns:a="http://schemas.openxmlformats.org/drawingml/2006/main">
            <a:pPr algn="l">
              <a:defRPr sz="1725" b="0">
                <a:solidFill>
                  <a:srgbClr val="17324A"/>
                </a:solidFill>
              </a:defRPr>
            </a:pPr>
            <a:r>
              <a:rPr sz="17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├── artifact-tracking.md</a:t>
            </a:r>
          </a:p>
          <a:p xmlns:a="http://schemas.openxmlformats.org/drawingml/2006/main">
            <a:pPr algn="l">
              <a:defRPr sz="1725" b="0">
                <a:solidFill>
                  <a:srgbClr val="17324A"/>
                </a:solidFill>
              </a:defRPr>
            </a:pPr>
            <a:r>
              <a:rPr sz="17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├── ai-usage-log.md</a:t>
            </a:r>
          </a:p>
          <a:p xmlns:a="http://schemas.openxmlformats.org/drawingml/2006/main">
            <a:pPr algn="l">
              <a:defRPr sz="1725" b="0">
                <a:solidFill>
                  <a:srgbClr val="17324A"/>
                </a:solidFill>
              </a:defRPr>
            </a:pPr>
            <a:r>
              <a:rPr sz="17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├── agent-permissions.md</a:t>
            </a:r>
          </a:p>
          <a:p xmlns:a="http://schemas.openxmlformats.org/drawingml/2006/main">
            <a:pPr algn="l">
              <a:defRPr sz="1725" b="0">
                <a:solidFill>
                  <a:srgbClr val="17324A"/>
                </a:solidFill>
              </a:defRPr>
            </a:pPr>
            <a:r>
              <a:rPr sz="17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├── ethics-and-compliance.md</a:t>
            </a:r>
          </a:p>
          <a:p xmlns:a="http://schemas.openxmlformats.org/drawingml/2006/main">
            <a:pPr algn="l">
              <a:defRPr sz="1725" b="0">
                <a:solidFill>
                  <a:srgbClr val="17324A"/>
                </a:solidFill>
              </a:defRPr>
            </a:pPr>
            <a:r>
              <a:rPr sz="17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└── notes/</a:t>
            </a:r>
          </a:p>
        </p:txBody>
      </p:sp>
      <p:sp>
        <p:nvSpPr>
          <p:cNvPr id="9" name="p09-project-rule">
            <a:extLst xmlns:a="http://schemas.openxmlformats.org/drawingml/2006/main">
              <a:ext uri="{FF2B5EF4-FFF2-40B4-BE49-F238E27FC236}">
                <a16:creationId xmlns:a16="http://schemas.microsoft.com/office/drawing/2014/main" id="{4E630836-19B3-41B7-80C8-BFEBFAB2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98A"/>
                </a:solidFill>
              </a:defRPr>
            </a:pPr>
            <a:r>
              <a:rPr sz="1350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第 1 周允许它不完整；后续课堂持续回写同一项目。</a:t>
            </a:r>
          </a:p>
        </p:txBody>
      </p:sp>
      <p:sp>
        <p:nvSpPr>
          <p:cNvPr id="10" name="p09-growth">
            <a:extLst xmlns:a="http://schemas.openxmlformats.org/drawingml/2006/main">
              <a:ext uri="{FF2B5EF4-FFF2-40B4-BE49-F238E27FC236}">
                <a16:creationId xmlns:a16="http://schemas.microsoft.com/office/drawing/2014/main" id="{75180C96-F155-4534-B608-953AFA8E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47328">
            <a:off x="6880249" y="3338513"/>
            <a:ext cx="427985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09-dot-0">
            <a:extLst xmlns:a="http://schemas.openxmlformats.org/drawingml/2006/main">
              <a:ext uri="{FF2B5EF4-FFF2-40B4-BE49-F238E27FC236}">
                <a16:creationId xmlns:a16="http://schemas.microsoft.com/office/drawing/2014/main" id="{DE60AE71-45EC-4C89-915F-00773328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62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8161E"/>
            </a:solidFill>
            <a:prstDash val="solid"/>
          </a:ln>
        </p:spPr>
      </p:sp>
      <p:sp>
        <p:nvSpPr>
          <p:cNvPr id="12" name="p09-week-0">
            <a:extLst xmlns:a="http://schemas.openxmlformats.org/drawingml/2006/main">
              <a:ext uri="{FF2B5EF4-FFF2-40B4-BE49-F238E27FC236}">
                <a16:creationId xmlns:a16="http://schemas.microsoft.com/office/drawing/2014/main" id="{56A7A600-04C9-47C8-97C6-2A8B1F29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672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W1</a:t>
            </a:r>
          </a:p>
        </p:txBody>
      </p:sp>
      <p:sp>
        <p:nvSpPr>
          <p:cNvPr id="13" name="p09-wlabel-0">
            <a:extLst xmlns:a="http://schemas.openxmlformats.org/drawingml/2006/main">
              <a:ext uri="{FF2B5EF4-FFF2-40B4-BE49-F238E27FC236}">
                <a16:creationId xmlns:a16="http://schemas.microsoft.com/office/drawing/2014/main" id="{D824EE6A-18C5-45E2-89D4-0ADCAD09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14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24A"/>
                </a:solidFill>
              </a:defRPr>
            </a:pPr>
            <a:r>
              <a:rPr sz="12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问题初稿</a:t>
            </a:r>
          </a:p>
        </p:txBody>
      </p:sp>
      <p:sp>
        <p:nvSpPr>
          <p:cNvPr id="14" name="p09-dot-1">
            <a:extLst xmlns:a="http://schemas.openxmlformats.org/drawingml/2006/main">
              <a:ext uri="{FF2B5EF4-FFF2-40B4-BE49-F238E27FC236}">
                <a16:creationId xmlns:a16="http://schemas.microsoft.com/office/drawing/2014/main" id="{D3031DCC-751C-43FB-B949-78BE71A7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67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28575">
            <a:solidFill>
              <a:srgbClr val="C8161E"/>
            </a:solidFill>
            <a:prstDash val="solid"/>
          </a:ln>
        </p:spPr>
      </p:sp>
      <p:sp>
        <p:nvSpPr>
          <p:cNvPr id="15" name="p09-week-1">
            <a:extLst xmlns:a="http://schemas.openxmlformats.org/drawingml/2006/main">
              <a:ext uri="{FF2B5EF4-FFF2-40B4-BE49-F238E27FC236}">
                <a16:creationId xmlns:a16="http://schemas.microsoft.com/office/drawing/2014/main" id="{D5149275-106E-44C3-BBED-23503CC9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719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W6</a:t>
            </a:r>
          </a:p>
        </p:txBody>
      </p:sp>
      <p:sp>
        <p:nvSpPr>
          <p:cNvPr id="16" name="p09-wlabel-1">
            <a:extLst xmlns:a="http://schemas.openxmlformats.org/drawingml/2006/main">
              <a:ext uri="{FF2B5EF4-FFF2-40B4-BE49-F238E27FC236}">
                <a16:creationId xmlns:a16="http://schemas.microsoft.com/office/drawing/2014/main" id="{BCA20132-56BD-4E4A-ADEC-542C2D31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19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24A"/>
                </a:solidFill>
              </a:defRPr>
            </a:pPr>
            <a:r>
              <a:rPr sz="12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问题门</a:t>
            </a:r>
          </a:p>
        </p:txBody>
      </p:sp>
      <p:sp>
        <p:nvSpPr>
          <p:cNvPr id="17" name="p09-dot-2">
            <a:extLst xmlns:a="http://schemas.openxmlformats.org/drawingml/2006/main">
              <a:ext uri="{FF2B5EF4-FFF2-40B4-BE49-F238E27FC236}">
                <a16:creationId xmlns:a16="http://schemas.microsoft.com/office/drawing/2014/main" id="{DC7AE423-6DB2-4CCF-973D-D640C84B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28575">
            <a:solidFill>
              <a:srgbClr val="C8161E"/>
            </a:solidFill>
            <a:prstDash val="solid"/>
          </a:ln>
        </p:spPr>
      </p:sp>
      <p:sp>
        <p:nvSpPr>
          <p:cNvPr id="18" name="p09-week-2">
            <a:extLst xmlns:a="http://schemas.openxmlformats.org/drawingml/2006/main">
              <a:ext uri="{FF2B5EF4-FFF2-40B4-BE49-F238E27FC236}">
                <a16:creationId xmlns:a16="http://schemas.microsoft.com/office/drawing/2014/main" id="{2C61C354-6FB3-437B-ABE9-8C1DE32E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76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W9</a:t>
            </a:r>
          </a:p>
        </p:txBody>
      </p:sp>
      <p:sp>
        <p:nvSpPr>
          <p:cNvPr id="19" name="p09-wlabel-2">
            <a:extLst xmlns:a="http://schemas.openxmlformats.org/drawingml/2006/main">
              <a:ext uri="{FF2B5EF4-FFF2-40B4-BE49-F238E27FC236}">
                <a16:creationId xmlns:a16="http://schemas.microsoft.com/office/drawing/2014/main" id="{3DEE2DFA-8E40-425C-9813-0B234529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243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24A"/>
                </a:solidFill>
              </a:defRPr>
            </a:pPr>
            <a:r>
              <a:rPr sz="12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判断门</a:t>
            </a:r>
          </a:p>
        </p:txBody>
      </p:sp>
      <p:sp>
        <p:nvSpPr>
          <p:cNvPr id="20" name="p09-dot-3">
            <a:extLst xmlns:a="http://schemas.openxmlformats.org/drawingml/2006/main">
              <a:ext uri="{FF2B5EF4-FFF2-40B4-BE49-F238E27FC236}">
                <a16:creationId xmlns:a16="http://schemas.microsoft.com/office/drawing/2014/main" id="{813D957C-41F1-438E-8444-BE5B52E3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81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28575">
            <a:solidFill>
              <a:srgbClr val="C8161E"/>
            </a:solidFill>
            <a:prstDash val="solid"/>
          </a:ln>
        </p:spPr>
      </p:sp>
      <p:sp>
        <p:nvSpPr>
          <p:cNvPr id="21" name="p09-week-3">
            <a:extLst xmlns:a="http://schemas.openxmlformats.org/drawingml/2006/main">
              <a:ext uri="{FF2B5EF4-FFF2-40B4-BE49-F238E27FC236}">
                <a16:creationId xmlns:a16="http://schemas.microsoft.com/office/drawing/2014/main" id="{59F141C7-A370-4C90-96B5-86DD4B6A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861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W13</a:t>
            </a:r>
          </a:p>
        </p:txBody>
      </p:sp>
      <p:sp>
        <p:nvSpPr>
          <p:cNvPr id="22" name="p09-wlabel-3">
            <a:extLst xmlns:a="http://schemas.openxmlformats.org/drawingml/2006/main">
              <a:ext uri="{FF2B5EF4-FFF2-40B4-BE49-F238E27FC236}">
                <a16:creationId xmlns:a16="http://schemas.microsoft.com/office/drawing/2014/main" id="{4EEA96AA-BD83-4C31-94B2-6365C72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24A"/>
                </a:solidFill>
              </a:defRPr>
            </a:pPr>
            <a:r>
              <a:rPr sz="12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验证门</a:t>
            </a:r>
          </a:p>
        </p:txBody>
      </p:sp>
      <p:sp>
        <p:nvSpPr>
          <p:cNvPr id="23" name="p09-dot-4">
            <a:extLst xmlns:a="http://schemas.openxmlformats.org/drawingml/2006/main">
              <a:ext uri="{FF2B5EF4-FFF2-40B4-BE49-F238E27FC236}">
                <a16:creationId xmlns:a16="http://schemas.microsoft.com/office/drawing/2014/main" id="{93EF517F-2C8B-4EAA-B944-03F6D3A5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09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28575">
            <a:solidFill>
              <a:srgbClr val="C8161E"/>
            </a:solidFill>
            <a:prstDash val="solid"/>
          </a:ln>
        </p:spPr>
      </p:sp>
      <p:sp>
        <p:nvSpPr>
          <p:cNvPr id="24" name="p09-week-4">
            <a:extLst xmlns:a="http://schemas.openxmlformats.org/drawingml/2006/main">
              <a:ext uri="{FF2B5EF4-FFF2-40B4-BE49-F238E27FC236}">
                <a16:creationId xmlns:a16="http://schemas.microsoft.com/office/drawing/2014/main" id="{DF11EAE6-E59B-4A92-8B44-575AA2CF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146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W16</a:t>
            </a:r>
          </a:p>
        </p:txBody>
      </p:sp>
      <p:sp>
        <p:nvSpPr>
          <p:cNvPr id="25" name="p09-wlabel-4">
            <a:extLst xmlns:a="http://schemas.openxmlformats.org/drawingml/2006/main">
              <a:ext uri="{FF2B5EF4-FFF2-40B4-BE49-F238E27FC236}">
                <a16:creationId xmlns:a16="http://schemas.microsoft.com/office/drawing/2014/main" id="{B1B86225-E327-4F1A-B4EE-8028B87B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622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24A"/>
                </a:solidFill>
              </a:defRPr>
            </a:pPr>
            <a:r>
              <a:rPr sz="12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论证门</a:t>
            </a:r>
          </a:p>
        </p:txBody>
      </p:sp>
      <p:sp>
        <p:nvSpPr>
          <p:cNvPr id="26" name="p09-growth-title">
            <a:extLst xmlns:a="http://schemas.openxmlformats.org/drawingml/2006/main">
              <a:ext uri="{FF2B5EF4-FFF2-40B4-BE49-F238E27FC236}">
                <a16:creationId xmlns:a16="http://schemas.microsoft.com/office/drawing/2014/main" id="{03DF07F0-FB54-4830-836D-8EB50343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144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D47"/>
                </a:solidFill>
              </a:defRPr>
            </a:pPr>
            <a:r>
              <a:rPr sz="2400" b="1">
                <a:solidFill>
                  <a:srgbClr val="102D47"/>
                </a:solidFill>
                <a:latin typeface="Arial Unicode MS"/>
                <a:ea typeface="Arial Unicode MS"/>
                <a:cs typeface="Arial Unicode MS"/>
              </a:rPr>
              <a:t>一个项目，持续生长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 Unicode MS"/>
                <a:ea typeface="Arial Unicode MS"/>
                <a:cs typeface="Arial Unicode MS"/>
              </a:rPr>
              <a:t>五类工件最终汇成一条论证链</a:t>
            </a:r>
          </a:p>
        </p:txBody>
      </p:sp>
      <p:sp>
        <p:nvSpPr>
          <p:cNvPr id="5" name="p10-edge-0">
            <a:extLst xmlns:a="http://schemas.openxmlformats.org/drawingml/2006/main">
              <a:ext uri="{FF2B5EF4-FFF2-40B4-BE49-F238E27FC236}">
                <a16:creationId xmlns:a16="http://schemas.microsoft.com/office/drawing/2014/main" id="{29F3A478-C8B0-4F49-813D-75C6F84C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2767013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10-edge-1">
            <a:extLst xmlns:a="http://schemas.openxmlformats.org/drawingml/2006/main">
              <a:ext uri="{FF2B5EF4-FFF2-40B4-BE49-F238E27FC236}">
                <a16:creationId xmlns:a16="http://schemas.microsoft.com/office/drawing/2014/main" id="{DFA7FB08-B920-4E65-942A-A60F61E0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2767013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10-edge-2">
            <a:extLst xmlns:a="http://schemas.openxmlformats.org/drawingml/2006/main">
              <a:ext uri="{FF2B5EF4-FFF2-40B4-BE49-F238E27FC236}">
                <a16:creationId xmlns:a16="http://schemas.microsoft.com/office/drawing/2014/main" id="{C1A7AAA8-479E-468A-B898-040D8CE4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2767013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0-edge-3">
            <a:extLst xmlns:a="http://schemas.openxmlformats.org/drawingml/2006/main">
              <a:ext uri="{FF2B5EF4-FFF2-40B4-BE49-F238E27FC236}">
                <a16:creationId xmlns:a16="http://schemas.microsoft.com/office/drawing/2014/main" id="{0B2C3E6B-CC84-4C20-993C-594747EE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2767013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0-file-rule-0">
            <a:extLst xmlns:a="http://schemas.openxmlformats.org/drawingml/2006/main">
              <a:ext uri="{FF2B5EF4-FFF2-40B4-BE49-F238E27FC236}">
                <a16:creationId xmlns:a16="http://schemas.microsoft.com/office/drawing/2014/main" id="{9F4B1A36-A163-4290-8EBE-2B22428D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81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0-file-0">
            <a:extLst xmlns:a="http://schemas.openxmlformats.org/drawingml/2006/main">
              <a:ext uri="{FF2B5EF4-FFF2-40B4-BE49-F238E27FC236}">
                <a16:creationId xmlns:a16="http://schemas.microsoft.com/office/drawing/2014/main" id="{2C6A2E5E-2FD3-49DF-BA43-D6583ECF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D47"/>
                </a:solidFill>
              </a:defRPr>
            </a:pPr>
            <a:r>
              <a:rPr sz="1125" b="1">
                <a:solidFill>
                  <a:srgbClr val="102D47"/>
                </a:solidFill>
                <a:latin typeface="Menlo"/>
                <a:ea typeface="Menlo"/>
                <a:cs typeface="Menlo"/>
              </a:rPr>
              <a:t>problem-</a:t>
            </a:r>
          </a:p>
          <a:p xmlns:a="http://schemas.openxmlformats.org/drawingml/2006/main">
            <a:pPr algn="l">
              <a:defRPr sz="1125" b="1">
                <a:solidFill>
                  <a:srgbClr val="102D47"/>
                </a:solidFill>
              </a:defRPr>
            </a:pPr>
            <a:r>
              <a:rPr sz="1125" b="1">
                <a:solidFill>
                  <a:srgbClr val="102D47"/>
                </a:solidFill>
                <a:latin typeface="Menlo"/>
                <a:ea typeface="Menlo"/>
                <a:cs typeface="Menlo"/>
              </a:rPr>
              <a:t>definition.md</a:t>
            </a:r>
          </a:p>
        </p:txBody>
      </p:sp>
      <p:sp>
        <p:nvSpPr>
          <p:cNvPr id="11" name="p10-body-0">
            <a:extLst xmlns:a="http://schemas.openxmlformats.org/drawingml/2006/main">
              <a:ext uri="{FF2B5EF4-FFF2-40B4-BE49-F238E27FC236}">
                <a16:creationId xmlns:a16="http://schemas.microsoft.com/office/drawing/2014/main" id="{A9699DD2-C3A9-4C72-A667-1B9F41C3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866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A"/>
                </a:solidFill>
              </a:defRPr>
            </a:pPr>
            <a:r>
              <a:rPr sz="15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范围 / 非例</a:t>
            </a:r>
          </a:p>
          <a:p xmlns:a="http://schemas.openxmlformats.org/drawingml/2006/main">
            <a:pPr algn="l">
              <a:defRPr sz="1500" b="0">
                <a:solidFill>
                  <a:srgbClr val="17324A"/>
                </a:solidFill>
              </a:defRPr>
            </a:pPr>
            <a:r>
              <a:rPr sz="15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可证伪命题</a:t>
            </a:r>
          </a:p>
        </p:txBody>
      </p:sp>
      <p:sp>
        <p:nvSpPr>
          <p:cNvPr id="12" name="p10-stage-0">
            <a:extLst xmlns:a="http://schemas.openxmlformats.org/drawingml/2006/main">
              <a:ext uri="{FF2B5EF4-FFF2-40B4-BE49-F238E27FC236}">
                <a16:creationId xmlns:a16="http://schemas.microsoft.com/office/drawing/2014/main" id="{17FD1994-6641-4BA6-9E71-F750A543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7798A"/>
                </a:solidFill>
              </a:defRPr>
            </a:pPr>
            <a:r>
              <a:rPr sz="2025" b="1">
                <a:solidFill>
                  <a:srgbClr val="6779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p10-file-rule-1">
            <a:extLst xmlns:a="http://schemas.openxmlformats.org/drawingml/2006/main">
              <a:ext uri="{FF2B5EF4-FFF2-40B4-BE49-F238E27FC236}">
                <a16:creationId xmlns:a16="http://schemas.microsoft.com/office/drawing/2014/main" id="{2CDC01C9-1005-436A-916F-74A7A276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47850"/>
            <a:ext cx="381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0-file-1">
            <a:extLst xmlns:a="http://schemas.openxmlformats.org/drawingml/2006/main">
              <a:ext uri="{FF2B5EF4-FFF2-40B4-BE49-F238E27FC236}">
                <a16:creationId xmlns:a16="http://schemas.microsoft.com/office/drawing/2014/main" id="{3D0A6C01-75E2-47D4-805D-66434A9F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526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D47"/>
                </a:solidFill>
              </a:defRPr>
            </a:pPr>
            <a:r>
              <a:rPr sz="1275" b="1">
                <a:solidFill>
                  <a:srgbClr val="102D47"/>
                </a:solidFill>
                <a:latin typeface="Menlo"/>
                <a:ea typeface="Menlo"/>
                <a:cs typeface="Menlo"/>
              </a:rPr>
              <a:t>evidence-map.md</a:t>
            </a:r>
          </a:p>
        </p:txBody>
      </p:sp>
      <p:sp>
        <p:nvSpPr>
          <p:cNvPr id="15" name="p10-body-1">
            <a:extLst xmlns:a="http://schemas.openxmlformats.org/drawingml/2006/main">
              <a:ext uri="{FF2B5EF4-FFF2-40B4-BE49-F238E27FC236}">
                <a16:creationId xmlns:a16="http://schemas.microsoft.com/office/drawing/2014/main" id="{E48FEA6B-BDE5-47A8-91E3-6FF74173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62200"/>
            <a:ext cx="1866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A"/>
                </a:solidFill>
              </a:defRPr>
            </a:pPr>
            <a:r>
              <a:rPr sz="15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主证据 / 冲突</a:t>
            </a:r>
          </a:p>
          <a:p xmlns:a="http://schemas.openxmlformats.org/drawingml/2006/main">
            <a:pPr algn="l">
              <a:defRPr sz="1500" b="0">
                <a:solidFill>
                  <a:srgbClr val="17324A"/>
                </a:solidFill>
              </a:defRPr>
            </a:pPr>
            <a:r>
              <a:rPr sz="15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证据空白</a:t>
            </a:r>
          </a:p>
        </p:txBody>
      </p:sp>
      <p:sp>
        <p:nvSpPr>
          <p:cNvPr id="16" name="p10-stage-1">
            <a:extLst xmlns:a="http://schemas.openxmlformats.org/drawingml/2006/main">
              <a:ext uri="{FF2B5EF4-FFF2-40B4-BE49-F238E27FC236}">
                <a16:creationId xmlns:a16="http://schemas.microsoft.com/office/drawing/2014/main" id="{1C0153F9-08DB-45F3-A170-726A25CE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29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7798A"/>
                </a:solidFill>
              </a:defRPr>
            </a:pPr>
            <a:r>
              <a:rPr sz="2025" b="1">
                <a:solidFill>
                  <a:srgbClr val="6779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p10-file-rule-2">
            <a:extLst xmlns:a="http://schemas.openxmlformats.org/drawingml/2006/main">
              <a:ext uri="{FF2B5EF4-FFF2-40B4-BE49-F238E27FC236}">
                <a16:creationId xmlns:a16="http://schemas.microsoft.com/office/drawing/2014/main" id="{1D6934E7-4E88-47C0-8367-C9AD99BE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381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10-file-2">
            <a:extLst xmlns:a="http://schemas.openxmlformats.org/drawingml/2006/main">
              <a:ext uri="{FF2B5EF4-FFF2-40B4-BE49-F238E27FC236}">
                <a16:creationId xmlns:a16="http://schemas.microsoft.com/office/drawing/2014/main" id="{36B93919-4DC4-4864-8D41-9BC7982B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526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D47"/>
                </a:solidFill>
              </a:defRPr>
            </a:pPr>
            <a:r>
              <a:rPr sz="1275" b="1">
                <a:solidFill>
                  <a:srgbClr val="102D47"/>
                </a:solidFill>
                <a:latin typeface="Menlo"/>
                <a:ea typeface="Menlo"/>
                <a:cs typeface="Menlo"/>
              </a:rPr>
              <a:t>experiments/</a:t>
            </a:r>
          </a:p>
        </p:txBody>
      </p:sp>
      <p:sp>
        <p:nvSpPr>
          <p:cNvPr id="19" name="p10-body-2">
            <a:extLst xmlns:a="http://schemas.openxmlformats.org/drawingml/2006/main">
              <a:ext uri="{FF2B5EF4-FFF2-40B4-BE49-F238E27FC236}">
                <a16:creationId xmlns:a16="http://schemas.microsoft.com/office/drawing/2014/main" id="{2C70ED2F-2557-4D7E-9620-980218FC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62200"/>
            <a:ext cx="1866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A"/>
                </a:solidFill>
              </a:defRPr>
            </a:pPr>
            <a:r>
              <a:rPr sz="15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配置 / 日志</a:t>
            </a:r>
          </a:p>
          <a:p xmlns:a="http://schemas.openxmlformats.org/drawingml/2006/main">
            <a:pPr algn="l">
              <a:defRPr sz="1500" b="0">
                <a:solidFill>
                  <a:srgbClr val="17324A"/>
                </a:solidFill>
              </a:defRPr>
            </a:pPr>
            <a:r>
              <a:rPr sz="15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失败记录</a:t>
            </a:r>
          </a:p>
        </p:txBody>
      </p:sp>
      <p:sp>
        <p:nvSpPr>
          <p:cNvPr id="20" name="p10-stage-2">
            <a:extLst xmlns:a="http://schemas.openxmlformats.org/drawingml/2006/main">
              <a:ext uri="{FF2B5EF4-FFF2-40B4-BE49-F238E27FC236}">
                <a16:creationId xmlns:a16="http://schemas.microsoft.com/office/drawing/2014/main" id="{1F4E7DDA-1689-4866-AE0C-97D9F788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29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7798A"/>
                </a:solidFill>
              </a:defRPr>
            </a:pPr>
            <a:r>
              <a:rPr sz="2025" b="1">
                <a:solidFill>
                  <a:srgbClr val="6779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p10-file-rule-3">
            <a:extLst xmlns:a="http://schemas.openxmlformats.org/drawingml/2006/main">
              <a:ext uri="{FF2B5EF4-FFF2-40B4-BE49-F238E27FC236}">
                <a16:creationId xmlns:a16="http://schemas.microsoft.com/office/drawing/2014/main" id="{D5FD7CD3-6FC4-4064-906D-099CC091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47850"/>
            <a:ext cx="381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10-file-3">
            <a:extLst xmlns:a="http://schemas.openxmlformats.org/drawingml/2006/main">
              <a:ext uri="{FF2B5EF4-FFF2-40B4-BE49-F238E27FC236}">
                <a16:creationId xmlns:a16="http://schemas.microsoft.com/office/drawing/2014/main" id="{DA0F90DD-3F96-4A3D-A72D-D73F326B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7526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D47"/>
                </a:solidFill>
              </a:defRPr>
            </a:pPr>
            <a:r>
              <a:rPr sz="1275" b="1">
                <a:solidFill>
                  <a:srgbClr val="102D47"/>
                </a:solidFill>
                <a:latin typeface="Menlo"/>
                <a:ea typeface="Menlo"/>
                <a:cs typeface="Menlo"/>
              </a:rPr>
              <a:t>agent-workflow.md</a:t>
            </a:r>
          </a:p>
        </p:txBody>
      </p:sp>
      <p:sp>
        <p:nvSpPr>
          <p:cNvPr id="23" name="p10-body-3">
            <a:extLst xmlns:a="http://schemas.openxmlformats.org/drawingml/2006/main">
              <a:ext uri="{FF2B5EF4-FFF2-40B4-BE49-F238E27FC236}">
                <a16:creationId xmlns:a16="http://schemas.microsoft.com/office/drawing/2014/main" id="{5F2A0079-50F8-4529-9434-5C49EAD8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62200"/>
            <a:ext cx="1866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A"/>
                </a:solidFill>
              </a:defRPr>
            </a:pPr>
            <a:r>
              <a:rPr sz="15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权限 / 停止条件</a:t>
            </a:r>
          </a:p>
          <a:p xmlns:a="http://schemas.openxmlformats.org/drawingml/2006/main">
            <a:pPr algn="l">
              <a:defRPr sz="1500" b="0">
                <a:solidFill>
                  <a:srgbClr val="17324A"/>
                </a:solidFill>
              </a:defRPr>
            </a:pPr>
            <a:r>
              <a:rPr sz="15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人工审核</a:t>
            </a:r>
          </a:p>
        </p:txBody>
      </p:sp>
      <p:sp>
        <p:nvSpPr>
          <p:cNvPr id="24" name="p10-stage-3">
            <a:extLst xmlns:a="http://schemas.openxmlformats.org/drawingml/2006/main">
              <a:ext uri="{FF2B5EF4-FFF2-40B4-BE49-F238E27FC236}">
                <a16:creationId xmlns:a16="http://schemas.microsoft.com/office/drawing/2014/main" id="{458B5A98-4A63-4F7A-AED3-11F1798A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29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7798A"/>
                </a:solidFill>
              </a:defRPr>
            </a:pPr>
            <a:r>
              <a:rPr sz="2025" b="1">
                <a:solidFill>
                  <a:srgbClr val="6779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p10-file-rule-4">
            <a:extLst xmlns:a="http://schemas.openxmlformats.org/drawingml/2006/main">
              <a:ext uri="{FF2B5EF4-FFF2-40B4-BE49-F238E27FC236}">
                <a16:creationId xmlns:a16="http://schemas.microsoft.com/office/drawing/2014/main" id="{3582B144-6179-47A0-B092-9D6C416D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47850"/>
            <a:ext cx="381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10-file-4">
            <a:extLst xmlns:a="http://schemas.openxmlformats.org/drawingml/2006/main">
              <a:ext uri="{FF2B5EF4-FFF2-40B4-BE49-F238E27FC236}">
                <a16:creationId xmlns:a16="http://schemas.microsoft.com/office/drawing/2014/main" id="{54E9275A-0FD9-4E11-B1C7-D48600BE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526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Menlo"/>
                <a:ea typeface="Menlo"/>
                <a:cs typeface="Menlo"/>
              </a:rPr>
              <a:t>report.md</a:t>
            </a:r>
          </a:p>
        </p:txBody>
      </p:sp>
      <p:sp>
        <p:nvSpPr>
          <p:cNvPr id="27" name="p10-body-4">
            <a:extLst xmlns:a="http://schemas.openxmlformats.org/drawingml/2006/main">
              <a:ext uri="{FF2B5EF4-FFF2-40B4-BE49-F238E27FC236}">
                <a16:creationId xmlns:a16="http://schemas.microsoft.com/office/drawing/2014/main" id="{07F1C14F-80AD-4188-B104-5DD93B5F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62200"/>
            <a:ext cx="1866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A"/>
                </a:solidFill>
              </a:defRPr>
            </a:pPr>
            <a:r>
              <a:rPr sz="15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主张 / 证据</a:t>
            </a:r>
          </a:p>
          <a:p xmlns:a="http://schemas.openxmlformats.org/drawingml/2006/main">
            <a:pPr algn="l">
              <a:defRPr sz="1500" b="0">
                <a:solidFill>
                  <a:srgbClr val="17324A"/>
                </a:solidFill>
              </a:defRPr>
            </a:pPr>
            <a:r>
              <a:rPr sz="150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局限与披露</a:t>
            </a:r>
          </a:p>
        </p:txBody>
      </p:sp>
      <p:sp>
        <p:nvSpPr>
          <p:cNvPr id="28" name="p10-stage-4">
            <a:extLst xmlns:a="http://schemas.openxmlformats.org/drawingml/2006/main">
              <a:ext uri="{FF2B5EF4-FFF2-40B4-BE49-F238E27FC236}">
                <a16:creationId xmlns:a16="http://schemas.microsoft.com/office/drawing/2014/main" id="{9334C4EA-2B39-47BE-B498-61B155C2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29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7798A"/>
                </a:solidFill>
              </a:defRPr>
            </a:pPr>
            <a:r>
              <a:rPr sz="2025" b="1">
                <a:solidFill>
                  <a:srgbClr val="6779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p10-trace">
            <a:extLst xmlns:a="http://schemas.openxmlformats.org/drawingml/2006/main">
              <a:ext uri="{FF2B5EF4-FFF2-40B4-BE49-F238E27FC236}">
                <a16:creationId xmlns:a16="http://schemas.microsoft.com/office/drawing/2014/main" id="{D25B0C73-94E1-4605-A7E3-B0EEA44E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8161E"/>
                </a:solidFill>
              </a:defRPr>
            </a:pPr>
            <a:r>
              <a:rPr sz="2175" b="1">
                <a:solidFill>
                  <a:srgbClr val="C8161E"/>
                </a:solidFill>
                <a:latin typeface="Arial Unicode MS"/>
                <a:ea typeface="Arial Unicode MS"/>
                <a:cs typeface="Arial Unicode MS"/>
              </a:rPr>
              <a:t>结论必须能反向追溯到实验、证据和当时的研究判断。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 Unicode MS"/>
                <a:ea typeface="Arial Unicode MS"/>
                <a:cs typeface="Arial Unicode MS"/>
              </a:rPr>
              <a:t>课程沿四个研究门推进同一个项目</a:t>
            </a:r>
          </a:p>
        </p:txBody>
      </p:sp>
      <p:sp>
        <p:nvSpPr>
          <p:cNvPr id="5" name="p11-preface">
            <a:extLst xmlns:a="http://schemas.openxmlformats.org/drawingml/2006/main">
              <a:ext uri="{FF2B5EF4-FFF2-40B4-BE49-F238E27FC236}">
                <a16:creationId xmlns:a16="http://schemas.microsoft.com/office/drawing/2014/main" id="{3F67C0AE-48D1-4442-BE14-2D5804DB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24A"/>
                </a:solidFill>
              </a:defRPr>
            </a:pPr>
            <a:r>
              <a:rPr sz="195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前半段刻意放慢：问题和证据没站稳，自动化只会更快地产生不可用结果。</a:t>
            </a:r>
          </a:p>
        </p:txBody>
      </p:sp>
      <p:sp>
        <p:nvSpPr>
          <p:cNvPr id="6" name="p11-seg-0">
            <a:extLst xmlns:a="http://schemas.openxmlformats.org/drawingml/2006/main">
              <a:ext uri="{FF2B5EF4-FFF2-40B4-BE49-F238E27FC236}">
                <a16:creationId xmlns:a16="http://schemas.microsoft.com/office/drawing/2014/main" id="{347B9D30-906C-47D1-A8CF-EB201B70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11-weeks-0">
            <a:extLst xmlns:a="http://schemas.openxmlformats.org/drawingml/2006/main">
              <a:ext uri="{FF2B5EF4-FFF2-40B4-BE49-F238E27FC236}">
                <a16:creationId xmlns:a16="http://schemas.microsoft.com/office/drawing/2014/main" id="{F3738E44-1246-49D9-8FCA-01CA3A2D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D47"/>
                </a:solidFill>
              </a:defRPr>
            </a:pPr>
            <a:r>
              <a:rPr sz="2250" b="1">
                <a:solidFill>
                  <a:srgbClr val="102D47"/>
                </a:solidFill>
                <a:latin typeface="Arial"/>
                <a:ea typeface="Arial"/>
                <a:cs typeface="Arial"/>
              </a:rPr>
              <a:t>1–6</a:t>
            </a:r>
          </a:p>
        </p:txBody>
      </p:sp>
      <p:sp>
        <p:nvSpPr>
          <p:cNvPr id="8" name="p11-body-0">
            <a:extLst xmlns:a="http://schemas.openxmlformats.org/drawingml/2006/main">
              <a:ext uri="{FF2B5EF4-FFF2-40B4-BE49-F238E27FC236}">
                <a16:creationId xmlns:a16="http://schemas.microsoft.com/office/drawing/2014/main" id="{B6F66952-80CC-4551-8B96-9EC99596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3848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</a:defRPr>
            </a:pPr>
            <a:r>
              <a:rPr sz="1425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文献、证据与问题</a:t>
            </a:r>
          </a:p>
        </p:txBody>
      </p:sp>
      <p:sp>
        <p:nvSpPr>
          <p:cNvPr id="9" name="p11-gate-0">
            <a:extLst xmlns:a="http://schemas.openxmlformats.org/drawingml/2006/main">
              <a:ext uri="{FF2B5EF4-FFF2-40B4-BE49-F238E27FC236}">
                <a16:creationId xmlns:a16="http://schemas.microsoft.com/office/drawing/2014/main" id="{01549A84-E944-4D1A-9ED7-B58E11F9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D47"/>
                </a:solidFill>
              </a:defRPr>
            </a:pPr>
            <a:r>
              <a:rPr sz="1200" b="1">
                <a:solidFill>
                  <a:srgbClr val="102D47"/>
                </a:solidFill>
                <a:latin typeface="Arial Unicode MS"/>
                <a:ea typeface="Arial Unicode MS"/>
                <a:cs typeface="Arial Unicode MS"/>
              </a:rPr>
              <a:t>问题门</a:t>
            </a:r>
          </a:p>
        </p:txBody>
      </p:sp>
      <p:sp>
        <p:nvSpPr>
          <p:cNvPr id="10" name="p11-seg-1">
            <a:extLst xmlns:a="http://schemas.openxmlformats.org/drawingml/2006/main">
              <a:ext uri="{FF2B5EF4-FFF2-40B4-BE49-F238E27FC236}">
                <a16:creationId xmlns:a16="http://schemas.microsoft.com/office/drawing/2014/main" id="{9490C50B-3308-47B8-8BB0-2827A777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003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1-weeks-1">
            <a:extLst xmlns:a="http://schemas.openxmlformats.org/drawingml/2006/main">
              <a:ext uri="{FF2B5EF4-FFF2-40B4-BE49-F238E27FC236}">
                <a16:creationId xmlns:a16="http://schemas.microsoft.com/office/drawing/2014/main" id="{5ECECE58-7E01-4566-A98C-2119ED38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62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54A50"/>
                </a:solidFill>
              </a:defRPr>
            </a:pPr>
            <a:r>
              <a:rPr sz="2250" b="1">
                <a:solidFill>
                  <a:srgbClr val="E54A50"/>
                </a:solidFill>
                <a:latin typeface="Arial"/>
                <a:ea typeface="Arial"/>
                <a:cs typeface="Arial"/>
              </a:rPr>
              <a:t>7–9</a:t>
            </a:r>
          </a:p>
        </p:txBody>
      </p:sp>
      <p:sp>
        <p:nvSpPr>
          <p:cNvPr id="12" name="p11-body-1">
            <a:extLst xmlns:a="http://schemas.openxmlformats.org/drawingml/2006/main">
              <a:ext uri="{FF2B5EF4-FFF2-40B4-BE49-F238E27FC236}">
                <a16:creationId xmlns:a16="http://schemas.microsoft.com/office/drawing/2014/main" id="{9FFA9A44-727B-4EDD-9350-510A016B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575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</a:defRPr>
            </a:pPr>
            <a:r>
              <a:rPr sz="1425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假设、baseline</a:t>
            </a:r>
          </a:p>
        </p:txBody>
      </p:sp>
      <p:sp>
        <p:nvSpPr>
          <p:cNvPr id="13" name="p11-gate-1">
            <a:extLst xmlns:a="http://schemas.openxmlformats.org/drawingml/2006/main">
              <a:ext uri="{FF2B5EF4-FFF2-40B4-BE49-F238E27FC236}">
                <a16:creationId xmlns:a16="http://schemas.microsoft.com/office/drawing/2014/main" id="{DE1DC87E-C49D-4A00-840F-AD6EEC3C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050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54A50"/>
                </a:solidFill>
              </a:defRPr>
            </a:pPr>
            <a:r>
              <a:rPr sz="1200" b="1">
                <a:solidFill>
                  <a:srgbClr val="E54A50"/>
                </a:solidFill>
                <a:latin typeface="Arial Unicode MS"/>
                <a:ea typeface="Arial Unicode MS"/>
                <a:cs typeface="Arial Unicode MS"/>
              </a:rPr>
              <a:t>判断门</a:t>
            </a:r>
          </a:p>
        </p:txBody>
      </p:sp>
      <p:sp>
        <p:nvSpPr>
          <p:cNvPr id="14" name="p11-boundary-1">
            <a:extLst xmlns:a="http://schemas.openxmlformats.org/drawingml/2006/main">
              <a:ext uri="{FF2B5EF4-FFF2-40B4-BE49-F238E27FC236}">
                <a16:creationId xmlns:a16="http://schemas.microsoft.com/office/drawing/2014/main" id="{B2E4B135-9F74-4C93-B236-A3D853F0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905250" y="3228975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11-seg-2">
            <a:extLst xmlns:a="http://schemas.openxmlformats.org/drawingml/2006/main">
              <a:ext uri="{FF2B5EF4-FFF2-40B4-BE49-F238E27FC236}">
                <a16:creationId xmlns:a16="http://schemas.microsoft.com/office/drawing/2014/main" id="{E8CDAB70-2E23-42EA-8310-19E20CAD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003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11-weeks-2">
            <a:extLst xmlns:a="http://schemas.openxmlformats.org/drawingml/2006/main">
              <a:ext uri="{FF2B5EF4-FFF2-40B4-BE49-F238E27FC236}">
                <a16:creationId xmlns:a16="http://schemas.microsoft.com/office/drawing/2014/main" id="{FE7F8CD9-2314-4AE7-8F01-BFAB11A6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62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E7D5B"/>
                </a:solidFill>
              </a:defRPr>
            </a:pPr>
            <a:r>
              <a:rPr sz="22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10–13</a:t>
            </a:r>
          </a:p>
        </p:txBody>
      </p:sp>
      <p:sp>
        <p:nvSpPr>
          <p:cNvPr id="17" name="p11-body-2">
            <a:extLst xmlns:a="http://schemas.openxmlformats.org/drawingml/2006/main">
              <a:ext uri="{FF2B5EF4-FFF2-40B4-BE49-F238E27FC236}">
                <a16:creationId xmlns:a16="http://schemas.microsoft.com/office/drawing/2014/main" id="{337A9230-9937-4495-AD28-9225D92C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5755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</a:defRPr>
            </a:pPr>
            <a:r>
              <a:rPr sz="1425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原型、工作流与评价</a:t>
            </a:r>
          </a:p>
        </p:txBody>
      </p:sp>
      <p:sp>
        <p:nvSpPr>
          <p:cNvPr id="18" name="p11-gate-2">
            <a:extLst xmlns:a="http://schemas.openxmlformats.org/drawingml/2006/main">
              <a:ext uri="{FF2B5EF4-FFF2-40B4-BE49-F238E27FC236}">
                <a16:creationId xmlns:a16="http://schemas.microsoft.com/office/drawing/2014/main" id="{5E2B3323-5D00-4214-B742-788FAB2A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E7D5B"/>
                </a:solidFill>
              </a:defRPr>
            </a:pPr>
            <a:r>
              <a:rPr sz="1200" b="1">
                <a:solidFill>
                  <a:srgbClr val="2E7D5B"/>
                </a:solidFill>
                <a:latin typeface="Arial Unicode MS"/>
                <a:ea typeface="Arial Unicode MS"/>
                <a:cs typeface="Arial Unicode MS"/>
              </a:rPr>
              <a:t>验证门</a:t>
            </a:r>
          </a:p>
        </p:txBody>
      </p:sp>
      <p:sp>
        <p:nvSpPr>
          <p:cNvPr id="19" name="p11-boundary-2">
            <a:extLst xmlns:a="http://schemas.openxmlformats.org/drawingml/2006/main">
              <a:ext uri="{FF2B5EF4-FFF2-40B4-BE49-F238E27FC236}">
                <a16:creationId xmlns:a16="http://schemas.microsoft.com/office/drawing/2014/main" id="{099B5625-3DA4-4E1B-979E-1EF4F134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15000" y="3228975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1-seg-3">
            <a:extLst xmlns:a="http://schemas.openxmlformats.org/drawingml/2006/main">
              <a:ext uri="{FF2B5EF4-FFF2-40B4-BE49-F238E27FC236}">
                <a16:creationId xmlns:a16="http://schemas.microsoft.com/office/drawing/2014/main" id="{5052AC3E-D1D2-45B8-AC0D-6681CFB5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0030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11-weeks-3">
            <a:extLst xmlns:a="http://schemas.openxmlformats.org/drawingml/2006/main">
              <a:ext uri="{FF2B5EF4-FFF2-40B4-BE49-F238E27FC236}">
                <a16:creationId xmlns:a16="http://schemas.microsoft.com/office/drawing/2014/main" id="{AB4800CB-2E94-478A-8E9E-959DB1B1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622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14–16</a:t>
            </a:r>
          </a:p>
        </p:txBody>
      </p:sp>
      <p:sp>
        <p:nvSpPr>
          <p:cNvPr id="22" name="p11-body-3">
            <a:extLst xmlns:a="http://schemas.openxmlformats.org/drawingml/2006/main">
              <a:ext uri="{FF2B5EF4-FFF2-40B4-BE49-F238E27FC236}">
                <a16:creationId xmlns:a16="http://schemas.microsoft.com/office/drawing/2014/main" id="{3808457D-2C8C-4064-B52C-F46E2949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5755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</a:defRPr>
            </a:pPr>
            <a:r>
              <a:rPr sz="1425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表达、评审与复盘</a:t>
            </a:r>
          </a:p>
        </p:txBody>
      </p:sp>
      <p:sp>
        <p:nvSpPr>
          <p:cNvPr id="23" name="p11-gate-3">
            <a:extLst xmlns:a="http://schemas.openxmlformats.org/drawingml/2006/main">
              <a:ext uri="{FF2B5EF4-FFF2-40B4-BE49-F238E27FC236}">
                <a16:creationId xmlns:a16="http://schemas.microsoft.com/office/drawing/2014/main" id="{64346068-4035-48C0-8E98-C3B567E1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9050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61E"/>
                </a:solidFill>
              </a:defRPr>
            </a:pPr>
            <a:r>
              <a:rPr sz="1200" b="1">
                <a:solidFill>
                  <a:srgbClr val="C8161E"/>
                </a:solidFill>
                <a:latin typeface="Arial Unicode MS"/>
                <a:ea typeface="Arial Unicode MS"/>
                <a:cs typeface="Arial Unicode MS"/>
              </a:rPr>
              <a:t>论证门</a:t>
            </a:r>
          </a:p>
        </p:txBody>
      </p:sp>
      <p:sp>
        <p:nvSpPr>
          <p:cNvPr id="24" name="p11-boundary-3">
            <a:extLst xmlns:a="http://schemas.openxmlformats.org/drawingml/2006/main">
              <a:ext uri="{FF2B5EF4-FFF2-40B4-BE49-F238E27FC236}">
                <a16:creationId xmlns:a16="http://schemas.microsoft.com/office/drawing/2014/main" id="{D18EBDD2-C172-475E-8A2D-8D53EC26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72500" y="3228975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11-project-line">
            <a:extLst xmlns:a="http://schemas.openxmlformats.org/drawingml/2006/main">
              <a:ext uri="{FF2B5EF4-FFF2-40B4-BE49-F238E27FC236}">
                <a16:creationId xmlns:a16="http://schemas.microsoft.com/office/drawing/2014/main" id="{F09B9254-46A5-41AB-AD07-BB66D197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482917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11-project">
            <a:extLst xmlns:a="http://schemas.openxmlformats.org/drawingml/2006/main">
              <a:ext uri="{FF2B5EF4-FFF2-40B4-BE49-F238E27FC236}">
                <a16:creationId xmlns:a16="http://schemas.microsoft.com/office/drawing/2014/main" id="{20D28191-EFFA-404F-9125-70A3E2A8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672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7798A"/>
                </a:solidFill>
              </a:defRPr>
            </a:pPr>
            <a:r>
              <a:rPr sz="1650" b="1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同一个个人项目持续回写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 Unicode MS"/>
                <a:ea typeface="Arial Unicode MS"/>
                <a:cs typeface="Arial Unicode MS"/>
              </a:rPr>
              <a:t>评分落在四类可检查证据上</a:t>
            </a:r>
          </a:p>
        </p:txBody>
      </p:sp>
      <p:sp>
        <p:nvSpPr>
          <p:cNvPr id="5" name="p12-label-0">
            <a:extLst xmlns:a="http://schemas.openxmlformats.org/drawingml/2006/main">
              <a:ext uri="{FF2B5EF4-FFF2-40B4-BE49-F238E27FC236}">
                <a16:creationId xmlns:a16="http://schemas.microsoft.com/office/drawing/2014/main" id="{A5F97B97-3C7F-425C-BB73-86B92B1E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A"/>
                </a:solidFill>
              </a:defRPr>
            </a:pPr>
            <a:r>
              <a:rPr sz="150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文献与问题定位</a:t>
            </a:r>
          </a:p>
        </p:txBody>
      </p:sp>
      <p:sp>
        <p:nvSpPr>
          <p:cNvPr id="6" name="p12-evidence-0">
            <a:extLst xmlns:a="http://schemas.openxmlformats.org/drawingml/2006/main">
              <a:ext uri="{FF2B5EF4-FFF2-40B4-BE49-F238E27FC236}">
                <a16:creationId xmlns:a16="http://schemas.microsoft.com/office/drawing/2014/main" id="{CD116778-0078-4BDE-87BB-E10D9F76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798A"/>
                </a:solidFill>
              </a:defRPr>
            </a:pPr>
            <a:r>
              <a:rPr sz="1200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证据地图 / 可证伪命题</a:t>
            </a:r>
          </a:p>
        </p:txBody>
      </p:sp>
      <p:sp>
        <p:nvSpPr>
          <p:cNvPr id="7" name="p12-track-0">
            <a:extLst xmlns:a="http://schemas.openxmlformats.org/drawingml/2006/main">
              <a:ext uri="{FF2B5EF4-FFF2-40B4-BE49-F238E27FC236}">
                <a16:creationId xmlns:a16="http://schemas.microsoft.com/office/drawing/2014/main" id="{4B05DE49-2742-4B06-B982-5F959EE7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81150"/>
            <a:ext cx="600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2-bar-0">
            <a:extLst xmlns:a="http://schemas.openxmlformats.org/drawingml/2006/main">
              <a:ext uri="{FF2B5EF4-FFF2-40B4-BE49-F238E27FC236}">
                <a16:creationId xmlns:a16="http://schemas.microsoft.com/office/drawing/2014/main" id="{DD0BADA5-9FEC-4E25-98BC-F1AA8ADF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81150"/>
            <a:ext cx="500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2-value-0">
            <a:extLst xmlns:a="http://schemas.openxmlformats.org/drawingml/2006/main">
              <a:ext uri="{FF2B5EF4-FFF2-40B4-BE49-F238E27FC236}">
                <a16:creationId xmlns:a16="http://schemas.microsoft.com/office/drawing/2014/main" id="{5869F8B8-0556-44C5-9A95-0E3D76BC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906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D47"/>
                </a:solidFill>
              </a:defRPr>
            </a:pPr>
            <a:r>
              <a:rPr sz="2250" b="1">
                <a:solidFill>
                  <a:srgbClr val="102D47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0" name="p12-label-1">
            <a:extLst xmlns:a="http://schemas.openxmlformats.org/drawingml/2006/main">
              <a:ext uri="{FF2B5EF4-FFF2-40B4-BE49-F238E27FC236}">
                <a16:creationId xmlns:a16="http://schemas.microsoft.com/office/drawing/2014/main" id="{9661576D-56A1-4223-BEF2-1853881F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A"/>
                </a:solidFill>
              </a:defRPr>
            </a:pPr>
            <a:r>
              <a:rPr sz="150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实验设计与可复现性</a:t>
            </a:r>
          </a:p>
        </p:txBody>
      </p:sp>
      <p:sp>
        <p:nvSpPr>
          <p:cNvPr id="11" name="p12-evidence-1">
            <a:extLst xmlns:a="http://schemas.openxmlformats.org/drawingml/2006/main">
              <a:ext uri="{FF2B5EF4-FFF2-40B4-BE49-F238E27FC236}">
                <a16:creationId xmlns:a16="http://schemas.microsoft.com/office/drawing/2014/main" id="{130D2792-9BF2-4C7A-972E-EBBA2A13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798A"/>
                </a:solidFill>
              </a:defRPr>
            </a:pPr>
            <a:r>
              <a:rPr sz="1200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baseline / 实验规格</a:t>
            </a:r>
          </a:p>
        </p:txBody>
      </p:sp>
      <p:sp>
        <p:nvSpPr>
          <p:cNvPr id="12" name="p12-track-1">
            <a:extLst xmlns:a="http://schemas.openxmlformats.org/drawingml/2006/main">
              <a:ext uri="{FF2B5EF4-FFF2-40B4-BE49-F238E27FC236}">
                <a16:creationId xmlns:a16="http://schemas.microsoft.com/office/drawing/2014/main" id="{6FC788A7-08C4-481B-A62B-E0120901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71750"/>
            <a:ext cx="600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12-bar-1">
            <a:extLst xmlns:a="http://schemas.openxmlformats.org/drawingml/2006/main">
              <a:ext uri="{FF2B5EF4-FFF2-40B4-BE49-F238E27FC236}">
                <a16:creationId xmlns:a16="http://schemas.microsoft.com/office/drawing/2014/main" id="{677C3BAE-7BF6-4844-A061-5FCB4CC1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71750"/>
            <a:ext cx="600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2-value-1">
            <a:extLst xmlns:a="http://schemas.openxmlformats.org/drawingml/2006/main">
              <a:ext uri="{FF2B5EF4-FFF2-40B4-BE49-F238E27FC236}">
                <a16:creationId xmlns:a16="http://schemas.microsoft.com/office/drawing/2014/main" id="{02BD7529-3E03-452A-8555-37EB6212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5" name="p12-label-2">
            <a:extLst xmlns:a="http://schemas.openxmlformats.org/drawingml/2006/main">
              <a:ext uri="{FF2B5EF4-FFF2-40B4-BE49-F238E27FC236}">
                <a16:creationId xmlns:a16="http://schemas.microsoft.com/office/drawing/2014/main" id="{56B50C15-15C2-49A2-9CBB-1870F6F6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A"/>
                </a:solidFill>
              </a:defRPr>
            </a:pPr>
            <a:r>
              <a:rPr sz="150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原型与 Agent Workflow</a:t>
            </a:r>
          </a:p>
        </p:txBody>
      </p:sp>
      <p:sp>
        <p:nvSpPr>
          <p:cNvPr id="16" name="p12-evidence-2">
            <a:extLst xmlns:a="http://schemas.openxmlformats.org/drawingml/2006/main">
              <a:ext uri="{FF2B5EF4-FFF2-40B4-BE49-F238E27FC236}">
                <a16:creationId xmlns:a16="http://schemas.microsoft.com/office/drawing/2014/main" id="{F8D96D54-2856-47EC-8253-AC0D9B37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798A"/>
                </a:solidFill>
              </a:defRPr>
            </a:pPr>
            <a:r>
              <a:rPr sz="1200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评价报告 / 失败分析</a:t>
            </a:r>
          </a:p>
        </p:txBody>
      </p:sp>
      <p:sp>
        <p:nvSpPr>
          <p:cNvPr id="17" name="p12-track-2">
            <a:extLst xmlns:a="http://schemas.openxmlformats.org/drawingml/2006/main">
              <a:ext uri="{FF2B5EF4-FFF2-40B4-BE49-F238E27FC236}">
                <a16:creationId xmlns:a16="http://schemas.microsoft.com/office/drawing/2014/main" id="{ED91D7A7-AFA9-431A-83A4-5F7C5E02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62350"/>
            <a:ext cx="600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12-bar-2">
            <a:extLst xmlns:a="http://schemas.openxmlformats.org/drawingml/2006/main">
              <a:ext uri="{FF2B5EF4-FFF2-40B4-BE49-F238E27FC236}">
                <a16:creationId xmlns:a16="http://schemas.microsoft.com/office/drawing/2014/main" id="{F9C2A7BF-D45E-4A57-9519-1EEA5D3D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62350"/>
            <a:ext cx="500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12-value-2">
            <a:extLst xmlns:a="http://schemas.openxmlformats.org/drawingml/2006/main">
              <a:ext uri="{FF2B5EF4-FFF2-40B4-BE49-F238E27FC236}">
                <a16:creationId xmlns:a16="http://schemas.microsoft.com/office/drawing/2014/main" id="{F7286257-82E6-49DD-80A3-33C33E6A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718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2E7D5B"/>
                </a:solidFill>
              </a:defRPr>
            </a:pPr>
            <a:r>
              <a:rPr sz="22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20" name="p12-label-3">
            <a:extLst xmlns:a="http://schemas.openxmlformats.org/drawingml/2006/main">
              <a:ext uri="{FF2B5EF4-FFF2-40B4-BE49-F238E27FC236}">
                <a16:creationId xmlns:a16="http://schemas.microsoft.com/office/drawing/2014/main" id="{66DC7B05-07D4-43D0-8AE0-017DA97B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A"/>
                </a:solidFill>
              </a:defRPr>
            </a:pPr>
            <a:r>
              <a:rPr sz="1500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表达、伦理与复盘</a:t>
            </a:r>
          </a:p>
        </p:txBody>
      </p:sp>
      <p:sp>
        <p:nvSpPr>
          <p:cNvPr id="21" name="p12-evidence-3">
            <a:extLst xmlns:a="http://schemas.openxmlformats.org/drawingml/2006/main">
              <a:ext uri="{FF2B5EF4-FFF2-40B4-BE49-F238E27FC236}">
                <a16:creationId xmlns:a16="http://schemas.microsoft.com/office/drawing/2014/main" id="{6E75B1A9-928F-4328-A7E1-480FEBC3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798A"/>
                </a:solidFill>
              </a:defRPr>
            </a:pPr>
            <a:r>
              <a:rPr sz="1200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可追溯论证 / AI 披露</a:t>
            </a:r>
          </a:p>
        </p:txBody>
      </p:sp>
      <p:sp>
        <p:nvSpPr>
          <p:cNvPr id="22" name="p12-track-3">
            <a:extLst xmlns:a="http://schemas.openxmlformats.org/drawingml/2006/main">
              <a:ext uri="{FF2B5EF4-FFF2-40B4-BE49-F238E27FC236}">
                <a16:creationId xmlns:a16="http://schemas.microsoft.com/office/drawing/2014/main" id="{45C72AFE-F670-486F-9C1A-A85DC9EA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52950"/>
            <a:ext cx="600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12-bar-3">
            <a:extLst xmlns:a="http://schemas.openxmlformats.org/drawingml/2006/main">
              <a:ext uri="{FF2B5EF4-FFF2-40B4-BE49-F238E27FC236}">
                <a16:creationId xmlns:a16="http://schemas.microsoft.com/office/drawing/2014/main" id="{9C800424-4775-4E7A-A52D-F5F97405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529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12-value-3">
            <a:extLst xmlns:a="http://schemas.openxmlformats.org/drawingml/2006/main">
              <a:ext uri="{FF2B5EF4-FFF2-40B4-BE49-F238E27FC236}">
                <a16:creationId xmlns:a16="http://schemas.microsoft.com/office/drawing/2014/main" id="{3D976954-0458-4093-977A-4325659A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624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7798A"/>
                </a:solidFill>
              </a:defRPr>
            </a:pPr>
            <a:r>
              <a:rPr sz="2250" b="1">
                <a:solidFill>
                  <a:srgbClr val="67798A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25" name="p12-bottom">
            <a:extLst xmlns:a="http://schemas.openxmlformats.org/drawingml/2006/main">
              <a:ext uri="{FF2B5EF4-FFF2-40B4-BE49-F238E27FC236}">
                <a16:creationId xmlns:a16="http://schemas.microsoft.com/office/drawing/2014/main" id="{C052742F-E5A0-4413-A69B-43BFD44B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7798A"/>
                </a:solidFill>
              </a:defRPr>
            </a:pPr>
            <a:r>
              <a:rPr sz="1350" b="0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评分证据来自四个研究门；模型价格、Agent 数量和 Skills 数量不进入评分。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 Unicode MS"/>
                <a:ea typeface="Arial Unicode MS"/>
                <a:cs typeface="Arial Unicode MS"/>
              </a:rPr>
              <a:t>个人负责判断，同伴负责质询</a:t>
            </a:r>
          </a:p>
        </p:txBody>
      </p:sp>
      <p:sp>
        <p:nvSpPr>
          <p:cNvPr id="5" name="p13-link-0">
            <a:extLst xmlns:a="http://schemas.openxmlformats.org/drawingml/2006/main">
              <a:ext uri="{FF2B5EF4-FFF2-40B4-BE49-F238E27FC236}">
                <a16:creationId xmlns:a16="http://schemas.microsoft.com/office/drawing/2014/main" id="{C7ED7406-4D9D-4153-85FE-90A8FFD1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39568">
            <a:off x="1532359" y="2624138"/>
            <a:ext cx="466958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13-link-1">
            <a:extLst xmlns:a="http://schemas.openxmlformats.org/drawingml/2006/main">
              <a:ext uri="{FF2B5EF4-FFF2-40B4-BE49-F238E27FC236}">
                <a16:creationId xmlns:a16="http://schemas.microsoft.com/office/drawing/2014/main" id="{1417244E-4580-4F57-A906-BA6C284F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49894">
            <a:off x="5978592" y="2624138"/>
            <a:ext cx="423531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13-link-2">
            <a:extLst xmlns:a="http://schemas.openxmlformats.org/drawingml/2006/main">
              <a:ext uri="{FF2B5EF4-FFF2-40B4-BE49-F238E27FC236}">
                <a16:creationId xmlns:a16="http://schemas.microsoft.com/office/drawing/2014/main" id="{C8E38CAA-BFA6-42A3-B9C8-56DE26B2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06097">
            <a:off x="1517736" y="4062413"/>
            <a:ext cx="469882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3-link-3">
            <a:extLst xmlns:a="http://schemas.openxmlformats.org/drawingml/2006/main">
              <a:ext uri="{FF2B5EF4-FFF2-40B4-BE49-F238E27FC236}">
                <a16:creationId xmlns:a16="http://schemas.microsoft.com/office/drawing/2014/main" id="{D0B65195-D323-411E-85D7-1052B4E4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577414">
            <a:off x="5962480" y="4062413"/>
            <a:ext cx="426754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3-review-sheet">
            <a:extLst xmlns:a="http://schemas.openxmlformats.org/drawingml/2006/main">
              <a:ext uri="{FF2B5EF4-FFF2-40B4-BE49-F238E27FC236}">
                <a16:creationId xmlns:a16="http://schemas.microsoft.com/office/drawing/2014/main" id="{837DCEF6-2E77-4082-A398-AFA89C21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09750"/>
            <a:ext cx="3962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0" name="p13-sheet-rule">
            <a:extLst xmlns:a="http://schemas.openxmlformats.org/drawingml/2006/main">
              <a:ext uri="{FF2B5EF4-FFF2-40B4-BE49-F238E27FC236}">
                <a16:creationId xmlns:a16="http://schemas.microsoft.com/office/drawing/2014/main" id="{11BD5CD2-ECE9-48B7-97D6-CD551237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19425" y="3343275"/>
            <a:ext cx="2647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3-sheet-title">
            <a:extLst xmlns:a="http://schemas.openxmlformats.org/drawingml/2006/main">
              <a:ext uri="{FF2B5EF4-FFF2-40B4-BE49-F238E27FC236}">
                <a16:creationId xmlns:a16="http://schemas.microsoft.com/office/drawing/2014/main" id="{2E6A41B7-6F9C-4DB9-8B44-5EECF749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D47"/>
                </a:solidFill>
              </a:defRPr>
            </a:pPr>
            <a:r>
              <a:rPr sz="2025" b="1">
                <a:solidFill>
                  <a:srgbClr val="102D47"/>
                </a:solidFill>
                <a:latin typeface="Arial Unicode MS"/>
                <a:ea typeface="Arial Unicode MS"/>
                <a:cs typeface="Arial Unicode MS"/>
              </a:rPr>
              <a:t>同伴质询记录</a:t>
            </a:r>
          </a:p>
        </p:txBody>
      </p:sp>
      <p:sp>
        <p:nvSpPr>
          <p:cNvPr id="12" name="p13-qs">
            <a:extLst xmlns:a="http://schemas.openxmlformats.org/drawingml/2006/main">
              <a:ext uri="{FF2B5EF4-FFF2-40B4-BE49-F238E27FC236}">
                <a16:creationId xmlns:a16="http://schemas.microsoft.com/office/drawing/2014/main" id="{6CE0FDAE-0F7A-4BB6-AAA2-D4A0FEC5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05100"/>
            <a:ext cx="3105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A"/>
                </a:solidFill>
              </a:defRPr>
            </a:pPr>
            <a:r>
              <a:rPr sz="165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• 哪项证据最薄弱？</a:t>
            </a:r>
          </a:p>
          <a:p xmlns:a="http://schemas.openxmlformats.org/drawingml/2006/main">
            <a:pPr algn="l">
              <a:defRPr sz="1650" b="0">
                <a:solidFill>
                  <a:srgbClr val="17324A"/>
                </a:solidFill>
              </a:defRPr>
            </a:pPr>
            <a:r>
              <a:rPr sz="165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• 什么结果会推翻当前假设？</a:t>
            </a:r>
          </a:p>
          <a:p xmlns:a="http://schemas.openxmlformats.org/drawingml/2006/main">
            <a:pPr algn="l">
              <a:defRPr sz="1650" b="0">
                <a:solidFill>
                  <a:srgbClr val="17324A"/>
                </a:solidFill>
              </a:defRPr>
            </a:pPr>
            <a:r>
              <a:rPr sz="1650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• 下一步实验能改变哪个判断？</a:t>
            </a:r>
          </a:p>
        </p:txBody>
      </p:sp>
      <p:sp>
        <p:nvSpPr>
          <p:cNvPr id="13" name="p13-decision">
            <a:extLst xmlns:a="http://schemas.openxmlformats.org/drawingml/2006/main">
              <a:ext uri="{FF2B5EF4-FFF2-40B4-BE49-F238E27FC236}">
                <a16:creationId xmlns:a16="http://schemas.microsoft.com/office/drawing/2014/main" id="{BF761881-FED1-40A5-B519-3FAF93EC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910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Arial Unicode MS"/>
                <a:ea typeface="Arial Unicode MS"/>
                <a:cs typeface="Arial Unicode MS"/>
              </a:rPr>
              <a:t>采纳 / 拒绝 / 暂缓</a:t>
            </a:r>
          </a:p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Arial Unicode MS"/>
                <a:ea typeface="Arial Unicode MS"/>
                <a:cs typeface="Arial Unicode MS"/>
              </a:rPr>
              <a:t>均由项目作者说明理由</a:t>
            </a:r>
          </a:p>
        </p:txBody>
      </p:sp>
      <p:sp>
        <p:nvSpPr>
          <p:cNvPr id="14" name="p13-project-0">
            <a:extLst xmlns:a="http://schemas.openxmlformats.org/drawingml/2006/main">
              <a:ext uri="{FF2B5EF4-FFF2-40B4-BE49-F238E27FC236}">
                <a16:creationId xmlns:a16="http://schemas.microsoft.com/office/drawing/2014/main" id="{CA3A27E3-B11D-4C95-A351-9AB23190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811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8161E"/>
            </a:solidFill>
            <a:prstDash val="solid"/>
          </a:ln>
        </p:spPr>
      </p:sp>
      <p:sp>
        <p:nvSpPr>
          <p:cNvPr id="15" name="p13-project-label-0">
            <a:extLst xmlns:a="http://schemas.openxmlformats.org/drawingml/2006/main">
              <a:ext uri="{FF2B5EF4-FFF2-40B4-BE49-F238E27FC236}">
                <a16:creationId xmlns:a16="http://schemas.microsoft.com/office/drawing/2014/main" id="{77114779-5028-4AA6-BAF0-CEA289BB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</a:defRPr>
            </a:pPr>
            <a:r>
              <a:rPr sz="1275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项目 A</a:t>
            </a:r>
          </a:p>
        </p:txBody>
      </p:sp>
      <p:sp>
        <p:nvSpPr>
          <p:cNvPr id="16" name="p13-project-1">
            <a:extLst xmlns:a="http://schemas.openxmlformats.org/drawingml/2006/main">
              <a:ext uri="{FF2B5EF4-FFF2-40B4-BE49-F238E27FC236}">
                <a16:creationId xmlns:a16="http://schemas.microsoft.com/office/drawing/2014/main" id="{9B16FDB4-D7D0-45F3-873D-DF01E2C6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5811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2D47"/>
            </a:solidFill>
            <a:prstDash val="solid"/>
          </a:ln>
        </p:spPr>
      </p:sp>
      <p:sp>
        <p:nvSpPr>
          <p:cNvPr id="17" name="p13-project-label-1">
            <a:extLst xmlns:a="http://schemas.openxmlformats.org/drawingml/2006/main">
              <a:ext uri="{FF2B5EF4-FFF2-40B4-BE49-F238E27FC236}">
                <a16:creationId xmlns:a16="http://schemas.microsoft.com/office/drawing/2014/main" id="{313B1E94-1C96-4967-B848-C0291442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003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</a:defRPr>
            </a:pPr>
            <a:r>
              <a:rPr sz="1275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项目 B</a:t>
            </a:r>
          </a:p>
        </p:txBody>
      </p:sp>
      <p:sp>
        <p:nvSpPr>
          <p:cNvPr id="18" name="p13-project-2">
            <a:extLst xmlns:a="http://schemas.openxmlformats.org/drawingml/2006/main">
              <a:ext uri="{FF2B5EF4-FFF2-40B4-BE49-F238E27FC236}">
                <a16:creationId xmlns:a16="http://schemas.microsoft.com/office/drawing/2014/main" id="{FBC9D8C4-ED4A-45C1-B649-E9C42EF8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577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2D47"/>
            </a:solidFill>
            <a:prstDash val="solid"/>
          </a:ln>
        </p:spPr>
      </p:sp>
      <p:sp>
        <p:nvSpPr>
          <p:cNvPr id="19" name="p13-project-label-2">
            <a:extLst xmlns:a="http://schemas.openxmlformats.org/drawingml/2006/main">
              <a:ext uri="{FF2B5EF4-FFF2-40B4-BE49-F238E27FC236}">
                <a16:creationId xmlns:a16="http://schemas.microsoft.com/office/drawing/2014/main" id="{BF3960D9-F7B3-44AB-A25D-2B0A5F43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</a:defRPr>
            </a:pPr>
            <a:r>
              <a:rPr sz="1275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项目 C</a:t>
            </a:r>
          </a:p>
        </p:txBody>
      </p:sp>
      <p:sp>
        <p:nvSpPr>
          <p:cNvPr id="20" name="p13-project-3">
            <a:extLst xmlns:a="http://schemas.openxmlformats.org/drawingml/2006/main">
              <a:ext uri="{FF2B5EF4-FFF2-40B4-BE49-F238E27FC236}">
                <a16:creationId xmlns:a16="http://schemas.microsoft.com/office/drawing/2014/main" id="{242F7586-F712-460F-BCA6-F1B7474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577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2D47"/>
            </a:solidFill>
            <a:prstDash val="solid"/>
          </a:ln>
        </p:spPr>
      </p:sp>
      <p:sp>
        <p:nvSpPr>
          <p:cNvPr id="21" name="p13-project-label-3">
            <a:extLst xmlns:a="http://schemas.openxmlformats.org/drawingml/2006/main">
              <a:ext uri="{FF2B5EF4-FFF2-40B4-BE49-F238E27FC236}">
                <a16:creationId xmlns:a16="http://schemas.microsoft.com/office/drawing/2014/main" id="{5E9E7093-D9A6-4BFE-8FE1-2BE31DBF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2768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</a:defRPr>
            </a:pPr>
            <a:r>
              <a:rPr sz="1275" b="1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项目 D</a:t>
            </a:r>
          </a:p>
        </p:txBody>
      </p:sp>
      <p:sp>
        <p:nvSpPr>
          <p:cNvPr id="22" name="p13-rule">
            <a:extLst xmlns:a="http://schemas.openxmlformats.org/drawingml/2006/main">
              <a:ext uri="{FF2B5EF4-FFF2-40B4-BE49-F238E27FC236}">
                <a16:creationId xmlns:a16="http://schemas.microsoft.com/office/drawing/2014/main" id="{B6E182FE-6CBB-4391-A30E-158755F0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768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7798A"/>
                </a:solidFill>
              </a:defRPr>
            </a:pPr>
            <a:r>
              <a:rPr sz="1650" b="1">
                <a:solidFill>
                  <a:srgbClr val="67798A"/>
                </a:solidFill>
                <a:latin typeface="Arial Unicode MS"/>
                <a:ea typeface="Arial Unicode MS"/>
                <a:cs typeface="Arial Unicode MS"/>
              </a:rPr>
              <a:t>独立问题 · 独立判断 · 独立提交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 Unicode MS"/>
                <a:ea typeface="Arial Unicode MS"/>
                <a:cs typeface="Arial Unicode MS"/>
              </a:rPr>
              <a:t>今天离开前，留下三个可检查工件</a:t>
            </a:r>
          </a:p>
        </p:txBody>
      </p:sp>
      <p:sp>
        <p:nvSpPr>
          <p:cNvPr id="5" name="p14-rule-0">
            <a:extLst xmlns:a="http://schemas.openxmlformats.org/drawingml/2006/main">
              <a:ext uri="{FF2B5EF4-FFF2-40B4-BE49-F238E27FC236}">
                <a16:creationId xmlns:a16="http://schemas.microsoft.com/office/drawing/2014/main" id="{B1290F06-92FB-4D76-A0AF-09FB295D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38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14-file-0">
            <a:extLst xmlns:a="http://schemas.openxmlformats.org/drawingml/2006/main">
              <a:ext uri="{FF2B5EF4-FFF2-40B4-BE49-F238E27FC236}">
                <a16:creationId xmlns:a16="http://schemas.microsoft.com/office/drawing/2014/main" id="{69EC90D4-F856-4671-8E7B-2098BE16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954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enlo"/>
                <a:ea typeface="Menlo"/>
                <a:cs typeface="Menlo"/>
              </a:rPr>
              <a:t>problem-definition.md</a:t>
            </a:r>
          </a:p>
        </p:txBody>
      </p:sp>
      <p:sp>
        <p:nvSpPr>
          <p:cNvPr id="7" name="p14-body-0">
            <a:extLst xmlns:a="http://schemas.openxmlformats.org/drawingml/2006/main">
              <a:ext uri="{FF2B5EF4-FFF2-40B4-BE49-F238E27FC236}">
                <a16:creationId xmlns:a16="http://schemas.microsoft.com/office/drawing/2014/main" id="{9683EE5A-E003-4EBB-9E09-B38202DA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304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3810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研究问题</a:t>
            </a:r>
          </a:p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我们研究在 ______ 条件下，</a:t>
            </a:r>
          </a:p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______ 方法是否能改善 ______。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范围：______</a:t>
            </a:r>
          </a:p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非例：______</a:t>
            </a:r>
          </a:p>
        </p:txBody>
      </p:sp>
      <p:sp>
        <p:nvSpPr>
          <p:cNvPr id="8" name="p14-num-0">
            <a:extLst xmlns:a="http://schemas.openxmlformats.org/drawingml/2006/main">
              <a:ext uri="{FF2B5EF4-FFF2-40B4-BE49-F238E27FC236}">
                <a16:creationId xmlns:a16="http://schemas.microsoft.com/office/drawing/2014/main" id="{3A9F37AB-9214-44C2-ABBD-CD2AAFAB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7798A"/>
                </a:solidFill>
              </a:defRPr>
            </a:pPr>
            <a:r>
              <a:rPr sz="2100" b="1">
                <a:solidFill>
                  <a:srgbClr val="6779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p14-rule-1">
            <a:extLst xmlns:a="http://schemas.openxmlformats.org/drawingml/2006/main">
              <a:ext uri="{FF2B5EF4-FFF2-40B4-BE49-F238E27FC236}">
                <a16:creationId xmlns:a16="http://schemas.microsoft.com/office/drawing/2014/main" id="{24DC78B4-1C43-4981-A4B0-0288EA57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90650"/>
            <a:ext cx="38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4-file-1">
            <a:extLst xmlns:a="http://schemas.openxmlformats.org/drawingml/2006/main">
              <a:ext uri="{FF2B5EF4-FFF2-40B4-BE49-F238E27FC236}">
                <a16:creationId xmlns:a16="http://schemas.microsoft.com/office/drawing/2014/main" id="{F8131FCE-145D-4E95-BA28-162BA553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D47"/>
                </a:solidFill>
              </a:defRPr>
            </a:pPr>
            <a:r>
              <a:rPr sz="1350" b="1">
                <a:solidFill>
                  <a:srgbClr val="102D47"/>
                </a:solidFill>
                <a:latin typeface="Arial Unicode MS"/>
                <a:ea typeface="Arial Unicode MS"/>
                <a:cs typeface="Arial Unicode MS"/>
              </a:rPr>
              <a:t>八阶段链路草图</a:t>
            </a:r>
          </a:p>
        </p:txBody>
      </p:sp>
      <p:sp>
        <p:nvSpPr>
          <p:cNvPr id="11" name="p14-body-1">
            <a:extLst xmlns:a="http://schemas.openxmlformats.org/drawingml/2006/main">
              <a:ext uri="{FF2B5EF4-FFF2-40B4-BE49-F238E27FC236}">
                <a16:creationId xmlns:a16="http://schemas.microsoft.com/office/drawing/2014/main" id="{073809DC-C7A1-43BE-B924-B8F13331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05000"/>
            <a:ext cx="304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3810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阶段　　　　 当前想法</a:t>
            </a:r>
          </a:p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1 问题定义　 ______</a:t>
            </a:r>
          </a:p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2 第一性原理 ______</a:t>
            </a:r>
          </a:p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3 机制假设　 ______</a:t>
            </a:r>
          </a:p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⋯</a:t>
            </a:r>
          </a:p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Arial Unicode MS"/>
                <a:ea typeface="Arial Unicode MS"/>
                <a:cs typeface="Arial Unicode MS"/>
              </a:rPr>
              <a:t>8 回写表达　 ______</a:t>
            </a:r>
          </a:p>
        </p:txBody>
      </p:sp>
      <p:sp>
        <p:nvSpPr>
          <p:cNvPr id="12" name="p14-num-1">
            <a:extLst xmlns:a="http://schemas.openxmlformats.org/drawingml/2006/main">
              <a:ext uri="{FF2B5EF4-FFF2-40B4-BE49-F238E27FC236}">
                <a16:creationId xmlns:a16="http://schemas.microsoft.com/office/drawing/2014/main" id="{01E0E833-B0A1-4167-97A6-DDBDF402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815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7798A"/>
                </a:solidFill>
              </a:defRPr>
            </a:pPr>
            <a:r>
              <a:rPr sz="2100" b="1">
                <a:solidFill>
                  <a:srgbClr val="6779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p14-rule-2">
            <a:extLst xmlns:a="http://schemas.openxmlformats.org/drawingml/2006/main">
              <a:ext uri="{FF2B5EF4-FFF2-40B4-BE49-F238E27FC236}">
                <a16:creationId xmlns:a16="http://schemas.microsoft.com/office/drawing/2014/main" id="{E5E7078C-8BD7-4A07-BE92-3C1B84A0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390650"/>
            <a:ext cx="38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4-file-2">
            <a:extLst xmlns:a="http://schemas.openxmlformats.org/drawingml/2006/main">
              <a:ext uri="{FF2B5EF4-FFF2-40B4-BE49-F238E27FC236}">
                <a16:creationId xmlns:a16="http://schemas.microsoft.com/office/drawing/2014/main" id="{37AFEAD2-AE75-4F7D-A9BA-4B365AE1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954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enlo"/>
                <a:ea typeface="Menlo"/>
                <a:cs typeface="Menlo"/>
              </a:rPr>
              <a:t>ai-usage-log.md</a:t>
            </a:r>
          </a:p>
        </p:txBody>
      </p:sp>
      <p:sp>
        <p:nvSpPr>
          <p:cNvPr id="15" name="p14-body-2">
            <a:extLst xmlns:a="http://schemas.openxmlformats.org/drawingml/2006/main">
              <a:ext uri="{FF2B5EF4-FFF2-40B4-BE49-F238E27FC236}">
                <a16:creationId xmlns:a16="http://schemas.microsoft.com/office/drawing/2014/main" id="{4FD8D11C-9CFA-48FF-93EB-7E472EF0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05000"/>
            <a:ext cx="304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3810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工具 / 模型：______</a:t>
            </a:r>
          </a:p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用途：______</a:t>
            </a:r>
          </a:p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Context：______</a:t>
            </a:r>
          </a:p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输出用途：______</a:t>
            </a:r>
          </a:p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人工核验：______</a:t>
            </a:r>
          </a:p>
          <a:p xmlns:a="http://schemas.openxmlformats.org/drawingml/2006/main">
            <a:pPr algn="l">
              <a:defRPr sz="1425" b="0">
                <a:solidFill>
                  <a:srgbClr val="17324A"/>
                </a:solidFill>
              </a:defRPr>
            </a:pPr>
            <a:r>
              <a:rPr sz="1425" b="0">
                <a:solidFill>
                  <a:srgbClr val="17324A"/>
                </a:solidFill>
                <a:latin typeface="Menlo"/>
                <a:ea typeface="Menlo"/>
                <a:cs typeface="Menlo"/>
              </a:rPr>
              <a:t>问题或误导：______</a:t>
            </a:r>
          </a:p>
        </p:txBody>
      </p:sp>
      <p:sp>
        <p:nvSpPr>
          <p:cNvPr id="16" name="p14-num-2">
            <a:extLst xmlns:a="http://schemas.openxmlformats.org/drawingml/2006/main">
              <a:ext uri="{FF2B5EF4-FFF2-40B4-BE49-F238E27FC236}">
                <a16:creationId xmlns:a16="http://schemas.microsoft.com/office/drawing/2014/main" id="{8187DB2B-4854-4B38-BCB0-9096BA5B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815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7798A"/>
                </a:solidFill>
              </a:defRPr>
            </a:pPr>
            <a:r>
              <a:rPr sz="2100" b="1">
                <a:solidFill>
                  <a:srgbClr val="6779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p14-close">
            <a:extLst xmlns:a="http://schemas.openxmlformats.org/drawingml/2006/main">
              <a:ext uri="{FF2B5EF4-FFF2-40B4-BE49-F238E27FC236}">
                <a16:creationId xmlns:a16="http://schemas.microsoft.com/office/drawing/2014/main" id="{58C7F5D4-C95B-462C-A1A1-F16D82F5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149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Arial Unicode MS"/>
                <a:ea typeface="Arial Unicode MS"/>
                <a:cs typeface="Arial Unicode MS"/>
              </a:rPr>
              <a:t>不求完整，只求下一步可以被检查。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2026-08-01T16:29:56.8410000Z</dcterms:created>
  <dcterms:modified xsi:type="dcterms:W3CDTF">2026-08-01T16:29:56.8410000Z</dcterms:modified>
</coreProperties>
</file>