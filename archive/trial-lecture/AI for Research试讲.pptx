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</p:sldIdLst>
  <p:sldSz cx="12192000" cy="6858000"/>
  <p:notesSz cx="7102475" cy="10233025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863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orient="horz" pos="1502" userDrawn="1">
          <p15:clr>
            <a:srgbClr val="A4A3A4"/>
          </p15:clr>
        </p15:guide>
        <p15:guide id="7" orient="horz" pos="3113" userDrawn="1">
          <p15:clr>
            <a:srgbClr val="A4A3A4"/>
          </p15:clr>
        </p15:guide>
        <p15:guide id="8" pos="2128" userDrawn="1">
          <p15:clr>
            <a:srgbClr val="A4A3A4"/>
          </p15:clr>
        </p15:guide>
        <p15:guide id="9" pos="4067" userDrawn="1">
          <p15:clr>
            <a:srgbClr val="A4A3A4"/>
          </p15:clr>
        </p15:guide>
        <p15:guide id="10" pos="5972" userDrawn="1">
          <p15:clr>
            <a:srgbClr val="A4A3A4"/>
          </p15:clr>
        </p15:guide>
        <p15:guide id="11" pos="5292" userDrawn="1">
          <p15:clr>
            <a:srgbClr val="A4A3A4"/>
          </p15:clr>
        </p15:guide>
        <p15:guide id="12" pos="22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ixia Zhang" initials="WZ" lastIdx="1" clrIdx="0">
    <p:extLst>
      <p:ext uri="{19B8F6BF-5375-455C-9EA6-DF929625EA0E}">
        <p15:presenceInfo xmlns:p15="http://schemas.microsoft.com/office/powerpoint/2012/main" userId="dd4b013fb83bef4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FF930C"/>
    <a:srgbClr val="25D9CA"/>
    <a:srgbClr val="0000CD"/>
    <a:srgbClr val="F9F9FB"/>
    <a:srgbClr val="DEEBFE"/>
    <a:srgbClr val="F7DC7F"/>
    <a:srgbClr val="0066FF"/>
    <a:srgbClr val="02FFFF"/>
    <a:srgbClr val="7C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5578" autoAdjust="0"/>
  </p:normalViewPr>
  <p:slideViewPr>
    <p:cSldViewPr snapToGrid="0" showGuides="1">
      <p:cViewPr varScale="1">
        <p:scale>
          <a:sx n="96" d="100"/>
          <a:sy n="96" d="100"/>
        </p:scale>
        <p:origin x="400" y="168"/>
      </p:cViewPr>
      <p:guideLst>
        <p:guide pos="3863"/>
        <p:guide orient="horz" pos="1003"/>
        <p:guide orient="horz" pos="1502"/>
        <p:guide orient="horz" pos="3113"/>
        <p:guide pos="2128"/>
        <p:guide pos="4067"/>
        <p:guide pos="5972"/>
        <p:guide pos="5292"/>
        <p:guide pos="2275"/>
      </p:guideLst>
    </p:cSldViewPr>
  </p:slideViewPr>
  <p:outlineViewPr>
    <p:cViewPr>
      <p:scale>
        <a:sx n="33" d="100"/>
        <a:sy n="33" d="100"/>
      </p:scale>
      <p:origin x="0" y="-6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604"/>
    </p:cViewPr>
  </p:sorterViewPr>
  <p:notesViewPr>
    <p:cSldViewPr snapToGrid="0" showGuides="1">
      <p:cViewPr varScale="1">
        <p:scale>
          <a:sx n="94" d="100"/>
          <a:sy n="94" d="100"/>
        </p:scale>
        <p:origin x="375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08DB251-D803-4475-8281-4947A89E79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6218A5-2289-4813-A341-6263B16CBA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4512A60F-63B3-4D54-AA63-B159FADA9F3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7CE9A9-1C60-4F0A-AA63-4467F58DE8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1EA911-14C2-4254-9079-FD9EC1C139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9494E6C1-322F-4AF4-A541-6A7DCE38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418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48513A3C-D0C5-45C0-BD52-194E7639670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6E0D5545-95D4-489F-B8ED-7EAFA774B5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24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这门课的核心定位是科研方法课。AI 在课程中不是目的，而是被纳入可验证、可复现、可追溯科研流程的手段。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为什么现在需要这门课，是因为学生已经在真实科研流程里使用 AI。问题不在于学生会不会用 AI，而在于他们是否知道如何验证 AI 输出、记录 AI 参与过程，并控制它不能越过科研判断边界。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这一页用四门国际课程做对标：Berkeley 提供理论深度和进阶路径参考，Johns Hopkins 提供渐进式能力培养参考，eCornell 提供模块化和降低门槛策略参考，MIT MAS.664 提供前瞻主题和项目制参考。本课程不是简单重复 Agent 工具训练，而是把这些能力纳入研究生科研链路，强调证据链、判断链、留痕链和伦理披露。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这门课的组织原则不是工具清单，而是科研动作。大约七到八成内容是通用科研工作流，二到三成是机器学习实验自动化和 Research Agent 实践。每一个工具都必须回答它服务哪个科研动作。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课程的主线是八阶段研究链路，从问题定义开始，到第一性原理、机制假设、外部输入摄取、证据整理、研究判断、原型验证，最后回写与表达。AI 可以参与每个阶段，但关键研究判断仍然由人负责。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这一页是试讲片段。我会用 Transformer 经典论文做三分钟微型课堂，但不讲模型细节，而是拆科研链路。学生要学习的不是总结论文，而是抽取问题、假设、证据、判断和留痕材料。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三十二学时会组织成六个模块。所有模块都服务同一个贯穿项目，而不是每周做孤立练习。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这门课的先修要求是合理但不拔高的。课程资源优先使用学校已部署、开源、国内可用或课程统一配置的模型资源，厂商免费 token 或教育计划只作为补充。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考核也围绕科研闭环，而不是围绕用了多少 AI 工具。每一项都有可检查提交物，包括问题定义、研究计划、证据地图、实验规格、可运行原型、评价报告、AI 使用记录、科研伦理与合规说明和论文式短文。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为了防止项目最后变成一份看似完整但不可验证的报告，课程设置四个研究门。每个门都要求留下可审查材料，让 AI 参与过程可复盘、可追责。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这一页需要替换为主讲人的真实经历。我建议按三条证据组织：科研方法积累、AI 与 Agent 实践、课程转化能力。这里宁可留待补充，也不虚构履历。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学生学完这门课，应该得到一个可继续发展的研究雏形。这些产出可以继续服务开题准备、组会汇报、论文 idea 打磨、baseline 建设和后续科研项目启动。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课程不是禁止学生使用 AI，而是要求 AI 参与过程可审查、可复盘、可问责。AI 使用记录、工具权限记录、实验留痕、研究判断留痕和伦理边界都要留下证据。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最后回到课程价值。这门课不是教学生把研究外包给 AI，而是教学生把 AI 纳入可验证、可复现、可追溯的科研流程。最终目标是培养能在 AI 时代更可靠地做研究的研究生。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&#10;&#10;自动生成的说明">
            <a:extLst>
              <a:ext uri="{FF2B5EF4-FFF2-40B4-BE49-F238E27FC236}">
                <a16:creationId xmlns:a16="http://schemas.microsoft.com/office/drawing/2014/main" id="{DC463E02-403D-4EDF-904F-C4102C9C3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DE506FFD-8B27-444A-964F-E64D0BB3DAF0}" type="datetime2">
              <a:rPr lang="zh-CN" altLang="en-US" smtClean="0"/>
              <a:t>2019年1月28日</a:t>
            </a:fld>
            <a:endParaRPr lang="zh-CN" altLang="en-US" dirty="0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E9FF532-F6D9-45BD-B501-EEC1CB82C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/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AF7A6D04-2810-44D7-A07D-0AA2596107F1}"/>
              </a:ext>
            </a:extLst>
          </p:cNvPr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A839E5E-CB67-421E-974F-278CCBCFB8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alphaModFix amt="35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3D809C0-A4EF-44AF-AECA-4A85E4BA2C9D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57ABA8D-3632-4FB6-8561-0367E4880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5F70B8EC-E67C-4355-9367-9F32C48344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6E58E8B-64DD-4CB6-9A0A-016E581D3E4C}"/>
              </a:ext>
            </a:extLst>
          </p:cNvPr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43D3B54-A2E0-47EA-82F0-8A5C219B17CC}"/>
              </a:ext>
            </a:extLst>
          </p:cNvPr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8585BA52-95CD-854D-A470-CE76748E806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51"/>
          <a:stretch/>
        </p:blipFill>
        <p:spPr>
          <a:xfrm>
            <a:off x="332010" y="251357"/>
            <a:ext cx="1934780" cy="48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2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/>
          <p:nvPr/>
        </p:nvSpPr>
        <p:spPr>
          <a:xfrm>
            <a:off x="304801" y="2455636"/>
            <a:ext cx="2960913" cy="143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/>
          <p:nvPr/>
        </p:nvSpPr>
        <p:spPr>
          <a:xfrm rot="16200000">
            <a:off x="1736542" y="2389144"/>
            <a:ext cx="97430" cy="296091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/>
          <p:nvPr/>
        </p:nvSpPr>
        <p:spPr>
          <a:xfrm flipV="1">
            <a:off x="3478991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89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227868-C0F1-41FC-A8C9-A533B4E114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" name="图片 19" descr="图片包含 户外, 标牌, 黑色&#10;&#10;自动生成的说明">
            <a:extLst>
              <a:ext uri="{FF2B5EF4-FFF2-40B4-BE49-F238E27FC236}">
                <a16:creationId xmlns:a16="http://schemas.microsoft.com/office/drawing/2014/main" id="{D5338ABA-2308-412D-96F5-DE590FFF99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21" name="文本占位符 31">
            <a:extLst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66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片包含 建筑物&#10;&#10;自动生成的说明">
            <a:extLst>
              <a:ext uri="{FF2B5EF4-FFF2-40B4-BE49-F238E27FC236}">
                <a16:creationId xmlns:a16="http://schemas.microsoft.com/office/drawing/2014/main" id="{59C76395-F18A-42DC-A156-F93BFCD8E4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8C8E8E9-B6E9-4C9E-A8E5-EC39920274FE}"/>
              </a:ext>
            </a:extLst>
          </p:cNvPr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A6D4021-94E1-4E9F-90EB-E54E5216CA6E}"/>
              </a:ext>
            </a:extLst>
          </p:cNvPr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079C22-C965-4A93-8C7F-F7C26F71D8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40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58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5" r:id="rId3"/>
    <p:sldLayoutId id="2147483654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val="F26B43"/>
          </p15:clr>
        </p15:guide>
        <p15:guide id="2" pos="7488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orient="horz" pos="47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40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C33D1-F795-2B48-8B6F-3B74189BA99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noProof="1"/>
              <a:t>2026.6.15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9449E-BE24-3B99-62E8-EDE829994C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noProof="1"/>
              <a:t>主讲： 金耀辉</a:t>
            </a:r>
            <a:r>
              <a:rPr lang="zh-CN" altLang="en-US" noProof="1"/>
              <a:t> 教授</a:t>
            </a:r>
            <a:endParaRPr lang="zh-CN" noProof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5A75C7-65B7-5D90-65F9-B5E2DF88BFC3}"/>
              </a:ext>
            </a:extLst>
          </p:cNvPr>
          <p:cNvSpPr/>
          <p:nvPr/>
        </p:nvSpPr>
        <p:spPr>
          <a:xfrm>
            <a:off x="1584000" y="1818000"/>
            <a:ext cx="9036000" cy="1322765"/>
          </a:xfrm>
          <a:prstGeom prst="rect">
            <a:avLst/>
          </a:prstGeom>
          <a:solidFill>
            <a:srgbClr val="C6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353D58-FBE4-81EF-27E9-E7D74F3DD5C3}"/>
              </a:ext>
            </a:extLst>
          </p:cNvPr>
          <p:cNvSpPr txBox="1"/>
          <p:nvPr/>
        </p:nvSpPr>
        <p:spPr>
          <a:xfrm>
            <a:off x="1854000" y="1998000"/>
            <a:ext cx="8496000" cy="413999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3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智能科研方法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3D4E43-615D-2E9A-786D-A4ABBED268CF}"/>
              </a:ext>
            </a:extLst>
          </p:cNvPr>
          <p:cNvSpPr txBox="1"/>
          <p:nvPr/>
        </p:nvSpPr>
        <p:spPr>
          <a:xfrm>
            <a:off x="1848000" y="2603032"/>
            <a:ext cx="8496000" cy="259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0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for Research: Methods and Practice</a:t>
            </a:r>
          </a:p>
        </p:txBody>
      </p:sp>
    </p:spTree>
    <p:extLst>
      <p:ext uri="{BB962C8B-B14F-4D97-AF65-F5344CB8AC3E}">
        <p14:creationId xmlns:p14="http://schemas.microsoft.com/office/powerpoint/2010/main" val="983862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课程简介与设计理念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用 AI 增强科研全过程，而不是用 AI 替代科研判断。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530000"/>
            <a:ext cx="3456000" cy="2106000"/>
          </a:xfrm>
          <a:prstGeom prst="roundRect">
            <a:avLst>
              <a:gd name="adj" fmla="val 7857"/>
            </a:avLst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Oval 6"/>
          <p:cNvSpPr/>
          <p:nvPr/>
        </p:nvSpPr>
        <p:spPr>
          <a:xfrm>
            <a:off x="648000" y="1699200"/>
            <a:ext cx="403200" cy="4032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8" name="TextBox 7"/>
          <p:cNvSpPr txBox="1"/>
          <p:nvPr/>
        </p:nvSpPr>
        <p:spPr>
          <a:xfrm>
            <a:off x="648000" y="1804031"/>
            <a:ext cx="403200" cy="1693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200" y="1735200"/>
            <a:ext cx="2646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课程定位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2160000"/>
            <a:ext cx="2987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TextBox 10"/>
          <p:cNvSpPr txBox="1"/>
          <p:nvPr/>
        </p:nvSpPr>
        <p:spPr>
          <a:xfrm>
            <a:off x="720000" y="2430000"/>
            <a:ext cx="2987999" cy="594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面向 CS/AI 研究生</a:t>
            </a:r>
          </a:p>
          <a:p>
            <a:pPr algn="ctr">
              <a:lnSpc>
                <a:spcPct val="12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2 学分 · 32 学时</a:t>
            </a:r>
          </a:p>
          <a:p>
            <a:pPr algn="ctr">
              <a:lnSpc>
                <a:spcPct val="12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专业选修课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6000" y="1530000"/>
            <a:ext cx="3456000" cy="2106000"/>
          </a:xfrm>
          <a:prstGeom prst="roundRect">
            <a:avLst>
              <a:gd name="adj" fmla="val 7857"/>
            </a:avLst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3" name="Oval 12"/>
          <p:cNvSpPr/>
          <p:nvPr/>
        </p:nvSpPr>
        <p:spPr>
          <a:xfrm>
            <a:off x="4428000" y="1699200"/>
            <a:ext cx="403200" cy="4032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4" name="TextBox 13"/>
          <p:cNvSpPr txBox="1"/>
          <p:nvPr/>
        </p:nvSpPr>
        <p:spPr>
          <a:xfrm>
            <a:off x="4428000" y="1804031"/>
            <a:ext cx="403200" cy="1693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1200" y="1735200"/>
            <a:ext cx="2646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核心理念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0000" y="2160000"/>
            <a:ext cx="2987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7" name="TextBox 16"/>
          <p:cNvSpPr txBox="1"/>
          <p:nvPr/>
        </p:nvSpPr>
        <p:spPr>
          <a:xfrm>
            <a:off x="4500000" y="2430000"/>
            <a:ext cx="2987999" cy="594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验证 AI 输出</a:t>
            </a:r>
          </a:p>
          <a:p>
            <a:pPr algn="ctr">
              <a:lnSpc>
                <a:spcPct val="12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记录 AI 参与</a:t>
            </a:r>
          </a:p>
          <a:p>
            <a:pPr algn="ctr">
              <a:lnSpc>
                <a:spcPct val="12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控制科研边界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000" y="1530000"/>
            <a:ext cx="3456000" cy="2106000"/>
          </a:xfrm>
          <a:prstGeom prst="roundRect">
            <a:avLst>
              <a:gd name="adj" fmla="val 9745"/>
            </a:avLst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Oval 18"/>
          <p:cNvSpPr/>
          <p:nvPr/>
        </p:nvSpPr>
        <p:spPr>
          <a:xfrm>
            <a:off x="8208000" y="1699200"/>
            <a:ext cx="403200" cy="4032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0" name="TextBox 19"/>
          <p:cNvSpPr txBox="1"/>
          <p:nvPr/>
        </p:nvSpPr>
        <p:spPr>
          <a:xfrm>
            <a:off x="8208000" y="1804031"/>
            <a:ext cx="403200" cy="1693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1200" y="1735200"/>
            <a:ext cx="2646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培养目标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80000" y="2160000"/>
            <a:ext cx="2987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3" name="TextBox 22"/>
          <p:cNvSpPr txBox="1"/>
          <p:nvPr/>
        </p:nvSpPr>
        <p:spPr>
          <a:xfrm>
            <a:off x="8280000" y="2430000"/>
            <a:ext cx="2987999" cy="594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形成可验证、可复现</a:t>
            </a:r>
          </a:p>
          <a:p>
            <a:pPr algn="ctr">
              <a:lnSpc>
                <a:spcPct val="12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可追溯的科研流程</a:t>
            </a:r>
          </a:p>
          <a:p>
            <a:pPr algn="ctr">
              <a:lnSpc>
                <a:spcPct val="12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更可靠地做研究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6000" y="4086000"/>
            <a:ext cx="11016000" cy="468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5" name="TextBox 24"/>
          <p:cNvSpPr txBox="1"/>
          <p:nvPr/>
        </p:nvSpPr>
        <p:spPr>
          <a:xfrm>
            <a:off x="648000" y="4183199"/>
            <a:ext cx="10692000" cy="1656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课程训练学生把 AI 纳入科研流程，而不是把科研判断外包给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AI 正在改变研究生的科研工作方式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学生已经自然使用 AI，但未必知道如何验证、记录和控制 AI。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458000"/>
            <a:ext cx="3456000" cy="82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TextBox 6"/>
          <p:cNvSpPr txBox="1"/>
          <p:nvPr/>
        </p:nvSpPr>
        <p:spPr>
          <a:xfrm>
            <a:off x="576000" y="1537199"/>
            <a:ext cx="327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文献检索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837303"/>
            <a:ext cx="3276000" cy="424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从关键词扩展到证据筛选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6000" y="1458000"/>
            <a:ext cx="3456000" cy="827999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0" name="TextBox 9"/>
          <p:cNvSpPr txBox="1"/>
          <p:nvPr/>
        </p:nvSpPr>
        <p:spPr>
          <a:xfrm>
            <a:off x="4356000" y="1537199"/>
            <a:ext cx="327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论文阅读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6000" y="1837303"/>
            <a:ext cx="3276000" cy="424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贡献、证据、局限结构化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000" y="1458000"/>
            <a:ext cx="3456000" cy="82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3" name="TextBox 12"/>
          <p:cNvSpPr txBox="1"/>
          <p:nvPr/>
        </p:nvSpPr>
        <p:spPr>
          <a:xfrm>
            <a:off x="8136000" y="1537199"/>
            <a:ext cx="327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代码生成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6000" y="1837303"/>
            <a:ext cx="3276000" cy="424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辅助实现，但不能污染实验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6000" y="2574000"/>
            <a:ext cx="3456000" cy="827999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6" name="TextBox 15"/>
          <p:cNvSpPr txBox="1"/>
          <p:nvPr/>
        </p:nvSpPr>
        <p:spPr>
          <a:xfrm>
            <a:off x="576000" y="2653200"/>
            <a:ext cx="327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实验迭代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2953304"/>
            <a:ext cx="3276000" cy="424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队列、参数、失败归因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6000" y="2574000"/>
            <a:ext cx="3456000" cy="82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TextBox 18"/>
          <p:cNvSpPr txBox="1"/>
          <p:nvPr/>
        </p:nvSpPr>
        <p:spPr>
          <a:xfrm>
            <a:off x="4356000" y="2653200"/>
            <a:ext cx="327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6000" y="2953304"/>
            <a:ext cx="3276000" cy="424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从结果到研究判断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000" y="2574000"/>
            <a:ext cx="3456000" cy="827999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2" name="TextBox 21"/>
          <p:cNvSpPr txBox="1"/>
          <p:nvPr/>
        </p:nvSpPr>
        <p:spPr>
          <a:xfrm>
            <a:off x="8136000" y="2653200"/>
            <a:ext cx="327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论文写作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6000" y="2953304"/>
            <a:ext cx="3276000" cy="424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结论必须回到证据链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6000" y="4031999"/>
            <a:ext cx="11016000" cy="774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5" name="TextBox 24"/>
          <p:cNvSpPr txBox="1"/>
          <p:nvPr/>
        </p:nvSpPr>
        <p:spPr>
          <a:xfrm>
            <a:off x="720000" y="4219200"/>
            <a:ext cx="10512000" cy="306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2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会用 AI 不等于会做研究，课程要补的是验证、记录和控制能力。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国际课程对标：本课补科研链路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0823930" cy="391523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国外课程证明 Agentic AI 已成体系；本课程借鉴其设计，但落点放在研究生科研方法训练。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1584783"/>
            <a:ext cx="2592000" cy="259200"/>
          </a:xfrm>
          <a:prstGeom prst="rect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TextBox 6"/>
          <p:cNvSpPr txBox="1"/>
          <p:nvPr/>
        </p:nvSpPr>
        <p:spPr>
          <a:xfrm>
            <a:off x="536400" y="1613583"/>
            <a:ext cx="2491200" cy="201599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lang="zh-CN" sz="135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3078000" y="1584783"/>
            <a:ext cx="1440000" cy="259200"/>
          </a:xfrm>
          <a:prstGeom prst="rect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9" name="TextBox 8"/>
          <p:cNvSpPr txBox="1"/>
          <p:nvPr/>
        </p:nvSpPr>
        <p:spPr>
          <a:xfrm>
            <a:off x="3128400" y="1613583"/>
            <a:ext cx="1339200" cy="201599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lang="zh-CN" sz="135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18000" y="1584783"/>
            <a:ext cx="4392000" cy="259200"/>
          </a:xfrm>
          <a:prstGeom prst="rect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TextBox 10"/>
          <p:cNvSpPr txBox="1"/>
          <p:nvPr/>
        </p:nvSpPr>
        <p:spPr>
          <a:xfrm>
            <a:off x="4568400" y="1613583"/>
            <a:ext cx="4291200" cy="201599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lang="zh-CN" sz="135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0000" y="1584783"/>
            <a:ext cx="2592000" cy="259200"/>
          </a:xfrm>
          <a:prstGeom prst="rect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3" name="TextBox 12"/>
          <p:cNvSpPr txBox="1"/>
          <p:nvPr/>
        </p:nvSpPr>
        <p:spPr>
          <a:xfrm>
            <a:off x="8960400" y="1613583"/>
            <a:ext cx="2491200" cy="201599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lang="zh-CN" sz="135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与本课程的关系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000" y="1843983"/>
            <a:ext cx="2592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5" name="TextBox 14"/>
          <p:cNvSpPr txBox="1"/>
          <p:nvPr/>
        </p:nvSpPr>
        <p:spPr>
          <a:xfrm>
            <a:off x="536400" y="1872783"/>
            <a:ext cx="2491200" cy="417600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lang="zh-CN" sz="126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CS294/194-196</a:t>
            </a:r>
          </a:p>
          <a:p>
            <a:pPr algn="ctr">
              <a:lnSpc>
                <a:spcPct val="114000"/>
              </a:lnSpc>
            </a:pPr>
            <a:r>
              <a:rPr lang="zh-CN" sz="126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LLM Agents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78000" y="1843983"/>
            <a:ext cx="1440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7" name="TextBox 16"/>
          <p:cNvSpPr txBox="1"/>
          <p:nvPr/>
        </p:nvSpPr>
        <p:spPr>
          <a:xfrm>
            <a:off x="3128400" y="1872783"/>
            <a:ext cx="1339200" cy="417600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lang="zh-CN" sz="126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UC Berkeley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18000" y="1843983"/>
            <a:ext cx="4392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200" noProof="1"/>
          </a:p>
        </p:txBody>
      </p:sp>
      <p:sp>
        <p:nvSpPr>
          <p:cNvPr id="19" name="TextBox 18"/>
          <p:cNvSpPr txBox="1"/>
          <p:nvPr/>
        </p:nvSpPr>
        <p:spPr>
          <a:xfrm>
            <a:off x="4568400" y="1977042"/>
            <a:ext cx="3316727" cy="209081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CN" sz="12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12 讲覆盖推理、规划、代码、多代理、科学发现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0000" y="1843983"/>
            <a:ext cx="2592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200" noProof="1"/>
          </a:p>
        </p:txBody>
      </p:sp>
      <p:sp>
        <p:nvSpPr>
          <p:cNvPr id="21" name="TextBox 20"/>
          <p:cNvSpPr txBox="1"/>
          <p:nvPr/>
        </p:nvSpPr>
        <p:spPr>
          <a:xfrm>
            <a:off x="8960400" y="1977042"/>
            <a:ext cx="2015088" cy="209081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CN" sz="12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理论深度参考；进阶路径设计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000" y="2319183"/>
            <a:ext cx="2592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3" name="TextBox 22"/>
          <p:cNvSpPr txBox="1"/>
          <p:nvPr/>
        </p:nvSpPr>
        <p:spPr>
          <a:xfrm>
            <a:off x="1349132" y="2447401"/>
            <a:ext cx="865736" cy="218764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lang="zh-CN" sz="126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Agentic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78000" y="2319183"/>
            <a:ext cx="1440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5" name="TextBox 24"/>
          <p:cNvSpPr txBox="1"/>
          <p:nvPr/>
        </p:nvSpPr>
        <p:spPr>
          <a:xfrm>
            <a:off x="3128400" y="2347983"/>
            <a:ext cx="1339200" cy="417600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lang="zh-CN" sz="126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Johns Hopkins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18000" y="2319183"/>
            <a:ext cx="4392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200" noProof="1"/>
          </a:p>
        </p:txBody>
      </p:sp>
      <p:sp>
        <p:nvSpPr>
          <p:cNvPr id="27" name="TextBox 26"/>
          <p:cNvSpPr txBox="1"/>
          <p:nvPr/>
        </p:nvSpPr>
        <p:spPr>
          <a:xfrm>
            <a:off x="4568400" y="2452242"/>
            <a:ext cx="3953568" cy="209081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CN" sz="12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Python→LLM→Agent→项目；感知-规划-学习-行动框架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10000" y="2319183"/>
            <a:ext cx="2592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200" noProof="1"/>
          </a:p>
        </p:txBody>
      </p:sp>
      <p:sp>
        <p:nvSpPr>
          <p:cNvPr id="29" name="TextBox 28"/>
          <p:cNvSpPr txBox="1"/>
          <p:nvPr/>
        </p:nvSpPr>
        <p:spPr>
          <a:xfrm>
            <a:off x="8960400" y="2452242"/>
            <a:ext cx="2168977" cy="209081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CN" sz="12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渐进式设计参考；能力框架互补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6000" y="2794383"/>
            <a:ext cx="2592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1" name="TextBox 30"/>
          <p:cNvSpPr txBox="1"/>
          <p:nvPr/>
        </p:nvSpPr>
        <p:spPr>
          <a:xfrm>
            <a:off x="822866" y="2922601"/>
            <a:ext cx="1918268" cy="218764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lang="zh-CN" sz="126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Agentic AI Architecture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78000" y="2794383"/>
            <a:ext cx="1440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3" name="TextBox 32"/>
          <p:cNvSpPr txBox="1"/>
          <p:nvPr/>
        </p:nvSpPr>
        <p:spPr>
          <a:xfrm>
            <a:off x="3128400" y="2823183"/>
            <a:ext cx="1339200" cy="417600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lang="zh-CN" sz="126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eCornell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18000" y="2794383"/>
            <a:ext cx="4392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200" noProof="1"/>
          </a:p>
        </p:txBody>
      </p:sp>
      <p:sp>
        <p:nvSpPr>
          <p:cNvPr id="35" name="TextBox 34"/>
          <p:cNvSpPr txBox="1"/>
          <p:nvPr/>
        </p:nvSpPr>
        <p:spPr>
          <a:xfrm>
            <a:off x="4568400" y="2927442"/>
            <a:ext cx="2662701" cy="209081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CN" sz="12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深度使用 Claude Code 和 LangGraph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0000" y="2794383"/>
            <a:ext cx="2592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200" noProof="1"/>
          </a:p>
        </p:txBody>
      </p:sp>
      <p:sp>
        <p:nvSpPr>
          <p:cNvPr id="37" name="TextBox 36"/>
          <p:cNvSpPr txBox="1"/>
          <p:nvPr/>
        </p:nvSpPr>
        <p:spPr>
          <a:xfrm>
            <a:off x="8960400" y="2927442"/>
            <a:ext cx="2168977" cy="209081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CN" sz="12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模块化设计参考；降低门槛策略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6000" y="3269583"/>
            <a:ext cx="2592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9" name="TextBox 38"/>
          <p:cNvSpPr txBox="1"/>
          <p:nvPr/>
        </p:nvSpPr>
        <p:spPr>
          <a:xfrm>
            <a:off x="675743" y="3287290"/>
            <a:ext cx="2212515" cy="439785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lang="zh-CN" sz="126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MAS.664 </a:t>
            </a:r>
            <a:br>
              <a:rPr lang="zh-CN" sz="126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</a:br>
            <a:r>
              <a:rPr lang="zh-CN" sz="126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AI Agentsand Agentic Web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78000" y="3269583"/>
            <a:ext cx="1440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1" name="TextBox 40"/>
          <p:cNvSpPr txBox="1"/>
          <p:nvPr/>
        </p:nvSpPr>
        <p:spPr>
          <a:xfrm>
            <a:off x="3128400" y="3298383"/>
            <a:ext cx="1339200" cy="417600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lang="zh-CN" sz="126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MIT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18000" y="3269583"/>
            <a:ext cx="4392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200" noProof="1"/>
          </a:p>
        </p:txBody>
      </p:sp>
      <p:sp>
        <p:nvSpPr>
          <p:cNvPr id="43" name="TextBox 42"/>
          <p:cNvSpPr txBox="1"/>
          <p:nvPr/>
        </p:nvSpPr>
        <p:spPr>
          <a:xfrm>
            <a:off x="4568400" y="3402642"/>
            <a:ext cx="4118421" cy="209081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CN" sz="12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身份、信任、声誉、支付、评估、协调；Internet of Agents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10000" y="3269583"/>
            <a:ext cx="2592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200" noProof="1"/>
          </a:p>
        </p:txBody>
      </p:sp>
      <p:sp>
        <p:nvSpPr>
          <p:cNvPr id="45" name="TextBox 44"/>
          <p:cNvSpPr txBox="1"/>
          <p:nvPr/>
        </p:nvSpPr>
        <p:spPr>
          <a:xfrm>
            <a:off x="8960400" y="3402642"/>
            <a:ext cx="2015088" cy="209081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CN" sz="12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前瞻性主题参考；项目制模式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6000" y="3924783"/>
            <a:ext cx="11016000" cy="1872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对标后的课程定位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6000" y="4494836"/>
            <a:ext cx="11016000" cy="594000"/>
          </a:xfrm>
          <a:prstGeom prst="round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8" name="TextBox 47"/>
          <p:cNvSpPr txBox="1"/>
          <p:nvPr/>
        </p:nvSpPr>
        <p:spPr>
          <a:xfrm>
            <a:off x="756000" y="4620836"/>
            <a:ext cx="10476000" cy="1944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不是重复 Agent 工具训练，而是把 AI 纳入可审查、可追溯、负责任的科研链路。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AI 增强的科研闭环训练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课程按科研动作组织，而不是按工具清单组织。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458000"/>
            <a:ext cx="3401999" cy="2015999"/>
          </a:xfrm>
          <a:prstGeom prst="roundRect">
            <a:avLst>
              <a:gd name="adj" fmla="val 8779"/>
            </a:avLst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TextBox 6"/>
          <p:cNvSpPr txBox="1"/>
          <p:nvPr/>
        </p:nvSpPr>
        <p:spPr>
          <a:xfrm>
            <a:off x="648000" y="1638000"/>
            <a:ext cx="3078000" cy="1872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课程内容比例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2001756"/>
            <a:ext cx="30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9" name="TextBox 8"/>
          <p:cNvSpPr txBox="1"/>
          <p:nvPr/>
        </p:nvSpPr>
        <p:spPr>
          <a:xfrm>
            <a:off x="684000" y="2178000"/>
            <a:ext cx="3006000" cy="1026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通用科研工作流  70%-80%</a:t>
            </a:r>
          </a:p>
          <a:p>
            <a:pPr algn="l">
              <a:lnSpc>
                <a:spcPct val="11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自动化 / Agent  20%-30%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76000" y="1458000"/>
            <a:ext cx="3401999" cy="2015999"/>
          </a:xfrm>
          <a:prstGeom prst="roundRect">
            <a:avLst>
              <a:gd name="adj" fmla="val 10094"/>
            </a:avLst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TextBox 10"/>
          <p:cNvSpPr txBox="1"/>
          <p:nvPr/>
        </p:nvSpPr>
        <p:spPr>
          <a:xfrm>
            <a:off x="4338000" y="1638000"/>
            <a:ext cx="3078000" cy="1872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核心原则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8000" y="2001756"/>
            <a:ext cx="30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3" name="TextBox 12"/>
          <p:cNvSpPr txBox="1"/>
          <p:nvPr/>
        </p:nvSpPr>
        <p:spPr>
          <a:xfrm>
            <a:off x="4374000" y="2178000"/>
            <a:ext cx="3006000" cy="1026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工具服务科研动作</a:t>
            </a:r>
          </a:p>
          <a:p>
            <a:pPr algn="l">
              <a:lnSpc>
                <a:spcPct val="11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方法论主线优先</a:t>
            </a:r>
          </a:p>
          <a:p>
            <a:pPr algn="l">
              <a:lnSpc>
                <a:spcPct val="11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自动化作为强化模块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6000" y="1458000"/>
            <a:ext cx="3401999" cy="2015999"/>
          </a:xfrm>
          <a:prstGeom prst="roundRect">
            <a:avLst>
              <a:gd name="adj" fmla="val 7464"/>
            </a:avLst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5" name="TextBox 14"/>
          <p:cNvSpPr txBox="1"/>
          <p:nvPr/>
        </p:nvSpPr>
        <p:spPr>
          <a:xfrm>
            <a:off x="8028000" y="1638000"/>
            <a:ext cx="3078000" cy="1872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课程判断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8000" y="2001756"/>
            <a:ext cx="30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7" name="TextBox 16"/>
          <p:cNvSpPr txBox="1"/>
          <p:nvPr/>
        </p:nvSpPr>
        <p:spPr>
          <a:xfrm>
            <a:off x="8064000" y="2178000"/>
            <a:ext cx="3006000" cy="1026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不是“Agent 自动做任务”</a:t>
            </a:r>
          </a:p>
          <a:p>
            <a:pPr algn="l">
              <a:lnSpc>
                <a:spcPct val="11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而是“AI 支撑科研链路”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3924000"/>
            <a:ext cx="1745999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TextBox 18"/>
          <p:cNvSpPr txBox="1"/>
          <p:nvPr/>
        </p:nvSpPr>
        <p:spPr>
          <a:xfrm>
            <a:off x="720000" y="4024800"/>
            <a:ext cx="1745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找证据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54000" y="3924000"/>
            <a:ext cx="1745999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1" name="TextBox 20"/>
          <p:cNvSpPr txBox="1"/>
          <p:nvPr/>
        </p:nvSpPr>
        <p:spPr>
          <a:xfrm>
            <a:off x="2754000" y="4024800"/>
            <a:ext cx="1745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定问题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88000" y="3924000"/>
            <a:ext cx="1745999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3" name="TextBox 22"/>
          <p:cNvSpPr txBox="1"/>
          <p:nvPr/>
        </p:nvSpPr>
        <p:spPr>
          <a:xfrm>
            <a:off x="4788000" y="4024800"/>
            <a:ext cx="1745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设假设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22000" y="3924000"/>
            <a:ext cx="1745999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5" name="TextBox 24"/>
          <p:cNvSpPr txBox="1"/>
          <p:nvPr/>
        </p:nvSpPr>
        <p:spPr>
          <a:xfrm>
            <a:off x="6822000" y="4024800"/>
            <a:ext cx="1745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做实验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56000" y="3924000"/>
            <a:ext cx="1745999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7" name="TextBox 26"/>
          <p:cNvSpPr txBox="1"/>
          <p:nvPr/>
        </p:nvSpPr>
        <p:spPr>
          <a:xfrm>
            <a:off x="8856000" y="4024800"/>
            <a:ext cx="1745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写论证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八阶段研究链路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AI 可以参与每个阶段，但不能替代关键判断。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00" y="1512000"/>
            <a:ext cx="2520000" cy="2124000"/>
          </a:xfrm>
          <a:prstGeom prst="roundRect">
            <a:avLst>
              <a:gd name="adj" fmla="val 8556"/>
            </a:avLst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Oval 6"/>
          <p:cNvSpPr/>
          <p:nvPr/>
        </p:nvSpPr>
        <p:spPr>
          <a:xfrm>
            <a:off x="756000" y="1634400"/>
            <a:ext cx="378000" cy="378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8" name="TextBox 7"/>
          <p:cNvSpPr txBox="1"/>
          <p:nvPr/>
        </p:nvSpPr>
        <p:spPr>
          <a:xfrm>
            <a:off x="756000" y="1732680"/>
            <a:ext cx="378000" cy="158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4000" y="1648800"/>
            <a:ext cx="1800000" cy="18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定题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999" y="2070000"/>
            <a:ext cx="212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Rounded Rectangle 10"/>
          <p:cNvSpPr/>
          <p:nvPr/>
        </p:nvSpPr>
        <p:spPr>
          <a:xfrm>
            <a:off x="827999" y="22500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2" name="TextBox 11"/>
          <p:cNvSpPr txBox="1"/>
          <p:nvPr/>
        </p:nvSpPr>
        <p:spPr>
          <a:xfrm>
            <a:off x="917999" y="2304000"/>
            <a:ext cx="1944000" cy="136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01 问题定义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999" y="27468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4" name="TextBox 13"/>
          <p:cNvSpPr txBox="1"/>
          <p:nvPr/>
        </p:nvSpPr>
        <p:spPr>
          <a:xfrm>
            <a:off x="917999" y="2800800"/>
            <a:ext cx="1944000" cy="136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02 第一性原理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999" y="3294000"/>
            <a:ext cx="2124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看清问题边界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8800" y="2440800"/>
            <a:ext cx="2088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9199" y="1512000"/>
            <a:ext cx="2520000" cy="2124000"/>
          </a:xfrm>
          <a:prstGeom prst="roundRect">
            <a:avLst>
              <a:gd name="adj" fmla="val 8556"/>
            </a:avLst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8" name="Oval 17"/>
          <p:cNvSpPr/>
          <p:nvPr/>
        </p:nvSpPr>
        <p:spPr>
          <a:xfrm>
            <a:off x="3535199" y="1634400"/>
            <a:ext cx="378000" cy="378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TextBox 18"/>
          <p:cNvSpPr txBox="1"/>
          <p:nvPr/>
        </p:nvSpPr>
        <p:spPr>
          <a:xfrm>
            <a:off x="3535199" y="1732680"/>
            <a:ext cx="378000" cy="158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3199" y="1648800"/>
            <a:ext cx="1800000" cy="18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建模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7200" y="2070000"/>
            <a:ext cx="212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2" name="Rounded Rectangle 21"/>
          <p:cNvSpPr/>
          <p:nvPr/>
        </p:nvSpPr>
        <p:spPr>
          <a:xfrm>
            <a:off x="3607200" y="22500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3" name="TextBox 22"/>
          <p:cNvSpPr txBox="1"/>
          <p:nvPr/>
        </p:nvSpPr>
        <p:spPr>
          <a:xfrm>
            <a:off x="3697200" y="2304000"/>
            <a:ext cx="1944000" cy="136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03 机制假设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7200" y="27468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5" name="TextBox 24"/>
          <p:cNvSpPr txBox="1"/>
          <p:nvPr/>
        </p:nvSpPr>
        <p:spPr>
          <a:xfrm>
            <a:off x="3697200" y="2800800"/>
            <a:ext cx="1944000" cy="136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04 外部输入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7200" y="3294000"/>
            <a:ext cx="2124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形成可检验假设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57999" y="2440800"/>
            <a:ext cx="2088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8399" y="1512000"/>
            <a:ext cx="2520000" cy="2124000"/>
          </a:xfrm>
          <a:prstGeom prst="roundRect">
            <a:avLst>
              <a:gd name="adj" fmla="val 7932"/>
            </a:avLst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9" name="Oval 28"/>
          <p:cNvSpPr/>
          <p:nvPr/>
        </p:nvSpPr>
        <p:spPr>
          <a:xfrm>
            <a:off x="6314400" y="1634400"/>
            <a:ext cx="378000" cy="378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0" name="TextBox 29"/>
          <p:cNvSpPr txBox="1"/>
          <p:nvPr/>
        </p:nvSpPr>
        <p:spPr>
          <a:xfrm>
            <a:off x="6314400" y="1732680"/>
            <a:ext cx="378000" cy="158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2399" y="1648800"/>
            <a:ext cx="1800000" cy="18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取证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86399" y="2070000"/>
            <a:ext cx="212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3" name="Rounded Rectangle 32"/>
          <p:cNvSpPr/>
          <p:nvPr/>
        </p:nvSpPr>
        <p:spPr>
          <a:xfrm>
            <a:off x="6386399" y="22500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4" name="TextBox 33"/>
          <p:cNvSpPr txBox="1"/>
          <p:nvPr/>
        </p:nvSpPr>
        <p:spPr>
          <a:xfrm>
            <a:off x="6476399" y="2304000"/>
            <a:ext cx="1944000" cy="136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05 证据整理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6399" y="27468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6" name="TextBox 35"/>
          <p:cNvSpPr txBox="1"/>
          <p:nvPr/>
        </p:nvSpPr>
        <p:spPr>
          <a:xfrm>
            <a:off x="6476399" y="2800800"/>
            <a:ext cx="1944000" cy="136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06 研究判断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6399" y="3294000"/>
            <a:ext cx="2124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把证据转成判断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7199" y="2440800"/>
            <a:ext cx="2088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7600" y="1512000"/>
            <a:ext cx="2520000" cy="2124000"/>
          </a:xfrm>
          <a:prstGeom prst="roundRect">
            <a:avLst>
              <a:gd name="adj" fmla="val 7308"/>
            </a:avLst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0" name="Oval 39"/>
          <p:cNvSpPr/>
          <p:nvPr/>
        </p:nvSpPr>
        <p:spPr>
          <a:xfrm>
            <a:off x="9093600" y="1634400"/>
            <a:ext cx="378000" cy="378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1" name="TextBox 40"/>
          <p:cNvSpPr txBox="1"/>
          <p:nvPr/>
        </p:nvSpPr>
        <p:spPr>
          <a:xfrm>
            <a:off x="9093600" y="1732680"/>
            <a:ext cx="378000" cy="158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61600" y="1648800"/>
            <a:ext cx="1800000" cy="18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65600" y="2070000"/>
            <a:ext cx="212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4" name="Rounded Rectangle 43"/>
          <p:cNvSpPr/>
          <p:nvPr/>
        </p:nvSpPr>
        <p:spPr>
          <a:xfrm>
            <a:off x="9165600" y="22500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5" name="TextBox 44"/>
          <p:cNvSpPr txBox="1"/>
          <p:nvPr/>
        </p:nvSpPr>
        <p:spPr>
          <a:xfrm>
            <a:off x="9255600" y="2304000"/>
            <a:ext cx="1944000" cy="136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07 原型验证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65600" y="27468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7" name="TextBox 46"/>
          <p:cNvSpPr txBox="1"/>
          <p:nvPr/>
        </p:nvSpPr>
        <p:spPr>
          <a:xfrm>
            <a:off x="9255600" y="2800800"/>
            <a:ext cx="1944000" cy="136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08 回写表达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65600" y="3294000"/>
            <a:ext cx="2124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沉淀可追溯成果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6000" y="3978000"/>
            <a:ext cx="11016000" cy="522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0" name="TextBox 49"/>
          <p:cNvSpPr txBox="1"/>
          <p:nvPr/>
        </p:nvSpPr>
        <p:spPr>
          <a:xfrm>
            <a:off x="648000" y="4089600"/>
            <a:ext cx="10692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四个不可外包的判断：问题重要性 · 假设可检验性 · 实验公平性 · 结论证据性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Transformer 论文拆科研闭环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6705816" cy="391523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不讲模型细节，而是拆问题、假设、证据、判断和留痕。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000" y="1494000"/>
            <a:ext cx="1962000" cy="2142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Oval 6"/>
          <p:cNvSpPr/>
          <p:nvPr/>
        </p:nvSpPr>
        <p:spPr>
          <a:xfrm>
            <a:off x="738000" y="1645200"/>
            <a:ext cx="396000" cy="396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8" name="TextBox 7"/>
          <p:cNvSpPr txBox="1"/>
          <p:nvPr/>
        </p:nvSpPr>
        <p:spPr>
          <a:xfrm>
            <a:off x="738000" y="1748160"/>
            <a:ext cx="396000" cy="166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4000" y="1656000"/>
            <a:ext cx="122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6000" y="2088000"/>
            <a:ext cx="149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TextBox 10"/>
          <p:cNvSpPr txBox="1"/>
          <p:nvPr/>
        </p:nvSpPr>
        <p:spPr>
          <a:xfrm>
            <a:off x="774000" y="2304000"/>
            <a:ext cx="1638000" cy="45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必须依赖</a:t>
            </a:r>
          </a:p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循环 / 卷积？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3096000"/>
            <a:ext cx="1602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0000" y="2494800"/>
            <a:ext cx="1512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2800" y="1494000"/>
            <a:ext cx="1962000" cy="214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5" name="Oval 14"/>
          <p:cNvSpPr/>
          <p:nvPr/>
        </p:nvSpPr>
        <p:spPr>
          <a:xfrm>
            <a:off x="2908800" y="1645200"/>
            <a:ext cx="396000" cy="396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6" name="TextBox 15"/>
          <p:cNvSpPr txBox="1"/>
          <p:nvPr/>
        </p:nvSpPr>
        <p:spPr>
          <a:xfrm>
            <a:off x="2908800" y="1748160"/>
            <a:ext cx="396000" cy="166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4800" y="1656000"/>
            <a:ext cx="122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假设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6800" y="2088000"/>
            <a:ext cx="149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TextBox 18"/>
          <p:cNvSpPr txBox="1"/>
          <p:nvPr/>
        </p:nvSpPr>
        <p:spPr>
          <a:xfrm>
            <a:off x="2944800" y="2304000"/>
            <a:ext cx="1638000" cy="45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注意力能建模</a:t>
            </a:r>
          </a:p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长距离依赖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800" y="3096000"/>
            <a:ext cx="1602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机制假设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0800" y="2494800"/>
            <a:ext cx="1512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53600" y="1494000"/>
            <a:ext cx="1962000" cy="2142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3" name="Oval 22"/>
          <p:cNvSpPr/>
          <p:nvPr/>
        </p:nvSpPr>
        <p:spPr>
          <a:xfrm>
            <a:off x="5079600" y="1645200"/>
            <a:ext cx="396000" cy="396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4" name="TextBox 23"/>
          <p:cNvSpPr txBox="1"/>
          <p:nvPr/>
        </p:nvSpPr>
        <p:spPr>
          <a:xfrm>
            <a:off x="5079600" y="1748160"/>
            <a:ext cx="396000" cy="166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65600" y="1656000"/>
            <a:ext cx="122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87600" y="2088000"/>
            <a:ext cx="149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7" name="TextBox 26"/>
          <p:cNvSpPr txBox="1"/>
          <p:nvPr/>
        </p:nvSpPr>
        <p:spPr>
          <a:xfrm>
            <a:off x="5115600" y="2304000"/>
            <a:ext cx="1638000" cy="45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翻译结果</a:t>
            </a:r>
          </a:p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训练效率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3600" y="3096000"/>
            <a:ext cx="1602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证据地图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1600" y="2494800"/>
            <a:ext cx="1512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24400" y="1494000"/>
            <a:ext cx="1962000" cy="214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1" name="Oval 30"/>
          <p:cNvSpPr/>
          <p:nvPr/>
        </p:nvSpPr>
        <p:spPr>
          <a:xfrm>
            <a:off x="7250400" y="1645200"/>
            <a:ext cx="396000" cy="396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2" name="TextBox 31"/>
          <p:cNvSpPr txBox="1"/>
          <p:nvPr/>
        </p:nvSpPr>
        <p:spPr>
          <a:xfrm>
            <a:off x="7250400" y="1748160"/>
            <a:ext cx="396000" cy="166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36399" y="1656000"/>
            <a:ext cx="122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58399" y="2088000"/>
            <a:ext cx="149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5" name="TextBox 34"/>
          <p:cNvSpPr txBox="1"/>
          <p:nvPr/>
        </p:nvSpPr>
        <p:spPr>
          <a:xfrm>
            <a:off x="7286399" y="2304000"/>
            <a:ext cx="1638000" cy="45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结构假设被</a:t>
            </a:r>
          </a:p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证据支撑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04400" y="3096000"/>
            <a:ext cx="1602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判断记录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2400" y="2494800"/>
            <a:ext cx="1512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95200" y="1494000"/>
            <a:ext cx="1962000" cy="2142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9" name="Oval 38"/>
          <p:cNvSpPr/>
          <p:nvPr/>
        </p:nvSpPr>
        <p:spPr>
          <a:xfrm>
            <a:off x="9421200" y="1645200"/>
            <a:ext cx="396000" cy="396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0" name="TextBox 39"/>
          <p:cNvSpPr txBox="1"/>
          <p:nvPr/>
        </p:nvSpPr>
        <p:spPr>
          <a:xfrm>
            <a:off x="9421200" y="1748160"/>
            <a:ext cx="396000" cy="166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7200" y="1656000"/>
            <a:ext cx="122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29200" y="2088000"/>
            <a:ext cx="149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3" name="TextBox 42"/>
          <p:cNvSpPr txBox="1"/>
          <p:nvPr/>
        </p:nvSpPr>
        <p:spPr>
          <a:xfrm>
            <a:off x="9457200" y="2304000"/>
            <a:ext cx="1638000" cy="45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解释性</a:t>
            </a:r>
          </a:p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成本 / 泛化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75200" y="3096000"/>
            <a:ext cx="1602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缺口清单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6000" y="4158000"/>
            <a:ext cx="11016000" cy="432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6" name="TextBox 45"/>
          <p:cNvSpPr txBox="1"/>
          <p:nvPr/>
        </p:nvSpPr>
        <p:spPr>
          <a:xfrm>
            <a:off x="630000" y="4240800"/>
            <a:ext cx="10728000" cy="187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学生不是总结论文，而是抽取证据链、判断链和留痕材料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32 学时如何组织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六个模块共同服务一个贯穿项目，避免每周孤立练习。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000" y="1530000"/>
            <a:ext cx="1674000" cy="1908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TextBox 6"/>
          <p:cNvSpPr txBox="1"/>
          <p:nvPr/>
        </p:nvSpPr>
        <p:spPr>
          <a:xfrm>
            <a:off x="738000" y="1655999"/>
            <a:ext cx="413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" y="1684800"/>
            <a:ext cx="990000" cy="151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lang="zh-CN" sz="14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1-2 周</a:t>
            </a:r>
          </a:p>
        </p:txBody>
      </p:sp>
      <p:sp>
        <p:nvSpPr>
          <p:cNvPr id="9" name="Rectangle 8"/>
          <p:cNvSpPr/>
          <p:nvPr/>
        </p:nvSpPr>
        <p:spPr>
          <a:xfrm>
            <a:off x="810000" y="2015999"/>
            <a:ext cx="12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0" name="TextBox 9"/>
          <p:cNvSpPr txBox="1"/>
          <p:nvPr/>
        </p:nvSpPr>
        <p:spPr>
          <a:xfrm>
            <a:off x="774000" y="2268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导论伦理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000" y="2646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研究工件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3200" y="2448000"/>
            <a:ext cx="1224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2800" y="1530000"/>
            <a:ext cx="1674000" cy="19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4" name="TextBox 13"/>
          <p:cNvSpPr txBox="1"/>
          <p:nvPr/>
        </p:nvSpPr>
        <p:spPr>
          <a:xfrm>
            <a:off x="2548800" y="1655999"/>
            <a:ext cx="413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800" y="1684800"/>
            <a:ext cx="990000" cy="151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lang="zh-CN" sz="14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3-5 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0800" y="2015999"/>
            <a:ext cx="12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7" name="TextBox 16"/>
          <p:cNvSpPr txBox="1"/>
          <p:nvPr/>
        </p:nvSpPr>
        <p:spPr>
          <a:xfrm>
            <a:off x="2584800" y="2268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文献证据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4800" y="2646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研究空白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4000" y="2448000"/>
            <a:ext cx="1224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33600" y="1530000"/>
            <a:ext cx="1674000" cy="1908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1" name="TextBox 20"/>
          <p:cNvSpPr txBox="1"/>
          <p:nvPr/>
        </p:nvSpPr>
        <p:spPr>
          <a:xfrm>
            <a:off x="4359600" y="1655999"/>
            <a:ext cx="413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600" y="1684800"/>
            <a:ext cx="990000" cy="151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lang="zh-CN" sz="14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6-7 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1600" y="2015999"/>
            <a:ext cx="12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4" name="TextBox 23"/>
          <p:cNvSpPr txBox="1"/>
          <p:nvPr/>
        </p:nvSpPr>
        <p:spPr>
          <a:xfrm>
            <a:off x="4395600" y="2268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问题假设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5600" y="2646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实验设计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14800" y="2448000"/>
            <a:ext cx="1224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44400" y="1530000"/>
            <a:ext cx="1674000" cy="19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8" name="TextBox 27"/>
          <p:cNvSpPr txBox="1"/>
          <p:nvPr/>
        </p:nvSpPr>
        <p:spPr>
          <a:xfrm>
            <a:off x="6170400" y="1655999"/>
            <a:ext cx="413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2400" y="1684800"/>
            <a:ext cx="990000" cy="151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lang="zh-CN" sz="14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8-9 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2400" y="2015999"/>
            <a:ext cx="12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1" name="TextBox 30"/>
          <p:cNvSpPr txBox="1"/>
          <p:nvPr/>
        </p:nvSpPr>
        <p:spPr>
          <a:xfrm>
            <a:off x="6206399" y="2268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数据基线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6399" y="2646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可复现实验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5599" y="2448000"/>
            <a:ext cx="1224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55200" y="1530000"/>
            <a:ext cx="1674000" cy="1908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5" name="TextBox 34"/>
          <p:cNvSpPr txBox="1"/>
          <p:nvPr/>
        </p:nvSpPr>
        <p:spPr>
          <a:xfrm>
            <a:off x="7981200" y="1655999"/>
            <a:ext cx="413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3200" y="1684800"/>
            <a:ext cx="990000" cy="151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lang="zh-CN" sz="14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10-13 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53200" y="2015999"/>
            <a:ext cx="12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8" name="TextBox 37"/>
          <p:cNvSpPr txBox="1"/>
          <p:nvPr/>
        </p:nvSpPr>
        <p:spPr>
          <a:xfrm>
            <a:off x="8017200" y="2268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原型验证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7200" y="2646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实验自动化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36400" y="2448000"/>
            <a:ext cx="1224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66000" y="1530000"/>
            <a:ext cx="1674000" cy="19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2" name="TextBox 41"/>
          <p:cNvSpPr txBox="1"/>
          <p:nvPr/>
        </p:nvSpPr>
        <p:spPr>
          <a:xfrm>
            <a:off x="9792000" y="1655999"/>
            <a:ext cx="413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24000" y="1684800"/>
            <a:ext cx="990000" cy="151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lang="zh-CN" sz="14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14-16 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64000" y="2015999"/>
            <a:ext cx="12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5" name="TextBox 44"/>
          <p:cNvSpPr txBox="1"/>
          <p:nvPr/>
        </p:nvSpPr>
        <p:spPr>
          <a:xfrm>
            <a:off x="9828000" y="2268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8000" y="2646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论文表达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58000" y="3654000"/>
            <a:ext cx="1350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8" name="TextBox 47"/>
          <p:cNvSpPr txBox="1"/>
          <p:nvPr/>
        </p:nvSpPr>
        <p:spPr>
          <a:xfrm>
            <a:off x="2412000" y="3715200"/>
            <a:ext cx="1242000" cy="10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问题门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94000" y="3654000"/>
            <a:ext cx="1350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0" name="TextBox 49"/>
          <p:cNvSpPr txBox="1"/>
          <p:nvPr/>
        </p:nvSpPr>
        <p:spPr>
          <a:xfrm>
            <a:off x="4248000" y="3715200"/>
            <a:ext cx="1242000" cy="10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判断门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30000" y="3654000"/>
            <a:ext cx="1350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2" name="TextBox 51"/>
          <p:cNvSpPr txBox="1"/>
          <p:nvPr/>
        </p:nvSpPr>
        <p:spPr>
          <a:xfrm>
            <a:off x="6083999" y="3715200"/>
            <a:ext cx="1242000" cy="10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验证门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66000" y="3654000"/>
            <a:ext cx="1350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4" name="TextBox 53"/>
          <p:cNvSpPr txBox="1"/>
          <p:nvPr/>
        </p:nvSpPr>
        <p:spPr>
          <a:xfrm>
            <a:off x="7920000" y="3715200"/>
            <a:ext cx="1242000" cy="10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论证门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6000" y="4086000"/>
            <a:ext cx="11016000" cy="468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6" name="TextBox 55"/>
          <p:cNvSpPr txBox="1"/>
          <p:nvPr/>
        </p:nvSpPr>
        <p:spPr>
          <a:xfrm>
            <a:off x="684000" y="4183199"/>
            <a:ext cx="10620000" cy="1656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一条贯穿项目线：从选题方向到问题门、判断门、验证门、论证门逐步推进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基础要求与资源边界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课程训练的是方法，不把商业工具购买能力作为学习门槛。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458000"/>
            <a:ext cx="3401999" cy="2250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TextBox 6"/>
          <p:cNvSpPr txBox="1"/>
          <p:nvPr/>
        </p:nvSpPr>
        <p:spPr>
          <a:xfrm>
            <a:off x="666000" y="1638000"/>
            <a:ext cx="3041999" cy="1872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学生需要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000" y="1972800"/>
            <a:ext cx="3041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9" name="TextBox 8"/>
          <p:cNvSpPr txBox="1"/>
          <p:nvPr/>
        </p:nvSpPr>
        <p:spPr>
          <a:xfrm>
            <a:off x="702000" y="2214000"/>
            <a:ext cx="2970000" cy="9179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Python / 机器学习基础</a:t>
            </a:r>
          </a:p>
          <a:p>
            <a:pPr algn="l">
              <a:lnSpc>
                <a:spcPct val="132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Git 与命令行</a:t>
            </a:r>
          </a:p>
          <a:p>
            <a:pPr algn="l">
              <a:lnSpc>
                <a:spcPct val="132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英文论文阅读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76000" y="1458000"/>
            <a:ext cx="3401999" cy="22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TextBox 10"/>
          <p:cNvSpPr txBox="1"/>
          <p:nvPr/>
        </p:nvSpPr>
        <p:spPr>
          <a:xfrm>
            <a:off x="4356000" y="1638000"/>
            <a:ext cx="3041999" cy="1872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学生不需要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6000" y="1972800"/>
            <a:ext cx="3041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3" name="TextBox 12"/>
          <p:cNvSpPr txBox="1"/>
          <p:nvPr/>
        </p:nvSpPr>
        <p:spPr>
          <a:xfrm>
            <a:off x="4392000" y="2214000"/>
            <a:ext cx="2970000" cy="9179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本地 GPU</a:t>
            </a:r>
          </a:p>
          <a:p>
            <a:pPr algn="l">
              <a:lnSpc>
                <a:spcPct val="132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自费 API token</a:t>
            </a:r>
          </a:p>
          <a:p>
            <a:pPr algn="l">
              <a:lnSpc>
                <a:spcPct val="132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绑定商业工具账号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6000" y="1458000"/>
            <a:ext cx="3401999" cy="2250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5" name="TextBox 14"/>
          <p:cNvSpPr txBox="1"/>
          <p:nvPr/>
        </p:nvSpPr>
        <p:spPr>
          <a:xfrm>
            <a:off x="8046000" y="1638000"/>
            <a:ext cx="3041999" cy="1872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资源口径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000" y="1972800"/>
            <a:ext cx="3041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7" name="TextBox 16"/>
          <p:cNvSpPr txBox="1"/>
          <p:nvPr/>
        </p:nvSpPr>
        <p:spPr>
          <a:xfrm>
            <a:off x="8082000" y="2214000"/>
            <a:ext cx="2970000" cy="9179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学校已部署资源</a:t>
            </a:r>
          </a:p>
          <a:p>
            <a:pPr algn="l">
              <a:lnSpc>
                <a:spcPct val="132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开源或国内可用资源</a:t>
            </a:r>
          </a:p>
          <a:p>
            <a:pPr algn="l">
              <a:lnSpc>
                <a:spcPct val="132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免费 token 仅作补充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000" y="4104000"/>
            <a:ext cx="11016000" cy="450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TextBox 18"/>
          <p:cNvSpPr txBox="1"/>
          <p:nvPr/>
        </p:nvSpPr>
        <p:spPr>
          <a:xfrm>
            <a:off x="630000" y="4197600"/>
            <a:ext cx="10728000" cy="18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课程可持续运行的前提：资源可替代、权限可控、费用不转嫁给学生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课程如何评价学生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评分不是“用了多少 AI 工具”，而是是否形成可验证、可复现、可追溯的科研闭环。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530000"/>
            <a:ext cx="2358000" cy="720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TextBox 6"/>
          <p:cNvSpPr txBox="1"/>
          <p:nvPr/>
        </p:nvSpPr>
        <p:spPr>
          <a:xfrm>
            <a:off x="576000" y="1609200"/>
            <a:ext cx="2178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882800"/>
            <a:ext cx="2178000" cy="316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文献与问题定位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0000" y="1530000"/>
            <a:ext cx="2358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0" name="TextBox 9"/>
          <p:cNvSpPr txBox="1"/>
          <p:nvPr/>
        </p:nvSpPr>
        <p:spPr>
          <a:xfrm>
            <a:off x="3240000" y="1609200"/>
            <a:ext cx="2178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0" y="1882800"/>
            <a:ext cx="2178000" cy="316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实验设计与可复现性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000" y="2466000"/>
            <a:ext cx="2358000" cy="720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3" name="TextBox 12"/>
          <p:cNvSpPr txBox="1"/>
          <p:nvPr/>
        </p:nvSpPr>
        <p:spPr>
          <a:xfrm>
            <a:off x="576000" y="2545200"/>
            <a:ext cx="2178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818800"/>
            <a:ext cx="2178000" cy="316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原型与自动化实践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0000" y="2466000"/>
            <a:ext cx="2358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6" name="TextBox 15"/>
          <p:cNvSpPr txBox="1"/>
          <p:nvPr/>
        </p:nvSpPr>
        <p:spPr>
          <a:xfrm>
            <a:off x="3240000" y="2545200"/>
            <a:ext cx="2178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0000" y="2818800"/>
            <a:ext cx="2178000" cy="316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表达、伦理与复盘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2000" y="1494000"/>
            <a:ext cx="489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最终提交物：每项都可检查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12000" y="1893756"/>
            <a:ext cx="2250000" cy="316800"/>
          </a:xfrm>
          <a:prstGeom prst="round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0" name="TextBox 19"/>
          <p:cNvSpPr txBox="1"/>
          <p:nvPr/>
        </p:nvSpPr>
        <p:spPr>
          <a:xfrm>
            <a:off x="6091199" y="1958556"/>
            <a:ext cx="2088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77999" y="1893756"/>
            <a:ext cx="2250000" cy="3168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2" name="TextBox 21"/>
          <p:cNvSpPr txBox="1"/>
          <p:nvPr/>
        </p:nvSpPr>
        <p:spPr>
          <a:xfrm>
            <a:off x="8557199" y="1958556"/>
            <a:ext cx="2088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研究计划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12000" y="2379756"/>
            <a:ext cx="2250000" cy="316800"/>
          </a:xfrm>
          <a:prstGeom prst="round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4" name="TextBox 23"/>
          <p:cNvSpPr txBox="1"/>
          <p:nvPr/>
        </p:nvSpPr>
        <p:spPr>
          <a:xfrm>
            <a:off x="6091199" y="2444556"/>
            <a:ext cx="2088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证据地图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77999" y="2379756"/>
            <a:ext cx="2250000" cy="3168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6" name="TextBox 25"/>
          <p:cNvSpPr txBox="1"/>
          <p:nvPr/>
        </p:nvSpPr>
        <p:spPr>
          <a:xfrm>
            <a:off x="8557199" y="2444556"/>
            <a:ext cx="2088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实验规格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12000" y="2865756"/>
            <a:ext cx="2250000" cy="316800"/>
          </a:xfrm>
          <a:prstGeom prst="round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8" name="TextBox 27"/>
          <p:cNvSpPr txBox="1"/>
          <p:nvPr/>
        </p:nvSpPr>
        <p:spPr>
          <a:xfrm>
            <a:off x="6091199" y="2930556"/>
            <a:ext cx="2088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可运行原型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77999" y="2865756"/>
            <a:ext cx="2250000" cy="3168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0" name="TextBox 29"/>
          <p:cNvSpPr txBox="1"/>
          <p:nvPr/>
        </p:nvSpPr>
        <p:spPr>
          <a:xfrm>
            <a:off x="8557199" y="2930556"/>
            <a:ext cx="2088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评价报告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12000" y="3351756"/>
            <a:ext cx="2250000" cy="316800"/>
          </a:xfrm>
          <a:prstGeom prst="round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2" name="TextBox 31"/>
          <p:cNvSpPr txBox="1"/>
          <p:nvPr/>
        </p:nvSpPr>
        <p:spPr>
          <a:xfrm>
            <a:off x="6091199" y="3416556"/>
            <a:ext cx="2088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AI 使用记录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77999" y="3351756"/>
            <a:ext cx="2250000" cy="3168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4" name="TextBox 33"/>
          <p:cNvSpPr txBox="1"/>
          <p:nvPr/>
        </p:nvSpPr>
        <p:spPr>
          <a:xfrm>
            <a:off x="8557199" y="3416556"/>
            <a:ext cx="2088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伦理合规说明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6000" y="4121999"/>
            <a:ext cx="11016000" cy="413999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6" name="TextBox 35"/>
          <p:cNvSpPr txBox="1"/>
          <p:nvPr/>
        </p:nvSpPr>
        <p:spPr>
          <a:xfrm>
            <a:off x="630000" y="4204800"/>
            <a:ext cx="10728000" cy="151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每个评分项都有产物支撑，降低“AI 课不好考核”的担忧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研究门与全过程留痕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研究门不是形式化检查，而是防止最后交一份“看似完整但不可验证”的报告。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512000"/>
            <a:ext cx="2502000" cy="2178000"/>
          </a:xfrm>
          <a:prstGeom prst="roundRect">
            <a:avLst>
              <a:gd name="adj" fmla="val 6323"/>
            </a:avLst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Oval 6"/>
          <p:cNvSpPr/>
          <p:nvPr/>
        </p:nvSpPr>
        <p:spPr>
          <a:xfrm>
            <a:off x="738000" y="1674000"/>
            <a:ext cx="424800" cy="4248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8" name="TextBox 7"/>
          <p:cNvSpPr txBox="1"/>
          <p:nvPr/>
        </p:nvSpPr>
        <p:spPr>
          <a:xfrm>
            <a:off x="738000" y="1784448"/>
            <a:ext cx="424800" cy="1784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2000" y="1699200"/>
            <a:ext cx="1692000" cy="1656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问题门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000" y="2142000"/>
            <a:ext cx="203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TextBox 10"/>
          <p:cNvSpPr txBox="1"/>
          <p:nvPr/>
        </p:nvSpPr>
        <p:spPr>
          <a:xfrm>
            <a:off x="810000" y="2394000"/>
            <a:ext cx="2034000" cy="187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000" y="2790000"/>
            <a:ext cx="2106000" cy="413999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非例 / 可证伪命题</a:t>
            </a:r>
          </a:p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证据地图初版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200" y="2563200"/>
            <a:ext cx="1512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200" y="1512000"/>
            <a:ext cx="2502000" cy="2178000"/>
          </a:xfrm>
          <a:prstGeom prst="roundRect">
            <a:avLst>
              <a:gd name="adj" fmla="val 6932"/>
            </a:avLst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5" name="Oval 14"/>
          <p:cNvSpPr/>
          <p:nvPr/>
        </p:nvSpPr>
        <p:spPr>
          <a:xfrm>
            <a:off x="3499199" y="1674000"/>
            <a:ext cx="424800" cy="4248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6" name="TextBox 15"/>
          <p:cNvSpPr txBox="1"/>
          <p:nvPr/>
        </p:nvSpPr>
        <p:spPr>
          <a:xfrm>
            <a:off x="3499199" y="1784448"/>
            <a:ext cx="424800" cy="1784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3199" y="1699200"/>
            <a:ext cx="1692000" cy="1656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判断门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71200" y="2142000"/>
            <a:ext cx="203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TextBox 18"/>
          <p:cNvSpPr txBox="1"/>
          <p:nvPr/>
        </p:nvSpPr>
        <p:spPr>
          <a:xfrm>
            <a:off x="3571200" y="2394000"/>
            <a:ext cx="2034000" cy="187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5200" y="2790000"/>
            <a:ext cx="2106000" cy="413999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baseline / 实验规格</a:t>
            </a:r>
          </a:p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取舍理由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2400" y="2563200"/>
            <a:ext cx="1512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8400" y="1512000"/>
            <a:ext cx="2502000" cy="2178000"/>
          </a:xfrm>
          <a:prstGeom prst="roundRect">
            <a:avLst>
              <a:gd name="adj" fmla="val 9366"/>
            </a:avLst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3" name="Oval 22"/>
          <p:cNvSpPr/>
          <p:nvPr/>
        </p:nvSpPr>
        <p:spPr>
          <a:xfrm>
            <a:off x="6260400" y="1674000"/>
            <a:ext cx="424800" cy="4248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4" name="TextBox 23"/>
          <p:cNvSpPr txBox="1"/>
          <p:nvPr/>
        </p:nvSpPr>
        <p:spPr>
          <a:xfrm>
            <a:off x="6260400" y="1784448"/>
            <a:ext cx="424800" cy="1784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4400" y="1699200"/>
            <a:ext cx="1692000" cy="1656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验证门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32400" y="2142000"/>
            <a:ext cx="203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7" name="TextBox 26"/>
          <p:cNvSpPr txBox="1"/>
          <p:nvPr/>
        </p:nvSpPr>
        <p:spPr>
          <a:xfrm>
            <a:off x="6332400" y="2394000"/>
            <a:ext cx="2034000" cy="187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原型验证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6400" y="2790000"/>
            <a:ext cx="2106000" cy="413999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实验日志 / 失败分析</a:t>
            </a:r>
          </a:p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评价报告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3600" y="2563200"/>
            <a:ext cx="1512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59600" y="1512000"/>
            <a:ext cx="2502000" cy="2178000"/>
          </a:xfrm>
          <a:prstGeom prst="roundRect">
            <a:avLst>
              <a:gd name="adj" fmla="val 8757"/>
            </a:avLst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1" name="Oval 30"/>
          <p:cNvSpPr/>
          <p:nvPr/>
        </p:nvSpPr>
        <p:spPr>
          <a:xfrm>
            <a:off x="9021600" y="1674000"/>
            <a:ext cx="424800" cy="4248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2" name="TextBox 31"/>
          <p:cNvSpPr txBox="1"/>
          <p:nvPr/>
        </p:nvSpPr>
        <p:spPr>
          <a:xfrm>
            <a:off x="9021600" y="1784448"/>
            <a:ext cx="424800" cy="1784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5600" y="1699200"/>
            <a:ext cx="1692000" cy="1656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论证门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3600" y="2142000"/>
            <a:ext cx="203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5" name="TextBox 34"/>
          <p:cNvSpPr txBox="1"/>
          <p:nvPr/>
        </p:nvSpPr>
        <p:spPr>
          <a:xfrm>
            <a:off x="9093600" y="2394000"/>
            <a:ext cx="2034000" cy="187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结论表达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7600" y="2790000"/>
            <a:ext cx="2106000" cy="413999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追溯链 / AI 披露</a:t>
            </a:r>
          </a:p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伦理说明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6000" y="4121999"/>
            <a:ext cx="11016000" cy="450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8" name="TextBox 37"/>
          <p:cNvSpPr txBox="1"/>
          <p:nvPr/>
        </p:nvSpPr>
        <p:spPr>
          <a:xfrm>
            <a:off x="630000" y="4219200"/>
            <a:ext cx="10728000" cy="1656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每个门都要求留下可审查材料，让 AI 参与过程可复盘、可追责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主讲人的适配性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C49D2DE-E2B7-BFE7-84D4-708C8BEB056D}"/>
              </a:ext>
            </a:extLst>
          </p:cNvPr>
          <p:cNvSpPr/>
          <p:nvPr/>
        </p:nvSpPr>
        <p:spPr>
          <a:xfrm>
            <a:off x="486000" y="1440000"/>
            <a:ext cx="3456000" cy="2484000"/>
          </a:xfrm>
          <a:prstGeom prst="roundRect">
            <a:avLst>
              <a:gd name="adj" fmla="val 6530"/>
            </a:avLst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D86987-8300-A4BB-D337-5B68A6608BDB}"/>
              </a:ext>
            </a:extLst>
          </p:cNvPr>
          <p:cNvSpPr txBox="1"/>
          <p:nvPr/>
        </p:nvSpPr>
        <p:spPr>
          <a:xfrm>
            <a:off x="576000" y="1519200"/>
            <a:ext cx="327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科研方法积累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C4A62-9097-347D-1EA3-E8F0D4418657}"/>
              </a:ext>
            </a:extLst>
          </p:cNvPr>
          <p:cNvSpPr txBox="1"/>
          <p:nvPr/>
        </p:nvSpPr>
        <p:spPr>
          <a:xfrm>
            <a:off x="576000" y="1912068"/>
            <a:ext cx="3195753" cy="1122621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2018年以来发表CCF-A/B论文30+</a:t>
            </a:r>
          </a:p>
          <a:p>
            <a:pPr algn="l">
              <a:lnSpc>
                <a:spcPct val="150000"/>
              </a:lnSpc>
            </a:pPr>
            <a: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担任多个CCF-A/B会议审稿</a:t>
            </a:r>
            <a:b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</a:br>
            <a: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指导硕士生、博士生 20+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B19DFFD-9593-D557-1663-0DCE4A14D098}"/>
              </a:ext>
            </a:extLst>
          </p:cNvPr>
          <p:cNvSpPr/>
          <p:nvPr/>
        </p:nvSpPr>
        <p:spPr>
          <a:xfrm>
            <a:off x="4266000" y="1440000"/>
            <a:ext cx="3456000" cy="2484000"/>
          </a:xfrm>
          <a:prstGeom prst="roundRect">
            <a:avLst>
              <a:gd name="adj" fmla="val 7064"/>
            </a:avLst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65994D-4B4D-2F29-5F69-45FE1FFC2ACA}"/>
              </a:ext>
            </a:extLst>
          </p:cNvPr>
          <p:cNvSpPr txBox="1"/>
          <p:nvPr/>
        </p:nvSpPr>
        <p:spPr>
          <a:xfrm>
            <a:off x="4356000" y="1519200"/>
            <a:ext cx="2376105" cy="35830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AI 与 Agent 项目实践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A6A81B-35FE-02AC-5F5D-C39F853DA3EE}"/>
              </a:ext>
            </a:extLst>
          </p:cNvPr>
          <p:cNvSpPr txBox="1"/>
          <p:nvPr/>
        </p:nvSpPr>
        <p:spPr>
          <a:xfrm>
            <a:off x="4356000" y="1925320"/>
            <a:ext cx="3456000" cy="1491953"/>
          </a:xfrm>
          <a:prstGeom prst="rect">
            <a:avLst/>
          </a:prstGeom>
          <a:noFill/>
        </p:spPr>
        <p:txBody>
          <a:bodyPr wrap="square" lIns="28800" tIns="28800" rIns="28800" bIns="288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从2018年以来承担</a:t>
            </a: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AI相关项目</a:t>
            </a:r>
            <a:b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</a:b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涉及司法、社会治理、能源、通信等 交叉领域，经费超过</a:t>
            </a:r>
            <a: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5000万</a:t>
            </a:r>
            <a:endParaRPr lang="zh-CN" sz="1600" b="0" noProof="1">
              <a:solidFill>
                <a:srgbClr val="2B344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</a:pPr>
            <a: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积极实践最新的AI和智能体技术</a:t>
            </a:r>
            <a:endParaRPr lang="zh-CN" sz="1600" b="0" noProof="1">
              <a:solidFill>
                <a:srgbClr val="2B34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0E81A01-7C67-47D5-99DE-EBA8F09B25A5}"/>
              </a:ext>
            </a:extLst>
          </p:cNvPr>
          <p:cNvSpPr/>
          <p:nvPr/>
        </p:nvSpPr>
        <p:spPr>
          <a:xfrm>
            <a:off x="8046000" y="1440000"/>
            <a:ext cx="3456000" cy="2484000"/>
          </a:xfrm>
          <a:prstGeom prst="roundRect">
            <a:avLst>
              <a:gd name="adj" fmla="val 7597"/>
            </a:avLst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9BA2C2-3F64-AEA1-4FF0-8BE0E1CC9D9E}"/>
              </a:ext>
            </a:extLst>
          </p:cNvPr>
          <p:cNvSpPr txBox="1"/>
          <p:nvPr/>
        </p:nvSpPr>
        <p:spPr>
          <a:xfrm>
            <a:off x="8136000" y="1519200"/>
            <a:ext cx="327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课程转化能力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94AD89-FF47-88EC-2620-7C9203638EC2}"/>
              </a:ext>
            </a:extLst>
          </p:cNvPr>
          <p:cNvSpPr txBox="1"/>
          <p:nvPr/>
        </p:nvSpPr>
        <p:spPr>
          <a:xfrm>
            <a:off x="8136000" y="1929600"/>
            <a:ext cx="3135928" cy="1862695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已经开始过“高性能信息网络”</a:t>
            </a:r>
            <a:b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</a:b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“管理科学中的数据分析”等多门</a:t>
            </a:r>
          </a:p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研究课程</a:t>
            </a:r>
          </a:p>
          <a:p>
            <a:pPr algn="l">
              <a:lnSpc>
                <a:spcPct val="124000"/>
              </a:lnSpc>
            </a:pPr>
            <a: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多个有影响的开源项目</a:t>
            </a:r>
            <a:b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</a:br>
            <a: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“Awesome Public Datasets”</a:t>
            </a:r>
            <a:b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</a:br>
            <a: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“从基础学科到AGI”</a:t>
            </a:r>
            <a:endParaRPr lang="zh-CN" sz="1600" b="0" noProof="1">
              <a:solidFill>
                <a:srgbClr val="2B344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课程产出：研究雏形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学生拿走的不是工具清单，而是一套能延续到自己科研工作的材料和习惯。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4000" y="1872000"/>
            <a:ext cx="3420000" cy="1188000"/>
          </a:xfrm>
          <a:prstGeom prst="roundRect">
            <a:avLst/>
          </a:prstGeom>
          <a:solidFill>
            <a:srgbClr val="C61223"/>
          </a:solidFill>
          <a:ln>
            <a:solidFill>
              <a:srgbClr val="C6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TextBox 6"/>
          <p:cNvSpPr txBox="1"/>
          <p:nvPr/>
        </p:nvSpPr>
        <p:spPr>
          <a:xfrm>
            <a:off x="4500000" y="2095200"/>
            <a:ext cx="2988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可延续的研究雏形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430000"/>
            <a:ext cx="2916000" cy="216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 · 证据 · 实验 · 表达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000" y="1530000"/>
            <a:ext cx="2951999" cy="990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0" name="TextBox 9"/>
          <p:cNvSpPr txBox="1"/>
          <p:nvPr/>
        </p:nvSpPr>
        <p:spPr>
          <a:xfrm>
            <a:off x="720000" y="1609200"/>
            <a:ext cx="2771999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922556"/>
            <a:ext cx="2771999" cy="5868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8000" y="1925999"/>
            <a:ext cx="270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00" y="2951999"/>
            <a:ext cx="2951999" cy="99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4" name="TextBox 13"/>
          <p:cNvSpPr txBox="1"/>
          <p:nvPr/>
        </p:nvSpPr>
        <p:spPr>
          <a:xfrm>
            <a:off x="720000" y="3031200"/>
            <a:ext cx="2771999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证据地图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344556"/>
            <a:ext cx="2771999" cy="5868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文献与空白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8000" y="3347999"/>
            <a:ext cx="270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8000" y="1530000"/>
            <a:ext cx="2951999" cy="990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8" name="TextBox 17"/>
          <p:cNvSpPr txBox="1"/>
          <p:nvPr/>
        </p:nvSpPr>
        <p:spPr>
          <a:xfrm>
            <a:off x="8208000" y="1609200"/>
            <a:ext cx="2771999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实验规格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8000" y="1922556"/>
            <a:ext cx="2771999" cy="5868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baseline / 日志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8000" y="1925999"/>
            <a:ext cx="270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8000" y="2951999"/>
            <a:ext cx="2951999" cy="99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2" name="TextBox 21"/>
          <p:cNvSpPr txBox="1"/>
          <p:nvPr/>
        </p:nvSpPr>
        <p:spPr>
          <a:xfrm>
            <a:off x="8208000" y="3031200"/>
            <a:ext cx="2771999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评价报告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8000" y="3344556"/>
            <a:ext cx="2771999" cy="5868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论文式短文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8000" y="3347999"/>
            <a:ext cx="270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3512" y="3330000"/>
            <a:ext cx="1925999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6" name="TextBox 25"/>
          <p:cNvSpPr txBox="1"/>
          <p:nvPr/>
        </p:nvSpPr>
        <p:spPr>
          <a:xfrm>
            <a:off x="3906000" y="3434556"/>
            <a:ext cx="1782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AI 使用记录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27237" y="3330000"/>
            <a:ext cx="1782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8" name="TextBox 27"/>
          <p:cNvSpPr txBox="1"/>
          <p:nvPr/>
        </p:nvSpPr>
        <p:spPr>
          <a:xfrm>
            <a:off x="5962275" y="3433650"/>
            <a:ext cx="1782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伦理合规说明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6000" y="4068000"/>
            <a:ext cx="11016000" cy="450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0" name="TextBox 29"/>
          <p:cNvSpPr txBox="1"/>
          <p:nvPr/>
        </p:nvSpPr>
        <p:spPr>
          <a:xfrm>
            <a:off x="630000" y="4184504"/>
            <a:ext cx="10728000" cy="18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目标不是“泛化提升科研能力”，而是产出可延续的研究材料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科研过程必须可审查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课程不是禁止学生用 AI，而是要求 AI 参与过程留下证据和边界。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8000" y="1530000"/>
            <a:ext cx="2538000" cy="2142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Oval 6"/>
          <p:cNvSpPr/>
          <p:nvPr/>
        </p:nvSpPr>
        <p:spPr>
          <a:xfrm>
            <a:off x="720000" y="1692000"/>
            <a:ext cx="450000" cy="450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8" name="TextBox 7"/>
          <p:cNvSpPr txBox="1"/>
          <p:nvPr/>
        </p:nvSpPr>
        <p:spPr>
          <a:xfrm>
            <a:off x="720000" y="1809000"/>
            <a:ext cx="450000" cy="189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8000" y="1692000"/>
            <a:ext cx="167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6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输入可追溯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2268000"/>
            <a:ext cx="2141999" cy="208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AI 使用记录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000" y="2682000"/>
            <a:ext cx="1925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2" name="TextBox 11"/>
          <p:cNvSpPr txBox="1"/>
          <p:nvPr/>
        </p:nvSpPr>
        <p:spPr>
          <a:xfrm>
            <a:off x="827999" y="2844000"/>
            <a:ext cx="1998000" cy="486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提示词 / 来源 / 工具</a:t>
            </a:r>
          </a:p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人工核验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4800" y="2473200"/>
            <a:ext cx="14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4000" y="1530000"/>
            <a:ext cx="2538000" cy="214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5" name="Oval 14"/>
          <p:cNvSpPr/>
          <p:nvPr/>
        </p:nvSpPr>
        <p:spPr>
          <a:xfrm>
            <a:off x="3456000" y="1692000"/>
            <a:ext cx="450000" cy="450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6" name="TextBox 15"/>
          <p:cNvSpPr txBox="1"/>
          <p:nvPr/>
        </p:nvSpPr>
        <p:spPr>
          <a:xfrm>
            <a:off x="3456000" y="1809000"/>
            <a:ext cx="450000" cy="189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14000" y="1692000"/>
            <a:ext cx="167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6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权限可说明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2000" y="2268000"/>
            <a:ext cx="2141999" cy="208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工具权限记录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0" y="2682000"/>
            <a:ext cx="1925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0" name="TextBox 19"/>
          <p:cNvSpPr txBox="1"/>
          <p:nvPr/>
        </p:nvSpPr>
        <p:spPr>
          <a:xfrm>
            <a:off x="3564000" y="2844000"/>
            <a:ext cx="1998000" cy="486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数据源 / 读写范围</a:t>
            </a:r>
          </a:p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外部服务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0799" y="2473200"/>
            <a:ext cx="14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0000" y="1530000"/>
            <a:ext cx="2538000" cy="2142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3" name="Oval 22"/>
          <p:cNvSpPr/>
          <p:nvPr/>
        </p:nvSpPr>
        <p:spPr>
          <a:xfrm>
            <a:off x="6192000" y="1692000"/>
            <a:ext cx="450000" cy="450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4" name="TextBox 23"/>
          <p:cNvSpPr txBox="1"/>
          <p:nvPr/>
        </p:nvSpPr>
        <p:spPr>
          <a:xfrm>
            <a:off x="6192000" y="1809000"/>
            <a:ext cx="450000" cy="189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0000" y="1692000"/>
            <a:ext cx="167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6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实验可复现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8000" y="2268000"/>
            <a:ext cx="2141999" cy="208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实验留痕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36000" y="2682000"/>
            <a:ext cx="1925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8" name="TextBox 27"/>
          <p:cNvSpPr txBox="1"/>
          <p:nvPr/>
        </p:nvSpPr>
        <p:spPr>
          <a:xfrm>
            <a:off x="6300000" y="2844000"/>
            <a:ext cx="1998000" cy="486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实验 ID / 配置</a:t>
            </a:r>
          </a:p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代码 / 结果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6800" y="2473200"/>
            <a:ext cx="14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66000" y="1530000"/>
            <a:ext cx="2538000" cy="214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1" name="Oval 30"/>
          <p:cNvSpPr/>
          <p:nvPr/>
        </p:nvSpPr>
        <p:spPr>
          <a:xfrm>
            <a:off x="8927999" y="1692000"/>
            <a:ext cx="450000" cy="450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2" name="TextBox 31"/>
          <p:cNvSpPr txBox="1"/>
          <p:nvPr/>
        </p:nvSpPr>
        <p:spPr>
          <a:xfrm>
            <a:off x="8927999" y="1809000"/>
            <a:ext cx="450000" cy="189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6000" y="1692000"/>
            <a:ext cx="167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6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判断可问责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4000" y="2268000"/>
            <a:ext cx="2141999" cy="208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研究判断留痕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72000" y="2682000"/>
            <a:ext cx="1925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6" name="TextBox 35"/>
          <p:cNvSpPr txBox="1"/>
          <p:nvPr/>
        </p:nvSpPr>
        <p:spPr>
          <a:xfrm>
            <a:off x="9036000" y="2844000"/>
            <a:ext cx="1998000" cy="486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证据地图 / 判断记录</a:t>
            </a:r>
          </a:p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评价报告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50000" y="3960000"/>
            <a:ext cx="5796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8" name="TextBox 37"/>
          <p:cNvSpPr txBox="1"/>
          <p:nvPr/>
        </p:nvSpPr>
        <p:spPr>
          <a:xfrm>
            <a:off x="3311999" y="4057200"/>
            <a:ext cx="5472000" cy="151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伦理边界：数据 · 隐私 · 许可 · 署名 · AI 使用披露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6000" y="4680000"/>
            <a:ext cx="11016000" cy="450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0" name="TextBox 39"/>
          <p:cNvSpPr txBox="1"/>
          <p:nvPr/>
        </p:nvSpPr>
        <p:spPr>
          <a:xfrm>
            <a:off x="630000" y="4795200"/>
            <a:ext cx="10728000" cy="1656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不绑定单一商业工具 · 不要求学生自费购买 token · 免费 token 或教育计划只作为补充资源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C05EF7-6628-8539-BDC3-80C3D3FD3C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zh-CN" noProof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8ADAB-617C-A4FB-627F-ACEDCA2AB7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zh-CN" noProof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1E3EB-926D-E0CA-5627-63E8715BE8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zh-CN" noProof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1F4C62-EAC9-913B-B199-E5F937602AE5}"/>
              </a:ext>
            </a:extLst>
          </p:cNvPr>
          <p:cNvSpPr/>
          <p:nvPr/>
        </p:nvSpPr>
        <p:spPr>
          <a:xfrm>
            <a:off x="0" y="4266209"/>
            <a:ext cx="12193200" cy="1565999"/>
          </a:xfrm>
          <a:prstGeom prst="rect">
            <a:avLst/>
          </a:prstGeom>
          <a:solidFill>
            <a:srgbClr val="C6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A127B1-897B-8358-A40D-6D926CACF4A7}"/>
              </a:ext>
            </a:extLst>
          </p:cNvPr>
          <p:cNvSpPr txBox="1"/>
          <p:nvPr/>
        </p:nvSpPr>
        <p:spPr>
          <a:xfrm>
            <a:off x="1080000" y="1170000"/>
            <a:ext cx="10008000" cy="280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智能科研方法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C59404-DEB9-1741-0053-5A26712FAFB9}"/>
              </a:ext>
            </a:extLst>
          </p:cNvPr>
          <p:cNvSpPr txBox="1"/>
          <p:nvPr/>
        </p:nvSpPr>
        <p:spPr>
          <a:xfrm>
            <a:off x="1440000" y="1638000"/>
            <a:ext cx="9288000" cy="216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AI for Research: Methods and Practice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A01954-20B5-A5AF-786E-E05E740484EC}"/>
              </a:ext>
            </a:extLst>
          </p:cNvPr>
          <p:cNvSpPr txBox="1"/>
          <p:nvPr/>
        </p:nvSpPr>
        <p:spPr>
          <a:xfrm>
            <a:off x="1440000" y="2340000"/>
            <a:ext cx="9288000" cy="55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2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培养能在 AI 时代更可靠地做研究的研究生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DF031C-261D-D1D3-2EC8-99F15EFAB90A}"/>
              </a:ext>
            </a:extLst>
          </p:cNvPr>
          <p:cNvSpPr txBox="1"/>
          <p:nvPr/>
        </p:nvSpPr>
        <p:spPr>
          <a:xfrm>
            <a:off x="1872000" y="3096000"/>
            <a:ext cx="8424000" cy="413999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把 AI 纳入可验证、可复现、可追溯的科研流程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4CEC10-F5FD-C044-5D6D-6CA8AC10235E}"/>
              </a:ext>
            </a:extLst>
          </p:cNvPr>
          <p:cNvSpPr txBox="1"/>
          <p:nvPr/>
        </p:nvSpPr>
        <p:spPr>
          <a:xfrm>
            <a:off x="4823814" y="4600388"/>
            <a:ext cx="2520375" cy="591642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32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2399544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" name="TextBox 3"/>
          <p:cNvSpPr txBox="1"/>
          <p:nvPr/>
        </p:nvSpPr>
        <p:spPr>
          <a:xfrm>
            <a:off x="1080000" y="1170000"/>
            <a:ext cx="10008000" cy="280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智能科研方法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1638000"/>
            <a:ext cx="9288000" cy="216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AI for Research: Methods and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2340000"/>
            <a:ext cx="9288000" cy="55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2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培养能在 AI 时代更可靠地做研究的研究生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2000" y="3096000"/>
            <a:ext cx="8424000" cy="413999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把 AI 纳入可验证、可复现、可追溯的科研流程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518000"/>
            <a:ext cx="12193200" cy="1565999"/>
          </a:xfrm>
          <a:prstGeom prst="rect">
            <a:avLst/>
          </a:prstGeom>
          <a:solidFill>
            <a:srgbClr val="C6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9" name="TextBox 8"/>
          <p:cNvSpPr txBox="1"/>
          <p:nvPr/>
        </p:nvSpPr>
        <p:spPr>
          <a:xfrm>
            <a:off x="1440000" y="4986000"/>
            <a:ext cx="9288000" cy="324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32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谢谢批评指正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52396</TotalTime>
  <Words>1676</Words>
  <Application>Microsoft Macintosh PowerPoint</Application>
  <PresentationFormat>Widescreen</PresentationFormat>
  <Paragraphs>315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等线</vt:lpstr>
      <vt:lpstr>Microsoft YaHei</vt:lpstr>
      <vt:lpstr>Arial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 李</dc:creator>
  <cp:lastModifiedBy>Yaohui Jin</cp:lastModifiedBy>
  <cp:revision>2643</cp:revision>
  <dcterms:created xsi:type="dcterms:W3CDTF">2019-01-23T14:14:04Z</dcterms:created>
  <dcterms:modified xsi:type="dcterms:W3CDTF">2026-06-15T07:56:19Z</dcterms:modified>
</cp:coreProperties>
</file>