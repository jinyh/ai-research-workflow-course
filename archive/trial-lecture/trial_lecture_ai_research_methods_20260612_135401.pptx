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开场我先给出这门课的定位：智能科研方法不是一门 AI 工具展示课，而是面向 CS 和 AI 研究生的科研方法课。它训练学生用 AI 增强科研全过程，但关键研究判断仍然由人负责。贯穿全课的关键词是可验证、可复现、可追溯、全过程留痕和负责任。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为什么现在需要这门课，是因为学生已经在真实科研流程里使用 AI。文献检索、论文阅读、代码生成、实验迭代、结果分析和论文写作都已经被改变。问题不在于学生会不会用 AI，而在于他们是否知道如何验证 AI 输出、记录 AI 参与过程，并控制它不能越过科研判断边界。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已有课程并不少，但缺口仍然存在。AI 和机器学习课程通常关注模型、算法和工程实现，传统科研训练关注文献、实验和写作，却较少系统处理 AI 介入后的证据链、判断链和责任链。国际上已有 Agentic AI 和 AI for Research 相关课程，说明方向重要；本课程的差异是把这些能力组织成面向研究生科研训练的闭环方法。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这门课的组织原则不是工具清单，而是科研动作。大约七到八成内容是通用科研工作流，二到三成是机器学习实验自动化和 Research Agent 实践。每一个工具都必须回答它服务哪个科研动作：找证据、定问题、设假设、做实验，还是写论证。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课程的主线是八阶段研究链路，从问题定义开始，到第一性原理、机制假设、外部输入摄取、证据整理、研究判断、原型验证，最后回写与表达。AI 可以参与每个阶段，例如帮助检索材料、生成实验代码或整理结果，但它不能替代问题是否重要、假设是否可检验、实验是否公平、结论是否被证据支持这些关键判断。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这一页是试讲片段。我会用 Transformer 经典论文做三分钟微型课堂，但不讲模型细节，而是拆科研链路。先问研究问题：序列建模是否必须依赖循环或卷积结构；再看机制假设：注意力机制能直接建模长距离依赖并提升并行效率；然后追踪关键证据，包括机器翻译结果、训练效率和消融对比。学生要学习的不是总结论文，而是抽取问题、假设、证据、判断和留痕材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三十二学时会组织成六个模块。前两周建立课程边界、科研伦理和研究工件意识；中间从文献检索、证据整理、问题定义和假设设计逐步推进；第八周以后进入数据基线、可复现实验工程和 AI 辅助原型验证；最后完成结果分析、论文式表达和项目闭环。所有模块都服务同一个贯穿项目，而不是每周做孤立练习。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这门课的先修要求是合理但不拔高的。学生需要 Python、机器学习基础、Git、命令行和英文论文阅读能力；但不要求本地 GPU，不要求自费购买 API token，也不要求绑定某个商业工具账号。课程资源优先使用学校已部署、开源、国内可用或课程统一配置的模型资源，厂商免费 token 或教育计划只作为补充。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考核也围绕科研闭环，而不是围绕用了多少 AI 工具。文献与问题定位占四分之一，实验设计与可复现性占三成，原型与自动化实践占四分之一，表达、伦理与复盘占两成。每一项都有可检查提交物，包括问题定义、研究计划、证据地图、实验规格、可运行原型、评价报告、AI 使用记录、科研伦理与合规说明和论文式短文。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为了防止项目最后变成一份看似完整但不可验证的报告，课程设置四个研究门。问题门要求留下问题定义、非例、可证伪命题和证据地图初版；判断门要求留下研究判断记录、baseline 和实验规格；验证门要求留下实验日志、失败分析和 AI 建议的人工审核记录；论证门要求留下结论到证据与决策的追溯链、AI 使用披露和伦理合规说明。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这一页需要替换为主讲人的真实经历。我建议按三条证据组织：第一是科研方法积累，说明自己如何经历或指导过完整科研流程；第二是 AI 与 Agent 实践，说明自己实际使用过哪些 AI 辅助研究、代码生成或实验迭代工作流；第三是课程转化能力，说明如何把经验转化为模板、作业、门条件和可评分产出。这里宁可留待补充，也不虚构履历。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学生学完这门课，应该得到一个可继续发展的研究雏形。他们能够把宽泛兴趣收敛为可验证研究问题，用 AI 辅助文献检索、阅读和证据整理，设计 baseline、实验规格和评价报告，使用自动化方法支持实验迭代，并记录 AI 使用、人工核验和伦理边界。这些产出可以继续服务开题准备、组会汇报、论文 idea 打磨、baseline 建设和后续科研项目启动。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课程不是禁止学生使用 AI，而是要求 AI 参与过程可审查、可复盘、可问责。AI 使用记录要说明提示词、上下文来源、模型工具和人工核验方式；工具权限记录要说明数据源、读写范围、外部服务、预算和人工确认点；实验留痕要有实验 ID、配置、代码版本、日志和结果表；伦理边界覆盖数据、隐私、许可、署名、误用和 AI 使用披露。同时课程不绑定单一商业工具，也不要求学生自费购买 token。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最后回到课程价值。这门课不是教学生把研究外包给 AI，而是教学生把 AI 纳入可验证、可复现、可追溯的科研流程。最终目标是让学生形成有证据、有判断、有伦理边界、有全过程留痕的科研闭环，也就是培养能在 AI 时代更可靠地做研究的研究生。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ECEC">
                <a:alpha val="42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4953000" cy="6858000"/>
            </a:xfrm>
            <a:custGeom>
              <a:avLst/>
              <a:gdLst/>
              <a:ahLst/>
              <a:cxnLst/>
              <a:rect l="l" t="t" r="r" b="b"/>
              <a:pathLst>
                <a:path w="4953000" h="6858000">
                  <a:moveTo>
                    <a:pt x="0" y="0"/>
                  </a:moveTo>
                  <a:lnTo>
                    <a:pt x="4953000" y="0"/>
                  </a:lnTo>
                  <a:lnTo>
                    <a:pt x="390525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rgbClr val="8C1515"/>
                </a:gs>
                <a:gs pos="100000">
                  <a:srgbClr val="8C1515">
                    <a:alpha val="88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3905250" y="0"/>
              <a:ext cx="1619250" cy="6858000"/>
            </a:xfrm>
            <a:custGeom>
              <a:avLst/>
              <a:gdLst/>
              <a:ahLst/>
              <a:cxnLst/>
              <a:rect l="l" t="t" r="r" b="b"/>
              <a:pathLst>
                <a:path w="1619250" h="6858000">
                  <a:moveTo>
                    <a:pt x="1047750" y="0"/>
                  </a:moveTo>
                  <a:lnTo>
                    <a:pt x="1619250" y="0"/>
                  </a:lnTo>
                  <a:lnTo>
                    <a:pt x="5715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B68B2D">
                <a:alpha val="6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972550" y="609600"/>
              <a:ext cx="1828800" cy="1828800"/>
            </a:xfrm>
            <a:prstGeom prst="ellipse">
              <a:avLst/>
            </a:prstGeom>
            <a:solidFill>
              <a:srgbClr val="8C1515">
                <a:alpha val="5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124950" y="742950"/>
              <a:ext cx="2781300" cy="2781300"/>
            </a:xfrm>
            <a:prstGeom prst="ellipse">
              <a:avLst/>
            </a:prstGeom>
            <a:solidFill>
              <a:srgbClr val="B68B2D">
                <a:alpha val="6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86438" y="445294"/>
            <a:ext cx="5186362" cy="554831"/>
            <a:chOff x="5786438" y="445294"/>
            <a:chExt cx="5186362" cy="554831"/>
          </a:xfrm>
        </p:grpSpPr>
        <p:sp>
          <p:nvSpPr>
            <p:cNvPr id="9" name="TextBox 9"/>
            <p:cNvSpPr txBox="1"/>
            <p:nvPr/>
          </p:nvSpPr>
          <p:spPr>
            <a:xfrm>
              <a:off x="5786438" y="445294"/>
              <a:ext cx="346055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上海交通大学人工智能研究院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16918" y="790099"/>
              <a:ext cx="2638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Shanghai Jiao Tong University AI Institute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810250" y="990600"/>
              <a:ext cx="5162550" cy="9525"/>
            </a:xfrm>
            <a:custGeom>
              <a:avLst/>
              <a:gdLst/>
              <a:ahLst/>
              <a:cxnLst/>
              <a:rect l="l" t="t" r="r" b="b"/>
              <a:pathLst>
                <a:path w="5162550" h="9525">
                  <a:moveTo>
                    <a:pt x="0" y="0"/>
                  </a:moveTo>
                  <a:lnTo>
                    <a:pt x="5162550" y="0"/>
                  </a:lnTo>
                </a:path>
              </a:pathLst>
            </a:custGeom>
            <a:noFill/>
            <a:ln w="19050">
              <a:solidFill>
                <a:srgbClr val="C8161E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28650" y="1190625"/>
            <a:ext cx="4856302" cy="2371725"/>
            <a:chOff x="628650" y="1190625"/>
            <a:chExt cx="4856302" cy="2371725"/>
          </a:xfrm>
        </p:grpSpPr>
        <p:sp>
          <p:nvSpPr>
            <p:cNvPr id="13" name="TextBox 13"/>
            <p:cNvSpPr txBox="1"/>
            <p:nvPr/>
          </p:nvSpPr>
          <p:spPr>
            <a:xfrm>
              <a:off x="628650" y="1190625"/>
              <a:ext cx="3894773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智能科研方法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1040" y="1958340"/>
              <a:ext cx="47839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>
                      <a:alphaMod val="86000"/>
                    </a:srgbClr>
                  </a:solidFill>
                  <a:latin typeface="Arial"/>
                  <a:ea typeface="Microsoft YaHei"/>
                  <a:cs typeface="Arial"/>
                </a:rPr>
                <a:t>AI for Research: Methods and Practice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23900" y="2495550"/>
              <a:ext cx="2705100" cy="9525"/>
            </a:xfrm>
            <a:custGeom>
              <a:avLst/>
              <a:gdLst/>
              <a:ahLst/>
              <a:cxnLst/>
              <a:rect l="l" t="t" r="r" b="b"/>
              <a:pathLst>
                <a:path w="2705100" h="9525">
                  <a:moveTo>
                    <a:pt x="0" y="0"/>
                  </a:moveTo>
                  <a:lnTo>
                    <a:pt x="2705100" y="0"/>
                  </a:lnTo>
                </a:path>
              </a:pathLst>
            </a:custGeom>
            <a:noFill/>
            <a:ln w="47625">
              <a:solidFill>
                <a:srgbClr val="B68B2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1040" y="2853690"/>
              <a:ext cx="25540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用 AI 增强科研全过程，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1040" y="3196590"/>
              <a:ext cx="279406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而不是用 AI 替代科研判断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810250" y="1066800"/>
            <a:ext cx="5162550" cy="1428750"/>
            <a:chOff x="5810250" y="1066800"/>
            <a:chExt cx="5162550" cy="1428750"/>
          </a:xfrm>
        </p:grpSpPr>
        <p:sp>
          <p:nvSpPr>
            <p:cNvPr id="19" name="Rectangle 19"/>
            <p:cNvSpPr/>
            <p:nvPr/>
          </p:nvSpPr>
          <p:spPr>
            <a:xfrm>
              <a:off x="5810250" y="1066800"/>
              <a:ext cx="516255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4288">
              <a:solidFill>
                <a:srgbClr val="D9DEE5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153150" y="1391841"/>
              <a:ext cx="323850" cy="283368"/>
              <a:chOff x="6153150" y="1391841"/>
              <a:chExt cx="323850" cy="28336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213872" y="1391841"/>
                <a:ext cx="101203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101203">
                    <a:moveTo>
                      <a:pt x="101203" y="50602"/>
                    </a:moveTo>
                    <a:cubicBezTo>
                      <a:pt x="101203" y="78548"/>
                      <a:pt x="78548" y="101203"/>
                      <a:pt x="50602" y="101203"/>
                    </a:cubicBezTo>
                    <a:cubicBezTo>
                      <a:pt x="22655" y="101203"/>
                      <a:pt x="0" y="78548"/>
                      <a:pt x="0" y="50602"/>
                    </a:cubicBezTo>
                    <a:cubicBezTo>
                      <a:pt x="0" y="22655"/>
                      <a:pt x="22655" y="0"/>
                      <a:pt x="50602" y="0"/>
                    </a:cubicBezTo>
                    <a:cubicBezTo>
                      <a:pt x="78548" y="0"/>
                      <a:pt x="101203" y="22655"/>
                      <a:pt x="101203" y="50602"/>
                    </a:cubicBez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153150" y="1533525"/>
                <a:ext cx="161925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41684">
                    <a:moveTo>
                      <a:pt x="60722" y="0"/>
                    </a:moveTo>
                    <a:cubicBezTo>
                      <a:pt x="27186" y="0"/>
                      <a:pt x="0" y="27186"/>
                      <a:pt x="0" y="60722"/>
                    </a:cubicBezTo>
                    <a:lnTo>
                      <a:pt x="0" y="141684"/>
                    </a:lnTo>
                    <a:lnTo>
                      <a:pt x="161925" y="141684"/>
                    </a:lnTo>
                    <a:lnTo>
                      <a:pt x="161925" y="0"/>
                    </a:lnTo>
                    <a:lnTo>
                      <a:pt x="60722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355556" y="1533525"/>
                <a:ext cx="121444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41684">
                    <a:moveTo>
                      <a:pt x="60722" y="0"/>
                    </a:moveTo>
                    <a:lnTo>
                      <a:pt x="0" y="0"/>
                    </a:lnTo>
                    <a:lnTo>
                      <a:pt x="0" y="141684"/>
                    </a:lnTo>
                    <a:lnTo>
                      <a:pt x="121444" y="141684"/>
                    </a:lnTo>
                    <a:lnTo>
                      <a:pt x="121444" y="60722"/>
                    </a:lnTo>
                    <a:cubicBezTo>
                      <a:pt x="121444" y="27186"/>
                      <a:pt x="94259" y="0"/>
                      <a:pt x="60722" y="0"/>
                    </a:cubicBez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355556" y="1412081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40481" y="80962"/>
                    </a:moveTo>
                    <a:cubicBezTo>
                      <a:pt x="62839" y="80962"/>
                      <a:pt x="80962" y="62838"/>
                      <a:pt x="80962" y="40481"/>
                    </a:cubicBezTo>
                    <a:cubicBezTo>
                      <a:pt x="80962" y="18124"/>
                      <a:pt x="62839" y="0"/>
                      <a:pt x="40481" y="0"/>
                    </a:cubicBezTo>
                    <a:cubicBezTo>
                      <a:pt x="18123" y="0"/>
                      <a:pt x="0" y="18124"/>
                      <a:pt x="0" y="40481"/>
                    </a:cubicBezTo>
                    <a:cubicBezTo>
                      <a:pt x="0" y="62838"/>
                      <a:pt x="18123" y="80962"/>
                      <a:pt x="40481" y="80962"/>
                    </a:cubicBez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606540" y="1386840"/>
              <a:ext cx="20871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面向 CS/AI 研究生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12255" y="1797368"/>
              <a:ext cx="35807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2 学分 · 32 学时 · 专业选修课 · 项目制训练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39815" y="2172652"/>
              <a:ext cx="15038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开课评审试讲 · 20 分钟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810250" y="2876550"/>
            <a:ext cx="5162550" cy="1562100"/>
            <a:chOff x="5810250" y="2876550"/>
            <a:chExt cx="5162550" cy="1562100"/>
          </a:xfrm>
        </p:grpSpPr>
        <p:sp>
          <p:nvSpPr>
            <p:cNvPr id="29" name="Rectangle 29"/>
            <p:cNvSpPr/>
            <p:nvPr/>
          </p:nvSpPr>
          <p:spPr>
            <a:xfrm>
              <a:off x="5810250" y="2876550"/>
              <a:ext cx="5162550" cy="1562100"/>
            </a:xfrm>
            <a:prstGeom prst="roundRect">
              <a:avLst>
                <a:gd name="adj" fmla="val 4878"/>
              </a:avLst>
            </a:prstGeom>
            <a:solidFill>
              <a:srgbClr val="8C1515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153150" y="3200400"/>
              <a:ext cx="342900" cy="342900"/>
              <a:chOff x="6153150" y="3200400"/>
              <a:chExt cx="342900" cy="3429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238875" y="32861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85725" y="0"/>
                    </a:moveTo>
                    <a:cubicBezTo>
                      <a:pt x="38380" y="0"/>
                      <a:pt x="0" y="38380"/>
                      <a:pt x="0" y="85725"/>
                    </a:cubicBezTo>
                    <a:cubicBezTo>
                      <a:pt x="0" y="133069"/>
                      <a:pt x="38380" y="171450"/>
                      <a:pt x="85725" y="171450"/>
                    </a:cubicBezTo>
                    <a:cubicBezTo>
                      <a:pt x="133069" y="171450"/>
                      <a:pt x="171450" y="133069"/>
                      <a:pt x="171450" y="85725"/>
                    </a:cubicBezTo>
                    <a:cubicBezTo>
                      <a:pt x="171450" y="38380"/>
                      <a:pt x="133069" y="0"/>
                      <a:pt x="85725" y="0"/>
                    </a:cubicBezTo>
                    <a:close/>
                    <a:moveTo>
                      <a:pt x="42862" y="85725"/>
                    </a:moveTo>
                    <a:cubicBezTo>
                      <a:pt x="42862" y="62053"/>
                      <a:pt x="62053" y="42862"/>
                      <a:pt x="85725" y="42862"/>
                    </a:cubicBezTo>
                    <a:cubicBezTo>
                      <a:pt x="109397" y="42862"/>
                      <a:pt x="128588" y="62053"/>
                      <a:pt x="128588" y="85725"/>
                    </a:cubicBezTo>
                    <a:cubicBezTo>
                      <a:pt x="128588" y="109397"/>
                      <a:pt x="109397" y="128588"/>
                      <a:pt x="85725" y="128588"/>
                    </a:cubicBezTo>
                    <a:cubicBezTo>
                      <a:pt x="62053" y="128588"/>
                      <a:pt x="42862" y="109397"/>
                      <a:pt x="42862" y="85725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153150" y="32004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171450" y="0"/>
                    </a:moveTo>
                    <a:cubicBezTo>
                      <a:pt x="76761" y="0"/>
                      <a:pt x="0" y="76761"/>
                      <a:pt x="0" y="171450"/>
                    </a:cubicBezTo>
                    <a:cubicBezTo>
                      <a:pt x="0" y="266140"/>
                      <a:pt x="76761" y="342900"/>
                      <a:pt x="171450" y="342900"/>
                    </a:cubicBezTo>
                    <a:cubicBezTo>
                      <a:pt x="266140" y="342900"/>
                      <a:pt x="342900" y="266140"/>
                      <a:pt x="342900" y="171450"/>
                    </a:cubicBezTo>
                    <a:cubicBezTo>
                      <a:pt x="342900" y="76761"/>
                      <a:pt x="266140" y="0"/>
                      <a:pt x="171450" y="0"/>
                    </a:cubicBezTo>
                    <a:close/>
                    <a:moveTo>
                      <a:pt x="42862" y="171450"/>
                    </a:moveTo>
                    <a:cubicBezTo>
                      <a:pt x="42862" y="100433"/>
                      <a:pt x="100433" y="42862"/>
                      <a:pt x="171450" y="42862"/>
                    </a:cubicBezTo>
                    <a:cubicBezTo>
                      <a:pt x="242467" y="42862"/>
                      <a:pt x="300038" y="100433"/>
                      <a:pt x="300038" y="171450"/>
                    </a:cubicBezTo>
                    <a:cubicBezTo>
                      <a:pt x="300038" y="242467"/>
                      <a:pt x="242467" y="300038"/>
                      <a:pt x="171450" y="300038"/>
                    </a:cubicBezTo>
                    <a:cubicBezTo>
                      <a:pt x="100433" y="300038"/>
                      <a:pt x="42862" y="242467"/>
                      <a:pt x="42862" y="171450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661785" y="321849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一句话定位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32195" y="3765232"/>
              <a:ext cx="35073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训练学生在 AI 时代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650" b="1" dirty="0">
                  <a:solidFill>
                    <a:srgbClr val="B68B2D"/>
                  </a:solidFill>
                  <a:latin typeface="Arial"/>
                  <a:ea typeface="Microsoft YaHei"/>
                  <a:cs typeface="Arial"/>
                </a:rPr>
                <a:t>更可靠地做研究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810250" y="4800600"/>
            <a:ext cx="5581650" cy="400050"/>
            <a:chOff x="5810250" y="4800600"/>
            <a:chExt cx="5581650" cy="400050"/>
          </a:xfrm>
        </p:grpSpPr>
        <p:sp>
          <p:nvSpPr>
            <p:cNvPr id="36" name="Rectangle 36"/>
            <p:cNvSpPr/>
            <p:nvPr/>
          </p:nvSpPr>
          <p:spPr>
            <a:xfrm>
              <a:off x="5810250" y="4800600"/>
              <a:ext cx="933450" cy="40005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76295" y="491204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C1515"/>
                  </a:solidFill>
                  <a:latin typeface="Arial"/>
                  <a:ea typeface="Microsoft YaHei"/>
                  <a:cs typeface="Arial"/>
                </a:rPr>
                <a:t>可验证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96100" y="4800600"/>
              <a:ext cx="933450" cy="40005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62145" y="491204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C1515"/>
                  </a:solidFill>
                  <a:latin typeface="Arial"/>
                  <a:ea typeface="Microsoft YaHei"/>
                  <a:cs typeface="Arial"/>
                </a:rPr>
                <a:t>可复现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981950" y="4800600"/>
              <a:ext cx="933450" cy="40005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47995" y="491204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C1515"/>
                  </a:solidFill>
                  <a:latin typeface="Arial"/>
                  <a:ea typeface="Microsoft YaHei"/>
                  <a:cs typeface="Arial"/>
                </a:rPr>
                <a:t>可追溯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067800" y="4800600"/>
              <a:ext cx="1162050" cy="40005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59121" y="491204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C1515"/>
                  </a:solidFill>
                  <a:latin typeface="Arial"/>
                  <a:ea typeface="Microsoft YaHei"/>
                  <a:cs typeface="Arial"/>
                </a:rPr>
                <a:t>全过程留痕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382250" y="4800600"/>
              <a:ext cx="1009650" cy="40005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86395" y="491204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负责任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10565" y="6306502"/>
            <a:ext cx="10273665" cy="294323"/>
            <a:chOff x="710565" y="6306502"/>
            <a:chExt cx="10273665" cy="294323"/>
          </a:xfrm>
        </p:grpSpPr>
        <p:sp>
          <p:nvSpPr>
            <p:cNvPr id="47" name="TextBox 47"/>
            <p:cNvSpPr txBox="1"/>
            <p:nvPr/>
          </p:nvSpPr>
          <p:spPr>
            <a:xfrm>
              <a:off x="710565" y="6306502"/>
              <a:ext cx="28480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2000"/>
                    </a:srgbClr>
                  </a:solidFill>
                  <a:latin typeface="Arial"/>
                  <a:ea typeface="Microsoft YaHei"/>
                  <a:cs typeface="Arial"/>
                </a:rPr>
                <a:t>上海交通大学人工智能研究院 · 开课评审试讲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19327" y="64179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8" grpId="0"/>
      <p:bldP spid="35" grpId="0"/>
      <p:bldP spid="4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80060" y="318135"/>
            <a:ext cx="11197590" cy="977265"/>
            <a:chOff x="480060" y="318135"/>
            <a:chExt cx="11197590" cy="977265"/>
          </a:xfrm>
        </p:grpSpPr>
        <p:sp>
          <p:nvSpPr>
            <p:cNvPr id="3" name="TextBox 3"/>
            <p:cNvSpPr txBox="1"/>
            <p:nvPr/>
          </p:nvSpPr>
          <p:spPr>
            <a:xfrm>
              <a:off x="480060" y="318135"/>
              <a:ext cx="57959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AI 正在改变研究生的科研工作方式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" y="800100"/>
              <a:ext cx="111633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6755" y="968692"/>
              <a:ext cx="49489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学生已经自然使用 AI，但未必知道如何验证、记录和控制 AI。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91100" y="2276475"/>
            <a:ext cx="2209800" cy="2209800"/>
            <a:chOff x="4991100" y="2276475"/>
            <a:chExt cx="2209800" cy="2209800"/>
          </a:xfrm>
        </p:grpSpPr>
        <p:sp>
          <p:nvSpPr>
            <p:cNvPr id="7" name="Ellipse 7"/>
            <p:cNvSpPr/>
            <p:nvPr/>
          </p:nvSpPr>
          <p:spPr>
            <a:xfrm>
              <a:off x="4991100" y="2276475"/>
              <a:ext cx="2209800" cy="2209800"/>
            </a:xfrm>
            <a:prstGeom prst="ellipse">
              <a:avLst/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219700" y="2505075"/>
              <a:ext cx="1752600" cy="1752600"/>
            </a:xfrm>
            <a:prstGeom prst="ellipse">
              <a:avLst/>
            </a:prstGeom>
            <a:solidFill>
              <a:srgbClr val="8C1515"/>
            </a:solidFill>
            <a:ln w="28575">
              <a:solidFill>
                <a:srgbClr val="B68B2D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838825" y="2647950"/>
              <a:ext cx="514350" cy="685800"/>
            </a:xfrm>
            <a:custGeom>
              <a:avLst/>
              <a:gdLst/>
              <a:ahLst/>
              <a:cxnLst/>
              <a:rect l="l" t="t" r="r" b="b"/>
              <a:pathLst>
                <a:path w="514350" h="685800">
                  <a:moveTo>
                    <a:pt x="300038" y="300038"/>
                  </a:moveTo>
                  <a:lnTo>
                    <a:pt x="342900" y="0"/>
                  </a:lnTo>
                  <a:lnTo>
                    <a:pt x="257175" y="0"/>
                  </a:lnTo>
                  <a:lnTo>
                    <a:pt x="0" y="300038"/>
                  </a:lnTo>
                  <a:lnTo>
                    <a:pt x="0" y="385762"/>
                  </a:lnTo>
                  <a:lnTo>
                    <a:pt x="214312" y="385762"/>
                  </a:lnTo>
                  <a:lnTo>
                    <a:pt x="171450" y="685800"/>
                  </a:lnTo>
                  <a:lnTo>
                    <a:pt x="257175" y="685800"/>
                  </a:lnTo>
                  <a:lnTo>
                    <a:pt x="514350" y="385762"/>
                  </a:lnTo>
                  <a:lnTo>
                    <a:pt x="514350" y="300038"/>
                  </a:lnTo>
                  <a:lnTo>
                    <a:pt x="300038" y="300038"/>
                  </a:ln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388650" y="346614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方法论训练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20690" y="38709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>
                      <a:alphaMod val="84000"/>
                    </a:srgbClr>
                  </a:solidFill>
                  <a:latin typeface="Arial"/>
                  <a:ea typeface="Microsoft YaHei"/>
                  <a:cs typeface="Arial"/>
                </a:rPr>
                <a:t>才是真正稀缺项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38200" y="1752600"/>
            <a:ext cx="2400300" cy="876300"/>
            <a:chOff x="838200" y="1752600"/>
            <a:chExt cx="2400300" cy="876300"/>
          </a:xfrm>
        </p:grpSpPr>
        <p:sp>
          <p:nvSpPr>
            <p:cNvPr id="13" name="Rectangle 13"/>
            <p:cNvSpPr/>
            <p:nvPr/>
          </p:nvSpPr>
          <p:spPr>
            <a:xfrm>
              <a:off x="838200" y="1752600"/>
              <a:ext cx="2400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66800" y="2059781"/>
              <a:ext cx="323850" cy="263128"/>
            </a:xfrm>
            <a:custGeom>
              <a:avLst/>
              <a:gdLst/>
              <a:ahLst/>
              <a:cxnLst/>
              <a:rect l="l" t="t" r="r" b="b"/>
              <a:pathLst>
                <a:path w="323850" h="263128">
                  <a:moveTo>
                    <a:pt x="0" y="0"/>
                  </a:moveTo>
                  <a:lnTo>
                    <a:pt x="72579" y="0"/>
                  </a:lnTo>
                  <a:cubicBezTo>
                    <a:pt x="90907" y="0"/>
                    <a:pt x="108484" y="7281"/>
                    <a:pt x="121444" y="20241"/>
                  </a:cubicBezTo>
                  <a:cubicBezTo>
                    <a:pt x="134404" y="33200"/>
                    <a:pt x="141684" y="50778"/>
                    <a:pt x="141684" y="69106"/>
                  </a:cubicBezTo>
                  <a:lnTo>
                    <a:pt x="141684" y="182166"/>
                  </a:lnTo>
                  <a:lnTo>
                    <a:pt x="182166" y="182166"/>
                  </a:lnTo>
                  <a:lnTo>
                    <a:pt x="182166" y="69106"/>
                  </a:lnTo>
                  <a:cubicBezTo>
                    <a:pt x="182166" y="50778"/>
                    <a:pt x="189446" y="33200"/>
                    <a:pt x="202406" y="20241"/>
                  </a:cubicBezTo>
                  <a:cubicBezTo>
                    <a:pt x="215366" y="7281"/>
                    <a:pt x="232943" y="0"/>
                    <a:pt x="251271" y="0"/>
                  </a:cubicBezTo>
                  <a:lnTo>
                    <a:pt x="323850" y="0"/>
                  </a:lnTo>
                  <a:lnTo>
                    <a:pt x="323850" y="222647"/>
                  </a:lnTo>
                  <a:lnTo>
                    <a:pt x="222647" y="222647"/>
                  </a:lnTo>
                  <a:lnTo>
                    <a:pt x="182166" y="263128"/>
                  </a:lnTo>
                  <a:lnTo>
                    <a:pt x="141684" y="263128"/>
                  </a:lnTo>
                  <a:lnTo>
                    <a:pt x="101203" y="222647"/>
                  </a:lnTo>
                  <a:lnTo>
                    <a:pt x="0" y="2226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151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22095" y="195548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文献检索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29715" y="22869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从关键词扩展到证据筛选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38200" y="4095750"/>
            <a:ext cx="2400300" cy="876300"/>
            <a:chOff x="838200" y="4095750"/>
            <a:chExt cx="2400300" cy="876300"/>
          </a:xfrm>
        </p:grpSpPr>
        <p:sp>
          <p:nvSpPr>
            <p:cNvPr id="18" name="Rectangle 18"/>
            <p:cNvSpPr/>
            <p:nvPr/>
          </p:nvSpPr>
          <p:spPr>
            <a:xfrm>
              <a:off x="838200" y="4095750"/>
              <a:ext cx="2400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066800" y="4402931"/>
              <a:ext cx="323850" cy="242888"/>
            </a:xfrm>
            <a:custGeom>
              <a:avLst/>
              <a:gdLst/>
              <a:ahLst/>
              <a:cxnLst/>
              <a:rect l="l" t="t" r="r" b="b"/>
              <a:pathLst>
                <a:path w="323850" h="242888">
                  <a:moveTo>
                    <a:pt x="0" y="121444"/>
                  </a:moveTo>
                  <a:lnTo>
                    <a:pt x="62330" y="46648"/>
                  </a:lnTo>
                  <a:cubicBezTo>
                    <a:pt x="86961" y="17090"/>
                    <a:pt x="123449" y="0"/>
                    <a:pt x="161925" y="0"/>
                  </a:cubicBezTo>
                  <a:cubicBezTo>
                    <a:pt x="200401" y="0"/>
                    <a:pt x="236888" y="17090"/>
                    <a:pt x="261521" y="46648"/>
                  </a:cubicBezTo>
                  <a:lnTo>
                    <a:pt x="323850" y="121444"/>
                  </a:lnTo>
                  <a:lnTo>
                    <a:pt x="261521" y="196239"/>
                  </a:lnTo>
                  <a:cubicBezTo>
                    <a:pt x="236888" y="225798"/>
                    <a:pt x="200401" y="242888"/>
                    <a:pt x="161925" y="242888"/>
                  </a:cubicBezTo>
                  <a:cubicBezTo>
                    <a:pt x="123449" y="242888"/>
                    <a:pt x="86961" y="225798"/>
                    <a:pt x="62330" y="196239"/>
                  </a:cubicBezTo>
                  <a:lnTo>
                    <a:pt x="0" y="121444"/>
                  </a:lnTo>
                  <a:close/>
                  <a:moveTo>
                    <a:pt x="161925" y="182166"/>
                  </a:moveTo>
                  <a:cubicBezTo>
                    <a:pt x="195461" y="182166"/>
                    <a:pt x="222647" y="154979"/>
                    <a:pt x="222647" y="121444"/>
                  </a:cubicBezTo>
                  <a:cubicBezTo>
                    <a:pt x="222647" y="87908"/>
                    <a:pt x="195461" y="60722"/>
                    <a:pt x="161925" y="60722"/>
                  </a:cubicBezTo>
                  <a:cubicBezTo>
                    <a:pt x="128389" y="60722"/>
                    <a:pt x="101203" y="87908"/>
                    <a:pt x="101203" y="121444"/>
                  </a:cubicBezTo>
                  <a:cubicBezTo>
                    <a:pt x="101203" y="154979"/>
                    <a:pt x="128389" y="182166"/>
                    <a:pt x="161925" y="182166"/>
                  </a:cubicBezTo>
                  <a:close/>
                </a:path>
              </a:pathLst>
            </a:custGeom>
            <a:solidFill>
              <a:srgbClr val="8C151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22095" y="429863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论文阅读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29715" y="46301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贡献、证据、局限结构化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924300" y="5219700"/>
            <a:ext cx="2400300" cy="876300"/>
            <a:chOff x="3924300" y="5219700"/>
            <a:chExt cx="2400300" cy="876300"/>
          </a:xfrm>
        </p:grpSpPr>
        <p:sp>
          <p:nvSpPr>
            <p:cNvPr id="23" name="Rectangle 23"/>
            <p:cNvSpPr/>
            <p:nvPr/>
          </p:nvSpPr>
          <p:spPr>
            <a:xfrm>
              <a:off x="3924300" y="5219700"/>
              <a:ext cx="2400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152900" y="5503778"/>
              <a:ext cx="323850" cy="289093"/>
              <a:chOff x="4152900" y="5503778"/>
              <a:chExt cx="323850" cy="28909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274547" y="5503778"/>
                <a:ext cx="80556" cy="289093"/>
              </a:xfrm>
              <a:custGeom>
                <a:avLst/>
                <a:gdLst/>
                <a:ahLst/>
                <a:cxnLst/>
                <a:rect l="l" t="t" r="r" b="b"/>
                <a:pathLst>
                  <a:path w="80556" h="289093">
                    <a:moveTo>
                      <a:pt x="40481" y="0"/>
                    </a:moveTo>
                    <a:lnTo>
                      <a:pt x="0" y="283369"/>
                    </a:lnTo>
                    <a:lnTo>
                      <a:pt x="40074" y="289093"/>
                    </a:lnTo>
                    <a:lnTo>
                      <a:pt x="80556" y="5725"/>
                    </a:lnTo>
                    <a:lnTo>
                      <a:pt x="40481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377284" y="5577483"/>
                <a:ext cx="99466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99466" h="141684">
                    <a:moveTo>
                      <a:pt x="28624" y="141684"/>
                    </a:moveTo>
                    <a:lnTo>
                      <a:pt x="0" y="113060"/>
                    </a:lnTo>
                    <a:lnTo>
                      <a:pt x="42218" y="70842"/>
                    </a:lnTo>
                    <a:lnTo>
                      <a:pt x="0" y="28625"/>
                    </a:lnTo>
                    <a:lnTo>
                      <a:pt x="28624" y="0"/>
                    </a:lnTo>
                    <a:lnTo>
                      <a:pt x="99466" y="70842"/>
                    </a:lnTo>
                    <a:lnTo>
                      <a:pt x="28624" y="141684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152900" y="5577483"/>
                <a:ext cx="99467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99467" h="141684">
                    <a:moveTo>
                      <a:pt x="57249" y="70842"/>
                    </a:moveTo>
                    <a:lnTo>
                      <a:pt x="99467" y="113060"/>
                    </a:lnTo>
                    <a:lnTo>
                      <a:pt x="70842" y="141684"/>
                    </a:lnTo>
                    <a:lnTo>
                      <a:pt x="0" y="70842"/>
                    </a:lnTo>
                    <a:lnTo>
                      <a:pt x="70842" y="0"/>
                    </a:lnTo>
                    <a:lnTo>
                      <a:pt x="99467" y="28625"/>
                    </a:lnTo>
                    <a:lnTo>
                      <a:pt x="57249" y="70842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608195" y="542258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代码生成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15815" y="57540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辅助实现，但不能污染实验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953500" y="4095750"/>
            <a:ext cx="2400300" cy="876300"/>
            <a:chOff x="8953500" y="4095750"/>
            <a:chExt cx="2400300" cy="876300"/>
          </a:xfrm>
        </p:grpSpPr>
        <p:sp>
          <p:nvSpPr>
            <p:cNvPr id="31" name="Rectangle 31"/>
            <p:cNvSpPr/>
            <p:nvPr/>
          </p:nvSpPr>
          <p:spPr>
            <a:xfrm>
              <a:off x="8953500" y="4095750"/>
              <a:ext cx="2400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182100" y="4362450"/>
              <a:ext cx="323850" cy="323850"/>
              <a:chOff x="9182100" y="4362450"/>
              <a:chExt cx="323850" cy="3238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222581" y="4362450"/>
                <a:ext cx="283369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141684">
                    <a:moveTo>
                      <a:pt x="161925" y="141684"/>
                    </a:moveTo>
                    <a:lnTo>
                      <a:pt x="141684" y="121444"/>
                    </a:lnTo>
                    <a:lnTo>
                      <a:pt x="188094" y="75034"/>
                    </a:lnTo>
                    <a:lnTo>
                      <a:pt x="176237" y="63177"/>
                    </a:lnTo>
                    <a:cubicBezTo>
                      <a:pt x="161705" y="48645"/>
                      <a:pt x="141995" y="40481"/>
                      <a:pt x="121444" y="40481"/>
                    </a:cubicBezTo>
                    <a:cubicBezTo>
                      <a:pt x="100892" y="40481"/>
                      <a:pt x="81182" y="48645"/>
                      <a:pt x="66650" y="63177"/>
                    </a:cubicBezTo>
                    <a:lnTo>
                      <a:pt x="64914" y="64914"/>
                    </a:lnTo>
                    <a:cubicBezTo>
                      <a:pt x="49270" y="80558"/>
                      <a:pt x="40481" y="101776"/>
                      <a:pt x="40481" y="123899"/>
                    </a:cubicBezTo>
                    <a:lnTo>
                      <a:pt x="40481" y="141684"/>
                    </a:lnTo>
                    <a:lnTo>
                      <a:pt x="0" y="141684"/>
                    </a:lnTo>
                    <a:lnTo>
                      <a:pt x="0" y="123899"/>
                    </a:lnTo>
                    <a:cubicBezTo>
                      <a:pt x="0" y="91039"/>
                      <a:pt x="13054" y="59525"/>
                      <a:pt x="36289" y="36289"/>
                    </a:cubicBezTo>
                    <a:lnTo>
                      <a:pt x="38026" y="34553"/>
                    </a:lnTo>
                    <a:cubicBezTo>
                      <a:pt x="60149" y="12429"/>
                      <a:pt x="90156" y="0"/>
                      <a:pt x="121444" y="0"/>
                    </a:cubicBezTo>
                    <a:cubicBezTo>
                      <a:pt x="152732" y="0"/>
                      <a:pt x="182738" y="12429"/>
                      <a:pt x="204861" y="34553"/>
                    </a:cubicBezTo>
                    <a:lnTo>
                      <a:pt x="216718" y="46410"/>
                    </a:lnTo>
                    <a:lnTo>
                      <a:pt x="263128" y="0"/>
                    </a:lnTo>
                    <a:lnTo>
                      <a:pt x="283369" y="20241"/>
                    </a:lnTo>
                    <a:lnTo>
                      <a:pt x="283369" y="141684"/>
                    </a:lnTo>
                    <a:lnTo>
                      <a:pt x="161925" y="141684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182100" y="4544616"/>
                <a:ext cx="283369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141684">
                    <a:moveTo>
                      <a:pt x="107131" y="78507"/>
                    </a:moveTo>
                    <a:cubicBezTo>
                      <a:pt x="121664" y="93038"/>
                      <a:pt x="141373" y="101203"/>
                      <a:pt x="161925" y="101203"/>
                    </a:cubicBezTo>
                    <a:cubicBezTo>
                      <a:pt x="182477" y="101203"/>
                      <a:pt x="202186" y="93040"/>
                      <a:pt x="216718" y="78507"/>
                    </a:cubicBezTo>
                    <a:lnTo>
                      <a:pt x="218455" y="76771"/>
                    </a:lnTo>
                    <a:cubicBezTo>
                      <a:pt x="234099" y="61127"/>
                      <a:pt x="242888" y="39908"/>
                      <a:pt x="242888" y="17785"/>
                    </a:cubicBezTo>
                    <a:lnTo>
                      <a:pt x="242888" y="0"/>
                    </a:lnTo>
                    <a:lnTo>
                      <a:pt x="283369" y="0"/>
                    </a:lnTo>
                    <a:lnTo>
                      <a:pt x="283369" y="17785"/>
                    </a:lnTo>
                    <a:cubicBezTo>
                      <a:pt x="283369" y="50646"/>
                      <a:pt x="270316" y="82159"/>
                      <a:pt x="247079" y="105395"/>
                    </a:cubicBezTo>
                    <a:lnTo>
                      <a:pt x="245343" y="107132"/>
                    </a:lnTo>
                    <a:cubicBezTo>
                      <a:pt x="223220" y="129255"/>
                      <a:pt x="193213" y="141684"/>
                      <a:pt x="161925" y="141684"/>
                    </a:cubicBezTo>
                    <a:cubicBezTo>
                      <a:pt x="130637" y="141684"/>
                      <a:pt x="100631" y="129255"/>
                      <a:pt x="78507" y="107132"/>
                    </a:cubicBezTo>
                    <a:lnTo>
                      <a:pt x="66650" y="95275"/>
                    </a:lnTo>
                    <a:lnTo>
                      <a:pt x="20241" y="141684"/>
                    </a:lnTo>
                    <a:lnTo>
                      <a:pt x="0" y="121444"/>
                    </a:lnTo>
                    <a:lnTo>
                      <a:pt x="0" y="0"/>
                    </a:lnTo>
                    <a:lnTo>
                      <a:pt x="121444" y="0"/>
                    </a:lnTo>
                    <a:lnTo>
                      <a:pt x="141684" y="20241"/>
                    </a:lnTo>
                    <a:lnTo>
                      <a:pt x="95275" y="66650"/>
                    </a:lnTo>
                    <a:lnTo>
                      <a:pt x="107131" y="78507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637395" y="429863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实验迭代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45015" y="46301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队列、参数、失败归因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953500" y="1752600"/>
            <a:ext cx="2400300" cy="876300"/>
            <a:chOff x="8953500" y="1752600"/>
            <a:chExt cx="2400300" cy="876300"/>
          </a:xfrm>
        </p:grpSpPr>
        <p:sp>
          <p:nvSpPr>
            <p:cNvPr id="38" name="Rectangle 38"/>
            <p:cNvSpPr/>
            <p:nvPr/>
          </p:nvSpPr>
          <p:spPr>
            <a:xfrm>
              <a:off x="8953500" y="1752600"/>
              <a:ext cx="2400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9182100" y="2039541"/>
              <a:ext cx="323850" cy="283369"/>
              <a:chOff x="9182100" y="2039541"/>
              <a:chExt cx="323850" cy="28336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9424988" y="2039541"/>
                <a:ext cx="80962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283369">
                    <a:moveTo>
                      <a:pt x="80962" y="0"/>
                    </a:moveTo>
                    <a:lnTo>
                      <a:pt x="0" y="0"/>
                    </a:lnTo>
                    <a:lnTo>
                      <a:pt x="0" y="283369"/>
                    </a:lnTo>
                    <a:lnTo>
                      <a:pt x="80962" y="283369"/>
                    </a:lnTo>
                    <a:lnTo>
                      <a:pt x="80962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303544" y="2120503"/>
                <a:ext cx="80962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202406">
                    <a:moveTo>
                      <a:pt x="0" y="0"/>
                    </a:moveTo>
                    <a:lnTo>
                      <a:pt x="80962" y="0"/>
                    </a:lnTo>
                    <a:lnTo>
                      <a:pt x="80962" y="202406"/>
                    </a:lnTo>
                    <a:lnTo>
                      <a:pt x="0" y="2024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182100" y="2201466"/>
                <a:ext cx="80962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121444">
                    <a:moveTo>
                      <a:pt x="0" y="0"/>
                    </a:moveTo>
                    <a:lnTo>
                      <a:pt x="80962" y="0"/>
                    </a:lnTo>
                    <a:lnTo>
                      <a:pt x="80962" y="121444"/>
                    </a:lnTo>
                    <a:lnTo>
                      <a:pt x="0" y="12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9637395" y="195548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结果分析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45015" y="22869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从结果到研究判断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924300" y="685800"/>
            <a:ext cx="2400300" cy="876300"/>
            <a:chOff x="3924300" y="685800"/>
            <a:chExt cx="2400300" cy="876300"/>
          </a:xfrm>
        </p:grpSpPr>
        <p:sp>
          <p:nvSpPr>
            <p:cNvPr id="46" name="Rectangle 46"/>
            <p:cNvSpPr/>
            <p:nvPr/>
          </p:nvSpPr>
          <p:spPr>
            <a:xfrm>
              <a:off x="3924300" y="685800"/>
              <a:ext cx="2400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4173141" y="952500"/>
              <a:ext cx="303609" cy="303610"/>
              <a:chOff x="4173141" y="952500"/>
              <a:chExt cx="303609" cy="30361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4274344" y="952500"/>
                <a:ext cx="202406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02406">
                    <a:moveTo>
                      <a:pt x="141684" y="0"/>
                    </a:moveTo>
                    <a:lnTo>
                      <a:pt x="202406" y="60722"/>
                    </a:lnTo>
                    <a:lnTo>
                      <a:pt x="60722" y="202406"/>
                    </a:lnTo>
                    <a:lnTo>
                      <a:pt x="0" y="202406"/>
                    </a:lnTo>
                    <a:lnTo>
                      <a:pt x="0" y="141684"/>
                    </a:lnTo>
                    <a:lnTo>
                      <a:pt x="141684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173141" y="972741"/>
                <a:ext cx="283369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283369">
                    <a:moveTo>
                      <a:pt x="0" y="0"/>
                    </a:moveTo>
                    <a:lnTo>
                      <a:pt x="0" y="283369"/>
                    </a:lnTo>
                    <a:lnTo>
                      <a:pt x="283369" y="283369"/>
                    </a:lnTo>
                    <a:lnTo>
                      <a:pt x="283369" y="161925"/>
                    </a:lnTo>
                    <a:lnTo>
                      <a:pt x="242888" y="161925"/>
                    </a:lnTo>
                    <a:lnTo>
                      <a:pt x="242888" y="242888"/>
                    </a:lnTo>
                    <a:lnTo>
                      <a:pt x="40481" y="242888"/>
                    </a:lnTo>
                    <a:lnTo>
                      <a:pt x="40481" y="40481"/>
                    </a:lnTo>
                    <a:lnTo>
                      <a:pt x="121444" y="40481"/>
                    </a:lnTo>
                    <a:lnTo>
                      <a:pt x="12144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4608195" y="88868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论文写作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615815" y="12201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结论必须回到证据链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238500" y="1562100"/>
            <a:ext cx="5715000" cy="3657600"/>
            <a:chOff x="3238500" y="1562100"/>
            <a:chExt cx="5715000" cy="3657600"/>
          </a:xfrm>
        </p:grpSpPr>
        <p:sp>
          <p:nvSpPr>
            <p:cNvPr id="53" name="Line 53"/>
            <p:cNvSpPr/>
            <p:nvPr/>
          </p:nvSpPr>
          <p:spPr>
            <a:xfrm>
              <a:off x="3238500" y="2190750"/>
              <a:ext cx="1809750" cy="800100"/>
            </a:xfrm>
            <a:custGeom>
              <a:avLst/>
              <a:gdLst/>
              <a:ahLst/>
              <a:cxnLst/>
              <a:rect l="l" t="t" r="r" b="b"/>
              <a:pathLst>
                <a:path w="1809750" h="800100">
                  <a:moveTo>
                    <a:pt x="0" y="0"/>
                  </a:moveTo>
                  <a:lnTo>
                    <a:pt x="1809750" y="80010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3238500" y="3752850"/>
              <a:ext cx="1809750" cy="781050"/>
            </a:xfrm>
            <a:custGeom>
              <a:avLst/>
              <a:gdLst/>
              <a:ahLst/>
              <a:cxnLst/>
              <a:rect l="l" t="t" r="r" b="b"/>
              <a:pathLst>
                <a:path w="1809750" h="781050">
                  <a:moveTo>
                    <a:pt x="0" y="781050"/>
                  </a:moveTo>
                  <a:lnTo>
                    <a:pt x="1809750" y="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124450" y="4400550"/>
              <a:ext cx="628650" cy="819150"/>
            </a:xfrm>
            <a:custGeom>
              <a:avLst/>
              <a:gdLst/>
              <a:ahLst/>
              <a:cxnLst/>
              <a:rect l="l" t="t" r="r" b="b"/>
              <a:pathLst>
                <a:path w="628650" h="819150">
                  <a:moveTo>
                    <a:pt x="0" y="819150"/>
                  </a:moveTo>
                  <a:lnTo>
                    <a:pt x="628650" y="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7143750" y="3752850"/>
              <a:ext cx="1809750" cy="781050"/>
            </a:xfrm>
            <a:custGeom>
              <a:avLst/>
              <a:gdLst/>
              <a:ahLst/>
              <a:cxnLst/>
              <a:rect l="l" t="t" r="r" b="b"/>
              <a:pathLst>
                <a:path w="1809750" h="781050">
                  <a:moveTo>
                    <a:pt x="1809750" y="7810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143750" y="2190750"/>
              <a:ext cx="1809750" cy="800100"/>
            </a:xfrm>
            <a:custGeom>
              <a:avLst/>
              <a:gdLst/>
              <a:ahLst/>
              <a:cxnLst/>
              <a:rect l="l" t="t" r="r" b="b"/>
              <a:pathLst>
                <a:path w="1809750" h="800100">
                  <a:moveTo>
                    <a:pt x="1809750" y="0"/>
                  </a:moveTo>
                  <a:lnTo>
                    <a:pt x="0" y="80010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5124450" y="1562100"/>
              <a:ext cx="628650" cy="800100"/>
            </a:xfrm>
            <a:custGeom>
              <a:avLst/>
              <a:gdLst/>
              <a:ahLst/>
              <a:cxnLst/>
              <a:rect l="l" t="t" r="r" b="b"/>
              <a:pathLst>
                <a:path w="628650" h="800100">
                  <a:moveTo>
                    <a:pt x="0" y="0"/>
                  </a:moveTo>
                  <a:lnTo>
                    <a:pt x="628650" y="80010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2571750" y="6191250"/>
            <a:ext cx="7048500" cy="381000"/>
            <a:chOff x="2571750" y="6191250"/>
            <a:chExt cx="7048500" cy="381000"/>
          </a:xfrm>
        </p:grpSpPr>
        <p:sp>
          <p:nvSpPr>
            <p:cNvPr id="60" name="Rectangle 60"/>
            <p:cNvSpPr/>
            <p:nvPr/>
          </p:nvSpPr>
          <p:spPr>
            <a:xfrm>
              <a:off x="2571750" y="6191250"/>
              <a:ext cx="7048500" cy="381000"/>
            </a:xfrm>
            <a:prstGeom prst="roundRect">
              <a:avLst>
                <a:gd name="adj" fmla="val 20000"/>
              </a:avLst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608046" y="6293168"/>
              <a:ext cx="49759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会用 AI 不等于会做研究，课程要补的是验证、记录和控制能力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94174" y="65322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2" grpId="0"/>
      <p:bldP spid="30" grpId="0"/>
      <p:bldP spid="37" grpId="0"/>
      <p:bldP spid="45" grpId="0"/>
      <p:bldP spid="52" grpId="0"/>
      <p:bldP spid="59" grpId="0"/>
      <p:bldP spid="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80060" y="318135"/>
            <a:ext cx="11197590" cy="977265"/>
            <a:chOff x="480060" y="318135"/>
            <a:chExt cx="11197590" cy="977265"/>
          </a:xfrm>
        </p:grpSpPr>
        <p:sp>
          <p:nvSpPr>
            <p:cNvPr id="3" name="TextBox 3"/>
            <p:cNvSpPr txBox="1"/>
            <p:nvPr/>
          </p:nvSpPr>
          <p:spPr>
            <a:xfrm>
              <a:off x="480060" y="318135"/>
              <a:ext cx="742159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缺的不是工具课，而是 AI 时代的科研方法课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" y="800100"/>
              <a:ext cx="111633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6755" y="968692"/>
              <a:ext cx="5434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已有课程各有侧重，本课程补足面向研究生科研训练的方法论框架。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14350" y="1581150"/>
            <a:ext cx="5334000" cy="3790950"/>
            <a:chOff x="514350" y="1581150"/>
            <a:chExt cx="5334000" cy="3790950"/>
          </a:xfrm>
        </p:grpSpPr>
        <p:sp>
          <p:nvSpPr>
            <p:cNvPr id="7" name="Rectangle 7"/>
            <p:cNvSpPr/>
            <p:nvPr/>
          </p:nvSpPr>
          <p:spPr>
            <a:xfrm>
              <a:off x="514350" y="1581150"/>
              <a:ext cx="5334000" cy="3790950"/>
            </a:xfrm>
            <a:prstGeom prst="roundRect">
              <a:avLst>
                <a:gd name="adj" fmla="val 2010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5335" y="1789748"/>
              <a:ext cx="27798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现有训练的结构性缺口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00100" y="2324100"/>
              <a:ext cx="4762500" cy="781050"/>
              <a:chOff x="800100" y="2324100"/>
              <a:chExt cx="4762500" cy="7810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800100" y="2324100"/>
                <a:ext cx="4762500" cy="781050"/>
              </a:xfrm>
              <a:prstGeom prst="roundRect">
                <a:avLst>
                  <a:gd name="adj" fmla="val 9756"/>
                </a:avLst>
              </a:prstGeom>
              <a:solidFill>
                <a:srgbClr val="F8ECEC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028700" y="2568034"/>
                <a:ext cx="285750" cy="255082"/>
                <a:chOff x="1028700" y="2568034"/>
                <a:chExt cx="285750" cy="255082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36036" y="2568034"/>
                  <a:ext cx="71079" cy="255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79" h="255082">
                      <a:moveTo>
                        <a:pt x="35719" y="0"/>
                      </a:moveTo>
                      <a:lnTo>
                        <a:pt x="0" y="250032"/>
                      </a:lnTo>
                      <a:lnTo>
                        <a:pt x="35360" y="255082"/>
                      </a:lnTo>
                      <a:lnTo>
                        <a:pt x="71079" y="5051"/>
                      </a:lnTo>
                      <a:lnTo>
                        <a:pt x="35719" y="0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226685" y="2633067"/>
                  <a:ext cx="87765" cy="12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65" h="125016">
                      <a:moveTo>
                        <a:pt x="25257" y="125016"/>
                      </a:moveTo>
                      <a:lnTo>
                        <a:pt x="0" y="99759"/>
                      </a:lnTo>
                      <a:lnTo>
                        <a:pt x="37251" y="62508"/>
                      </a:lnTo>
                      <a:lnTo>
                        <a:pt x="0" y="25257"/>
                      </a:lnTo>
                      <a:lnTo>
                        <a:pt x="25257" y="0"/>
                      </a:lnTo>
                      <a:lnTo>
                        <a:pt x="87765" y="62508"/>
                      </a:lnTo>
                      <a:lnTo>
                        <a:pt x="25257" y="125016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028700" y="2633067"/>
                  <a:ext cx="87765" cy="12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65" h="125016">
                      <a:moveTo>
                        <a:pt x="50514" y="62508"/>
                      </a:moveTo>
                      <a:lnTo>
                        <a:pt x="87765" y="99759"/>
                      </a:lnTo>
                      <a:lnTo>
                        <a:pt x="62508" y="125016"/>
                      </a:lnTo>
                      <a:lnTo>
                        <a:pt x="0" y="62508"/>
                      </a:lnTo>
                      <a:lnTo>
                        <a:pt x="62508" y="0"/>
                      </a:lnTo>
                      <a:lnTo>
                        <a:pt x="87765" y="25257"/>
                      </a:lnTo>
                      <a:lnTo>
                        <a:pt x="50514" y="62508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447800" y="2447925"/>
                <a:ext cx="115824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F2933"/>
                    </a:solidFill>
                    <a:latin typeface="Arial"/>
                    <a:ea typeface="SimHei"/>
                    <a:cs typeface="Arial"/>
                  </a:rPr>
                  <a:t>AI / ML 课程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51610" y="2766060"/>
                <a:ext cx="19507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多讲模型、算法、工程实现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00100" y="3295650"/>
              <a:ext cx="4762500" cy="781050"/>
              <a:chOff x="800100" y="3295650"/>
              <a:chExt cx="4762500" cy="7810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00100" y="3295650"/>
                <a:ext cx="4762500" cy="781050"/>
              </a:xfrm>
              <a:prstGeom prst="roundRect">
                <a:avLst>
                  <a:gd name="adj" fmla="val 9756"/>
                </a:avLst>
              </a:prstGeom>
              <a:solidFill>
                <a:srgbClr val="F8ECEC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28700" y="3559969"/>
                <a:ext cx="285750" cy="232172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32172">
                    <a:moveTo>
                      <a:pt x="0" y="0"/>
                    </a:moveTo>
                    <a:lnTo>
                      <a:pt x="64040" y="0"/>
                    </a:lnTo>
                    <a:cubicBezTo>
                      <a:pt x="80212" y="0"/>
                      <a:pt x="95721" y="6424"/>
                      <a:pt x="107156" y="17859"/>
                    </a:cubicBezTo>
                    <a:cubicBezTo>
                      <a:pt x="118591" y="29295"/>
                      <a:pt x="125016" y="44804"/>
                      <a:pt x="125016" y="60976"/>
                    </a:cubicBezTo>
                    <a:lnTo>
                      <a:pt x="125016" y="160734"/>
                    </a:lnTo>
                    <a:lnTo>
                      <a:pt x="160734" y="160734"/>
                    </a:lnTo>
                    <a:lnTo>
                      <a:pt x="160734" y="60976"/>
                    </a:lnTo>
                    <a:cubicBezTo>
                      <a:pt x="160734" y="44804"/>
                      <a:pt x="167159" y="29295"/>
                      <a:pt x="178594" y="17859"/>
                    </a:cubicBezTo>
                    <a:cubicBezTo>
                      <a:pt x="190029" y="6424"/>
                      <a:pt x="205538" y="0"/>
                      <a:pt x="221710" y="0"/>
                    </a:cubicBezTo>
                    <a:lnTo>
                      <a:pt x="285750" y="0"/>
                    </a:lnTo>
                    <a:lnTo>
                      <a:pt x="285750" y="196453"/>
                    </a:lnTo>
                    <a:lnTo>
                      <a:pt x="196453" y="196453"/>
                    </a:lnTo>
                    <a:lnTo>
                      <a:pt x="160734" y="232172"/>
                    </a:lnTo>
                    <a:lnTo>
                      <a:pt x="125016" y="232172"/>
                    </a:lnTo>
                    <a:lnTo>
                      <a:pt x="89297" y="196453"/>
                    </a:lnTo>
                    <a:lnTo>
                      <a:pt x="0" y="1964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447800" y="34194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F2933"/>
                    </a:solidFill>
                    <a:latin typeface="Arial"/>
                    <a:ea typeface="SimHei"/>
                    <a:cs typeface="Arial"/>
                  </a:rPr>
                  <a:t>传统科研训练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51610" y="3737610"/>
                <a:ext cx="39429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讲文献、实验、写作，但较少处理 AI 介入后的流程变化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0100" y="4267200"/>
              <a:ext cx="4762500" cy="781050"/>
              <a:chOff x="800100" y="4267200"/>
              <a:chExt cx="4762500" cy="7810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00100" y="4267200"/>
                <a:ext cx="4762500" cy="781050"/>
              </a:xfrm>
              <a:prstGeom prst="roundRect">
                <a:avLst>
                  <a:gd name="adj" fmla="val 9756"/>
                </a:avLst>
              </a:prstGeom>
              <a:solidFill>
                <a:srgbClr val="8C1515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1046559" y="4513659"/>
                <a:ext cx="250032" cy="250032"/>
                <a:chOff x="1046559" y="4513659"/>
                <a:chExt cx="250032" cy="250032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046559" y="4513659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71438" y="35719"/>
                      </a:moveTo>
                      <a:cubicBezTo>
                        <a:pt x="71438" y="55446"/>
                        <a:pt x="55446" y="71438"/>
                        <a:pt x="35719" y="71438"/>
                      </a:cubicBezTo>
                      <a:cubicBezTo>
                        <a:pt x="15992" y="71438"/>
                        <a:pt x="0" y="55446"/>
                        <a:pt x="0" y="35719"/>
                      </a:cubicBezTo>
                      <a:cubicBezTo>
                        <a:pt x="0" y="15992"/>
                        <a:pt x="15992" y="0"/>
                        <a:pt x="35719" y="0"/>
                      </a:cubicBezTo>
                      <a:cubicBezTo>
                        <a:pt x="55446" y="0"/>
                        <a:pt x="71438" y="15992"/>
                        <a:pt x="71438" y="35719"/>
                      </a:cubicBez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225153" y="4692253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71438" y="35719"/>
                      </a:moveTo>
                      <a:cubicBezTo>
                        <a:pt x="71438" y="55446"/>
                        <a:pt x="55446" y="71438"/>
                        <a:pt x="35719" y="71438"/>
                      </a:cubicBezTo>
                      <a:cubicBezTo>
                        <a:pt x="15991" y="71438"/>
                        <a:pt x="0" y="55446"/>
                        <a:pt x="0" y="35719"/>
                      </a:cubicBezTo>
                      <a:cubicBezTo>
                        <a:pt x="0" y="15991"/>
                        <a:pt x="15991" y="0"/>
                        <a:pt x="35719" y="0"/>
                      </a:cubicBezTo>
                      <a:cubicBezTo>
                        <a:pt x="55446" y="0"/>
                        <a:pt x="71438" y="15991"/>
                        <a:pt x="71438" y="35719"/>
                      </a:cubicBez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064419" y="4513659"/>
                  <a:ext cx="214312" cy="250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50031">
                      <a:moveTo>
                        <a:pt x="125016" y="62508"/>
                      </a:moveTo>
                      <a:cubicBezTo>
                        <a:pt x="125016" y="47713"/>
                        <a:pt x="137009" y="35719"/>
                        <a:pt x="151805" y="35719"/>
                      </a:cubicBezTo>
                      <a:cubicBezTo>
                        <a:pt x="166599" y="35719"/>
                        <a:pt x="178594" y="47713"/>
                        <a:pt x="178594" y="62508"/>
                      </a:cubicBezTo>
                      <a:lnTo>
                        <a:pt x="178594" y="142875"/>
                      </a:lnTo>
                      <a:lnTo>
                        <a:pt x="214312" y="142875"/>
                      </a:lnTo>
                      <a:lnTo>
                        <a:pt x="214312" y="62508"/>
                      </a:lnTo>
                      <a:cubicBezTo>
                        <a:pt x="214312" y="27986"/>
                        <a:pt x="186327" y="0"/>
                        <a:pt x="151805" y="0"/>
                      </a:cubicBezTo>
                      <a:cubicBezTo>
                        <a:pt x="117283" y="0"/>
                        <a:pt x="89297" y="27986"/>
                        <a:pt x="89297" y="62508"/>
                      </a:cubicBezTo>
                      <a:lnTo>
                        <a:pt x="89297" y="187523"/>
                      </a:lnTo>
                      <a:cubicBezTo>
                        <a:pt x="89297" y="202318"/>
                        <a:pt x="77303" y="214312"/>
                        <a:pt x="62508" y="214312"/>
                      </a:cubicBezTo>
                      <a:cubicBezTo>
                        <a:pt x="47713" y="214312"/>
                        <a:pt x="35719" y="202318"/>
                        <a:pt x="35719" y="187523"/>
                      </a:cubicBezTo>
                      <a:lnTo>
                        <a:pt x="35719" y="107156"/>
                      </a:lnTo>
                      <a:lnTo>
                        <a:pt x="0" y="107156"/>
                      </a:lnTo>
                      <a:lnTo>
                        <a:pt x="0" y="187523"/>
                      </a:lnTo>
                      <a:cubicBezTo>
                        <a:pt x="0" y="222046"/>
                        <a:pt x="27986" y="250031"/>
                        <a:pt x="62508" y="250031"/>
                      </a:cubicBezTo>
                      <a:cubicBezTo>
                        <a:pt x="97030" y="250031"/>
                        <a:pt x="125016" y="222046"/>
                        <a:pt x="125016" y="187523"/>
                      </a:cubicBezTo>
                      <a:lnTo>
                        <a:pt x="125016" y="62508"/>
                      </a:ln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447800" y="439102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本课程补足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451610" y="4709160"/>
                <a:ext cx="40309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>
                        <a:alphaMod val="86000"/>
                      </a:srgbClr>
                    </a:solidFill>
                    <a:latin typeface="Arial"/>
                    <a:ea typeface="Microsoft YaHei"/>
                    <a:cs typeface="Arial"/>
                  </a:rPr>
                  <a:t>八阶段研究链路、四个研究门、证据充分性与全过程留痕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6210300" y="1581150"/>
            <a:ext cx="5467350" cy="1809750"/>
            <a:chOff x="6210300" y="1581150"/>
            <a:chExt cx="5467350" cy="1809750"/>
          </a:xfrm>
        </p:grpSpPr>
        <p:sp>
          <p:nvSpPr>
            <p:cNvPr id="31" name="Rectangle 31"/>
            <p:cNvSpPr/>
            <p:nvPr/>
          </p:nvSpPr>
          <p:spPr>
            <a:xfrm>
              <a:off x="6210300" y="1581150"/>
              <a:ext cx="5467350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516426" y="1943100"/>
              <a:ext cx="340247" cy="342900"/>
              <a:chOff x="6516426" y="1943100"/>
              <a:chExt cx="340247" cy="3429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516426" y="2013995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31242" y="0"/>
                    </a:moveTo>
                    <a:cubicBezTo>
                      <a:pt x="14713" y="22790"/>
                      <a:pt x="3656" y="49808"/>
                      <a:pt x="0" y="79124"/>
                    </a:cubicBezTo>
                    <a:lnTo>
                      <a:pt x="340247" y="79124"/>
                    </a:lnTo>
                    <a:cubicBezTo>
                      <a:pt x="336591" y="49808"/>
                      <a:pt x="325534" y="22790"/>
                      <a:pt x="309005" y="0"/>
                    </a:cubicBezTo>
                    <a:cubicBezTo>
                      <a:pt x="308113" y="499"/>
                      <a:pt x="307209" y="998"/>
                      <a:pt x="306294" y="1498"/>
                    </a:cubicBezTo>
                    <a:cubicBezTo>
                      <a:pt x="274460" y="18861"/>
                      <a:pt x="228084" y="36261"/>
                      <a:pt x="170123" y="36261"/>
                    </a:cubicBezTo>
                    <a:cubicBezTo>
                      <a:pt x="112162" y="36261"/>
                      <a:pt x="65785" y="18861"/>
                      <a:pt x="33952" y="1498"/>
                    </a:cubicBezTo>
                    <a:cubicBezTo>
                      <a:pt x="33037" y="999"/>
                      <a:pt x="32134" y="499"/>
                      <a:pt x="31242" y="0"/>
                    </a:cubicBez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78188" y="1943100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216722" y="38579"/>
                    </a:moveTo>
                    <a:cubicBezTo>
                      <a:pt x="190045" y="51981"/>
                      <a:pt x="153314" y="64294"/>
                      <a:pt x="108361" y="64294"/>
                    </a:cubicBezTo>
                    <a:cubicBezTo>
                      <a:pt x="63409" y="64294"/>
                      <a:pt x="26679" y="51981"/>
                      <a:pt x="0" y="38579"/>
                    </a:cubicBezTo>
                    <a:cubicBezTo>
                      <a:pt x="29534" y="14464"/>
                      <a:pt x="67259" y="0"/>
                      <a:pt x="108362" y="0"/>
                    </a:cubicBezTo>
                    <a:cubicBezTo>
                      <a:pt x="149464" y="0"/>
                      <a:pt x="187188" y="14464"/>
                      <a:pt x="216722" y="38579"/>
                    </a:cubicBez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16426" y="2135981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0" y="0"/>
                    </a:moveTo>
                    <a:cubicBezTo>
                      <a:pt x="3656" y="29316"/>
                      <a:pt x="14713" y="56334"/>
                      <a:pt x="31242" y="79124"/>
                    </a:cubicBezTo>
                    <a:cubicBezTo>
                      <a:pt x="32134" y="78625"/>
                      <a:pt x="33037" y="78125"/>
                      <a:pt x="33952" y="77626"/>
                    </a:cubicBezTo>
                    <a:cubicBezTo>
                      <a:pt x="65786" y="60263"/>
                      <a:pt x="112163" y="42862"/>
                      <a:pt x="170124" y="42862"/>
                    </a:cubicBezTo>
                    <a:cubicBezTo>
                      <a:pt x="228084" y="42862"/>
                      <a:pt x="274462" y="60263"/>
                      <a:pt x="306294" y="77626"/>
                    </a:cubicBezTo>
                    <a:cubicBezTo>
                      <a:pt x="307211" y="78125"/>
                      <a:pt x="308113" y="78625"/>
                      <a:pt x="309005" y="79124"/>
                    </a:cubicBezTo>
                    <a:cubicBezTo>
                      <a:pt x="325534" y="56334"/>
                      <a:pt x="336591" y="29316"/>
                      <a:pt x="3402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78189" y="2221706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108361" y="64294"/>
                    </a:moveTo>
                    <a:cubicBezTo>
                      <a:pt x="67259" y="64294"/>
                      <a:pt x="29534" y="49830"/>
                      <a:pt x="0" y="25715"/>
                    </a:cubicBezTo>
                    <a:cubicBezTo>
                      <a:pt x="26679" y="12312"/>
                      <a:pt x="63409" y="0"/>
                      <a:pt x="108361" y="0"/>
                    </a:cubicBezTo>
                    <a:cubicBezTo>
                      <a:pt x="153313" y="0"/>
                      <a:pt x="190044" y="12312"/>
                      <a:pt x="216722" y="25715"/>
                    </a:cubicBezTo>
                    <a:cubicBezTo>
                      <a:pt x="187188" y="49830"/>
                      <a:pt x="149464" y="64294"/>
                      <a:pt x="108361" y="64294"/>
                    </a:cubicBez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006590" y="1863090"/>
              <a:ext cx="256603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国际参照说明方向重要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98908" y="2434114"/>
              <a:ext cx="42319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Berkeley、MIT、Johns Hopkins、Cornell、UNL 等课程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98908" y="2700814"/>
              <a:ext cx="36113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多聚焦 Agentic AI、应用工作流或自动化实践。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98908" y="2967514"/>
              <a:ext cx="39428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本课程把它们转化为研究生可审查的科研训练框架。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10300" y="3638550"/>
            <a:ext cx="5467350" cy="1733550"/>
            <a:chOff x="6210300" y="3638550"/>
            <a:chExt cx="5467350" cy="1733550"/>
          </a:xfrm>
        </p:grpSpPr>
        <p:sp>
          <p:nvSpPr>
            <p:cNvPr id="42" name="Rectangle 42"/>
            <p:cNvSpPr/>
            <p:nvPr/>
          </p:nvSpPr>
          <p:spPr>
            <a:xfrm>
              <a:off x="6210300" y="3638550"/>
              <a:ext cx="5467350" cy="1733550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536531" y="40005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71797" y="287027"/>
                  </a:moveTo>
                  <a:lnTo>
                    <a:pt x="150019" y="342900"/>
                  </a:lnTo>
                  <a:lnTo>
                    <a:pt x="228241" y="287027"/>
                  </a:lnTo>
                  <a:cubicBezTo>
                    <a:pt x="273298" y="254843"/>
                    <a:pt x="300038" y="202883"/>
                    <a:pt x="300038" y="147513"/>
                  </a:cubicBezTo>
                  <a:lnTo>
                    <a:pt x="300038" y="64294"/>
                  </a:lnTo>
                  <a:lnTo>
                    <a:pt x="150019" y="0"/>
                  </a:lnTo>
                  <a:lnTo>
                    <a:pt x="0" y="64294"/>
                  </a:lnTo>
                  <a:lnTo>
                    <a:pt x="0" y="147513"/>
                  </a:lnTo>
                  <a:cubicBezTo>
                    <a:pt x="0" y="202883"/>
                    <a:pt x="26740" y="254843"/>
                    <a:pt x="71797" y="287027"/>
                  </a:cubicBezTo>
                  <a:close/>
                </a:path>
              </a:pathLst>
            </a:custGeom>
            <a:solidFill>
              <a:srgbClr val="C8161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06590" y="392049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161E"/>
                  </a:solidFill>
                  <a:latin typeface="Arial"/>
                  <a:ea typeface="SimHei"/>
                  <a:cs typeface="Arial"/>
                </a:rPr>
                <a:t>风险必须具体化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498908" y="4491514"/>
              <a:ext cx="3942874" cy="544830"/>
              <a:chOff x="6498908" y="4491514"/>
              <a:chExt cx="3942874" cy="544830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6498908" y="4491514"/>
                <a:ext cx="323728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• 幻觉引用、不可追溯结论、实验记录缺失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498908" y="4777264"/>
                <a:ext cx="39428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• 只保留成功结果、伦理边界不清、AI 使用披露不足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2032040" y="5695950"/>
            <a:ext cx="8127921" cy="514350"/>
            <a:chOff x="2032040" y="5695950"/>
            <a:chExt cx="8127921" cy="514350"/>
          </a:xfrm>
        </p:grpSpPr>
        <p:sp>
          <p:nvSpPr>
            <p:cNvPr id="49" name="Rectangle 49"/>
            <p:cNvSpPr/>
            <p:nvPr/>
          </p:nvSpPr>
          <p:spPr>
            <a:xfrm>
              <a:off x="2057400" y="5695950"/>
              <a:ext cx="8077200" cy="514350"/>
            </a:xfrm>
            <a:prstGeom prst="roundRect">
              <a:avLst>
                <a:gd name="adj" fmla="val 14815"/>
              </a:avLst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32040" y="5841682"/>
              <a:ext cx="81279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课程必要性落在研究生培养目标：独立科研能力、前沿实践能力、学术规范意识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94174" y="65322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1" grpId="0"/>
      <p:bldP spid="48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80060" y="318135"/>
            <a:ext cx="11197590" cy="977265"/>
            <a:chOff x="480060" y="318135"/>
            <a:chExt cx="11197590" cy="977265"/>
          </a:xfrm>
        </p:grpSpPr>
        <p:sp>
          <p:nvSpPr>
            <p:cNvPr id="3" name="TextBox 3"/>
            <p:cNvSpPr txBox="1"/>
            <p:nvPr/>
          </p:nvSpPr>
          <p:spPr>
            <a:xfrm>
              <a:off x="480060" y="318135"/>
              <a:ext cx="57959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课程定位：AI 增强的科研闭环训练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" y="800100"/>
              <a:ext cx="111633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6755" y="968692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不是按工具清单组织，而是按科研动作组织。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1695450"/>
            <a:ext cx="7334250" cy="1485900"/>
            <a:chOff x="762000" y="1695450"/>
            <a:chExt cx="7334250" cy="1485900"/>
          </a:xfrm>
        </p:grpSpPr>
        <p:sp>
          <p:nvSpPr>
            <p:cNvPr id="7" name="Rectangle 7"/>
            <p:cNvSpPr/>
            <p:nvPr/>
          </p:nvSpPr>
          <p:spPr>
            <a:xfrm>
              <a:off x="762000" y="1695450"/>
              <a:ext cx="7334250" cy="1485900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3940" y="19202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课程内容比例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66800" y="2476500"/>
              <a:ext cx="4762500" cy="323850"/>
            </a:xfrm>
            <a:prstGeom prst="roundRect">
              <a:avLst>
                <a:gd name="adj" fmla="val 50000"/>
              </a:avLst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829300" y="2476500"/>
              <a:ext cx="1676400" cy="323850"/>
            </a:xfrm>
            <a:prstGeom prst="roundRect">
              <a:avLst>
                <a:gd name="adj" fmla="val 50000"/>
              </a:avLst>
            </a:prstGeom>
            <a:solidFill>
              <a:srgbClr val="B68B2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27280" y="2559368"/>
              <a:ext cx="20415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通用科研工作流 70%-80%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6775" y="2559368"/>
              <a:ext cx="13214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自动化 20%-30%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3465" y="2915602"/>
              <a:ext cx="4178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方法论主线优先，ML 实验自动化和 Research Agent 是强化模块。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420100" y="1695450"/>
            <a:ext cx="3009900" cy="1485900"/>
            <a:chOff x="8420100" y="1695450"/>
            <a:chExt cx="3009900" cy="1485900"/>
          </a:xfrm>
        </p:grpSpPr>
        <p:sp>
          <p:nvSpPr>
            <p:cNvPr id="15" name="Rectangle 15"/>
            <p:cNvSpPr/>
            <p:nvPr/>
          </p:nvSpPr>
          <p:spPr>
            <a:xfrm>
              <a:off x="8420100" y="1695450"/>
              <a:ext cx="3009900" cy="1485900"/>
            </a:xfrm>
            <a:prstGeom prst="roundRect">
              <a:avLst>
                <a:gd name="adj" fmla="val 5128"/>
              </a:avLst>
            </a:prstGeom>
            <a:solidFill>
              <a:srgbClr val="8C1515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705850" y="2057400"/>
              <a:ext cx="361950" cy="361950"/>
              <a:chOff x="8705850" y="2057400"/>
              <a:chExt cx="361950" cy="3619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796338" y="2147888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90488" y="0"/>
                    </a:moveTo>
                    <a:cubicBezTo>
                      <a:pt x="40513" y="0"/>
                      <a:pt x="0" y="40513"/>
                      <a:pt x="0" y="90488"/>
                    </a:cubicBezTo>
                    <a:cubicBezTo>
                      <a:pt x="0" y="140461"/>
                      <a:pt x="40513" y="180975"/>
                      <a:pt x="90488" y="180975"/>
                    </a:cubicBezTo>
                    <a:cubicBezTo>
                      <a:pt x="140461" y="180975"/>
                      <a:pt x="180975" y="140461"/>
                      <a:pt x="180975" y="90488"/>
                    </a:cubicBezTo>
                    <a:cubicBezTo>
                      <a:pt x="180975" y="40513"/>
                      <a:pt x="140461" y="0"/>
                      <a:pt x="90488" y="0"/>
                    </a:cubicBezTo>
                    <a:close/>
                    <a:moveTo>
                      <a:pt x="45244" y="90488"/>
                    </a:moveTo>
                    <a:cubicBezTo>
                      <a:pt x="45244" y="65500"/>
                      <a:pt x="65500" y="45244"/>
                      <a:pt x="90488" y="45244"/>
                    </a:cubicBezTo>
                    <a:cubicBezTo>
                      <a:pt x="115475" y="45244"/>
                      <a:pt x="135731" y="65500"/>
                      <a:pt x="135731" y="90488"/>
                    </a:cubicBezTo>
                    <a:cubicBezTo>
                      <a:pt x="135731" y="115475"/>
                      <a:pt x="115475" y="135731"/>
                      <a:pt x="90488" y="135731"/>
                    </a:cubicBezTo>
                    <a:cubicBezTo>
                      <a:pt x="65500" y="135731"/>
                      <a:pt x="45244" y="115475"/>
                      <a:pt x="45244" y="90488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05850" y="2057400"/>
                <a:ext cx="3619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361950">
                    <a:moveTo>
                      <a:pt x="180975" y="0"/>
                    </a:moveTo>
                    <a:cubicBezTo>
                      <a:pt x="81025" y="0"/>
                      <a:pt x="0" y="81025"/>
                      <a:pt x="0" y="180975"/>
                    </a:cubicBezTo>
                    <a:cubicBezTo>
                      <a:pt x="0" y="280925"/>
                      <a:pt x="81025" y="361950"/>
                      <a:pt x="180975" y="361950"/>
                    </a:cubicBezTo>
                    <a:cubicBezTo>
                      <a:pt x="280925" y="361950"/>
                      <a:pt x="361950" y="280925"/>
                      <a:pt x="361950" y="180975"/>
                    </a:cubicBezTo>
                    <a:cubicBezTo>
                      <a:pt x="361950" y="81025"/>
                      <a:pt x="280925" y="0"/>
                      <a:pt x="180975" y="0"/>
                    </a:cubicBezTo>
                    <a:close/>
                    <a:moveTo>
                      <a:pt x="45244" y="180975"/>
                    </a:moveTo>
                    <a:cubicBezTo>
                      <a:pt x="45244" y="106013"/>
                      <a:pt x="106013" y="45244"/>
                      <a:pt x="180975" y="45244"/>
                    </a:cubicBezTo>
                    <a:cubicBezTo>
                      <a:pt x="255937" y="45244"/>
                      <a:pt x="316706" y="106013"/>
                      <a:pt x="316706" y="180975"/>
                    </a:cubicBezTo>
                    <a:cubicBezTo>
                      <a:pt x="316706" y="255937"/>
                      <a:pt x="255937" y="316706"/>
                      <a:pt x="180975" y="316706"/>
                    </a:cubicBezTo>
                    <a:cubicBezTo>
                      <a:pt x="106013" y="316706"/>
                      <a:pt x="45244" y="255937"/>
                      <a:pt x="45244" y="180975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9218295" y="203168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核心原则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88705" y="25784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每个工具必须服务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88705" y="28641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一个明确科研动作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3581400"/>
            <a:ext cx="10668000" cy="1733550"/>
            <a:chOff x="762000" y="3581400"/>
            <a:chExt cx="10668000" cy="1733550"/>
          </a:xfrm>
        </p:grpSpPr>
        <p:sp>
          <p:nvSpPr>
            <p:cNvPr id="23" name="Rectangle 23"/>
            <p:cNvSpPr/>
            <p:nvPr/>
          </p:nvSpPr>
          <p:spPr>
            <a:xfrm>
              <a:off x="762000" y="3581400"/>
              <a:ext cx="10668000" cy="1733550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3940" y="3806190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工具服务的五类科研动作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217771" y="4381500"/>
              <a:ext cx="574358" cy="871538"/>
              <a:chOff x="1217771" y="4381500"/>
              <a:chExt cx="574358" cy="871538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257300" y="4381500"/>
                <a:ext cx="495300" cy="495300"/>
              </a:xfrm>
              <a:prstGeom prst="ellipse">
                <a:avLst/>
              </a:prstGeom>
              <a:solidFill>
                <a:srgbClr val="F8ECEC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352550" y="4514850"/>
                <a:ext cx="3048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47650">
                    <a:moveTo>
                      <a:pt x="0" y="0"/>
                    </a:moveTo>
                    <a:lnTo>
                      <a:pt x="68309" y="0"/>
                    </a:lnTo>
                    <a:cubicBezTo>
                      <a:pt x="85559" y="0"/>
                      <a:pt x="102102" y="6852"/>
                      <a:pt x="114300" y="19050"/>
                    </a:cubicBezTo>
                    <a:cubicBezTo>
                      <a:pt x="126498" y="31248"/>
                      <a:pt x="133350" y="47791"/>
                      <a:pt x="133350" y="65041"/>
                    </a:cubicBezTo>
                    <a:lnTo>
                      <a:pt x="133350" y="171450"/>
                    </a:lnTo>
                    <a:lnTo>
                      <a:pt x="171450" y="171450"/>
                    </a:lnTo>
                    <a:lnTo>
                      <a:pt x="171450" y="65041"/>
                    </a:lnTo>
                    <a:cubicBezTo>
                      <a:pt x="171450" y="47791"/>
                      <a:pt x="178302" y="31248"/>
                      <a:pt x="190500" y="19050"/>
                    </a:cubicBezTo>
                    <a:cubicBezTo>
                      <a:pt x="202698" y="6852"/>
                      <a:pt x="219241" y="0"/>
                      <a:pt x="236491" y="0"/>
                    </a:cubicBezTo>
                    <a:lnTo>
                      <a:pt x="304800" y="0"/>
                    </a:lnTo>
                    <a:lnTo>
                      <a:pt x="304800" y="209550"/>
                    </a:lnTo>
                    <a:lnTo>
                      <a:pt x="209550" y="209550"/>
                    </a:lnTo>
                    <a:lnTo>
                      <a:pt x="171450" y="247650"/>
                    </a:lnTo>
                    <a:lnTo>
                      <a:pt x="133350" y="247650"/>
                    </a:lnTo>
                    <a:lnTo>
                      <a:pt x="95250" y="209550"/>
                    </a:lnTo>
                    <a:lnTo>
                      <a:pt x="0" y="2095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17771" y="4978718"/>
                <a:ext cx="57435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SimHei"/>
                    <a:cs typeface="Arial"/>
                  </a:rPr>
                  <a:t>找证据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3141821" y="4381500"/>
              <a:ext cx="574358" cy="871538"/>
              <a:chOff x="3141821" y="4381500"/>
              <a:chExt cx="574358" cy="871538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3181350" y="4381500"/>
                <a:ext cx="495300" cy="495300"/>
              </a:xfrm>
              <a:prstGeom prst="ellipse">
                <a:avLst/>
              </a:prstGeom>
              <a:solidFill>
                <a:srgbClr val="F8ECEC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3276600" y="4476750"/>
                <a:ext cx="304800" cy="304800"/>
                <a:chOff x="3276600" y="4476750"/>
                <a:chExt cx="304800" cy="3048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3352800" y="4552950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76200" y="0"/>
                      </a:moveTo>
                      <a:cubicBezTo>
                        <a:pt x="34116" y="0"/>
                        <a:pt x="0" y="34116"/>
                        <a:pt x="0" y="76200"/>
                      </a:cubicBezTo>
                      <a:cubicBezTo>
                        <a:pt x="0" y="118283"/>
                        <a:pt x="34116" y="152400"/>
                        <a:pt x="76200" y="152400"/>
                      </a:cubicBezTo>
                      <a:cubicBezTo>
                        <a:pt x="118283" y="152400"/>
                        <a:pt x="152400" y="118283"/>
                        <a:pt x="152400" y="76200"/>
                      </a:cubicBezTo>
                      <a:cubicBezTo>
                        <a:pt x="152400" y="34116"/>
                        <a:pt x="118283" y="0"/>
                        <a:pt x="76200" y="0"/>
                      </a:cubicBezTo>
                      <a:close/>
                      <a:moveTo>
                        <a:pt x="38100" y="76200"/>
                      </a:moveTo>
                      <a:cubicBezTo>
                        <a:pt x="38100" y="55158"/>
                        <a:pt x="55158" y="38100"/>
                        <a:pt x="76200" y="38100"/>
                      </a:cubicBezTo>
                      <a:cubicBezTo>
                        <a:pt x="97242" y="38100"/>
                        <a:pt x="114300" y="55158"/>
                        <a:pt x="114300" y="76200"/>
                      </a:cubicBezTo>
                      <a:cubicBezTo>
                        <a:pt x="114300" y="97242"/>
                        <a:pt x="97242" y="114300"/>
                        <a:pt x="76200" y="114300"/>
                      </a:cubicBezTo>
                      <a:cubicBezTo>
                        <a:pt x="55158" y="114300"/>
                        <a:pt x="38100" y="97242"/>
                        <a:pt x="38100" y="76200"/>
                      </a:cubicBez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276600" y="4476750"/>
                  <a:ext cx="3048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04800">
                      <a:moveTo>
                        <a:pt x="152400" y="0"/>
                      </a:moveTo>
                      <a:cubicBezTo>
                        <a:pt x="68232" y="0"/>
                        <a:pt x="0" y="68232"/>
                        <a:pt x="0" y="152400"/>
                      </a:cubicBezTo>
                      <a:cubicBezTo>
                        <a:pt x="0" y="236569"/>
                        <a:pt x="68232" y="304800"/>
                        <a:pt x="152400" y="304800"/>
                      </a:cubicBezTo>
                      <a:cubicBezTo>
                        <a:pt x="236569" y="304800"/>
                        <a:pt x="304800" y="236569"/>
                        <a:pt x="304800" y="152400"/>
                      </a:cubicBezTo>
                      <a:cubicBezTo>
                        <a:pt x="304800" y="68232"/>
                        <a:pt x="236569" y="0"/>
                        <a:pt x="152400" y="0"/>
                      </a:cubicBezTo>
                      <a:close/>
                      <a:moveTo>
                        <a:pt x="38100" y="152400"/>
                      </a:moveTo>
                      <a:cubicBezTo>
                        <a:pt x="38100" y="89274"/>
                        <a:pt x="89274" y="38100"/>
                        <a:pt x="152400" y="38100"/>
                      </a:cubicBezTo>
                      <a:cubicBezTo>
                        <a:pt x="215526" y="38100"/>
                        <a:pt x="266700" y="89274"/>
                        <a:pt x="266700" y="152400"/>
                      </a:cubicBezTo>
                      <a:cubicBezTo>
                        <a:pt x="266700" y="215526"/>
                        <a:pt x="215526" y="266700"/>
                        <a:pt x="152400" y="266700"/>
                      </a:cubicBezTo>
                      <a:cubicBezTo>
                        <a:pt x="89274" y="266700"/>
                        <a:pt x="38100" y="215526"/>
                        <a:pt x="38100" y="152400"/>
                      </a:cubicBez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3141821" y="4978718"/>
                <a:ext cx="57435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SimHei"/>
                    <a:cs typeface="Arial"/>
                  </a:rPr>
                  <a:t>定问题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065871" y="4381500"/>
              <a:ext cx="574358" cy="871538"/>
              <a:chOff x="5065871" y="4381500"/>
              <a:chExt cx="574358" cy="871538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5105400" y="4381500"/>
                <a:ext cx="495300" cy="495300"/>
              </a:xfrm>
              <a:prstGeom prst="ellipse">
                <a:avLst/>
              </a:prstGeom>
              <a:solidFill>
                <a:srgbClr val="F8ECEC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238750" y="4476750"/>
                <a:ext cx="228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04800">
                    <a:moveTo>
                      <a:pt x="57150" y="219075"/>
                    </a:moveTo>
                    <a:lnTo>
                      <a:pt x="57150" y="276225"/>
                    </a:lnTo>
                    <a:lnTo>
                      <a:pt x="85725" y="304800"/>
                    </a:lnTo>
                    <a:lnTo>
                      <a:pt x="142875" y="304800"/>
                    </a:lnTo>
                    <a:lnTo>
                      <a:pt x="171450" y="276225"/>
                    </a:lnTo>
                    <a:lnTo>
                      <a:pt x="171450" y="219075"/>
                    </a:lnTo>
                    <a:lnTo>
                      <a:pt x="195064" y="195461"/>
                    </a:lnTo>
                    <a:cubicBezTo>
                      <a:pt x="216538" y="173988"/>
                      <a:pt x="228600" y="144807"/>
                      <a:pt x="228600" y="114440"/>
                    </a:cubicBezTo>
                    <a:cubicBezTo>
                      <a:pt x="228600" y="51314"/>
                      <a:pt x="177426" y="0"/>
                      <a:pt x="114300" y="0"/>
                    </a:cubicBezTo>
                    <a:cubicBezTo>
                      <a:pt x="51174" y="0"/>
                      <a:pt x="0" y="51314"/>
                      <a:pt x="0" y="114440"/>
                    </a:cubicBezTo>
                    <a:cubicBezTo>
                      <a:pt x="0" y="144807"/>
                      <a:pt x="12063" y="173988"/>
                      <a:pt x="33536" y="195461"/>
                    </a:cubicBezTo>
                    <a:lnTo>
                      <a:pt x="57150" y="219075"/>
                    </a:lnTo>
                    <a:close/>
                    <a:moveTo>
                      <a:pt x="95250" y="188099"/>
                    </a:moveTo>
                    <a:lnTo>
                      <a:pt x="95250" y="114300"/>
                    </a:lnTo>
                    <a:lnTo>
                      <a:pt x="133350" y="114300"/>
                    </a:lnTo>
                    <a:lnTo>
                      <a:pt x="133350" y="188099"/>
                    </a:lnTo>
                    <a:cubicBezTo>
                      <a:pt x="166215" y="179640"/>
                      <a:pt x="190500" y="149806"/>
                      <a:pt x="190500" y="114300"/>
                    </a:cubicBezTo>
                    <a:cubicBezTo>
                      <a:pt x="190500" y="72216"/>
                      <a:pt x="156383" y="38100"/>
                      <a:pt x="114300" y="38100"/>
                    </a:cubicBezTo>
                    <a:cubicBezTo>
                      <a:pt x="72216" y="38100"/>
                      <a:pt x="38100" y="72216"/>
                      <a:pt x="38100" y="114300"/>
                    </a:cubicBezTo>
                    <a:cubicBezTo>
                      <a:pt x="38100" y="149806"/>
                      <a:pt x="62384" y="179640"/>
                      <a:pt x="95250" y="188099"/>
                    </a:cubicBez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065871" y="4978718"/>
                <a:ext cx="57435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SimHei"/>
                    <a:cs typeface="Arial"/>
                  </a:rPr>
                  <a:t>设假设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989921" y="4381500"/>
              <a:ext cx="574358" cy="871538"/>
              <a:chOff x="6989921" y="4381500"/>
              <a:chExt cx="574358" cy="871538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7029450" y="4381500"/>
                <a:ext cx="495300" cy="495300"/>
              </a:xfrm>
              <a:prstGeom prst="ellipse">
                <a:avLst/>
              </a:prstGeom>
              <a:solidFill>
                <a:srgbClr val="F8ECEC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7124700" y="4493106"/>
                <a:ext cx="304800" cy="272088"/>
                <a:chOff x="7124700" y="4493106"/>
                <a:chExt cx="304800" cy="272088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7239191" y="4493106"/>
                  <a:ext cx="75817" cy="27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817" h="272088">
                      <a:moveTo>
                        <a:pt x="38100" y="0"/>
                      </a:moveTo>
                      <a:lnTo>
                        <a:pt x="0" y="266700"/>
                      </a:lnTo>
                      <a:lnTo>
                        <a:pt x="37717" y="272088"/>
                      </a:lnTo>
                      <a:lnTo>
                        <a:pt x="75817" y="5388"/>
                      </a:lnTo>
                      <a:lnTo>
                        <a:pt x="38100" y="0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335884" y="4562475"/>
                  <a:ext cx="93616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16" h="133350">
                      <a:moveTo>
                        <a:pt x="26941" y="133350"/>
                      </a:moveTo>
                      <a:lnTo>
                        <a:pt x="0" y="106409"/>
                      </a:lnTo>
                      <a:lnTo>
                        <a:pt x="39734" y="66675"/>
                      </a:lnTo>
                      <a:lnTo>
                        <a:pt x="0" y="26941"/>
                      </a:lnTo>
                      <a:lnTo>
                        <a:pt x="26941" y="0"/>
                      </a:lnTo>
                      <a:lnTo>
                        <a:pt x="93616" y="66675"/>
                      </a:lnTo>
                      <a:lnTo>
                        <a:pt x="26941" y="133350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124700" y="4562475"/>
                  <a:ext cx="93616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16" h="133350">
                      <a:moveTo>
                        <a:pt x="53882" y="66675"/>
                      </a:moveTo>
                      <a:lnTo>
                        <a:pt x="93616" y="106409"/>
                      </a:lnTo>
                      <a:lnTo>
                        <a:pt x="66675" y="133350"/>
                      </a:lnTo>
                      <a:lnTo>
                        <a:pt x="0" y="66675"/>
                      </a:lnTo>
                      <a:lnTo>
                        <a:pt x="66675" y="0"/>
                      </a:lnTo>
                      <a:lnTo>
                        <a:pt x="93616" y="26941"/>
                      </a:lnTo>
                      <a:lnTo>
                        <a:pt x="53882" y="66675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6989921" y="4978718"/>
                <a:ext cx="57435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SimHei"/>
                    <a:cs typeface="Arial"/>
                  </a:rPr>
                  <a:t>做实验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913971" y="4381500"/>
              <a:ext cx="574358" cy="871538"/>
              <a:chOff x="8913971" y="4381500"/>
              <a:chExt cx="574358" cy="871538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8953500" y="4381500"/>
                <a:ext cx="495300" cy="495300"/>
              </a:xfrm>
              <a:prstGeom prst="ellipse">
                <a:avLst/>
              </a:prstGeom>
              <a:solidFill>
                <a:srgbClr val="F8ECEC"/>
              </a:solidFill>
              <a:ln>
                <a:noFill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9067800" y="4476750"/>
                <a:ext cx="285750" cy="285750"/>
                <a:chOff x="9067800" y="4476750"/>
                <a:chExt cx="285750" cy="285750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9163050" y="44767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133350" y="0"/>
                      </a:moveTo>
                      <a:lnTo>
                        <a:pt x="190500" y="57150"/>
                      </a:lnTo>
                      <a:lnTo>
                        <a:pt x="57150" y="190500"/>
                      </a:lnTo>
                      <a:lnTo>
                        <a:pt x="0" y="190500"/>
                      </a:lnTo>
                      <a:lnTo>
                        <a:pt x="0" y="133350"/>
                      </a:lnTo>
                      <a:lnTo>
                        <a:pt x="133350" y="0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9067800" y="4495800"/>
                  <a:ext cx="2667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266700">
                      <a:moveTo>
                        <a:pt x="0" y="0"/>
                      </a:moveTo>
                      <a:lnTo>
                        <a:pt x="0" y="266700"/>
                      </a:lnTo>
                      <a:lnTo>
                        <a:pt x="266700" y="266700"/>
                      </a:lnTo>
                      <a:lnTo>
                        <a:pt x="266700" y="152400"/>
                      </a:lnTo>
                      <a:lnTo>
                        <a:pt x="228600" y="152400"/>
                      </a:lnTo>
                      <a:lnTo>
                        <a:pt x="228600" y="228600"/>
                      </a:lnTo>
                      <a:lnTo>
                        <a:pt x="38100" y="228600"/>
                      </a:lnTo>
                      <a:lnTo>
                        <a:pt x="38100" y="38100"/>
                      </a:lnTo>
                      <a:lnTo>
                        <a:pt x="114300" y="38100"/>
                      </a:lnTo>
                      <a:lnTo>
                        <a:pt x="1143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8913971" y="4978718"/>
                <a:ext cx="57435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SimHei"/>
                    <a:cs typeface="Arial"/>
                  </a:rPr>
                  <a:t>写论证</a:t>
                </a:r>
              </a:p>
            </p:txBody>
          </p:sp>
        </p:grpSp>
        <p:sp>
          <p:nvSpPr>
            <p:cNvPr id="52" name="Line 52"/>
            <p:cNvSpPr/>
            <p:nvPr/>
          </p:nvSpPr>
          <p:spPr>
            <a:xfrm>
              <a:off x="1809750" y="46291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3733800" y="46291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5657850" y="46291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7581900" y="46291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1752600" y="5676900"/>
            <a:ext cx="8686800" cy="533400"/>
            <a:chOff x="1752600" y="5676900"/>
            <a:chExt cx="8686800" cy="533400"/>
          </a:xfrm>
        </p:grpSpPr>
        <p:sp>
          <p:nvSpPr>
            <p:cNvPr id="57" name="Rectangle 57"/>
            <p:cNvSpPr/>
            <p:nvPr/>
          </p:nvSpPr>
          <p:spPr>
            <a:xfrm>
              <a:off x="1752600" y="5676900"/>
              <a:ext cx="8686800" cy="533400"/>
            </a:xfrm>
            <a:prstGeom prst="roundRect">
              <a:avLst>
                <a:gd name="adj" fmla="val 14286"/>
              </a:avLst>
            </a:prstGeom>
            <a:solidFill>
              <a:srgbClr val="F8ECEC"/>
            </a:solidFill>
            <a:ln w="9525">
              <a:solidFill>
                <a:srgbClr val="D9DEE5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543604" y="5832158"/>
              <a:ext cx="71047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国外很多课程教“如何用 AI 代理做事”，本课程教“如何用 AI 代理做科研”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60" name="TextBox 60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94174" y="65322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/>
      <p:bldP spid="56" grpId="0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80060" y="318135"/>
            <a:ext cx="11197590" cy="977265"/>
            <a:chOff x="480060" y="318135"/>
            <a:chExt cx="11197590" cy="977265"/>
          </a:xfrm>
        </p:grpSpPr>
        <p:sp>
          <p:nvSpPr>
            <p:cNvPr id="3" name="TextBox 3"/>
            <p:cNvSpPr txBox="1"/>
            <p:nvPr/>
          </p:nvSpPr>
          <p:spPr>
            <a:xfrm>
              <a:off x="480060" y="31813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八阶段研究链路：从问题到表达的科研闭环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" y="800100"/>
              <a:ext cx="111633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6755" y="968692"/>
              <a:ext cx="36617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AI 可以参与每个阶段，但不能替代关键判断。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23900" y="1790700"/>
            <a:ext cx="10934700" cy="914400"/>
            <a:chOff x="723900" y="1790700"/>
            <a:chExt cx="10934700" cy="914400"/>
          </a:xfrm>
        </p:grpSpPr>
        <p:grpSp>
          <p:nvGrpSpPr>
            <p:cNvPr id="10" name="Group 10"/>
            <p:cNvGrpSpPr/>
            <p:nvPr/>
          </p:nvGrpSpPr>
          <p:grpSpPr>
            <a:xfrm>
              <a:off x="723900" y="1790700"/>
              <a:ext cx="2362200" cy="914400"/>
              <a:chOff x="723900" y="1790700"/>
              <a:chExt cx="2362200" cy="9144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23900" y="1790700"/>
                <a:ext cx="23622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950595" y="1955482"/>
                <a:ext cx="117505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01 问题定义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57262" y="231695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结构性问题、范围、非例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581400" y="1790700"/>
              <a:ext cx="2362200" cy="914400"/>
              <a:chOff x="3581400" y="1790700"/>
              <a:chExt cx="2362200" cy="9144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581400" y="1790700"/>
                <a:ext cx="23622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808095" y="1955482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02 第一性原理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814762" y="23169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必要条件、关键约束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438900" y="1790700"/>
              <a:ext cx="2362200" cy="914400"/>
              <a:chOff x="6438900" y="1790700"/>
              <a:chExt cx="2362200" cy="9144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438900" y="1790700"/>
                <a:ext cx="23622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665595" y="1955482"/>
                <a:ext cx="123005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03 机制假设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672262" y="23169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可验证因果假设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9296400" y="1790700"/>
              <a:ext cx="2362200" cy="914400"/>
              <a:chOff x="9296400" y="1790700"/>
              <a:chExt cx="2362200" cy="9144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9296400" y="1790700"/>
                <a:ext cx="23622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523095" y="1955482"/>
                <a:ext cx="167011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04 外部输入摄取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529762" y="23169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材料来源与证据角色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723900" y="4095750"/>
            <a:ext cx="10934700" cy="914400"/>
            <a:chOff x="723900" y="4095750"/>
            <a:chExt cx="10934700" cy="914400"/>
          </a:xfrm>
        </p:grpSpPr>
        <p:grpSp>
          <p:nvGrpSpPr>
            <p:cNvPr id="27" name="Group 27"/>
            <p:cNvGrpSpPr/>
            <p:nvPr/>
          </p:nvGrpSpPr>
          <p:grpSpPr>
            <a:xfrm>
              <a:off x="723900" y="4095750"/>
              <a:ext cx="2362200" cy="914400"/>
              <a:chOff x="723900" y="4095750"/>
              <a:chExt cx="2362200" cy="9144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23900" y="4095750"/>
                <a:ext cx="23622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50595" y="4260532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08 回写与表达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57262" y="46220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论文式短文、追溯链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581400" y="4095750"/>
              <a:ext cx="2362200" cy="914400"/>
              <a:chOff x="3581400" y="4095750"/>
              <a:chExt cx="2362200" cy="914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581400" y="4095750"/>
                <a:ext cx="23622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808095" y="4260532"/>
                <a:ext cx="123005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07 原型验证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814762" y="46220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实现、实验、评价报告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438900" y="4095750"/>
              <a:ext cx="2362200" cy="914400"/>
              <a:chOff x="6438900" y="4095750"/>
              <a:chExt cx="2362200" cy="9144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438900" y="4095750"/>
                <a:ext cx="23622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665595" y="4260532"/>
                <a:ext cx="123005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06 研究判断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672262" y="46220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取舍、边界、实验规格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9296400" y="4095750"/>
              <a:ext cx="2362200" cy="914400"/>
              <a:chOff x="9296400" y="4095750"/>
              <a:chExt cx="2362200" cy="9144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9296400" y="4095750"/>
                <a:ext cx="23622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9523095" y="4260532"/>
                <a:ext cx="123005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05 证据整理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529762" y="46220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主证据、补充证据、空白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1162050" y="2095500"/>
            <a:ext cx="9467850" cy="2609850"/>
            <a:chOff x="1162050" y="2095500"/>
            <a:chExt cx="9467850" cy="2609850"/>
          </a:xfrm>
        </p:grpSpPr>
        <p:sp>
          <p:nvSpPr>
            <p:cNvPr id="41" name="Polygon 41"/>
            <p:cNvSpPr/>
            <p:nvPr/>
          </p:nvSpPr>
          <p:spPr>
            <a:xfrm>
              <a:off x="3162300" y="2095500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0" y="152400"/>
                  </a:moveTo>
                  <a:lnTo>
                    <a:pt x="247650" y="0"/>
                  </a:lnTo>
                  <a:lnTo>
                    <a:pt x="247650" y="304800"/>
                  </a:ln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3086100" y="2247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8100">
              <a:solidFill>
                <a:srgbClr val="B68B2D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6019800" y="2095500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0" y="152400"/>
                  </a:moveTo>
                  <a:lnTo>
                    <a:pt x="247650" y="0"/>
                  </a:lnTo>
                  <a:lnTo>
                    <a:pt x="247650" y="304800"/>
                  </a:ln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44" name="Line 44"/>
            <p:cNvSpPr/>
            <p:nvPr/>
          </p:nvSpPr>
          <p:spPr>
            <a:xfrm>
              <a:off x="5943600" y="2247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8100">
              <a:solidFill>
                <a:srgbClr val="B68B2D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8877300" y="2095500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0" y="152400"/>
                  </a:moveTo>
                  <a:lnTo>
                    <a:pt x="247650" y="0"/>
                  </a:lnTo>
                  <a:lnTo>
                    <a:pt x="247650" y="304800"/>
                  </a:ln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8801100" y="2247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8100">
              <a:solidFill>
                <a:srgbClr val="B68B2D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10477500" y="2705100"/>
              <a:ext cx="9525" cy="1390650"/>
            </a:xfrm>
            <a:custGeom>
              <a:avLst/>
              <a:gdLst/>
              <a:ahLst/>
              <a:cxnLst/>
              <a:rect l="l" t="t" r="r" b="b"/>
              <a:pathLst>
                <a:path w="9525" h="1390650">
                  <a:moveTo>
                    <a:pt x="0" y="0"/>
                  </a:moveTo>
                  <a:lnTo>
                    <a:pt x="0" y="1390650"/>
                  </a:lnTo>
                </a:path>
              </a:pathLst>
            </a:custGeom>
            <a:noFill/>
            <a:ln w="38100">
              <a:solidFill>
                <a:srgbClr val="B68B2D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10325100" y="3848100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152400" y="247650"/>
                  </a:moveTo>
                  <a:lnTo>
                    <a:pt x="0" y="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49" name="Polygon 49"/>
            <p:cNvSpPr/>
            <p:nvPr/>
          </p:nvSpPr>
          <p:spPr>
            <a:xfrm>
              <a:off x="8972550" y="4400550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247650" y="152400"/>
                  </a:move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8972550" y="45529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32385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B68B2D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6115050" y="4400550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247650" y="152400"/>
                  </a:move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6115050" y="45529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32385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B68B2D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3257550" y="4400550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247650" y="152400"/>
                  </a:move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3257550" y="45529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32385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B68B2D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162050" y="2705100"/>
              <a:ext cx="742950" cy="1390650"/>
            </a:xfrm>
            <a:custGeom>
              <a:avLst/>
              <a:gdLst/>
              <a:ahLst/>
              <a:cxnLst/>
              <a:rect l="l" t="t" r="r" b="b"/>
              <a:pathLst>
                <a:path w="742950" h="1390650">
                  <a:moveTo>
                    <a:pt x="742950" y="1390650"/>
                  </a:moveTo>
                  <a:cubicBezTo>
                    <a:pt x="0" y="1047750"/>
                    <a:pt x="0" y="323850"/>
                    <a:pt x="742950" y="0"/>
                  </a:cubicBezTo>
                </a:path>
              </a:pathLst>
            </a:custGeom>
            <a:noFill/>
            <a:ln w="28575">
              <a:solidFill>
                <a:srgbClr val="8C1515"/>
              </a:solidFill>
              <a:custDash>
                <a:ds d="266666" sp="200000"/>
              </a:custDash>
            </a:ln>
          </p:spPr>
        </p:sp>
        <p:sp>
          <p:nvSpPr>
            <p:cNvPr id="56" name="Polygon 56"/>
            <p:cNvSpPr/>
            <p:nvPr/>
          </p:nvSpPr>
          <p:spPr>
            <a:xfrm>
              <a:off x="1657350" y="2705100"/>
              <a:ext cx="247650" cy="190500"/>
            </a:xfrm>
            <a:custGeom>
              <a:avLst/>
              <a:gdLst/>
              <a:ahLst/>
              <a:cxnLst/>
              <a:rect l="l" t="t" r="r" b="b"/>
              <a:pathLst>
                <a:path w="247650" h="190500">
                  <a:moveTo>
                    <a:pt x="247650" y="0"/>
                  </a:moveTo>
                  <a:lnTo>
                    <a:pt x="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C1515"/>
            </a:soli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2247900" y="5410200"/>
            <a:ext cx="8441103" cy="552450"/>
            <a:chOff x="2247900" y="5410200"/>
            <a:chExt cx="8441103" cy="552450"/>
          </a:xfrm>
        </p:grpSpPr>
        <p:sp>
          <p:nvSpPr>
            <p:cNvPr id="58" name="Rectangle 58"/>
            <p:cNvSpPr/>
            <p:nvPr/>
          </p:nvSpPr>
          <p:spPr>
            <a:xfrm>
              <a:off x="2247900" y="5410200"/>
              <a:ext cx="7696200" cy="552450"/>
            </a:xfrm>
            <a:prstGeom prst="roundRect">
              <a:avLst>
                <a:gd name="adj" fmla="val 13793"/>
              </a:avLst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2570559" y="5543550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59831" y="239189"/>
                  </a:moveTo>
                  <a:lnTo>
                    <a:pt x="125016" y="285750"/>
                  </a:lnTo>
                  <a:lnTo>
                    <a:pt x="190201" y="239189"/>
                  </a:lnTo>
                  <a:cubicBezTo>
                    <a:pt x="227748" y="212369"/>
                    <a:pt x="250031" y="169069"/>
                    <a:pt x="250031" y="122927"/>
                  </a:cubicBezTo>
                  <a:lnTo>
                    <a:pt x="250031" y="53578"/>
                  </a:lnTo>
                  <a:lnTo>
                    <a:pt x="125016" y="0"/>
                  </a:lnTo>
                  <a:lnTo>
                    <a:pt x="0" y="53578"/>
                  </a:lnTo>
                  <a:lnTo>
                    <a:pt x="0" y="122927"/>
                  </a:lnTo>
                  <a:cubicBezTo>
                    <a:pt x="0" y="169069"/>
                    <a:pt x="22284" y="212369"/>
                    <a:pt x="59831" y="239189"/>
                  </a:cubicBez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990850" y="5600700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关键判断不可外包：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93005" y="5616892"/>
              <a:ext cx="56959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问题是否重要 · 假设是否可检验 · 实验是否公平 · 结论是否被证据支持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94174" y="65322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0" grpId="0"/>
      <p:bldP spid="57" grpId="0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80060" y="318135"/>
            <a:ext cx="11197590" cy="977265"/>
            <a:chOff x="480060" y="318135"/>
            <a:chExt cx="11197590" cy="977265"/>
          </a:xfrm>
        </p:grpSpPr>
        <p:sp>
          <p:nvSpPr>
            <p:cNvPr id="3" name="TextBox 3"/>
            <p:cNvSpPr txBox="1"/>
            <p:nvPr/>
          </p:nvSpPr>
          <p:spPr>
            <a:xfrm>
              <a:off x="480060" y="318135"/>
              <a:ext cx="795086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课堂样例：用 Transformer 论文拆解科研闭环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" y="800100"/>
              <a:ext cx="111633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6755" y="968692"/>
              <a:ext cx="59480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3 分钟微型试讲：不讲模型细节，而是拆问题、假设、证据、判断和留痕。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14350" y="1581150"/>
            <a:ext cx="4362450" cy="4229100"/>
            <a:chOff x="514350" y="1581150"/>
            <a:chExt cx="4362450" cy="4229100"/>
          </a:xfrm>
        </p:grpSpPr>
        <p:sp>
          <p:nvSpPr>
            <p:cNvPr id="7" name="Rectangle 7"/>
            <p:cNvSpPr/>
            <p:nvPr/>
          </p:nvSpPr>
          <p:spPr>
            <a:xfrm>
              <a:off x="514350" y="1581150"/>
              <a:ext cx="4362450" cy="4229100"/>
            </a:xfrm>
            <a:prstGeom prst="roundRect">
              <a:avLst>
                <a:gd name="adj" fmla="val 1802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7240" y="1786890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五个课堂追问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90575" y="2227421"/>
              <a:ext cx="3162299" cy="508635"/>
              <a:chOff x="790575" y="2227421"/>
              <a:chExt cx="3162299" cy="508635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790575" y="2257425"/>
                <a:ext cx="323850" cy="323850"/>
              </a:xfrm>
              <a:prstGeom prst="ellipse">
                <a:avLst/>
              </a:pr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13257" y="2356485"/>
                <a:ext cx="7848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20152" y="2227421"/>
                <a:ext cx="79629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F2933"/>
                    </a:solidFill>
                    <a:latin typeface="Arial"/>
                    <a:ea typeface="SimHei"/>
                    <a:cs typeface="Arial"/>
                  </a:rPr>
                  <a:t>研究问题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23962" y="2507456"/>
                <a:ext cx="27289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序列建模是否必须依赖循环或卷积结构？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90575" y="2913221"/>
              <a:ext cx="3762375" cy="508635"/>
              <a:chOff x="790575" y="2913221"/>
              <a:chExt cx="3762375" cy="50863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90575" y="2943225"/>
                <a:ext cx="323850" cy="323850"/>
              </a:xfrm>
              <a:prstGeom prst="ellipse">
                <a:avLst/>
              </a:pr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93254" y="304228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20152" y="2913221"/>
                <a:ext cx="79629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F2933"/>
                    </a:solidFill>
                    <a:latin typeface="Arial"/>
                    <a:ea typeface="SimHei"/>
                    <a:cs typeface="Arial"/>
                  </a:rPr>
                  <a:t>机制假设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23962" y="3193256"/>
                <a:ext cx="33289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注意力机制能建模长距离依赖，并提升并行效率。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90575" y="3599021"/>
              <a:ext cx="3462337" cy="508635"/>
              <a:chOff x="790575" y="3599021"/>
              <a:chExt cx="3462337" cy="508635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90575" y="3629025"/>
                <a:ext cx="323850" cy="323850"/>
              </a:xfrm>
              <a:prstGeom prst="ellipse">
                <a:avLst/>
              </a:pr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93254" y="372808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20152" y="3599021"/>
                <a:ext cx="79629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F2933"/>
                    </a:solidFill>
                    <a:latin typeface="Arial"/>
                    <a:ea typeface="SimHei"/>
                    <a:cs typeface="Arial"/>
                  </a:rPr>
                  <a:t>关键证据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23962" y="3879056"/>
                <a:ext cx="30289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机器翻译结果、训练效率、消融或对比实验。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90575" y="4284821"/>
              <a:ext cx="4077414" cy="508635"/>
              <a:chOff x="790575" y="4284821"/>
              <a:chExt cx="4077414" cy="508635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790575" y="4314825"/>
                <a:ext cx="323850" cy="323850"/>
              </a:xfrm>
              <a:prstGeom prst="ellipse">
                <a:avLst/>
              </a:pr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93254" y="441388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4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20152" y="4284821"/>
                <a:ext cx="79629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F2933"/>
                    </a:solidFill>
                    <a:latin typeface="Arial"/>
                    <a:ea typeface="SimHei"/>
                    <a:cs typeface="Arial"/>
                  </a:rPr>
                  <a:t>研究判断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223962" y="4564856"/>
                <a:ext cx="36440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不是“模型更大所以更好”，而是结构假设被证据支撑。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90575" y="4970621"/>
              <a:ext cx="3462337" cy="508635"/>
              <a:chOff x="790575" y="4970621"/>
              <a:chExt cx="3462337" cy="508635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790575" y="5000625"/>
                <a:ext cx="323850" cy="323850"/>
              </a:xfrm>
              <a:prstGeom prst="ellipse">
                <a:avLst/>
              </a:pr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93254" y="509968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20152" y="4970621"/>
                <a:ext cx="986314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F2933"/>
                    </a:solidFill>
                    <a:latin typeface="Arial"/>
                    <a:ea typeface="SimHei"/>
                    <a:cs typeface="Arial"/>
                  </a:rPr>
                  <a:t>缺口与延展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23962" y="5250656"/>
                <a:ext cx="30289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可解释性、数据规模、计算成本、泛化边界。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5181600" y="1581150"/>
            <a:ext cx="6496050" cy="4229100"/>
            <a:chOff x="5181600" y="1581150"/>
            <a:chExt cx="6496050" cy="4229100"/>
          </a:xfrm>
        </p:grpSpPr>
        <p:sp>
          <p:nvSpPr>
            <p:cNvPr id="35" name="Rectangle 35"/>
            <p:cNvSpPr/>
            <p:nvPr/>
          </p:nvSpPr>
          <p:spPr>
            <a:xfrm>
              <a:off x="5181600" y="1581150"/>
              <a:ext cx="6496050" cy="4229100"/>
            </a:xfrm>
            <a:prstGeom prst="roundRect">
              <a:avLst>
                <a:gd name="adj" fmla="val 1802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181600" y="1581150"/>
              <a:ext cx="6496050" cy="495300"/>
            </a:xfrm>
            <a:prstGeom prst="roundRect">
              <a:avLst>
                <a:gd name="adj" fmla="val 15385"/>
              </a:avLst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67350" y="17430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论文材料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05700" y="17430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研究链路节点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10750" y="17430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留痕材料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258050" y="15811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9DEE5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563100" y="15811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9DEE5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181600" y="2076450"/>
              <a:ext cx="6496050" cy="828675"/>
              <a:chOff x="5181600" y="2076450"/>
              <a:chExt cx="6496050" cy="828675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181600" y="2076450"/>
                <a:ext cx="6496050" cy="8191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470208" y="2262664"/>
                <a:ext cx="88249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摘要和引言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509510" y="221361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问题定义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509510" y="244221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研究动机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814560" y="2270760"/>
                <a:ext cx="990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问题定义卡片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5181600" y="2895600"/>
                <a:ext cx="6496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9525">
                    <a:moveTo>
                      <a:pt x="0" y="0"/>
                    </a:moveTo>
                    <a:lnTo>
                      <a:pt x="6496050" y="0"/>
                    </a:lnTo>
                  </a:path>
                </a:pathLst>
              </a:custGeom>
              <a:noFill/>
              <a:ln w="9525">
                <a:solidFill>
                  <a:srgbClr val="D9DEE5"/>
                </a:solidFill>
              </a:ln>
            </p:spPr>
          </p:sp>
        </p:grpSp>
        <p:grpSp>
          <p:nvGrpSpPr>
            <p:cNvPr id="55" name="Group 55"/>
            <p:cNvGrpSpPr/>
            <p:nvPr/>
          </p:nvGrpSpPr>
          <p:grpSpPr>
            <a:xfrm>
              <a:off x="5181600" y="2895600"/>
              <a:ext cx="6496050" cy="828675"/>
              <a:chOff x="5181600" y="2895600"/>
              <a:chExt cx="6496050" cy="828675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5181600" y="2895600"/>
                <a:ext cx="6496050" cy="819150"/>
              </a:xfrm>
              <a:prstGeom prst="rect">
                <a:avLst/>
              </a:prstGeom>
              <a:solidFill>
                <a:srgbClr val="F8ECEC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5470208" y="3081814"/>
                <a:ext cx="13925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模型结构与方法段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509510" y="314706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机制假设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814560" y="308991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假设列表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814560" y="3318510"/>
                <a:ext cx="5105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与非例</a:t>
                </a:r>
              </a:p>
            </p:txBody>
          </p:sp>
          <p:sp>
            <p:nvSpPr>
              <p:cNvPr id="54" name="Line 54"/>
              <p:cNvSpPr/>
              <p:nvPr/>
            </p:nvSpPr>
            <p:spPr>
              <a:xfrm>
                <a:off x="5181600" y="3714750"/>
                <a:ext cx="6496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9525">
                    <a:moveTo>
                      <a:pt x="0" y="0"/>
                    </a:moveTo>
                    <a:lnTo>
                      <a:pt x="6496050" y="0"/>
                    </a:lnTo>
                  </a:path>
                </a:pathLst>
              </a:custGeom>
              <a:noFill/>
              <a:ln w="9525">
                <a:solidFill>
                  <a:srgbClr val="D9DEE5"/>
                </a:solidFill>
              </a:ln>
            </p:spPr>
          </p:sp>
        </p:grpSp>
        <p:grpSp>
          <p:nvGrpSpPr>
            <p:cNvPr id="63" name="Group 63"/>
            <p:cNvGrpSpPr/>
            <p:nvPr/>
          </p:nvGrpSpPr>
          <p:grpSpPr>
            <a:xfrm>
              <a:off x="5181600" y="3714750"/>
              <a:ext cx="6496050" cy="828675"/>
              <a:chOff x="5181600" y="3714750"/>
              <a:chExt cx="6496050" cy="828675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5181600" y="3714750"/>
                <a:ext cx="6496050" cy="8191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5470208" y="3900964"/>
                <a:ext cx="173259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实验表格、消融或对比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509510" y="385191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证据整理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509510" y="408051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原型验证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814560" y="385191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证据地图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814560" y="408051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实验记录</a:t>
                </a:r>
              </a:p>
            </p:txBody>
          </p:sp>
          <p:sp>
            <p:nvSpPr>
              <p:cNvPr id="62" name="Line 62"/>
              <p:cNvSpPr/>
              <p:nvPr/>
            </p:nvSpPr>
            <p:spPr>
              <a:xfrm>
                <a:off x="5181600" y="4533900"/>
                <a:ext cx="6496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9525">
                    <a:moveTo>
                      <a:pt x="0" y="0"/>
                    </a:moveTo>
                    <a:lnTo>
                      <a:pt x="6496050" y="0"/>
                    </a:lnTo>
                  </a:path>
                </a:pathLst>
              </a:custGeom>
              <a:noFill/>
              <a:ln w="9525">
                <a:solidFill>
                  <a:srgbClr val="D9DEE5"/>
                </a:solidFill>
              </a:ln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5181600" y="4533900"/>
              <a:ext cx="6496050" cy="819150"/>
              <a:chOff x="5181600" y="4533900"/>
              <a:chExt cx="6496050" cy="81915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5181600" y="4533900"/>
                <a:ext cx="6496050" cy="819150"/>
              </a:xfrm>
              <a:prstGeom prst="rect">
                <a:avLst/>
              </a:prstGeom>
              <a:solidFill>
                <a:srgbClr val="F8ECEC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5470208" y="4720114"/>
                <a:ext cx="122253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局限与后续影响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509510" y="467106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研究判断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509510" y="489966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回写表达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814560" y="467106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判断记录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814560" y="48996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待验证风险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2286000" y="6076950"/>
            <a:ext cx="7620000" cy="400050"/>
            <a:chOff x="2286000" y="6076950"/>
            <a:chExt cx="7620000" cy="400050"/>
          </a:xfrm>
        </p:grpSpPr>
        <p:sp>
          <p:nvSpPr>
            <p:cNvPr id="72" name="Rectangle 72"/>
            <p:cNvSpPr/>
            <p:nvPr/>
          </p:nvSpPr>
          <p:spPr>
            <a:xfrm>
              <a:off x="2286000" y="6076950"/>
              <a:ext cx="7620000" cy="400050"/>
            </a:xfrm>
            <a:prstGeom prst="roundRect">
              <a:avLst>
                <a:gd name="adj" fmla="val 19048"/>
              </a:avLst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576638" y="6172200"/>
              <a:ext cx="5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学生不是总结论文，而是抽取证据链、判断链和留痕材料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75" name="TextBox 75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294174" y="65322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71" grpId="0"/>
      <p:bldP spid="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80060" y="318135"/>
            <a:ext cx="11197590" cy="977265"/>
            <a:chOff x="480060" y="318135"/>
            <a:chExt cx="11197590" cy="977265"/>
          </a:xfrm>
        </p:grpSpPr>
        <p:sp>
          <p:nvSpPr>
            <p:cNvPr id="3" name="TextBox 3"/>
            <p:cNvSpPr txBox="1"/>
            <p:nvPr/>
          </p:nvSpPr>
          <p:spPr>
            <a:xfrm>
              <a:off x="480060" y="318135"/>
              <a:ext cx="28661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32 学时如何组织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" y="800100"/>
              <a:ext cx="111633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6755" y="968692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六个模块共同服务一个贯穿项目，避免每周孤立练习。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14350" y="1657350"/>
            <a:ext cx="11125200" cy="3448050"/>
            <a:chOff x="514350" y="1657350"/>
            <a:chExt cx="11125200" cy="3448050"/>
          </a:xfrm>
        </p:grpSpPr>
        <p:grpSp>
          <p:nvGrpSpPr>
            <p:cNvPr id="17" name="Group 17"/>
            <p:cNvGrpSpPr/>
            <p:nvPr/>
          </p:nvGrpSpPr>
          <p:grpSpPr>
            <a:xfrm>
              <a:off x="514350" y="1657350"/>
              <a:ext cx="1695450" cy="3448050"/>
              <a:chOff x="514350" y="1657350"/>
              <a:chExt cx="1695450" cy="34480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14350" y="1657350"/>
                <a:ext cx="1695450" cy="34480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14350" y="1657350"/>
                <a:ext cx="169545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8C1515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202531" y="1809750"/>
                <a:ext cx="300038" cy="342900"/>
                <a:chOff x="1202531" y="1809750"/>
                <a:chExt cx="300038" cy="34290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202531" y="1809750"/>
                  <a:ext cx="300038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171450">
                      <a:moveTo>
                        <a:pt x="0" y="107156"/>
                      </a:moveTo>
                      <a:lnTo>
                        <a:pt x="0" y="64294"/>
                      </a:lnTo>
                      <a:lnTo>
                        <a:pt x="150019" y="0"/>
                      </a:lnTo>
                      <a:lnTo>
                        <a:pt x="300038" y="64294"/>
                      </a:lnTo>
                      <a:lnTo>
                        <a:pt x="300038" y="107156"/>
                      </a:lnTo>
                      <a:lnTo>
                        <a:pt x="150019" y="171450"/>
                      </a:lnTo>
                      <a:lnTo>
                        <a:pt x="0" y="107156"/>
                      </a:ln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202531" y="2045494"/>
                  <a:ext cx="300038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107156">
                      <a:moveTo>
                        <a:pt x="150019" y="107156"/>
                      </a:moveTo>
                      <a:lnTo>
                        <a:pt x="0" y="42862"/>
                      </a:lnTo>
                      <a:lnTo>
                        <a:pt x="0" y="0"/>
                      </a:lnTo>
                      <a:lnTo>
                        <a:pt x="150019" y="64294"/>
                      </a:lnTo>
                      <a:lnTo>
                        <a:pt x="300038" y="0"/>
                      </a:lnTo>
                      <a:lnTo>
                        <a:pt x="300038" y="42862"/>
                      </a:lnTo>
                      <a:lnTo>
                        <a:pt x="150019" y="107156"/>
                      </a:ln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202531" y="1959769"/>
                  <a:ext cx="300038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107156">
                      <a:moveTo>
                        <a:pt x="0" y="42862"/>
                      </a:moveTo>
                      <a:lnTo>
                        <a:pt x="150019" y="107156"/>
                      </a:lnTo>
                      <a:lnTo>
                        <a:pt x="300038" y="42862"/>
                      </a:lnTo>
                      <a:lnTo>
                        <a:pt x="300038" y="0"/>
                      </a:lnTo>
                      <a:lnTo>
                        <a:pt x="150019" y="64294"/>
                      </a:lnTo>
                      <a:lnTo>
                        <a:pt x="0" y="0"/>
                      </a:lnTo>
                      <a:lnTo>
                        <a:pt x="0" y="42862"/>
                      </a:ln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042988" y="2486025"/>
                <a:ext cx="638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模块一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86765" y="286131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导论、科研伦理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6785" y="31089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与研究工件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8705" y="45920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794"/>
                    </a:solidFill>
                    <a:latin typeface="Arial"/>
                    <a:ea typeface="Microsoft YaHei"/>
                    <a:cs typeface="Arial"/>
                  </a:rPr>
                  <a:t>第 1-2 周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400300" y="1657350"/>
              <a:ext cx="1695450" cy="3448050"/>
              <a:chOff x="2400300" y="1657350"/>
              <a:chExt cx="1695450" cy="34480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400300" y="1657350"/>
                <a:ext cx="1695450" cy="34480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400300" y="1657350"/>
                <a:ext cx="169545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067050" y="1852612"/>
                <a:ext cx="342900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78606">
                    <a:moveTo>
                      <a:pt x="0" y="0"/>
                    </a:moveTo>
                    <a:lnTo>
                      <a:pt x="76848" y="0"/>
                    </a:lnTo>
                    <a:cubicBezTo>
                      <a:pt x="96254" y="0"/>
                      <a:pt x="114865" y="7709"/>
                      <a:pt x="128588" y="21431"/>
                    </a:cubicBezTo>
                    <a:cubicBezTo>
                      <a:pt x="142310" y="35153"/>
                      <a:pt x="150019" y="53765"/>
                      <a:pt x="150019" y="73171"/>
                    </a:cubicBezTo>
                    <a:lnTo>
                      <a:pt x="150019" y="192881"/>
                    </a:lnTo>
                    <a:lnTo>
                      <a:pt x="192881" y="192881"/>
                    </a:lnTo>
                    <a:lnTo>
                      <a:pt x="192881" y="73171"/>
                    </a:lnTo>
                    <a:cubicBezTo>
                      <a:pt x="192881" y="53765"/>
                      <a:pt x="200590" y="35153"/>
                      <a:pt x="214312" y="21431"/>
                    </a:cubicBezTo>
                    <a:cubicBezTo>
                      <a:pt x="228035" y="7709"/>
                      <a:pt x="246646" y="0"/>
                      <a:pt x="266052" y="0"/>
                    </a:cubicBezTo>
                    <a:lnTo>
                      <a:pt x="342900" y="0"/>
                    </a:lnTo>
                    <a:lnTo>
                      <a:pt x="342900" y="235744"/>
                    </a:lnTo>
                    <a:lnTo>
                      <a:pt x="235744" y="235744"/>
                    </a:lnTo>
                    <a:lnTo>
                      <a:pt x="192881" y="278606"/>
                    </a:lnTo>
                    <a:lnTo>
                      <a:pt x="150019" y="278606"/>
                    </a:lnTo>
                    <a:lnTo>
                      <a:pt x="107156" y="235744"/>
                    </a:lnTo>
                    <a:lnTo>
                      <a:pt x="0" y="2357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928938" y="2486025"/>
                <a:ext cx="638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模块二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672715" y="286131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文献检索、证据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672715" y="310896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整理与研究空白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937153" y="4592002"/>
                <a:ext cx="621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794"/>
                    </a:solidFill>
                    <a:latin typeface="Arial"/>
                    <a:ea typeface="Microsoft YaHei"/>
                    <a:cs typeface="Arial"/>
                  </a:rPr>
                  <a:t>第 3-5 周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286250" y="1657350"/>
              <a:ext cx="1695450" cy="3448050"/>
              <a:chOff x="4286250" y="1657350"/>
              <a:chExt cx="1695450" cy="34480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286250" y="1657350"/>
                <a:ext cx="1695450" cy="34480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286250" y="1657350"/>
                <a:ext cx="169545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995862" y="1809750"/>
                <a:ext cx="2571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342900">
                    <a:moveTo>
                      <a:pt x="64294" y="246459"/>
                    </a:moveTo>
                    <a:lnTo>
                      <a:pt x="64294" y="310753"/>
                    </a:lnTo>
                    <a:lnTo>
                      <a:pt x="96441" y="342900"/>
                    </a:lnTo>
                    <a:lnTo>
                      <a:pt x="160734" y="342900"/>
                    </a:lnTo>
                    <a:lnTo>
                      <a:pt x="192881" y="310753"/>
                    </a:lnTo>
                    <a:lnTo>
                      <a:pt x="192881" y="246459"/>
                    </a:lnTo>
                    <a:lnTo>
                      <a:pt x="219447" y="219893"/>
                    </a:lnTo>
                    <a:cubicBezTo>
                      <a:pt x="243605" y="195737"/>
                      <a:pt x="257175" y="162908"/>
                      <a:pt x="257175" y="128745"/>
                    </a:cubicBezTo>
                    <a:cubicBezTo>
                      <a:pt x="257175" y="57728"/>
                      <a:pt x="199604" y="0"/>
                      <a:pt x="128588" y="0"/>
                    </a:cubicBezTo>
                    <a:cubicBezTo>
                      <a:pt x="57571" y="0"/>
                      <a:pt x="0" y="57728"/>
                      <a:pt x="0" y="128745"/>
                    </a:cubicBezTo>
                    <a:cubicBezTo>
                      <a:pt x="0" y="162908"/>
                      <a:pt x="13571" y="195737"/>
                      <a:pt x="37728" y="219893"/>
                    </a:cubicBezTo>
                    <a:lnTo>
                      <a:pt x="64294" y="246459"/>
                    </a:lnTo>
                    <a:close/>
                    <a:moveTo>
                      <a:pt x="107156" y="211612"/>
                    </a:moveTo>
                    <a:lnTo>
                      <a:pt x="107156" y="128588"/>
                    </a:lnTo>
                    <a:lnTo>
                      <a:pt x="150019" y="128588"/>
                    </a:lnTo>
                    <a:lnTo>
                      <a:pt x="150019" y="211612"/>
                    </a:lnTo>
                    <a:cubicBezTo>
                      <a:pt x="186992" y="202095"/>
                      <a:pt x="214312" y="168532"/>
                      <a:pt x="214312" y="128588"/>
                    </a:cubicBezTo>
                    <a:cubicBezTo>
                      <a:pt x="214312" y="81243"/>
                      <a:pt x="175931" y="42862"/>
                      <a:pt x="128588" y="42862"/>
                    </a:cubicBezTo>
                    <a:cubicBezTo>
                      <a:pt x="81243" y="42862"/>
                      <a:pt x="42862" y="81243"/>
                      <a:pt x="42862" y="128588"/>
                    </a:cubicBezTo>
                    <a:cubicBezTo>
                      <a:pt x="42862" y="168532"/>
                      <a:pt x="70182" y="202095"/>
                      <a:pt x="107156" y="211612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814888" y="2486025"/>
                <a:ext cx="638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模块三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58665" y="286131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问题定义、机制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58665" y="310896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假设与实验设计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823103" y="4592002"/>
                <a:ext cx="621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794"/>
                    </a:solidFill>
                    <a:latin typeface="Arial"/>
                    <a:ea typeface="Microsoft YaHei"/>
                    <a:cs typeface="Arial"/>
                  </a:rPr>
                  <a:t>第 6-7 周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172200" y="1657350"/>
              <a:ext cx="1695450" cy="3448050"/>
              <a:chOff x="6172200" y="1657350"/>
              <a:chExt cx="1695450" cy="34480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172200" y="1657350"/>
                <a:ext cx="1695450" cy="34480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172200" y="1657350"/>
                <a:ext cx="169545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8C1515"/>
              </a:solidFill>
              <a:ln>
                <a:noFill/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6881812" y="1809750"/>
                <a:ext cx="257175" cy="342900"/>
                <a:chOff x="6881812" y="1809750"/>
                <a:chExt cx="257175" cy="34290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6881812" y="1946910"/>
                  <a:ext cx="257175" cy="98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98584">
                      <a:moveTo>
                        <a:pt x="238682" y="10934"/>
                      </a:moveTo>
                      <a:cubicBezTo>
                        <a:pt x="244711" y="7919"/>
                        <a:pt x="251009" y="4282"/>
                        <a:pt x="257175" y="0"/>
                      </a:cubicBezTo>
                      <a:lnTo>
                        <a:pt x="257175" y="34290"/>
                      </a:lnTo>
                      <a:cubicBezTo>
                        <a:pt x="257175" y="69798"/>
                        <a:pt x="199604" y="98584"/>
                        <a:pt x="128588" y="98584"/>
                      </a:cubicBezTo>
                      <a:cubicBezTo>
                        <a:pt x="57571" y="98584"/>
                        <a:pt x="0" y="69798"/>
                        <a:pt x="0" y="34290"/>
                      </a:cubicBezTo>
                      <a:lnTo>
                        <a:pt x="0" y="0"/>
                      </a:lnTo>
                      <a:cubicBezTo>
                        <a:pt x="6166" y="4282"/>
                        <a:pt x="12464" y="7919"/>
                        <a:pt x="18494" y="10934"/>
                      </a:cubicBezTo>
                      <a:cubicBezTo>
                        <a:pt x="48884" y="26129"/>
                        <a:pt x="87868" y="34290"/>
                        <a:pt x="128588" y="34290"/>
                      </a:cubicBezTo>
                      <a:cubicBezTo>
                        <a:pt x="169307" y="34290"/>
                        <a:pt x="208290" y="26129"/>
                        <a:pt x="238682" y="10934"/>
                      </a:cubicBez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881812" y="2054066"/>
                  <a:ext cx="257175" cy="98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98584">
                      <a:moveTo>
                        <a:pt x="0" y="0"/>
                      </a:moveTo>
                      <a:lnTo>
                        <a:pt x="0" y="34290"/>
                      </a:lnTo>
                      <a:cubicBezTo>
                        <a:pt x="0" y="69799"/>
                        <a:pt x="57571" y="98584"/>
                        <a:pt x="128588" y="98584"/>
                      </a:cubicBezTo>
                      <a:cubicBezTo>
                        <a:pt x="199604" y="98584"/>
                        <a:pt x="257175" y="69799"/>
                        <a:pt x="257175" y="34290"/>
                      </a:cubicBezTo>
                      <a:lnTo>
                        <a:pt x="257175" y="0"/>
                      </a:lnTo>
                      <a:cubicBezTo>
                        <a:pt x="251009" y="4282"/>
                        <a:pt x="244711" y="7919"/>
                        <a:pt x="238682" y="10934"/>
                      </a:cubicBezTo>
                      <a:cubicBezTo>
                        <a:pt x="208290" y="26129"/>
                        <a:pt x="169307" y="34290"/>
                        <a:pt x="128588" y="34290"/>
                      </a:cubicBezTo>
                      <a:cubicBezTo>
                        <a:pt x="87868" y="34290"/>
                        <a:pt x="48884" y="26129"/>
                        <a:pt x="18494" y="10934"/>
                      </a:cubicBezTo>
                      <a:cubicBezTo>
                        <a:pt x="12464" y="7919"/>
                        <a:pt x="6166" y="4282"/>
                        <a:pt x="0" y="0"/>
                      </a:cubicBez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6881812" y="1809750"/>
                  <a:ext cx="2571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28588">
                      <a:moveTo>
                        <a:pt x="128588" y="0"/>
                      </a:moveTo>
                      <a:cubicBezTo>
                        <a:pt x="199604" y="0"/>
                        <a:pt x="257175" y="28785"/>
                        <a:pt x="257175" y="64294"/>
                      </a:cubicBezTo>
                      <a:cubicBezTo>
                        <a:pt x="257175" y="99802"/>
                        <a:pt x="199604" y="128588"/>
                        <a:pt x="128588" y="128588"/>
                      </a:cubicBezTo>
                      <a:cubicBezTo>
                        <a:pt x="57571" y="128588"/>
                        <a:pt x="0" y="99802"/>
                        <a:pt x="0" y="64294"/>
                      </a:cubicBezTo>
                      <a:cubicBezTo>
                        <a:pt x="0" y="28785"/>
                        <a:pt x="57571" y="0"/>
                        <a:pt x="128588" y="0"/>
                      </a:cubicBez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6700838" y="2486025"/>
                <a:ext cx="638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模块四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364605" y="28613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数据基线与可复现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84645" y="310896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实验工程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09053" y="4592002"/>
                <a:ext cx="621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794"/>
                    </a:solidFill>
                    <a:latin typeface="Arial"/>
                    <a:ea typeface="Microsoft YaHei"/>
                    <a:cs typeface="Arial"/>
                  </a:rPr>
                  <a:t>第 8-9 周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8058150" y="1657350"/>
              <a:ext cx="1695450" cy="3448050"/>
              <a:chOff x="8058150" y="1657350"/>
              <a:chExt cx="1695450" cy="34480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8058150" y="1657350"/>
                <a:ext cx="1695450" cy="34480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8058150" y="1657350"/>
                <a:ext cx="169545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8C1515"/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8724900" y="1828150"/>
                <a:ext cx="342900" cy="306099"/>
                <a:chOff x="8724900" y="1828150"/>
                <a:chExt cx="342900" cy="306099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8853703" y="1828150"/>
                  <a:ext cx="85294" cy="306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94" h="306099">
                      <a:moveTo>
                        <a:pt x="42862" y="0"/>
                      </a:moveTo>
                      <a:lnTo>
                        <a:pt x="0" y="300038"/>
                      </a:lnTo>
                      <a:lnTo>
                        <a:pt x="42432" y="306099"/>
                      </a:lnTo>
                      <a:lnTo>
                        <a:pt x="85294" y="6062"/>
                      </a:lnTo>
                      <a:lnTo>
                        <a:pt x="42862" y="0"/>
                      </a:ln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962483" y="1906191"/>
                  <a:ext cx="105317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17" h="150019">
                      <a:moveTo>
                        <a:pt x="30308" y="150019"/>
                      </a:moveTo>
                      <a:lnTo>
                        <a:pt x="0" y="119711"/>
                      </a:lnTo>
                      <a:lnTo>
                        <a:pt x="44701" y="75009"/>
                      </a:lnTo>
                      <a:lnTo>
                        <a:pt x="0" y="30309"/>
                      </a:lnTo>
                      <a:lnTo>
                        <a:pt x="30308" y="0"/>
                      </a:lnTo>
                      <a:lnTo>
                        <a:pt x="105317" y="75009"/>
                      </a:lnTo>
                      <a:lnTo>
                        <a:pt x="30308" y="150019"/>
                      </a:ln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724900" y="1906191"/>
                  <a:ext cx="105318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18" h="150019">
                      <a:moveTo>
                        <a:pt x="60617" y="75009"/>
                      </a:moveTo>
                      <a:lnTo>
                        <a:pt x="105318" y="119711"/>
                      </a:lnTo>
                      <a:lnTo>
                        <a:pt x="75009" y="150019"/>
                      </a:lnTo>
                      <a:lnTo>
                        <a:pt x="0" y="75009"/>
                      </a:lnTo>
                      <a:lnTo>
                        <a:pt x="75009" y="0"/>
                      </a:lnTo>
                      <a:lnTo>
                        <a:pt x="105318" y="30309"/>
                      </a:lnTo>
                      <a:lnTo>
                        <a:pt x="60617" y="75009"/>
                      </a:ln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8586788" y="2486025"/>
                <a:ext cx="638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模块五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318564" y="2861310"/>
                <a:ext cx="117462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AI 辅助原型验证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410575" y="3108960"/>
                <a:ext cx="990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与实验自动化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552998" y="4592002"/>
                <a:ext cx="7057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794"/>
                    </a:solidFill>
                    <a:latin typeface="Arial"/>
                    <a:ea typeface="Microsoft YaHei"/>
                    <a:cs typeface="Arial"/>
                  </a:rPr>
                  <a:t>第 10-13 周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944100" y="1657350"/>
              <a:ext cx="1695450" cy="3448050"/>
              <a:chOff x="9944100" y="1657350"/>
              <a:chExt cx="1695450" cy="344805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9944100" y="1657350"/>
                <a:ext cx="1695450" cy="34480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9944100" y="1657350"/>
                <a:ext cx="169545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8C1515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10632281" y="1809750"/>
                <a:ext cx="321469" cy="321469"/>
                <a:chOff x="10632281" y="1809750"/>
                <a:chExt cx="321469" cy="321469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10739438" y="1809750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150019" y="0"/>
                      </a:moveTo>
                      <a:lnTo>
                        <a:pt x="214312" y="64294"/>
                      </a:lnTo>
                      <a:lnTo>
                        <a:pt x="64294" y="214312"/>
                      </a:lnTo>
                      <a:lnTo>
                        <a:pt x="0" y="214312"/>
                      </a:lnTo>
                      <a:lnTo>
                        <a:pt x="0" y="150019"/>
                      </a:lnTo>
                      <a:lnTo>
                        <a:pt x="150019" y="0"/>
                      </a:ln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10632281" y="1831181"/>
                  <a:ext cx="300038" cy="300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300038">
                      <a:moveTo>
                        <a:pt x="0" y="0"/>
                      </a:moveTo>
                      <a:lnTo>
                        <a:pt x="0" y="300038"/>
                      </a:lnTo>
                      <a:lnTo>
                        <a:pt x="300038" y="300038"/>
                      </a:lnTo>
                      <a:lnTo>
                        <a:pt x="300038" y="171450"/>
                      </a:lnTo>
                      <a:lnTo>
                        <a:pt x="257175" y="171450"/>
                      </a:lnTo>
                      <a:lnTo>
                        <a:pt x="257175" y="257175"/>
                      </a:lnTo>
                      <a:lnTo>
                        <a:pt x="42862" y="257175"/>
                      </a:lnTo>
                      <a:lnTo>
                        <a:pt x="42862" y="42862"/>
                      </a:lnTo>
                      <a:lnTo>
                        <a:pt x="128588" y="42862"/>
                      </a:lnTo>
                      <a:lnTo>
                        <a:pt x="12858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68B2D"/>
                </a:solidFill>
                <a:ln>
                  <a:noFill/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10472738" y="2486025"/>
                <a:ext cx="638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模块六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0056495" y="286131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结果分析、论文表达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0376535" y="31089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与项目闭环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0438948" y="4592002"/>
                <a:ext cx="7057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794"/>
                    </a:solidFill>
                    <a:latin typeface="Arial"/>
                    <a:ea typeface="Microsoft YaHei"/>
                    <a:cs typeface="Arial"/>
                  </a:rPr>
                  <a:t>第 14-16 周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1333500" y="5467350"/>
            <a:ext cx="9525000" cy="514350"/>
            <a:chOff x="1333500" y="5467350"/>
            <a:chExt cx="9525000" cy="514350"/>
          </a:xfrm>
        </p:grpSpPr>
        <p:sp>
          <p:nvSpPr>
            <p:cNvPr id="67" name="Rectangle 67"/>
            <p:cNvSpPr/>
            <p:nvPr/>
          </p:nvSpPr>
          <p:spPr>
            <a:xfrm>
              <a:off x="1333500" y="5467350"/>
              <a:ext cx="9525000" cy="514350"/>
            </a:xfrm>
            <a:prstGeom prst="roundRect">
              <a:avLst>
                <a:gd name="adj" fmla="val 14815"/>
              </a:avLst>
            </a:prstGeom>
            <a:solidFill>
              <a:srgbClr val="8C1515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1694259" y="5599509"/>
              <a:ext cx="250032" cy="250032"/>
              <a:chOff x="1694259" y="5599509"/>
              <a:chExt cx="250032" cy="250032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1694259" y="5599509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2" y="71438"/>
                      <a:pt x="0" y="55446"/>
                      <a:pt x="0" y="35719"/>
                    </a:cubicBezTo>
                    <a:cubicBezTo>
                      <a:pt x="0" y="15992"/>
                      <a:pt x="15992" y="0"/>
                      <a:pt x="35719" y="0"/>
                    </a:cubicBezTo>
                    <a:cubicBezTo>
                      <a:pt x="55446" y="0"/>
                      <a:pt x="71438" y="15992"/>
                      <a:pt x="71438" y="35719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1872853" y="5778103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1" y="71438"/>
                      <a:pt x="0" y="55446"/>
                      <a:pt x="0" y="35719"/>
                    </a:cubicBezTo>
                    <a:cubicBezTo>
                      <a:pt x="0" y="15991"/>
                      <a:pt x="15991" y="0"/>
                      <a:pt x="35719" y="0"/>
                    </a:cubicBezTo>
                    <a:cubicBezTo>
                      <a:pt x="55446" y="0"/>
                      <a:pt x="71438" y="15991"/>
                      <a:pt x="71438" y="35719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1712119" y="5599509"/>
                <a:ext cx="214312" cy="250031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50031">
                    <a:moveTo>
                      <a:pt x="125016" y="62508"/>
                    </a:moveTo>
                    <a:cubicBezTo>
                      <a:pt x="125016" y="47713"/>
                      <a:pt x="137009" y="35719"/>
                      <a:pt x="151805" y="35719"/>
                    </a:cubicBezTo>
                    <a:cubicBezTo>
                      <a:pt x="166599" y="35719"/>
                      <a:pt x="178594" y="47713"/>
                      <a:pt x="178594" y="62508"/>
                    </a:cubicBezTo>
                    <a:lnTo>
                      <a:pt x="178594" y="142875"/>
                    </a:lnTo>
                    <a:lnTo>
                      <a:pt x="214312" y="142875"/>
                    </a:lnTo>
                    <a:lnTo>
                      <a:pt x="214312" y="62508"/>
                    </a:lnTo>
                    <a:cubicBezTo>
                      <a:pt x="214312" y="27986"/>
                      <a:pt x="186327" y="0"/>
                      <a:pt x="151805" y="0"/>
                    </a:cubicBezTo>
                    <a:cubicBezTo>
                      <a:pt x="117283" y="0"/>
                      <a:pt x="89297" y="27986"/>
                      <a:pt x="89297" y="62508"/>
                    </a:cubicBezTo>
                    <a:lnTo>
                      <a:pt x="89297" y="187523"/>
                    </a:lnTo>
                    <a:cubicBezTo>
                      <a:pt x="89297" y="202318"/>
                      <a:pt x="77303" y="214312"/>
                      <a:pt x="62508" y="214312"/>
                    </a:cubicBezTo>
                    <a:cubicBezTo>
                      <a:pt x="47713" y="214312"/>
                      <a:pt x="35719" y="202318"/>
                      <a:pt x="35719" y="187523"/>
                    </a:cubicBezTo>
                    <a:lnTo>
                      <a:pt x="35719" y="107156"/>
                    </a:lnTo>
                    <a:lnTo>
                      <a:pt x="0" y="107156"/>
                    </a:lnTo>
                    <a:lnTo>
                      <a:pt x="0" y="187523"/>
                    </a:lnTo>
                    <a:cubicBezTo>
                      <a:pt x="0" y="222046"/>
                      <a:pt x="27986" y="250031"/>
                      <a:pt x="62508" y="250031"/>
                    </a:cubicBezTo>
                    <a:cubicBezTo>
                      <a:pt x="97030" y="250031"/>
                      <a:pt x="125016" y="222046"/>
                      <a:pt x="125016" y="187523"/>
                    </a:cubicBezTo>
                    <a:lnTo>
                      <a:pt x="125016" y="62508"/>
                    </a:ln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2112645" y="5613082"/>
              <a:ext cx="18021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一条贯穿项目线：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983355" y="5645468"/>
              <a:ext cx="45348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从选题方向到问题门、判断门、验证门、论证门逐步推进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75" name="TextBox 75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294174" y="65322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80060" y="318135"/>
            <a:ext cx="11197590" cy="977265"/>
            <a:chOff x="480060" y="318135"/>
            <a:chExt cx="11197590" cy="977265"/>
          </a:xfrm>
        </p:grpSpPr>
        <p:sp>
          <p:nvSpPr>
            <p:cNvPr id="3" name="TextBox 3"/>
            <p:cNvSpPr txBox="1"/>
            <p:nvPr/>
          </p:nvSpPr>
          <p:spPr>
            <a:xfrm>
              <a:off x="480060" y="318135"/>
              <a:ext cx="61173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学生需要什么基础，不需要什么门槛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" y="800100"/>
              <a:ext cx="111633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6755" y="968692"/>
              <a:ext cx="4714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课程训练的是方法，不把商业工具购买能力作为学习门槛。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4350" y="1657350"/>
            <a:ext cx="3429000" cy="3505200"/>
            <a:chOff x="514350" y="1657350"/>
            <a:chExt cx="3429000" cy="3505200"/>
          </a:xfrm>
        </p:grpSpPr>
        <p:sp>
          <p:nvSpPr>
            <p:cNvPr id="7" name="Rectangle 7"/>
            <p:cNvSpPr/>
            <p:nvPr/>
          </p:nvSpPr>
          <p:spPr>
            <a:xfrm>
              <a:off x="514350" y="1657350"/>
              <a:ext cx="3429000" cy="35052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14350" y="1657350"/>
              <a:ext cx="3429000" cy="647700"/>
            </a:xfrm>
            <a:prstGeom prst="roundRect">
              <a:avLst>
                <a:gd name="adj" fmla="val 11765"/>
              </a:avLst>
            </a:prstGeom>
            <a:solidFill>
              <a:srgbClr val="8C1515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81050" y="1847850"/>
              <a:ext cx="304800" cy="266700"/>
              <a:chOff x="781050" y="1847850"/>
              <a:chExt cx="304800" cy="2667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38200" y="18478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cubicBezTo>
                      <a:pt x="95250" y="73928"/>
                      <a:pt x="73928" y="95250"/>
                      <a:pt x="47625" y="95250"/>
                    </a:cubicBezTo>
                    <a:cubicBezTo>
                      <a:pt x="21322" y="95250"/>
                      <a:pt x="0" y="73928"/>
                      <a:pt x="0" y="47625"/>
                    </a:cubicBez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81050" y="1981200"/>
                <a:ext cx="1524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33350">
                    <a:moveTo>
                      <a:pt x="57150" y="0"/>
                    </a:moveTo>
                    <a:cubicBezTo>
                      <a:pt x="25587" y="0"/>
                      <a:pt x="0" y="25587"/>
                      <a:pt x="0" y="57150"/>
                    </a:cubicBezTo>
                    <a:lnTo>
                      <a:pt x="0" y="133350"/>
                    </a:lnTo>
                    <a:lnTo>
                      <a:pt x="152400" y="133350"/>
                    </a:lnTo>
                    <a:lnTo>
                      <a:pt x="15240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71550" y="198120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57150" y="0"/>
                    </a:moveTo>
                    <a:lnTo>
                      <a:pt x="0" y="0"/>
                    </a:lnTo>
                    <a:lnTo>
                      <a:pt x="0" y="133350"/>
                    </a:lnTo>
                    <a:lnTo>
                      <a:pt x="114300" y="133350"/>
                    </a:lnTo>
                    <a:lnTo>
                      <a:pt x="114300" y="57150"/>
                    </a:lnTo>
                    <a:cubicBezTo>
                      <a:pt x="114300" y="25587"/>
                      <a:pt x="88714" y="0"/>
                      <a:pt x="57150" y="0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71550" y="1866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38100" y="76200"/>
                    </a:moveTo>
                    <a:cubicBezTo>
                      <a:pt x="59143" y="76200"/>
                      <a:pt x="76200" y="59142"/>
                      <a:pt x="76200" y="38100"/>
                    </a:cubicBezTo>
                    <a:cubicBezTo>
                      <a:pt x="76200" y="17058"/>
                      <a:pt x="59143" y="0"/>
                      <a:pt x="38100" y="0"/>
                    </a:cubicBezTo>
                    <a:cubicBezTo>
                      <a:pt x="17057" y="0"/>
                      <a:pt x="0" y="17058"/>
                      <a:pt x="0" y="38100"/>
                    </a:cubicBezTo>
                    <a:cubicBezTo>
                      <a:pt x="0" y="59142"/>
                      <a:pt x="17057" y="76200"/>
                      <a:pt x="38100" y="76200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34440" y="186309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学生需要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005" y="2597468"/>
              <a:ext cx="15554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Python 编程基础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2005" y="2997518"/>
              <a:ext cx="12674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机器学习基础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2005" y="3397568"/>
              <a:ext cx="12134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Git 基本操作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2005" y="3797618"/>
              <a:ext cx="18075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命令行环境使用能力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2005" y="4197668"/>
              <a:ext cx="16274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英文论文阅读能力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81500" y="1657350"/>
            <a:ext cx="3429000" cy="3505200"/>
            <a:chOff x="4381500" y="1657350"/>
            <a:chExt cx="3429000" cy="3505200"/>
          </a:xfrm>
        </p:grpSpPr>
        <p:sp>
          <p:nvSpPr>
            <p:cNvPr id="21" name="Rectangle 21"/>
            <p:cNvSpPr/>
            <p:nvPr/>
          </p:nvSpPr>
          <p:spPr>
            <a:xfrm>
              <a:off x="4381500" y="1657350"/>
              <a:ext cx="3429000" cy="35052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1500" y="1657350"/>
              <a:ext cx="3429000" cy="647700"/>
            </a:xfrm>
            <a:prstGeom prst="roundRect">
              <a:avLst>
                <a:gd name="adj" fmla="val 11765"/>
              </a:avLst>
            </a:prstGeom>
            <a:solidFill>
              <a:srgbClr val="C8161E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667250" y="18288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63819" y="255135"/>
                  </a:moveTo>
                  <a:lnTo>
                    <a:pt x="133350" y="304800"/>
                  </a:lnTo>
                  <a:lnTo>
                    <a:pt x="202881" y="255135"/>
                  </a:lnTo>
                  <a:cubicBezTo>
                    <a:pt x="242931" y="226527"/>
                    <a:pt x="266700" y="180340"/>
                    <a:pt x="266700" y="131122"/>
                  </a:cubicBezTo>
                  <a:lnTo>
                    <a:pt x="266700" y="57150"/>
                  </a:lnTo>
                  <a:lnTo>
                    <a:pt x="133350" y="0"/>
                  </a:lnTo>
                  <a:lnTo>
                    <a:pt x="0" y="57150"/>
                  </a:lnTo>
                  <a:lnTo>
                    <a:pt x="0" y="131122"/>
                  </a:lnTo>
                  <a:cubicBezTo>
                    <a:pt x="0" y="180340"/>
                    <a:pt x="23769" y="226527"/>
                    <a:pt x="63819" y="2551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01590" y="1863090"/>
              <a:ext cx="12458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学生不需要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7250" y="2714625"/>
              <a:ext cx="15982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不要求本地 GPU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7250" y="3228975"/>
              <a:ext cx="25584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不要求自费购买 API token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67250" y="3743325"/>
              <a:ext cx="28084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不要求绑定某个商业工具账号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86300" y="4152900"/>
              <a:ext cx="28194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998720" y="43119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8161E"/>
                  </a:solidFill>
                  <a:latin typeface="Arial"/>
                  <a:ea typeface="SimHei"/>
                  <a:cs typeface="Arial"/>
                </a:rPr>
                <a:t>资源门槛不能变成学习门槛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248650" y="1657350"/>
            <a:ext cx="3429000" cy="3505200"/>
            <a:chOff x="8248650" y="1657350"/>
            <a:chExt cx="3429000" cy="3505200"/>
          </a:xfrm>
        </p:grpSpPr>
        <p:sp>
          <p:nvSpPr>
            <p:cNvPr id="31" name="Rectangle 31"/>
            <p:cNvSpPr/>
            <p:nvPr/>
          </p:nvSpPr>
          <p:spPr>
            <a:xfrm>
              <a:off x="8248650" y="1657350"/>
              <a:ext cx="3429000" cy="35052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248650" y="1657350"/>
              <a:ext cx="3429000" cy="647700"/>
            </a:xfrm>
            <a:prstGeom prst="roundRect">
              <a:avLst>
                <a:gd name="adj" fmla="val 11765"/>
              </a:avLst>
            </a:prstGeom>
            <a:solidFill>
              <a:srgbClr val="8C1515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553450" y="1828800"/>
              <a:ext cx="228600" cy="304800"/>
              <a:chOff x="8553450" y="1828800"/>
              <a:chExt cx="228600" cy="304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553450" y="1950720"/>
                <a:ext cx="22860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7630">
                    <a:moveTo>
                      <a:pt x="212162" y="9719"/>
                    </a:moveTo>
                    <a:cubicBezTo>
                      <a:pt x="217521" y="7039"/>
                      <a:pt x="223119" y="3806"/>
                      <a:pt x="228600" y="0"/>
                    </a:cubicBezTo>
                    <a:lnTo>
                      <a:pt x="228600" y="30480"/>
                    </a:lnTo>
                    <a:cubicBezTo>
                      <a:pt x="228600" y="62043"/>
                      <a:pt x="177426" y="87630"/>
                      <a:pt x="114300" y="87630"/>
                    </a:cubicBezTo>
                    <a:cubicBezTo>
                      <a:pt x="51174" y="87630"/>
                      <a:pt x="0" y="62043"/>
                      <a:pt x="0" y="30480"/>
                    </a:cubicBezTo>
                    <a:lnTo>
                      <a:pt x="0" y="0"/>
                    </a:lnTo>
                    <a:cubicBezTo>
                      <a:pt x="5481" y="3806"/>
                      <a:pt x="11079" y="7039"/>
                      <a:pt x="16439" y="9719"/>
                    </a:cubicBezTo>
                    <a:cubicBezTo>
                      <a:pt x="43452" y="23225"/>
                      <a:pt x="78105" y="30480"/>
                      <a:pt x="114300" y="30480"/>
                    </a:cubicBezTo>
                    <a:cubicBezTo>
                      <a:pt x="150495" y="30480"/>
                      <a:pt x="185147" y="23225"/>
                      <a:pt x="212162" y="9719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553450" y="2045970"/>
                <a:ext cx="22860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7630">
                    <a:moveTo>
                      <a:pt x="0" y="0"/>
                    </a:moveTo>
                    <a:lnTo>
                      <a:pt x="0" y="30480"/>
                    </a:lnTo>
                    <a:cubicBezTo>
                      <a:pt x="0" y="62044"/>
                      <a:pt x="51174" y="87630"/>
                      <a:pt x="114300" y="87630"/>
                    </a:cubicBezTo>
                    <a:cubicBezTo>
                      <a:pt x="177426" y="87630"/>
                      <a:pt x="228600" y="62044"/>
                      <a:pt x="228600" y="30480"/>
                    </a:cubicBezTo>
                    <a:lnTo>
                      <a:pt x="228600" y="0"/>
                    </a:lnTo>
                    <a:cubicBezTo>
                      <a:pt x="223119" y="3806"/>
                      <a:pt x="217521" y="7039"/>
                      <a:pt x="212162" y="9719"/>
                    </a:cubicBezTo>
                    <a:cubicBezTo>
                      <a:pt x="185147" y="23226"/>
                      <a:pt x="150495" y="30480"/>
                      <a:pt x="114300" y="30480"/>
                    </a:cubicBezTo>
                    <a:cubicBezTo>
                      <a:pt x="78105" y="30480"/>
                      <a:pt x="43452" y="23226"/>
                      <a:pt x="16439" y="9719"/>
                    </a:cubicBezTo>
                    <a:cubicBezTo>
                      <a:pt x="11079" y="7039"/>
                      <a:pt x="5481" y="3806"/>
                      <a:pt x="0" y="0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553450" y="182880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114300" y="0"/>
                    </a:moveTo>
                    <a:cubicBezTo>
                      <a:pt x="177426" y="0"/>
                      <a:pt x="228600" y="25587"/>
                      <a:pt x="228600" y="57150"/>
                    </a:cubicBezTo>
                    <a:cubicBezTo>
                      <a:pt x="228600" y="88713"/>
                      <a:pt x="177426" y="114300"/>
                      <a:pt x="114300" y="114300"/>
                    </a:cubicBezTo>
                    <a:cubicBezTo>
                      <a:pt x="51174" y="114300"/>
                      <a:pt x="0" y="88713"/>
                      <a:pt x="0" y="57150"/>
                    </a:cubicBezTo>
                    <a:cubicBezTo>
                      <a:pt x="0" y="25587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968740" y="186309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资源口径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37258" y="2586514"/>
              <a:ext cx="238717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优先使用学校已部署、开源、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08708" y="2872264"/>
              <a:ext cx="22426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国内可用或课程统一配置资源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37258" y="3291364"/>
              <a:ext cx="227666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阿里、腾讯等免费 token 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08708" y="357711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教育计划作为补充资源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37258" y="3996214"/>
              <a:ext cx="22171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开课前确认当期可用额度、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08708" y="428196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合规要求和替代方案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43100" y="5562600"/>
            <a:ext cx="8305800" cy="552450"/>
            <a:chOff x="1943100" y="5562600"/>
            <a:chExt cx="8305800" cy="552450"/>
          </a:xfrm>
        </p:grpSpPr>
        <p:sp>
          <p:nvSpPr>
            <p:cNvPr id="45" name="Rectangle 45"/>
            <p:cNvSpPr/>
            <p:nvPr/>
          </p:nvSpPr>
          <p:spPr>
            <a:xfrm>
              <a:off x="1943100" y="5562600"/>
              <a:ext cx="8305800" cy="552450"/>
            </a:xfrm>
            <a:prstGeom prst="roundRect">
              <a:avLst>
                <a:gd name="adj" fmla="val 13793"/>
              </a:avLst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2283619" y="5695950"/>
              <a:ext cx="214312" cy="285750"/>
            </a:xfrm>
            <a:custGeom>
              <a:avLst/>
              <a:gdLst/>
              <a:ahLst/>
              <a:cxnLst/>
              <a:rect l="l" t="t" r="r" b="b"/>
              <a:pathLst>
                <a:path w="214312" h="285750">
                  <a:moveTo>
                    <a:pt x="35719" y="107156"/>
                  </a:moveTo>
                  <a:lnTo>
                    <a:pt x="35719" y="71438"/>
                  </a:lnTo>
                  <a:cubicBezTo>
                    <a:pt x="35719" y="31984"/>
                    <a:pt x="67702" y="0"/>
                    <a:pt x="107156" y="0"/>
                  </a:cubicBezTo>
                  <a:cubicBezTo>
                    <a:pt x="146609" y="0"/>
                    <a:pt x="178594" y="31984"/>
                    <a:pt x="178594" y="71438"/>
                  </a:cubicBezTo>
                  <a:lnTo>
                    <a:pt x="178594" y="107156"/>
                  </a:lnTo>
                  <a:lnTo>
                    <a:pt x="214312" y="107156"/>
                  </a:lnTo>
                  <a:lnTo>
                    <a:pt x="214312" y="285750"/>
                  </a:lnTo>
                  <a:lnTo>
                    <a:pt x="0" y="285750"/>
                  </a:lnTo>
                  <a:lnTo>
                    <a:pt x="0" y="107156"/>
                  </a:lnTo>
                  <a:lnTo>
                    <a:pt x="35719" y="107156"/>
                  </a:lnTo>
                  <a:close/>
                  <a:moveTo>
                    <a:pt x="71438" y="71438"/>
                  </a:moveTo>
                  <a:cubicBezTo>
                    <a:pt x="71438" y="51711"/>
                    <a:pt x="87429" y="35719"/>
                    <a:pt x="107156" y="35719"/>
                  </a:cubicBezTo>
                  <a:cubicBezTo>
                    <a:pt x="126883" y="35719"/>
                    <a:pt x="142875" y="51711"/>
                    <a:pt x="142875" y="71438"/>
                  </a:cubicBezTo>
                  <a:lnTo>
                    <a:pt x="142875" y="107156"/>
                  </a:lnTo>
                  <a:lnTo>
                    <a:pt x="71438" y="107156"/>
                  </a:lnTo>
                  <a:lnTo>
                    <a:pt x="71438" y="71438"/>
                  </a:lnTo>
                  <a:close/>
                  <a:moveTo>
                    <a:pt x="89297" y="232172"/>
                  </a:moveTo>
                  <a:lnTo>
                    <a:pt x="89297" y="160734"/>
                  </a:lnTo>
                  <a:lnTo>
                    <a:pt x="125016" y="160734"/>
                  </a:lnTo>
                  <a:lnTo>
                    <a:pt x="125016" y="232172"/>
                  </a:lnTo>
                  <a:lnTo>
                    <a:pt x="89297" y="232172"/>
                  </a:ln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703195" y="5736908"/>
              <a:ext cx="66427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课程可持续运行的前提：资源可替代、权限可控、费用不转嫁给学生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49" name="TextBox 49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94174" y="65322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/>
      <p:bldP spid="44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80060" y="318135"/>
            <a:ext cx="11197590" cy="977265"/>
            <a:chOff x="480060" y="318135"/>
            <a:chExt cx="11197590" cy="977265"/>
          </a:xfrm>
        </p:grpSpPr>
        <p:sp>
          <p:nvSpPr>
            <p:cNvPr id="3" name="TextBox 3"/>
            <p:cNvSpPr txBox="1"/>
            <p:nvPr/>
          </p:nvSpPr>
          <p:spPr>
            <a:xfrm>
              <a:off x="480060" y="318135"/>
              <a:ext cx="30929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课程如何评价学生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" y="800100"/>
              <a:ext cx="111633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6755" y="968692"/>
              <a:ext cx="66141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评分不是“用了多少 AI 工具”，而是是否形成可验证、可复现、可追溯的科研闭环。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4350" y="1581150"/>
            <a:ext cx="4762500" cy="4343400"/>
            <a:chOff x="514350" y="1581150"/>
            <a:chExt cx="4762500" cy="4343400"/>
          </a:xfrm>
        </p:grpSpPr>
        <p:sp>
          <p:nvSpPr>
            <p:cNvPr id="7" name="Rectangle 7"/>
            <p:cNvSpPr/>
            <p:nvPr/>
          </p:nvSpPr>
          <p:spPr>
            <a:xfrm>
              <a:off x="514350" y="1581150"/>
              <a:ext cx="4762500" cy="4343400"/>
            </a:xfrm>
            <a:prstGeom prst="roundRect">
              <a:avLst>
                <a:gd name="adj" fmla="val 1754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5340" y="178689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评分结构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628775" y="2447925"/>
              <a:ext cx="2533482" cy="2533403"/>
              <a:chOff x="1628775" y="2447925"/>
              <a:chExt cx="2533482" cy="2533403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828800" y="2647950"/>
                <a:ext cx="2133600" cy="2133600"/>
              </a:xfrm>
              <a:prstGeom prst="ellipse">
                <a:avLst/>
              </a:prstGeom>
              <a:noFill/>
              <a:ln w="400050">
                <a:solidFill>
                  <a:srgbClr val="D9DEE5"/>
                </a:solidFill>
              </a:ln>
            </p:spPr>
          </p:sp>
          <p:sp>
            <p:nvSpPr>
              <p:cNvPr id="10" name="Arc 10"/>
              <p:cNvSpPr/>
              <p:nvPr/>
            </p:nvSpPr>
            <p:spPr>
              <a:xfrm>
                <a:off x="1628775" y="2447925"/>
                <a:ext cx="1267626" cy="1266825"/>
              </a:xfrm>
              <a:custGeom>
                <a:avLst/>
                <a:gdLst/>
                <a:ahLst/>
                <a:cxnLst/>
                <a:rect l="l" t="t" r="r" b="b"/>
                <a:pathLst>
                  <a:path w="1267626" h="1266825">
                    <a:moveTo>
                      <a:pt x="0" y="1266825"/>
                    </a:moveTo>
                    <a:lnTo>
                      <a:pt x="6105" y="1142604"/>
                    </a:lnTo>
                    <a:lnTo>
                      <a:pt x="24361" y="1019581"/>
                    </a:lnTo>
                    <a:lnTo>
                      <a:pt x="54593" y="898941"/>
                    </a:lnTo>
                    <a:lnTo>
                      <a:pt x="96508" y="781847"/>
                    </a:lnTo>
                    <a:lnTo>
                      <a:pt x="149703" y="669427"/>
                    </a:lnTo>
                    <a:lnTo>
                      <a:pt x="213665" y="562765"/>
                    </a:lnTo>
                    <a:lnTo>
                      <a:pt x="287778" y="462889"/>
                    </a:lnTo>
                    <a:lnTo>
                      <a:pt x="371328" y="370761"/>
                    </a:lnTo>
                    <a:lnTo>
                      <a:pt x="463508" y="287270"/>
                    </a:lnTo>
                    <a:lnTo>
                      <a:pt x="563431" y="213220"/>
                    </a:lnTo>
                    <a:lnTo>
                      <a:pt x="670134" y="149325"/>
                    </a:lnTo>
                    <a:lnTo>
                      <a:pt x="782587" y="96201"/>
                    </a:lnTo>
                    <a:lnTo>
                      <a:pt x="899708" y="54360"/>
                    </a:lnTo>
                    <a:lnTo>
                      <a:pt x="1020367" y="24205"/>
                    </a:lnTo>
                    <a:lnTo>
                      <a:pt x="1143402" y="6026"/>
                    </a:lnTo>
                    <a:lnTo>
                      <a:pt x="1267626" y="0"/>
                    </a:lnTo>
                    <a:lnTo>
                      <a:pt x="1267373" y="400050"/>
                    </a:lnTo>
                    <a:lnTo>
                      <a:pt x="1182377" y="404173"/>
                    </a:lnTo>
                    <a:lnTo>
                      <a:pt x="1098196" y="416611"/>
                    </a:lnTo>
                    <a:lnTo>
                      <a:pt x="1015640" y="437244"/>
                    </a:lnTo>
                    <a:lnTo>
                      <a:pt x="935504" y="465872"/>
                    </a:lnTo>
                    <a:lnTo>
                      <a:pt x="858562" y="502220"/>
                    </a:lnTo>
                    <a:lnTo>
                      <a:pt x="785555" y="545937"/>
                    </a:lnTo>
                    <a:lnTo>
                      <a:pt x="717187" y="596603"/>
                    </a:lnTo>
                    <a:lnTo>
                      <a:pt x="654116" y="653729"/>
                    </a:lnTo>
                    <a:lnTo>
                      <a:pt x="596951" y="716763"/>
                    </a:lnTo>
                    <a:lnTo>
                      <a:pt x="546242" y="785100"/>
                    </a:lnTo>
                    <a:lnTo>
                      <a:pt x="502478" y="858079"/>
                    </a:lnTo>
                    <a:lnTo>
                      <a:pt x="466082" y="934998"/>
                    </a:lnTo>
                    <a:lnTo>
                      <a:pt x="437403" y="1015115"/>
                    </a:lnTo>
                    <a:lnTo>
                      <a:pt x="416718" y="1097658"/>
                    </a:lnTo>
                    <a:lnTo>
                      <a:pt x="404227" y="1181832"/>
                    </a:lnTo>
                    <a:lnTo>
                      <a:pt x="400050" y="1266825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11" name="Arc 11"/>
              <p:cNvSpPr/>
              <p:nvPr/>
            </p:nvSpPr>
            <p:spPr>
              <a:xfrm>
                <a:off x="2896148" y="2447925"/>
                <a:ext cx="1266109" cy="1657820"/>
              </a:xfrm>
              <a:custGeom>
                <a:avLst/>
                <a:gdLst/>
                <a:ahLst/>
                <a:cxnLst/>
                <a:rect l="l" t="t" r="r" b="b"/>
                <a:pathLst>
                  <a:path w="1266109" h="1657820">
                    <a:moveTo>
                      <a:pt x="253" y="0"/>
                    </a:moveTo>
                    <a:lnTo>
                      <a:pt x="125654" y="6302"/>
                    </a:lnTo>
                    <a:lnTo>
                      <a:pt x="249816" y="24986"/>
                    </a:lnTo>
                    <a:lnTo>
                      <a:pt x="371518" y="55869"/>
                    </a:lnTo>
                    <a:lnTo>
                      <a:pt x="489565" y="98649"/>
                    </a:lnTo>
                    <a:lnTo>
                      <a:pt x="602797" y="152904"/>
                    </a:lnTo>
                    <a:lnTo>
                      <a:pt x="710103" y="218101"/>
                    </a:lnTo>
                    <a:lnTo>
                      <a:pt x="810427" y="293601"/>
                    </a:lnTo>
                    <a:lnTo>
                      <a:pt x="902785" y="378661"/>
                    </a:lnTo>
                    <a:lnTo>
                      <a:pt x="986269" y="472446"/>
                    </a:lnTo>
                    <a:lnTo>
                      <a:pt x="1060059" y="574034"/>
                    </a:lnTo>
                    <a:lnTo>
                      <a:pt x="1123430" y="682429"/>
                    </a:lnTo>
                    <a:lnTo>
                      <a:pt x="1175760" y="796564"/>
                    </a:lnTo>
                    <a:lnTo>
                      <a:pt x="1216534" y="915318"/>
                    </a:lnTo>
                    <a:lnTo>
                      <a:pt x="1245352" y="1037526"/>
                    </a:lnTo>
                    <a:lnTo>
                      <a:pt x="1261931" y="1161986"/>
                    </a:lnTo>
                    <a:lnTo>
                      <a:pt x="1266109" y="1287476"/>
                    </a:lnTo>
                    <a:lnTo>
                      <a:pt x="1257843" y="1412763"/>
                    </a:lnTo>
                    <a:lnTo>
                      <a:pt x="1237215" y="1536616"/>
                    </a:lnTo>
                    <a:lnTo>
                      <a:pt x="1204429" y="1657820"/>
                    </a:lnTo>
                    <a:lnTo>
                      <a:pt x="823910" y="1534347"/>
                    </a:lnTo>
                    <a:lnTo>
                      <a:pt x="846343" y="1451419"/>
                    </a:lnTo>
                    <a:lnTo>
                      <a:pt x="860456" y="1366677"/>
                    </a:lnTo>
                    <a:lnTo>
                      <a:pt x="866112" y="1280954"/>
                    </a:lnTo>
                    <a:lnTo>
                      <a:pt x="863254" y="1195093"/>
                    </a:lnTo>
                    <a:lnTo>
                      <a:pt x="851910" y="1109936"/>
                    </a:lnTo>
                    <a:lnTo>
                      <a:pt x="832192" y="1026320"/>
                    </a:lnTo>
                    <a:lnTo>
                      <a:pt x="804294" y="945067"/>
                    </a:lnTo>
                    <a:lnTo>
                      <a:pt x="768490" y="866975"/>
                    </a:lnTo>
                    <a:lnTo>
                      <a:pt x="725130" y="792810"/>
                    </a:lnTo>
                    <a:lnTo>
                      <a:pt x="674643" y="723302"/>
                    </a:lnTo>
                    <a:lnTo>
                      <a:pt x="617522" y="659134"/>
                    </a:lnTo>
                    <a:lnTo>
                      <a:pt x="554330" y="600935"/>
                    </a:lnTo>
                    <a:lnTo>
                      <a:pt x="485687" y="549277"/>
                    </a:lnTo>
                    <a:lnTo>
                      <a:pt x="412267" y="504668"/>
                    </a:lnTo>
                    <a:lnTo>
                      <a:pt x="334792" y="467546"/>
                    </a:lnTo>
                    <a:lnTo>
                      <a:pt x="254023" y="438276"/>
                    </a:lnTo>
                    <a:lnTo>
                      <a:pt x="170753" y="417146"/>
                    </a:lnTo>
                    <a:lnTo>
                      <a:pt x="85801" y="404362"/>
                    </a:lnTo>
                    <a:lnTo>
                      <a:pt x="0" y="400050"/>
                    </a:ln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12" name="Arc 12"/>
              <p:cNvSpPr/>
              <p:nvPr/>
            </p:nvSpPr>
            <p:spPr>
              <a:xfrm>
                <a:off x="2503843" y="3982273"/>
                <a:ext cx="1596733" cy="999055"/>
              </a:xfrm>
              <a:custGeom>
                <a:avLst/>
                <a:gdLst/>
                <a:ahLst/>
                <a:cxnLst/>
                <a:rect l="l" t="t" r="r" b="b"/>
                <a:pathLst>
                  <a:path w="1596733" h="999055">
                    <a:moveTo>
                      <a:pt x="1596733" y="123472"/>
                    </a:moveTo>
                    <a:lnTo>
                      <a:pt x="1552587" y="239744"/>
                    </a:lnTo>
                    <a:lnTo>
                      <a:pt x="1497252" y="351126"/>
                    </a:lnTo>
                    <a:lnTo>
                      <a:pt x="1431262" y="456545"/>
                    </a:lnTo>
                    <a:lnTo>
                      <a:pt x="1355253" y="554986"/>
                    </a:lnTo>
                    <a:lnTo>
                      <a:pt x="1269957" y="645499"/>
                    </a:lnTo>
                    <a:lnTo>
                      <a:pt x="1176197" y="727213"/>
                    </a:lnTo>
                    <a:lnTo>
                      <a:pt x="1074877" y="799338"/>
                    </a:lnTo>
                    <a:lnTo>
                      <a:pt x="966972" y="861181"/>
                    </a:lnTo>
                    <a:lnTo>
                      <a:pt x="853523" y="912146"/>
                    </a:lnTo>
                    <a:lnTo>
                      <a:pt x="735624" y="951740"/>
                    </a:lnTo>
                    <a:lnTo>
                      <a:pt x="614410" y="979582"/>
                    </a:lnTo>
                    <a:lnTo>
                      <a:pt x="491050" y="995405"/>
                    </a:lnTo>
                    <a:lnTo>
                      <a:pt x="366733" y="999055"/>
                    </a:lnTo>
                    <a:lnTo>
                      <a:pt x="242658" y="990498"/>
                    </a:lnTo>
                    <a:lnTo>
                      <a:pt x="120019" y="969815"/>
                    </a:lnTo>
                    <a:lnTo>
                      <a:pt x="0" y="937206"/>
                    </a:lnTo>
                    <a:lnTo>
                      <a:pt x="123713" y="556766"/>
                    </a:lnTo>
                    <a:lnTo>
                      <a:pt x="205831" y="579077"/>
                    </a:lnTo>
                    <a:lnTo>
                      <a:pt x="289742" y="593228"/>
                    </a:lnTo>
                    <a:lnTo>
                      <a:pt x="374635" y="599083"/>
                    </a:lnTo>
                    <a:lnTo>
                      <a:pt x="459694" y="596586"/>
                    </a:lnTo>
                    <a:lnTo>
                      <a:pt x="544098" y="585760"/>
                    </a:lnTo>
                    <a:lnTo>
                      <a:pt x="627034" y="566709"/>
                    </a:lnTo>
                    <a:lnTo>
                      <a:pt x="707702" y="539619"/>
                    </a:lnTo>
                    <a:lnTo>
                      <a:pt x="785325" y="504748"/>
                    </a:lnTo>
                    <a:lnTo>
                      <a:pt x="859154" y="462435"/>
                    </a:lnTo>
                    <a:lnTo>
                      <a:pt x="928479" y="413086"/>
                    </a:lnTo>
                    <a:lnTo>
                      <a:pt x="992631" y="357177"/>
                    </a:lnTo>
                    <a:lnTo>
                      <a:pt x="1050991" y="295247"/>
                    </a:lnTo>
                    <a:lnTo>
                      <a:pt x="1102997" y="227892"/>
                    </a:lnTo>
                    <a:lnTo>
                      <a:pt x="1148148" y="155763"/>
                    </a:lnTo>
                    <a:lnTo>
                      <a:pt x="1186009" y="79554"/>
                    </a:lnTo>
                    <a:lnTo>
                      <a:pt x="1216214" y="0"/>
                    </a:lnTo>
                    <a:close/>
                  </a:path>
                </a:pathLst>
              </a:custGeom>
              <a:solidFill>
                <a:srgbClr val="52616B"/>
              </a:solidFill>
              <a:ln>
                <a:noFill/>
              </a:ln>
            </p:spPr>
          </p:sp>
          <p:sp>
            <p:nvSpPr>
              <p:cNvPr id="13" name="Arc 13"/>
              <p:cNvSpPr/>
              <p:nvPr/>
            </p:nvSpPr>
            <p:spPr>
              <a:xfrm>
                <a:off x="1628779" y="3711546"/>
                <a:ext cx="998777" cy="1207933"/>
              </a:xfrm>
              <a:custGeom>
                <a:avLst/>
                <a:gdLst/>
                <a:ahLst/>
                <a:cxnLst/>
                <a:rect l="l" t="t" r="r" b="b"/>
                <a:pathLst>
                  <a:path w="998777" h="1207933">
                    <a:moveTo>
                      <a:pt x="875064" y="1207933"/>
                    </a:moveTo>
                    <a:lnTo>
                      <a:pt x="781582" y="1173413"/>
                    </a:lnTo>
                    <a:lnTo>
                      <a:pt x="691103" y="1131652"/>
                    </a:lnTo>
                    <a:lnTo>
                      <a:pt x="604186" y="1082908"/>
                    </a:lnTo>
                    <a:lnTo>
                      <a:pt x="521370" y="1027483"/>
                    </a:lnTo>
                    <a:lnTo>
                      <a:pt x="443166" y="965720"/>
                    </a:lnTo>
                    <a:lnTo>
                      <a:pt x="370058" y="898001"/>
                    </a:lnTo>
                    <a:lnTo>
                      <a:pt x="302500" y="824746"/>
                    </a:lnTo>
                    <a:lnTo>
                      <a:pt x="240909" y="746406"/>
                    </a:lnTo>
                    <a:lnTo>
                      <a:pt x="185666" y="663468"/>
                    </a:lnTo>
                    <a:lnTo>
                      <a:pt x="137113" y="576445"/>
                    </a:lnTo>
                    <a:lnTo>
                      <a:pt x="95550" y="485874"/>
                    </a:lnTo>
                    <a:lnTo>
                      <a:pt x="61235" y="392317"/>
                    </a:lnTo>
                    <a:lnTo>
                      <a:pt x="34380" y="296352"/>
                    </a:lnTo>
                    <a:lnTo>
                      <a:pt x="15151" y="198572"/>
                    </a:lnTo>
                    <a:lnTo>
                      <a:pt x="3668" y="99584"/>
                    </a:lnTo>
                    <a:lnTo>
                      <a:pt x="0" y="0"/>
                    </a:lnTo>
                    <a:lnTo>
                      <a:pt x="400049" y="1012"/>
                    </a:lnTo>
                    <a:lnTo>
                      <a:pt x="402558" y="69148"/>
                    </a:lnTo>
                    <a:lnTo>
                      <a:pt x="410415" y="136877"/>
                    </a:lnTo>
                    <a:lnTo>
                      <a:pt x="423572" y="203779"/>
                    </a:lnTo>
                    <a:lnTo>
                      <a:pt x="441947" y="269439"/>
                    </a:lnTo>
                    <a:lnTo>
                      <a:pt x="465425" y="333452"/>
                    </a:lnTo>
                    <a:lnTo>
                      <a:pt x="493863" y="395421"/>
                    </a:lnTo>
                    <a:lnTo>
                      <a:pt x="527083" y="454964"/>
                    </a:lnTo>
                    <a:lnTo>
                      <a:pt x="564881" y="511711"/>
                    </a:lnTo>
                    <a:lnTo>
                      <a:pt x="607023" y="565311"/>
                    </a:lnTo>
                    <a:lnTo>
                      <a:pt x="653247" y="615434"/>
                    </a:lnTo>
                    <a:lnTo>
                      <a:pt x="703267" y="661768"/>
                    </a:lnTo>
                    <a:lnTo>
                      <a:pt x="756775" y="704026"/>
                    </a:lnTo>
                    <a:lnTo>
                      <a:pt x="813439" y="741949"/>
                    </a:lnTo>
                    <a:lnTo>
                      <a:pt x="872909" y="775300"/>
                    </a:lnTo>
                    <a:lnTo>
                      <a:pt x="934816" y="803873"/>
                    </a:lnTo>
                    <a:lnTo>
                      <a:pt x="998777" y="827492"/>
                    </a:lnTo>
                    <a:close/>
                  </a:path>
                </a:pathLst>
              </a:custGeom>
              <a:solidFill>
                <a:srgbClr val="C8161E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2114550" y="2933700"/>
                <a:ext cx="1562100" cy="15621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403184" y="3282315"/>
                <a:ext cx="984833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300" b="1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100%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400300" y="3832860"/>
                <a:ext cx="990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科研闭环评价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38200" y="5200650"/>
              <a:ext cx="3737277" cy="547688"/>
              <a:chOff x="838200" y="5200650"/>
              <a:chExt cx="3737277" cy="547688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38200" y="5200650"/>
                <a:ext cx="171450" cy="171450"/>
              </a:xfrm>
              <a:prstGeom prst="roundRect">
                <a:avLst>
                  <a:gd name="adj" fmla="val 22222"/>
                </a:avLst>
              </a:pr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10615" y="5230178"/>
                <a:ext cx="12798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文献与问题定位 25%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743200" y="5200650"/>
                <a:ext cx="171450" cy="171450"/>
              </a:xfrm>
              <a:prstGeom prst="roundRect">
                <a:avLst>
                  <a:gd name="adj" fmla="val 22222"/>
                </a:avLst>
              </a:pr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015615" y="5230178"/>
                <a:ext cx="15598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实验设计与可复现性 30%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838200" y="5505450"/>
                <a:ext cx="171450" cy="171450"/>
              </a:xfrm>
              <a:prstGeom prst="roundRect">
                <a:avLst>
                  <a:gd name="adj" fmla="val 22222"/>
                </a:avLst>
              </a:prstGeom>
              <a:solidFill>
                <a:srgbClr val="52616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110615" y="5534978"/>
                <a:ext cx="14198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原型与自动化实践 25%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2743200" y="5505450"/>
                <a:ext cx="171450" cy="171450"/>
              </a:xfrm>
              <a:prstGeom prst="roundRect">
                <a:avLst>
                  <a:gd name="adj" fmla="val 22222"/>
                </a:avLst>
              </a:prstGeom>
              <a:solidFill>
                <a:srgbClr val="C8161E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015615" y="5534978"/>
                <a:ext cx="14198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表达、伦理与复盘 20%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5562600" y="1581150"/>
            <a:ext cx="6115050" cy="4343400"/>
            <a:chOff x="5562600" y="1581150"/>
            <a:chExt cx="6115050" cy="4343400"/>
          </a:xfrm>
        </p:grpSpPr>
        <p:sp>
          <p:nvSpPr>
            <p:cNvPr id="28" name="Rectangle 28"/>
            <p:cNvSpPr/>
            <p:nvPr/>
          </p:nvSpPr>
          <p:spPr>
            <a:xfrm>
              <a:off x="5562600" y="1581150"/>
              <a:ext cx="6115050" cy="4343400"/>
            </a:xfrm>
            <a:prstGeom prst="roundRect">
              <a:avLst>
                <a:gd name="adj" fmla="val 1754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44540" y="1786890"/>
              <a:ext cx="2926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最终提交物：每项都可检查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905500" y="2343150"/>
              <a:ext cx="1241107" cy="2281238"/>
              <a:chOff x="5905500" y="2343150"/>
              <a:chExt cx="1241107" cy="228123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905500" y="23431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2F7D5B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212205" y="23688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问题定义</a:t>
                </a:r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5905500" y="28384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2F7D5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212205" y="28641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研究计划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905500" y="33337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2F7D5B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212205" y="33594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证据地图</a:t>
                </a:r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5905500" y="38290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2F7D5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212205" y="38547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实验规格</a:t>
                </a:r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5905500" y="43243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2F7D5B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212205" y="4350068"/>
                <a:ext cx="9344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可运行原型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420100" y="2343150"/>
              <a:ext cx="1961197" cy="2281238"/>
              <a:chOff x="8420100" y="2343150"/>
              <a:chExt cx="1961197" cy="22812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420100" y="23431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2F7D5B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726805" y="23688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评价报告</a:t>
                </a:r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8420100" y="28384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2F7D5B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726805" y="2864168"/>
                <a:ext cx="96140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AI 使用记录</a:t>
                </a:r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8420100" y="33337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2F7D5B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8726805" y="3359468"/>
                <a:ext cx="165449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科研伦理与合规说明</a:t>
                </a:r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8420100" y="38290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2F7D5B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726805" y="3854768"/>
                <a:ext cx="9344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论文式短文</a:t>
                </a:r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8420100" y="43243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2F7D5B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726805" y="4350068"/>
                <a:ext cx="147447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复盘与门条件核对</a:t>
                </a:r>
              </a:p>
            </p:txBody>
          </p:sp>
        </p:grpSp>
        <p:sp>
          <p:nvSpPr>
            <p:cNvPr id="52" name="Rectangle 52"/>
            <p:cNvSpPr/>
            <p:nvPr/>
          </p:nvSpPr>
          <p:spPr>
            <a:xfrm>
              <a:off x="5905500" y="5048250"/>
              <a:ext cx="53340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172200" y="5179219"/>
              <a:ext cx="266700" cy="233363"/>
              <a:chOff x="6172200" y="5179219"/>
              <a:chExt cx="266700" cy="23336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372225" y="5179219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lnTo>
                      <a:pt x="0" y="0"/>
                    </a:lnTo>
                    <a:lnTo>
                      <a:pt x="0" y="233362"/>
                    </a:lnTo>
                    <a:lnTo>
                      <a:pt x="66675" y="233362"/>
                    </a:lnTo>
                    <a:lnTo>
                      <a:pt x="66675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272212" y="5245894"/>
                <a:ext cx="666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66688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166688"/>
                    </a:lnTo>
                    <a:lnTo>
                      <a:pt x="0" y="1666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172200" y="5312569"/>
                <a:ext cx="6667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2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100012"/>
                    </a:ln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591300" y="5219700"/>
              <a:ext cx="48887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每个评分项都有产物支撑，降低“AI 课不好考核”的担忧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59" name="TextBox 59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94174" y="65322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80060" y="318135"/>
            <a:ext cx="11197590" cy="977265"/>
            <a:chOff x="480060" y="318135"/>
            <a:chExt cx="11197590" cy="977265"/>
          </a:xfrm>
        </p:grpSpPr>
        <p:sp>
          <p:nvSpPr>
            <p:cNvPr id="3" name="TextBox 3"/>
            <p:cNvSpPr txBox="1"/>
            <p:nvPr/>
          </p:nvSpPr>
          <p:spPr>
            <a:xfrm>
              <a:off x="480060" y="318135"/>
              <a:ext cx="83856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研究门保证项目不跑偏，留痕机制保证过程可审查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" y="800100"/>
              <a:ext cx="111633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6755" y="968692"/>
              <a:ext cx="61730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研究门不是形式化检查，而是防止最后交一份“看似完整但不可验证”的报告。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1847850"/>
            <a:ext cx="10668000" cy="2926556"/>
            <a:chOff x="762000" y="1847850"/>
            <a:chExt cx="10668000" cy="2926556"/>
          </a:xfrm>
        </p:grpSpPr>
        <p:sp>
          <p:nvSpPr>
            <p:cNvPr id="7" name="Line 7"/>
            <p:cNvSpPr/>
            <p:nvPr/>
          </p:nvSpPr>
          <p:spPr>
            <a:xfrm>
              <a:off x="1809750" y="228600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47625">
              <a:solidFill>
                <a:srgbClr val="B68B2D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62000" y="1847850"/>
              <a:ext cx="2095500" cy="2926556"/>
              <a:chOff x="762000" y="1847850"/>
              <a:chExt cx="2095500" cy="2926556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371600" y="1847850"/>
                <a:ext cx="876300" cy="876300"/>
              </a:xfrm>
              <a:prstGeom prst="ellipse">
                <a:avLst/>
              </a:pr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58754" y="2184082"/>
                <a:ext cx="70199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问题门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762000" y="3067050"/>
                <a:ext cx="2095500" cy="1619250"/>
              </a:xfrm>
              <a:prstGeom prst="roundRect">
                <a:avLst>
                  <a:gd name="adj" fmla="val 4706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990600" y="3295650"/>
                <a:ext cx="266700" cy="266700"/>
                <a:chOff x="990600" y="3295650"/>
                <a:chExt cx="266700" cy="26670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057275" y="336232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66675" y="0"/>
                      </a:moveTo>
                      <a:cubicBezTo>
                        <a:pt x="29851" y="0"/>
                        <a:pt x="0" y="29851"/>
                        <a:pt x="0" y="66675"/>
                      </a:cubicBezTo>
                      <a:cubicBezTo>
                        <a:pt x="0" y="103498"/>
                        <a:pt x="29851" y="133350"/>
                        <a:pt x="66675" y="133350"/>
                      </a:cubicBezTo>
                      <a:cubicBezTo>
                        <a:pt x="103498" y="133350"/>
                        <a:pt x="133350" y="103498"/>
                        <a:pt x="133350" y="66675"/>
                      </a:cubicBezTo>
                      <a:cubicBezTo>
                        <a:pt x="133350" y="29851"/>
                        <a:pt x="103498" y="0"/>
                        <a:pt x="66675" y="0"/>
                      </a:cubicBezTo>
                      <a:close/>
                      <a:moveTo>
                        <a:pt x="33338" y="66675"/>
                      </a:moveTo>
                      <a:cubicBezTo>
                        <a:pt x="33338" y="48263"/>
                        <a:pt x="48263" y="33338"/>
                        <a:pt x="66675" y="33338"/>
                      </a:cubicBezTo>
                      <a:cubicBezTo>
                        <a:pt x="85087" y="33338"/>
                        <a:pt x="100012" y="48263"/>
                        <a:pt x="100012" y="66675"/>
                      </a:cubicBezTo>
                      <a:cubicBezTo>
                        <a:pt x="100012" y="85087"/>
                        <a:pt x="85087" y="100012"/>
                        <a:pt x="66675" y="100012"/>
                      </a:cubicBezTo>
                      <a:cubicBezTo>
                        <a:pt x="48263" y="100012"/>
                        <a:pt x="33338" y="85087"/>
                        <a:pt x="33338" y="66675"/>
                      </a:cubicBez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90600" y="3295650"/>
                  <a:ext cx="2667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266700">
                      <a:moveTo>
                        <a:pt x="133350" y="0"/>
                      </a:moveTo>
                      <a:cubicBezTo>
                        <a:pt x="59703" y="0"/>
                        <a:pt x="0" y="59703"/>
                        <a:pt x="0" y="133350"/>
                      </a:cubicBezTo>
                      <a:cubicBezTo>
                        <a:pt x="0" y="206998"/>
                        <a:pt x="59703" y="266700"/>
                        <a:pt x="133350" y="266700"/>
                      </a:cubicBezTo>
                      <a:cubicBezTo>
                        <a:pt x="206998" y="266700"/>
                        <a:pt x="266700" y="206998"/>
                        <a:pt x="266700" y="133350"/>
                      </a:cubicBezTo>
                      <a:cubicBezTo>
                        <a:pt x="266700" y="59703"/>
                        <a:pt x="206998" y="0"/>
                        <a:pt x="133350" y="0"/>
                      </a:cubicBezTo>
                      <a:close/>
                      <a:moveTo>
                        <a:pt x="33338" y="133350"/>
                      </a:moveTo>
                      <a:cubicBezTo>
                        <a:pt x="33338" y="78115"/>
                        <a:pt x="78115" y="33338"/>
                        <a:pt x="133350" y="33338"/>
                      </a:cubicBezTo>
                      <a:cubicBezTo>
                        <a:pt x="188585" y="33338"/>
                        <a:pt x="233362" y="78115"/>
                        <a:pt x="233362" y="133350"/>
                      </a:cubicBezTo>
                      <a:cubicBezTo>
                        <a:pt x="233362" y="188585"/>
                        <a:pt x="188585" y="233362"/>
                        <a:pt x="133350" y="233362"/>
                      </a:cubicBezTo>
                      <a:cubicBezTo>
                        <a:pt x="78115" y="233362"/>
                        <a:pt x="33338" y="188585"/>
                        <a:pt x="33338" y="133350"/>
                      </a:cubicBez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373505" y="33404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留下材料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76312" y="37457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问题定义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76312" y="4012406"/>
                <a:ext cx="4561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非例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76312" y="427910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可证伪命题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76312" y="45458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证据地图初版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619500" y="1847850"/>
              <a:ext cx="2095500" cy="2926556"/>
              <a:chOff x="3619500" y="1847850"/>
              <a:chExt cx="2095500" cy="2926556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4229100" y="1847850"/>
                <a:ext cx="876300" cy="876300"/>
              </a:xfrm>
              <a:prstGeom prst="ellipse">
                <a:avLst/>
              </a:pr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316254" y="2184082"/>
                <a:ext cx="70199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判断门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3619500" y="3067050"/>
                <a:ext cx="2095500" cy="1619250"/>
              </a:xfrm>
              <a:prstGeom prst="roundRect">
                <a:avLst>
                  <a:gd name="adj" fmla="val 4706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3881438" y="3295650"/>
                <a:ext cx="200025" cy="266700"/>
                <a:chOff x="3881438" y="3295650"/>
                <a:chExt cx="200025" cy="2667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3948112" y="3295650"/>
                  <a:ext cx="66675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50006">
                      <a:moveTo>
                        <a:pt x="66675" y="0"/>
                      </a:moveTo>
                      <a:lnTo>
                        <a:pt x="0" y="0"/>
                      </a:lnTo>
                      <a:lnTo>
                        <a:pt x="0" y="50006"/>
                      </a:lnTo>
                      <a:lnTo>
                        <a:pt x="66675" y="50006"/>
                      </a:lnTo>
                      <a:lnTo>
                        <a:pt x="66675" y="0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3881438" y="3328988"/>
                  <a:ext cx="200025" cy="233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33362">
                      <a:moveTo>
                        <a:pt x="33338" y="0"/>
                      </a:moveTo>
                      <a:lnTo>
                        <a:pt x="0" y="0"/>
                      </a:lnTo>
                      <a:lnTo>
                        <a:pt x="0" y="233362"/>
                      </a:lnTo>
                      <a:lnTo>
                        <a:pt x="200025" y="233362"/>
                      </a:lnTo>
                      <a:lnTo>
                        <a:pt x="200025" y="0"/>
                      </a:lnTo>
                      <a:lnTo>
                        <a:pt x="166688" y="0"/>
                      </a:lnTo>
                      <a:lnTo>
                        <a:pt x="166688" y="50006"/>
                      </a:lnTo>
                      <a:lnTo>
                        <a:pt x="33338" y="50006"/>
                      </a:lnTo>
                      <a:lnTo>
                        <a:pt x="33338" y="0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4231005" y="33404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留下材料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833812" y="37457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研究判断记录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833812" y="4012406"/>
                <a:ext cx="74116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baseline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833812" y="42791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实验规格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833812" y="45458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取舍理由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477000" y="1847850"/>
              <a:ext cx="2095500" cy="2926556"/>
              <a:chOff x="6477000" y="1847850"/>
              <a:chExt cx="2095500" cy="2926556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7086600" y="1847850"/>
                <a:ext cx="876300" cy="876300"/>
              </a:xfrm>
              <a:prstGeom prst="ellipse">
                <a:avLst/>
              </a:pr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173754" y="2184082"/>
                <a:ext cx="70199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验证门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6477000" y="3067050"/>
                <a:ext cx="2095500" cy="1619250"/>
              </a:xfrm>
              <a:prstGeom prst="roundRect">
                <a:avLst>
                  <a:gd name="adj" fmla="val 4706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6705600" y="3309961"/>
                <a:ext cx="266700" cy="238077"/>
                <a:chOff x="6705600" y="3309961"/>
                <a:chExt cx="266700" cy="238077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6805780" y="3309961"/>
                  <a:ext cx="66340" cy="238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40" h="238077">
                      <a:moveTo>
                        <a:pt x="33338" y="0"/>
                      </a:moveTo>
                      <a:lnTo>
                        <a:pt x="0" y="233363"/>
                      </a:lnTo>
                      <a:lnTo>
                        <a:pt x="33002" y="238077"/>
                      </a:lnTo>
                      <a:lnTo>
                        <a:pt x="66340" y="4715"/>
                      </a:lnTo>
                      <a:lnTo>
                        <a:pt x="33338" y="0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890386" y="3370659"/>
                  <a:ext cx="81914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14" h="116681">
                      <a:moveTo>
                        <a:pt x="23573" y="116681"/>
                      </a:moveTo>
                      <a:lnTo>
                        <a:pt x="0" y="93108"/>
                      </a:lnTo>
                      <a:lnTo>
                        <a:pt x="34768" y="58341"/>
                      </a:lnTo>
                      <a:lnTo>
                        <a:pt x="0" y="23573"/>
                      </a:lnTo>
                      <a:lnTo>
                        <a:pt x="23573" y="0"/>
                      </a:lnTo>
                      <a:lnTo>
                        <a:pt x="81914" y="58341"/>
                      </a:lnTo>
                      <a:lnTo>
                        <a:pt x="23573" y="116681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705600" y="3370659"/>
                  <a:ext cx="81914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14" h="116681">
                      <a:moveTo>
                        <a:pt x="47146" y="58341"/>
                      </a:moveTo>
                      <a:lnTo>
                        <a:pt x="81914" y="93108"/>
                      </a:lnTo>
                      <a:lnTo>
                        <a:pt x="58341" y="116681"/>
                      </a:lnTo>
                      <a:lnTo>
                        <a:pt x="0" y="58341"/>
                      </a:lnTo>
                      <a:lnTo>
                        <a:pt x="58341" y="0"/>
                      </a:lnTo>
                      <a:lnTo>
                        <a:pt x="81914" y="23573"/>
                      </a:lnTo>
                      <a:lnTo>
                        <a:pt x="47146" y="58341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088505" y="33404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留下材料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91312" y="37457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实验日志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91312" y="40124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失败分析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91312" y="42791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AI 建议审核记录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691312" y="45458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评价报告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334500" y="1847850"/>
              <a:ext cx="2095500" cy="2926556"/>
              <a:chOff x="9334500" y="1847850"/>
              <a:chExt cx="2095500" cy="2926556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9944100" y="1847850"/>
                <a:ext cx="876300" cy="876300"/>
              </a:xfrm>
              <a:prstGeom prst="ellipse">
                <a:avLst/>
              </a:pr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031254" y="2184082"/>
                <a:ext cx="70199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论证门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9334500" y="3067050"/>
                <a:ext cx="2095500" cy="1619250"/>
              </a:xfrm>
              <a:prstGeom prst="roundRect">
                <a:avLst>
                  <a:gd name="adj" fmla="val 4706"/>
                </a:avLst>
              </a:prstGeom>
              <a:solidFill>
                <a:srgbClr val="FFFFFF"/>
              </a:solidFill>
              <a:ln w="9525">
                <a:solidFill>
                  <a:srgbClr val="D9DEE5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563100" y="3328988"/>
                <a:ext cx="2667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00025">
                    <a:moveTo>
                      <a:pt x="0" y="100012"/>
                    </a:moveTo>
                    <a:lnTo>
                      <a:pt x="51331" y="38416"/>
                    </a:lnTo>
                    <a:cubicBezTo>
                      <a:pt x="71615" y="14074"/>
                      <a:pt x="101664" y="0"/>
                      <a:pt x="133350" y="0"/>
                    </a:cubicBezTo>
                    <a:cubicBezTo>
                      <a:pt x="165036" y="0"/>
                      <a:pt x="195084" y="14074"/>
                      <a:pt x="215370" y="38416"/>
                    </a:cubicBezTo>
                    <a:lnTo>
                      <a:pt x="266700" y="100012"/>
                    </a:lnTo>
                    <a:lnTo>
                      <a:pt x="215370" y="161609"/>
                    </a:lnTo>
                    <a:cubicBezTo>
                      <a:pt x="195084" y="185952"/>
                      <a:pt x="165036" y="200025"/>
                      <a:pt x="133350" y="200025"/>
                    </a:cubicBezTo>
                    <a:cubicBezTo>
                      <a:pt x="101664" y="200025"/>
                      <a:pt x="71615" y="185952"/>
                      <a:pt x="51331" y="161609"/>
                    </a:cubicBezTo>
                    <a:lnTo>
                      <a:pt x="0" y="100012"/>
                    </a:lnTo>
                    <a:close/>
                    <a:moveTo>
                      <a:pt x="133350" y="150019"/>
                    </a:moveTo>
                    <a:cubicBezTo>
                      <a:pt x="160968" y="150019"/>
                      <a:pt x="183356" y="127630"/>
                      <a:pt x="183356" y="100012"/>
                    </a:cubicBezTo>
                    <a:cubicBezTo>
                      <a:pt x="183356" y="72395"/>
                      <a:pt x="160968" y="50006"/>
                      <a:pt x="133350" y="50006"/>
                    </a:cubicBezTo>
                    <a:cubicBezTo>
                      <a:pt x="105732" y="50006"/>
                      <a:pt x="83344" y="72395"/>
                      <a:pt x="83344" y="100012"/>
                    </a:cubicBezTo>
                    <a:cubicBezTo>
                      <a:pt x="83344" y="127630"/>
                      <a:pt x="105732" y="150019"/>
                      <a:pt x="133350" y="150019"/>
                    </a:cubicBez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9946005" y="33404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留下材料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548812" y="374570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结论追溯链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548812" y="40124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AI 使用披露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548812" y="42791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伦理合规说明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548812" y="454580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16B"/>
                    </a:solidFill>
                    <a:latin typeface="Arial"/>
                    <a:ea typeface="Microsoft YaHei"/>
                    <a:cs typeface="Arial"/>
                  </a:rPr>
                  <a:t>• 论文式短文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2000250" y="5314950"/>
            <a:ext cx="8191500" cy="590550"/>
            <a:chOff x="2000250" y="5314950"/>
            <a:chExt cx="8191500" cy="590550"/>
          </a:xfrm>
        </p:grpSpPr>
        <p:sp>
          <p:nvSpPr>
            <p:cNvPr id="56" name="Rectangle 56"/>
            <p:cNvSpPr/>
            <p:nvPr/>
          </p:nvSpPr>
          <p:spPr>
            <a:xfrm>
              <a:off x="2000250" y="5314950"/>
              <a:ext cx="8191500" cy="590550"/>
            </a:xfrm>
            <a:prstGeom prst="roundRect">
              <a:avLst>
                <a:gd name="adj" fmla="val 12903"/>
              </a:avLst>
            </a:prstGeom>
            <a:solidFill>
              <a:srgbClr val="8C1515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2378869" y="5467350"/>
              <a:ext cx="214312" cy="285750"/>
              <a:chOff x="2378869" y="5467350"/>
              <a:chExt cx="214312" cy="28575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2378869" y="5581650"/>
                <a:ext cx="214312" cy="82153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82153">
                    <a:moveTo>
                      <a:pt x="198902" y="9111"/>
                    </a:moveTo>
                    <a:cubicBezTo>
                      <a:pt x="203925" y="6599"/>
                      <a:pt x="209174" y="3568"/>
                      <a:pt x="214312" y="0"/>
                    </a:cubicBezTo>
                    <a:lnTo>
                      <a:pt x="214312" y="28575"/>
                    </a:lnTo>
                    <a:cubicBezTo>
                      <a:pt x="214312" y="58165"/>
                      <a:pt x="166337" y="82153"/>
                      <a:pt x="107156" y="82153"/>
                    </a:cubicBezTo>
                    <a:cubicBezTo>
                      <a:pt x="47975" y="82153"/>
                      <a:pt x="0" y="58165"/>
                      <a:pt x="0" y="28575"/>
                    </a:cubicBezTo>
                    <a:lnTo>
                      <a:pt x="0" y="0"/>
                    </a:lnTo>
                    <a:cubicBezTo>
                      <a:pt x="5138" y="3568"/>
                      <a:pt x="10387" y="6599"/>
                      <a:pt x="15411" y="9111"/>
                    </a:cubicBezTo>
                    <a:cubicBezTo>
                      <a:pt x="40737" y="21774"/>
                      <a:pt x="73223" y="28575"/>
                      <a:pt x="107156" y="28575"/>
                    </a:cubicBezTo>
                    <a:cubicBezTo>
                      <a:pt x="141089" y="28575"/>
                      <a:pt x="173575" y="21774"/>
                      <a:pt x="198902" y="9111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2378869" y="5670947"/>
                <a:ext cx="214312" cy="82153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82153">
                    <a:moveTo>
                      <a:pt x="0" y="0"/>
                    </a:moveTo>
                    <a:lnTo>
                      <a:pt x="0" y="28575"/>
                    </a:lnTo>
                    <a:cubicBezTo>
                      <a:pt x="0" y="58166"/>
                      <a:pt x="47975" y="82153"/>
                      <a:pt x="107156" y="82153"/>
                    </a:cubicBezTo>
                    <a:cubicBezTo>
                      <a:pt x="166337" y="82153"/>
                      <a:pt x="214312" y="58166"/>
                      <a:pt x="214312" y="28575"/>
                    </a:cubicBezTo>
                    <a:lnTo>
                      <a:pt x="214312" y="0"/>
                    </a:lnTo>
                    <a:cubicBezTo>
                      <a:pt x="209174" y="3568"/>
                      <a:pt x="203925" y="6599"/>
                      <a:pt x="198902" y="9112"/>
                    </a:cubicBezTo>
                    <a:cubicBezTo>
                      <a:pt x="173575" y="21774"/>
                      <a:pt x="141089" y="28575"/>
                      <a:pt x="107156" y="28575"/>
                    </a:cubicBezTo>
                    <a:cubicBezTo>
                      <a:pt x="73223" y="28575"/>
                      <a:pt x="40737" y="21774"/>
                      <a:pt x="15411" y="9112"/>
                    </a:cubicBezTo>
                    <a:cubicBezTo>
                      <a:pt x="10387" y="6599"/>
                      <a:pt x="5138" y="3568"/>
                      <a:pt x="0" y="0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2378869" y="5467350"/>
                <a:ext cx="214312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7156">
                    <a:moveTo>
                      <a:pt x="107156" y="0"/>
                    </a:moveTo>
                    <a:cubicBezTo>
                      <a:pt x="166337" y="0"/>
                      <a:pt x="214312" y="23988"/>
                      <a:pt x="214312" y="53578"/>
                    </a:cubicBezTo>
                    <a:cubicBezTo>
                      <a:pt x="214312" y="83168"/>
                      <a:pt x="166337" y="107156"/>
                      <a:pt x="107156" y="107156"/>
                    </a:cubicBezTo>
                    <a:cubicBezTo>
                      <a:pt x="47975" y="107156"/>
                      <a:pt x="0" y="83168"/>
                      <a:pt x="0" y="53578"/>
                    </a:cubicBezTo>
                    <a:cubicBezTo>
                      <a:pt x="0" y="23988"/>
                      <a:pt x="47975" y="0"/>
                      <a:pt x="107156" y="0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2798445" y="5517832"/>
              <a:ext cx="60816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每个门都要求留下可审查材料，让 AI 参与过程可复盘、可追责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324177" y="65322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80060" y="318135"/>
            <a:ext cx="11197590" cy="977265"/>
            <a:chOff x="480060" y="318135"/>
            <a:chExt cx="11197590" cy="977265"/>
          </a:xfrm>
        </p:grpSpPr>
        <p:sp>
          <p:nvSpPr>
            <p:cNvPr id="3" name="TextBox 3"/>
            <p:cNvSpPr txBox="1"/>
            <p:nvPr/>
          </p:nvSpPr>
          <p:spPr>
            <a:xfrm>
              <a:off x="480060" y="318135"/>
              <a:ext cx="806427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主讲人的适配性：科研方法、AI 实践与课程转化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" y="800100"/>
              <a:ext cx="111633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6755" y="968692"/>
              <a:ext cx="5434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本页保留真实经历待填槽位；不虚构个人履历，不使用空泛形容词。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4850" y="1733550"/>
            <a:ext cx="3333750" cy="3448050"/>
            <a:chOff x="704850" y="1733550"/>
            <a:chExt cx="3333750" cy="3448050"/>
          </a:xfrm>
        </p:grpSpPr>
        <p:sp>
          <p:nvSpPr>
            <p:cNvPr id="7" name="Rectangle 7"/>
            <p:cNvSpPr/>
            <p:nvPr/>
          </p:nvSpPr>
          <p:spPr>
            <a:xfrm>
              <a:off x="704850" y="1733550"/>
              <a:ext cx="3333750" cy="3448050"/>
            </a:xfrm>
            <a:prstGeom prst="roundRect">
              <a:avLst>
                <a:gd name="adj" fmla="val 2286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04850" y="1733550"/>
              <a:ext cx="3333750" cy="704850"/>
            </a:xfrm>
            <a:prstGeom prst="roundRect">
              <a:avLst>
                <a:gd name="adj" fmla="val 10811"/>
              </a:avLst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09650" y="1964531"/>
              <a:ext cx="323850" cy="263128"/>
            </a:xfrm>
            <a:custGeom>
              <a:avLst/>
              <a:gdLst/>
              <a:ahLst/>
              <a:cxnLst/>
              <a:rect l="l" t="t" r="r" b="b"/>
              <a:pathLst>
                <a:path w="323850" h="263128">
                  <a:moveTo>
                    <a:pt x="0" y="0"/>
                  </a:moveTo>
                  <a:lnTo>
                    <a:pt x="72579" y="0"/>
                  </a:lnTo>
                  <a:cubicBezTo>
                    <a:pt x="90907" y="0"/>
                    <a:pt x="108484" y="7281"/>
                    <a:pt x="121444" y="20241"/>
                  </a:cubicBezTo>
                  <a:cubicBezTo>
                    <a:pt x="134404" y="33200"/>
                    <a:pt x="141684" y="50778"/>
                    <a:pt x="141684" y="69106"/>
                  </a:cubicBezTo>
                  <a:lnTo>
                    <a:pt x="141684" y="182166"/>
                  </a:lnTo>
                  <a:lnTo>
                    <a:pt x="182166" y="182166"/>
                  </a:lnTo>
                  <a:lnTo>
                    <a:pt x="182166" y="69106"/>
                  </a:lnTo>
                  <a:cubicBezTo>
                    <a:pt x="182166" y="50778"/>
                    <a:pt x="189446" y="33200"/>
                    <a:pt x="202406" y="20241"/>
                  </a:cubicBezTo>
                  <a:cubicBezTo>
                    <a:pt x="215366" y="7281"/>
                    <a:pt x="232943" y="0"/>
                    <a:pt x="251271" y="0"/>
                  </a:cubicBezTo>
                  <a:lnTo>
                    <a:pt x="323850" y="0"/>
                  </a:lnTo>
                  <a:lnTo>
                    <a:pt x="323850" y="222647"/>
                  </a:lnTo>
                  <a:lnTo>
                    <a:pt x="222647" y="222647"/>
                  </a:lnTo>
                  <a:lnTo>
                    <a:pt x="182166" y="263128"/>
                  </a:lnTo>
                  <a:lnTo>
                    <a:pt x="141684" y="263128"/>
                  </a:lnTo>
                  <a:lnTo>
                    <a:pt x="101203" y="222647"/>
                  </a:lnTo>
                  <a:lnTo>
                    <a:pt x="0" y="2226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82090" y="1948815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科研方法积累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1555" y="27308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熟悉从问题定义、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1555" y="30356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文献分析、实验设计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1555" y="33404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到论文表达的完整流程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09650" y="4095750"/>
              <a:ext cx="2724150" cy="666750"/>
            </a:xfrm>
            <a:prstGeom prst="roundRect">
              <a:avLst>
                <a:gd name="adj" fmla="val 11429"/>
              </a:avLst>
            </a:prstGeom>
            <a:solidFill>
              <a:srgbClr val="F8ECEC"/>
            </a:solidFill>
            <a:ln w="14288">
              <a:solidFill>
                <a:srgbClr val="B68B2D"/>
              </a:solidFill>
              <a:custDash>
                <a:ds d="533333" sp="333333"/>
              </a:custDash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195388" y="4286250"/>
              <a:ext cx="214312" cy="214313"/>
              <a:chOff x="1195388" y="4286250"/>
              <a:chExt cx="214312" cy="21431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266825" y="42862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00012" y="0"/>
                    </a:moveTo>
                    <a:lnTo>
                      <a:pt x="142875" y="42862"/>
                    </a:lnTo>
                    <a:lnTo>
                      <a:pt x="42862" y="142875"/>
                    </a:lnTo>
                    <a:lnTo>
                      <a:pt x="0" y="142875"/>
                    </a:lnTo>
                    <a:lnTo>
                      <a:pt x="0" y="100012"/>
                    </a:ln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95388" y="43005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0"/>
                    </a:moveTo>
                    <a:lnTo>
                      <a:pt x="0" y="200025"/>
                    </a:lnTo>
                    <a:lnTo>
                      <a:pt x="200025" y="200025"/>
                    </a:lnTo>
                    <a:lnTo>
                      <a:pt x="200025" y="114300"/>
                    </a:lnTo>
                    <a:lnTo>
                      <a:pt x="171450" y="114300"/>
                    </a:lnTo>
                    <a:lnTo>
                      <a:pt x="171450" y="171450"/>
                    </a:lnTo>
                    <a:lnTo>
                      <a:pt x="28575" y="171450"/>
                    </a:lnTo>
                    <a:lnTo>
                      <a:pt x="28575" y="28575"/>
                    </a:lnTo>
                    <a:lnTo>
                      <a:pt x="85725" y="28575"/>
                    </a:lnTo>
                    <a:lnTo>
                      <a:pt x="857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508760" y="42900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待填真实经历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0665" y="4534852"/>
              <a:ext cx="2189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研究方向 / 论文 / 项目 / 指导经历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429125" y="1733550"/>
            <a:ext cx="3422809" cy="3448050"/>
            <a:chOff x="4429125" y="1733550"/>
            <a:chExt cx="3422809" cy="3448050"/>
          </a:xfrm>
        </p:grpSpPr>
        <p:sp>
          <p:nvSpPr>
            <p:cNvPr id="21" name="Rectangle 21"/>
            <p:cNvSpPr/>
            <p:nvPr/>
          </p:nvSpPr>
          <p:spPr>
            <a:xfrm>
              <a:off x="4429125" y="1733550"/>
              <a:ext cx="3333750" cy="3448050"/>
            </a:xfrm>
            <a:prstGeom prst="roundRect">
              <a:avLst>
                <a:gd name="adj" fmla="val 2286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29125" y="1733550"/>
              <a:ext cx="3333750" cy="704850"/>
            </a:xfrm>
            <a:prstGeom prst="roundRect">
              <a:avLst>
                <a:gd name="adj" fmla="val 10811"/>
              </a:avLst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774406" y="1924050"/>
              <a:ext cx="242888" cy="323850"/>
            </a:xfrm>
            <a:custGeom>
              <a:avLst/>
              <a:gdLst/>
              <a:ahLst/>
              <a:cxnLst/>
              <a:rect l="l" t="t" r="r" b="b"/>
              <a:pathLst>
                <a:path w="242888" h="323850">
                  <a:moveTo>
                    <a:pt x="141684" y="141684"/>
                  </a:moveTo>
                  <a:lnTo>
                    <a:pt x="161925" y="0"/>
                  </a:lnTo>
                  <a:lnTo>
                    <a:pt x="121444" y="0"/>
                  </a:lnTo>
                  <a:lnTo>
                    <a:pt x="0" y="141684"/>
                  </a:lnTo>
                  <a:lnTo>
                    <a:pt x="0" y="182166"/>
                  </a:lnTo>
                  <a:lnTo>
                    <a:pt x="101203" y="182166"/>
                  </a:lnTo>
                  <a:lnTo>
                    <a:pt x="80962" y="323850"/>
                  </a:lnTo>
                  <a:lnTo>
                    <a:pt x="121444" y="323850"/>
                  </a:lnTo>
                  <a:lnTo>
                    <a:pt x="242888" y="182166"/>
                  </a:lnTo>
                  <a:lnTo>
                    <a:pt x="242888" y="141684"/>
                  </a:lnTo>
                  <a:lnTo>
                    <a:pt x="141684" y="141684"/>
                  </a:ln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06365" y="1948815"/>
              <a:ext cx="184594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AI 与 Agent 实践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35830" y="2730818"/>
              <a:ext cx="20955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亲自实践过 AI 辅助研究、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35830" y="30356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代码生成、实验迭代或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35830" y="3340418"/>
              <a:ext cx="19695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Research Agent 工作流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33925" y="4095750"/>
              <a:ext cx="2724150" cy="666750"/>
            </a:xfrm>
            <a:prstGeom prst="roundRect">
              <a:avLst>
                <a:gd name="adj" fmla="val 11429"/>
              </a:avLst>
            </a:prstGeom>
            <a:solidFill>
              <a:srgbClr val="F8ECEC"/>
            </a:solidFill>
            <a:ln w="14288">
              <a:solidFill>
                <a:srgbClr val="B68B2D"/>
              </a:solidFill>
              <a:custDash>
                <a:ds d="533333" sp="333333"/>
              </a:custDash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919662" y="4286250"/>
              <a:ext cx="214313" cy="214313"/>
              <a:chOff x="4919662" y="4286250"/>
              <a:chExt cx="214313" cy="21431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991100" y="42862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00012" y="0"/>
                    </a:moveTo>
                    <a:lnTo>
                      <a:pt x="142875" y="42862"/>
                    </a:lnTo>
                    <a:lnTo>
                      <a:pt x="42862" y="142875"/>
                    </a:lnTo>
                    <a:lnTo>
                      <a:pt x="0" y="142875"/>
                    </a:lnTo>
                    <a:lnTo>
                      <a:pt x="0" y="100012"/>
                    </a:ln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919662" y="43005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0"/>
                    </a:moveTo>
                    <a:lnTo>
                      <a:pt x="0" y="200025"/>
                    </a:lnTo>
                    <a:lnTo>
                      <a:pt x="200025" y="200025"/>
                    </a:lnTo>
                    <a:lnTo>
                      <a:pt x="200025" y="114300"/>
                    </a:lnTo>
                    <a:lnTo>
                      <a:pt x="171450" y="114300"/>
                    </a:lnTo>
                    <a:lnTo>
                      <a:pt x="171450" y="171450"/>
                    </a:lnTo>
                    <a:lnTo>
                      <a:pt x="28575" y="171450"/>
                    </a:lnTo>
                    <a:lnTo>
                      <a:pt x="28575" y="28575"/>
                    </a:lnTo>
                    <a:lnTo>
                      <a:pt x="85725" y="28575"/>
                    </a:lnTo>
                    <a:lnTo>
                      <a:pt x="857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233035" y="42900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待填真实经历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34940" y="4534852"/>
              <a:ext cx="26169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AI 工具链 / Agent 实践 / 自动化实验案例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153400" y="1733550"/>
            <a:ext cx="3333750" cy="3448050"/>
            <a:chOff x="8153400" y="1733550"/>
            <a:chExt cx="3333750" cy="3448050"/>
          </a:xfrm>
        </p:grpSpPr>
        <p:sp>
          <p:nvSpPr>
            <p:cNvPr id="35" name="Rectangle 35"/>
            <p:cNvSpPr/>
            <p:nvPr/>
          </p:nvSpPr>
          <p:spPr>
            <a:xfrm>
              <a:off x="8153400" y="1733550"/>
              <a:ext cx="3333750" cy="3448050"/>
            </a:xfrm>
            <a:prstGeom prst="roundRect">
              <a:avLst>
                <a:gd name="adj" fmla="val 2286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153400" y="1733550"/>
              <a:ext cx="3333750" cy="704850"/>
            </a:xfrm>
            <a:prstGeom prst="roundRect">
              <a:avLst>
                <a:gd name="adj" fmla="val 10811"/>
              </a:avLst>
            </a:prstGeom>
            <a:solidFill>
              <a:srgbClr val="8C1515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498681" y="1924050"/>
              <a:ext cx="242888" cy="323850"/>
              <a:chOff x="8498681" y="1924050"/>
              <a:chExt cx="242888" cy="3238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579644" y="1924050"/>
                <a:ext cx="80962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60722">
                    <a:moveTo>
                      <a:pt x="80962" y="0"/>
                    </a:moveTo>
                    <a:lnTo>
                      <a:pt x="0" y="0"/>
                    </a:lnTo>
                    <a:lnTo>
                      <a:pt x="0" y="60722"/>
                    </a:lnTo>
                    <a:lnTo>
                      <a:pt x="80962" y="60722"/>
                    </a:lnTo>
                    <a:lnTo>
                      <a:pt x="80962" y="0"/>
                    </a:ln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98681" y="1964531"/>
                <a:ext cx="242888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83369">
                    <a:moveTo>
                      <a:pt x="40481" y="0"/>
                    </a:moveTo>
                    <a:lnTo>
                      <a:pt x="0" y="0"/>
                    </a:lnTo>
                    <a:lnTo>
                      <a:pt x="0" y="283369"/>
                    </a:lnTo>
                    <a:lnTo>
                      <a:pt x="242888" y="283369"/>
                    </a:lnTo>
                    <a:lnTo>
                      <a:pt x="242888" y="0"/>
                    </a:lnTo>
                    <a:lnTo>
                      <a:pt x="202406" y="0"/>
                    </a:lnTo>
                    <a:lnTo>
                      <a:pt x="202406" y="60722"/>
                    </a:lnTo>
                    <a:lnTo>
                      <a:pt x="40481" y="60722"/>
                    </a:lnTo>
                    <a:lnTo>
                      <a:pt x="40481" y="0"/>
                    </a:ln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930640" y="1948815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课程转化能力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0105" y="27308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能把个人经验转化为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0105" y="30356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模板、作业、门条件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60105" y="334041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和可评分产出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458200" y="4095750"/>
              <a:ext cx="2724150" cy="666750"/>
            </a:xfrm>
            <a:prstGeom prst="roundRect">
              <a:avLst>
                <a:gd name="adj" fmla="val 11429"/>
              </a:avLst>
            </a:prstGeom>
            <a:solidFill>
              <a:srgbClr val="F8ECEC"/>
            </a:solidFill>
            <a:ln w="14288">
              <a:solidFill>
                <a:srgbClr val="B68B2D"/>
              </a:solidFill>
              <a:custDash>
                <a:ds d="533333" sp="333333"/>
              </a:custDash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643938" y="4286250"/>
              <a:ext cx="214312" cy="214313"/>
              <a:chOff x="8643938" y="4286250"/>
              <a:chExt cx="214312" cy="21431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715375" y="42862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00012" y="0"/>
                    </a:moveTo>
                    <a:lnTo>
                      <a:pt x="142875" y="42862"/>
                    </a:lnTo>
                    <a:lnTo>
                      <a:pt x="42862" y="142875"/>
                    </a:lnTo>
                    <a:lnTo>
                      <a:pt x="0" y="142875"/>
                    </a:lnTo>
                    <a:lnTo>
                      <a:pt x="0" y="100012"/>
                    </a:ln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643938" y="43005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0"/>
                    </a:moveTo>
                    <a:lnTo>
                      <a:pt x="0" y="200025"/>
                    </a:lnTo>
                    <a:lnTo>
                      <a:pt x="200025" y="200025"/>
                    </a:lnTo>
                    <a:lnTo>
                      <a:pt x="200025" y="114300"/>
                    </a:lnTo>
                    <a:lnTo>
                      <a:pt x="171450" y="114300"/>
                    </a:lnTo>
                    <a:lnTo>
                      <a:pt x="171450" y="171450"/>
                    </a:lnTo>
                    <a:lnTo>
                      <a:pt x="28575" y="171450"/>
                    </a:lnTo>
                    <a:lnTo>
                      <a:pt x="28575" y="28575"/>
                    </a:lnTo>
                    <a:lnTo>
                      <a:pt x="85725" y="28575"/>
                    </a:lnTo>
                    <a:lnTo>
                      <a:pt x="857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957310" y="42900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待填真实经历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59215" y="4534852"/>
              <a:ext cx="2329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课程 / 讲座 / 训练营 / 学生指导经历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866900" y="5543550"/>
            <a:ext cx="8458200" cy="514350"/>
            <a:chOff x="1866900" y="5543550"/>
            <a:chExt cx="8458200" cy="514350"/>
          </a:xfrm>
        </p:grpSpPr>
        <p:sp>
          <p:nvSpPr>
            <p:cNvPr id="51" name="Rectangle 51"/>
            <p:cNvSpPr/>
            <p:nvPr/>
          </p:nvSpPr>
          <p:spPr>
            <a:xfrm>
              <a:off x="1866900" y="5543550"/>
              <a:ext cx="8458200" cy="514350"/>
            </a:xfrm>
            <a:prstGeom prst="roundRect">
              <a:avLst>
                <a:gd name="adj" fmla="val 14815"/>
              </a:avLst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037540" y="5689282"/>
              <a:ext cx="81169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要证明的不是“我熟悉 AI”，而是能把 AI 实践转化为可学习、可操作、可评价的课程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54" name="TextBox 54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54181" y="6532245"/>
              <a:ext cx="334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4" grpId="0"/>
      <p:bldP spid="50" grpId="0"/>
      <p:bldP spid="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80060" y="318135"/>
            <a:ext cx="11197590" cy="977265"/>
            <a:chOff x="480060" y="318135"/>
            <a:chExt cx="11197590" cy="977265"/>
          </a:xfrm>
        </p:grpSpPr>
        <p:sp>
          <p:nvSpPr>
            <p:cNvPr id="3" name="TextBox 3"/>
            <p:cNvSpPr txBox="1"/>
            <p:nvPr/>
          </p:nvSpPr>
          <p:spPr>
            <a:xfrm>
              <a:off x="480060" y="318135"/>
              <a:ext cx="64953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课程产出：一个可继续发展的研究雏形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" y="800100"/>
              <a:ext cx="111633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6755" y="968692"/>
              <a:ext cx="59750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学生拿走的不是工具清单，而是一套能延续到自己科研工作的材料和习惯。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23900" y="1657350"/>
            <a:ext cx="6096000" cy="3638550"/>
            <a:chOff x="723900" y="1657350"/>
            <a:chExt cx="6096000" cy="3638550"/>
          </a:xfrm>
        </p:grpSpPr>
        <p:sp>
          <p:nvSpPr>
            <p:cNvPr id="7" name="Rectangle 7"/>
            <p:cNvSpPr/>
            <p:nvPr/>
          </p:nvSpPr>
          <p:spPr>
            <a:xfrm>
              <a:off x="723900" y="1657350"/>
              <a:ext cx="6096000" cy="3638550"/>
            </a:xfrm>
            <a:prstGeom prst="roundRect">
              <a:avLst>
                <a:gd name="adj" fmla="val 2094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3940" y="1882140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学生能够完成的科研动作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066800" y="2419350"/>
              <a:ext cx="5410200" cy="400050"/>
              <a:chOff x="1066800" y="2419350"/>
              <a:chExt cx="5410200" cy="4000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1066800" y="2419350"/>
                <a:ext cx="54102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F8ECEC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219200" y="2505075"/>
                <a:ext cx="228600" cy="228600"/>
                <a:chOff x="1219200" y="2505075"/>
                <a:chExt cx="228600" cy="2286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276350" y="256222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57150" y="0"/>
                      </a:moveTo>
                      <a:cubicBezTo>
                        <a:pt x="25587" y="0"/>
                        <a:pt x="0" y="25587"/>
                        <a:pt x="0" y="57150"/>
                      </a:cubicBez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lose/>
                      <a:moveTo>
                        <a:pt x="28575" y="57150"/>
                      </a:moveTo>
                      <a:cubicBezTo>
                        <a:pt x="28575" y="41368"/>
                        <a:pt x="41368" y="28575"/>
                        <a:pt x="57150" y="28575"/>
                      </a:cubicBezTo>
                      <a:cubicBezTo>
                        <a:pt x="72932" y="28575"/>
                        <a:pt x="85725" y="41368"/>
                        <a:pt x="85725" y="57150"/>
                      </a:cubicBezTo>
                      <a:cubicBezTo>
                        <a:pt x="85725" y="72932"/>
                        <a:pt x="72932" y="85725"/>
                        <a:pt x="57150" y="85725"/>
                      </a:cubicBezTo>
                      <a:cubicBezTo>
                        <a:pt x="41368" y="85725"/>
                        <a:pt x="28575" y="72932"/>
                        <a:pt x="28575" y="57150"/>
                      </a:cubicBez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219200" y="2505075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114300" y="0"/>
                      </a:moveTo>
                      <a:cubicBezTo>
                        <a:pt x="51174" y="0"/>
                        <a:pt x="0" y="51174"/>
                        <a:pt x="0" y="114300"/>
                      </a:cubicBezTo>
                      <a:cubicBezTo>
                        <a:pt x="0" y="177426"/>
                        <a:pt x="51174" y="228600"/>
                        <a:pt x="114300" y="228600"/>
                      </a:cubicBezTo>
                      <a:cubicBezTo>
                        <a:pt x="177426" y="228600"/>
                        <a:pt x="228600" y="177426"/>
                        <a:pt x="228600" y="114300"/>
                      </a:cubicBezTo>
                      <a:cubicBezTo>
                        <a:pt x="228600" y="51174"/>
                        <a:pt x="177426" y="0"/>
                        <a:pt x="114300" y="0"/>
                      </a:cubicBezTo>
                      <a:close/>
                      <a:moveTo>
                        <a:pt x="28575" y="114300"/>
                      </a:moveTo>
                      <a:cubicBezTo>
                        <a:pt x="28575" y="66955"/>
                        <a:pt x="66955" y="28575"/>
                        <a:pt x="114300" y="28575"/>
                      </a:cubicBezTo>
                      <a:cubicBezTo>
                        <a:pt x="161644" y="28575"/>
                        <a:pt x="200025" y="66955"/>
                        <a:pt x="200025" y="114300"/>
                      </a:cubicBezTo>
                      <a:cubicBezTo>
                        <a:pt x="200025" y="161644"/>
                        <a:pt x="161644" y="200025"/>
                        <a:pt x="114300" y="200025"/>
                      </a:cubicBezTo>
                      <a:cubicBezTo>
                        <a:pt x="66955" y="200025"/>
                        <a:pt x="28575" y="161644"/>
                        <a:pt x="28575" y="114300"/>
                      </a:cubicBez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564005" y="2540318"/>
                <a:ext cx="273462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把宽泛兴趣收敛为可验证研究问题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66800" y="2952750"/>
              <a:ext cx="5410200" cy="400050"/>
              <a:chOff x="1066800" y="2952750"/>
              <a:chExt cx="5410200" cy="4000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1066800" y="2952750"/>
                <a:ext cx="54102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F8ECEC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219200" y="3067050"/>
                <a:ext cx="228600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85738">
                    <a:moveTo>
                      <a:pt x="0" y="0"/>
                    </a:moveTo>
                    <a:lnTo>
                      <a:pt x="51232" y="0"/>
                    </a:lnTo>
                    <a:cubicBezTo>
                      <a:pt x="64169" y="0"/>
                      <a:pt x="76577" y="5139"/>
                      <a:pt x="85725" y="14288"/>
                    </a:cubicBezTo>
                    <a:cubicBezTo>
                      <a:pt x="94873" y="23436"/>
                      <a:pt x="100012" y="35843"/>
                      <a:pt x="100012" y="48781"/>
                    </a:cubicBezTo>
                    <a:lnTo>
                      <a:pt x="100012" y="128588"/>
                    </a:lnTo>
                    <a:lnTo>
                      <a:pt x="128588" y="128588"/>
                    </a:lnTo>
                    <a:lnTo>
                      <a:pt x="128588" y="48781"/>
                    </a:lnTo>
                    <a:cubicBezTo>
                      <a:pt x="128588" y="35843"/>
                      <a:pt x="133727" y="23436"/>
                      <a:pt x="142875" y="14288"/>
                    </a:cubicBezTo>
                    <a:cubicBezTo>
                      <a:pt x="152023" y="5139"/>
                      <a:pt x="164431" y="0"/>
                      <a:pt x="177368" y="0"/>
                    </a:cubicBezTo>
                    <a:lnTo>
                      <a:pt x="228600" y="0"/>
                    </a:lnTo>
                    <a:lnTo>
                      <a:pt x="228600" y="157162"/>
                    </a:lnTo>
                    <a:lnTo>
                      <a:pt x="157162" y="157162"/>
                    </a:lnTo>
                    <a:lnTo>
                      <a:pt x="128588" y="185738"/>
                    </a:lnTo>
                    <a:lnTo>
                      <a:pt x="100012" y="185738"/>
                    </a:lnTo>
                    <a:lnTo>
                      <a:pt x="71438" y="157162"/>
                    </a:lnTo>
                    <a:lnTo>
                      <a:pt x="0" y="1571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564005" y="3073718"/>
                <a:ext cx="29956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用 AI 辅助文献检索、阅读和证据整理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66800" y="3486150"/>
              <a:ext cx="5410200" cy="400050"/>
              <a:chOff x="1066800" y="3486150"/>
              <a:chExt cx="5410200" cy="4000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66800" y="3486150"/>
                <a:ext cx="54102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F8ECEC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247775" y="3571875"/>
                <a:ext cx="171450" cy="228600"/>
                <a:chOff x="1247775" y="3571875"/>
                <a:chExt cx="171450" cy="2286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304925" y="3571875"/>
                  <a:ext cx="57150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42862">
                      <a:moveTo>
                        <a:pt x="57150" y="0"/>
                      </a:moveTo>
                      <a:lnTo>
                        <a:pt x="0" y="0"/>
                      </a:lnTo>
                      <a:lnTo>
                        <a:pt x="0" y="42862"/>
                      </a:lnTo>
                      <a:lnTo>
                        <a:pt x="57150" y="42862"/>
                      </a:lnTo>
                      <a:lnTo>
                        <a:pt x="57150" y="0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247775" y="3600450"/>
                  <a:ext cx="1714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00025">
                      <a:moveTo>
                        <a:pt x="28575" y="0"/>
                      </a:moveTo>
                      <a:lnTo>
                        <a:pt x="0" y="0"/>
                      </a:lnTo>
                      <a:lnTo>
                        <a:pt x="0" y="200025"/>
                      </a:lnTo>
                      <a:lnTo>
                        <a:pt x="171450" y="200025"/>
                      </a:lnTo>
                      <a:lnTo>
                        <a:pt x="171450" y="0"/>
                      </a:lnTo>
                      <a:lnTo>
                        <a:pt x="142875" y="0"/>
                      </a:lnTo>
                      <a:lnTo>
                        <a:pt x="142875" y="42862"/>
                      </a:lnTo>
                      <a:lnTo>
                        <a:pt x="28575" y="42862"/>
                      </a:lnTo>
                      <a:lnTo>
                        <a:pt x="28575" y="0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564005" y="3607118"/>
                <a:ext cx="29506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设计 baseline、实验规格和评价报告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066800" y="4019550"/>
              <a:ext cx="5410200" cy="400050"/>
              <a:chOff x="1066800" y="4019550"/>
              <a:chExt cx="5410200" cy="4000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066800" y="4019550"/>
                <a:ext cx="54102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F8ECEC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1219200" y="4117542"/>
                <a:ext cx="228600" cy="204066"/>
                <a:chOff x="1219200" y="4117542"/>
                <a:chExt cx="228600" cy="204066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1305069" y="4117542"/>
                  <a:ext cx="56863" cy="204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63" h="204066">
                      <a:moveTo>
                        <a:pt x="28575" y="0"/>
                      </a:moveTo>
                      <a:lnTo>
                        <a:pt x="0" y="200025"/>
                      </a:lnTo>
                      <a:lnTo>
                        <a:pt x="28288" y="204066"/>
                      </a:lnTo>
                      <a:lnTo>
                        <a:pt x="56863" y="4041"/>
                      </a:lnTo>
                      <a:lnTo>
                        <a:pt x="28575" y="0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377588" y="4169569"/>
                  <a:ext cx="702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12" h="100012">
                      <a:moveTo>
                        <a:pt x="20205" y="100012"/>
                      </a:moveTo>
                      <a:lnTo>
                        <a:pt x="0" y="79807"/>
                      </a:lnTo>
                      <a:lnTo>
                        <a:pt x="29801" y="50006"/>
                      </a:lnTo>
                      <a:lnTo>
                        <a:pt x="0" y="20206"/>
                      </a:lnTo>
                      <a:lnTo>
                        <a:pt x="20205" y="0"/>
                      </a:lnTo>
                      <a:lnTo>
                        <a:pt x="70212" y="50006"/>
                      </a:lnTo>
                      <a:lnTo>
                        <a:pt x="20205" y="100012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219200" y="4169569"/>
                  <a:ext cx="702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12" h="100012">
                      <a:moveTo>
                        <a:pt x="40411" y="50006"/>
                      </a:moveTo>
                      <a:lnTo>
                        <a:pt x="70212" y="79807"/>
                      </a:lnTo>
                      <a:lnTo>
                        <a:pt x="50006" y="100012"/>
                      </a:lnTo>
                      <a:lnTo>
                        <a:pt x="0" y="50006"/>
                      </a:lnTo>
                      <a:lnTo>
                        <a:pt x="50006" y="0"/>
                      </a:lnTo>
                      <a:lnTo>
                        <a:pt x="70212" y="20206"/>
                      </a:lnTo>
                      <a:lnTo>
                        <a:pt x="40411" y="50006"/>
                      </a:lnTo>
                      <a:close/>
                    </a:path>
                  </a:pathLst>
                </a:custGeom>
                <a:solidFill>
                  <a:srgbClr val="8C1515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1564005" y="4140518"/>
                <a:ext cx="23745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使用自动化方法支持实验迭代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066800" y="4552950"/>
              <a:ext cx="5410200" cy="400050"/>
              <a:chOff x="1066800" y="4552950"/>
              <a:chExt cx="5410200" cy="4000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1066800" y="4552950"/>
                <a:ext cx="54102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F8ECEC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233488" y="4638675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47864" y="191351"/>
                    </a:moveTo>
                    <a:lnTo>
                      <a:pt x="100012" y="228600"/>
                    </a:lnTo>
                    <a:lnTo>
                      <a:pt x="152160" y="191351"/>
                    </a:lnTo>
                    <a:cubicBezTo>
                      <a:pt x="182198" y="169896"/>
                      <a:pt x="200025" y="135255"/>
                      <a:pt x="200025" y="98342"/>
                    </a:cubicBezTo>
                    <a:lnTo>
                      <a:pt x="200025" y="42862"/>
                    </a:lnTo>
                    <a:lnTo>
                      <a:pt x="100012" y="0"/>
                    </a:lnTo>
                    <a:lnTo>
                      <a:pt x="0" y="42862"/>
                    </a:lnTo>
                    <a:lnTo>
                      <a:pt x="0" y="98342"/>
                    </a:lnTo>
                    <a:cubicBezTo>
                      <a:pt x="0" y="135255"/>
                      <a:pt x="17827" y="169896"/>
                      <a:pt x="47864" y="191351"/>
                    </a:cubicBez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564005" y="4673918"/>
                <a:ext cx="28156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记录 AI 使用、人工核验和伦理边界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7219950" y="1657350"/>
            <a:ext cx="4248150" cy="3638550"/>
            <a:chOff x="7219950" y="1657350"/>
            <a:chExt cx="4248150" cy="3638550"/>
          </a:xfrm>
        </p:grpSpPr>
        <p:sp>
          <p:nvSpPr>
            <p:cNvPr id="37" name="Rectangle 37"/>
            <p:cNvSpPr/>
            <p:nvPr/>
          </p:nvSpPr>
          <p:spPr>
            <a:xfrm>
              <a:off x="7219950" y="1657350"/>
              <a:ext cx="4248150" cy="3638550"/>
            </a:xfrm>
            <a:prstGeom prst="roundRect">
              <a:avLst>
                <a:gd name="adj" fmla="val 2094"/>
              </a:avLst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39990" y="188214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应用价值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45705" y="23307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86000"/>
                    </a:srgbClr>
                  </a:solidFill>
                  <a:latin typeface="Arial"/>
                  <a:ea typeface="Microsoft YaHei"/>
                  <a:cs typeface="Arial"/>
                </a:rPr>
                <a:t>课程产出可服务：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7562850" y="2819400"/>
              <a:ext cx="3162300" cy="1771650"/>
              <a:chOff x="7562850" y="2819400"/>
              <a:chExt cx="3162300" cy="17716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7562850" y="2819400"/>
                <a:ext cx="1485900" cy="438150"/>
              </a:xfrm>
              <a:prstGeom prst="roundRect">
                <a:avLst>
                  <a:gd name="adj" fmla="val 1739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928610" y="2949892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开题准备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9239250" y="2819400"/>
                <a:ext cx="1485900" cy="438150"/>
              </a:xfrm>
              <a:prstGeom prst="roundRect">
                <a:avLst>
                  <a:gd name="adj" fmla="val 1739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605010" y="2949892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组会汇报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7562850" y="3486150"/>
                <a:ext cx="1485900" cy="438150"/>
              </a:xfrm>
              <a:prstGeom prst="roundRect">
                <a:avLst>
                  <a:gd name="adj" fmla="val 1739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99081" y="3616642"/>
                <a:ext cx="12134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论文 idea 打磨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9239250" y="3486150"/>
                <a:ext cx="1485900" cy="438150"/>
              </a:xfrm>
              <a:prstGeom prst="roundRect">
                <a:avLst>
                  <a:gd name="adj" fmla="val 1739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406985" y="3616642"/>
                <a:ext cx="115043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baseline 建设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7562850" y="4152900"/>
                <a:ext cx="3162300" cy="438150"/>
              </a:xfrm>
              <a:prstGeom prst="roundRect">
                <a:avLst>
                  <a:gd name="adj" fmla="val 1739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406765" y="4283392"/>
                <a:ext cx="147447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后续科研项目启动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2057400" y="5676900"/>
            <a:ext cx="8077200" cy="533400"/>
            <a:chOff x="2057400" y="5676900"/>
            <a:chExt cx="8077200" cy="533400"/>
          </a:xfrm>
        </p:grpSpPr>
        <p:sp>
          <p:nvSpPr>
            <p:cNvPr id="52" name="Rectangle 52"/>
            <p:cNvSpPr/>
            <p:nvPr/>
          </p:nvSpPr>
          <p:spPr>
            <a:xfrm>
              <a:off x="2057400" y="5676900"/>
              <a:ext cx="8077200" cy="533400"/>
            </a:xfrm>
            <a:prstGeom prst="roundRect">
              <a:avLst>
                <a:gd name="adj" fmla="val 14286"/>
              </a:avLst>
            </a:prstGeom>
            <a:solidFill>
              <a:srgbClr val="F8ECEC"/>
            </a:solidFill>
            <a:ln w="9525">
              <a:solidFill>
                <a:srgbClr val="D9DEE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2382724" y="5800725"/>
              <a:ext cx="282803" cy="268960"/>
            </a:xfrm>
            <a:custGeom>
              <a:avLst/>
              <a:gdLst/>
              <a:ahLst/>
              <a:cxnLst/>
              <a:rect l="l" t="t" r="r" b="b"/>
              <a:pathLst>
                <a:path w="282803" h="268960">
                  <a:moveTo>
                    <a:pt x="159261" y="0"/>
                  </a:moveTo>
                  <a:lnTo>
                    <a:pt x="123542" y="0"/>
                  </a:lnTo>
                  <a:lnTo>
                    <a:pt x="96984" y="81739"/>
                  </a:lnTo>
                  <a:lnTo>
                    <a:pt x="11038" y="81739"/>
                  </a:lnTo>
                  <a:lnTo>
                    <a:pt x="0" y="115710"/>
                  </a:lnTo>
                  <a:lnTo>
                    <a:pt x="69532" y="166227"/>
                  </a:lnTo>
                  <a:lnTo>
                    <a:pt x="42973" y="247965"/>
                  </a:lnTo>
                  <a:lnTo>
                    <a:pt x="71871" y="268960"/>
                  </a:lnTo>
                  <a:lnTo>
                    <a:pt x="141402" y="218443"/>
                  </a:lnTo>
                  <a:lnTo>
                    <a:pt x="210933" y="268960"/>
                  </a:lnTo>
                  <a:lnTo>
                    <a:pt x="239830" y="247965"/>
                  </a:lnTo>
                  <a:lnTo>
                    <a:pt x="213271" y="166227"/>
                  </a:lnTo>
                  <a:lnTo>
                    <a:pt x="282803" y="115709"/>
                  </a:lnTo>
                  <a:lnTo>
                    <a:pt x="271764" y="81739"/>
                  </a:lnTo>
                  <a:lnTo>
                    <a:pt x="185819" y="81739"/>
                  </a:lnTo>
                  <a:lnTo>
                    <a:pt x="159261" y="0"/>
                  </a:ln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836545" y="5841682"/>
              <a:ext cx="57846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目标不是“泛化提升科研能力”，而是产出可延续的研究材料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56" name="TextBox 56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24177" y="65322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1" grpId="0"/>
      <p:bldP spid="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80060" y="318135"/>
            <a:ext cx="11197590" cy="977265"/>
            <a:chOff x="480060" y="318135"/>
            <a:chExt cx="11197590" cy="977265"/>
          </a:xfrm>
        </p:grpSpPr>
        <p:sp>
          <p:nvSpPr>
            <p:cNvPr id="3" name="TextBox 3"/>
            <p:cNvSpPr txBox="1"/>
            <p:nvPr/>
          </p:nvSpPr>
          <p:spPr>
            <a:xfrm>
              <a:off x="480060" y="318135"/>
              <a:ext cx="844232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AI 可以参与科研，但必须可审查、可复盘、可问责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4350" y="800100"/>
              <a:ext cx="11163300" cy="495300"/>
            </a:xfrm>
            <a:prstGeom prst="roundRect">
              <a:avLst>
                <a:gd name="adj" fmla="val 15385"/>
              </a:avLst>
            </a:prstGeom>
            <a:solidFill>
              <a:srgbClr val="F8ECE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6755" y="968692"/>
              <a:ext cx="51829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课程不是禁止学生用 AI，而是要求 AI 参与过程留下证据和边界。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96612" y="2552700"/>
            <a:ext cx="2398776" cy="1981200"/>
            <a:chOff x="4896612" y="2552700"/>
            <a:chExt cx="2398776" cy="1981200"/>
          </a:xfrm>
        </p:grpSpPr>
        <p:sp>
          <p:nvSpPr>
            <p:cNvPr id="7" name="Ellipse 7"/>
            <p:cNvSpPr/>
            <p:nvPr/>
          </p:nvSpPr>
          <p:spPr>
            <a:xfrm>
              <a:off x="5105400" y="2552700"/>
              <a:ext cx="1981200" cy="1981200"/>
            </a:xfrm>
            <a:prstGeom prst="ellipse">
              <a:avLst/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5753100" y="2905125"/>
              <a:ext cx="685800" cy="514350"/>
            </a:xfrm>
            <a:custGeom>
              <a:avLst/>
              <a:gdLst/>
              <a:ahLst/>
              <a:cxnLst/>
              <a:rect l="l" t="t" r="r" b="b"/>
              <a:pathLst>
                <a:path w="685800" h="514350">
                  <a:moveTo>
                    <a:pt x="0" y="257175"/>
                  </a:moveTo>
                  <a:lnTo>
                    <a:pt x="131993" y="98783"/>
                  </a:lnTo>
                  <a:cubicBezTo>
                    <a:pt x="184154" y="36191"/>
                    <a:pt x="261422" y="0"/>
                    <a:pt x="342900" y="0"/>
                  </a:cubicBezTo>
                  <a:cubicBezTo>
                    <a:pt x="424378" y="0"/>
                    <a:pt x="501646" y="36191"/>
                    <a:pt x="553809" y="98783"/>
                  </a:cubicBezTo>
                  <a:lnTo>
                    <a:pt x="685800" y="257175"/>
                  </a:lnTo>
                  <a:lnTo>
                    <a:pt x="553809" y="415565"/>
                  </a:lnTo>
                  <a:cubicBezTo>
                    <a:pt x="501646" y="478161"/>
                    <a:pt x="424378" y="514350"/>
                    <a:pt x="342900" y="514350"/>
                  </a:cubicBezTo>
                  <a:cubicBezTo>
                    <a:pt x="261422" y="514350"/>
                    <a:pt x="184154" y="478161"/>
                    <a:pt x="131993" y="415565"/>
                  </a:cubicBezTo>
                  <a:lnTo>
                    <a:pt x="0" y="257175"/>
                  </a:lnTo>
                  <a:close/>
                  <a:moveTo>
                    <a:pt x="342900" y="385762"/>
                  </a:moveTo>
                  <a:cubicBezTo>
                    <a:pt x="413917" y="385762"/>
                    <a:pt x="471488" y="328192"/>
                    <a:pt x="471488" y="257175"/>
                  </a:cubicBezTo>
                  <a:cubicBezTo>
                    <a:pt x="471488" y="186158"/>
                    <a:pt x="413917" y="128588"/>
                    <a:pt x="342900" y="128588"/>
                  </a:cubicBezTo>
                  <a:cubicBezTo>
                    <a:pt x="271883" y="128588"/>
                    <a:pt x="214312" y="186158"/>
                    <a:pt x="214312" y="257175"/>
                  </a:cubicBezTo>
                  <a:cubicBezTo>
                    <a:pt x="214312" y="328192"/>
                    <a:pt x="271883" y="385762"/>
                    <a:pt x="342900" y="385762"/>
                  </a:cubicBezTo>
                  <a:close/>
                </a:path>
              </a:pathLst>
            </a:custGeom>
            <a:solidFill>
              <a:srgbClr val="B68B2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161121" y="3647122"/>
              <a:ext cx="186975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可审查科研过程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96612" y="4042410"/>
              <a:ext cx="23987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>
                      <a:alphaMod val="86000"/>
                    </a:srgbClr>
                  </a:solidFill>
                  <a:latin typeface="Arial"/>
                  <a:ea typeface="Microsoft YaHei"/>
                  <a:cs typeface="Arial"/>
                </a:rPr>
                <a:t>audit · replay · accountability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2950" y="1657350"/>
            <a:ext cx="3412331" cy="1104900"/>
            <a:chOff x="742950" y="1657350"/>
            <a:chExt cx="3412331" cy="1104900"/>
          </a:xfrm>
        </p:grpSpPr>
        <p:sp>
          <p:nvSpPr>
            <p:cNvPr id="12" name="Rectangle 12"/>
            <p:cNvSpPr/>
            <p:nvPr/>
          </p:nvSpPr>
          <p:spPr>
            <a:xfrm>
              <a:off x="742950" y="1657350"/>
              <a:ext cx="3390900" cy="11049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028700" y="19431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8C151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46848" y="1925479"/>
              <a:ext cx="1121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AI 使用记录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6312" y="235505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提示词、上下文来源、模型工具、人工核验方式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58150" y="1657350"/>
            <a:ext cx="3390900" cy="1104900"/>
            <a:chOff x="8058150" y="1657350"/>
            <a:chExt cx="3390900" cy="1104900"/>
          </a:xfrm>
        </p:grpSpPr>
        <p:sp>
          <p:nvSpPr>
            <p:cNvPr id="17" name="Rectangle 17"/>
            <p:cNvSpPr/>
            <p:nvPr/>
          </p:nvSpPr>
          <p:spPr>
            <a:xfrm>
              <a:off x="8058150" y="1657350"/>
              <a:ext cx="3390900" cy="11049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343900" y="19431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38100" y="114300"/>
                  </a:moveTo>
                  <a:lnTo>
                    <a:pt x="38100" y="76200"/>
                  </a:lnTo>
                  <a:cubicBezTo>
                    <a:pt x="38100" y="34116"/>
                    <a:pt x="72216" y="0"/>
                    <a:pt x="114300" y="0"/>
                  </a:cubicBezTo>
                  <a:cubicBezTo>
                    <a:pt x="156383" y="0"/>
                    <a:pt x="190500" y="34116"/>
                    <a:pt x="190500" y="76200"/>
                  </a:cubicBezTo>
                  <a:lnTo>
                    <a:pt x="190500" y="114300"/>
                  </a:lnTo>
                  <a:lnTo>
                    <a:pt x="228600" y="11430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114300"/>
                  </a:lnTo>
                  <a:lnTo>
                    <a:pt x="38100" y="114300"/>
                  </a:lnTo>
                  <a:close/>
                  <a:moveTo>
                    <a:pt x="76200" y="76200"/>
                  </a:moveTo>
                  <a:cubicBezTo>
                    <a:pt x="76200" y="55158"/>
                    <a:pt x="93258" y="38100"/>
                    <a:pt x="114300" y="38100"/>
                  </a:cubicBezTo>
                  <a:cubicBezTo>
                    <a:pt x="135342" y="38100"/>
                    <a:pt x="152400" y="55158"/>
                    <a:pt x="152400" y="76200"/>
                  </a:cubicBezTo>
                  <a:lnTo>
                    <a:pt x="152400" y="114300"/>
                  </a:lnTo>
                  <a:lnTo>
                    <a:pt x="76200" y="114300"/>
                  </a:lnTo>
                  <a:lnTo>
                    <a:pt x="76200" y="76200"/>
                  </a:lnTo>
                  <a:close/>
                  <a:moveTo>
                    <a:pt x="95250" y="247650"/>
                  </a:moveTo>
                  <a:lnTo>
                    <a:pt x="95250" y="171450"/>
                  </a:lnTo>
                  <a:lnTo>
                    <a:pt x="133350" y="171450"/>
                  </a:lnTo>
                  <a:lnTo>
                    <a:pt x="133350" y="247650"/>
                  </a:lnTo>
                  <a:lnTo>
                    <a:pt x="95250" y="247650"/>
                  </a:lnTo>
                  <a:close/>
                </a:path>
              </a:pathLst>
            </a:custGeom>
            <a:solidFill>
              <a:srgbClr val="8C151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62048" y="1925479"/>
              <a:ext cx="130016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工具权限记录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91512" y="235505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数据源、读写范围、外部服务、预算和确认点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2950" y="4324350"/>
            <a:ext cx="3390900" cy="1104900"/>
            <a:chOff x="742950" y="4324350"/>
            <a:chExt cx="3390900" cy="1104900"/>
          </a:xfrm>
        </p:grpSpPr>
        <p:sp>
          <p:nvSpPr>
            <p:cNvPr id="22" name="Rectangle 22"/>
            <p:cNvSpPr/>
            <p:nvPr/>
          </p:nvSpPr>
          <p:spPr>
            <a:xfrm>
              <a:off x="742950" y="4324350"/>
              <a:ext cx="3390900" cy="11049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028700" y="4610100"/>
              <a:ext cx="228600" cy="304800"/>
              <a:chOff x="1028700" y="4610100"/>
              <a:chExt cx="228600" cy="304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028700" y="4732020"/>
                <a:ext cx="22860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7630">
                    <a:moveTo>
                      <a:pt x="212162" y="9719"/>
                    </a:moveTo>
                    <a:cubicBezTo>
                      <a:pt x="217521" y="7039"/>
                      <a:pt x="223119" y="3806"/>
                      <a:pt x="228600" y="0"/>
                    </a:cubicBezTo>
                    <a:lnTo>
                      <a:pt x="228600" y="30480"/>
                    </a:lnTo>
                    <a:cubicBezTo>
                      <a:pt x="228600" y="62043"/>
                      <a:pt x="177426" y="87630"/>
                      <a:pt x="114300" y="87630"/>
                    </a:cubicBezTo>
                    <a:cubicBezTo>
                      <a:pt x="51174" y="87630"/>
                      <a:pt x="0" y="62043"/>
                      <a:pt x="0" y="30480"/>
                    </a:cubicBezTo>
                    <a:lnTo>
                      <a:pt x="0" y="0"/>
                    </a:lnTo>
                    <a:cubicBezTo>
                      <a:pt x="5481" y="3806"/>
                      <a:pt x="11079" y="7039"/>
                      <a:pt x="16439" y="9719"/>
                    </a:cubicBezTo>
                    <a:cubicBezTo>
                      <a:pt x="43452" y="23225"/>
                      <a:pt x="78105" y="30480"/>
                      <a:pt x="114300" y="30480"/>
                    </a:cubicBezTo>
                    <a:cubicBezTo>
                      <a:pt x="150495" y="30480"/>
                      <a:pt x="185147" y="23225"/>
                      <a:pt x="212162" y="9719"/>
                    </a:cubicBez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28700" y="4827270"/>
                <a:ext cx="22860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7630">
                    <a:moveTo>
                      <a:pt x="0" y="0"/>
                    </a:moveTo>
                    <a:lnTo>
                      <a:pt x="0" y="30480"/>
                    </a:lnTo>
                    <a:cubicBezTo>
                      <a:pt x="0" y="62044"/>
                      <a:pt x="51174" y="87630"/>
                      <a:pt x="114300" y="87630"/>
                    </a:cubicBezTo>
                    <a:cubicBezTo>
                      <a:pt x="177426" y="87630"/>
                      <a:pt x="228600" y="62044"/>
                      <a:pt x="228600" y="30480"/>
                    </a:cubicBezTo>
                    <a:lnTo>
                      <a:pt x="228600" y="0"/>
                    </a:lnTo>
                    <a:cubicBezTo>
                      <a:pt x="223119" y="3806"/>
                      <a:pt x="217521" y="7039"/>
                      <a:pt x="212162" y="9719"/>
                    </a:cubicBezTo>
                    <a:cubicBezTo>
                      <a:pt x="185147" y="23226"/>
                      <a:pt x="150495" y="30480"/>
                      <a:pt x="114300" y="30480"/>
                    </a:cubicBezTo>
                    <a:cubicBezTo>
                      <a:pt x="78105" y="30480"/>
                      <a:pt x="43452" y="23226"/>
                      <a:pt x="16439" y="9719"/>
                    </a:cubicBezTo>
                    <a:cubicBezTo>
                      <a:pt x="11079" y="7039"/>
                      <a:pt x="5481" y="3806"/>
                      <a:pt x="0" y="0"/>
                    </a:cubicBez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28700" y="461010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114300" y="0"/>
                    </a:moveTo>
                    <a:cubicBezTo>
                      <a:pt x="177426" y="0"/>
                      <a:pt x="228600" y="25587"/>
                      <a:pt x="228600" y="57150"/>
                    </a:cubicBezTo>
                    <a:cubicBezTo>
                      <a:pt x="228600" y="88713"/>
                      <a:pt x="177426" y="114300"/>
                      <a:pt x="114300" y="114300"/>
                    </a:cubicBezTo>
                    <a:cubicBezTo>
                      <a:pt x="51174" y="114300"/>
                      <a:pt x="0" y="88713"/>
                      <a:pt x="0" y="57150"/>
                    </a:cubicBezTo>
                    <a:cubicBezTo>
                      <a:pt x="0" y="25587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446848" y="4592479"/>
              <a:ext cx="88011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实验留痕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6312" y="5022056"/>
              <a:ext cx="27514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实验 ID、配置、代码版本、日志和结果表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58150" y="4324350"/>
            <a:ext cx="3412331" cy="1104900"/>
            <a:chOff x="8058150" y="4324350"/>
            <a:chExt cx="3412331" cy="1104900"/>
          </a:xfrm>
        </p:grpSpPr>
        <p:sp>
          <p:nvSpPr>
            <p:cNvPr id="30" name="Rectangle 30"/>
            <p:cNvSpPr/>
            <p:nvPr/>
          </p:nvSpPr>
          <p:spPr>
            <a:xfrm>
              <a:off x="8058150" y="4324350"/>
              <a:ext cx="3390900" cy="11049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343900" y="4610100"/>
              <a:ext cx="228600" cy="304800"/>
              <a:chOff x="8343900" y="4610100"/>
              <a:chExt cx="228600" cy="304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420100" y="461010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43900" y="46482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8C1515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762048" y="4592479"/>
              <a:ext cx="130016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8C1515"/>
                  </a:solidFill>
                  <a:latin typeface="Arial"/>
                  <a:ea typeface="SimHei"/>
                  <a:cs typeface="Arial"/>
                </a:rPr>
                <a:t>研究判断留痕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91512" y="502205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证据地图、判断记录和评价报告连接结论与决策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00550" y="5067300"/>
            <a:ext cx="3390900" cy="819150"/>
            <a:chOff x="4400550" y="5067300"/>
            <a:chExt cx="3390900" cy="819150"/>
          </a:xfrm>
        </p:grpSpPr>
        <p:sp>
          <p:nvSpPr>
            <p:cNvPr id="37" name="Rectangle 37"/>
            <p:cNvSpPr/>
            <p:nvPr/>
          </p:nvSpPr>
          <p:spPr>
            <a:xfrm>
              <a:off x="4400550" y="5067300"/>
              <a:ext cx="3390900" cy="81915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14288">
              <a:solidFill>
                <a:srgbClr val="C8161E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666059" y="5314950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59831" y="239189"/>
                  </a:moveTo>
                  <a:lnTo>
                    <a:pt x="125016" y="285750"/>
                  </a:lnTo>
                  <a:lnTo>
                    <a:pt x="190201" y="239189"/>
                  </a:lnTo>
                  <a:cubicBezTo>
                    <a:pt x="227748" y="212369"/>
                    <a:pt x="250031" y="169069"/>
                    <a:pt x="250031" y="122927"/>
                  </a:cubicBezTo>
                  <a:lnTo>
                    <a:pt x="250031" y="53578"/>
                  </a:lnTo>
                  <a:lnTo>
                    <a:pt x="125016" y="0"/>
                  </a:lnTo>
                  <a:lnTo>
                    <a:pt x="0" y="53578"/>
                  </a:lnTo>
                  <a:lnTo>
                    <a:pt x="0" y="122927"/>
                  </a:lnTo>
                  <a:cubicBezTo>
                    <a:pt x="0" y="169069"/>
                    <a:pt x="22284" y="212369"/>
                    <a:pt x="59831" y="239189"/>
                  </a:cubicBezTo>
                  <a:close/>
                </a:path>
              </a:pathLst>
            </a:custGeom>
            <a:solidFill>
              <a:srgbClr val="C8161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85398" y="5335429"/>
              <a:ext cx="88011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C8161E"/>
                  </a:solidFill>
                  <a:latin typeface="Arial"/>
                  <a:ea typeface="SimHei"/>
                  <a:cs typeface="Arial"/>
                </a:rPr>
                <a:t>伦理边界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34865" y="5658802"/>
              <a:ext cx="28480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6B"/>
                  </a:solidFill>
                  <a:latin typeface="Arial"/>
                  <a:ea typeface="Microsoft YaHei"/>
                  <a:cs typeface="Arial"/>
                </a:rPr>
                <a:t>数据、隐私、许可、署名、误用、AI 使用披露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133850" y="2209800"/>
            <a:ext cx="3924300" cy="2857500"/>
            <a:chOff x="4133850" y="2209800"/>
            <a:chExt cx="3924300" cy="2857500"/>
          </a:xfrm>
        </p:grpSpPr>
        <p:sp>
          <p:nvSpPr>
            <p:cNvPr id="42" name="Line 42"/>
            <p:cNvSpPr/>
            <p:nvPr/>
          </p:nvSpPr>
          <p:spPr>
            <a:xfrm>
              <a:off x="4133850" y="2209800"/>
              <a:ext cx="1123950" cy="800100"/>
            </a:xfrm>
            <a:custGeom>
              <a:avLst/>
              <a:gdLst/>
              <a:ahLst/>
              <a:cxnLst/>
              <a:rect l="l" t="t" r="r" b="b"/>
              <a:pathLst>
                <a:path w="1123950" h="800100">
                  <a:moveTo>
                    <a:pt x="0" y="0"/>
                  </a:moveTo>
                  <a:lnTo>
                    <a:pt x="1123950" y="80010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6934200" y="2209800"/>
              <a:ext cx="1123950" cy="800100"/>
            </a:xfrm>
            <a:custGeom>
              <a:avLst/>
              <a:gdLst/>
              <a:ahLst/>
              <a:cxnLst/>
              <a:rect l="l" t="t" r="r" b="b"/>
              <a:pathLst>
                <a:path w="1123950" h="800100">
                  <a:moveTo>
                    <a:pt x="1123950" y="0"/>
                  </a:moveTo>
                  <a:lnTo>
                    <a:pt x="0" y="80010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133850" y="4076700"/>
              <a:ext cx="1123950" cy="800100"/>
            </a:xfrm>
            <a:custGeom>
              <a:avLst/>
              <a:gdLst/>
              <a:ahLst/>
              <a:cxnLst/>
              <a:rect l="l" t="t" r="r" b="b"/>
              <a:pathLst>
                <a:path w="1123950" h="800100">
                  <a:moveTo>
                    <a:pt x="0" y="800100"/>
                  </a:moveTo>
                  <a:lnTo>
                    <a:pt x="1123950" y="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6934200" y="4076700"/>
              <a:ext cx="1123950" cy="800100"/>
            </a:xfrm>
            <a:custGeom>
              <a:avLst/>
              <a:gdLst/>
              <a:ahLst/>
              <a:cxnLst/>
              <a:rect l="l" t="t" r="r" b="b"/>
              <a:pathLst>
                <a:path w="1123950" h="800100">
                  <a:moveTo>
                    <a:pt x="1123950" y="8001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6096000" y="45339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28575">
              <a:solidFill>
                <a:srgbClr val="D9DEE5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238250" y="6057900"/>
            <a:ext cx="9715500" cy="400050"/>
            <a:chOff x="1238250" y="6057900"/>
            <a:chExt cx="9715500" cy="400050"/>
          </a:xfrm>
        </p:grpSpPr>
        <p:sp>
          <p:nvSpPr>
            <p:cNvPr id="48" name="Rectangle 48"/>
            <p:cNvSpPr/>
            <p:nvPr/>
          </p:nvSpPr>
          <p:spPr>
            <a:xfrm>
              <a:off x="1238250" y="6057900"/>
              <a:ext cx="9715500" cy="400050"/>
            </a:xfrm>
            <a:prstGeom prst="roundRect">
              <a:avLst>
                <a:gd name="adj" fmla="val 19048"/>
              </a:avLst>
            </a:prstGeom>
            <a:solidFill>
              <a:srgbClr val="8C151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210919" y="6161246"/>
              <a:ext cx="777016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不绑定单一商业工具 · 不要求学生自费购买 token · 免费 token 或教育计划只作为补充资源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51" name="TextBox 51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324177" y="65322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9" grpId="0"/>
      <p:bldP spid="36" grpId="0"/>
      <p:bldP spid="41" grpId="0"/>
      <p:bldP spid="47" grpId="0"/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ECEC">
                <a:alpha val="45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2192000" cy="3143250"/>
            </a:xfrm>
            <a:custGeom>
              <a:avLst/>
              <a:gdLst/>
              <a:ahLst/>
              <a:cxnLst/>
              <a:rect l="l" t="t" r="r" b="b"/>
              <a:pathLst>
                <a:path w="12192000" h="3143250">
                  <a:moveTo>
                    <a:pt x="0" y="0"/>
                  </a:moveTo>
                  <a:lnTo>
                    <a:pt x="12192000" y="0"/>
                  </a:lnTo>
                  <a:lnTo>
                    <a:pt x="12192000" y="2476500"/>
                  </a:lnTo>
                  <a:cubicBezTo>
                    <a:pt x="9906000" y="3143250"/>
                    <a:pt x="7048500" y="2914650"/>
                    <a:pt x="4953000" y="2286000"/>
                  </a:cubicBezTo>
                  <a:cubicBezTo>
                    <a:pt x="2857500" y="1657350"/>
                    <a:pt x="1371600" y="1809750"/>
                    <a:pt x="0" y="2324100"/>
                  </a:cubicBezTo>
                  <a:close/>
                </a:path>
              </a:pathLst>
            </a:custGeom>
            <a:gradFill>
              <a:gsLst>
                <a:gs pos="0">
                  <a:srgbClr val="8C1515"/>
                </a:gs>
                <a:gs pos="100000">
                  <a:srgbClr val="8C1515">
                    <a:alpha val="90000"/>
                  </a:srgb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2912488" y="773430"/>
            <a:ext cx="6367024" cy="969645"/>
            <a:chOff x="2912488" y="773430"/>
            <a:chExt cx="6367024" cy="969645"/>
          </a:xfrm>
        </p:grpSpPr>
        <p:sp>
          <p:nvSpPr>
            <p:cNvPr id="6" name="TextBox 6"/>
            <p:cNvSpPr txBox="1"/>
            <p:nvPr/>
          </p:nvSpPr>
          <p:spPr>
            <a:xfrm>
              <a:off x="2912488" y="773430"/>
              <a:ext cx="636702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培养 AI 时代更可靠的研究生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76875" y="14382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>
                      <a:alphaMod val="86000"/>
                    </a:srgbClr>
                  </a:solidFill>
                  <a:latin typeface="Arial"/>
                  <a:ea typeface="Microsoft YaHei"/>
                  <a:cs typeface="Arial"/>
                </a:rPr>
                <a:t>课程核心价值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00250" y="2743200"/>
            <a:ext cx="8191500" cy="2247900"/>
            <a:chOff x="2000250" y="2743200"/>
            <a:chExt cx="8191500" cy="2247900"/>
          </a:xfrm>
        </p:grpSpPr>
        <p:sp>
          <p:nvSpPr>
            <p:cNvPr id="9" name="Rectangle 9"/>
            <p:cNvSpPr/>
            <p:nvPr/>
          </p:nvSpPr>
          <p:spPr>
            <a:xfrm>
              <a:off x="2000250" y="2743200"/>
              <a:ext cx="8191500" cy="219075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D9DEE5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2548890" y="3101340"/>
              <a:ext cx="3039094" cy="365760"/>
              <a:chOff x="2548890" y="3101340"/>
              <a:chExt cx="3039094" cy="36576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2548890" y="3101340"/>
                <a:ext cx="52578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C8161E"/>
                    </a:solidFill>
                    <a:latin typeface="Arial"/>
                    <a:ea typeface="SimHei"/>
                    <a:cs typeface="Arial"/>
                  </a:rPr>
                  <a:t>不是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312795" y="3117532"/>
                <a:ext cx="227518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教学生把研究外包给 AI</a:t>
                </a: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2571750" y="3581400"/>
              <a:ext cx="7048500" cy="9525"/>
            </a:xfrm>
            <a:custGeom>
              <a:avLst/>
              <a:gdLst/>
              <a:ahLst/>
              <a:cxnLst/>
              <a:rect l="l" t="t" r="r" b="b"/>
              <a:pathLst>
                <a:path w="7048500" h="9525">
                  <a:moveTo>
                    <a:pt x="0" y="0"/>
                  </a:moveTo>
                  <a:lnTo>
                    <a:pt x="7048500" y="0"/>
                  </a:lnTo>
                </a:path>
              </a:pathLst>
            </a:custGeom>
            <a:noFill/>
            <a:ln w="9525">
              <a:solidFill>
                <a:srgbClr val="D9DEE5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2548890" y="3863340"/>
              <a:ext cx="5965460" cy="365760"/>
              <a:chOff x="2548890" y="3863340"/>
              <a:chExt cx="5965460" cy="365760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2548890" y="3863340"/>
                <a:ext cx="52578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8C1515"/>
                    </a:solidFill>
                    <a:latin typeface="Arial"/>
                    <a:ea typeface="SimHei"/>
                    <a:cs typeface="Arial"/>
                  </a:rPr>
                  <a:t>而是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312795" y="3879532"/>
                <a:ext cx="520155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教学生把 AI 纳入可验证、可复现、可追溯的科研流程</a:t>
                </a:r>
              </a:p>
            </p:txBody>
          </p:sp>
        </p:grpSp>
        <p:sp>
          <p:nvSpPr>
            <p:cNvPr id="17" name="Line 17"/>
            <p:cNvSpPr/>
            <p:nvPr/>
          </p:nvSpPr>
          <p:spPr>
            <a:xfrm>
              <a:off x="2571750" y="4343400"/>
              <a:ext cx="7048500" cy="9525"/>
            </a:xfrm>
            <a:custGeom>
              <a:avLst/>
              <a:gdLst/>
              <a:ahLst/>
              <a:cxnLst/>
              <a:rect l="l" t="t" r="r" b="b"/>
              <a:pathLst>
                <a:path w="7048500" h="9525">
                  <a:moveTo>
                    <a:pt x="0" y="0"/>
                  </a:moveTo>
                  <a:lnTo>
                    <a:pt x="7048500" y="0"/>
                  </a:lnTo>
                </a:path>
              </a:pathLst>
            </a:custGeom>
            <a:noFill/>
            <a:ln w="9525">
              <a:solidFill>
                <a:srgbClr val="D9DEE5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2548890" y="4625340"/>
              <a:ext cx="6746557" cy="365760"/>
              <a:chOff x="2548890" y="4625340"/>
              <a:chExt cx="6746557" cy="365760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2548890" y="4625340"/>
                <a:ext cx="52578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B68B2D"/>
                    </a:solidFill>
                    <a:latin typeface="Arial"/>
                    <a:ea typeface="SimHei"/>
                    <a:cs typeface="Arial"/>
                  </a:rPr>
                  <a:t>最终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312795" y="4641532"/>
                <a:ext cx="598265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形成有证据、有判断、有伦理边界、有全过程留痕的科研闭环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1428750" y="5334000"/>
            <a:ext cx="9334500" cy="838200"/>
            <a:chOff x="1428750" y="5334000"/>
            <a:chExt cx="9334500" cy="838200"/>
          </a:xfrm>
        </p:grpSpPr>
        <p:sp>
          <p:nvSpPr>
            <p:cNvPr id="22" name="Rectangle 22"/>
            <p:cNvSpPr/>
            <p:nvPr/>
          </p:nvSpPr>
          <p:spPr>
            <a:xfrm>
              <a:off x="1428750" y="5334000"/>
              <a:ext cx="9334500" cy="666750"/>
            </a:xfrm>
            <a:prstGeom prst="roundRect">
              <a:avLst>
                <a:gd name="adj" fmla="val 11429"/>
              </a:avLst>
            </a:prstGeom>
            <a:solidFill>
              <a:srgbClr val="8C1515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752600" y="5524500"/>
              <a:ext cx="323850" cy="323850"/>
              <a:chOff x="1752600" y="5524500"/>
              <a:chExt cx="323850" cy="3238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833562" y="5605462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80962" y="0"/>
                    </a:moveTo>
                    <a:cubicBezTo>
                      <a:pt x="36248" y="0"/>
                      <a:pt x="0" y="36248"/>
                      <a:pt x="0" y="80962"/>
                    </a:cubicBezTo>
                    <a:cubicBezTo>
                      <a:pt x="0" y="125676"/>
                      <a:pt x="36248" y="161925"/>
                      <a:pt x="80962" y="161925"/>
                    </a:cubicBezTo>
                    <a:cubicBezTo>
                      <a:pt x="125676" y="161925"/>
                      <a:pt x="161925" y="125676"/>
                      <a:pt x="161925" y="80962"/>
                    </a:cubicBezTo>
                    <a:cubicBezTo>
                      <a:pt x="161925" y="36248"/>
                      <a:pt x="125676" y="0"/>
                      <a:pt x="80962" y="0"/>
                    </a:cubicBezTo>
                    <a:close/>
                    <a:moveTo>
                      <a:pt x="40481" y="80962"/>
                    </a:moveTo>
                    <a:cubicBezTo>
                      <a:pt x="40481" y="58605"/>
                      <a:pt x="58605" y="40481"/>
                      <a:pt x="80962" y="40481"/>
                    </a:cubicBezTo>
                    <a:cubicBezTo>
                      <a:pt x="103320" y="40481"/>
                      <a:pt x="121444" y="58605"/>
                      <a:pt x="121444" y="80962"/>
                    </a:cubicBezTo>
                    <a:cubicBezTo>
                      <a:pt x="121444" y="103320"/>
                      <a:pt x="103320" y="121444"/>
                      <a:pt x="80962" y="121444"/>
                    </a:cubicBezTo>
                    <a:cubicBezTo>
                      <a:pt x="58605" y="121444"/>
                      <a:pt x="40481" y="103320"/>
                      <a:pt x="40481" y="80962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752600" y="5524500"/>
                <a:ext cx="32385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23850">
                    <a:moveTo>
                      <a:pt x="161925" y="0"/>
                    </a:moveTo>
                    <a:cubicBezTo>
                      <a:pt x="72496" y="0"/>
                      <a:pt x="0" y="72496"/>
                      <a:pt x="0" y="161925"/>
                    </a:cubicBezTo>
                    <a:cubicBezTo>
                      <a:pt x="0" y="251354"/>
                      <a:pt x="72496" y="323850"/>
                      <a:pt x="161925" y="323850"/>
                    </a:cubicBezTo>
                    <a:cubicBezTo>
                      <a:pt x="251354" y="323850"/>
                      <a:pt x="323850" y="251354"/>
                      <a:pt x="323850" y="161925"/>
                    </a:cubicBezTo>
                    <a:cubicBezTo>
                      <a:pt x="323850" y="72496"/>
                      <a:pt x="251354" y="0"/>
                      <a:pt x="161925" y="0"/>
                    </a:cubicBezTo>
                    <a:close/>
                    <a:moveTo>
                      <a:pt x="40481" y="161925"/>
                    </a:moveTo>
                    <a:cubicBezTo>
                      <a:pt x="40481" y="94853"/>
                      <a:pt x="94853" y="40481"/>
                      <a:pt x="161925" y="40481"/>
                    </a:cubicBezTo>
                    <a:cubicBezTo>
                      <a:pt x="228996" y="40481"/>
                      <a:pt x="283369" y="94853"/>
                      <a:pt x="283369" y="161925"/>
                    </a:cubicBezTo>
                    <a:cubicBezTo>
                      <a:pt x="283369" y="228996"/>
                      <a:pt x="228996" y="283369"/>
                      <a:pt x="161925" y="283369"/>
                    </a:cubicBezTo>
                    <a:cubicBezTo>
                      <a:pt x="94853" y="283369"/>
                      <a:pt x="40481" y="228996"/>
                      <a:pt x="40481" y="161925"/>
                    </a:cubicBezTo>
                    <a:close/>
                  </a:path>
                </a:pathLst>
              </a:custGeom>
              <a:solidFill>
                <a:srgbClr val="B68B2D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846862" y="5558790"/>
              <a:ext cx="44982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本课程要培养的不是“更会用 AI 的学生”，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06832" y="5806440"/>
              <a:ext cx="49783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而是“能在 AI 时代更可靠地做研究的研究生”。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02920" y="6532245"/>
            <a:ext cx="11186160" cy="182880"/>
            <a:chOff x="502920" y="6532245"/>
            <a:chExt cx="11186160" cy="182880"/>
          </a:xfrm>
        </p:grpSpPr>
        <p:sp>
          <p:nvSpPr>
            <p:cNvPr id="29" name="TextBox 29"/>
            <p:cNvSpPr txBox="1"/>
            <p:nvPr/>
          </p:nvSpPr>
          <p:spPr>
            <a:xfrm>
              <a:off x="502920" y="653224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上海交通大学人工智能研究院 · 智能科研方法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24177" y="65322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