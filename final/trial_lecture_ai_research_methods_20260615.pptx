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73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7102475" cy="10233025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52" autoAdjust="0"/>
    <p:restoredTop sz="85578" autoAdjust="0"/>
  </p:normalViewPr>
  <p:slideViewPr>
    <p:cSldViewPr snapToGrid="0" showGuides="1">
      <p:cViewPr>
        <p:scale>
          <a:sx n="91" d="100"/>
          <a:sy n="91" d="100"/>
        </p:scale>
        <p:origin x="1000" y="288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开场先给出课程名称、面向对象和试讲场景。这一页只负责建立课程身份，具体理念放到下一页展开。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这门课的核心定位是科研方法课。AI 在课程中不是目的，而是被纳入可验证、可复现、可追溯科研流程的手段。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为什么现在需要这门课，是因为学生已经在真实科研流程里使用 AI。问题不在于学生会不会用 AI，而在于他们是否知道如何验证 AI 输出、记录 AI 参与过程，并控制它不能越过科研判断边界。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这门课的组织原则不是工具清单，而是科研动作。大约七到八成内容是通用科研工作流，二到三成是机器学习实验自动化和 Research Agent 实践。每一个工具都必须回答它服务哪个科研动作。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课程的主线是八阶段研究链路，从问题定义开始，到第一性原理、机制假设、外部输入摄取、证据整理、研究判断、原型验证，最后回写与表达。AI 可以参与每个阶段，但关键研究判断仍然由人负责。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这一页是试讲片段。我会用 Transformer 经典论文做三分钟微型课堂，但不讲模型细节，而是拆科研链路。学生要学习的不是总结论文，而是抽取问题、假设、证据、判断和留痕材料。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三十二学时会组织成六个模块。所有模块都服务同一个贯穿项目，而不是每周做孤立练习。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这门课的先修要求是合理但不拔高的。课程资源优先使用学校已部署、开源、国内可用或课程统一配置的模型资源，厂商免费 token 或教育计划只作为补充。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考核也围绕科研闭环，而不是围绕用了多少 AI 工具。每一项都有可检查提交物，包括问题定义、研究计划、证据地图、实验规格、可运行原型、评价报告、AI 使用记录、科研伦理与合规说明和论文式短文。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为了防止项目最后变成一份看似完整但不可验证的报告，课程设置四个研究门。每个门都要求留下可审查材料，让 AI 参与过程可复盘、可追责。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这一页需要替换为主讲人的真实经历。我建议按三条证据组织：科研方法积累、AI 与 Agent 实践、课程转化能力。这里宁可留待补充，也不虚构履历。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学生学完这门课，应该得到一个可继续发展的研究雏形。这些产出可以继续服务开题准备、组会汇报、论文 idea 打磨、baseline 建设和后续科研项目启动。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课程不是禁止学生使用 AI，而是要求 AI 参与过程可审查、可复盘、可问责。AI 使用记录、工具权限记录、实验留痕、研究判断留痕和伦理边界都要留下证据。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837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34910" y="4407402"/>
            <a:ext cx="4122181" cy="1211519"/>
          </a:xfrm>
        </p:spPr>
        <p:txBody>
          <a:bodyPr/>
          <a:lstStyle/>
          <a:p>
            <a:r>
              <a:rPr lang="zh-CN" noProof="1"/>
              <a:t>主讲人： 金耀辉</a:t>
            </a:r>
          </a:p>
          <a:p>
            <a:r>
              <a:rPr lang="zh-CN" sz="2400" b="0" noProof="1"/>
              <a:t>人工智能研究院</a:t>
            </a:r>
            <a:endParaRPr lang="zh-CN" b="0" noProof="1"/>
          </a:p>
        </p:txBody>
      </p:sp>
      <p:sp>
        <p:nvSpPr>
          <p:cNvPr id="5" name="Rectangle 4"/>
          <p:cNvSpPr/>
          <p:nvPr/>
        </p:nvSpPr>
        <p:spPr>
          <a:xfrm>
            <a:off x="1578000" y="1815546"/>
            <a:ext cx="9036000" cy="1444487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/>
          <p:cNvSpPr txBox="1"/>
          <p:nvPr/>
        </p:nvSpPr>
        <p:spPr>
          <a:xfrm>
            <a:off x="1854000" y="2077512"/>
            <a:ext cx="849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3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8000" y="2694426"/>
            <a:ext cx="8496000" cy="259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0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课程简介与设计理念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用 AI 增强科研全过程，而不是用 AI 替代科研判断。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530000"/>
            <a:ext cx="3456000" cy="2106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64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648000" y="1804031"/>
            <a:ext cx="403200" cy="169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200" y="1735200"/>
            <a:ext cx="2646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720000" y="2430000"/>
            <a:ext cx="2987999" cy="59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面向 CS/AI 研究生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2 学分 · 32 学时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专业选修课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6000" y="1530000"/>
            <a:ext cx="3456000" cy="210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Oval 12"/>
          <p:cNvSpPr/>
          <p:nvPr/>
        </p:nvSpPr>
        <p:spPr>
          <a:xfrm>
            <a:off x="442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4428000" y="1804031"/>
            <a:ext cx="403200" cy="169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1200" y="1735200"/>
            <a:ext cx="2646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核心理念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4500000" y="2430000"/>
            <a:ext cx="2987999" cy="59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验证 AI 输出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记录 AI 参与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控制科研边界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000" y="1530000"/>
            <a:ext cx="3456000" cy="2106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Oval 18"/>
          <p:cNvSpPr/>
          <p:nvPr/>
        </p:nvSpPr>
        <p:spPr>
          <a:xfrm>
            <a:off x="8208000" y="1699200"/>
            <a:ext cx="403200" cy="4032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8208000" y="1804031"/>
            <a:ext cx="403200" cy="1693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1200" y="1735200"/>
            <a:ext cx="2646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培养目标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0000" y="2160000"/>
            <a:ext cx="2987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8280000" y="2430000"/>
            <a:ext cx="2987999" cy="594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形成可验证、可复现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可追溯的科研流程</a:t>
            </a:r>
          </a:p>
          <a:p>
            <a:pPr algn="ctr">
              <a:lnSpc>
                <a:spcPct val="12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更可靠地做研究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000" y="4086000"/>
            <a:ext cx="11016000" cy="468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648000" y="4183199"/>
            <a:ext cx="10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课程训练学生把 AI 纳入科研流程，而不是把科研判断外包给 AI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FBF4D37-B952-BAA5-148A-BECA018AF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noProof="1" smtClean="0"/>
              <a:pPr/>
              <a:t>2</a:t>
            </a:fld>
            <a:endParaRPr lang="zh-CN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AI 正在改变研究生的科研工作方式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学生已经自然使用 AI，但未必知道如何验证、记录和控制 AI。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576000" y="153719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文献检索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63807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从关键词扩展到证据筛选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000" y="1458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4356000" y="153719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论文阅读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863807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贡献、证据、局限结构化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000" y="1458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8136000" y="153719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000" y="1863807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辅助实现，但不能污染实验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000" y="2574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576000" y="2653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2979808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队列、参数、失败归因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6000" y="2574000"/>
            <a:ext cx="3456000" cy="82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4356000" y="2653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6000" y="2979808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从结果到研究判断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000" y="2574000"/>
            <a:ext cx="3456000" cy="827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8136000" y="2653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论文写作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000" y="2979808"/>
            <a:ext cx="3276000" cy="424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结论必须回到证据链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000" y="4031999"/>
            <a:ext cx="11016000" cy="774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720000" y="4219200"/>
            <a:ext cx="10512000" cy="30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2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会用 AI 不等于会做研究，课程要补的是验证、记录和控制能力。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D4D46089-08DA-C5E4-E939-BB8D1DDC8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noProof="1" smtClean="0"/>
              <a:pPr/>
              <a:t>3</a:t>
            </a:fld>
            <a:endParaRPr lang="zh-CN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7BE266-17EC-0934-C24F-72AFD38D7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C81DE-683D-FB44-EDA9-C04E441D1A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9C51C-4D48-5048-4D20-8C2A051477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48CD32-1260-A01D-CB0C-8F4E1DADA2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noProof="1">
                <a:latin typeface="Microsoft YaHei"/>
                <a:ea typeface="Microsoft YaHei"/>
                <a:cs typeface="Microsoft YaHei"/>
              </a:rPr>
              <a:t>国内外课程对标：本课补方法链路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ACFA34-923F-9F0C-703E-42A7F118853F}"/>
              </a:ext>
            </a:extLst>
          </p:cNvPr>
          <p:cNvSpPr/>
          <p:nvPr/>
        </p:nvSpPr>
        <p:spPr>
          <a:xfrm>
            <a:off x="486000" y="935426"/>
            <a:ext cx="25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9CE90-1537-1169-27D7-DC2DA056BEAD}"/>
              </a:ext>
            </a:extLst>
          </p:cNvPr>
          <p:cNvSpPr txBox="1"/>
          <p:nvPr/>
        </p:nvSpPr>
        <p:spPr>
          <a:xfrm>
            <a:off x="536400" y="964226"/>
            <a:ext cx="2491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60048D-40A2-9880-6B16-B700C46DCB77}"/>
              </a:ext>
            </a:extLst>
          </p:cNvPr>
          <p:cNvSpPr/>
          <p:nvPr/>
        </p:nvSpPr>
        <p:spPr>
          <a:xfrm>
            <a:off x="3078000" y="935426"/>
            <a:ext cx="1440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55DE9-BC60-D0F2-63EC-EA32461C2332}"/>
              </a:ext>
            </a:extLst>
          </p:cNvPr>
          <p:cNvSpPr txBox="1"/>
          <p:nvPr/>
        </p:nvSpPr>
        <p:spPr>
          <a:xfrm>
            <a:off x="3128400" y="964226"/>
            <a:ext cx="1339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机构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A773DC-28F3-4444-E09A-CD56A057BC8D}"/>
              </a:ext>
            </a:extLst>
          </p:cNvPr>
          <p:cNvSpPr/>
          <p:nvPr/>
        </p:nvSpPr>
        <p:spPr>
          <a:xfrm>
            <a:off x="4518000" y="935426"/>
            <a:ext cx="43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FDAC7-5C53-9349-1529-7B1C6B36F6C0}"/>
              </a:ext>
            </a:extLst>
          </p:cNvPr>
          <p:cNvSpPr txBox="1"/>
          <p:nvPr/>
        </p:nvSpPr>
        <p:spPr>
          <a:xfrm>
            <a:off x="4568400" y="964226"/>
            <a:ext cx="4291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110705-F82F-FF00-7463-F021AA53C3BA}"/>
              </a:ext>
            </a:extLst>
          </p:cNvPr>
          <p:cNvSpPr/>
          <p:nvPr/>
        </p:nvSpPr>
        <p:spPr>
          <a:xfrm>
            <a:off x="8910000" y="935426"/>
            <a:ext cx="2592000" cy="259200"/>
          </a:xfrm>
          <a:prstGeom prst="rect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3306B-02CF-B66D-EE10-9B2FB838492F}"/>
              </a:ext>
            </a:extLst>
          </p:cNvPr>
          <p:cNvSpPr txBox="1"/>
          <p:nvPr/>
        </p:nvSpPr>
        <p:spPr>
          <a:xfrm>
            <a:off x="8960400" y="964226"/>
            <a:ext cx="2491200" cy="201599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与本课程的关系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7E102-66C1-1AA0-2AE7-CD1400E7B6EA}"/>
              </a:ext>
            </a:extLst>
          </p:cNvPr>
          <p:cNvSpPr/>
          <p:nvPr/>
        </p:nvSpPr>
        <p:spPr>
          <a:xfrm>
            <a:off x="486000" y="1194626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65A0CB-5BC5-510E-810C-AF771F9789AD}"/>
              </a:ext>
            </a:extLst>
          </p:cNvPr>
          <p:cNvSpPr txBox="1"/>
          <p:nvPr/>
        </p:nvSpPr>
        <p:spPr>
          <a:xfrm>
            <a:off x="643009" y="1322844"/>
            <a:ext cx="2277981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CS294/194-196</a:t>
            </a:r>
            <a:r>
              <a:rPr lang="zh-CN" altLang="en-US"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LLM Agents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4390DC-3589-2441-2624-05A59CF15AF1}"/>
              </a:ext>
            </a:extLst>
          </p:cNvPr>
          <p:cNvSpPr/>
          <p:nvPr/>
        </p:nvSpPr>
        <p:spPr>
          <a:xfrm>
            <a:off x="3078000" y="1194626"/>
            <a:ext cx="1440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39B065-85F9-4984-1192-8FC20134514F}"/>
              </a:ext>
            </a:extLst>
          </p:cNvPr>
          <p:cNvSpPr txBox="1"/>
          <p:nvPr/>
        </p:nvSpPr>
        <p:spPr>
          <a:xfrm>
            <a:off x="3128400" y="1223426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UC Berkeley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6B02A2-39ED-C376-A1A9-82058DF7E30F}"/>
              </a:ext>
            </a:extLst>
          </p:cNvPr>
          <p:cNvSpPr/>
          <p:nvPr/>
        </p:nvSpPr>
        <p:spPr>
          <a:xfrm>
            <a:off x="4518000" y="1194626"/>
            <a:ext cx="43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13D544-818F-DCEE-1235-5E56BC124CDE}"/>
              </a:ext>
            </a:extLst>
          </p:cNvPr>
          <p:cNvSpPr txBox="1"/>
          <p:nvPr/>
        </p:nvSpPr>
        <p:spPr>
          <a:xfrm>
            <a:off x="4603236" y="1261425"/>
            <a:ext cx="4291200" cy="313340"/>
          </a:xfrm>
          <a:prstGeom prst="rect">
            <a:avLst/>
          </a:prstGeom>
          <a:noFill/>
        </p:spPr>
        <p:txBody>
          <a:bodyPr wrap="square" lIns="7200" tIns="7200" rIns="7200" bIns="7200" anchor="ctr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dirty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12 </a:t>
            </a: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讲覆盖推理、规划、代码、多</a:t>
            </a:r>
            <a:r>
              <a:rPr lang="en-US" sz="120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智能体</a:t>
            </a: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、科学发现</a:t>
            </a:r>
            <a:endParaRPr sz="120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D18DA4-DF38-C9BE-1DE8-85644727FE8B}"/>
              </a:ext>
            </a:extLst>
          </p:cNvPr>
          <p:cNvSpPr/>
          <p:nvPr/>
        </p:nvSpPr>
        <p:spPr>
          <a:xfrm>
            <a:off x="8910000" y="1194626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796E9-D9B9-0EE0-7DEF-AFC09C5E7454}"/>
              </a:ext>
            </a:extLst>
          </p:cNvPr>
          <p:cNvSpPr txBox="1"/>
          <p:nvPr/>
        </p:nvSpPr>
        <p:spPr>
          <a:xfrm>
            <a:off x="9079668" y="1322844"/>
            <a:ext cx="2119284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理论深度参考；进阶路径设计</a:t>
            </a:r>
            <a:endParaRPr sz="126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5A7D7F-A946-6112-9E26-4E8E1EEDCB19}"/>
              </a:ext>
            </a:extLst>
          </p:cNvPr>
          <p:cNvSpPr/>
          <p:nvPr/>
        </p:nvSpPr>
        <p:spPr>
          <a:xfrm>
            <a:off x="486000" y="1669826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0D9D9C-13FB-F472-734E-C529EC7D7118}"/>
              </a:ext>
            </a:extLst>
          </p:cNvPr>
          <p:cNvSpPr txBox="1"/>
          <p:nvPr/>
        </p:nvSpPr>
        <p:spPr>
          <a:xfrm>
            <a:off x="1349132" y="1798044"/>
            <a:ext cx="865736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740FAB-4C88-1C48-C25F-0C6FCC8FE4BA}"/>
              </a:ext>
            </a:extLst>
          </p:cNvPr>
          <p:cNvSpPr/>
          <p:nvPr/>
        </p:nvSpPr>
        <p:spPr>
          <a:xfrm>
            <a:off x="3078000" y="1669826"/>
            <a:ext cx="1440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FFA89F-0734-708F-E243-22EF2BF54879}"/>
              </a:ext>
            </a:extLst>
          </p:cNvPr>
          <p:cNvSpPr txBox="1"/>
          <p:nvPr/>
        </p:nvSpPr>
        <p:spPr>
          <a:xfrm>
            <a:off x="3128400" y="1698626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Johns Hopkins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FEA8F1-DFBB-66B8-76DA-A414EE92C38B}"/>
              </a:ext>
            </a:extLst>
          </p:cNvPr>
          <p:cNvSpPr/>
          <p:nvPr/>
        </p:nvSpPr>
        <p:spPr>
          <a:xfrm>
            <a:off x="4518000" y="1669826"/>
            <a:ext cx="43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1F7DCC-AE13-7E52-AB3C-925FFF02539C}"/>
              </a:ext>
            </a:extLst>
          </p:cNvPr>
          <p:cNvSpPr txBox="1"/>
          <p:nvPr/>
        </p:nvSpPr>
        <p:spPr>
          <a:xfrm>
            <a:off x="4603236" y="1785467"/>
            <a:ext cx="4291200" cy="209081"/>
          </a:xfrm>
          <a:prstGeom prst="rect">
            <a:avLst/>
          </a:prstGeom>
          <a:noFill/>
        </p:spPr>
        <p:txBody>
          <a:bodyPr wrap="square" lIns="7200" tIns="7200" rIns="7200" bIns="7200" anchor="ctr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Python→LLM→Agent→项目；感知-规划-学习-行动框架</a:t>
            </a:r>
            <a:endParaRPr sz="120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4469D8-FF9D-E92B-C08B-C5F657304D2C}"/>
              </a:ext>
            </a:extLst>
          </p:cNvPr>
          <p:cNvSpPr/>
          <p:nvPr/>
        </p:nvSpPr>
        <p:spPr>
          <a:xfrm>
            <a:off x="8910000" y="1669826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517274-4BF0-5FC1-DFA6-0A3F50E2CB38}"/>
              </a:ext>
            </a:extLst>
          </p:cNvPr>
          <p:cNvSpPr txBox="1"/>
          <p:nvPr/>
        </p:nvSpPr>
        <p:spPr>
          <a:xfrm>
            <a:off x="9079668" y="1798044"/>
            <a:ext cx="2281187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渐进式设计参考；能力框架互补</a:t>
            </a:r>
            <a:endParaRPr sz="126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8B25BD-91F7-E11B-7E0C-F95E086FC736}"/>
              </a:ext>
            </a:extLst>
          </p:cNvPr>
          <p:cNvSpPr/>
          <p:nvPr/>
        </p:nvSpPr>
        <p:spPr>
          <a:xfrm>
            <a:off x="486000" y="2145026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C91D9C-B8F4-6DAB-2644-459590F49AE5}"/>
              </a:ext>
            </a:extLst>
          </p:cNvPr>
          <p:cNvSpPr txBox="1"/>
          <p:nvPr/>
        </p:nvSpPr>
        <p:spPr>
          <a:xfrm>
            <a:off x="846911" y="2273244"/>
            <a:ext cx="1870177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Agentic </a:t>
            </a:r>
            <a:r>
              <a:rPr sz="1260" b="1" dirty="0" err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AIArchitecture</a:t>
            </a:r>
            <a:endParaRPr sz="1260" b="1" dirty="0">
              <a:solidFill>
                <a:srgbClr val="C6122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978C5A-E877-780A-23E2-5195DF262748}"/>
              </a:ext>
            </a:extLst>
          </p:cNvPr>
          <p:cNvSpPr/>
          <p:nvPr/>
        </p:nvSpPr>
        <p:spPr>
          <a:xfrm>
            <a:off x="3078000" y="2145026"/>
            <a:ext cx="1440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210987-34A7-7F96-F3E5-601E22896651}"/>
              </a:ext>
            </a:extLst>
          </p:cNvPr>
          <p:cNvSpPr txBox="1"/>
          <p:nvPr/>
        </p:nvSpPr>
        <p:spPr>
          <a:xfrm>
            <a:off x="3516776" y="2273244"/>
            <a:ext cx="562448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 dirty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Cornell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6DE971-303C-82E6-C7BC-6948ADDF779F}"/>
              </a:ext>
            </a:extLst>
          </p:cNvPr>
          <p:cNvSpPr/>
          <p:nvPr/>
        </p:nvSpPr>
        <p:spPr>
          <a:xfrm>
            <a:off x="4518000" y="2145026"/>
            <a:ext cx="43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48A25-CFBC-1203-5050-FBFC13825A7C}"/>
              </a:ext>
            </a:extLst>
          </p:cNvPr>
          <p:cNvSpPr txBox="1"/>
          <p:nvPr/>
        </p:nvSpPr>
        <p:spPr>
          <a:xfrm>
            <a:off x="4603237" y="2278085"/>
            <a:ext cx="4291200" cy="209081"/>
          </a:xfrm>
          <a:prstGeom prst="rect">
            <a:avLst/>
          </a:prstGeom>
          <a:noFill/>
        </p:spPr>
        <p:txBody>
          <a:bodyPr wrap="square" lIns="7200" tIns="7200" rIns="7200" bIns="7200" anchor="ctr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非开发者友好；深度使用</a:t>
            </a:r>
            <a:r>
              <a:rPr sz="1200" b="0" dirty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 Claude Code </a:t>
            </a: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1200" b="0" dirty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LangGraph</a:t>
            </a:r>
            <a:endParaRPr sz="120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D21FED-DF14-E67B-A294-2C39A81A02D0}"/>
              </a:ext>
            </a:extLst>
          </p:cNvPr>
          <p:cNvSpPr/>
          <p:nvPr/>
        </p:nvSpPr>
        <p:spPr>
          <a:xfrm>
            <a:off x="8910000" y="2145026"/>
            <a:ext cx="2592000" cy="4752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9143B5-0D4E-24A2-85B7-ECB2A4B7EC03}"/>
              </a:ext>
            </a:extLst>
          </p:cNvPr>
          <p:cNvSpPr txBox="1"/>
          <p:nvPr/>
        </p:nvSpPr>
        <p:spPr>
          <a:xfrm>
            <a:off x="9079668" y="2273244"/>
            <a:ext cx="2281187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模块化设计参考；降低门槛策略</a:t>
            </a:r>
            <a:endParaRPr sz="126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5933EF1-57A5-FAEA-9344-4BE177A2AD9F}"/>
              </a:ext>
            </a:extLst>
          </p:cNvPr>
          <p:cNvSpPr/>
          <p:nvPr/>
        </p:nvSpPr>
        <p:spPr>
          <a:xfrm>
            <a:off x="486000" y="2620226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1EE2D8-C86E-4302-D4DB-5C49AE43DD57}"/>
              </a:ext>
            </a:extLst>
          </p:cNvPr>
          <p:cNvSpPr txBox="1"/>
          <p:nvPr/>
        </p:nvSpPr>
        <p:spPr>
          <a:xfrm>
            <a:off x="675743" y="2637933"/>
            <a:ext cx="2212515" cy="439785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MAS.664 </a:t>
            </a:r>
            <a:br>
              <a:rPr lang="en-US"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</a:br>
            <a:r>
              <a:rPr sz="1260" b="1" dirty="0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Agentsand Agentic Web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FE28C9-89FD-E65D-EDE1-F4450DDBDE6F}"/>
              </a:ext>
            </a:extLst>
          </p:cNvPr>
          <p:cNvSpPr/>
          <p:nvPr/>
        </p:nvSpPr>
        <p:spPr>
          <a:xfrm>
            <a:off x="3078000" y="2620226"/>
            <a:ext cx="1440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3EC37D-AFAF-8389-CA52-F374468BEC53}"/>
              </a:ext>
            </a:extLst>
          </p:cNvPr>
          <p:cNvSpPr txBox="1"/>
          <p:nvPr/>
        </p:nvSpPr>
        <p:spPr>
          <a:xfrm>
            <a:off x="3128400" y="2649026"/>
            <a:ext cx="1339200" cy="417600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sz="1260" b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5CC331-F5B5-BACD-323C-0543EDC4D13C}"/>
              </a:ext>
            </a:extLst>
          </p:cNvPr>
          <p:cNvSpPr/>
          <p:nvPr/>
        </p:nvSpPr>
        <p:spPr>
          <a:xfrm>
            <a:off x="4518000" y="2620226"/>
            <a:ext cx="43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52D017-DB1E-A55A-6C68-DE81037AEF08}"/>
              </a:ext>
            </a:extLst>
          </p:cNvPr>
          <p:cNvSpPr txBox="1"/>
          <p:nvPr/>
        </p:nvSpPr>
        <p:spPr>
          <a:xfrm>
            <a:off x="4603236" y="2753285"/>
            <a:ext cx="4208220" cy="209081"/>
          </a:xfrm>
          <a:prstGeom prst="rect">
            <a:avLst/>
          </a:prstGeom>
          <a:noFill/>
        </p:spPr>
        <p:txBody>
          <a:bodyPr wrap="square" lIns="7200" tIns="7200" rIns="7200" bIns="7200" anchor="ctr">
            <a:noAutofit/>
          </a:bodyPr>
          <a:lstStyle/>
          <a:p>
            <a:pPr algn="l">
              <a:lnSpc>
                <a:spcPct val="114000"/>
              </a:lnSpc>
            </a:pPr>
            <a:r>
              <a:rPr sz="120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身份、信任、声誉、支付、评估、协调；Internet</a:t>
            </a:r>
            <a:r>
              <a:rPr sz="1200" b="0" dirty="0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 of Agents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2C2450-E05D-9219-D5BC-CE3F6869B8E2}"/>
              </a:ext>
            </a:extLst>
          </p:cNvPr>
          <p:cNvSpPr/>
          <p:nvPr/>
        </p:nvSpPr>
        <p:spPr>
          <a:xfrm>
            <a:off x="8910000" y="2620226"/>
            <a:ext cx="2592000" cy="475200"/>
          </a:xfrm>
          <a:prstGeom prst="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193B66-BE28-183E-E5A4-5C134919A68E}"/>
              </a:ext>
            </a:extLst>
          </p:cNvPr>
          <p:cNvSpPr txBox="1"/>
          <p:nvPr/>
        </p:nvSpPr>
        <p:spPr>
          <a:xfrm>
            <a:off x="9079668" y="2748444"/>
            <a:ext cx="2119284" cy="218764"/>
          </a:xfrm>
          <a:prstGeom prst="rect">
            <a:avLst/>
          </a:prstGeom>
          <a:noFill/>
        </p:spPr>
        <p:txBody>
          <a:bodyPr wrap="none" lIns="7200" tIns="7200" rIns="7200" bIns="720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60" b="0" dirty="0" err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前瞻性主题参考；项目制模式</a:t>
            </a:r>
            <a:endParaRPr sz="1260" b="0" dirty="0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FBF936-C86A-C10E-C2C2-2F0C15784CB8}"/>
              </a:ext>
            </a:extLst>
          </p:cNvPr>
          <p:cNvSpPr txBox="1"/>
          <p:nvPr/>
        </p:nvSpPr>
        <p:spPr>
          <a:xfrm>
            <a:off x="485140" y="3233036"/>
            <a:ext cx="8607600" cy="335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聚焦 Agentic AI</a:t>
            </a:r>
            <a:r>
              <a:rPr lang="zh-CN" altLang="en-US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应用工作流与自动化实践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E317BA5-C59B-DC29-7551-C237407B244D}"/>
              </a:ext>
            </a:extLst>
          </p:cNvPr>
          <p:cNvSpPr/>
          <p:nvPr/>
        </p:nvSpPr>
        <p:spPr>
          <a:xfrm>
            <a:off x="1075351" y="3827769"/>
            <a:ext cx="4382914" cy="2120400"/>
          </a:xfrm>
          <a:prstGeom prst="roundRect">
            <a:avLst>
              <a:gd name="adj" fmla="val 7379"/>
            </a:avLst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37313D-B45F-393E-2ACC-46D0BB24B373}"/>
              </a:ext>
            </a:extLst>
          </p:cNvPr>
          <p:cNvSpPr txBox="1"/>
          <p:nvPr/>
        </p:nvSpPr>
        <p:spPr>
          <a:xfrm>
            <a:off x="1165351" y="390696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国内相关课程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E59D8C-108B-E7A5-6C2E-1DC1E41CF097}"/>
              </a:ext>
            </a:extLst>
          </p:cNvPr>
          <p:cNvSpPr txBox="1"/>
          <p:nvPr/>
        </p:nvSpPr>
        <p:spPr>
          <a:xfrm>
            <a:off x="1165351" y="4260081"/>
            <a:ext cx="3276000" cy="1342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/ ML 专业课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科研写作与方法训练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工具应用专题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多分散在模型、写作或工具层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E24EBA3B-E41C-7FB3-C4DE-4E82C0457784}"/>
              </a:ext>
            </a:extLst>
          </p:cNvPr>
          <p:cNvSpPr/>
          <p:nvPr/>
        </p:nvSpPr>
        <p:spPr>
          <a:xfrm>
            <a:off x="6429028" y="3827769"/>
            <a:ext cx="4769924" cy="2120400"/>
          </a:xfrm>
          <a:prstGeom prst="roundRect">
            <a:avLst>
              <a:gd name="adj" fmla="val 5388"/>
            </a:avLst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144609-1B84-9772-D9A2-8AF732EBD25E}"/>
              </a:ext>
            </a:extLst>
          </p:cNvPr>
          <p:cNvSpPr txBox="1"/>
          <p:nvPr/>
        </p:nvSpPr>
        <p:spPr>
          <a:xfrm>
            <a:off x="6519028" y="3906969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本课程补位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61D60C-5731-3FA3-958A-11776DEFB8FD}"/>
              </a:ext>
            </a:extLst>
          </p:cNvPr>
          <p:cNvSpPr txBox="1"/>
          <p:nvPr/>
        </p:nvSpPr>
        <p:spPr>
          <a:xfrm>
            <a:off x="6519028" y="4273333"/>
            <a:ext cx="3276000" cy="1342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八阶段研究链路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四个研究门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证据、判断、留痕、伦理贯通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强调 AI 时代的科研责任链</a:t>
            </a:r>
          </a:p>
        </p:txBody>
      </p:sp>
    </p:spTree>
    <p:extLst>
      <p:ext uri="{BB962C8B-B14F-4D97-AF65-F5344CB8AC3E}">
        <p14:creationId xmlns:p14="http://schemas.microsoft.com/office/powerpoint/2010/main" val="222624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AI 增强的科研闭环训练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课程按科研动作组织，而不是按工具清单组织。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01999" cy="2015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648000" y="1638000"/>
            <a:ext cx="3078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课程内容比例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2015008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684000" y="2178000"/>
            <a:ext cx="3006000" cy="1026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通用科研工作流  70%-80%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自动化 / Agent  20%-30%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6000" y="1458000"/>
            <a:ext cx="3401999" cy="201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4338000" y="1638000"/>
            <a:ext cx="3078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核心原则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8000" y="2015008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4374000" y="2178000"/>
            <a:ext cx="3006000" cy="1026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工具服务科研动作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方法论主线优先</a:t>
            </a:r>
          </a:p>
          <a:p>
            <a:pPr algn="l">
              <a:lnSpc>
                <a:spcPct val="118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自动化作为强化模块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6000" y="1458000"/>
            <a:ext cx="3401999" cy="2015999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028000" y="1638000"/>
            <a:ext cx="3078000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000" y="2015008"/>
            <a:ext cx="30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8064001" y="2178000"/>
            <a:ext cx="3042000" cy="615046"/>
          </a:xfrm>
          <a:prstGeom prst="rect">
            <a:avLst/>
          </a:prstGeom>
          <a:noFill/>
        </p:spPr>
        <p:txBody>
          <a:bodyPr wrap="square" lIns="28800" tIns="28800" rIns="28800" bIns="2880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en-CN" sz="1600" dirty="0"/>
              <a:t>不是把任务交给 AI 自动完成，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8000"/>
              </a:lnSpc>
            </a:pPr>
            <a:r>
              <a:rPr lang="en-CN" sz="1600" dirty="0"/>
              <a:t>而是用 AI 支持可审查、可追溯、负责任的科研过程。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20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720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找证据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4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2754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定问题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88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4788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设假设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22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6822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做实验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6000" y="3924000"/>
            <a:ext cx="1745999" cy="5220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8856000" y="4024800"/>
            <a:ext cx="1745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写论证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E4299569-0B88-4B62-EC7C-B9B244BBE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5</a:t>
            </a:fld>
            <a:endParaRPr lang="zh-CN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八阶段研究链路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可以参与每个阶段，但不能替代关键判断。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" y="1512000"/>
            <a:ext cx="2520000" cy="212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560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56000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4000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定题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999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Rounded Rectangle 10"/>
          <p:cNvSpPr/>
          <p:nvPr/>
        </p:nvSpPr>
        <p:spPr>
          <a:xfrm>
            <a:off x="827999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2" name="TextBox 11"/>
          <p:cNvSpPr txBox="1"/>
          <p:nvPr/>
        </p:nvSpPr>
        <p:spPr>
          <a:xfrm>
            <a:off x="917999" y="23305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01 问题定义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999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917999" y="28273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02 第一性原理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99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看清问题边界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8800" y="2440800"/>
            <a:ext cx="2088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9199" y="1512000"/>
            <a:ext cx="2520000" cy="21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Oval 17"/>
          <p:cNvSpPr/>
          <p:nvPr/>
        </p:nvSpPr>
        <p:spPr>
          <a:xfrm>
            <a:off x="3535199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3535199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3199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7200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Rounded Rectangle 21"/>
          <p:cNvSpPr/>
          <p:nvPr/>
        </p:nvSpPr>
        <p:spPr>
          <a:xfrm>
            <a:off x="3607200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TextBox 22"/>
          <p:cNvSpPr txBox="1"/>
          <p:nvPr/>
        </p:nvSpPr>
        <p:spPr>
          <a:xfrm>
            <a:off x="3697200" y="23305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03 机制假设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7200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5" name="TextBox 24"/>
          <p:cNvSpPr txBox="1"/>
          <p:nvPr/>
        </p:nvSpPr>
        <p:spPr>
          <a:xfrm>
            <a:off x="3697200" y="28273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04 外部输入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7200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形成可检验假设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57999" y="2440800"/>
            <a:ext cx="2088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8399" y="1512000"/>
            <a:ext cx="2520000" cy="212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9" name="Oval 28"/>
          <p:cNvSpPr/>
          <p:nvPr/>
        </p:nvSpPr>
        <p:spPr>
          <a:xfrm>
            <a:off x="63144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6314400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2399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6399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3" name="Rounded Rectangle 32"/>
          <p:cNvSpPr/>
          <p:nvPr/>
        </p:nvSpPr>
        <p:spPr>
          <a:xfrm>
            <a:off x="6386399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4" name="TextBox 33"/>
          <p:cNvSpPr txBox="1"/>
          <p:nvPr/>
        </p:nvSpPr>
        <p:spPr>
          <a:xfrm>
            <a:off x="6476399" y="23305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05 证据整理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6399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6" name="TextBox 35"/>
          <p:cNvSpPr txBox="1"/>
          <p:nvPr/>
        </p:nvSpPr>
        <p:spPr>
          <a:xfrm>
            <a:off x="6476399" y="28273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06 研究判断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6399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把证据转成判断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7199" y="2440800"/>
            <a:ext cx="2088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7600" y="1512000"/>
            <a:ext cx="2520000" cy="21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0" name="Oval 39"/>
          <p:cNvSpPr/>
          <p:nvPr/>
        </p:nvSpPr>
        <p:spPr>
          <a:xfrm>
            <a:off x="9093600" y="1634400"/>
            <a:ext cx="378000" cy="378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1" name="TextBox 40"/>
          <p:cNvSpPr txBox="1"/>
          <p:nvPr/>
        </p:nvSpPr>
        <p:spPr>
          <a:xfrm>
            <a:off x="9093600" y="1732680"/>
            <a:ext cx="378000" cy="15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1600" y="1648800"/>
            <a:ext cx="1800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65600" y="2070000"/>
            <a:ext cx="212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4" name="Rounded Rectangle 43"/>
          <p:cNvSpPr/>
          <p:nvPr/>
        </p:nvSpPr>
        <p:spPr>
          <a:xfrm>
            <a:off x="9165600" y="22500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5" name="TextBox 44"/>
          <p:cNvSpPr txBox="1"/>
          <p:nvPr/>
        </p:nvSpPr>
        <p:spPr>
          <a:xfrm>
            <a:off x="9255600" y="23305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07 原型验证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5600" y="2746800"/>
            <a:ext cx="2124000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7" name="TextBox 46"/>
          <p:cNvSpPr txBox="1"/>
          <p:nvPr/>
        </p:nvSpPr>
        <p:spPr>
          <a:xfrm>
            <a:off x="9255600" y="2827304"/>
            <a:ext cx="1944000" cy="136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08 回写表达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5600" y="3294000"/>
            <a:ext cx="2124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沉淀可追溯成果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000" y="3978000"/>
            <a:ext cx="11016000" cy="522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0" name="TextBox 49"/>
          <p:cNvSpPr txBox="1"/>
          <p:nvPr/>
        </p:nvSpPr>
        <p:spPr>
          <a:xfrm>
            <a:off x="648000" y="4089600"/>
            <a:ext cx="10692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四个不可外包的判断：问题重要性 · 假设可检验性 · 实验公平性 · 结论证据性</a:t>
            </a: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E5D75B9D-21C9-8DF8-C2CD-9F5C64FE3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6</a:t>
            </a:fld>
            <a:endParaRPr lang="zh-CN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noProof="1">
                <a:latin typeface="Microsoft YaHei"/>
                <a:ea typeface="Microsoft YaHei"/>
                <a:cs typeface="Microsoft YaHei"/>
              </a:rPr>
              <a:t>例：</a:t>
            </a:r>
            <a:r>
              <a:rPr lang="zh-CN" noProof="1">
                <a:latin typeface="Microsoft YaHei"/>
                <a:ea typeface="Microsoft YaHei"/>
                <a:cs typeface="Microsoft YaHei"/>
              </a:rPr>
              <a:t>Transformer 论文拆科研闭环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6470174" cy="391523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不讲模型细节，而是拆问题、假设、证据、判断和留痕。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380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380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0504" y="1748764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60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7740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必须依赖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循环 / 卷积？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00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2800" y="1494000"/>
            <a:ext cx="1962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Oval 14"/>
          <p:cNvSpPr/>
          <p:nvPr/>
        </p:nvSpPr>
        <p:spPr>
          <a:xfrm>
            <a:off x="29088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29088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1304" y="1748764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68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29448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注意力能建模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长距离依赖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8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08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36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Oval 22"/>
          <p:cNvSpPr/>
          <p:nvPr/>
        </p:nvSpPr>
        <p:spPr>
          <a:xfrm>
            <a:off x="50796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50796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2104" y="1748764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876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51156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翻译结果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训练效率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36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16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24400" y="1494000"/>
            <a:ext cx="1962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Oval 30"/>
          <p:cNvSpPr/>
          <p:nvPr/>
        </p:nvSpPr>
        <p:spPr>
          <a:xfrm>
            <a:off x="72504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72504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2903" y="1748764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8399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5" name="TextBox 34"/>
          <p:cNvSpPr txBox="1"/>
          <p:nvPr/>
        </p:nvSpPr>
        <p:spPr>
          <a:xfrm>
            <a:off x="7286399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结构假设被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证据支撑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44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判断记录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2400" y="24948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5200" y="1494000"/>
            <a:ext cx="1962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9" name="Oval 38"/>
          <p:cNvSpPr/>
          <p:nvPr/>
        </p:nvSpPr>
        <p:spPr>
          <a:xfrm>
            <a:off x="9421200" y="1645200"/>
            <a:ext cx="396000" cy="396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0" name="TextBox 39"/>
          <p:cNvSpPr txBox="1"/>
          <p:nvPr/>
        </p:nvSpPr>
        <p:spPr>
          <a:xfrm>
            <a:off x="9421200" y="1748160"/>
            <a:ext cx="396000" cy="166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33704" y="1748764"/>
            <a:ext cx="122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29200" y="2088000"/>
            <a:ext cx="149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3" name="TextBox 42"/>
          <p:cNvSpPr txBox="1"/>
          <p:nvPr/>
        </p:nvSpPr>
        <p:spPr>
          <a:xfrm>
            <a:off x="9457200" y="2304000"/>
            <a:ext cx="1638000" cy="45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解释性</a:t>
            </a:r>
          </a:p>
          <a:p>
            <a:pPr algn="ctr">
              <a:lnSpc>
                <a:spcPct val="125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成本 / 泛化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5200" y="3096000"/>
            <a:ext cx="1602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缺口清单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000" y="4158000"/>
            <a:ext cx="11016000" cy="432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6" name="TextBox 45"/>
          <p:cNvSpPr txBox="1"/>
          <p:nvPr/>
        </p:nvSpPr>
        <p:spPr>
          <a:xfrm>
            <a:off x="630000" y="4240800"/>
            <a:ext cx="10728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学生不是总结论文，而是抽取证据链、判断链和留痕材料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45F134F8-5209-7076-E92C-78C6AF3B5D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7</a:t>
            </a:fld>
            <a:endParaRPr lang="zh-CN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32 学时如何组织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六个模块共同服务一个贯穿项目，避免每周孤立练习。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0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7380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0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1-2 周</a:t>
            </a:r>
          </a:p>
        </p:txBody>
      </p:sp>
      <p:sp>
        <p:nvSpPr>
          <p:cNvPr id="9" name="Rectangle 8"/>
          <p:cNvSpPr/>
          <p:nvPr/>
        </p:nvSpPr>
        <p:spPr>
          <a:xfrm>
            <a:off x="8100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7740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导论伦理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研究工件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32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28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25488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8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3-5 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08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25848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文献证据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48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研究空白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40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1" name="TextBox 20"/>
          <p:cNvSpPr txBox="1"/>
          <p:nvPr/>
        </p:nvSpPr>
        <p:spPr>
          <a:xfrm>
            <a:off x="43596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6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6-7 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16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43956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问题假设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56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48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444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61704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24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8-9 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24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TextBox 30"/>
          <p:cNvSpPr txBox="1"/>
          <p:nvPr/>
        </p:nvSpPr>
        <p:spPr>
          <a:xfrm>
            <a:off x="6206399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数据基线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6399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可复现实验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5599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55200" y="1530000"/>
            <a:ext cx="1674000" cy="190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5" name="TextBox 34"/>
          <p:cNvSpPr txBox="1"/>
          <p:nvPr/>
        </p:nvSpPr>
        <p:spPr>
          <a:xfrm>
            <a:off x="79812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32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10-13 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32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8" name="TextBox 37"/>
          <p:cNvSpPr txBox="1"/>
          <p:nvPr/>
        </p:nvSpPr>
        <p:spPr>
          <a:xfrm>
            <a:off x="80172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72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实验自动化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6400" y="2448000"/>
            <a:ext cx="1224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66000" y="1530000"/>
            <a:ext cx="1674000" cy="190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2" name="TextBox 41"/>
          <p:cNvSpPr txBox="1"/>
          <p:nvPr/>
        </p:nvSpPr>
        <p:spPr>
          <a:xfrm>
            <a:off x="9792000" y="1655999"/>
            <a:ext cx="413999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24000" y="1684800"/>
            <a:ext cx="990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lang="zh-CN" sz="14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14-16 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64000" y="2015999"/>
            <a:ext cx="1278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5" name="TextBox 44"/>
          <p:cNvSpPr txBox="1"/>
          <p:nvPr/>
        </p:nvSpPr>
        <p:spPr>
          <a:xfrm>
            <a:off x="9828000" y="2268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8000" y="2646000"/>
            <a:ext cx="1350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论文表达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58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48" name="TextBox 47"/>
          <p:cNvSpPr txBox="1"/>
          <p:nvPr/>
        </p:nvSpPr>
        <p:spPr>
          <a:xfrm>
            <a:off x="2412000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94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0" name="TextBox 49"/>
          <p:cNvSpPr txBox="1"/>
          <p:nvPr/>
        </p:nvSpPr>
        <p:spPr>
          <a:xfrm>
            <a:off x="4248000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0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2" name="TextBox 51"/>
          <p:cNvSpPr txBox="1"/>
          <p:nvPr/>
        </p:nvSpPr>
        <p:spPr>
          <a:xfrm>
            <a:off x="6083999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66000" y="3654000"/>
            <a:ext cx="1350000" cy="295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4" name="TextBox 53"/>
          <p:cNvSpPr txBox="1"/>
          <p:nvPr/>
        </p:nvSpPr>
        <p:spPr>
          <a:xfrm>
            <a:off x="7920000" y="3715200"/>
            <a:ext cx="1242000" cy="10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000" y="4086000"/>
            <a:ext cx="11016000" cy="468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56" name="TextBox 55"/>
          <p:cNvSpPr txBox="1"/>
          <p:nvPr/>
        </p:nvSpPr>
        <p:spPr>
          <a:xfrm>
            <a:off x="705180" y="4139853"/>
            <a:ext cx="10577645" cy="35830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结合Agent/Harness思路，一条贯穿项目线：从选题方向到问题门、判断门、验证门、论证门逐步推进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5C3684DE-1DB9-2CEA-42C1-C3FD7A452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8</a:t>
            </a:fld>
            <a:endParaRPr lang="zh-CN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基础要求与资源边界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课程训练的是方法，不把商业工具购买能力作为学习门槛。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58000"/>
            <a:ext cx="3401999" cy="225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666000" y="1638000"/>
            <a:ext cx="3041999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学生需要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000" y="2025808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9" name="TextBox 8"/>
          <p:cNvSpPr txBox="1"/>
          <p:nvPr/>
        </p:nvSpPr>
        <p:spPr>
          <a:xfrm>
            <a:off x="702000" y="2214000"/>
            <a:ext cx="2970000" cy="9179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Python / 机器学习基础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Git 与命令行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英文论文阅读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6000" y="1458000"/>
            <a:ext cx="3401999" cy="2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4356000" y="1638000"/>
            <a:ext cx="3041999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学生不需要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000" y="2025808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4392000" y="2214000"/>
            <a:ext cx="2970000" cy="9179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本地 GPU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自费 API token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绑定商业工具账号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6000" y="1458000"/>
            <a:ext cx="3401999" cy="225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TextBox 14"/>
          <p:cNvSpPr txBox="1"/>
          <p:nvPr/>
        </p:nvSpPr>
        <p:spPr>
          <a:xfrm>
            <a:off x="8046000" y="1638000"/>
            <a:ext cx="3041999" cy="1872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资源口径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000" y="2025808"/>
            <a:ext cx="3041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7" name="TextBox 16"/>
          <p:cNvSpPr txBox="1"/>
          <p:nvPr/>
        </p:nvSpPr>
        <p:spPr>
          <a:xfrm>
            <a:off x="8082000" y="2214000"/>
            <a:ext cx="2970000" cy="9179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学校已部署资源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开源或国内可用资源</a:t>
            </a:r>
          </a:p>
          <a:p>
            <a:pPr algn="l">
              <a:lnSpc>
                <a:spcPct val="132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免费 token 仅作补充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" y="4104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630000" y="4197600"/>
            <a:ext cx="10728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课程可持续运行的前提：资源可替代、权限可控、费用不转嫁给学生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46526B4-2580-4B4A-E535-412824850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9</a:t>
            </a:fld>
            <a:endParaRPr lang="zh-CN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课程如何评价学生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评分不是“用了多少 AI 工具”，而是是否形成可验证、可复现、可追溯的科研闭环。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530000"/>
            <a:ext cx="2358000" cy="72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576000" y="1609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882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文献与问题定位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0000" y="1530000"/>
            <a:ext cx="235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3240000" y="1609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1882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实验设计与可复现性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000" y="2466000"/>
            <a:ext cx="2358000" cy="72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576000" y="2545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818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原型与自动化实践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0000" y="2466000"/>
            <a:ext cx="235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3240000" y="2545200"/>
            <a:ext cx="2178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0" y="2818800"/>
            <a:ext cx="2178000" cy="31679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表达、伦理与复盘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000" y="1494000"/>
            <a:ext cx="489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最终提交物：每项都可检查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2000" y="2013024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6091199" y="2117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7999" y="2013024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8557199" y="2117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2000" y="2499024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6091199" y="2603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7999" y="2499024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6" name="TextBox 25"/>
          <p:cNvSpPr txBox="1"/>
          <p:nvPr/>
        </p:nvSpPr>
        <p:spPr>
          <a:xfrm>
            <a:off x="8557199" y="2603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2000" y="2985024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6091199" y="3089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可运行原型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77999" y="2985024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8557199" y="3089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12000" y="3471024"/>
            <a:ext cx="2250000" cy="316800"/>
          </a:xfrm>
          <a:prstGeom prst="round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6091199" y="3575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77999" y="3471024"/>
            <a:ext cx="2250000" cy="316800"/>
          </a:xfrm>
          <a:prstGeom prst="roundRect">
            <a:avLst/>
          </a:prstGeom>
          <a:solidFill>
            <a:srgbClr val="FFFFFF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4" name="TextBox 33"/>
          <p:cNvSpPr txBox="1"/>
          <p:nvPr/>
        </p:nvSpPr>
        <p:spPr>
          <a:xfrm>
            <a:off x="8557199" y="3575580"/>
            <a:ext cx="2088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伦理合规说明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6000" y="4479808"/>
            <a:ext cx="11016000" cy="413999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6" name="TextBox 35"/>
          <p:cNvSpPr txBox="1"/>
          <p:nvPr/>
        </p:nvSpPr>
        <p:spPr>
          <a:xfrm>
            <a:off x="630000" y="4602365"/>
            <a:ext cx="10728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每个评分项都有产物支撑，降低“AI 课不好考核”的担忧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837BF85C-ECAD-6C49-253C-47331FAE3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10</a:t>
            </a:fld>
            <a:endParaRPr lang="zh-CN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研究门与全过程留痕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研究门不是形式化检查，而是防止最后交一份“看似完整但不可验证”的报告。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512000"/>
            <a:ext cx="2502000" cy="217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380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38000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008" y="1805216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0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1" name="TextBox 10"/>
          <p:cNvSpPr txBox="1"/>
          <p:nvPr/>
        </p:nvSpPr>
        <p:spPr>
          <a:xfrm>
            <a:off x="8100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非例 / 可证伪命题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证据地图初版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1200" y="25632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200" y="1512000"/>
            <a:ext cx="2502000" cy="21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Oval 14"/>
          <p:cNvSpPr/>
          <p:nvPr/>
        </p:nvSpPr>
        <p:spPr>
          <a:xfrm>
            <a:off x="3499199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3499199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6207" y="1805216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判断门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12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9" name="TextBox 18"/>
          <p:cNvSpPr txBox="1"/>
          <p:nvPr/>
        </p:nvSpPr>
        <p:spPr>
          <a:xfrm>
            <a:off x="35712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52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baseline / 实验规格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取舍理由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2400" y="25632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8400" y="1512000"/>
            <a:ext cx="2502000" cy="2178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Oval 22"/>
          <p:cNvSpPr/>
          <p:nvPr/>
        </p:nvSpPr>
        <p:spPr>
          <a:xfrm>
            <a:off x="62604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6260400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7408" y="1805216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验证门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24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7" name="TextBox 26"/>
          <p:cNvSpPr txBox="1"/>
          <p:nvPr/>
        </p:nvSpPr>
        <p:spPr>
          <a:xfrm>
            <a:off x="63324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原型验证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64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实验日志 / 失败分析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3600" y="2563200"/>
            <a:ext cx="1512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9600" y="1512000"/>
            <a:ext cx="2502000" cy="21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Oval 30"/>
          <p:cNvSpPr/>
          <p:nvPr/>
        </p:nvSpPr>
        <p:spPr>
          <a:xfrm>
            <a:off x="9021600" y="1674000"/>
            <a:ext cx="424800" cy="4248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9021600" y="1784448"/>
            <a:ext cx="424800" cy="1784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8608" y="1805216"/>
            <a:ext cx="1692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论证门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3600" y="2142000"/>
            <a:ext cx="2034000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5" name="TextBox 34"/>
          <p:cNvSpPr txBox="1"/>
          <p:nvPr/>
        </p:nvSpPr>
        <p:spPr>
          <a:xfrm>
            <a:off x="9093600" y="2394000"/>
            <a:ext cx="2034000" cy="187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结论表达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7600" y="2790000"/>
            <a:ext cx="210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追溯链 / AI 披露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伦理说明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000" y="4121999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8" name="TextBox 37"/>
          <p:cNvSpPr txBox="1"/>
          <p:nvPr/>
        </p:nvSpPr>
        <p:spPr>
          <a:xfrm>
            <a:off x="630000" y="4258956"/>
            <a:ext cx="10728000" cy="1656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每个门都要求留下可审查材料，让 AI 参与过程可复盘、可追责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EC2283-7616-3C0F-0B6E-B98EF8B76070}"/>
              </a:ext>
            </a:extLst>
          </p:cNvPr>
          <p:cNvSpPr txBox="1"/>
          <p:nvPr/>
        </p:nvSpPr>
        <p:spPr>
          <a:xfrm>
            <a:off x="1643270" y="5533879"/>
            <a:ext cx="9329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noProof="1"/>
              <a:t>所有资料开源： https://github.com/jinyh/ai-research-workflow-course/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299E9739-76DD-ABCF-3967-B4762CC51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11</a:t>
            </a:fld>
            <a:endParaRPr lang="zh-CN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主讲人的适配性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440000"/>
            <a:ext cx="3456000" cy="248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576000" y="1519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科研方法积累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912068"/>
            <a:ext cx="3195753" cy="1122621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2018年以来发表CCF-A/B论文30+</a:t>
            </a:r>
          </a:p>
          <a:p>
            <a:pPr algn="l">
              <a:lnSpc>
                <a:spcPct val="150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担任多个CCF-A/B会议审稿</a:t>
            </a:r>
            <a:b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指导硕士生、博士生 20+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000" y="1440000"/>
            <a:ext cx="3456000" cy="248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4356000" y="1519200"/>
            <a:ext cx="2376105" cy="358309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与 Agent 项目实践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000" y="1925320"/>
            <a:ext cx="3456000" cy="1491953"/>
          </a:xfrm>
          <a:prstGeom prst="rect">
            <a:avLst/>
          </a:prstGeom>
          <a:noFill/>
        </p:spPr>
        <p:txBody>
          <a:bodyPr wrap="square" lIns="28800" tIns="28800" rIns="28800" bIns="288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从2018年以来承担</a:t>
            </a: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AI相关项目</a:t>
            </a:r>
            <a:b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涉及司法、社会治理、能源、通信等 交叉领域，经费超过</a:t>
            </a: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5000万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积极实践最新的AI和智能体技术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000" y="1440000"/>
            <a:ext cx="3456000" cy="2484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3" name="TextBox 12"/>
          <p:cNvSpPr txBox="1"/>
          <p:nvPr/>
        </p:nvSpPr>
        <p:spPr>
          <a:xfrm>
            <a:off x="8136000" y="1519200"/>
            <a:ext cx="3276000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课程转化能力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000" y="1929600"/>
            <a:ext cx="3135928" cy="1862695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已经开始过“高性能信息网络”</a:t>
            </a:r>
            <a:b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“管理科学中的数据分析”等多门</a:t>
            </a:r>
          </a:p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研究课程</a:t>
            </a:r>
          </a:p>
          <a:p>
            <a:pPr algn="l">
              <a:lnSpc>
                <a:spcPct val="124000"/>
              </a:lnSpc>
            </a:pP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多个有影响的开源项目</a:t>
            </a:r>
            <a:b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“Awesome Public Datasets”</a:t>
            </a:r>
            <a:b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</a:br>
            <a:r>
              <a:rPr lang="zh-CN" sz="160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“从基础学科到AGI”</a:t>
            </a:r>
            <a:endParaRPr lang="zh-CN" sz="1600" b="0" noProof="1">
              <a:solidFill>
                <a:srgbClr val="2B34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125A3C-EA5F-3D57-4433-45E48CC10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12</a:t>
            </a:fld>
            <a:endParaRPr lang="zh-CN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课程产出：研究雏形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学生拿走的不是工具清单，而是一套能延续到自己科研工作的材料和习惯。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7984" y="1832244"/>
            <a:ext cx="3420000" cy="1188000"/>
          </a:xfrm>
          <a:prstGeom prst="roundRect">
            <a:avLst/>
          </a:prstGeom>
          <a:solidFill>
            <a:srgbClr val="C61223"/>
          </a:solidFill>
          <a:ln>
            <a:solidFill>
              <a:srgbClr val="C6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TextBox 6"/>
          <p:cNvSpPr txBox="1"/>
          <p:nvPr/>
        </p:nvSpPr>
        <p:spPr>
          <a:xfrm>
            <a:off x="4393984" y="2055444"/>
            <a:ext cx="2988000" cy="19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可延续的研究雏形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9984" y="2390244"/>
            <a:ext cx="2916000" cy="21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 · 证据 · 实验 · 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00" y="1530000"/>
            <a:ext cx="2951999" cy="99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0" name="TextBox 9"/>
          <p:cNvSpPr txBox="1"/>
          <p:nvPr/>
        </p:nvSpPr>
        <p:spPr>
          <a:xfrm>
            <a:off x="720000" y="1609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1882800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8000" y="1925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2951999"/>
            <a:ext cx="2951999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4" name="TextBox 13"/>
          <p:cNvSpPr txBox="1"/>
          <p:nvPr/>
        </p:nvSpPr>
        <p:spPr>
          <a:xfrm>
            <a:off x="720000" y="3031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证据地图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304800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文献与空白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8000" y="3347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8000" y="1530000"/>
            <a:ext cx="2951999" cy="990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8" name="TextBox 17"/>
          <p:cNvSpPr txBox="1"/>
          <p:nvPr/>
        </p:nvSpPr>
        <p:spPr>
          <a:xfrm>
            <a:off x="8208000" y="1609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实验规格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00" y="1882800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baseline / 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000" y="1925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8000" y="2951999"/>
            <a:ext cx="2951999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2" name="TextBox 21"/>
          <p:cNvSpPr txBox="1"/>
          <p:nvPr/>
        </p:nvSpPr>
        <p:spPr>
          <a:xfrm>
            <a:off x="8208000" y="3031200"/>
            <a:ext cx="2771999" cy="198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8000" y="3304800"/>
            <a:ext cx="2771999" cy="5868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lang="zh-CN" sz="16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论文式短文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000" y="3347999"/>
            <a:ext cx="270000" cy="162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73756" y="3330000"/>
            <a:ext cx="1925999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6" name="TextBox 25"/>
          <p:cNvSpPr txBox="1"/>
          <p:nvPr/>
        </p:nvSpPr>
        <p:spPr>
          <a:xfrm>
            <a:off x="3977257" y="3409200"/>
            <a:ext cx="1782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7001" y="3330000"/>
            <a:ext cx="1925999" cy="3312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5831999" y="3427172"/>
            <a:ext cx="1782000" cy="115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4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伦理合规说明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000" y="4068000"/>
            <a:ext cx="11016000" cy="450000"/>
          </a:xfrm>
          <a:prstGeom prst="rect">
            <a:avLst/>
          </a:prstGeom>
          <a:solidFill>
            <a:srgbClr val="F8F9FB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0" name="TextBox 29"/>
          <p:cNvSpPr txBox="1"/>
          <p:nvPr/>
        </p:nvSpPr>
        <p:spPr>
          <a:xfrm>
            <a:off x="630000" y="4158000"/>
            <a:ext cx="10728000" cy="180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目标不是“泛化提升科研能力”，而是产出可延续的研究材料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0DE9793-BB9F-43F0-79AF-9CCB9CB947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13</a:t>
            </a:fld>
            <a:endParaRPr lang="zh-CN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noProof="1">
                <a:latin typeface="Microsoft YaHei"/>
                <a:ea typeface="Microsoft YaHei"/>
                <a:cs typeface="Microsoft YaHei"/>
              </a:rPr>
              <a:t>科研过程必须可审查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000" y="954000"/>
            <a:ext cx="11016000" cy="270000"/>
          </a:xfrm>
          <a:prstGeom prst="rect">
            <a:avLst/>
          </a:prstGeom>
          <a:noFill/>
        </p:spPr>
        <p:txBody>
          <a:bodyPr wrap="none" lIns="28800" tIns="28800" rIns="28800" bIns="288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20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课程不是禁止学生用 AI，而是要求 AI 参与过程留下证据和边界。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000" y="1530000"/>
            <a:ext cx="2538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7" name="Oval 6"/>
          <p:cNvSpPr/>
          <p:nvPr/>
        </p:nvSpPr>
        <p:spPr>
          <a:xfrm>
            <a:off x="720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8" name="TextBox 7"/>
          <p:cNvSpPr txBox="1"/>
          <p:nvPr/>
        </p:nvSpPr>
        <p:spPr>
          <a:xfrm>
            <a:off x="720000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8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输入可追溯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2" name="TextBox 11"/>
          <p:cNvSpPr txBox="1"/>
          <p:nvPr/>
        </p:nvSpPr>
        <p:spPr>
          <a:xfrm>
            <a:off x="827999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提示词 / 来源 / 工具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800" y="2473200"/>
            <a:ext cx="14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4000" y="1530000"/>
            <a:ext cx="2538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5" name="Oval 14"/>
          <p:cNvSpPr/>
          <p:nvPr/>
        </p:nvSpPr>
        <p:spPr>
          <a:xfrm>
            <a:off x="3456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16" name="TextBox 15"/>
          <p:cNvSpPr txBox="1"/>
          <p:nvPr/>
        </p:nvSpPr>
        <p:spPr>
          <a:xfrm>
            <a:off x="3456000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14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权限可说明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工具权限记录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0" name="TextBox 19"/>
          <p:cNvSpPr txBox="1"/>
          <p:nvPr/>
        </p:nvSpPr>
        <p:spPr>
          <a:xfrm>
            <a:off x="3564000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数据源 / 读写范围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外部服务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0799" y="2473200"/>
            <a:ext cx="14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0000" y="1530000"/>
            <a:ext cx="2538000" cy="214200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3" name="Oval 22"/>
          <p:cNvSpPr/>
          <p:nvPr/>
        </p:nvSpPr>
        <p:spPr>
          <a:xfrm>
            <a:off x="6192000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4" name="TextBox 23"/>
          <p:cNvSpPr txBox="1"/>
          <p:nvPr/>
        </p:nvSpPr>
        <p:spPr>
          <a:xfrm>
            <a:off x="6192000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0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实验可复现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8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实验留痕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8" name="TextBox 27"/>
          <p:cNvSpPr txBox="1"/>
          <p:nvPr/>
        </p:nvSpPr>
        <p:spPr>
          <a:xfrm>
            <a:off x="6300000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实验 ID / 配置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代码 / 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6800" y="2473200"/>
            <a:ext cx="14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66000" y="1530000"/>
            <a:ext cx="2538000" cy="214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1" name="Oval 30"/>
          <p:cNvSpPr/>
          <p:nvPr/>
        </p:nvSpPr>
        <p:spPr>
          <a:xfrm>
            <a:off x="8927999" y="1692000"/>
            <a:ext cx="450000" cy="450000"/>
          </a:xfrm>
          <a:prstGeom prst="ellipse">
            <a:avLst/>
          </a:prstGeom>
          <a:solidFill>
            <a:srgbClr val="C61223"/>
          </a:solidFill>
          <a:ln>
            <a:solidFill>
              <a:srgbClr val="DA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2" name="TextBox 31"/>
          <p:cNvSpPr txBox="1"/>
          <p:nvPr/>
        </p:nvSpPr>
        <p:spPr>
          <a:xfrm>
            <a:off x="8927999" y="1809000"/>
            <a:ext cx="450000" cy="189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6000" y="1692000"/>
            <a:ext cx="1674000" cy="172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lang="zh-CN" sz="1600" b="1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判断可问责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4000" y="2268000"/>
            <a:ext cx="2141999" cy="208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研究判断留痕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72000" y="2682000"/>
            <a:ext cx="1925999" cy="12600"/>
          </a:xfrm>
          <a:prstGeom prst="rect">
            <a:avLst/>
          </a:prstGeom>
          <a:solidFill>
            <a:srgbClr val="E4A6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6" name="TextBox 35"/>
          <p:cNvSpPr txBox="1"/>
          <p:nvPr/>
        </p:nvSpPr>
        <p:spPr>
          <a:xfrm>
            <a:off x="9036000" y="2844000"/>
            <a:ext cx="1998000" cy="48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证据地图 / 判断记录</a:t>
            </a:r>
          </a:p>
          <a:p>
            <a:pPr algn="ctr">
              <a:lnSpc>
                <a:spcPct val="128000"/>
              </a:lnSpc>
            </a:pPr>
            <a:r>
              <a:rPr lang="zh-CN" sz="14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评价报告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50000" y="3960000"/>
            <a:ext cx="5796000" cy="450000"/>
          </a:xfrm>
          <a:prstGeom prst="roundRect">
            <a:avLst/>
          </a:prstGeom>
          <a:solidFill>
            <a:srgbClr val="FFFFFF"/>
          </a:solidFill>
          <a:ln>
            <a:solidFill>
              <a:srgbClr val="E4A6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38" name="TextBox 37"/>
          <p:cNvSpPr txBox="1"/>
          <p:nvPr/>
        </p:nvSpPr>
        <p:spPr>
          <a:xfrm>
            <a:off x="3311999" y="4057200"/>
            <a:ext cx="5472000" cy="151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伦理边界：数据 · 隐私 · 许可 · 署名 · AI 使用披露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F916B4F9-140C-F387-8588-EF6C44434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14</a:t>
            </a:fld>
            <a:endParaRPr lang="zh-CN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B7EAAA-16A3-BB15-4943-F676D00020D9}"/>
              </a:ext>
            </a:extLst>
          </p:cNvPr>
          <p:cNvSpPr/>
          <p:nvPr/>
        </p:nvSpPr>
        <p:spPr>
          <a:xfrm>
            <a:off x="0" y="4266209"/>
            <a:ext cx="12193200" cy="1565999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FC825-6189-F11F-F29D-33B89DC46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en-US" altLang="zh-CN" noProof="1" smtClean="0"/>
              <a:pPr/>
              <a:t>15</a:t>
            </a:fld>
            <a:endParaRPr lang="zh-CN" noProof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8EFF4-3A4A-93BB-5DBB-36E1AE0642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zh-CN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67375-70C6-AA5F-96B0-63EDB522CC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zh-CN" noProof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C0050-D19D-79D7-BB0D-3A866EC5A0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zh-CN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A3FE1-FBD6-9DE8-13A3-1D777FD3A3D8}"/>
              </a:ext>
            </a:extLst>
          </p:cNvPr>
          <p:cNvSpPr txBox="1"/>
          <p:nvPr/>
        </p:nvSpPr>
        <p:spPr>
          <a:xfrm>
            <a:off x="1080000" y="1170000"/>
            <a:ext cx="10008000" cy="2808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600" b="1" noProof="1">
                <a:solidFill>
                  <a:srgbClr val="C61223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E054B-D981-C824-03D4-7148D761CEFB}"/>
              </a:ext>
            </a:extLst>
          </p:cNvPr>
          <p:cNvSpPr txBox="1"/>
          <p:nvPr/>
        </p:nvSpPr>
        <p:spPr>
          <a:xfrm>
            <a:off x="1440000" y="1638000"/>
            <a:ext cx="9288000" cy="216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600" b="0" noProof="1">
                <a:solidFill>
                  <a:srgbClr val="5C6370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2C117-2272-93FD-1995-771666B7BDCA}"/>
              </a:ext>
            </a:extLst>
          </p:cNvPr>
          <p:cNvSpPr txBox="1"/>
          <p:nvPr/>
        </p:nvSpPr>
        <p:spPr>
          <a:xfrm>
            <a:off x="1440000" y="2340000"/>
            <a:ext cx="9288000" cy="5580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200" b="1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培养能在 AI 时代更可靠地做研究的研究生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1B1F6-5D56-49CE-6CF0-0C930708248B}"/>
              </a:ext>
            </a:extLst>
          </p:cNvPr>
          <p:cNvSpPr txBox="1"/>
          <p:nvPr/>
        </p:nvSpPr>
        <p:spPr>
          <a:xfrm>
            <a:off x="1872000" y="3096000"/>
            <a:ext cx="8424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1800" b="0" noProof="1">
                <a:solidFill>
                  <a:srgbClr val="2B3444"/>
                </a:solidFill>
                <a:latin typeface="Microsoft YaHei"/>
                <a:ea typeface="Microsoft YaHei"/>
                <a:cs typeface="Microsoft YaHei"/>
              </a:rPr>
              <a:t>把 AI 纳入可验证、可复现、可追溯的科研流程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2CCCE-B901-1757-A2E2-ADAB4787B847}"/>
              </a:ext>
            </a:extLst>
          </p:cNvPr>
          <p:cNvSpPr txBox="1"/>
          <p:nvPr/>
        </p:nvSpPr>
        <p:spPr>
          <a:xfrm>
            <a:off x="4823814" y="4600388"/>
            <a:ext cx="2520375" cy="591642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altLang="en-US" sz="32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敬请</a:t>
            </a:r>
            <a:r>
              <a:rPr lang="zh-CN" sz="32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批评指正</a:t>
            </a:r>
          </a:p>
        </p:txBody>
      </p:sp>
    </p:spTree>
    <p:extLst>
      <p:ext uri="{BB962C8B-B14F-4D97-AF65-F5344CB8AC3E}">
        <p14:creationId xmlns:p14="http://schemas.microsoft.com/office/powerpoint/2010/main" val="3979404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52532</TotalTime>
  <Words>1594</Words>
  <Application>Microsoft Macintosh PowerPoint</Application>
  <PresentationFormat>Widescreen</PresentationFormat>
  <Paragraphs>331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等线</vt:lpstr>
      <vt:lpstr>Microsoft YaHei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2657</cp:revision>
  <dcterms:created xsi:type="dcterms:W3CDTF">2019-01-23T14:14:04Z</dcterms:created>
  <dcterms:modified xsi:type="dcterms:W3CDTF">2026-06-15T06:25:57Z</dcterms:modified>
</cp:coreProperties>
</file>